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12192000"/>
  <p:embeddedFontLst>
    <p:embeddedFont>
      <p:font typeface="Robo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i38vmDerikixdHPT6pekYWOgFW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Roboto-regular.fntdata"/><Relationship Id="rId21" Type="http://schemas.openxmlformats.org/officeDocument/2006/relationships/slide" Target="slides/slide17.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customschemas.google.com/relationships/presentationmetadata" Target="metadata"/><Relationship Id="rId25" Type="http://schemas.openxmlformats.org/officeDocument/2006/relationships/font" Target="fonts/Roboto-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mailto:csader2015@fau.edu"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a:t>hello, welcome, </a:t>
            </a:r>
            <a:endParaRPr/>
          </a:p>
          <a:p>
            <a:pPr indent="0" lvl="0" marL="0" marR="0" rtl="0" algn="l">
              <a:spcBef>
                <a:spcPts val="0"/>
              </a:spcBef>
              <a:spcAft>
                <a:spcPts val="0"/>
              </a:spcAft>
              <a:buNone/>
            </a:pPr>
            <a:r>
              <a:rPr lang="en-US"/>
              <a:t>this is class 1 for arch viz, </a:t>
            </a:r>
            <a:endParaRPr/>
          </a:p>
          <a:p>
            <a:pPr indent="0" lvl="0" marL="0" marR="0" rtl="0" algn="l">
              <a:spcBef>
                <a:spcPts val="0"/>
              </a:spcBef>
              <a:spcAft>
                <a:spcPts val="0"/>
              </a:spcAft>
              <a:buNone/>
            </a:pPr>
            <a:r>
              <a:rPr lang="en-US"/>
              <a:t>we will meet at 9 am on wednesdays</a:t>
            </a:r>
            <a:endParaRPr/>
          </a:p>
          <a:p>
            <a:pPr indent="0" lvl="0" marL="0" marR="0" rtl="0" algn="l">
              <a:spcBef>
                <a:spcPts val="0"/>
              </a:spcBef>
              <a:spcAft>
                <a:spcPts val="0"/>
              </a:spcAft>
              <a:buNone/>
            </a:pPr>
            <a:r>
              <a:rPr lang="en-US"/>
              <a:t>im the gta and professor christine (INTRODUCE ME)</a:t>
            </a:r>
            <a:endParaRPr/>
          </a:p>
          <a:p>
            <a:pPr indent="0" lvl="0" marL="0" marR="0" rtl="0" algn="l">
              <a:spcBef>
                <a:spcPts val="0"/>
              </a:spcBef>
              <a:spcAft>
                <a:spcPts val="0"/>
              </a:spcAft>
              <a:buNone/>
            </a:pPr>
            <a:r>
              <a:rPr lang="en-US"/>
              <a:t>head coordinator is luigi (INTRODUCE LUIGI) </a:t>
            </a:r>
            <a:endParaRPr/>
          </a:p>
          <a:p>
            <a:pPr indent="0" lvl="0" marL="0" marR="0" rtl="0" algn="l">
              <a:spcBef>
                <a:spcPts val="0"/>
              </a:spcBef>
              <a:spcAft>
                <a:spcPts val="0"/>
              </a:spcAft>
              <a:buNone/>
            </a:pPr>
            <a:r>
              <a:rPr lang="en-US"/>
              <a:t>THIS CLASS WILL BE A COLLABORATIVE CLASS BETWEEN OUR SECTION AND LUIGI’S , WE WILL SHARE THE GROUP CHAT AND TUTORIALS AND POWERPOINTS AS MUCH AS POSSIBLE</a:t>
            </a:r>
            <a:endParaRPr/>
          </a:p>
          <a:p>
            <a:pPr indent="0" lvl="0" marL="0" marR="0" rtl="0" algn="l">
              <a:spcBef>
                <a:spcPts val="0"/>
              </a:spcBef>
              <a:spcAft>
                <a:spcPts val="0"/>
              </a:spcAft>
              <a:buNone/>
            </a:pPr>
            <a:r>
              <a:rPr lang="en-US"/>
              <a:t>I WILL MAKE A FOLDER FOR OUR SECTION TO UPLOAD WHEN ASSIGNMENTS ARE DUE. SHOW TEAMS AND UPLOADS AND ALL </a:t>
            </a:r>
            <a:endParaRPr/>
          </a:p>
          <a:p>
            <a:pPr indent="0" lvl="0" marL="0" marR="0" rtl="0" algn="l">
              <a:spcBef>
                <a:spcPts val="0"/>
              </a:spcBef>
              <a:spcAft>
                <a:spcPts val="0"/>
              </a:spcAft>
              <a:buNone/>
            </a:pPr>
            <a:r>
              <a:rPr lang="en-US"/>
              <a:t>my email is </a:t>
            </a:r>
            <a:r>
              <a:rPr lang="en-US" u="sng">
                <a:solidFill>
                  <a:schemeClr val="hlink"/>
                </a:solidFill>
                <a:hlinkClick r:id="rId2"/>
              </a:rPr>
              <a:t>csader2015@fau.edu</a:t>
            </a:r>
            <a:r>
              <a:rPr lang="en-US"/>
              <a:t> the best way to reach me is through email, you can also reach out to me on teams privately</a:t>
            </a:r>
            <a:endParaRPr/>
          </a:p>
          <a:p>
            <a:pPr indent="0" lvl="0" marL="0" marR="0" rtl="0" algn="l">
              <a:spcBef>
                <a:spcPts val="0"/>
              </a:spcBef>
              <a:spcAft>
                <a:spcPts val="0"/>
              </a:spcAft>
              <a:buNone/>
            </a:pPr>
            <a:r>
              <a:rPr lang="en-US"/>
              <a:t>or you can ask a general question/ about assignments on the main group chat, which is shared with luigis section. </a:t>
            </a:r>
            <a:endParaRPr/>
          </a:p>
          <a:p>
            <a:pPr indent="0" lvl="0" marL="0" marR="0" rtl="0" algn="l">
              <a:spcBef>
                <a:spcPts val="0"/>
              </a:spcBef>
              <a:spcAft>
                <a:spcPts val="0"/>
              </a:spcAft>
              <a:buNone/>
            </a:pPr>
            <a:r>
              <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g3f868a7e232_0_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 name="Google Shape;24;g3f868a7e232_0_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a:t>SPEND A COUPLE MINUTES AND JOIN THE CHAT FOR BOTH SECTIONS. </a:t>
            </a:r>
            <a:endParaRPr/>
          </a:p>
        </p:txBody>
      </p:sp>
      <p:sp>
        <p:nvSpPr>
          <p:cNvPr id="25" name="Google Shape;25;g3f868a7e232_0_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g3f3fbe83984_0_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 name="Google Shape;39;g3f3fbe83984_0_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a:t>FOR THIS CLASS</a:t>
            </a:r>
            <a:endParaRPr/>
          </a:p>
          <a:p>
            <a:pPr indent="0" lvl="0" marL="0" marR="0" rtl="0" algn="l">
              <a:spcBef>
                <a:spcPts val="0"/>
              </a:spcBef>
              <a:spcAft>
                <a:spcPts val="0"/>
              </a:spcAft>
              <a:buNone/>
            </a:pPr>
            <a:r>
              <a:rPr lang="en-US"/>
              <a:t>MAKE SURE U REview the syllabus</a:t>
            </a:r>
            <a:endParaRPr/>
          </a:p>
          <a:p>
            <a:pPr indent="0" lvl="0" marL="0" marR="0" rtl="0" algn="l">
              <a:spcBef>
                <a:spcPts val="0"/>
              </a:spcBef>
              <a:spcAft>
                <a:spcPts val="0"/>
              </a:spcAft>
              <a:buNone/>
            </a:pPr>
            <a:r>
              <a:rPr lang="en-US"/>
              <a:t>and make sure you sign in every class when you walk in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the class schedule and assignments are dependant on how the semester goes and how everyones progress is, and we will evaluate as necessary to modify</a:t>
            </a:r>
            <a:endParaRPr/>
          </a:p>
          <a:p>
            <a:pPr indent="0" lvl="0" marL="0" marR="0" rtl="0" algn="l">
              <a:spcBef>
                <a:spcPts val="0"/>
              </a:spcBef>
              <a:spcAft>
                <a:spcPts val="0"/>
              </a:spcAft>
              <a:buNone/>
            </a:pPr>
            <a:r>
              <a:rPr lang="en-US"/>
              <a:t>for now this is the </a:t>
            </a:r>
            <a:r>
              <a:rPr lang="en-US"/>
              <a:t>schedule</a:t>
            </a:r>
            <a:r>
              <a:rPr lang="en-US"/>
              <a:t>, look at syllabus</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p:txBody>
      </p:sp>
      <p:sp>
        <p:nvSpPr>
          <p:cNvPr id="40" name="Google Shape;40;g3f3fbe83984_0_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f868a7e232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g3f868a7e232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a:t>EACH class will follow this structure: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we will hand you a tutorial FOR YOU TO REVIEW and attempt on your on time</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you will come in with finished work for pin up and critique if it is due</a:t>
            </a:r>
            <a:endParaRPr/>
          </a:p>
          <a:p>
            <a:pPr indent="0" lvl="0" marL="0" marR="0" rtl="0" algn="l">
              <a:spcBef>
                <a:spcPts val="0"/>
              </a:spcBef>
              <a:spcAft>
                <a:spcPts val="0"/>
              </a:spcAft>
              <a:buNone/>
            </a:pPr>
            <a:r>
              <a:rPr lang="en-US"/>
              <a:t>or you will come in with progress of your work FOR A ONE ON ONE CRITIQUE</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we will have a short lecture/ review of examples of what is expected </a:t>
            </a:r>
            <a:endParaRPr/>
          </a:p>
          <a:p>
            <a:pPr indent="0" lvl="0" marL="0" marR="0" rtl="0" algn="l">
              <a:spcBef>
                <a:spcPts val="0"/>
              </a:spcBef>
              <a:spcAft>
                <a:spcPts val="0"/>
              </a:spcAft>
              <a:buNone/>
            </a:pPr>
            <a:r>
              <a:rPr lang="en-US"/>
              <a:t>review any questions and troubleshoot any issues you have FROM THE PREVIOUS TUTORIAL</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i will then present any upcoming assignment if applicable</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and then you will have a designated working time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p:txBody>
      </p:sp>
      <p:sp>
        <p:nvSpPr>
          <p:cNvPr id="58" name="Google Shape;58;g3f868a7e232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868a7e232_0_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g3f868a7e232_0_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a:t>IN THIS CLASS</a:t>
            </a:r>
            <a:endParaRPr/>
          </a:p>
          <a:p>
            <a:pPr indent="0" lvl="0" marL="0" marR="0" rtl="0" algn="l">
              <a:spcBef>
                <a:spcPts val="0"/>
              </a:spcBef>
              <a:spcAft>
                <a:spcPts val="0"/>
              </a:spcAft>
              <a:buNone/>
            </a:pPr>
            <a:r>
              <a:rPr lang="en-US"/>
              <a:t>u will learn what we call </a:t>
            </a:r>
            <a:endParaRPr/>
          </a:p>
          <a:p>
            <a:pPr indent="0" lvl="0" marL="0" marR="0" rtl="0" algn="l">
              <a:spcBef>
                <a:spcPts val="0"/>
              </a:spcBef>
              <a:spcAft>
                <a:spcPts val="0"/>
              </a:spcAft>
              <a:buNone/>
            </a:pPr>
            <a:r>
              <a:rPr lang="en-US"/>
              <a:t>VISUAL SCRIPTING IN BOTH</a:t>
            </a:r>
            <a:endParaRPr/>
          </a:p>
          <a:p>
            <a:pPr indent="0" lvl="0" marL="0" marR="0" rtl="0" algn="l">
              <a:spcBef>
                <a:spcPts val="0"/>
              </a:spcBef>
              <a:spcAft>
                <a:spcPts val="0"/>
              </a:spcAft>
              <a:buNone/>
            </a:pPr>
            <a:r>
              <a:rPr lang="en-US"/>
              <a:t>blender and grasshopper in rhino</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we will provide you the tutorials needed after each class, which as we discussed you should do before the next class. feel free to also model and explore beyond what the tutorial shows</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my advice is for first few assignments to attempt both softwares,  to see which you prefer and feel more </a:t>
            </a:r>
            <a:r>
              <a:rPr lang="en-US"/>
              <a:t>comfortable</a:t>
            </a:r>
            <a:r>
              <a:rPr lang="en-US"/>
              <a:t> in.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understanding of one system should apply to understanding to the other</a:t>
            </a:r>
            <a:endParaRPr/>
          </a:p>
          <a:p>
            <a:pPr indent="0" lvl="0" marL="0" marR="0" rtl="0" algn="l">
              <a:spcBef>
                <a:spcPts val="0"/>
              </a:spcBef>
              <a:spcAft>
                <a:spcPts val="0"/>
              </a:spcAft>
              <a:buNone/>
            </a:pPr>
            <a:r>
              <a:rPr lang="en-US"/>
              <a:t>they are both just tools, but as long as you begin to understand the way of thinking in visual scripting is the key</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p:txBody>
      </p:sp>
      <p:sp>
        <p:nvSpPr>
          <p:cNvPr id="79" name="Google Shape;79;g3f868a7e232_0_3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f868a7e232_0_56: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f868a7e232_0_56: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visual scripting can be applied to multiple softwares or no software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 is a means of writing an ingredient list with a recipe of specific tasks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3fbe83984_0_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g3f3fbe83984_0_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a:t>WE R TEACHING U a tool that helps you iterate and test ideas with simple changes in parameters</a:t>
            </a:r>
            <a:endParaRPr/>
          </a:p>
          <a:p>
            <a:pPr indent="0" lvl="0" marL="0" marR="0" rtl="0" algn="l">
              <a:spcBef>
                <a:spcPts val="0"/>
              </a:spcBef>
              <a:spcAft>
                <a:spcPts val="0"/>
              </a:spcAft>
              <a:buNone/>
            </a:pPr>
            <a:r>
              <a:rPr lang="en-US"/>
              <a:t>your final output may not be what you start with , and that is something that comes from emergence of systems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p:txBody>
      </p:sp>
      <p:sp>
        <p:nvSpPr>
          <p:cNvPr id="98" name="Google Shape;98;g3f3fbe83984_0_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a:t>every computational system and computational design is made of these few steps</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this is something you touched on last semester and also will start to build on this semester if you are in D5</a:t>
            </a:r>
            <a:endParaRPr/>
          </a:p>
          <a:p>
            <a:pPr indent="0" lvl="0" marL="0" marR="0" rtl="0" algn="l">
              <a:spcBef>
                <a:spcPts val="0"/>
              </a:spcBef>
              <a:spcAft>
                <a:spcPts val="0"/>
              </a:spcAft>
              <a:buNone/>
            </a:pPr>
            <a:r>
              <a:rPr lang="en-US"/>
              <a:t>the idea of designing with parameters and rules, where output is not yet determined</a:t>
            </a:r>
            <a:endParaRPr/>
          </a:p>
          <a:p>
            <a:pPr indent="0" lvl="0" marL="0" marR="0" rtl="0" algn="l">
              <a:spcBef>
                <a:spcPts val="0"/>
              </a:spcBef>
              <a:spcAft>
                <a:spcPts val="0"/>
              </a:spcAft>
              <a:buNone/>
            </a:pPr>
            <a:r>
              <a:rPr lang="en-US"/>
              <a:t>but to be discovered</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inputs could be xxx</a:t>
            </a:r>
            <a:endParaRPr/>
          </a:p>
          <a:p>
            <a:pPr indent="0" lvl="0" marL="0" marR="0" rtl="0" algn="l">
              <a:spcBef>
                <a:spcPts val="0"/>
              </a:spcBef>
              <a:spcAft>
                <a:spcPts val="0"/>
              </a:spcAft>
              <a:buNone/>
            </a:pPr>
            <a:r>
              <a:rPr lang="en-US"/>
              <a:t>process could bexxxx</a:t>
            </a:r>
            <a:endParaRPr/>
          </a:p>
          <a:p>
            <a:pPr indent="0" lvl="0" marL="0" marR="0" rtl="0" algn="l">
              <a:spcBef>
                <a:spcPts val="0"/>
              </a:spcBef>
              <a:spcAft>
                <a:spcPts val="0"/>
              </a:spcAft>
              <a:buNone/>
            </a:pPr>
            <a:r>
              <a:rPr lang="en-US"/>
              <a:t>output is the design / object / system</a:t>
            </a:r>
            <a:endParaRPr/>
          </a:p>
          <a:p>
            <a:pPr indent="0" lvl="0" marL="0" marR="0" rtl="0" algn="l">
              <a:spcBef>
                <a:spcPts val="0"/>
              </a:spcBef>
              <a:spcAft>
                <a:spcPts val="0"/>
              </a:spcAft>
              <a:buNone/>
            </a:pPr>
            <a:r>
              <a:t/>
            </a:r>
            <a:endParaRPr/>
          </a:p>
        </p:txBody>
      </p:sp>
      <p:sp>
        <p:nvSpPr>
          <p:cNvPr id="106" name="Google Shape;10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one of the learning objectives of this class</a:t>
            </a:r>
            <a:endParaRPr sz="1200">
              <a:solidFill>
                <a:schemeClr val="dk1"/>
              </a:solidFill>
            </a:endParaRPr>
          </a:p>
          <a:p>
            <a:pPr indent="0" lvl="0" marL="0" marR="0" rtl="0" algn="l">
              <a:spcBef>
                <a:spcPts val="0"/>
              </a:spcBef>
              <a:spcAft>
                <a:spcPts val="0"/>
              </a:spcAft>
              <a:buNone/>
            </a:pPr>
            <a:r>
              <a:rPr lang="en-US" sz="1200">
                <a:solidFill>
                  <a:schemeClr val="dk1"/>
                </a:solidFill>
              </a:rPr>
              <a:t> is to understand the difference between </a:t>
            </a:r>
            <a:endParaRPr sz="1200">
              <a:solidFill>
                <a:schemeClr val="dk1"/>
              </a:solidFill>
            </a:endParaRPr>
          </a:p>
          <a:p>
            <a:pPr indent="0" lvl="0" marL="0" marR="0" rtl="0" algn="l">
              <a:spcBef>
                <a:spcPts val="0"/>
              </a:spcBef>
              <a:spcAft>
                <a:spcPts val="0"/>
              </a:spcAft>
              <a:buNone/>
            </a:pPr>
            <a:r>
              <a:rPr lang="en-US" sz="1200">
                <a:solidFill>
                  <a:schemeClr val="dk1"/>
                </a:solidFill>
              </a:rPr>
              <a:t>procedural parametric</a:t>
            </a:r>
            <a:endParaRPr sz="1200">
              <a:solidFill>
                <a:schemeClr val="dk1"/>
              </a:solidFill>
            </a:endParaRPr>
          </a:p>
          <a:p>
            <a:pPr indent="0" lvl="0" marL="0" marR="0" rtl="0" algn="l">
              <a:spcBef>
                <a:spcPts val="0"/>
              </a:spcBef>
              <a:spcAft>
                <a:spcPts val="0"/>
              </a:spcAft>
              <a:buNone/>
            </a:pPr>
            <a:r>
              <a:rPr lang="en-US" sz="1200">
                <a:solidFill>
                  <a:schemeClr val="dk1"/>
                </a:solidFill>
              </a:rPr>
              <a:t>generative ways of design and modelling</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the goal is for you to be able to learn all these methods and also figure out which is the best way to model which one would u use to solve </a:t>
            </a:r>
            <a:r>
              <a:rPr lang="en-US" sz="1200">
                <a:solidFill>
                  <a:schemeClr val="dk1"/>
                </a:solidFill>
              </a:rPr>
              <a:t>design</a:t>
            </a:r>
            <a:r>
              <a:rPr lang="en-US" sz="1200">
                <a:solidFill>
                  <a:schemeClr val="dk1"/>
                </a:solidFill>
              </a:rPr>
              <a:t> problems </a:t>
            </a:r>
            <a:r>
              <a:rPr lang="en-US" sz="1200">
                <a:solidFill>
                  <a:schemeClr val="dk1"/>
                </a:solidFill>
              </a:rPr>
              <a:t>efficiently</a:t>
            </a:r>
            <a:r>
              <a:rPr lang="en-US" sz="1200">
                <a:solidFill>
                  <a:schemeClr val="dk1"/>
                </a:solidFill>
              </a:rPr>
              <a:t>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procedural modelling </a:t>
            </a:r>
            <a:endParaRPr sz="1200">
              <a:solidFill>
                <a:schemeClr val="dk1"/>
              </a:solidFill>
            </a:endParaRPr>
          </a:p>
          <a:p>
            <a:pPr indent="0" lvl="0" marL="0" marR="0" rtl="0" algn="l">
              <a:spcBef>
                <a:spcPts val="0"/>
              </a:spcBef>
              <a:spcAft>
                <a:spcPts val="0"/>
              </a:spcAft>
              <a:buNone/>
            </a:pPr>
            <a:r>
              <a:rPr lang="en-US" sz="1200">
                <a:solidFill>
                  <a:schemeClr val="dk1"/>
                </a:solidFill>
              </a:rPr>
              <a:t>does not even need a computer </a:t>
            </a:r>
            <a:endParaRPr sz="1200">
              <a:solidFill>
                <a:schemeClr val="dk1"/>
              </a:solidFill>
            </a:endParaRPr>
          </a:p>
          <a:p>
            <a:pPr indent="0" lvl="0" marL="0" marR="0" rtl="0" algn="l">
              <a:spcBef>
                <a:spcPts val="0"/>
              </a:spcBef>
              <a:spcAft>
                <a:spcPts val="0"/>
              </a:spcAft>
              <a:buNone/>
            </a:pPr>
            <a:r>
              <a:rPr lang="en-US" sz="1200">
                <a:solidFill>
                  <a:schemeClr val="dk1"/>
                </a:solidFill>
              </a:rPr>
              <a:t>think about the steps you took to build something from scratch (step by step) THINK ABOUT D3 OR D4</a:t>
            </a:r>
            <a:endParaRPr sz="1200">
              <a:solidFill>
                <a:schemeClr val="dk1"/>
              </a:solidFill>
            </a:endParaRPr>
          </a:p>
          <a:p>
            <a:pPr indent="0" lvl="0" marL="0" marR="0" rtl="0" algn="l">
              <a:spcBef>
                <a:spcPts val="0"/>
              </a:spcBef>
              <a:spcAft>
                <a:spcPts val="0"/>
              </a:spcAft>
              <a:buNone/>
            </a:pPr>
            <a:r>
              <a:rPr lang="en-US" sz="1200">
                <a:solidFill>
                  <a:schemeClr val="dk1"/>
                </a:solidFill>
              </a:rPr>
              <a:t>U TOOK a sequence of operations</a:t>
            </a:r>
            <a:endParaRPr sz="1200">
              <a:solidFill>
                <a:schemeClr val="dk1"/>
              </a:solidFill>
            </a:endParaRPr>
          </a:p>
          <a:p>
            <a:pPr indent="0" lvl="0" marL="0" marR="0" rtl="0" algn="l">
              <a:spcBef>
                <a:spcPts val="0"/>
              </a:spcBef>
              <a:spcAft>
                <a:spcPts val="0"/>
              </a:spcAft>
              <a:buNone/>
            </a:pPr>
            <a:r>
              <a:rPr lang="en-US" sz="1200">
                <a:solidFill>
                  <a:schemeClr val="dk1"/>
                </a:solidFill>
              </a:rPr>
              <a:t>result is one expected output </a:t>
            </a:r>
            <a:endParaRPr sz="1200">
              <a:solidFill>
                <a:schemeClr val="dk1"/>
              </a:solidFill>
            </a:endParaRPr>
          </a:p>
          <a:p>
            <a:pPr indent="0" lvl="0" marL="0" marR="0" rtl="0" algn="l">
              <a:spcBef>
                <a:spcPts val="0"/>
              </a:spcBef>
              <a:spcAft>
                <a:spcPts val="0"/>
              </a:spcAft>
              <a:buNone/>
            </a:pPr>
            <a:r>
              <a:rPr lang="en-US" sz="1200">
                <a:solidFill>
                  <a:schemeClr val="dk1"/>
                </a:solidFill>
              </a:rPr>
              <a:t>one expected thing to learn is you learn how to break a geometry you want to model into multiple steps SO U CAN IMPLEMENT IT IN GRASSHOPPER OR BLENDER GEOMETRY NOTES</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parametric </a:t>
            </a:r>
            <a:r>
              <a:rPr lang="en-US" sz="1200">
                <a:solidFill>
                  <a:schemeClr val="dk1"/>
                </a:solidFill>
              </a:rPr>
              <a:t>modelling</a:t>
            </a:r>
            <a:endParaRPr sz="1200">
              <a:solidFill>
                <a:schemeClr val="dk1"/>
              </a:solidFill>
            </a:endParaRPr>
          </a:p>
          <a:p>
            <a:pPr indent="0" lvl="0" marL="0" marR="0" rtl="0" algn="l">
              <a:spcBef>
                <a:spcPts val="0"/>
              </a:spcBef>
              <a:spcAft>
                <a:spcPts val="0"/>
              </a:spcAft>
              <a:buNone/>
            </a:pPr>
            <a:r>
              <a:rPr lang="en-US" sz="1200">
                <a:solidFill>
                  <a:schemeClr val="dk1"/>
                </a:solidFill>
              </a:rPr>
              <a:t>THE QUESTION IS what happens when we start </a:t>
            </a:r>
            <a:r>
              <a:rPr lang="en-US" sz="1200">
                <a:solidFill>
                  <a:schemeClr val="dk1"/>
                </a:solidFill>
              </a:rPr>
              <a:t>changing</a:t>
            </a:r>
            <a:r>
              <a:rPr lang="en-US" sz="1200">
                <a:solidFill>
                  <a:schemeClr val="dk1"/>
                </a:solidFill>
              </a:rPr>
              <a:t> the input</a:t>
            </a:r>
            <a:endParaRPr sz="1200">
              <a:solidFill>
                <a:schemeClr val="dk1"/>
              </a:solidFill>
            </a:endParaRPr>
          </a:p>
          <a:p>
            <a:pPr indent="0" lvl="0" marL="0" marR="0" rtl="0" algn="l">
              <a:spcBef>
                <a:spcPts val="0"/>
              </a:spcBef>
              <a:spcAft>
                <a:spcPts val="0"/>
              </a:spcAft>
              <a:buNone/>
            </a:pPr>
            <a:r>
              <a:rPr lang="en-US" sz="1200">
                <a:solidFill>
                  <a:schemeClr val="dk1"/>
                </a:solidFill>
              </a:rPr>
              <a:t>what defines the rules SHOW SCOTTY EXMAPLE</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generative</a:t>
            </a:r>
            <a:endParaRPr sz="1200">
              <a:solidFill>
                <a:schemeClr val="dk1"/>
              </a:solidFill>
            </a:endParaRPr>
          </a:p>
          <a:p>
            <a:pPr indent="0" lvl="0" marL="0" marR="0" rtl="0" algn="l">
              <a:spcBef>
                <a:spcPts val="0"/>
              </a:spcBef>
              <a:spcAft>
                <a:spcPts val="0"/>
              </a:spcAft>
              <a:buNone/>
            </a:pPr>
            <a:r>
              <a:rPr lang="en-US" sz="1200">
                <a:solidFill>
                  <a:schemeClr val="dk1"/>
                </a:solidFill>
              </a:rPr>
              <a:t>we follow the two things </a:t>
            </a:r>
            <a:endParaRPr sz="1200">
              <a:solidFill>
                <a:schemeClr val="dk1"/>
              </a:solidFill>
            </a:endParaRPr>
          </a:p>
          <a:p>
            <a:pPr indent="0" lvl="0" marL="0" marR="0" rtl="0" algn="l">
              <a:spcBef>
                <a:spcPts val="0"/>
              </a:spcBef>
              <a:spcAft>
                <a:spcPts val="0"/>
              </a:spcAft>
              <a:buNone/>
            </a:pPr>
            <a:r>
              <a:rPr lang="en-US" sz="1200">
                <a:solidFill>
                  <a:schemeClr val="dk1"/>
                </a:solidFill>
              </a:rPr>
              <a:t>and then we feed the output we get as input</a:t>
            </a:r>
            <a:endParaRPr sz="1200">
              <a:solidFill>
                <a:schemeClr val="dk1"/>
              </a:solidFill>
            </a:endParaRPr>
          </a:p>
          <a:p>
            <a:pPr indent="0" lvl="0" marL="0" marR="0" rtl="0" algn="l">
              <a:spcBef>
                <a:spcPts val="0"/>
              </a:spcBef>
              <a:spcAft>
                <a:spcPts val="0"/>
              </a:spcAft>
              <a:buNone/>
            </a:pPr>
            <a:r>
              <a:rPr lang="en-US" sz="1200">
                <a:solidFill>
                  <a:schemeClr val="dk1"/>
                </a:solidFill>
              </a:rPr>
              <a:t>now we have a loop of iterations and a cycle of generating</a:t>
            </a:r>
            <a:endParaRPr sz="1200">
              <a:solidFill>
                <a:schemeClr val="dk1"/>
              </a:solidFill>
            </a:endParaRPr>
          </a:p>
          <a:p>
            <a:pPr indent="0" lvl="0" marL="0" marR="0" rtl="0" algn="l">
              <a:spcBef>
                <a:spcPts val="0"/>
              </a:spcBef>
              <a:spcAft>
                <a:spcPts val="0"/>
              </a:spcAft>
              <a:buNone/>
            </a:pPr>
            <a:r>
              <a:rPr lang="en-US" sz="1200">
                <a:solidFill>
                  <a:schemeClr val="dk1"/>
                </a:solidFill>
              </a:rPr>
              <a:t>biomimicry</a:t>
            </a:r>
            <a:endParaRPr sz="1200">
              <a:solidFill>
                <a:schemeClr val="dk1"/>
              </a:solidFill>
            </a:endParaRPr>
          </a:p>
          <a:p>
            <a:pPr indent="0" lvl="0" marL="0" marR="0" rtl="0" algn="l">
              <a:spcBef>
                <a:spcPts val="0"/>
              </a:spcBef>
              <a:spcAft>
                <a:spcPts val="0"/>
              </a:spcAft>
              <a:buNone/>
            </a:pPr>
            <a:r>
              <a:rPr lang="en-US" sz="1200">
                <a:solidFill>
                  <a:schemeClr val="dk1"/>
                </a:solidFill>
              </a:rPr>
              <a:t>recursive</a:t>
            </a:r>
            <a:endParaRPr sz="1200">
              <a:solidFill>
                <a:schemeClr val="dk1"/>
              </a:solidFill>
            </a:endParaRPr>
          </a:p>
          <a:p>
            <a:pPr indent="0" lvl="0" marL="0" marR="0" rtl="0" algn="l">
              <a:spcBef>
                <a:spcPts val="0"/>
              </a:spcBef>
              <a:spcAft>
                <a:spcPts val="0"/>
              </a:spcAft>
              <a:buNone/>
            </a:pPr>
            <a:r>
              <a:rPr lang="en-US" sz="1200">
                <a:solidFill>
                  <a:schemeClr val="dk1"/>
                </a:solidFill>
              </a:rPr>
              <a:t>fractal</a:t>
            </a:r>
            <a:endParaRPr sz="1200">
              <a:solidFill>
                <a:schemeClr val="dk1"/>
              </a:solidFill>
            </a:endParaRPr>
          </a:p>
          <a:p>
            <a:pPr indent="0" lvl="0" marL="0" marR="0" rtl="0" algn="l">
              <a:spcBef>
                <a:spcPts val="0"/>
              </a:spcBef>
              <a:spcAft>
                <a:spcPts val="0"/>
              </a:spcAft>
              <a:buNone/>
            </a:pPr>
            <a:r>
              <a:rPr lang="en-US" sz="1200">
                <a:solidFill>
                  <a:schemeClr val="dk1"/>
                </a:solidFill>
              </a:rPr>
              <a:t>design from nature</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a:t>SOME OF THESE WILL MAKE MORE SENSE AS WE MOVE FORWARD IN SEMESTER</a:t>
            </a:r>
            <a:endParaRPr/>
          </a:p>
        </p:txBody>
      </p:sp>
      <p:sp>
        <p:nvSpPr>
          <p:cNvPr id="129" name="Google Shape;12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procedural modelling is as discussed steps and instructions broken down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in this example here we see sol le witt work, where he makes the steps and others implement this steps like a recipe</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SHOW VIDEO EXAMPLE</a:t>
            </a:r>
            <a:endParaRPr sz="1200">
              <a:solidFill>
                <a:schemeClr val="dk1"/>
              </a:solidFill>
            </a:endParaRPr>
          </a:p>
          <a:p>
            <a:pPr indent="0" lvl="0" marL="0" marR="0" rtl="0" algn="l">
              <a:spcBef>
                <a:spcPts val="0"/>
              </a:spcBef>
              <a:spcAft>
                <a:spcPts val="0"/>
              </a:spcAft>
              <a:buNone/>
            </a:pPr>
            <a:r>
              <a:t/>
            </a:r>
            <a:endParaRPr/>
          </a:p>
        </p:txBody>
      </p:sp>
      <p:sp>
        <p:nvSpPr>
          <p:cNvPr id="184" name="Google Shape;18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parametric</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we have parameters, another word for rules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output is partially expected but can still create new opportunities</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SHOW EXAMPLE</a:t>
            </a:r>
            <a:endParaRPr sz="1200">
              <a:solidFill>
                <a:schemeClr val="dk1"/>
              </a:solidFill>
            </a:endParaRPr>
          </a:p>
          <a:p>
            <a:pPr indent="0" lvl="0" marL="0" marR="0" rtl="0" algn="l">
              <a:spcBef>
                <a:spcPts val="0"/>
              </a:spcBef>
              <a:spcAft>
                <a:spcPts val="0"/>
              </a:spcAft>
              <a:buNone/>
            </a:pPr>
            <a:r>
              <a:t/>
            </a:r>
            <a:endParaRPr/>
          </a:p>
        </p:txBody>
      </p:sp>
      <p:sp>
        <p:nvSpPr>
          <p:cNvPr id="268" name="Google Shape;26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generative </a:t>
            </a:r>
            <a:r>
              <a:rPr lang="en-US" sz="1200">
                <a:solidFill>
                  <a:schemeClr val="dk1"/>
                </a:solidFill>
              </a:rPr>
              <a:t>design</a:t>
            </a:r>
            <a:r>
              <a:rPr lang="en-US" sz="1200">
                <a:solidFill>
                  <a:schemeClr val="dk1"/>
                </a:solidFill>
              </a:rPr>
              <a:t> and modelling is a loop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this is what is described as bottom up </a:t>
            </a:r>
            <a:r>
              <a:rPr lang="en-US" sz="1200">
                <a:solidFill>
                  <a:schemeClr val="dk1"/>
                </a:solidFill>
              </a:rPr>
              <a:t>design, you dont design the output, you design the system</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in this example here, this is the fenete element analysis</a:t>
            </a:r>
            <a:endParaRPr sz="1200">
              <a:solidFill>
                <a:schemeClr val="dk1"/>
              </a:solidFill>
            </a:endParaRPr>
          </a:p>
          <a:p>
            <a:pPr indent="0" lvl="0" marL="0" marR="0" rtl="0" algn="l">
              <a:spcBef>
                <a:spcPts val="0"/>
              </a:spcBef>
              <a:spcAft>
                <a:spcPts val="0"/>
              </a:spcAft>
              <a:buNone/>
            </a:pPr>
            <a:r>
              <a:rPr lang="en-US" sz="1200">
                <a:solidFill>
                  <a:schemeClr val="dk1"/>
                </a:solidFill>
              </a:rPr>
              <a:t>you build the boxes</a:t>
            </a:r>
            <a:endParaRPr sz="1200">
              <a:solidFill>
                <a:schemeClr val="dk1"/>
              </a:solidFill>
            </a:endParaRPr>
          </a:p>
          <a:p>
            <a:pPr indent="0" lvl="0" marL="0" marR="0" rtl="0" algn="l">
              <a:spcBef>
                <a:spcPts val="0"/>
              </a:spcBef>
              <a:spcAft>
                <a:spcPts val="0"/>
              </a:spcAft>
              <a:buNone/>
            </a:pPr>
            <a:r>
              <a:rPr lang="en-US" sz="1200">
                <a:solidFill>
                  <a:schemeClr val="dk1"/>
                </a:solidFill>
              </a:rPr>
              <a:t>and that is the wasteful geometry</a:t>
            </a:r>
            <a:endParaRPr sz="1200">
              <a:solidFill>
                <a:schemeClr val="dk1"/>
              </a:solidFill>
            </a:endParaRPr>
          </a:p>
          <a:p>
            <a:pPr indent="0" lvl="0" marL="0" marR="0" rtl="0" algn="l">
              <a:spcBef>
                <a:spcPts val="0"/>
              </a:spcBef>
              <a:spcAft>
                <a:spcPts val="0"/>
              </a:spcAft>
              <a:buNone/>
            </a:pPr>
            <a:r>
              <a:rPr lang="en-US" sz="1200">
                <a:solidFill>
                  <a:schemeClr val="dk1"/>
                </a:solidFill>
              </a:rPr>
              <a:t>it is optimizing the model through </a:t>
            </a:r>
            <a:r>
              <a:rPr lang="en-US" sz="1200">
                <a:solidFill>
                  <a:schemeClr val="dk1"/>
                </a:solidFill>
              </a:rPr>
              <a:t>generative</a:t>
            </a:r>
            <a:r>
              <a:rPr lang="en-US" sz="1200">
                <a:solidFill>
                  <a:schemeClr val="dk1"/>
                </a:solidFill>
              </a:rPr>
              <a:t> </a:t>
            </a:r>
            <a:r>
              <a:rPr lang="en-US" sz="1200">
                <a:solidFill>
                  <a:schemeClr val="dk1"/>
                </a:solidFill>
              </a:rPr>
              <a:t>algorithm</a:t>
            </a:r>
            <a:r>
              <a:rPr lang="en-US" sz="1200">
                <a:solidFill>
                  <a:schemeClr val="dk1"/>
                </a:solidFill>
              </a:rPr>
              <a:t>, step by step, deleting material while keeping the core of the structure</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latin typeface="Roboto"/>
                <a:ea typeface="Roboto"/>
                <a:cs typeface="Roboto"/>
                <a:sym typeface="Roboto"/>
              </a:rPr>
              <a:t>Cellular automata (CA) in architecture are grid-based computational systems where simple local rules generate complex, emergent spatial forms and architectural layouts</a:t>
            </a:r>
            <a:r>
              <a:rPr lang="en-US" sz="1100">
                <a:solidFill>
                  <a:schemeClr val="dk1"/>
                </a:solidFill>
              </a:rPr>
              <a:t>. </a:t>
            </a:r>
            <a:endParaRPr sz="1100">
              <a:solidFill>
                <a:schemeClr val="dk1"/>
              </a:solidFill>
            </a:endParaRPr>
          </a:p>
          <a:p>
            <a:pPr indent="0" lvl="0" marL="0" marR="0" rtl="0" algn="l">
              <a:spcBef>
                <a:spcPts val="0"/>
              </a:spcBef>
              <a:spcAft>
                <a:spcPts val="0"/>
              </a:spcAft>
              <a:buNone/>
            </a:pPr>
            <a:r>
              <a:rPr lang="en-US" sz="1100">
                <a:solidFill>
                  <a:schemeClr val="dk1"/>
                </a:solidFill>
              </a:rPr>
              <a:t>Each cell changes its state based on neighboring cells and predefined survival or growth rules. </a:t>
            </a:r>
            <a:endParaRPr sz="1100">
              <a:solidFill>
                <a:schemeClr val="dk1"/>
              </a:solidFill>
            </a:endParaRPr>
          </a:p>
          <a:p>
            <a:pPr indent="0" lvl="0" marL="0" marR="0" rtl="0" algn="l">
              <a:spcBef>
                <a:spcPts val="0"/>
              </a:spcBef>
              <a:spcAft>
                <a:spcPts val="0"/>
              </a:spcAft>
              <a:buNone/>
            </a:pPr>
            <a:r>
              <a:rPr lang="en-US" sz="1200">
                <a:solidFill>
                  <a:schemeClr val="dk1"/>
                </a:solidFill>
              </a:rPr>
              <a:t> </a:t>
            </a:r>
            <a:endParaRPr sz="1200">
              <a:solidFill>
                <a:schemeClr val="dk1"/>
              </a:solidFill>
            </a:endParaRPr>
          </a:p>
          <a:p>
            <a:pPr indent="0" lvl="0" marL="0" marR="0" rtl="0" algn="l">
              <a:spcBef>
                <a:spcPts val="0"/>
              </a:spcBef>
              <a:spcAft>
                <a:spcPts val="0"/>
              </a:spcAft>
              <a:buNone/>
            </a:pPr>
            <a:r>
              <a:rPr lang="en-US" sz="1200">
                <a:solidFill>
                  <a:schemeClr val="dk1"/>
                </a:solidFill>
              </a:rPr>
              <a:t>SHOW EXAMPLE</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Show Conway's Life running (copy.sh/life) — 20 seconds.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Four rules, no design, and it produces things nobody specified.</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That's the last three weeks of this course.</a:t>
            </a:r>
            <a:endParaRPr/>
          </a:p>
        </p:txBody>
      </p:sp>
      <p:sp>
        <p:nvSpPr>
          <p:cNvPr id="303" name="Google Shape;30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if you come in with nothing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i dont have anything to discuss and review with you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WE ONLY HAVE 12 CLASSES </a:t>
            </a:r>
            <a:r>
              <a:rPr lang="en-US" sz="1200">
                <a:solidFill>
                  <a:schemeClr val="dk1"/>
                </a:solidFill>
              </a:rPr>
              <a:t>TOGETHER</a:t>
            </a:r>
            <a:r>
              <a:rPr lang="en-US" sz="1200">
                <a:solidFill>
                  <a:schemeClr val="dk1"/>
                </a:solidFill>
              </a:rPr>
              <a:t>, AND THIS CLASS IS IMPORTANT FOR YOU TO LEARN AND </a:t>
            </a:r>
            <a:r>
              <a:rPr lang="en-US" sz="1200">
                <a:solidFill>
                  <a:schemeClr val="dk1"/>
                </a:solidFill>
              </a:rPr>
              <a:t>EXPERIMENT</a:t>
            </a:r>
            <a:r>
              <a:rPr lang="en-US" sz="1200">
                <a:solidFill>
                  <a:schemeClr val="dk1"/>
                </a:solidFill>
              </a:rPr>
              <a:t> WITH, SKILLS U LEARN HERE WILL APPLY THROUGHOUT </a:t>
            </a:r>
            <a:r>
              <a:rPr lang="en-US" sz="1200">
                <a:solidFill>
                  <a:schemeClr val="dk1"/>
                </a:solidFill>
              </a:rPr>
              <a:t>YOUR</a:t>
            </a:r>
            <a:r>
              <a:rPr lang="en-US" sz="1200">
                <a:solidFill>
                  <a:schemeClr val="dk1"/>
                </a:solidFill>
              </a:rPr>
              <a:t> CAREER</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Everything is in two versions </a:t>
            </a:r>
            <a:r>
              <a:rPr lang="en-US" sz="1200">
                <a:solidFill>
                  <a:schemeClr val="dk1"/>
                </a:solidFill>
              </a:rPr>
              <a:t>, blender rhino</a:t>
            </a:r>
            <a:endParaRPr/>
          </a:p>
        </p:txBody>
      </p:sp>
      <p:sp>
        <p:nvSpPr>
          <p:cNvPr id="339" name="Google Shape;339;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4" name="Google Shape;37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375" name="Google Shape;37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YOUR FIRST ASSIGNMENT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1ST ITERATION OF THIS IS DUE NEXT CLASS</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VISUAL CONSISTENCY </a:t>
            </a:r>
            <a:endParaRPr sz="1200">
              <a:solidFill>
                <a:schemeClr val="dk1"/>
              </a:solidFill>
            </a:endParaRPr>
          </a:p>
          <a:p>
            <a:pPr indent="0" lvl="0" marL="0" marR="0" rtl="0" algn="l">
              <a:spcBef>
                <a:spcPts val="0"/>
              </a:spcBef>
              <a:spcAft>
                <a:spcPts val="0"/>
              </a:spcAft>
              <a:buNone/>
            </a:pPr>
            <a:r>
              <a:rPr lang="en-US" sz="1200">
                <a:solidFill>
                  <a:schemeClr val="dk1"/>
                </a:solidFill>
              </a:rPr>
              <a:t>BETWEEN ALL YOUR </a:t>
            </a:r>
            <a:r>
              <a:rPr lang="en-US" sz="1200">
                <a:solidFill>
                  <a:schemeClr val="dk1"/>
                </a:solidFill>
              </a:rPr>
              <a:t>PROJECTS PRESENTATIONS and booklet in the end FOR THIS CLASS</a:t>
            </a:r>
            <a:endParaRPr sz="1200">
              <a:solidFill>
                <a:schemeClr val="dk1"/>
              </a:solidFill>
            </a:endParaRPr>
          </a:p>
          <a:p>
            <a:pPr indent="0" lvl="0" marL="0" marR="0" rtl="0" algn="l">
              <a:spcBef>
                <a:spcPts val="0"/>
              </a:spcBef>
              <a:spcAft>
                <a:spcPts val="0"/>
              </a:spcAft>
              <a:buNone/>
            </a:pPr>
            <a:r>
              <a:rPr lang="en-US" sz="1200">
                <a:solidFill>
                  <a:schemeClr val="dk1"/>
                </a:solidFill>
              </a:rPr>
              <a:t>WORK ON THIS FOR NEXT WEEK BUT THIS IS DUE SEP 15</a:t>
            </a:r>
            <a:endParaRPr sz="1200">
              <a:solidFill>
                <a:schemeClr val="dk1"/>
              </a:solidFill>
            </a:endParaRPr>
          </a:p>
          <a:p>
            <a:pPr indent="0" lvl="0" marL="0" marR="0" rtl="0" algn="l">
              <a:spcBef>
                <a:spcPts val="0"/>
              </a:spcBef>
              <a:spcAft>
                <a:spcPts val="0"/>
              </a:spcAft>
              <a:buNone/>
            </a:pPr>
            <a:r>
              <a:rPr lang="en-US" sz="1200">
                <a:solidFill>
                  <a:schemeClr val="dk1"/>
                </a:solidFill>
              </a:rPr>
              <a:t>ALL YOUR PROJECTS WILL FOLLOW THIS COLORS </a:t>
            </a:r>
            <a:r>
              <a:rPr lang="en-US" sz="1200">
                <a:solidFill>
                  <a:schemeClr val="dk1"/>
                </a:solidFill>
              </a:rPr>
              <a:t>TYPOGRAPHIES</a:t>
            </a:r>
            <a:r>
              <a:rPr lang="en-US" sz="1200">
                <a:solidFill>
                  <a:schemeClr val="dk1"/>
                </a:solidFill>
              </a:rPr>
              <a:t>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SHOW EXAMPLES</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u dont need to make a logo but if u want to feel free</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NOTE : if you change your visual identity later, teh final booklet must match it, each assignment should follow the updated template</a:t>
            </a:r>
            <a:endParaRPr sz="1200">
              <a:solidFill>
                <a:schemeClr val="dk1"/>
              </a:solidFill>
            </a:endParaRPr>
          </a:p>
          <a:p>
            <a:pPr indent="0" lvl="0" marL="0" marR="0" rtl="0" algn="l">
              <a:spcBef>
                <a:spcPts val="0"/>
              </a:spcBef>
              <a:spcAft>
                <a:spcPts val="0"/>
              </a:spcAft>
              <a:buNone/>
            </a:pPr>
            <a:r>
              <a:t/>
            </a:r>
            <a:endParaRPr/>
          </a:p>
        </p:txBody>
      </p:sp>
      <p:sp>
        <p:nvSpPr>
          <p:cNvPr id="418" name="Google Shape;41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7" name="Google Shape;44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a:t>we will send u the tutorials</a:t>
            </a:r>
            <a:endParaRPr/>
          </a:p>
          <a:p>
            <a:pPr indent="0" lvl="0" marL="0" marR="0" rtl="0" algn="l">
              <a:spcBef>
                <a:spcPts val="0"/>
              </a:spcBef>
              <a:spcAft>
                <a:spcPts val="0"/>
              </a:spcAft>
              <a:buNone/>
            </a:pPr>
            <a:r>
              <a:rPr lang="en-US"/>
              <a:t>luigi will send blender</a:t>
            </a:r>
            <a:endParaRPr/>
          </a:p>
          <a:p>
            <a:pPr indent="0" lvl="0" marL="0" marR="0" rtl="0" algn="l">
              <a:spcBef>
                <a:spcPts val="0"/>
              </a:spcBef>
              <a:spcAft>
                <a:spcPts val="0"/>
              </a:spcAft>
              <a:buNone/>
            </a:pPr>
            <a:r>
              <a:rPr lang="en-US"/>
              <a:t>and i will send grasshopper</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MODEL THE TUTORIALS IN BOTH, I WANT TO SEE THE FILES AND UR THOUGHT PROCESS,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do the fab lab because you will need it for an upcoming assignment</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now, look at other people visual identity, bring ideas, bring color template,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find a building, orthogonal simple shapes massing, because you will build THIS BUILDING using the tutorial we will send , bring 3 options of the 3 buildings</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design operation sequence diagram big but now built with grasshopper, </a:t>
            </a:r>
            <a:r>
              <a:rPr lang="en-US"/>
              <a:t>similar</a:t>
            </a:r>
            <a:r>
              <a:rPr lang="en-US"/>
              <a:t> to d4 , show exmaple SHOW EXAMPLE</a:t>
            </a:r>
            <a:endParaRPr/>
          </a:p>
        </p:txBody>
      </p:sp>
      <p:sp>
        <p:nvSpPr>
          <p:cNvPr id="448" name="Google Shape;448;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0" name="Google Shape;470;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471" name="Google Shape;471;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00"/>
        </a:solidFill>
      </p:bgPr>
    </p:bg>
    <p:spTree>
      <p:nvGrpSpPr>
        <p:cNvPr id="11" name="Shape 11"/>
        <p:cNvGrpSpPr/>
        <p:nvPr/>
      </p:nvGrpSpPr>
      <p:grpSpPr>
        <a:xfrm>
          <a:off x="0" y="0"/>
          <a:ext cx="0" cy="0"/>
          <a:chOff x="0" y="0"/>
          <a:chExt cx="0" cy="0"/>
        </a:xfrm>
      </p:grpSpPr>
      <p:sp>
        <p:nvSpPr>
          <p:cNvPr id="12" name="Google Shape;12;p1"/>
          <p:cNvSpPr/>
          <p:nvPr/>
        </p:nvSpPr>
        <p:spPr>
          <a:xfrm>
            <a:off x="594360" y="1051560"/>
            <a:ext cx="10972800" cy="256032"/>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1"/>
          <p:cNvSpPr/>
          <p:nvPr/>
        </p:nvSpPr>
        <p:spPr>
          <a:xfrm>
            <a:off x="594360" y="1481328"/>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Arial"/>
              <a:buNone/>
            </a:pPr>
            <a:r>
              <a:rPr b="1" lang="en-US" sz="1800">
                <a:solidFill>
                  <a:srgbClr val="000000"/>
                </a:solidFill>
                <a:latin typeface="Arial"/>
                <a:ea typeface="Arial"/>
                <a:cs typeface="Arial"/>
                <a:sym typeface="Arial"/>
              </a:rPr>
              <a:t>ARC 3133</a:t>
            </a:r>
            <a:endParaRPr sz="1800">
              <a:solidFill>
                <a:schemeClr val="dk1"/>
              </a:solidFill>
              <a:latin typeface="Calibri"/>
              <a:ea typeface="Calibri"/>
              <a:cs typeface="Calibri"/>
              <a:sym typeface="Calibri"/>
            </a:endParaRPr>
          </a:p>
        </p:txBody>
      </p:sp>
      <p:sp>
        <p:nvSpPr>
          <p:cNvPr id="14" name="Google Shape;14;p1"/>
          <p:cNvSpPr/>
          <p:nvPr/>
        </p:nvSpPr>
        <p:spPr>
          <a:xfrm>
            <a:off x="662940" y="2125980"/>
            <a:ext cx="10149840" cy="242316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 name="Google Shape;15;p1"/>
          <p:cNvSpPr/>
          <p:nvPr/>
        </p:nvSpPr>
        <p:spPr>
          <a:xfrm>
            <a:off x="594360" y="2057400"/>
            <a:ext cx="10149840" cy="2423160"/>
          </a:xfrm>
          <a:prstGeom prst="rect">
            <a:avLst/>
          </a:prstGeom>
          <a:solidFill>
            <a:srgbClr val="FFFDF7"/>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1"/>
          <p:cNvSpPr/>
          <p:nvPr/>
        </p:nvSpPr>
        <p:spPr>
          <a:xfrm>
            <a:off x="1005840" y="2212848"/>
            <a:ext cx="9326880" cy="21031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4000"/>
              <a:buFont typeface="Arial"/>
              <a:buNone/>
            </a:pPr>
            <a:r>
              <a:rPr b="1" lang="en-US" sz="4000">
                <a:solidFill>
                  <a:srgbClr val="000000"/>
                </a:solidFill>
                <a:latin typeface="Arial"/>
                <a:ea typeface="Arial"/>
                <a:cs typeface="Arial"/>
                <a:sym typeface="Arial"/>
              </a:rPr>
              <a:t>ARCHITECTURAL</a:t>
            </a:r>
            <a:endParaRPr sz="40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4000"/>
              <a:buFont typeface="Arial"/>
              <a:buNone/>
            </a:pPr>
            <a:r>
              <a:rPr b="1" lang="en-US" sz="4000">
                <a:solidFill>
                  <a:srgbClr val="000000"/>
                </a:solidFill>
                <a:latin typeface="Arial"/>
                <a:ea typeface="Arial"/>
                <a:cs typeface="Arial"/>
                <a:sym typeface="Arial"/>
              </a:rPr>
              <a:t>VISUALIZATION</a:t>
            </a:r>
            <a:endParaRPr sz="40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4000"/>
              <a:buFont typeface="Arial"/>
              <a:buNone/>
            </a:pPr>
            <a:r>
              <a:rPr b="1" lang="en-US" sz="4000">
                <a:solidFill>
                  <a:srgbClr val="000000"/>
                </a:solidFill>
                <a:latin typeface="Arial"/>
                <a:ea typeface="Arial"/>
                <a:cs typeface="Arial"/>
                <a:sym typeface="Arial"/>
              </a:rPr>
              <a:t>METHODS 1</a:t>
            </a:r>
            <a:endParaRPr sz="4000">
              <a:solidFill>
                <a:schemeClr val="dk1"/>
              </a:solidFill>
              <a:latin typeface="Calibri"/>
              <a:ea typeface="Calibri"/>
              <a:cs typeface="Calibri"/>
              <a:sym typeface="Calibri"/>
            </a:endParaRPr>
          </a:p>
        </p:txBody>
      </p:sp>
      <p:sp>
        <p:nvSpPr>
          <p:cNvPr id="17" name="Google Shape;17;p1"/>
          <p:cNvSpPr/>
          <p:nvPr/>
        </p:nvSpPr>
        <p:spPr>
          <a:xfrm>
            <a:off x="662940" y="4823460"/>
            <a:ext cx="6583680" cy="566928"/>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 name="Google Shape;18;p1"/>
          <p:cNvSpPr/>
          <p:nvPr/>
        </p:nvSpPr>
        <p:spPr>
          <a:xfrm>
            <a:off x="594360" y="4754880"/>
            <a:ext cx="6583680" cy="566928"/>
          </a:xfrm>
          <a:prstGeom prst="rect">
            <a:avLst/>
          </a:prstGeom>
          <a:solidFill>
            <a:srgbClr val="00D9E1"/>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 name="Google Shape;19;p1"/>
          <p:cNvSpPr/>
          <p:nvPr/>
        </p:nvSpPr>
        <p:spPr>
          <a:xfrm>
            <a:off x="868680" y="4873752"/>
            <a:ext cx="6217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lang="en-US" sz="1250">
                <a:solidFill>
                  <a:srgbClr val="000000"/>
                </a:solidFill>
                <a:latin typeface="Arial"/>
                <a:ea typeface="Arial"/>
                <a:cs typeface="Arial"/>
                <a:sym typeface="Arial"/>
              </a:rPr>
              <a:t>COMPUTATIONAL VISUALIZATION + DIGITAL FABRICATION</a:t>
            </a:r>
            <a:endParaRPr sz="1250">
              <a:solidFill>
                <a:schemeClr val="dk1"/>
              </a:solidFill>
              <a:latin typeface="Calibri"/>
              <a:ea typeface="Calibri"/>
              <a:cs typeface="Calibri"/>
              <a:sym typeface="Calibri"/>
            </a:endParaRPr>
          </a:p>
        </p:txBody>
      </p:sp>
      <p:sp>
        <p:nvSpPr>
          <p:cNvPr id="20" name="Google Shape;20;p1"/>
          <p:cNvSpPr/>
          <p:nvPr/>
        </p:nvSpPr>
        <p:spPr>
          <a:xfrm>
            <a:off x="594360" y="5870448"/>
            <a:ext cx="109728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1" lang="en-US" sz="1050">
                <a:solidFill>
                  <a:srgbClr val="000000"/>
                </a:solidFill>
                <a:latin typeface="Arial"/>
                <a:ea typeface="Arial"/>
                <a:cs typeface="Arial"/>
                <a:sym typeface="Arial"/>
              </a:rPr>
              <a:t>FALL 2026   </a:t>
            </a:r>
            <a:r>
              <a:rPr b="1" lang="en-US" sz="1050"/>
              <a:t>|</a:t>
            </a:r>
            <a:r>
              <a:rPr b="1" lang="en-US" sz="1050">
                <a:solidFill>
                  <a:srgbClr val="000000"/>
                </a:solidFill>
                <a:latin typeface="Arial"/>
                <a:ea typeface="Arial"/>
                <a:cs typeface="Arial"/>
                <a:sym typeface="Arial"/>
              </a:rPr>
              <a:t>   </a:t>
            </a:r>
            <a:r>
              <a:rPr b="1" lang="en-US" sz="1050"/>
              <a:t>WEDNESDAY 9 AM   | CHRISTINE KHOURI SADER									HEAD COORDINATOR: </a:t>
            </a:r>
            <a:r>
              <a:rPr b="1" lang="en-US" sz="1050">
                <a:solidFill>
                  <a:schemeClr val="dk1"/>
                </a:solidFill>
              </a:rPr>
              <a:t>LUIS PACHECO ALCALA</a:t>
            </a:r>
            <a:endParaRPr sz="1050">
              <a:solidFill>
                <a:schemeClr val="dk1"/>
              </a:solidFill>
              <a:latin typeface="Calibri"/>
              <a:ea typeface="Calibri"/>
              <a:cs typeface="Calibri"/>
              <a:sym typeface="Calibri"/>
            </a:endParaRPr>
          </a:p>
        </p:txBody>
      </p:sp>
      <p:sp>
        <p:nvSpPr>
          <p:cNvPr id="21" name="Google Shape;21;p1"/>
          <p:cNvSpPr/>
          <p:nvPr/>
        </p:nvSpPr>
        <p:spPr>
          <a:xfrm>
            <a:off x="594360" y="6162948"/>
            <a:ext cx="109728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1" lang="en-US" sz="1050"/>
              <a:t>CSADER2015@FAU.EDU</a:t>
            </a:r>
            <a:endParaRPr sz="105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00"/>
        </a:solidFill>
      </p:bgPr>
    </p:bg>
    <p:spTree>
      <p:nvGrpSpPr>
        <p:cNvPr id="26" name="Shape 26"/>
        <p:cNvGrpSpPr/>
        <p:nvPr/>
      </p:nvGrpSpPr>
      <p:grpSpPr>
        <a:xfrm>
          <a:off x="0" y="0"/>
          <a:ext cx="0" cy="0"/>
          <a:chOff x="0" y="0"/>
          <a:chExt cx="0" cy="0"/>
        </a:xfrm>
      </p:grpSpPr>
      <p:sp>
        <p:nvSpPr>
          <p:cNvPr id="27" name="Google Shape;27;g3f868a7e232_0_21"/>
          <p:cNvSpPr/>
          <p:nvPr/>
        </p:nvSpPr>
        <p:spPr>
          <a:xfrm>
            <a:off x="594360" y="1051560"/>
            <a:ext cx="10972800" cy="2559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 name="Google Shape;28;g3f868a7e232_0_21"/>
          <p:cNvSpPr/>
          <p:nvPr/>
        </p:nvSpPr>
        <p:spPr>
          <a:xfrm>
            <a:off x="594360" y="1481328"/>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Arial"/>
              <a:buNone/>
            </a:pPr>
            <a:r>
              <a:rPr b="1" lang="en-US" sz="1800">
                <a:solidFill>
                  <a:srgbClr val="000000"/>
                </a:solidFill>
                <a:latin typeface="Arial"/>
                <a:ea typeface="Arial"/>
                <a:cs typeface="Arial"/>
                <a:sym typeface="Arial"/>
              </a:rPr>
              <a:t>ARC 3133</a:t>
            </a:r>
            <a:endParaRPr sz="1800">
              <a:solidFill>
                <a:schemeClr val="dk1"/>
              </a:solidFill>
              <a:latin typeface="Calibri"/>
              <a:ea typeface="Calibri"/>
              <a:cs typeface="Calibri"/>
              <a:sym typeface="Calibri"/>
            </a:endParaRPr>
          </a:p>
        </p:txBody>
      </p:sp>
      <p:sp>
        <p:nvSpPr>
          <p:cNvPr id="29" name="Google Shape;29;g3f868a7e232_0_21"/>
          <p:cNvSpPr/>
          <p:nvPr/>
        </p:nvSpPr>
        <p:spPr>
          <a:xfrm>
            <a:off x="662940" y="2125980"/>
            <a:ext cx="10149900" cy="242310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 name="Google Shape;30;g3f868a7e232_0_21"/>
          <p:cNvSpPr/>
          <p:nvPr/>
        </p:nvSpPr>
        <p:spPr>
          <a:xfrm>
            <a:off x="594360" y="2057400"/>
            <a:ext cx="10149900" cy="2423100"/>
          </a:xfrm>
          <a:prstGeom prst="rect">
            <a:avLst/>
          </a:prstGeom>
          <a:solidFill>
            <a:srgbClr val="FFFDF7"/>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 name="Google Shape;31;g3f868a7e232_0_21"/>
          <p:cNvSpPr/>
          <p:nvPr/>
        </p:nvSpPr>
        <p:spPr>
          <a:xfrm>
            <a:off x="1005840" y="2212848"/>
            <a:ext cx="9327000" cy="2103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4000"/>
              <a:buFont typeface="Arial"/>
              <a:buNone/>
            </a:pPr>
            <a:r>
              <a:rPr b="1" lang="en-US" sz="4000"/>
              <a:t>join our Microsoft Teams group using the following code: 796zq4x </a:t>
            </a:r>
            <a:endParaRPr sz="4000">
              <a:solidFill>
                <a:schemeClr val="dk1"/>
              </a:solidFill>
              <a:latin typeface="Calibri"/>
              <a:ea typeface="Calibri"/>
              <a:cs typeface="Calibri"/>
              <a:sym typeface="Calibri"/>
            </a:endParaRPr>
          </a:p>
        </p:txBody>
      </p:sp>
      <p:sp>
        <p:nvSpPr>
          <p:cNvPr id="32" name="Google Shape;32;g3f868a7e232_0_21"/>
          <p:cNvSpPr/>
          <p:nvPr/>
        </p:nvSpPr>
        <p:spPr>
          <a:xfrm>
            <a:off x="662940" y="4823460"/>
            <a:ext cx="6583800" cy="56700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g3f868a7e232_0_21"/>
          <p:cNvSpPr/>
          <p:nvPr/>
        </p:nvSpPr>
        <p:spPr>
          <a:xfrm>
            <a:off x="594360" y="4754880"/>
            <a:ext cx="6583800" cy="567000"/>
          </a:xfrm>
          <a:prstGeom prst="rect">
            <a:avLst/>
          </a:prstGeom>
          <a:solidFill>
            <a:srgbClr val="00D9E1"/>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g3f868a7e232_0_21"/>
          <p:cNvSpPr/>
          <p:nvPr/>
        </p:nvSpPr>
        <p:spPr>
          <a:xfrm>
            <a:off x="868680" y="4873752"/>
            <a:ext cx="6217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Arial"/>
              <a:buNone/>
            </a:pPr>
            <a:r>
              <a:rPr b="1" lang="en-US" sz="1250">
                <a:solidFill>
                  <a:srgbClr val="000000"/>
                </a:solidFill>
                <a:latin typeface="Arial"/>
                <a:ea typeface="Arial"/>
                <a:cs typeface="Arial"/>
                <a:sym typeface="Arial"/>
              </a:rPr>
              <a:t>COMPUTATIONAL VISUALIZATION + DIGITAL FABRICATION</a:t>
            </a:r>
            <a:endParaRPr sz="1250">
              <a:solidFill>
                <a:schemeClr val="dk1"/>
              </a:solidFill>
              <a:latin typeface="Calibri"/>
              <a:ea typeface="Calibri"/>
              <a:cs typeface="Calibri"/>
              <a:sym typeface="Calibri"/>
            </a:endParaRPr>
          </a:p>
        </p:txBody>
      </p:sp>
      <p:sp>
        <p:nvSpPr>
          <p:cNvPr id="35" name="Google Shape;35;g3f868a7e232_0_21"/>
          <p:cNvSpPr/>
          <p:nvPr/>
        </p:nvSpPr>
        <p:spPr>
          <a:xfrm>
            <a:off x="594360" y="5870448"/>
            <a:ext cx="109728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1" lang="en-US" sz="1050">
                <a:solidFill>
                  <a:srgbClr val="000000"/>
                </a:solidFill>
                <a:latin typeface="Arial"/>
                <a:ea typeface="Arial"/>
                <a:cs typeface="Arial"/>
                <a:sym typeface="Arial"/>
              </a:rPr>
              <a:t>FALL 2026   </a:t>
            </a:r>
            <a:r>
              <a:rPr b="1" lang="en-US" sz="1050"/>
              <a:t>|</a:t>
            </a:r>
            <a:r>
              <a:rPr b="1" lang="en-US" sz="1050">
                <a:solidFill>
                  <a:srgbClr val="000000"/>
                </a:solidFill>
                <a:latin typeface="Arial"/>
                <a:ea typeface="Arial"/>
                <a:cs typeface="Arial"/>
                <a:sym typeface="Arial"/>
              </a:rPr>
              <a:t>   </a:t>
            </a:r>
            <a:r>
              <a:rPr b="1" lang="en-US" sz="1050"/>
              <a:t>WEDNESDAY 9 AM   | CHRISTINE KHOURI SADER									HEAD COORDINATOR: </a:t>
            </a:r>
            <a:r>
              <a:rPr b="1" lang="en-US" sz="1050">
                <a:solidFill>
                  <a:schemeClr val="dk1"/>
                </a:solidFill>
              </a:rPr>
              <a:t>LUIS PACHECO ALCALA</a:t>
            </a:r>
            <a:endParaRPr sz="1050">
              <a:solidFill>
                <a:schemeClr val="dk1"/>
              </a:solidFill>
              <a:latin typeface="Calibri"/>
              <a:ea typeface="Calibri"/>
              <a:cs typeface="Calibri"/>
              <a:sym typeface="Calibri"/>
            </a:endParaRPr>
          </a:p>
        </p:txBody>
      </p:sp>
      <p:sp>
        <p:nvSpPr>
          <p:cNvPr id="36" name="Google Shape;36;g3f868a7e232_0_21"/>
          <p:cNvSpPr/>
          <p:nvPr/>
        </p:nvSpPr>
        <p:spPr>
          <a:xfrm>
            <a:off x="594360" y="6162948"/>
            <a:ext cx="109728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1" lang="en-US" sz="1050"/>
              <a:t>CSADER2015@FAU.EDU</a:t>
            </a:r>
            <a:endParaRPr sz="10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1" name="Shape 41"/>
        <p:cNvGrpSpPr/>
        <p:nvPr/>
      </p:nvGrpSpPr>
      <p:grpSpPr>
        <a:xfrm>
          <a:off x="0" y="0"/>
          <a:ext cx="0" cy="0"/>
          <a:chOff x="0" y="0"/>
          <a:chExt cx="0" cy="0"/>
        </a:xfrm>
      </p:grpSpPr>
      <p:sp>
        <p:nvSpPr>
          <p:cNvPr id="42" name="Google Shape;42;g3f3fbe83984_0_16"/>
          <p:cNvSpPr/>
          <p:nvPr/>
        </p:nvSpPr>
        <p:spPr>
          <a:xfrm>
            <a:off x="662940" y="635508"/>
            <a:ext cx="2194500" cy="38400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g3f3fbe83984_0_16"/>
          <p:cNvSpPr/>
          <p:nvPr/>
        </p:nvSpPr>
        <p:spPr>
          <a:xfrm>
            <a:off x="594360" y="1170432"/>
            <a:ext cx="109728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3200"/>
              <a:buFont typeface="Arial"/>
              <a:buNone/>
            </a:pPr>
            <a:r>
              <a:rPr b="1" lang="en-US" sz="3200">
                <a:solidFill>
                  <a:srgbClr val="FFFDF7"/>
                </a:solidFill>
              </a:rPr>
              <a:t>ARCHITECTURAL </a:t>
            </a:r>
            <a:r>
              <a:rPr b="1" lang="en-US" sz="3200">
                <a:solidFill>
                  <a:srgbClr val="FFFDF7"/>
                </a:solidFill>
              </a:rPr>
              <a:t>VISUALIZATION</a:t>
            </a:r>
            <a:endParaRPr sz="3200">
              <a:solidFill>
                <a:schemeClr val="dk1"/>
              </a:solidFill>
              <a:latin typeface="Calibri"/>
              <a:ea typeface="Calibri"/>
              <a:cs typeface="Calibri"/>
              <a:sym typeface="Calibri"/>
            </a:endParaRPr>
          </a:p>
        </p:txBody>
      </p:sp>
      <p:cxnSp>
        <p:nvCxnSpPr>
          <p:cNvPr id="44" name="Google Shape;44;g3f3fbe83984_0_16"/>
          <p:cNvCxnSpPr/>
          <p:nvPr/>
        </p:nvCxnSpPr>
        <p:spPr>
          <a:xfrm>
            <a:off x="594360" y="1819656"/>
            <a:ext cx="10972800" cy="0"/>
          </a:xfrm>
          <a:prstGeom prst="straightConnector1">
            <a:avLst/>
          </a:prstGeom>
          <a:noFill/>
          <a:ln cap="flat" cmpd="sng" w="50800">
            <a:solidFill>
              <a:srgbClr val="FFFDF7"/>
            </a:solidFill>
            <a:prstDash val="solid"/>
            <a:round/>
            <a:headEnd len="sm" w="sm" type="none"/>
            <a:tailEnd len="sm" w="sm" type="none"/>
          </a:ln>
        </p:spPr>
      </p:cxnSp>
      <p:sp>
        <p:nvSpPr>
          <p:cNvPr id="45" name="Google Shape;45;g3f3fbe83984_0_16"/>
          <p:cNvSpPr/>
          <p:nvPr/>
        </p:nvSpPr>
        <p:spPr>
          <a:xfrm>
            <a:off x="662940" y="2610612"/>
            <a:ext cx="567000" cy="567000"/>
          </a:xfrm>
          <a:prstGeom prst="rect">
            <a:avLst/>
          </a:prstGeom>
          <a:solidFill>
            <a:srgbClr val="FFFDF7"/>
          </a:solidFill>
          <a:ln cap="flat" cmpd="sng" w="9525">
            <a:solidFill>
              <a:srgbClr val="FFFDF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g3f3fbe83984_0_16"/>
          <p:cNvSpPr/>
          <p:nvPr/>
        </p:nvSpPr>
        <p:spPr>
          <a:xfrm>
            <a:off x="594360" y="2542032"/>
            <a:ext cx="567000" cy="567000"/>
          </a:xfrm>
          <a:prstGeom prst="rect">
            <a:avLst/>
          </a:prstGeom>
          <a:solidFill>
            <a:srgbClr val="00D9E1"/>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g3f3fbe83984_0_16"/>
          <p:cNvSpPr/>
          <p:nvPr/>
        </p:nvSpPr>
        <p:spPr>
          <a:xfrm>
            <a:off x="594360" y="2670048"/>
            <a:ext cx="5670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0"/>
              <a:buFont typeface="Arial"/>
              <a:buNone/>
            </a:pPr>
            <a:r>
              <a:rPr b="1" lang="en-US" sz="1600">
                <a:solidFill>
                  <a:srgbClr val="000000"/>
                </a:solidFill>
                <a:latin typeface="Arial"/>
                <a:ea typeface="Arial"/>
                <a:cs typeface="Arial"/>
                <a:sym typeface="Arial"/>
              </a:rPr>
              <a:t>1</a:t>
            </a:r>
            <a:endParaRPr sz="1600">
              <a:solidFill>
                <a:schemeClr val="dk1"/>
              </a:solidFill>
              <a:latin typeface="Calibri"/>
              <a:ea typeface="Calibri"/>
              <a:cs typeface="Calibri"/>
              <a:sym typeface="Calibri"/>
            </a:endParaRPr>
          </a:p>
        </p:txBody>
      </p:sp>
      <p:sp>
        <p:nvSpPr>
          <p:cNvPr id="48" name="Google Shape;48;g3f3fbe83984_0_16"/>
          <p:cNvSpPr/>
          <p:nvPr/>
        </p:nvSpPr>
        <p:spPr>
          <a:xfrm>
            <a:off x="1447425" y="2463905"/>
            <a:ext cx="9875400" cy="2977200"/>
          </a:xfrm>
          <a:prstGeom prst="rect">
            <a:avLst/>
          </a:prstGeom>
          <a:noFill/>
          <a:ln>
            <a:noFill/>
          </a:ln>
        </p:spPr>
        <p:txBody>
          <a:bodyPr anchorCtr="0" anchor="ctr" bIns="0" lIns="0" spcFirstLastPara="1" rIns="0" wrap="square" tIns="0">
            <a:noAutofit/>
          </a:bodyPr>
          <a:lstStyle/>
          <a:p>
            <a:pPr indent="0" lvl="0" marL="0" rtl="0" algn="l">
              <a:lnSpc>
                <a:spcPct val="200000"/>
              </a:lnSpc>
              <a:spcBef>
                <a:spcPts val="0"/>
              </a:spcBef>
              <a:spcAft>
                <a:spcPts val="0"/>
              </a:spcAft>
              <a:buClr>
                <a:schemeClr val="dk1"/>
              </a:buClr>
              <a:buSzPts val="2600"/>
              <a:buFont typeface="Arial"/>
              <a:buNone/>
            </a:pPr>
            <a:r>
              <a:rPr lang="en-US" sz="2600">
                <a:solidFill>
                  <a:schemeClr val="lt1"/>
                </a:solidFill>
                <a:latin typeface="Calibri"/>
                <a:ea typeface="Calibri"/>
                <a:cs typeface="Calibri"/>
                <a:sym typeface="Calibri"/>
              </a:rPr>
              <a:t>SYLLABUS</a:t>
            </a:r>
            <a:endParaRPr sz="2600">
              <a:solidFill>
                <a:schemeClr val="lt1"/>
              </a:solidFill>
              <a:latin typeface="Calibri"/>
              <a:ea typeface="Calibri"/>
              <a:cs typeface="Calibri"/>
              <a:sym typeface="Calibri"/>
            </a:endParaRPr>
          </a:p>
          <a:p>
            <a:pPr indent="0" lvl="0" marL="0" rtl="0" algn="l">
              <a:lnSpc>
                <a:spcPct val="200000"/>
              </a:lnSpc>
              <a:spcBef>
                <a:spcPts val="0"/>
              </a:spcBef>
              <a:spcAft>
                <a:spcPts val="0"/>
              </a:spcAft>
              <a:buClr>
                <a:schemeClr val="dk1"/>
              </a:buClr>
              <a:buSzPts val="2600"/>
              <a:buFont typeface="Arial"/>
              <a:buNone/>
            </a:pPr>
            <a:r>
              <a:rPr lang="en-US" sz="2600">
                <a:solidFill>
                  <a:schemeClr val="lt1"/>
                </a:solidFill>
                <a:latin typeface="Calibri"/>
                <a:ea typeface="Calibri"/>
                <a:cs typeface="Calibri"/>
                <a:sym typeface="Calibri"/>
              </a:rPr>
              <a:t>SIGN IN SHEET</a:t>
            </a:r>
            <a:endParaRPr sz="2600">
              <a:solidFill>
                <a:schemeClr val="lt1"/>
              </a:solidFill>
              <a:latin typeface="Calibri"/>
              <a:ea typeface="Calibri"/>
              <a:cs typeface="Calibri"/>
              <a:sym typeface="Calibri"/>
            </a:endParaRPr>
          </a:p>
          <a:p>
            <a:pPr indent="0" lvl="0" marL="0" rtl="0" algn="l">
              <a:lnSpc>
                <a:spcPct val="200000"/>
              </a:lnSpc>
              <a:spcBef>
                <a:spcPts val="0"/>
              </a:spcBef>
              <a:spcAft>
                <a:spcPts val="0"/>
              </a:spcAft>
              <a:buClr>
                <a:schemeClr val="dk1"/>
              </a:buClr>
              <a:buSzPts val="2600"/>
              <a:buFont typeface="Arial"/>
              <a:buNone/>
            </a:pPr>
            <a:r>
              <a:rPr lang="en-US" sz="2600">
                <a:solidFill>
                  <a:schemeClr val="lt1"/>
                </a:solidFill>
                <a:latin typeface="Calibri"/>
                <a:ea typeface="Calibri"/>
                <a:cs typeface="Calibri"/>
                <a:sym typeface="Calibri"/>
              </a:rPr>
              <a:t>CLASS SCHEDULE + ASSIGNMENTS</a:t>
            </a:r>
            <a:endParaRPr sz="2600">
              <a:solidFill>
                <a:schemeClr val="lt1"/>
              </a:solidFill>
              <a:latin typeface="Calibri"/>
              <a:ea typeface="Calibri"/>
              <a:cs typeface="Calibri"/>
              <a:sym typeface="Calibri"/>
            </a:endParaRPr>
          </a:p>
          <a:p>
            <a:pPr indent="0" lvl="0" marL="0" rtl="0" algn="l">
              <a:lnSpc>
                <a:spcPct val="200000"/>
              </a:lnSpc>
              <a:spcBef>
                <a:spcPts val="0"/>
              </a:spcBef>
              <a:spcAft>
                <a:spcPts val="0"/>
              </a:spcAft>
              <a:buClr>
                <a:schemeClr val="dk1"/>
              </a:buClr>
              <a:buSzPts val="2600"/>
              <a:buFont typeface="Arial"/>
              <a:buNone/>
            </a:pPr>
            <a:r>
              <a:t/>
            </a:r>
            <a:endParaRPr sz="1450">
              <a:solidFill>
                <a:schemeClr val="lt1"/>
              </a:solidFill>
              <a:latin typeface="Calibri"/>
              <a:ea typeface="Calibri"/>
              <a:cs typeface="Calibri"/>
              <a:sym typeface="Calibri"/>
            </a:endParaRPr>
          </a:p>
        </p:txBody>
      </p:sp>
      <p:sp>
        <p:nvSpPr>
          <p:cNvPr id="49" name="Google Shape;49;g3f3fbe83984_0_16"/>
          <p:cNvSpPr/>
          <p:nvPr/>
        </p:nvSpPr>
        <p:spPr>
          <a:xfrm>
            <a:off x="662940" y="3323844"/>
            <a:ext cx="567000" cy="567000"/>
          </a:xfrm>
          <a:prstGeom prst="rect">
            <a:avLst/>
          </a:prstGeom>
          <a:solidFill>
            <a:srgbClr val="FFFDF7"/>
          </a:solidFill>
          <a:ln cap="flat" cmpd="sng" w="9525">
            <a:solidFill>
              <a:srgbClr val="FFFDF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g3f3fbe83984_0_16"/>
          <p:cNvSpPr/>
          <p:nvPr/>
        </p:nvSpPr>
        <p:spPr>
          <a:xfrm>
            <a:off x="594360" y="3255264"/>
            <a:ext cx="567000" cy="567000"/>
          </a:xfrm>
          <a:prstGeom prst="rect">
            <a:avLst/>
          </a:prstGeom>
          <a:solidFill>
            <a:srgbClr val="C6F035"/>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g3f3fbe83984_0_16"/>
          <p:cNvSpPr/>
          <p:nvPr/>
        </p:nvSpPr>
        <p:spPr>
          <a:xfrm>
            <a:off x="594360" y="3383280"/>
            <a:ext cx="5670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0"/>
              <a:buFont typeface="Arial"/>
              <a:buNone/>
            </a:pPr>
            <a:r>
              <a:rPr b="1" lang="en-US" sz="1600">
                <a:solidFill>
                  <a:srgbClr val="000000"/>
                </a:solidFill>
                <a:latin typeface="Arial"/>
                <a:ea typeface="Arial"/>
                <a:cs typeface="Arial"/>
                <a:sym typeface="Arial"/>
              </a:rPr>
              <a:t>2</a:t>
            </a:r>
            <a:endParaRPr sz="1600">
              <a:solidFill>
                <a:schemeClr val="dk1"/>
              </a:solidFill>
              <a:latin typeface="Calibri"/>
              <a:ea typeface="Calibri"/>
              <a:cs typeface="Calibri"/>
              <a:sym typeface="Calibri"/>
            </a:endParaRPr>
          </a:p>
        </p:txBody>
      </p:sp>
      <p:sp>
        <p:nvSpPr>
          <p:cNvPr id="52" name="Google Shape;52;g3f3fbe83984_0_16"/>
          <p:cNvSpPr/>
          <p:nvPr/>
        </p:nvSpPr>
        <p:spPr>
          <a:xfrm>
            <a:off x="662940" y="4037076"/>
            <a:ext cx="567000" cy="567000"/>
          </a:xfrm>
          <a:prstGeom prst="rect">
            <a:avLst/>
          </a:prstGeom>
          <a:solidFill>
            <a:srgbClr val="FFFDF7"/>
          </a:solidFill>
          <a:ln cap="flat" cmpd="sng" w="9525">
            <a:solidFill>
              <a:srgbClr val="FFFDF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g3f3fbe83984_0_16"/>
          <p:cNvSpPr/>
          <p:nvPr/>
        </p:nvSpPr>
        <p:spPr>
          <a:xfrm>
            <a:off x="594360" y="3968496"/>
            <a:ext cx="567000" cy="567000"/>
          </a:xfrm>
          <a:prstGeom prst="rect">
            <a:avLst/>
          </a:prstGeom>
          <a:solidFill>
            <a:srgbClr val="00D9E1"/>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g3f3fbe83984_0_16"/>
          <p:cNvSpPr/>
          <p:nvPr/>
        </p:nvSpPr>
        <p:spPr>
          <a:xfrm>
            <a:off x="594360" y="4096512"/>
            <a:ext cx="5670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0"/>
              <a:buFont typeface="Arial"/>
              <a:buNone/>
            </a:pPr>
            <a:r>
              <a:rPr b="1" lang="en-US" sz="1600">
                <a:solidFill>
                  <a:srgbClr val="000000"/>
                </a:solidFill>
                <a:latin typeface="Arial"/>
                <a:ea typeface="Arial"/>
                <a:cs typeface="Arial"/>
                <a:sym typeface="Arial"/>
              </a:rPr>
              <a:t>3</a:t>
            </a:r>
            <a:endParaRPr sz="16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9" name="Shape 59"/>
        <p:cNvGrpSpPr/>
        <p:nvPr/>
      </p:nvGrpSpPr>
      <p:grpSpPr>
        <a:xfrm>
          <a:off x="0" y="0"/>
          <a:ext cx="0" cy="0"/>
          <a:chOff x="0" y="0"/>
          <a:chExt cx="0" cy="0"/>
        </a:xfrm>
      </p:grpSpPr>
      <p:sp>
        <p:nvSpPr>
          <p:cNvPr id="60" name="Google Shape;60;g3f868a7e232_0_0"/>
          <p:cNvSpPr/>
          <p:nvPr/>
        </p:nvSpPr>
        <p:spPr>
          <a:xfrm>
            <a:off x="662940" y="635508"/>
            <a:ext cx="2194500" cy="38400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 name="Google Shape;61;g3f868a7e232_0_0"/>
          <p:cNvSpPr/>
          <p:nvPr/>
        </p:nvSpPr>
        <p:spPr>
          <a:xfrm>
            <a:off x="594360" y="1170432"/>
            <a:ext cx="109728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3200"/>
              <a:buFont typeface="Arial"/>
              <a:buNone/>
            </a:pPr>
            <a:r>
              <a:rPr b="1" lang="en-US" sz="3200">
                <a:solidFill>
                  <a:srgbClr val="FFFDF7"/>
                </a:solidFill>
              </a:rPr>
              <a:t>STRUCTURE OF CLASS</a:t>
            </a:r>
            <a:endParaRPr sz="3200">
              <a:solidFill>
                <a:schemeClr val="dk1"/>
              </a:solidFill>
              <a:latin typeface="Calibri"/>
              <a:ea typeface="Calibri"/>
              <a:cs typeface="Calibri"/>
              <a:sym typeface="Calibri"/>
            </a:endParaRPr>
          </a:p>
        </p:txBody>
      </p:sp>
      <p:cxnSp>
        <p:nvCxnSpPr>
          <p:cNvPr id="62" name="Google Shape;62;g3f868a7e232_0_0"/>
          <p:cNvCxnSpPr/>
          <p:nvPr/>
        </p:nvCxnSpPr>
        <p:spPr>
          <a:xfrm>
            <a:off x="594360" y="1819656"/>
            <a:ext cx="10972800" cy="0"/>
          </a:xfrm>
          <a:prstGeom prst="straightConnector1">
            <a:avLst/>
          </a:prstGeom>
          <a:noFill/>
          <a:ln cap="flat" cmpd="sng" w="50800">
            <a:solidFill>
              <a:srgbClr val="FFFDF7"/>
            </a:solidFill>
            <a:prstDash val="solid"/>
            <a:round/>
            <a:headEnd len="sm" w="sm" type="none"/>
            <a:tailEnd len="sm" w="sm" type="none"/>
          </a:ln>
        </p:spPr>
      </p:cxnSp>
      <p:sp>
        <p:nvSpPr>
          <p:cNvPr id="63" name="Google Shape;63;g3f868a7e232_0_0"/>
          <p:cNvSpPr/>
          <p:nvPr/>
        </p:nvSpPr>
        <p:spPr>
          <a:xfrm>
            <a:off x="662940" y="3525012"/>
            <a:ext cx="567000" cy="567000"/>
          </a:xfrm>
          <a:prstGeom prst="rect">
            <a:avLst/>
          </a:prstGeom>
          <a:solidFill>
            <a:srgbClr val="FFFDF7"/>
          </a:solidFill>
          <a:ln cap="flat" cmpd="sng" w="9525">
            <a:solidFill>
              <a:srgbClr val="FFFDF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g3f868a7e232_0_0"/>
          <p:cNvSpPr/>
          <p:nvPr/>
        </p:nvSpPr>
        <p:spPr>
          <a:xfrm>
            <a:off x="594360" y="3456432"/>
            <a:ext cx="567000" cy="567000"/>
          </a:xfrm>
          <a:prstGeom prst="rect">
            <a:avLst/>
          </a:prstGeom>
          <a:solidFill>
            <a:srgbClr val="00D9E1"/>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g3f868a7e232_0_0"/>
          <p:cNvSpPr/>
          <p:nvPr/>
        </p:nvSpPr>
        <p:spPr>
          <a:xfrm>
            <a:off x="594360" y="3584448"/>
            <a:ext cx="5670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0"/>
              <a:buFont typeface="Arial"/>
              <a:buNone/>
            </a:pPr>
            <a:r>
              <a:rPr b="1" lang="en-US" sz="1600">
                <a:solidFill>
                  <a:srgbClr val="000000"/>
                </a:solidFill>
                <a:latin typeface="Arial"/>
                <a:ea typeface="Arial"/>
                <a:cs typeface="Arial"/>
                <a:sym typeface="Arial"/>
              </a:rPr>
              <a:t>1</a:t>
            </a:r>
            <a:endParaRPr sz="1600">
              <a:solidFill>
                <a:schemeClr val="dk1"/>
              </a:solidFill>
              <a:latin typeface="Calibri"/>
              <a:ea typeface="Calibri"/>
              <a:cs typeface="Calibri"/>
              <a:sym typeface="Calibri"/>
            </a:endParaRPr>
          </a:p>
        </p:txBody>
      </p:sp>
      <p:sp>
        <p:nvSpPr>
          <p:cNvPr id="66" name="Google Shape;66;g3f868a7e232_0_0"/>
          <p:cNvSpPr/>
          <p:nvPr/>
        </p:nvSpPr>
        <p:spPr>
          <a:xfrm>
            <a:off x="1478675" y="3011180"/>
            <a:ext cx="9875400" cy="2977200"/>
          </a:xfrm>
          <a:prstGeom prst="rect">
            <a:avLst/>
          </a:prstGeom>
          <a:noFill/>
          <a:ln>
            <a:noFill/>
          </a:ln>
        </p:spPr>
        <p:txBody>
          <a:bodyPr anchorCtr="0" anchor="ctr" bIns="0" lIns="0" spcFirstLastPara="1" rIns="0" wrap="square" tIns="0">
            <a:noAutofit/>
          </a:bodyPr>
          <a:lstStyle/>
          <a:p>
            <a:pPr indent="0" lvl="0" marL="0" rtl="0" algn="l">
              <a:lnSpc>
                <a:spcPct val="200000"/>
              </a:lnSpc>
              <a:spcBef>
                <a:spcPts val="0"/>
              </a:spcBef>
              <a:spcAft>
                <a:spcPts val="0"/>
              </a:spcAft>
              <a:buClr>
                <a:schemeClr val="dk1"/>
              </a:buClr>
              <a:buSzPts val="2600"/>
              <a:buFont typeface="Arial"/>
              <a:buNone/>
            </a:pPr>
            <a:r>
              <a:rPr lang="en-US" sz="2600">
                <a:solidFill>
                  <a:schemeClr val="lt1"/>
                </a:solidFill>
                <a:latin typeface="Calibri"/>
                <a:ea typeface="Calibri"/>
                <a:cs typeface="Calibri"/>
                <a:sym typeface="Calibri"/>
              </a:rPr>
              <a:t>TUTORIAL WILL BE HANDED THE PRIOR CLASS</a:t>
            </a:r>
            <a:endParaRPr sz="2600">
              <a:solidFill>
                <a:schemeClr val="lt1"/>
              </a:solidFill>
              <a:latin typeface="Calibri"/>
              <a:ea typeface="Calibri"/>
              <a:cs typeface="Calibri"/>
              <a:sym typeface="Calibri"/>
            </a:endParaRPr>
          </a:p>
          <a:p>
            <a:pPr indent="0" lvl="0" marL="0" rtl="0" algn="l">
              <a:lnSpc>
                <a:spcPct val="200000"/>
              </a:lnSpc>
              <a:spcBef>
                <a:spcPts val="0"/>
              </a:spcBef>
              <a:spcAft>
                <a:spcPts val="0"/>
              </a:spcAft>
              <a:buClr>
                <a:schemeClr val="dk1"/>
              </a:buClr>
              <a:buSzPts val="2600"/>
              <a:buFont typeface="Arial"/>
              <a:buNone/>
            </a:pPr>
            <a:r>
              <a:rPr lang="en-US" sz="2600">
                <a:solidFill>
                  <a:schemeClr val="lt1"/>
                </a:solidFill>
                <a:latin typeface="Calibri"/>
                <a:ea typeface="Calibri"/>
                <a:cs typeface="Calibri"/>
                <a:sym typeface="Calibri"/>
              </a:rPr>
              <a:t>PIN UP OR 1-1 CRITIQUE</a:t>
            </a:r>
            <a:endParaRPr sz="2600">
              <a:solidFill>
                <a:schemeClr val="lt1"/>
              </a:solidFill>
              <a:latin typeface="Calibri"/>
              <a:ea typeface="Calibri"/>
              <a:cs typeface="Calibri"/>
              <a:sym typeface="Calibri"/>
            </a:endParaRPr>
          </a:p>
          <a:p>
            <a:pPr indent="0" lvl="0" marL="0" rtl="0" algn="l">
              <a:lnSpc>
                <a:spcPct val="200000"/>
              </a:lnSpc>
              <a:spcBef>
                <a:spcPts val="0"/>
              </a:spcBef>
              <a:spcAft>
                <a:spcPts val="0"/>
              </a:spcAft>
              <a:buClr>
                <a:schemeClr val="dk1"/>
              </a:buClr>
              <a:buSzPts val="2600"/>
              <a:buFont typeface="Arial"/>
              <a:buNone/>
            </a:pPr>
            <a:r>
              <a:rPr lang="en-US" sz="2600">
                <a:solidFill>
                  <a:schemeClr val="lt1"/>
                </a:solidFill>
                <a:latin typeface="Calibri"/>
                <a:ea typeface="Calibri"/>
                <a:cs typeface="Calibri"/>
                <a:sym typeface="Calibri"/>
              </a:rPr>
              <a:t>LECTURE/TUTORIAL TIME - QUESTIONS AND </a:t>
            </a:r>
            <a:r>
              <a:rPr lang="en-US" sz="2600">
                <a:solidFill>
                  <a:schemeClr val="lt1"/>
                </a:solidFill>
                <a:latin typeface="Calibri"/>
                <a:ea typeface="Calibri"/>
                <a:cs typeface="Calibri"/>
                <a:sym typeface="Calibri"/>
              </a:rPr>
              <a:t>TROUBLESHOOT</a:t>
            </a:r>
            <a:endParaRPr sz="2600">
              <a:solidFill>
                <a:schemeClr val="lt1"/>
              </a:solidFill>
              <a:latin typeface="Calibri"/>
              <a:ea typeface="Calibri"/>
              <a:cs typeface="Calibri"/>
              <a:sym typeface="Calibri"/>
            </a:endParaRPr>
          </a:p>
          <a:p>
            <a:pPr indent="0" lvl="0" marL="0" rtl="0" algn="l">
              <a:lnSpc>
                <a:spcPct val="200000"/>
              </a:lnSpc>
              <a:spcBef>
                <a:spcPts val="0"/>
              </a:spcBef>
              <a:spcAft>
                <a:spcPts val="0"/>
              </a:spcAft>
              <a:buClr>
                <a:schemeClr val="dk1"/>
              </a:buClr>
              <a:buSzPts val="2600"/>
              <a:buFont typeface="Arial"/>
              <a:buNone/>
            </a:pPr>
            <a:r>
              <a:rPr lang="en-US" sz="2600">
                <a:solidFill>
                  <a:schemeClr val="lt1"/>
                </a:solidFill>
                <a:latin typeface="Calibri"/>
                <a:ea typeface="Calibri"/>
                <a:cs typeface="Calibri"/>
                <a:sym typeface="Calibri"/>
              </a:rPr>
              <a:t>PRESENT NEXT ASSIGNMENT IF APPLICABLE</a:t>
            </a:r>
            <a:endParaRPr sz="2600">
              <a:solidFill>
                <a:schemeClr val="lt1"/>
              </a:solidFill>
              <a:latin typeface="Calibri"/>
              <a:ea typeface="Calibri"/>
              <a:cs typeface="Calibri"/>
              <a:sym typeface="Calibri"/>
            </a:endParaRPr>
          </a:p>
          <a:p>
            <a:pPr indent="0" lvl="0" marL="0" rtl="0" algn="l">
              <a:lnSpc>
                <a:spcPct val="200000"/>
              </a:lnSpc>
              <a:spcBef>
                <a:spcPts val="0"/>
              </a:spcBef>
              <a:spcAft>
                <a:spcPts val="0"/>
              </a:spcAft>
              <a:buClr>
                <a:schemeClr val="dk1"/>
              </a:buClr>
              <a:buSzPts val="2600"/>
              <a:buFont typeface="Arial"/>
              <a:buNone/>
            </a:pPr>
            <a:r>
              <a:rPr lang="en-US" sz="2600">
                <a:solidFill>
                  <a:schemeClr val="lt1"/>
                </a:solidFill>
                <a:latin typeface="Calibri"/>
                <a:ea typeface="Calibri"/>
                <a:cs typeface="Calibri"/>
                <a:sym typeface="Calibri"/>
              </a:rPr>
              <a:t>WORK TIME</a:t>
            </a:r>
            <a:endParaRPr sz="2600">
              <a:solidFill>
                <a:schemeClr val="lt1"/>
              </a:solidFill>
              <a:latin typeface="Calibri"/>
              <a:ea typeface="Calibri"/>
              <a:cs typeface="Calibri"/>
              <a:sym typeface="Calibri"/>
            </a:endParaRPr>
          </a:p>
        </p:txBody>
      </p:sp>
      <p:sp>
        <p:nvSpPr>
          <p:cNvPr id="67" name="Google Shape;67;g3f868a7e232_0_0"/>
          <p:cNvSpPr/>
          <p:nvPr/>
        </p:nvSpPr>
        <p:spPr>
          <a:xfrm>
            <a:off x="662940" y="4238244"/>
            <a:ext cx="567000" cy="567000"/>
          </a:xfrm>
          <a:prstGeom prst="rect">
            <a:avLst/>
          </a:prstGeom>
          <a:solidFill>
            <a:srgbClr val="FFFDF7"/>
          </a:solidFill>
          <a:ln cap="flat" cmpd="sng" w="9525">
            <a:solidFill>
              <a:srgbClr val="FFFDF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g3f868a7e232_0_0"/>
          <p:cNvSpPr/>
          <p:nvPr/>
        </p:nvSpPr>
        <p:spPr>
          <a:xfrm>
            <a:off x="594360" y="4169664"/>
            <a:ext cx="567000" cy="567000"/>
          </a:xfrm>
          <a:prstGeom prst="rect">
            <a:avLst/>
          </a:prstGeom>
          <a:solidFill>
            <a:srgbClr val="C6F035"/>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 name="Google Shape;69;g3f868a7e232_0_0"/>
          <p:cNvSpPr/>
          <p:nvPr/>
        </p:nvSpPr>
        <p:spPr>
          <a:xfrm>
            <a:off x="594360" y="4297680"/>
            <a:ext cx="5670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0"/>
              <a:buFont typeface="Arial"/>
              <a:buNone/>
            </a:pPr>
            <a:r>
              <a:rPr b="1" lang="en-US" sz="1600">
                <a:solidFill>
                  <a:srgbClr val="000000"/>
                </a:solidFill>
                <a:latin typeface="Arial"/>
                <a:ea typeface="Arial"/>
                <a:cs typeface="Arial"/>
                <a:sym typeface="Arial"/>
              </a:rPr>
              <a:t>2</a:t>
            </a:r>
            <a:endParaRPr sz="1600">
              <a:solidFill>
                <a:schemeClr val="dk1"/>
              </a:solidFill>
              <a:latin typeface="Calibri"/>
              <a:ea typeface="Calibri"/>
              <a:cs typeface="Calibri"/>
              <a:sym typeface="Calibri"/>
            </a:endParaRPr>
          </a:p>
        </p:txBody>
      </p:sp>
      <p:sp>
        <p:nvSpPr>
          <p:cNvPr id="70" name="Google Shape;70;g3f868a7e232_0_0"/>
          <p:cNvSpPr/>
          <p:nvPr/>
        </p:nvSpPr>
        <p:spPr>
          <a:xfrm>
            <a:off x="662940" y="4951476"/>
            <a:ext cx="567000" cy="567000"/>
          </a:xfrm>
          <a:prstGeom prst="rect">
            <a:avLst/>
          </a:prstGeom>
          <a:solidFill>
            <a:srgbClr val="FFFDF7"/>
          </a:solidFill>
          <a:ln cap="flat" cmpd="sng" w="9525">
            <a:solidFill>
              <a:srgbClr val="FFFDF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g3f868a7e232_0_0"/>
          <p:cNvSpPr/>
          <p:nvPr/>
        </p:nvSpPr>
        <p:spPr>
          <a:xfrm>
            <a:off x="594360" y="4882896"/>
            <a:ext cx="567000" cy="567000"/>
          </a:xfrm>
          <a:prstGeom prst="rect">
            <a:avLst/>
          </a:prstGeom>
          <a:solidFill>
            <a:srgbClr val="00D9E1"/>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 name="Google Shape;72;g3f868a7e232_0_0"/>
          <p:cNvSpPr/>
          <p:nvPr/>
        </p:nvSpPr>
        <p:spPr>
          <a:xfrm>
            <a:off x="594360" y="5010912"/>
            <a:ext cx="5670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0"/>
              <a:buFont typeface="Arial"/>
              <a:buNone/>
            </a:pPr>
            <a:r>
              <a:rPr b="1" lang="en-US" sz="1600">
                <a:solidFill>
                  <a:srgbClr val="000000"/>
                </a:solidFill>
                <a:latin typeface="Arial"/>
                <a:ea typeface="Arial"/>
                <a:cs typeface="Arial"/>
                <a:sym typeface="Arial"/>
              </a:rPr>
              <a:t>3</a:t>
            </a:r>
            <a:endParaRPr sz="1600">
              <a:solidFill>
                <a:schemeClr val="dk1"/>
              </a:solidFill>
              <a:latin typeface="Calibri"/>
              <a:ea typeface="Calibri"/>
              <a:cs typeface="Calibri"/>
              <a:sym typeface="Calibri"/>
            </a:endParaRPr>
          </a:p>
        </p:txBody>
      </p:sp>
      <p:sp>
        <p:nvSpPr>
          <p:cNvPr id="73" name="Google Shape;73;g3f868a7e232_0_0"/>
          <p:cNvSpPr/>
          <p:nvPr/>
        </p:nvSpPr>
        <p:spPr>
          <a:xfrm>
            <a:off x="662940" y="5664708"/>
            <a:ext cx="567000" cy="567000"/>
          </a:xfrm>
          <a:prstGeom prst="rect">
            <a:avLst/>
          </a:prstGeom>
          <a:solidFill>
            <a:srgbClr val="FFFDF7"/>
          </a:solidFill>
          <a:ln cap="flat" cmpd="sng" w="9525">
            <a:solidFill>
              <a:srgbClr val="FFFDF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 name="Google Shape;74;g3f868a7e232_0_0"/>
          <p:cNvSpPr/>
          <p:nvPr/>
        </p:nvSpPr>
        <p:spPr>
          <a:xfrm>
            <a:off x="594360" y="5596128"/>
            <a:ext cx="567000" cy="567000"/>
          </a:xfrm>
          <a:prstGeom prst="rect">
            <a:avLst/>
          </a:prstGeom>
          <a:solidFill>
            <a:srgbClr val="C6F035"/>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g3f868a7e232_0_0"/>
          <p:cNvSpPr/>
          <p:nvPr/>
        </p:nvSpPr>
        <p:spPr>
          <a:xfrm>
            <a:off x="594360" y="5724144"/>
            <a:ext cx="5670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0"/>
              <a:buFont typeface="Arial"/>
              <a:buNone/>
            </a:pPr>
            <a:r>
              <a:rPr b="1" lang="en-US" sz="1600">
                <a:solidFill>
                  <a:srgbClr val="000000"/>
                </a:solidFill>
                <a:latin typeface="Arial"/>
                <a:ea typeface="Arial"/>
                <a:cs typeface="Arial"/>
                <a:sym typeface="Arial"/>
              </a:rPr>
              <a:t>4</a:t>
            </a:r>
            <a:endParaRPr sz="16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80" name="Shape 80"/>
        <p:cNvGrpSpPr/>
        <p:nvPr/>
      </p:nvGrpSpPr>
      <p:grpSpPr>
        <a:xfrm>
          <a:off x="0" y="0"/>
          <a:ext cx="0" cy="0"/>
          <a:chOff x="0" y="0"/>
          <a:chExt cx="0" cy="0"/>
        </a:xfrm>
      </p:grpSpPr>
      <p:sp>
        <p:nvSpPr>
          <p:cNvPr id="81" name="Google Shape;81;g3f868a7e232_0_36"/>
          <p:cNvSpPr/>
          <p:nvPr/>
        </p:nvSpPr>
        <p:spPr>
          <a:xfrm>
            <a:off x="662940" y="635508"/>
            <a:ext cx="2194500" cy="38400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g3f868a7e232_0_36"/>
          <p:cNvSpPr/>
          <p:nvPr/>
        </p:nvSpPr>
        <p:spPr>
          <a:xfrm>
            <a:off x="594360" y="1170432"/>
            <a:ext cx="10972800" cy="60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3200"/>
              <a:buFont typeface="Arial"/>
              <a:buNone/>
            </a:pPr>
            <a:r>
              <a:rPr b="1" lang="en-US" sz="3200">
                <a:solidFill>
                  <a:srgbClr val="FFFDF7"/>
                </a:solidFill>
              </a:rPr>
              <a:t>VISUAL SCRIPTING</a:t>
            </a:r>
            <a:endParaRPr sz="3200">
              <a:solidFill>
                <a:schemeClr val="dk1"/>
              </a:solidFill>
              <a:latin typeface="Calibri"/>
              <a:ea typeface="Calibri"/>
              <a:cs typeface="Calibri"/>
              <a:sym typeface="Calibri"/>
            </a:endParaRPr>
          </a:p>
        </p:txBody>
      </p:sp>
      <p:cxnSp>
        <p:nvCxnSpPr>
          <p:cNvPr id="83" name="Google Shape;83;g3f868a7e232_0_36"/>
          <p:cNvCxnSpPr/>
          <p:nvPr/>
        </p:nvCxnSpPr>
        <p:spPr>
          <a:xfrm>
            <a:off x="594360" y="1819656"/>
            <a:ext cx="10972800" cy="0"/>
          </a:xfrm>
          <a:prstGeom prst="straightConnector1">
            <a:avLst/>
          </a:prstGeom>
          <a:noFill/>
          <a:ln cap="flat" cmpd="sng" w="50800">
            <a:solidFill>
              <a:srgbClr val="FFFDF7"/>
            </a:solidFill>
            <a:prstDash val="solid"/>
            <a:round/>
            <a:headEnd len="sm" w="sm" type="none"/>
            <a:tailEnd len="sm" w="sm" type="none"/>
          </a:ln>
        </p:spPr>
      </p:cxnSp>
      <p:sp>
        <p:nvSpPr>
          <p:cNvPr id="84" name="Google Shape;84;g3f868a7e232_0_36"/>
          <p:cNvSpPr/>
          <p:nvPr/>
        </p:nvSpPr>
        <p:spPr>
          <a:xfrm>
            <a:off x="1416175" y="2412111"/>
            <a:ext cx="9875400" cy="2977200"/>
          </a:xfrm>
          <a:prstGeom prst="rect">
            <a:avLst/>
          </a:prstGeom>
          <a:noFill/>
          <a:ln>
            <a:noFill/>
          </a:ln>
        </p:spPr>
        <p:txBody>
          <a:bodyPr anchorCtr="0" anchor="ctr" bIns="0" lIns="0" spcFirstLastPara="1" rIns="0" wrap="square" tIns="0">
            <a:noAutofit/>
          </a:bodyPr>
          <a:lstStyle/>
          <a:p>
            <a:pPr indent="0" lvl="0" marL="0" rtl="0" algn="l">
              <a:lnSpc>
                <a:spcPct val="200000"/>
              </a:lnSpc>
              <a:spcBef>
                <a:spcPts val="0"/>
              </a:spcBef>
              <a:spcAft>
                <a:spcPts val="0"/>
              </a:spcAft>
              <a:buClr>
                <a:schemeClr val="dk1"/>
              </a:buClr>
              <a:buSzPts val="2600"/>
              <a:buFont typeface="Arial"/>
              <a:buNone/>
            </a:pPr>
            <a:r>
              <a:rPr lang="en-US" sz="2600">
                <a:solidFill>
                  <a:schemeClr val="lt1"/>
                </a:solidFill>
                <a:latin typeface="Calibri"/>
                <a:ea typeface="Calibri"/>
                <a:cs typeface="Calibri"/>
                <a:sym typeface="Calibri"/>
              </a:rPr>
              <a:t>BLENDER</a:t>
            </a:r>
            <a:endParaRPr sz="2600">
              <a:solidFill>
                <a:schemeClr val="lt1"/>
              </a:solidFill>
              <a:latin typeface="Calibri"/>
              <a:ea typeface="Calibri"/>
              <a:cs typeface="Calibri"/>
              <a:sym typeface="Calibri"/>
            </a:endParaRPr>
          </a:p>
          <a:p>
            <a:pPr indent="0" lvl="0" marL="0" rtl="0" algn="l">
              <a:lnSpc>
                <a:spcPct val="200000"/>
              </a:lnSpc>
              <a:spcBef>
                <a:spcPts val="0"/>
              </a:spcBef>
              <a:spcAft>
                <a:spcPts val="0"/>
              </a:spcAft>
              <a:buClr>
                <a:schemeClr val="dk1"/>
              </a:buClr>
              <a:buSzPts val="2600"/>
              <a:buFont typeface="Arial"/>
              <a:buNone/>
            </a:pPr>
            <a:r>
              <a:rPr lang="en-US" sz="2600">
                <a:solidFill>
                  <a:schemeClr val="lt1"/>
                </a:solidFill>
                <a:latin typeface="Calibri"/>
                <a:ea typeface="Calibri"/>
                <a:cs typeface="Calibri"/>
                <a:sym typeface="Calibri"/>
              </a:rPr>
              <a:t>GRASSHOPPER IN RHINO</a:t>
            </a:r>
            <a:endParaRPr sz="2600">
              <a:solidFill>
                <a:schemeClr val="lt1"/>
              </a:solidFill>
              <a:latin typeface="Calibri"/>
              <a:ea typeface="Calibri"/>
              <a:cs typeface="Calibri"/>
              <a:sym typeface="Calibri"/>
            </a:endParaRPr>
          </a:p>
        </p:txBody>
      </p:sp>
      <p:sp>
        <p:nvSpPr>
          <p:cNvPr id="85" name="Google Shape;85;g3f868a7e232_0_36"/>
          <p:cNvSpPr/>
          <p:nvPr/>
        </p:nvSpPr>
        <p:spPr>
          <a:xfrm>
            <a:off x="662940" y="3323844"/>
            <a:ext cx="567000" cy="567000"/>
          </a:xfrm>
          <a:prstGeom prst="rect">
            <a:avLst/>
          </a:prstGeom>
          <a:solidFill>
            <a:srgbClr val="FFFDF7"/>
          </a:solidFill>
          <a:ln cap="flat" cmpd="sng" w="9525">
            <a:solidFill>
              <a:srgbClr val="FFFDF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g3f868a7e232_0_36"/>
          <p:cNvSpPr/>
          <p:nvPr/>
        </p:nvSpPr>
        <p:spPr>
          <a:xfrm>
            <a:off x="594360" y="3255264"/>
            <a:ext cx="567000" cy="567000"/>
          </a:xfrm>
          <a:prstGeom prst="rect">
            <a:avLst/>
          </a:prstGeom>
          <a:solidFill>
            <a:srgbClr val="C6F035"/>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g3f868a7e232_0_36"/>
          <p:cNvSpPr/>
          <p:nvPr/>
        </p:nvSpPr>
        <p:spPr>
          <a:xfrm>
            <a:off x="662940" y="4037076"/>
            <a:ext cx="567000" cy="567000"/>
          </a:xfrm>
          <a:prstGeom prst="rect">
            <a:avLst/>
          </a:prstGeom>
          <a:solidFill>
            <a:srgbClr val="FFFDF7"/>
          </a:solidFill>
          <a:ln cap="flat" cmpd="sng" w="9525">
            <a:solidFill>
              <a:srgbClr val="FFFDF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g3f868a7e232_0_36"/>
          <p:cNvSpPr/>
          <p:nvPr/>
        </p:nvSpPr>
        <p:spPr>
          <a:xfrm>
            <a:off x="594360" y="3968496"/>
            <a:ext cx="567000" cy="567000"/>
          </a:xfrm>
          <a:prstGeom prst="rect">
            <a:avLst/>
          </a:prstGeom>
          <a:solidFill>
            <a:srgbClr val="00D9E1"/>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g3f868a7e232_0_56"/>
          <p:cNvPicPr preferRelativeResize="0"/>
          <p:nvPr/>
        </p:nvPicPr>
        <p:blipFill>
          <a:blip r:embed="rId3">
            <a:alphaModFix/>
          </a:blip>
          <a:stretch>
            <a:fillRect/>
          </a:stretch>
        </p:blipFill>
        <p:spPr>
          <a:xfrm>
            <a:off x="152400" y="152400"/>
            <a:ext cx="11887201" cy="6858000"/>
          </a:xfrm>
          <a:prstGeom prst="rect">
            <a:avLst/>
          </a:prstGeom>
          <a:noFill/>
          <a:ln>
            <a:noFill/>
          </a:ln>
        </p:spPr>
      </p:pic>
      <p:pic>
        <p:nvPicPr>
          <p:cNvPr id="94" name="Google Shape;94;g3f868a7e232_0_56"/>
          <p:cNvPicPr preferRelativeResize="0"/>
          <p:nvPr/>
        </p:nvPicPr>
        <p:blipFill>
          <a:blip r:embed="rId4">
            <a:alphaModFix/>
          </a:blip>
          <a:stretch>
            <a:fillRect/>
          </a:stretch>
        </p:blipFill>
        <p:spPr>
          <a:xfrm>
            <a:off x="922350" y="1152863"/>
            <a:ext cx="3034851" cy="455227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9" name="Shape 99"/>
        <p:cNvGrpSpPr/>
        <p:nvPr/>
      </p:nvGrpSpPr>
      <p:grpSpPr>
        <a:xfrm>
          <a:off x="0" y="0"/>
          <a:ext cx="0" cy="0"/>
          <a:chOff x="0" y="0"/>
          <a:chExt cx="0" cy="0"/>
        </a:xfrm>
      </p:grpSpPr>
      <p:sp>
        <p:nvSpPr>
          <p:cNvPr id="100" name="Google Shape;100;g3f3fbe83984_0_6"/>
          <p:cNvSpPr/>
          <p:nvPr/>
        </p:nvSpPr>
        <p:spPr>
          <a:xfrm>
            <a:off x="662940" y="1303020"/>
            <a:ext cx="10972800" cy="3337500"/>
          </a:xfrm>
          <a:prstGeom prst="rect">
            <a:avLst/>
          </a:prstGeom>
          <a:solidFill>
            <a:srgbClr val="FFE500"/>
          </a:solidFill>
          <a:ln cap="flat" cmpd="sng" w="9525">
            <a:solidFill>
              <a:srgbClr val="FFE5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g3f3fbe83984_0_6"/>
          <p:cNvSpPr/>
          <p:nvPr/>
        </p:nvSpPr>
        <p:spPr>
          <a:xfrm>
            <a:off x="594360" y="1234440"/>
            <a:ext cx="10972800" cy="3337500"/>
          </a:xfrm>
          <a:prstGeom prst="rect">
            <a:avLst/>
          </a:prstGeom>
          <a:solidFill>
            <a:srgbClr val="FF4D8D"/>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g3f3fbe83984_0_6"/>
          <p:cNvSpPr/>
          <p:nvPr/>
        </p:nvSpPr>
        <p:spPr>
          <a:xfrm>
            <a:off x="1097280" y="1572768"/>
            <a:ext cx="9966900" cy="265170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000000"/>
              </a:buClr>
              <a:buSzPts val="2600"/>
              <a:buFont typeface="Arial"/>
              <a:buNone/>
            </a:pPr>
            <a:r>
              <a:rPr b="1" lang="en-US" sz="2600">
                <a:solidFill>
                  <a:srgbClr val="000000"/>
                </a:solidFill>
                <a:latin typeface="Arial"/>
                <a:ea typeface="Arial"/>
                <a:cs typeface="Arial"/>
                <a:sym typeface="Arial"/>
              </a:rPr>
              <a:t>THE DESIGNER IS NO LONGER MAKING CHOICES ABOUT A SINGLE, FINAL OBJECT </a:t>
            </a:r>
            <a:r>
              <a:rPr b="1" lang="en-US" sz="2600"/>
              <a:t>,</a:t>
            </a:r>
            <a:r>
              <a:rPr b="1" lang="en-US" sz="2600">
                <a:solidFill>
                  <a:srgbClr val="000000"/>
                </a:solidFill>
                <a:latin typeface="Arial"/>
                <a:ea typeface="Arial"/>
                <a:cs typeface="Arial"/>
                <a:sym typeface="Arial"/>
              </a:rPr>
              <a:t> BUT CREATING A MATRIX </a:t>
            </a:r>
            <a:r>
              <a:rPr b="1" lang="en-US" sz="2600"/>
              <a:t>MAKING </a:t>
            </a:r>
            <a:r>
              <a:rPr b="1" lang="en-US" sz="2600">
                <a:solidFill>
                  <a:srgbClr val="000000"/>
                </a:solidFill>
                <a:latin typeface="Arial"/>
                <a:ea typeface="Arial"/>
                <a:cs typeface="Arial"/>
                <a:sym typeface="Arial"/>
              </a:rPr>
              <a:t>AN ENTIRE POPULATION OF POSSIBLE DESIGNS.</a:t>
            </a:r>
            <a:endParaRPr sz="26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7"/>
        </a:solidFill>
      </p:bgPr>
    </p:bg>
    <p:spTree>
      <p:nvGrpSpPr>
        <p:cNvPr id="107" name="Shape 107"/>
        <p:cNvGrpSpPr/>
        <p:nvPr/>
      </p:nvGrpSpPr>
      <p:grpSpPr>
        <a:xfrm>
          <a:off x="0" y="0"/>
          <a:ext cx="0" cy="0"/>
          <a:chOff x="0" y="0"/>
          <a:chExt cx="0" cy="0"/>
        </a:xfrm>
      </p:grpSpPr>
      <p:cxnSp>
        <p:nvCxnSpPr>
          <p:cNvPr id="108" name="Google Shape;108;p3"/>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109" name="Google Shape;109;p3"/>
          <p:cNvSpPr/>
          <p:nvPr/>
        </p:nvSpPr>
        <p:spPr>
          <a:xfrm>
            <a:off x="525780" y="2217420"/>
            <a:ext cx="3200400" cy="233172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3"/>
          <p:cNvSpPr/>
          <p:nvPr/>
        </p:nvSpPr>
        <p:spPr>
          <a:xfrm>
            <a:off x="457200" y="2148840"/>
            <a:ext cx="3200400" cy="2331720"/>
          </a:xfrm>
          <a:prstGeom prst="rect">
            <a:avLst/>
          </a:prstGeom>
          <a:solidFill>
            <a:srgbClr val="00D9E1"/>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3"/>
          <p:cNvSpPr/>
          <p:nvPr/>
        </p:nvSpPr>
        <p:spPr>
          <a:xfrm>
            <a:off x="777240" y="2441448"/>
            <a:ext cx="2560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INPUT</a:t>
            </a:r>
            <a:endParaRPr sz="2000">
              <a:solidFill>
                <a:schemeClr val="dk1"/>
              </a:solidFill>
              <a:latin typeface="Calibri"/>
              <a:ea typeface="Calibri"/>
              <a:cs typeface="Calibri"/>
              <a:sym typeface="Calibri"/>
            </a:endParaRPr>
          </a:p>
        </p:txBody>
      </p:sp>
      <p:cxnSp>
        <p:nvCxnSpPr>
          <p:cNvPr id="112" name="Google Shape;112;p3"/>
          <p:cNvCxnSpPr/>
          <p:nvPr/>
        </p:nvCxnSpPr>
        <p:spPr>
          <a:xfrm>
            <a:off x="777240" y="2953512"/>
            <a:ext cx="2560320" cy="0"/>
          </a:xfrm>
          <a:prstGeom prst="straightConnector1">
            <a:avLst/>
          </a:prstGeom>
          <a:noFill/>
          <a:ln cap="flat" cmpd="sng" w="25400">
            <a:solidFill>
              <a:srgbClr val="000000"/>
            </a:solidFill>
            <a:prstDash val="solid"/>
            <a:round/>
            <a:headEnd len="sm" w="sm" type="none"/>
            <a:tailEnd len="sm" w="sm" type="none"/>
          </a:ln>
        </p:spPr>
      </p:cxnSp>
      <p:sp>
        <p:nvSpPr>
          <p:cNvPr id="113" name="Google Shape;113;p3"/>
          <p:cNvSpPr/>
          <p:nvPr/>
        </p:nvSpPr>
        <p:spPr>
          <a:xfrm>
            <a:off x="777240" y="3108960"/>
            <a:ext cx="2560320" cy="109728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Calibri"/>
              <a:buNone/>
            </a:pPr>
            <a:r>
              <a:rPr lang="en-US" sz="1400">
                <a:solidFill>
                  <a:srgbClr val="000000"/>
                </a:solidFill>
                <a:latin typeface="Calibri"/>
                <a:ea typeface="Calibri"/>
                <a:cs typeface="Calibri"/>
                <a:sym typeface="Calibri"/>
              </a:rPr>
              <a:t>parameters</a:t>
            </a:r>
            <a:endParaRPr sz="140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400"/>
              <a:buFont typeface="Calibri"/>
              <a:buNone/>
            </a:pPr>
            <a:r>
              <a:rPr lang="en-US" sz="1400">
                <a:solidFill>
                  <a:srgbClr val="000000"/>
                </a:solidFill>
                <a:latin typeface="Calibri"/>
                <a:ea typeface="Calibri"/>
                <a:cs typeface="Calibri"/>
                <a:sym typeface="Calibri"/>
              </a:rPr>
              <a:t>data</a:t>
            </a:r>
            <a:endParaRPr sz="140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400"/>
              <a:buFont typeface="Calibri"/>
              <a:buNone/>
            </a:pPr>
            <a:r>
              <a:rPr lang="en-US" sz="1400">
                <a:solidFill>
                  <a:srgbClr val="000000"/>
                </a:solidFill>
                <a:latin typeface="Calibri"/>
                <a:ea typeface="Calibri"/>
                <a:cs typeface="Calibri"/>
                <a:sym typeface="Calibri"/>
              </a:rPr>
              <a:t>variables</a:t>
            </a:r>
            <a:endParaRPr sz="1400">
              <a:solidFill>
                <a:schemeClr val="dk1"/>
              </a:solidFill>
              <a:latin typeface="Calibri"/>
              <a:ea typeface="Calibri"/>
              <a:cs typeface="Calibri"/>
              <a:sym typeface="Calibri"/>
            </a:endParaRPr>
          </a:p>
        </p:txBody>
      </p:sp>
      <p:sp>
        <p:nvSpPr>
          <p:cNvPr id="114" name="Google Shape;114;p3"/>
          <p:cNvSpPr/>
          <p:nvPr/>
        </p:nvSpPr>
        <p:spPr>
          <a:xfrm rot="5400000">
            <a:off x="3904488" y="3136392"/>
            <a:ext cx="310896" cy="365760"/>
          </a:xfrm>
          <a:prstGeom prst="triangle">
            <a:avLst>
              <a:gd fmla="val 50000" name="adj"/>
            </a:avLst>
          </a:prstGeom>
          <a:solidFill>
            <a:srgbClr val="000000"/>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3"/>
          <p:cNvSpPr/>
          <p:nvPr/>
        </p:nvSpPr>
        <p:spPr>
          <a:xfrm>
            <a:off x="4549140" y="2217420"/>
            <a:ext cx="3200400" cy="233172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3"/>
          <p:cNvSpPr/>
          <p:nvPr/>
        </p:nvSpPr>
        <p:spPr>
          <a:xfrm>
            <a:off x="4480560" y="2148840"/>
            <a:ext cx="3200400" cy="2331720"/>
          </a:xfrm>
          <a:prstGeom prst="rect">
            <a:avLst/>
          </a:prstGeom>
          <a:solidFill>
            <a:srgbClr val="C6F035"/>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3"/>
          <p:cNvSpPr/>
          <p:nvPr/>
        </p:nvSpPr>
        <p:spPr>
          <a:xfrm>
            <a:off x="4800600" y="2441448"/>
            <a:ext cx="2560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PROCESS</a:t>
            </a:r>
            <a:endParaRPr sz="2000">
              <a:solidFill>
                <a:schemeClr val="dk1"/>
              </a:solidFill>
              <a:latin typeface="Calibri"/>
              <a:ea typeface="Calibri"/>
              <a:cs typeface="Calibri"/>
              <a:sym typeface="Calibri"/>
            </a:endParaRPr>
          </a:p>
        </p:txBody>
      </p:sp>
      <p:cxnSp>
        <p:nvCxnSpPr>
          <p:cNvPr id="118" name="Google Shape;118;p3"/>
          <p:cNvCxnSpPr/>
          <p:nvPr/>
        </p:nvCxnSpPr>
        <p:spPr>
          <a:xfrm>
            <a:off x="4800600" y="2953512"/>
            <a:ext cx="2560320" cy="0"/>
          </a:xfrm>
          <a:prstGeom prst="straightConnector1">
            <a:avLst/>
          </a:prstGeom>
          <a:noFill/>
          <a:ln cap="flat" cmpd="sng" w="25400">
            <a:solidFill>
              <a:srgbClr val="000000"/>
            </a:solidFill>
            <a:prstDash val="solid"/>
            <a:round/>
            <a:headEnd len="sm" w="sm" type="none"/>
            <a:tailEnd len="sm" w="sm" type="none"/>
          </a:ln>
        </p:spPr>
      </p:cxnSp>
      <p:sp>
        <p:nvSpPr>
          <p:cNvPr id="119" name="Google Shape;119;p3"/>
          <p:cNvSpPr/>
          <p:nvPr/>
        </p:nvSpPr>
        <p:spPr>
          <a:xfrm>
            <a:off x="4800600" y="3108960"/>
            <a:ext cx="2560320" cy="109728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Calibri"/>
              <a:buNone/>
            </a:pPr>
            <a:r>
              <a:rPr lang="en-US" sz="1400">
                <a:solidFill>
                  <a:srgbClr val="000000"/>
                </a:solidFill>
                <a:latin typeface="Calibri"/>
                <a:ea typeface="Calibri"/>
                <a:cs typeface="Calibri"/>
                <a:sym typeface="Calibri"/>
              </a:rPr>
              <a:t>algorithm</a:t>
            </a:r>
            <a:endParaRPr sz="140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400"/>
              <a:buFont typeface="Calibri"/>
              <a:buNone/>
            </a:pPr>
            <a:r>
              <a:rPr lang="en-US" sz="1400">
                <a:solidFill>
                  <a:srgbClr val="000000"/>
                </a:solidFill>
                <a:latin typeface="Calibri"/>
                <a:ea typeface="Calibri"/>
                <a:cs typeface="Calibri"/>
                <a:sym typeface="Calibri"/>
              </a:rPr>
              <a:t>procedure</a:t>
            </a:r>
            <a:endParaRPr sz="140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400"/>
              <a:buFont typeface="Calibri"/>
              <a:buNone/>
            </a:pPr>
            <a:r>
              <a:rPr lang="en-US" sz="1400">
                <a:solidFill>
                  <a:srgbClr val="000000"/>
                </a:solidFill>
                <a:latin typeface="Calibri"/>
                <a:ea typeface="Calibri"/>
                <a:cs typeface="Calibri"/>
                <a:sym typeface="Calibri"/>
              </a:rPr>
              <a:t>operation tree</a:t>
            </a:r>
            <a:endParaRPr sz="1400">
              <a:solidFill>
                <a:schemeClr val="dk1"/>
              </a:solidFill>
              <a:latin typeface="Calibri"/>
              <a:ea typeface="Calibri"/>
              <a:cs typeface="Calibri"/>
              <a:sym typeface="Calibri"/>
            </a:endParaRPr>
          </a:p>
        </p:txBody>
      </p:sp>
      <p:sp>
        <p:nvSpPr>
          <p:cNvPr id="120" name="Google Shape;120;p3"/>
          <p:cNvSpPr/>
          <p:nvPr/>
        </p:nvSpPr>
        <p:spPr>
          <a:xfrm rot="5400000">
            <a:off x="7927848" y="3136392"/>
            <a:ext cx="310896" cy="365760"/>
          </a:xfrm>
          <a:prstGeom prst="triangle">
            <a:avLst>
              <a:gd fmla="val 50000" name="adj"/>
            </a:avLst>
          </a:prstGeom>
          <a:solidFill>
            <a:srgbClr val="000000"/>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3"/>
          <p:cNvSpPr/>
          <p:nvPr/>
        </p:nvSpPr>
        <p:spPr>
          <a:xfrm>
            <a:off x="8572500" y="2217420"/>
            <a:ext cx="3200400" cy="233172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3"/>
          <p:cNvSpPr/>
          <p:nvPr/>
        </p:nvSpPr>
        <p:spPr>
          <a:xfrm>
            <a:off x="8503920" y="2148840"/>
            <a:ext cx="3200400" cy="2331720"/>
          </a:xfrm>
          <a:prstGeom prst="rect">
            <a:avLst/>
          </a:prstGeom>
          <a:solidFill>
            <a:srgbClr val="FF4D8D"/>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3"/>
          <p:cNvSpPr/>
          <p:nvPr/>
        </p:nvSpPr>
        <p:spPr>
          <a:xfrm>
            <a:off x="8823960" y="2441448"/>
            <a:ext cx="2560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OUTPUT</a:t>
            </a:r>
            <a:endParaRPr sz="2000">
              <a:solidFill>
                <a:schemeClr val="dk1"/>
              </a:solidFill>
              <a:latin typeface="Calibri"/>
              <a:ea typeface="Calibri"/>
              <a:cs typeface="Calibri"/>
              <a:sym typeface="Calibri"/>
            </a:endParaRPr>
          </a:p>
        </p:txBody>
      </p:sp>
      <p:cxnSp>
        <p:nvCxnSpPr>
          <p:cNvPr id="124" name="Google Shape;124;p3"/>
          <p:cNvCxnSpPr/>
          <p:nvPr/>
        </p:nvCxnSpPr>
        <p:spPr>
          <a:xfrm>
            <a:off x="8823960" y="2953512"/>
            <a:ext cx="2560320" cy="0"/>
          </a:xfrm>
          <a:prstGeom prst="straightConnector1">
            <a:avLst/>
          </a:prstGeom>
          <a:noFill/>
          <a:ln cap="flat" cmpd="sng" w="25400">
            <a:solidFill>
              <a:srgbClr val="000000"/>
            </a:solidFill>
            <a:prstDash val="solid"/>
            <a:round/>
            <a:headEnd len="sm" w="sm" type="none"/>
            <a:tailEnd len="sm" w="sm" type="none"/>
          </a:ln>
        </p:spPr>
      </p:cxnSp>
      <p:sp>
        <p:nvSpPr>
          <p:cNvPr id="125" name="Google Shape;125;p3"/>
          <p:cNvSpPr/>
          <p:nvPr/>
        </p:nvSpPr>
        <p:spPr>
          <a:xfrm>
            <a:off x="8823960" y="3108960"/>
            <a:ext cx="2560320" cy="109728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Calibri"/>
              <a:buNone/>
            </a:pPr>
            <a:r>
              <a:rPr lang="en-US" sz="1400">
                <a:solidFill>
                  <a:srgbClr val="000000"/>
                </a:solidFill>
                <a:latin typeface="Calibri"/>
                <a:ea typeface="Calibri"/>
                <a:cs typeface="Calibri"/>
                <a:sym typeface="Calibri"/>
              </a:rPr>
              <a:t>design</a:t>
            </a:r>
            <a:endParaRPr sz="14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7"/>
        </a:solidFill>
      </p:bgPr>
    </p:bg>
    <p:spTree>
      <p:nvGrpSpPr>
        <p:cNvPr id="130" name="Shape 130"/>
        <p:cNvGrpSpPr/>
        <p:nvPr/>
      </p:nvGrpSpPr>
      <p:grpSpPr>
        <a:xfrm>
          <a:off x="0" y="0"/>
          <a:ext cx="0" cy="0"/>
          <a:chOff x="0" y="0"/>
          <a:chExt cx="0" cy="0"/>
        </a:xfrm>
      </p:grpSpPr>
      <p:cxnSp>
        <p:nvCxnSpPr>
          <p:cNvPr id="131" name="Google Shape;131;p4"/>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132" name="Google Shape;132;p4"/>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300"/>
              <a:buFont typeface="Arial"/>
              <a:buNone/>
            </a:pPr>
            <a:r>
              <a:rPr b="1" lang="en-US" sz="3300">
                <a:solidFill>
                  <a:srgbClr val="000000"/>
                </a:solidFill>
                <a:latin typeface="Arial"/>
                <a:ea typeface="Arial"/>
                <a:cs typeface="Arial"/>
                <a:sym typeface="Arial"/>
              </a:rPr>
              <a:t>THREE PARADIGMS</a:t>
            </a:r>
            <a:endParaRPr sz="3300">
              <a:solidFill>
                <a:schemeClr val="dk1"/>
              </a:solidFill>
              <a:latin typeface="Calibri"/>
              <a:ea typeface="Calibri"/>
              <a:cs typeface="Calibri"/>
              <a:sym typeface="Calibri"/>
            </a:endParaRPr>
          </a:p>
        </p:txBody>
      </p:sp>
      <p:sp>
        <p:nvSpPr>
          <p:cNvPr id="133" name="Google Shape;133;p4"/>
          <p:cNvSpPr/>
          <p:nvPr/>
        </p:nvSpPr>
        <p:spPr>
          <a:xfrm>
            <a:off x="457200" y="1714500"/>
            <a:ext cx="3429000" cy="416052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4"/>
          <p:cNvSpPr/>
          <p:nvPr/>
        </p:nvSpPr>
        <p:spPr>
          <a:xfrm>
            <a:off x="388620" y="1645920"/>
            <a:ext cx="3429000" cy="4160520"/>
          </a:xfrm>
          <a:prstGeom prst="rect">
            <a:avLst/>
          </a:prstGeom>
          <a:solidFill>
            <a:srgbClr val="FFFDF7"/>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4"/>
          <p:cNvSpPr/>
          <p:nvPr/>
        </p:nvSpPr>
        <p:spPr>
          <a:xfrm>
            <a:off x="388620" y="1645920"/>
            <a:ext cx="3429000" cy="868680"/>
          </a:xfrm>
          <a:prstGeom prst="rect">
            <a:avLst/>
          </a:prstGeom>
          <a:solidFill>
            <a:srgbClr val="00D9E1"/>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4"/>
          <p:cNvSpPr/>
          <p:nvPr/>
        </p:nvSpPr>
        <p:spPr>
          <a:xfrm>
            <a:off x="626364" y="1783080"/>
            <a:ext cx="10058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300"/>
              <a:buFont typeface="Arial"/>
              <a:buNone/>
            </a:pPr>
            <a:r>
              <a:rPr b="1" lang="en-US" sz="2300">
                <a:solidFill>
                  <a:srgbClr val="000000"/>
                </a:solidFill>
                <a:latin typeface="Arial"/>
                <a:ea typeface="Arial"/>
                <a:cs typeface="Arial"/>
                <a:sym typeface="Arial"/>
              </a:rPr>
              <a:t>01</a:t>
            </a:r>
            <a:endParaRPr sz="2300">
              <a:solidFill>
                <a:schemeClr val="dk1"/>
              </a:solidFill>
              <a:latin typeface="Calibri"/>
              <a:ea typeface="Calibri"/>
              <a:cs typeface="Calibri"/>
              <a:sym typeface="Calibri"/>
            </a:endParaRPr>
          </a:p>
        </p:txBody>
      </p:sp>
      <p:sp>
        <p:nvSpPr>
          <p:cNvPr id="137" name="Google Shape;137;p4"/>
          <p:cNvSpPr/>
          <p:nvPr/>
        </p:nvSpPr>
        <p:spPr>
          <a:xfrm>
            <a:off x="1394460" y="1883664"/>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50"/>
              <a:buFont typeface="Arial"/>
              <a:buNone/>
            </a:pPr>
            <a:r>
              <a:rPr b="1" lang="en-US" sz="1350">
                <a:solidFill>
                  <a:srgbClr val="000000"/>
                </a:solidFill>
                <a:latin typeface="Arial"/>
                <a:ea typeface="Arial"/>
                <a:cs typeface="Arial"/>
                <a:sym typeface="Arial"/>
              </a:rPr>
              <a:t>PROCEDURAL</a:t>
            </a:r>
            <a:endParaRPr sz="1350">
              <a:solidFill>
                <a:schemeClr val="dk1"/>
              </a:solidFill>
              <a:latin typeface="Calibri"/>
              <a:ea typeface="Calibri"/>
              <a:cs typeface="Calibri"/>
              <a:sym typeface="Calibri"/>
            </a:endParaRPr>
          </a:p>
        </p:txBody>
      </p:sp>
      <p:sp>
        <p:nvSpPr>
          <p:cNvPr id="138" name="Google Shape;138;p4"/>
          <p:cNvSpPr/>
          <p:nvPr/>
        </p:nvSpPr>
        <p:spPr>
          <a:xfrm>
            <a:off x="626364" y="2606040"/>
            <a:ext cx="2953512"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850"/>
              <a:buFont typeface="Arial"/>
              <a:buNone/>
            </a:pPr>
            <a:r>
              <a:rPr b="1" lang="en-US" sz="850">
                <a:solidFill>
                  <a:srgbClr val="6B6B6B"/>
                </a:solidFill>
                <a:latin typeface="Arial"/>
                <a:ea typeface="Arial"/>
                <a:cs typeface="Arial"/>
                <a:sym typeface="Arial"/>
              </a:rPr>
              <a:t>PROCESS</a:t>
            </a:r>
            <a:endParaRPr sz="850">
              <a:solidFill>
                <a:schemeClr val="dk1"/>
              </a:solidFill>
              <a:latin typeface="Calibri"/>
              <a:ea typeface="Calibri"/>
              <a:cs typeface="Calibri"/>
              <a:sym typeface="Calibri"/>
            </a:endParaRPr>
          </a:p>
        </p:txBody>
      </p:sp>
      <p:sp>
        <p:nvSpPr>
          <p:cNvPr id="139" name="Google Shape;139;p4"/>
          <p:cNvSpPr/>
          <p:nvPr/>
        </p:nvSpPr>
        <p:spPr>
          <a:xfrm>
            <a:off x="626364" y="2825496"/>
            <a:ext cx="2953512" cy="4572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00000"/>
              </a:buClr>
              <a:buSzPts val="1250"/>
              <a:buFont typeface="Calibri"/>
              <a:buNone/>
            </a:pPr>
            <a:r>
              <a:rPr lang="en-US" sz="1250">
                <a:solidFill>
                  <a:srgbClr val="000000"/>
                </a:solidFill>
                <a:latin typeface="Calibri"/>
                <a:ea typeface="Calibri"/>
                <a:cs typeface="Calibri"/>
                <a:sym typeface="Calibri"/>
              </a:rPr>
              <a:t>A fixed sequence</a:t>
            </a:r>
            <a:endParaRPr sz="1250">
              <a:solidFill>
                <a:schemeClr val="dk1"/>
              </a:solidFill>
              <a:latin typeface="Calibri"/>
              <a:ea typeface="Calibri"/>
              <a:cs typeface="Calibri"/>
              <a:sym typeface="Calibri"/>
            </a:endParaRPr>
          </a:p>
          <a:p>
            <a:pPr indent="0" lvl="0" marL="0" marR="0" rtl="0" algn="l">
              <a:lnSpc>
                <a:spcPct val="136000"/>
              </a:lnSpc>
              <a:spcBef>
                <a:spcPts val="0"/>
              </a:spcBef>
              <a:spcAft>
                <a:spcPts val="0"/>
              </a:spcAft>
              <a:buClr>
                <a:srgbClr val="000000"/>
              </a:buClr>
              <a:buSzPts val="1250"/>
              <a:buFont typeface="Calibri"/>
              <a:buNone/>
            </a:pPr>
            <a:r>
              <a:rPr lang="en-US" sz="1250">
                <a:solidFill>
                  <a:srgbClr val="000000"/>
                </a:solidFill>
                <a:latin typeface="Calibri"/>
                <a:ea typeface="Calibri"/>
                <a:cs typeface="Calibri"/>
                <a:sym typeface="Calibri"/>
              </a:rPr>
              <a:t>of operations</a:t>
            </a:r>
            <a:endParaRPr sz="1250">
              <a:solidFill>
                <a:schemeClr val="dk1"/>
              </a:solidFill>
              <a:latin typeface="Calibri"/>
              <a:ea typeface="Calibri"/>
              <a:cs typeface="Calibri"/>
              <a:sym typeface="Calibri"/>
            </a:endParaRPr>
          </a:p>
        </p:txBody>
      </p:sp>
      <p:sp>
        <p:nvSpPr>
          <p:cNvPr id="140" name="Google Shape;140;p4"/>
          <p:cNvSpPr/>
          <p:nvPr/>
        </p:nvSpPr>
        <p:spPr>
          <a:xfrm>
            <a:off x="626364" y="3429000"/>
            <a:ext cx="2953512"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850"/>
              <a:buFont typeface="Arial"/>
              <a:buNone/>
            </a:pPr>
            <a:r>
              <a:rPr b="1" lang="en-US" sz="850">
                <a:solidFill>
                  <a:srgbClr val="6B6B6B"/>
                </a:solidFill>
                <a:latin typeface="Arial"/>
                <a:ea typeface="Arial"/>
                <a:cs typeface="Arial"/>
                <a:sym typeface="Arial"/>
              </a:rPr>
              <a:t>YOU DEFINE</a:t>
            </a:r>
            <a:endParaRPr sz="850">
              <a:solidFill>
                <a:schemeClr val="dk1"/>
              </a:solidFill>
              <a:latin typeface="Calibri"/>
              <a:ea typeface="Calibri"/>
              <a:cs typeface="Calibri"/>
              <a:sym typeface="Calibri"/>
            </a:endParaRPr>
          </a:p>
        </p:txBody>
      </p:sp>
      <p:sp>
        <p:nvSpPr>
          <p:cNvPr id="141" name="Google Shape;141;p4"/>
          <p:cNvSpPr/>
          <p:nvPr/>
        </p:nvSpPr>
        <p:spPr>
          <a:xfrm>
            <a:off x="626364" y="3648456"/>
            <a:ext cx="2953512" cy="45720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THE STEPS</a:t>
            </a:r>
            <a:endParaRPr sz="1300">
              <a:solidFill>
                <a:schemeClr val="dk1"/>
              </a:solidFill>
              <a:latin typeface="Calibri"/>
              <a:ea typeface="Calibri"/>
              <a:cs typeface="Calibri"/>
              <a:sym typeface="Calibri"/>
            </a:endParaRPr>
          </a:p>
        </p:txBody>
      </p:sp>
      <p:cxnSp>
        <p:nvCxnSpPr>
          <p:cNvPr id="142" name="Google Shape;142;p4"/>
          <p:cNvCxnSpPr/>
          <p:nvPr/>
        </p:nvCxnSpPr>
        <p:spPr>
          <a:xfrm>
            <a:off x="626364" y="4206240"/>
            <a:ext cx="2953512" cy="0"/>
          </a:xfrm>
          <a:prstGeom prst="straightConnector1">
            <a:avLst/>
          </a:prstGeom>
          <a:noFill/>
          <a:ln cap="flat" cmpd="sng" w="25400">
            <a:solidFill>
              <a:srgbClr val="000000"/>
            </a:solidFill>
            <a:prstDash val="solid"/>
            <a:round/>
            <a:headEnd len="sm" w="sm" type="none"/>
            <a:tailEnd len="sm" w="sm" type="none"/>
          </a:ln>
        </p:spPr>
      </p:cxnSp>
      <p:sp>
        <p:nvSpPr>
          <p:cNvPr id="143" name="Google Shape;143;p4"/>
          <p:cNvSpPr/>
          <p:nvPr/>
        </p:nvSpPr>
        <p:spPr>
          <a:xfrm>
            <a:off x="626364" y="4315968"/>
            <a:ext cx="2953512"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850"/>
              <a:buFont typeface="Arial"/>
              <a:buNone/>
            </a:pPr>
            <a:r>
              <a:rPr b="1" lang="en-US" sz="850">
                <a:solidFill>
                  <a:srgbClr val="6B6B6B"/>
                </a:solidFill>
                <a:latin typeface="Arial"/>
                <a:ea typeface="Arial"/>
                <a:cs typeface="Arial"/>
                <a:sym typeface="Arial"/>
              </a:rPr>
              <a:t>OUTPUT IS</a:t>
            </a:r>
            <a:endParaRPr sz="850">
              <a:solidFill>
                <a:schemeClr val="dk1"/>
              </a:solidFill>
              <a:latin typeface="Calibri"/>
              <a:ea typeface="Calibri"/>
              <a:cs typeface="Calibri"/>
              <a:sym typeface="Calibri"/>
            </a:endParaRPr>
          </a:p>
        </p:txBody>
      </p:sp>
      <p:sp>
        <p:nvSpPr>
          <p:cNvPr id="144" name="Google Shape;144;p4"/>
          <p:cNvSpPr/>
          <p:nvPr/>
        </p:nvSpPr>
        <p:spPr>
          <a:xfrm>
            <a:off x="626364" y="4535424"/>
            <a:ext cx="2953512" cy="73152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ONE EXPECTED</a:t>
            </a:r>
            <a:endParaRPr sz="1300">
              <a:solidFill>
                <a:schemeClr val="dk1"/>
              </a:solidFill>
              <a:latin typeface="Calibri"/>
              <a:ea typeface="Calibri"/>
              <a:cs typeface="Calibri"/>
              <a:sym typeface="Calibri"/>
            </a:endParaRPr>
          </a:p>
          <a:p>
            <a:pPr indent="0" lvl="0" marL="0" marR="0" rtl="0" algn="l">
              <a:lnSpc>
                <a:spcPct val="130769"/>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RESULT</a:t>
            </a:r>
            <a:endParaRPr sz="1300">
              <a:solidFill>
                <a:schemeClr val="dk1"/>
              </a:solidFill>
              <a:latin typeface="Calibri"/>
              <a:ea typeface="Calibri"/>
              <a:cs typeface="Calibri"/>
              <a:sym typeface="Calibri"/>
            </a:endParaRPr>
          </a:p>
        </p:txBody>
      </p:sp>
      <p:sp>
        <p:nvSpPr>
          <p:cNvPr id="145" name="Google Shape;145;p4"/>
          <p:cNvSpPr/>
          <p:nvPr/>
        </p:nvSpPr>
        <p:spPr>
          <a:xfrm>
            <a:off x="626364" y="5285232"/>
            <a:ext cx="2953512" cy="43891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6B6B6B"/>
              </a:buClr>
              <a:buSzPts val="1050"/>
              <a:buFont typeface="Calibri"/>
              <a:buNone/>
            </a:pPr>
            <a:r>
              <a:rPr i="1" lang="en-US" sz="1050">
                <a:solidFill>
                  <a:srgbClr val="6B6B6B"/>
                </a:solidFill>
                <a:latin typeface="Calibri"/>
                <a:ea typeface="Calibri"/>
                <a:cs typeface="Calibri"/>
                <a:sym typeface="Calibri"/>
              </a:rPr>
              <a:t>We are interested primarily in instructions.</a:t>
            </a:r>
            <a:endParaRPr sz="1050">
              <a:solidFill>
                <a:schemeClr val="dk1"/>
              </a:solidFill>
              <a:latin typeface="Calibri"/>
              <a:ea typeface="Calibri"/>
              <a:cs typeface="Calibri"/>
              <a:sym typeface="Calibri"/>
            </a:endParaRPr>
          </a:p>
        </p:txBody>
      </p:sp>
      <p:sp>
        <p:nvSpPr>
          <p:cNvPr id="146" name="Google Shape;146;p4"/>
          <p:cNvSpPr/>
          <p:nvPr/>
        </p:nvSpPr>
        <p:spPr>
          <a:xfrm>
            <a:off x="694944" y="6030468"/>
            <a:ext cx="2953512" cy="384048"/>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4"/>
          <p:cNvSpPr/>
          <p:nvPr/>
        </p:nvSpPr>
        <p:spPr>
          <a:xfrm>
            <a:off x="626364" y="5961888"/>
            <a:ext cx="2953512" cy="384048"/>
          </a:xfrm>
          <a:prstGeom prst="rect">
            <a:avLst/>
          </a:prstGeom>
          <a:solidFill>
            <a:srgbClr val="00D9E1"/>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4"/>
          <p:cNvSpPr/>
          <p:nvPr/>
        </p:nvSpPr>
        <p:spPr>
          <a:xfrm>
            <a:off x="626364" y="6025896"/>
            <a:ext cx="295351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100"/>
              <a:buFont typeface="Arial"/>
              <a:buNone/>
            </a:pPr>
            <a:r>
              <a:rPr b="1" lang="en-US" sz="1100">
                <a:solidFill>
                  <a:srgbClr val="000000"/>
                </a:solidFill>
                <a:latin typeface="Arial"/>
                <a:ea typeface="Arial"/>
                <a:cs typeface="Arial"/>
                <a:sym typeface="Arial"/>
              </a:rPr>
              <a:t>MODULE 0</a:t>
            </a:r>
            <a:endParaRPr sz="1100">
              <a:solidFill>
                <a:schemeClr val="dk1"/>
              </a:solidFill>
              <a:latin typeface="Calibri"/>
              <a:ea typeface="Calibri"/>
              <a:cs typeface="Calibri"/>
              <a:sym typeface="Calibri"/>
            </a:endParaRPr>
          </a:p>
        </p:txBody>
      </p:sp>
      <p:sp>
        <p:nvSpPr>
          <p:cNvPr id="149" name="Google Shape;149;p4"/>
          <p:cNvSpPr/>
          <p:nvPr/>
        </p:nvSpPr>
        <p:spPr>
          <a:xfrm>
            <a:off x="4434840" y="1714500"/>
            <a:ext cx="3429000" cy="416052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4"/>
          <p:cNvSpPr/>
          <p:nvPr/>
        </p:nvSpPr>
        <p:spPr>
          <a:xfrm>
            <a:off x="4366260" y="1645920"/>
            <a:ext cx="3429000" cy="4160520"/>
          </a:xfrm>
          <a:prstGeom prst="rect">
            <a:avLst/>
          </a:prstGeom>
          <a:solidFill>
            <a:srgbClr val="FFFDF7"/>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4"/>
          <p:cNvSpPr/>
          <p:nvPr/>
        </p:nvSpPr>
        <p:spPr>
          <a:xfrm>
            <a:off x="4366260" y="1645920"/>
            <a:ext cx="3429000" cy="868680"/>
          </a:xfrm>
          <a:prstGeom prst="rect">
            <a:avLst/>
          </a:prstGeom>
          <a:solidFill>
            <a:srgbClr val="C6F035"/>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4"/>
          <p:cNvSpPr/>
          <p:nvPr/>
        </p:nvSpPr>
        <p:spPr>
          <a:xfrm>
            <a:off x="4604004" y="1783080"/>
            <a:ext cx="10058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300"/>
              <a:buFont typeface="Arial"/>
              <a:buNone/>
            </a:pPr>
            <a:r>
              <a:rPr b="1" lang="en-US" sz="2300">
                <a:solidFill>
                  <a:srgbClr val="000000"/>
                </a:solidFill>
                <a:latin typeface="Arial"/>
                <a:ea typeface="Arial"/>
                <a:cs typeface="Arial"/>
                <a:sym typeface="Arial"/>
              </a:rPr>
              <a:t>02</a:t>
            </a:r>
            <a:endParaRPr sz="2300">
              <a:solidFill>
                <a:schemeClr val="dk1"/>
              </a:solidFill>
              <a:latin typeface="Calibri"/>
              <a:ea typeface="Calibri"/>
              <a:cs typeface="Calibri"/>
              <a:sym typeface="Calibri"/>
            </a:endParaRPr>
          </a:p>
        </p:txBody>
      </p:sp>
      <p:sp>
        <p:nvSpPr>
          <p:cNvPr id="153" name="Google Shape;153;p4"/>
          <p:cNvSpPr/>
          <p:nvPr/>
        </p:nvSpPr>
        <p:spPr>
          <a:xfrm>
            <a:off x="5372100" y="1883664"/>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50"/>
              <a:buFont typeface="Arial"/>
              <a:buNone/>
            </a:pPr>
            <a:r>
              <a:rPr b="1" lang="en-US" sz="1350">
                <a:solidFill>
                  <a:srgbClr val="000000"/>
                </a:solidFill>
                <a:latin typeface="Arial"/>
                <a:ea typeface="Arial"/>
                <a:cs typeface="Arial"/>
                <a:sym typeface="Arial"/>
              </a:rPr>
              <a:t>PARAMETRIC</a:t>
            </a:r>
            <a:endParaRPr sz="1350">
              <a:solidFill>
                <a:schemeClr val="dk1"/>
              </a:solidFill>
              <a:latin typeface="Calibri"/>
              <a:ea typeface="Calibri"/>
              <a:cs typeface="Calibri"/>
              <a:sym typeface="Calibri"/>
            </a:endParaRPr>
          </a:p>
        </p:txBody>
      </p:sp>
      <p:sp>
        <p:nvSpPr>
          <p:cNvPr id="154" name="Google Shape;154;p4"/>
          <p:cNvSpPr/>
          <p:nvPr/>
        </p:nvSpPr>
        <p:spPr>
          <a:xfrm>
            <a:off x="4604004" y="2606040"/>
            <a:ext cx="2953512"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850"/>
              <a:buFont typeface="Arial"/>
              <a:buNone/>
            </a:pPr>
            <a:r>
              <a:rPr b="1" lang="en-US" sz="850">
                <a:solidFill>
                  <a:srgbClr val="6B6B6B"/>
                </a:solidFill>
                <a:latin typeface="Arial"/>
                <a:ea typeface="Arial"/>
                <a:cs typeface="Arial"/>
                <a:sym typeface="Arial"/>
              </a:rPr>
              <a:t>PROCESS</a:t>
            </a:r>
            <a:endParaRPr sz="850">
              <a:solidFill>
                <a:schemeClr val="dk1"/>
              </a:solidFill>
              <a:latin typeface="Calibri"/>
              <a:ea typeface="Calibri"/>
              <a:cs typeface="Calibri"/>
              <a:sym typeface="Calibri"/>
            </a:endParaRPr>
          </a:p>
        </p:txBody>
      </p:sp>
      <p:sp>
        <p:nvSpPr>
          <p:cNvPr id="155" name="Google Shape;155;p4"/>
          <p:cNvSpPr/>
          <p:nvPr/>
        </p:nvSpPr>
        <p:spPr>
          <a:xfrm>
            <a:off x="4604004" y="2825496"/>
            <a:ext cx="2953512" cy="4572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00000"/>
              </a:buClr>
              <a:buSzPts val="1250"/>
              <a:buFont typeface="Calibri"/>
              <a:buNone/>
            </a:pPr>
            <a:r>
              <a:rPr lang="en-US" sz="1250">
                <a:solidFill>
                  <a:srgbClr val="000000"/>
                </a:solidFill>
                <a:latin typeface="Calibri"/>
                <a:ea typeface="Calibri"/>
                <a:cs typeface="Calibri"/>
                <a:sym typeface="Calibri"/>
              </a:rPr>
              <a:t>Relationships between</a:t>
            </a:r>
            <a:endParaRPr sz="1250">
              <a:solidFill>
                <a:schemeClr val="dk1"/>
              </a:solidFill>
              <a:latin typeface="Calibri"/>
              <a:ea typeface="Calibri"/>
              <a:cs typeface="Calibri"/>
              <a:sym typeface="Calibri"/>
            </a:endParaRPr>
          </a:p>
          <a:p>
            <a:pPr indent="0" lvl="0" marL="0" marR="0" rtl="0" algn="l">
              <a:lnSpc>
                <a:spcPct val="136000"/>
              </a:lnSpc>
              <a:spcBef>
                <a:spcPts val="0"/>
              </a:spcBef>
              <a:spcAft>
                <a:spcPts val="0"/>
              </a:spcAft>
              <a:buClr>
                <a:srgbClr val="000000"/>
              </a:buClr>
              <a:buSzPts val="1250"/>
              <a:buFont typeface="Calibri"/>
              <a:buNone/>
            </a:pPr>
            <a:r>
              <a:rPr lang="en-US" sz="1250">
                <a:solidFill>
                  <a:srgbClr val="000000"/>
                </a:solidFill>
                <a:latin typeface="Calibri"/>
                <a:ea typeface="Calibri"/>
                <a:cs typeface="Calibri"/>
                <a:sym typeface="Calibri"/>
              </a:rPr>
              <a:t>inputs and form</a:t>
            </a:r>
            <a:endParaRPr sz="1250">
              <a:solidFill>
                <a:schemeClr val="dk1"/>
              </a:solidFill>
              <a:latin typeface="Calibri"/>
              <a:ea typeface="Calibri"/>
              <a:cs typeface="Calibri"/>
              <a:sym typeface="Calibri"/>
            </a:endParaRPr>
          </a:p>
        </p:txBody>
      </p:sp>
      <p:sp>
        <p:nvSpPr>
          <p:cNvPr id="156" name="Google Shape;156;p4"/>
          <p:cNvSpPr/>
          <p:nvPr/>
        </p:nvSpPr>
        <p:spPr>
          <a:xfrm>
            <a:off x="4604004" y="3429000"/>
            <a:ext cx="2953512"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850"/>
              <a:buFont typeface="Arial"/>
              <a:buNone/>
            </a:pPr>
            <a:r>
              <a:rPr b="1" lang="en-US" sz="850">
                <a:solidFill>
                  <a:srgbClr val="6B6B6B"/>
                </a:solidFill>
                <a:latin typeface="Arial"/>
                <a:ea typeface="Arial"/>
                <a:cs typeface="Arial"/>
                <a:sym typeface="Arial"/>
              </a:rPr>
              <a:t>YOU DEFINE</a:t>
            </a:r>
            <a:endParaRPr sz="850">
              <a:solidFill>
                <a:schemeClr val="dk1"/>
              </a:solidFill>
              <a:latin typeface="Calibri"/>
              <a:ea typeface="Calibri"/>
              <a:cs typeface="Calibri"/>
              <a:sym typeface="Calibri"/>
            </a:endParaRPr>
          </a:p>
        </p:txBody>
      </p:sp>
      <p:sp>
        <p:nvSpPr>
          <p:cNvPr id="157" name="Google Shape;157;p4"/>
          <p:cNvSpPr/>
          <p:nvPr/>
        </p:nvSpPr>
        <p:spPr>
          <a:xfrm>
            <a:off x="4604004" y="3648456"/>
            <a:ext cx="2953512" cy="45720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THE RULES OF</a:t>
            </a:r>
            <a:endParaRPr sz="1300">
              <a:solidFill>
                <a:schemeClr val="dk1"/>
              </a:solidFill>
              <a:latin typeface="Calibri"/>
              <a:ea typeface="Calibri"/>
              <a:cs typeface="Calibri"/>
              <a:sym typeface="Calibri"/>
            </a:endParaRPr>
          </a:p>
          <a:p>
            <a:pPr indent="0" lvl="0" marL="0" marR="0" rtl="0" algn="l">
              <a:lnSpc>
                <a:spcPct val="130769"/>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VARIATION</a:t>
            </a:r>
            <a:endParaRPr sz="1300">
              <a:solidFill>
                <a:schemeClr val="dk1"/>
              </a:solidFill>
              <a:latin typeface="Calibri"/>
              <a:ea typeface="Calibri"/>
              <a:cs typeface="Calibri"/>
              <a:sym typeface="Calibri"/>
            </a:endParaRPr>
          </a:p>
        </p:txBody>
      </p:sp>
      <p:cxnSp>
        <p:nvCxnSpPr>
          <p:cNvPr id="158" name="Google Shape;158;p4"/>
          <p:cNvCxnSpPr/>
          <p:nvPr/>
        </p:nvCxnSpPr>
        <p:spPr>
          <a:xfrm>
            <a:off x="4604004" y="4206240"/>
            <a:ext cx="2953512" cy="0"/>
          </a:xfrm>
          <a:prstGeom prst="straightConnector1">
            <a:avLst/>
          </a:prstGeom>
          <a:noFill/>
          <a:ln cap="flat" cmpd="sng" w="25400">
            <a:solidFill>
              <a:srgbClr val="000000"/>
            </a:solidFill>
            <a:prstDash val="solid"/>
            <a:round/>
            <a:headEnd len="sm" w="sm" type="none"/>
            <a:tailEnd len="sm" w="sm" type="none"/>
          </a:ln>
        </p:spPr>
      </p:cxnSp>
      <p:sp>
        <p:nvSpPr>
          <p:cNvPr id="159" name="Google Shape;159;p4"/>
          <p:cNvSpPr/>
          <p:nvPr/>
        </p:nvSpPr>
        <p:spPr>
          <a:xfrm>
            <a:off x="4604004" y="4315968"/>
            <a:ext cx="2953512"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850"/>
              <a:buFont typeface="Arial"/>
              <a:buNone/>
            </a:pPr>
            <a:r>
              <a:rPr b="1" lang="en-US" sz="850">
                <a:solidFill>
                  <a:srgbClr val="6B6B6B"/>
                </a:solidFill>
                <a:latin typeface="Arial"/>
                <a:ea typeface="Arial"/>
                <a:cs typeface="Arial"/>
                <a:sym typeface="Arial"/>
              </a:rPr>
              <a:t>OUTPUT IS</a:t>
            </a:r>
            <a:endParaRPr sz="850">
              <a:solidFill>
                <a:schemeClr val="dk1"/>
              </a:solidFill>
              <a:latin typeface="Calibri"/>
              <a:ea typeface="Calibri"/>
              <a:cs typeface="Calibri"/>
              <a:sym typeface="Calibri"/>
            </a:endParaRPr>
          </a:p>
        </p:txBody>
      </p:sp>
      <p:sp>
        <p:nvSpPr>
          <p:cNvPr id="160" name="Google Shape;160;p4"/>
          <p:cNvSpPr/>
          <p:nvPr/>
        </p:nvSpPr>
        <p:spPr>
          <a:xfrm>
            <a:off x="4604004" y="4535424"/>
            <a:ext cx="2953512" cy="73152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A FAMILY</a:t>
            </a:r>
            <a:r>
              <a:rPr b="1" lang="en-US" sz="1300"/>
              <a:t> OF RESULTS THAT </a:t>
            </a:r>
            <a:r>
              <a:rPr b="1" lang="en-US" sz="1300">
                <a:solidFill>
                  <a:srgbClr val="000000"/>
                </a:solidFill>
                <a:latin typeface="Arial"/>
                <a:ea typeface="Arial"/>
                <a:cs typeface="Arial"/>
                <a:sym typeface="Arial"/>
              </a:rPr>
              <a:t>YOU</a:t>
            </a:r>
            <a:endParaRPr sz="1300">
              <a:solidFill>
                <a:schemeClr val="dk1"/>
              </a:solidFill>
              <a:latin typeface="Calibri"/>
              <a:ea typeface="Calibri"/>
              <a:cs typeface="Calibri"/>
              <a:sym typeface="Calibri"/>
            </a:endParaRPr>
          </a:p>
          <a:p>
            <a:pPr indent="0" lvl="0" marL="0" marR="0" rtl="0" algn="l">
              <a:lnSpc>
                <a:spcPct val="130769"/>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KNOW THE RANGE,</a:t>
            </a:r>
            <a:endParaRPr sz="1300">
              <a:solidFill>
                <a:schemeClr val="dk1"/>
              </a:solidFill>
              <a:latin typeface="Calibri"/>
              <a:ea typeface="Calibri"/>
              <a:cs typeface="Calibri"/>
              <a:sym typeface="Calibri"/>
            </a:endParaRPr>
          </a:p>
          <a:p>
            <a:pPr indent="0" lvl="0" marL="0" marR="0" rtl="0" algn="l">
              <a:lnSpc>
                <a:spcPct val="130769"/>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NOT EACH MEMBER</a:t>
            </a:r>
            <a:endParaRPr sz="1300">
              <a:solidFill>
                <a:schemeClr val="dk1"/>
              </a:solidFill>
              <a:latin typeface="Calibri"/>
              <a:ea typeface="Calibri"/>
              <a:cs typeface="Calibri"/>
              <a:sym typeface="Calibri"/>
            </a:endParaRPr>
          </a:p>
        </p:txBody>
      </p:sp>
      <p:sp>
        <p:nvSpPr>
          <p:cNvPr id="161" name="Google Shape;161;p4"/>
          <p:cNvSpPr/>
          <p:nvPr/>
        </p:nvSpPr>
        <p:spPr>
          <a:xfrm>
            <a:off x="4604004" y="5285232"/>
            <a:ext cx="2953512" cy="43891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6B6B6B"/>
              </a:buClr>
              <a:buSzPts val="1050"/>
              <a:buFont typeface="Calibri"/>
              <a:buNone/>
            </a:pPr>
            <a:r>
              <a:rPr i="1" lang="en-US" sz="1050">
                <a:solidFill>
                  <a:srgbClr val="6B6B6B"/>
                </a:solidFill>
                <a:latin typeface="Calibri"/>
                <a:ea typeface="Calibri"/>
                <a:cs typeface="Calibri"/>
                <a:sym typeface="Calibri"/>
              </a:rPr>
              <a:t>The same inputs always produce the same output.</a:t>
            </a:r>
            <a:endParaRPr sz="1050">
              <a:solidFill>
                <a:schemeClr val="dk1"/>
              </a:solidFill>
              <a:latin typeface="Calibri"/>
              <a:ea typeface="Calibri"/>
              <a:cs typeface="Calibri"/>
              <a:sym typeface="Calibri"/>
            </a:endParaRPr>
          </a:p>
        </p:txBody>
      </p:sp>
      <p:sp>
        <p:nvSpPr>
          <p:cNvPr id="162" name="Google Shape;162;p4"/>
          <p:cNvSpPr/>
          <p:nvPr/>
        </p:nvSpPr>
        <p:spPr>
          <a:xfrm>
            <a:off x="4672584" y="6030468"/>
            <a:ext cx="2953512" cy="384048"/>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4"/>
          <p:cNvSpPr/>
          <p:nvPr/>
        </p:nvSpPr>
        <p:spPr>
          <a:xfrm>
            <a:off x="4604004" y="5961888"/>
            <a:ext cx="2953512" cy="384048"/>
          </a:xfrm>
          <a:prstGeom prst="rect">
            <a:avLst/>
          </a:prstGeom>
          <a:solidFill>
            <a:srgbClr val="C6F035"/>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4"/>
          <p:cNvSpPr/>
          <p:nvPr/>
        </p:nvSpPr>
        <p:spPr>
          <a:xfrm>
            <a:off x="4604004" y="6025896"/>
            <a:ext cx="295351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100"/>
              <a:buFont typeface="Arial"/>
              <a:buNone/>
            </a:pPr>
            <a:r>
              <a:rPr b="1" lang="en-US" sz="1100">
                <a:solidFill>
                  <a:srgbClr val="000000"/>
                </a:solidFill>
                <a:latin typeface="Arial"/>
                <a:ea typeface="Arial"/>
                <a:cs typeface="Arial"/>
                <a:sym typeface="Arial"/>
              </a:rPr>
              <a:t>MODULES 1–3</a:t>
            </a:r>
            <a:endParaRPr sz="1100">
              <a:solidFill>
                <a:schemeClr val="dk1"/>
              </a:solidFill>
              <a:latin typeface="Calibri"/>
              <a:ea typeface="Calibri"/>
              <a:cs typeface="Calibri"/>
              <a:sym typeface="Calibri"/>
            </a:endParaRPr>
          </a:p>
        </p:txBody>
      </p:sp>
      <p:sp>
        <p:nvSpPr>
          <p:cNvPr id="165" name="Google Shape;165;p4"/>
          <p:cNvSpPr/>
          <p:nvPr/>
        </p:nvSpPr>
        <p:spPr>
          <a:xfrm>
            <a:off x="8412480" y="1714500"/>
            <a:ext cx="3429000" cy="416052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4"/>
          <p:cNvSpPr/>
          <p:nvPr/>
        </p:nvSpPr>
        <p:spPr>
          <a:xfrm>
            <a:off x="8343900" y="1645920"/>
            <a:ext cx="3429000" cy="4160520"/>
          </a:xfrm>
          <a:prstGeom prst="rect">
            <a:avLst/>
          </a:prstGeom>
          <a:solidFill>
            <a:srgbClr val="FFFDF7"/>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4"/>
          <p:cNvSpPr/>
          <p:nvPr/>
        </p:nvSpPr>
        <p:spPr>
          <a:xfrm>
            <a:off x="8343900" y="1645920"/>
            <a:ext cx="3429000" cy="868680"/>
          </a:xfrm>
          <a:prstGeom prst="rect">
            <a:avLst/>
          </a:prstGeom>
          <a:solidFill>
            <a:srgbClr val="FF4D8D"/>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4"/>
          <p:cNvSpPr/>
          <p:nvPr/>
        </p:nvSpPr>
        <p:spPr>
          <a:xfrm>
            <a:off x="8581644" y="1783080"/>
            <a:ext cx="10058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300"/>
              <a:buFont typeface="Arial"/>
              <a:buNone/>
            </a:pPr>
            <a:r>
              <a:rPr b="1" lang="en-US" sz="2300">
                <a:solidFill>
                  <a:srgbClr val="000000"/>
                </a:solidFill>
                <a:latin typeface="Arial"/>
                <a:ea typeface="Arial"/>
                <a:cs typeface="Arial"/>
                <a:sym typeface="Arial"/>
              </a:rPr>
              <a:t>03</a:t>
            </a:r>
            <a:endParaRPr sz="2300">
              <a:solidFill>
                <a:schemeClr val="dk1"/>
              </a:solidFill>
              <a:latin typeface="Calibri"/>
              <a:ea typeface="Calibri"/>
              <a:cs typeface="Calibri"/>
              <a:sym typeface="Calibri"/>
            </a:endParaRPr>
          </a:p>
        </p:txBody>
      </p:sp>
      <p:sp>
        <p:nvSpPr>
          <p:cNvPr id="169" name="Google Shape;169;p4"/>
          <p:cNvSpPr/>
          <p:nvPr/>
        </p:nvSpPr>
        <p:spPr>
          <a:xfrm>
            <a:off x="9349740" y="1883664"/>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50"/>
              <a:buFont typeface="Arial"/>
              <a:buNone/>
            </a:pPr>
            <a:r>
              <a:rPr b="1" lang="en-US" sz="1350">
                <a:solidFill>
                  <a:srgbClr val="000000"/>
                </a:solidFill>
                <a:latin typeface="Arial"/>
                <a:ea typeface="Arial"/>
                <a:cs typeface="Arial"/>
                <a:sym typeface="Arial"/>
              </a:rPr>
              <a:t>GENERATIVE</a:t>
            </a:r>
            <a:endParaRPr sz="1350">
              <a:solidFill>
                <a:schemeClr val="dk1"/>
              </a:solidFill>
              <a:latin typeface="Calibri"/>
              <a:ea typeface="Calibri"/>
              <a:cs typeface="Calibri"/>
              <a:sym typeface="Calibri"/>
            </a:endParaRPr>
          </a:p>
        </p:txBody>
      </p:sp>
      <p:sp>
        <p:nvSpPr>
          <p:cNvPr id="170" name="Google Shape;170;p4"/>
          <p:cNvSpPr/>
          <p:nvPr/>
        </p:nvSpPr>
        <p:spPr>
          <a:xfrm>
            <a:off x="8581644" y="2606040"/>
            <a:ext cx="2953512"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850"/>
              <a:buFont typeface="Arial"/>
              <a:buNone/>
            </a:pPr>
            <a:r>
              <a:rPr b="1" lang="en-US" sz="850">
                <a:solidFill>
                  <a:srgbClr val="6B6B6B"/>
                </a:solidFill>
                <a:latin typeface="Arial"/>
                <a:ea typeface="Arial"/>
                <a:cs typeface="Arial"/>
                <a:sym typeface="Arial"/>
              </a:rPr>
              <a:t>PROCESS</a:t>
            </a:r>
            <a:endParaRPr sz="850">
              <a:solidFill>
                <a:schemeClr val="dk1"/>
              </a:solidFill>
              <a:latin typeface="Calibri"/>
              <a:ea typeface="Calibri"/>
              <a:cs typeface="Calibri"/>
              <a:sym typeface="Calibri"/>
            </a:endParaRPr>
          </a:p>
        </p:txBody>
      </p:sp>
      <p:sp>
        <p:nvSpPr>
          <p:cNvPr id="171" name="Google Shape;171;p4"/>
          <p:cNvSpPr/>
          <p:nvPr/>
        </p:nvSpPr>
        <p:spPr>
          <a:xfrm>
            <a:off x="8581644" y="2825496"/>
            <a:ext cx="2953512" cy="4572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00000"/>
              </a:buClr>
              <a:buSzPts val="1250"/>
              <a:buFont typeface="Calibri"/>
              <a:buNone/>
            </a:pPr>
            <a:r>
              <a:rPr lang="en-US" sz="1250">
                <a:solidFill>
                  <a:srgbClr val="000000"/>
                </a:solidFill>
                <a:latin typeface="Calibri"/>
                <a:ea typeface="Calibri"/>
                <a:cs typeface="Calibri"/>
                <a:sym typeface="Calibri"/>
              </a:rPr>
              <a:t>A rule applied to its</a:t>
            </a:r>
            <a:endParaRPr sz="1250">
              <a:solidFill>
                <a:schemeClr val="dk1"/>
              </a:solidFill>
              <a:latin typeface="Calibri"/>
              <a:ea typeface="Calibri"/>
              <a:cs typeface="Calibri"/>
              <a:sym typeface="Calibri"/>
            </a:endParaRPr>
          </a:p>
          <a:p>
            <a:pPr indent="0" lvl="0" marL="0" marR="0" rtl="0" algn="l">
              <a:lnSpc>
                <a:spcPct val="136000"/>
              </a:lnSpc>
              <a:spcBef>
                <a:spcPts val="0"/>
              </a:spcBef>
              <a:spcAft>
                <a:spcPts val="0"/>
              </a:spcAft>
              <a:buClr>
                <a:srgbClr val="000000"/>
              </a:buClr>
              <a:buSzPts val="1250"/>
              <a:buFont typeface="Calibri"/>
              <a:buNone/>
            </a:pPr>
            <a:r>
              <a:rPr lang="en-US" sz="1250">
                <a:solidFill>
                  <a:srgbClr val="000000"/>
                </a:solidFill>
                <a:latin typeface="Calibri"/>
                <a:ea typeface="Calibri"/>
                <a:cs typeface="Calibri"/>
                <a:sym typeface="Calibri"/>
              </a:rPr>
              <a:t>own output, repeatedly</a:t>
            </a:r>
            <a:endParaRPr sz="1250">
              <a:solidFill>
                <a:schemeClr val="dk1"/>
              </a:solidFill>
              <a:latin typeface="Calibri"/>
              <a:ea typeface="Calibri"/>
              <a:cs typeface="Calibri"/>
              <a:sym typeface="Calibri"/>
            </a:endParaRPr>
          </a:p>
        </p:txBody>
      </p:sp>
      <p:sp>
        <p:nvSpPr>
          <p:cNvPr id="172" name="Google Shape;172;p4"/>
          <p:cNvSpPr/>
          <p:nvPr/>
        </p:nvSpPr>
        <p:spPr>
          <a:xfrm>
            <a:off x="8581644" y="3429000"/>
            <a:ext cx="2953512"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850"/>
              <a:buFont typeface="Arial"/>
              <a:buNone/>
            </a:pPr>
            <a:r>
              <a:rPr b="1" lang="en-US" sz="850">
                <a:solidFill>
                  <a:srgbClr val="6B6B6B"/>
                </a:solidFill>
                <a:latin typeface="Arial"/>
                <a:ea typeface="Arial"/>
                <a:cs typeface="Arial"/>
                <a:sym typeface="Arial"/>
              </a:rPr>
              <a:t>YOU DEFINE</a:t>
            </a:r>
            <a:endParaRPr sz="850">
              <a:solidFill>
                <a:schemeClr val="dk1"/>
              </a:solidFill>
              <a:latin typeface="Calibri"/>
              <a:ea typeface="Calibri"/>
              <a:cs typeface="Calibri"/>
              <a:sym typeface="Calibri"/>
            </a:endParaRPr>
          </a:p>
        </p:txBody>
      </p:sp>
      <p:sp>
        <p:nvSpPr>
          <p:cNvPr id="173" name="Google Shape;173;p4"/>
          <p:cNvSpPr/>
          <p:nvPr/>
        </p:nvSpPr>
        <p:spPr>
          <a:xfrm>
            <a:off x="8581644" y="3648456"/>
            <a:ext cx="2953512" cy="45720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THE RULE + THE</a:t>
            </a:r>
            <a:endParaRPr sz="1300">
              <a:solidFill>
                <a:schemeClr val="dk1"/>
              </a:solidFill>
              <a:latin typeface="Calibri"/>
              <a:ea typeface="Calibri"/>
              <a:cs typeface="Calibri"/>
              <a:sym typeface="Calibri"/>
            </a:endParaRPr>
          </a:p>
          <a:p>
            <a:pPr indent="0" lvl="0" marL="0" marR="0" rtl="0" algn="l">
              <a:lnSpc>
                <a:spcPct val="130769"/>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STARTING STATE</a:t>
            </a:r>
            <a:endParaRPr sz="1300">
              <a:solidFill>
                <a:schemeClr val="dk1"/>
              </a:solidFill>
              <a:latin typeface="Calibri"/>
              <a:ea typeface="Calibri"/>
              <a:cs typeface="Calibri"/>
              <a:sym typeface="Calibri"/>
            </a:endParaRPr>
          </a:p>
        </p:txBody>
      </p:sp>
      <p:cxnSp>
        <p:nvCxnSpPr>
          <p:cNvPr id="174" name="Google Shape;174;p4"/>
          <p:cNvCxnSpPr/>
          <p:nvPr/>
        </p:nvCxnSpPr>
        <p:spPr>
          <a:xfrm>
            <a:off x="8581644" y="4206240"/>
            <a:ext cx="2953512" cy="0"/>
          </a:xfrm>
          <a:prstGeom prst="straightConnector1">
            <a:avLst/>
          </a:prstGeom>
          <a:noFill/>
          <a:ln cap="flat" cmpd="sng" w="25400">
            <a:solidFill>
              <a:srgbClr val="000000"/>
            </a:solidFill>
            <a:prstDash val="solid"/>
            <a:round/>
            <a:headEnd len="sm" w="sm" type="none"/>
            <a:tailEnd len="sm" w="sm" type="none"/>
          </a:ln>
        </p:spPr>
      </p:cxnSp>
      <p:sp>
        <p:nvSpPr>
          <p:cNvPr id="175" name="Google Shape;175;p4"/>
          <p:cNvSpPr/>
          <p:nvPr/>
        </p:nvSpPr>
        <p:spPr>
          <a:xfrm>
            <a:off x="8581644" y="4315968"/>
            <a:ext cx="2953512"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850"/>
              <a:buFont typeface="Arial"/>
              <a:buNone/>
            </a:pPr>
            <a:r>
              <a:rPr b="1" lang="en-US" sz="850">
                <a:solidFill>
                  <a:srgbClr val="6B6B6B"/>
                </a:solidFill>
                <a:latin typeface="Arial"/>
                <a:ea typeface="Arial"/>
                <a:cs typeface="Arial"/>
                <a:sym typeface="Arial"/>
              </a:rPr>
              <a:t>OUTPUT IS</a:t>
            </a:r>
            <a:endParaRPr sz="850">
              <a:solidFill>
                <a:schemeClr val="dk1"/>
              </a:solidFill>
              <a:latin typeface="Calibri"/>
              <a:ea typeface="Calibri"/>
              <a:cs typeface="Calibri"/>
              <a:sym typeface="Calibri"/>
            </a:endParaRPr>
          </a:p>
        </p:txBody>
      </p:sp>
      <p:sp>
        <p:nvSpPr>
          <p:cNvPr id="176" name="Google Shape;176;p4"/>
          <p:cNvSpPr/>
          <p:nvPr/>
        </p:nvSpPr>
        <p:spPr>
          <a:xfrm>
            <a:off x="8581644" y="4535424"/>
            <a:ext cx="2953512" cy="73152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UNKNOWN, WITHIN</a:t>
            </a:r>
            <a:endParaRPr sz="1300">
              <a:solidFill>
                <a:schemeClr val="dk1"/>
              </a:solidFill>
              <a:latin typeface="Calibri"/>
              <a:ea typeface="Calibri"/>
              <a:cs typeface="Calibri"/>
              <a:sym typeface="Calibri"/>
            </a:endParaRPr>
          </a:p>
          <a:p>
            <a:pPr indent="0" lvl="0" marL="0" marR="0" rtl="0" algn="l">
              <a:lnSpc>
                <a:spcPct val="130769"/>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A SPECTRUM YOU SET</a:t>
            </a:r>
            <a:endParaRPr sz="1300">
              <a:solidFill>
                <a:schemeClr val="dk1"/>
              </a:solidFill>
              <a:latin typeface="Calibri"/>
              <a:ea typeface="Calibri"/>
              <a:cs typeface="Calibri"/>
              <a:sym typeface="Calibri"/>
            </a:endParaRPr>
          </a:p>
        </p:txBody>
      </p:sp>
      <p:sp>
        <p:nvSpPr>
          <p:cNvPr id="177" name="Google Shape;177;p4"/>
          <p:cNvSpPr/>
          <p:nvPr/>
        </p:nvSpPr>
        <p:spPr>
          <a:xfrm>
            <a:off x="8581644" y="5285232"/>
            <a:ext cx="2953512" cy="43891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6B6B6B"/>
              </a:buClr>
              <a:buSzPts val="1050"/>
              <a:buFont typeface="Calibri"/>
              <a:buNone/>
            </a:pPr>
            <a:r>
              <a:rPr i="1" lang="en-US" sz="1050">
                <a:solidFill>
                  <a:srgbClr val="6B6B6B"/>
                </a:solidFill>
                <a:latin typeface="Calibri"/>
                <a:ea typeface="Calibri"/>
                <a:cs typeface="Calibri"/>
                <a:sym typeface="Calibri"/>
              </a:rPr>
              <a:t>Parameters are iterated by the algorithm itself.</a:t>
            </a:r>
            <a:endParaRPr sz="1050">
              <a:solidFill>
                <a:schemeClr val="dk1"/>
              </a:solidFill>
              <a:latin typeface="Calibri"/>
              <a:ea typeface="Calibri"/>
              <a:cs typeface="Calibri"/>
              <a:sym typeface="Calibri"/>
            </a:endParaRPr>
          </a:p>
        </p:txBody>
      </p:sp>
      <p:sp>
        <p:nvSpPr>
          <p:cNvPr id="178" name="Google Shape;178;p4"/>
          <p:cNvSpPr/>
          <p:nvPr/>
        </p:nvSpPr>
        <p:spPr>
          <a:xfrm>
            <a:off x="8650224" y="6030468"/>
            <a:ext cx="2953512" cy="384048"/>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4"/>
          <p:cNvSpPr/>
          <p:nvPr/>
        </p:nvSpPr>
        <p:spPr>
          <a:xfrm>
            <a:off x="8581644" y="5961888"/>
            <a:ext cx="2953512" cy="384048"/>
          </a:xfrm>
          <a:prstGeom prst="rect">
            <a:avLst/>
          </a:prstGeom>
          <a:solidFill>
            <a:srgbClr val="FF4D8D"/>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4"/>
          <p:cNvSpPr/>
          <p:nvPr/>
        </p:nvSpPr>
        <p:spPr>
          <a:xfrm>
            <a:off x="8581644" y="6025896"/>
            <a:ext cx="295351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100"/>
              <a:buFont typeface="Arial"/>
              <a:buNone/>
            </a:pPr>
            <a:r>
              <a:rPr b="1" lang="en-US" sz="1100">
                <a:solidFill>
                  <a:srgbClr val="000000"/>
                </a:solidFill>
                <a:latin typeface="Arial"/>
                <a:ea typeface="Arial"/>
                <a:cs typeface="Arial"/>
                <a:sym typeface="Arial"/>
              </a:rPr>
              <a:t>FINAL</a:t>
            </a:r>
            <a:endParaRPr sz="11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85" name="Shape 185"/>
        <p:cNvGrpSpPr/>
        <p:nvPr/>
      </p:nvGrpSpPr>
      <p:grpSpPr>
        <a:xfrm>
          <a:off x="0" y="0"/>
          <a:ext cx="0" cy="0"/>
          <a:chOff x="0" y="0"/>
          <a:chExt cx="0" cy="0"/>
        </a:xfrm>
      </p:grpSpPr>
      <p:cxnSp>
        <p:nvCxnSpPr>
          <p:cNvPr id="186" name="Google Shape;186;p5"/>
          <p:cNvCxnSpPr/>
          <p:nvPr/>
        </p:nvCxnSpPr>
        <p:spPr>
          <a:xfrm>
            <a:off x="594360" y="566928"/>
            <a:ext cx="10972800" cy="0"/>
          </a:xfrm>
          <a:prstGeom prst="straightConnector1">
            <a:avLst/>
          </a:prstGeom>
          <a:noFill/>
          <a:ln cap="flat" cmpd="sng" w="50800">
            <a:solidFill>
              <a:srgbClr val="FFFDF7"/>
            </a:solidFill>
            <a:prstDash val="solid"/>
            <a:round/>
            <a:headEnd len="sm" w="sm" type="none"/>
            <a:tailEnd len="sm" w="sm" type="none"/>
          </a:ln>
        </p:spPr>
      </p:cxnSp>
      <p:sp>
        <p:nvSpPr>
          <p:cNvPr id="187" name="Google Shape;187;p5"/>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3300"/>
              <a:buFont typeface="Arial"/>
              <a:buNone/>
            </a:pPr>
            <a:r>
              <a:rPr b="1" lang="en-US" sz="3300">
                <a:solidFill>
                  <a:srgbClr val="FFFDF7"/>
                </a:solidFill>
                <a:latin typeface="Arial"/>
                <a:ea typeface="Arial"/>
                <a:cs typeface="Arial"/>
                <a:sym typeface="Arial"/>
              </a:rPr>
              <a:t>01 — PROCEDURAL</a:t>
            </a:r>
            <a:endParaRPr sz="3300">
              <a:solidFill>
                <a:schemeClr val="dk1"/>
              </a:solidFill>
              <a:latin typeface="Calibri"/>
              <a:ea typeface="Calibri"/>
              <a:cs typeface="Calibri"/>
              <a:sym typeface="Calibri"/>
            </a:endParaRPr>
          </a:p>
        </p:txBody>
      </p:sp>
      <p:sp>
        <p:nvSpPr>
          <p:cNvPr id="188" name="Google Shape;188;p5"/>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350"/>
              <a:buFont typeface="Calibri"/>
              <a:buNone/>
            </a:pPr>
            <a:r>
              <a:rPr lang="en-US" sz="1350">
                <a:solidFill>
                  <a:srgbClr val="B8B8B8"/>
                </a:solidFill>
                <a:latin typeface="Calibri"/>
                <a:ea typeface="Calibri"/>
                <a:cs typeface="Calibri"/>
                <a:sym typeface="Calibri"/>
              </a:rPr>
              <a:t>Form as a set of instructions. Output: expected.</a:t>
            </a:r>
            <a:endParaRPr sz="1350">
              <a:solidFill>
                <a:schemeClr val="dk1"/>
              </a:solidFill>
              <a:latin typeface="Calibri"/>
              <a:ea typeface="Calibri"/>
              <a:cs typeface="Calibri"/>
              <a:sym typeface="Calibri"/>
            </a:endParaRPr>
          </a:p>
        </p:txBody>
      </p:sp>
      <p:sp>
        <p:nvSpPr>
          <p:cNvPr id="189" name="Google Shape;189;p5"/>
          <p:cNvSpPr/>
          <p:nvPr/>
        </p:nvSpPr>
        <p:spPr>
          <a:xfrm>
            <a:off x="662940" y="1897380"/>
            <a:ext cx="5029200" cy="2514600"/>
          </a:xfrm>
          <a:prstGeom prst="rect">
            <a:avLst/>
          </a:prstGeom>
          <a:solidFill>
            <a:srgbClr val="FFFDF7"/>
          </a:solidFill>
          <a:ln cap="flat" cmpd="sng" w="9525">
            <a:solidFill>
              <a:srgbClr val="FFFDF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5"/>
          <p:cNvSpPr/>
          <p:nvPr/>
        </p:nvSpPr>
        <p:spPr>
          <a:xfrm>
            <a:off x="594360" y="1828800"/>
            <a:ext cx="5029200" cy="2514600"/>
          </a:xfrm>
          <a:prstGeom prst="rect">
            <a:avLst/>
          </a:prstGeom>
          <a:solidFill>
            <a:srgbClr val="EDEDE6"/>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91" name="Google Shape;191;p5"/>
          <p:cNvCxnSpPr/>
          <p:nvPr/>
        </p:nvCxnSpPr>
        <p:spPr>
          <a:xfrm>
            <a:off x="594360" y="1828800"/>
            <a:ext cx="5029200" cy="2514600"/>
          </a:xfrm>
          <a:prstGeom prst="straightConnector1">
            <a:avLst/>
          </a:prstGeom>
          <a:noFill/>
          <a:ln cap="flat" cmpd="sng" w="15875">
            <a:solidFill>
              <a:srgbClr val="C9C9C0"/>
            </a:solidFill>
            <a:prstDash val="solid"/>
            <a:round/>
            <a:headEnd len="sm" w="sm" type="none"/>
            <a:tailEnd len="sm" w="sm" type="none"/>
          </a:ln>
        </p:spPr>
      </p:cxnSp>
      <p:cxnSp>
        <p:nvCxnSpPr>
          <p:cNvPr id="192" name="Google Shape;192;p5"/>
          <p:cNvCxnSpPr/>
          <p:nvPr/>
        </p:nvCxnSpPr>
        <p:spPr>
          <a:xfrm>
            <a:off x="594360" y="4343400"/>
            <a:ext cx="5029200" cy="0"/>
          </a:xfrm>
          <a:prstGeom prst="straightConnector1">
            <a:avLst/>
          </a:prstGeom>
          <a:noFill/>
          <a:ln cap="flat" cmpd="sng" w="15875">
            <a:solidFill>
              <a:srgbClr val="C9C9C0"/>
            </a:solidFill>
            <a:prstDash val="solid"/>
            <a:round/>
            <a:headEnd len="sm" w="sm" type="none"/>
            <a:tailEnd len="sm" w="sm" type="none"/>
          </a:ln>
        </p:spPr>
      </p:cxnSp>
      <p:sp>
        <p:nvSpPr>
          <p:cNvPr id="193" name="Google Shape;193;p5"/>
          <p:cNvSpPr/>
          <p:nvPr/>
        </p:nvSpPr>
        <p:spPr>
          <a:xfrm>
            <a:off x="2057400" y="2830068"/>
            <a:ext cx="2103120" cy="512064"/>
          </a:xfrm>
          <a:prstGeom prst="rect">
            <a:avLst/>
          </a:prstGeom>
          <a:solidFill>
            <a:srgbClr val="FFFDF7"/>
          </a:solidFill>
          <a:ln cap="flat" cmpd="sng" w="254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5"/>
          <p:cNvSpPr/>
          <p:nvPr/>
        </p:nvSpPr>
        <p:spPr>
          <a:xfrm>
            <a:off x="2057400" y="2912364"/>
            <a:ext cx="21031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000"/>
              <a:buFont typeface="Arial"/>
              <a:buNone/>
            </a:pPr>
            <a:r>
              <a:rPr b="1" lang="en-US" sz="1000">
                <a:solidFill>
                  <a:srgbClr val="000000"/>
                </a:solidFill>
                <a:latin typeface="Arial"/>
                <a:ea typeface="Arial"/>
                <a:cs typeface="Arial"/>
                <a:sym typeface="Arial"/>
              </a:rPr>
              <a:t>LEWITT WALL DRAWING</a:t>
            </a:r>
            <a:endParaRPr sz="1000">
              <a:solidFill>
                <a:schemeClr val="dk1"/>
              </a:solidFill>
              <a:latin typeface="Calibri"/>
              <a:ea typeface="Calibri"/>
              <a:cs typeface="Calibri"/>
              <a:sym typeface="Calibri"/>
            </a:endParaRPr>
          </a:p>
        </p:txBody>
      </p:sp>
      <p:sp>
        <p:nvSpPr>
          <p:cNvPr id="195" name="Google Shape;195;p5"/>
          <p:cNvSpPr/>
          <p:nvPr/>
        </p:nvSpPr>
        <p:spPr>
          <a:xfrm>
            <a:off x="594360" y="4425696"/>
            <a:ext cx="5029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i="1" lang="en-US" sz="1000">
                <a:solidFill>
                  <a:srgbClr val="6B6B6B"/>
                </a:solidFill>
                <a:latin typeface="Calibri"/>
                <a:ea typeface="Calibri"/>
                <a:cs typeface="Calibri"/>
                <a:sym typeface="Calibri"/>
              </a:rPr>
              <a:t>Add: a LeWitt wall drawing beside its written instruction.</a:t>
            </a:r>
            <a:endParaRPr sz="1000">
              <a:solidFill>
                <a:schemeClr val="dk1"/>
              </a:solidFill>
              <a:latin typeface="Calibri"/>
              <a:ea typeface="Calibri"/>
              <a:cs typeface="Calibri"/>
              <a:sym typeface="Calibri"/>
            </a:endParaRPr>
          </a:p>
        </p:txBody>
      </p:sp>
      <p:sp>
        <p:nvSpPr>
          <p:cNvPr id="196" name="Google Shape;196;p5"/>
          <p:cNvSpPr/>
          <p:nvPr/>
        </p:nvSpPr>
        <p:spPr>
          <a:xfrm>
            <a:off x="662940" y="4777740"/>
            <a:ext cx="5029200" cy="1097280"/>
          </a:xfrm>
          <a:prstGeom prst="rect">
            <a:avLst/>
          </a:prstGeom>
          <a:solidFill>
            <a:srgbClr val="FFFDF7"/>
          </a:solidFill>
          <a:ln cap="flat" cmpd="sng" w="9525">
            <a:solidFill>
              <a:srgbClr val="FFFDF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5"/>
          <p:cNvSpPr/>
          <p:nvPr/>
        </p:nvSpPr>
        <p:spPr>
          <a:xfrm>
            <a:off x="594360" y="4709160"/>
            <a:ext cx="5029200" cy="1097280"/>
          </a:xfrm>
          <a:prstGeom prst="rect">
            <a:avLst/>
          </a:prstGeom>
          <a:solidFill>
            <a:srgbClr val="00D9E1"/>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5"/>
          <p:cNvSpPr/>
          <p:nvPr/>
        </p:nvSpPr>
        <p:spPr>
          <a:xfrm>
            <a:off x="868680" y="4882896"/>
            <a:ext cx="4572000" cy="777240"/>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000000"/>
              </a:buClr>
              <a:buSzPts val="1300"/>
              <a:buFont typeface="Calibri"/>
              <a:buNone/>
            </a:pPr>
            <a:r>
              <a:rPr lang="en-US" sz="1300">
                <a:solidFill>
                  <a:srgbClr val="000000"/>
                </a:solidFill>
                <a:latin typeface="Calibri"/>
                <a:ea typeface="Calibri"/>
                <a:cs typeface="Calibri"/>
                <a:sym typeface="Calibri"/>
              </a:rPr>
              <a:t>The work IS the instruction. Someone else executes it — LeWitt often never touched the wall.</a:t>
            </a:r>
            <a:endParaRPr sz="1300">
              <a:solidFill>
                <a:schemeClr val="dk1"/>
              </a:solidFill>
              <a:latin typeface="Calibri"/>
              <a:ea typeface="Calibri"/>
              <a:cs typeface="Calibri"/>
              <a:sym typeface="Calibri"/>
            </a:endParaRPr>
          </a:p>
        </p:txBody>
      </p:sp>
      <p:sp>
        <p:nvSpPr>
          <p:cNvPr id="199" name="Google Shape;199;p5"/>
          <p:cNvSpPr/>
          <p:nvPr/>
        </p:nvSpPr>
        <p:spPr>
          <a:xfrm>
            <a:off x="6332220" y="1897380"/>
            <a:ext cx="5303520" cy="3977640"/>
          </a:xfrm>
          <a:prstGeom prst="rect">
            <a:avLst/>
          </a:prstGeom>
          <a:solidFill>
            <a:srgbClr val="00D9E1"/>
          </a:solidFill>
          <a:ln cap="flat" cmpd="sng" w="9525">
            <a:solidFill>
              <a:srgbClr val="00D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5"/>
          <p:cNvSpPr/>
          <p:nvPr/>
        </p:nvSpPr>
        <p:spPr>
          <a:xfrm>
            <a:off x="6263640" y="1828800"/>
            <a:ext cx="5303520" cy="3977640"/>
          </a:xfrm>
          <a:prstGeom prst="rect">
            <a:avLst/>
          </a:prstGeom>
          <a:solidFill>
            <a:srgbClr val="FFFDF7"/>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5"/>
          <p:cNvSpPr/>
          <p:nvPr/>
        </p:nvSpPr>
        <p:spPr>
          <a:xfrm>
            <a:off x="6263640" y="1828800"/>
            <a:ext cx="5303520" cy="457200"/>
          </a:xfrm>
          <a:prstGeom prst="rect">
            <a:avLst/>
          </a:prstGeom>
          <a:solidFill>
            <a:srgbClr val="FFE500"/>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5"/>
          <p:cNvSpPr/>
          <p:nvPr/>
        </p:nvSpPr>
        <p:spPr>
          <a:xfrm>
            <a:off x="6537960" y="1901952"/>
            <a:ext cx="3657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00"/>
              <a:buFont typeface="Arial"/>
              <a:buNone/>
            </a:pPr>
            <a:r>
              <a:rPr b="1" lang="en-US" sz="1100">
                <a:solidFill>
                  <a:srgbClr val="000000"/>
                </a:solidFill>
                <a:latin typeface="Arial"/>
                <a:ea typeface="Arial"/>
                <a:cs typeface="Arial"/>
                <a:sym typeface="Arial"/>
              </a:rPr>
              <a:t>AN INSTRUCTION</a:t>
            </a:r>
            <a:endParaRPr sz="1100">
              <a:solidFill>
                <a:schemeClr val="dk1"/>
              </a:solidFill>
              <a:latin typeface="Calibri"/>
              <a:ea typeface="Calibri"/>
              <a:cs typeface="Calibri"/>
              <a:sym typeface="Calibri"/>
            </a:endParaRPr>
          </a:p>
        </p:txBody>
      </p:sp>
      <p:sp>
        <p:nvSpPr>
          <p:cNvPr id="203" name="Google Shape;203;p5"/>
          <p:cNvSpPr/>
          <p:nvPr/>
        </p:nvSpPr>
        <p:spPr>
          <a:xfrm>
            <a:off x="6537960" y="2395728"/>
            <a:ext cx="4754880" cy="146304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Clr>
                <a:srgbClr val="000000"/>
              </a:buClr>
              <a:buSzPts val="1250"/>
              <a:buFont typeface="Courier New"/>
              <a:buNone/>
            </a:pPr>
            <a:r>
              <a:rPr lang="en-US" sz="1250">
                <a:solidFill>
                  <a:srgbClr val="000000"/>
                </a:solidFill>
                <a:latin typeface="Courier New"/>
                <a:ea typeface="Courier New"/>
                <a:cs typeface="Courier New"/>
                <a:sym typeface="Courier New"/>
              </a:rPr>
              <a:t>1.  Place twenty points at random</a:t>
            </a:r>
            <a:endParaRPr sz="1250">
              <a:solidFill>
                <a:schemeClr val="dk1"/>
              </a:solidFill>
              <a:latin typeface="Calibri"/>
              <a:ea typeface="Calibri"/>
              <a:cs typeface="Calibri"/>
              <a:sym typeface="Calibri"/>
            </a:endParaRPr>
          </a:p>
          <a:p>
            <a:pPr indent="0" lvl="0" marL="0" marR="0" rtl="0" algn="l">
              <a:lnSpc>
                <a:spcPct val="160000"/>
              </a:lnSpc>
              <a:spcBef>
                <a:spcPts val="0"/>
              </a:spcBef>
              <a:spcAft>
                <a:spcPts val="0"/>
              </a:spcAft>
              <a:buClr>
                <a:srgbClr val="000000"/>
              </a:buClr>
              <a:buSzPts val="1250"/>
              <a:buFont typeface="Courier New"/>
              <a:buNone/>
            </a:pPr>
            <a:r>
              <a:rPr lang="en-US" sz="1250">
                <a:solidFill>
                  <a:srgbClr val="000000"/>
                </a:solidFill>
                <a:latin typeface="Courier New"/>
                <a:ea typeface="Courier New"/>
                <a:cs typeface="Courier New"/>
                <a:sym typeface="Courier New"/>
              </a:rPr>
              <a:t>     on the sheet.</a:t>
            </a:r>
            <a:endParaRPr sz="1250">
              <a:solidFill>
                <a:schemeClr val="dk1"/>
              </a:solidFill>
              <a:latin typeface="Calibri"/>
              <a:ea typeface="Calibri"/>
              <a:cs typeface="Calibri"/>
              <a:sym typeface="Calibri"/>
            </a:endParaRPr>
          </a:p>
          <a:p>
            <a:pPr indent="0" lvl="0" marL="0" marR="0" rtl="0" algn="l">
              <a:lnSpc>
                <a:spcPct val="160000"/>
              </a:lnSpc>
              <a:spcBef>
                <a:spcPts val="0"/>
              </a:spcBef>
              <a:spcAft>
                <a:spcPts val="0"/>
              </a:spcAft>
              <a:buClr>
                <a:srgbClr val="000000"/>
              </a:buClr>
              <a:buSzPts val="1250"/>
              <a:buFont typeface="Courier New"/>
              <a:buNone/>
            </a:pPr>
            <a:r>
              <a:rPr lang="en-US" sz="1250">
                <a:solidFill>
                  <a:srgbClr val="000000"/>
                </a:solidFill>
                <a:latin typeface="Courier New"/>
                <a:ea typeface="Courier New"/>
                <a:cs typeface="Courier New"/>
                <a:sym typeface="Courier New"/>
              </a:rPr>
              <a:t>2.  Connect each point to its two</a:t>
            </a:r>
            <a:endParaRPr sz="1250">
              <a:solidFill>
                <a:schemeClr val="dk1"/>
              </a:solidFill>
              <a:latin typeface="Calibri"/>
              <a:ea typeface="Calibri"/>
              <a:cs typeface="Calibri"/>
              <a:sym typeface="Calibri"/>
            </a:endParaRPr>
          </a:p>
          <a:p>
            <a:pPr indent="0" lvl="0" marL="0" marR="0" rtl="0" algn="l">
              <a:lnSpc>
                <a:spcPct val="160000"/>
              </a:lnSpc>
              <a:spcBef>
                <a:spcPts val="0"/>
              </a:spcBef>
              <a:spcAft>
                <a:spcPts val="0"/>
              </a:spcAft>
              <a:buClr>
                <a:srgbClr val="000000"/>
              </a:buClr>
              <a:buSzPts val="1250"/>
              <a:buFont typeface="Courier New"/>
              <a:buNone/>
            </a:pPr>
            <a:r>
              <a:rPr lang="en-US" sz="1250">
                <a:solidFill>
                  <a:srgbClr val="000000"/>
                </a:solidFill>
                <a:latin typeface="Courier New"/>
                <a:ea typeface="Courier New"/>
                <a:cs typeface="Courier New"/>
                <a:sym typeface="Courier New"/>
              </a:rPr>
              <a:t>     nearest neighbours with a</a:t>
            </a:r>
            <a:endParaRPr sz="1250">
              <a:solidFill>
                <a:schemeClr val="dk1"/>
              </a:solidFill>
              <a:latin typeface="Calibri"/>
              <a:ea typeface="Calibri"/>
              <a:cs typeface="Calibri"/>
              <a:sym typeface="Calibri"/>
            </a:endParaRPr>
          </a:p>
          <a:p>
            <a:pPr indent="0" lvl="0" marL="0" marR="0" rtl="0" algn="l">
              <a:lnSpc>
                <a:spcPct val="160000"/>
              </a:lnSpc>
              <a:spcBef>
                <a:spcPts val="0"/>
              </a:spcBef>
              <a:spcAft>
                <a:spcPts val="0"/>
              </a:spcAft>
              <a:buClr>
                <a:srgbClr val="000000"/>
              </a:buClr>
              <a:buSzPts val="1250"/>
              <a:buFont typeface="Courier New"/>
              <a:buNone/>
            </a:pPr>
            <a:r>
              <a:rPr lang="en-US" sz="1250">
                <a:solidFill>
                  <a:srgbClr val="000000"/>
                </a:solidFill>
                <a:latin typeface="Courier New"/>
                <a:ea typeface="Courier New"/>
                <a:cs typeface="Courier New"/>
                <a:sym typeface="Courier New"/>
              </a:rPr>
              <a:t>     straight line.</a:t>
            </a:r>
            <a:endParaRPr sz="1250">
              <a:solidFill>
                <a:schemeClr val="dk1"/>
              </a:solidFill>
              <a:latin typeface="Calibri"/>
              <a:ea typeface="Calibri"/>
              <a:cs typeface="Calibri"/>
              <a:sym typeface="Calibri"/>
            </a:endParaRPr>
          </a:p>
        </p:txBody>
      </p:sp>
      <p:sp>
        <p:nvSpPr>
          <p:cNvPr id="204" name="Google Shape;204;p5"/>
          <p:cNvSpPr/>
          <p:nvPr/>
        </p:nvSpPr>
        <p:spPr>
          <a:xfrm>
            <a:off x="6537960" y="3950208"/>
            <a:ext cx="2194560" cy="1298448"/>
          </a:xfrm>
          <a:prstGeom prst="rect">
            <a:avLst/>
          </a:prstGeom>
          <a:solidFill>
            <a:srgbClr val="FFFDF7"/>
          </a:solid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5"/>
          <p:cNvSpPr/>
          <p:nvPr/>
        </p:nvSpPr>
        <p:spPr>
          <a:xfrm>
            <a:off x="6896222" y="4266408"/>
            <a:ext cx="82296" cy="82296"/>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5"/>
          <p:cNvSpPr/>
          <p:nvPr/>
        </p:nvSpPr>
        <p:spPr>
          <a:xfrm>
            <a:off x="7361469" y="4151742"/>
            <a:ext cx="82296" cy="82296"/>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5"/>
          <p:cNvSpPr/>
          <p:nvPr/>
        </p:nvSpPr>
        <p:spPr>
          <a:xfrm>
            <a:off x="7846101" y="4287256"/>
            <a:ext cx="82296" cy="82296"/>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5"/>
          <p:cNvSpPr/>
          <p:nvPr/>
        </p:nvSpPr>
        <p:spPr>
          <a:xfrm>
            <a:off x="8291962" y="4193438"/>
            <a:ext cx="82296" cy="82296"/>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5"/>
          <p:cNvSpPr/>
          <p:nvPr/>
        </p:nvSpPr>
        <p:spPr>
          <a:xfrm>
            <a:off x="7051304" y="4527012"/>
            <a:ext cx="82296" cy="82296"/>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5"/>
          <p:cNvSpPr/>
          <p:nvPr/>
        </p:nvSpPr>
        <p:spPr>
          <a:xfrm>
            <a:off x="7574707" y="4464467"/>
            <a:ext cx="82296" cy="82296"/>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5"/>
          <p:cNvSpPr/>
          <p:nvPr/>
        </p:nvSpPr>
        <p:spPr>
          <a:xfrm>
            <a:off x="8078724" y="4579132"/>
            <a:ext cx="82296" cy="82296"/>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5"/>
          <p:cNvSpPr/>
          <p:nvPr/>
        </p:nvSpPr>
        <p:spPr>
          <a:xfrm>
            <a:off x="8427659" y="4474891"/>
            <a:ext cx="82296" cy="82296"/>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5"/>
          <p:cNvSpPr/>
          <p:nvPr/>
        </p:nvSpPr>
        <p:spPr>
          <a:xfrm>
            <a:off x="6838066" y="4808464"/>
            <a:ext cx="82296" cy="82296"/>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5"/>
          <p:cNvSpPr/>
          <p:nvPr/>
        </p:nvSpPr>
        <p:spPr>
          <a:xfrm>
            <a:off x="7283928" y="4745919"/>
            <a:ext cx="82296" cy="82296"/>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5"/>
          <p:cNvSpPr/>
          <p:nvPr/>
        </p:nvSpPr>
        <p:spPr>
          <a:xfrm>
            <a:off x="7749174" y="4860585"/>
            <a:ext cx="82296" cy="82296"/>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5"/>
          <p:cNvSpPr/>
          <p:nvPr/>
        </p:nvSpPr>
        <p:spPr>
          <a:xfrm>
            <a:off x="8175650" y="4777191"/>
            <a:ext cx="82296" cy="82296"/>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5"/>
          <p:cNvSpPr/>
          <p:nvPr/>
        </p:nvSpPr>
        <p:spPr>
          <a:xfrm>
            <a:off x="7167616" y="4975250"/>
            <a:ext cx="82296" cy="82296"/>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5"/>
          <p:cNvSpPr/>
          <p:nvPr/>
        </p:nvSpPr>
        <p:spPr>
          <a:xfrm>
            <a:off x="7904256" y="5016947"/>
            <a:ext cx="82296" cy="82296"/>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5"/>
          <p:cNvSpPr/>
          <p:nvPr/>
        </p:nvSpPr>
        <p:spPr>
          <a:xfrm>
            <a:off x="6537960" y="5303520"/>
            <a:ext cx="21945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900"/>
              <a:buFont typeface="Arial"/>
              <a:buNone/>
            </a:pPr>
            <a:r>
              <a:rPr b="1" lang="en-US" sz="900">
                <a:solidFill>
                  <a:srgbClr val="000000"/>
                </a:solidFill>
                <a:latin typeface="Arial"/>
                <a:ea typeface="Arial"/>
                <a:cs typeface="Arial"/>
                <a:sym typeface="Arial"/>
              </a:rPr>
              <a:t>1. THE POINTS</a:t>
            </a:r>
            <a:endParaRPr sz="900">
              <a:solidFill>
                <a:schemeClr val="dk1"/>
              </a:solidFill>
              <a:latin typeface="Calibri"/>
              <a:ea typeface="Calibri"/>
              <a:cs typeface="Calibri"/>
              <a:sym typeface="Calibri"/>
            </a:endParaRPr>
          </a:p>
        </p:txBody>
      </p:sp>
      <p:sp>
        <p:nvSpPr>
          <p:cNvPr id="220" name="Google Shape;220;p5"/>
          <p:cNvSpPr/>
          <p:nvPr/>
        </p:nvSpPr>
        <p:spPr>
          <a:xfrm>
            <a:off x="9098280" y="3950208"/>
            <a:ext cx="2194560" cy="1298448"/>
          </a:xfrm>
          <a:prstGeom prst="rect">
            <a:avLst/>
          </a:prstGeom>
          <a:solidFill>
            <a:srgbClr val="FFFDF7"/>
          </a:solid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21" name="Google Shape;221;p5"/>
          <p:cNvCxnSpPr/>
          <p:nvPr/>
        </p:nvCxnSpPr>
        <p:spPr>
          <a:xfrm>
            <a:off x="9497690" y="4307556"/>
            <a:ext cx="155082" cy="260604"/>
          </a:xfrm>
          <a:prstGeom prst="straightConnector1">
            <a:avLst/>
          </a:prstGeom>
          <a:noFill/>
          <a:ln cap="flat" cmpd="sng" w="15875">
            <a:solidFill>
              <a:srgbClr val="000000"/>
            </a:solidFill>
            <a:prstDash val="solid"/>
            <a:round/>
            <a:headEnd len="sm" w="sm" type="none"/>
            <a:tailEnd len="sm" w="sm" type="none"/>
          </a:ln>
        </p:spPr>
      </p:cxnSp>
      <p:cxnSp>
        <p:nvCxnSpPr>
          <p:cNvPr id="222" name="Google Shape;222;p5"/>
          <p:cNvCxnSpPr/>
          <p:nvPr/>
        </p:nvCxnSpPr>
        <p:spPr>
          <a:xfrm>
            <a:off x="9497690" y="4307556"/>
            <a:ext cx="465247" cy="0"/>
          </a:xfrm>
          <a:prstGeom prst="straightConnector1">
            <a:avLst/>
          </a:prstGeom>
          <a:noFill/>
          <a:ln cap="flat" cmpd="sng" w="15875">
            <a:solidFill>
              <a:srgbClr val="000000"/>
            </a:solidFill>
            <a:prstDash val="solid"/>
            <a:round/>
            <a:headEnd len="sm" w="sm" type="none"/>
            <a:tailEnd len="sm" w="sm" type="none"/>
          </a:ln>
        </p:spPr>
      </p:cxnSp>
      <p:cxnSp>
        <p:nvCxnSpPr>
          <p:cNvPr id="223" name="Google Shape;223;p5"/>
          <p:cNvCxnSpPr/>
          <p:nvPr/>
        </p:nvCxnSpPr>
        <p:spPr>
          <a:xfrm>
            <a:off x="9962937" y="4192890"/>
            <a:ext cx="0" cy="114666"/>
          </a:xfrm>
          <a:prstGeom prst="straightConnector1">
            <a:avLst/>
          </a:prstGeom>
          <a:noFill/>
          <a:ln cap="flat" cmpd="sng" w="15875">
            <a:solidFill>
              <a:srgbClr val="000000"/>
            </a:solidFill>
            <a:prstDash val="solid"/>
            <a:round/>
            <a:headEnd len="sm" w="sm" type="none"/>
            <a:tailEnd len="sm" w="sm" type="none"/>
          </a:ln>
        </p:spPr>
      </p:cxnSp>
      <p:cxnSp>
        <p:nvCxnSpPr>
          <p:cNvPr id="224" name="Google Shape;224;p5"/>
          <p:cNvCxnSpPr/>
          <p:nvPr/>
        </p:nvCxnSpPr>
        <p:spPr>
          <a:xfrm>
            <a:off x="9962937" y="4192890"/>
            <a:ext cx="484632" cy="135514"/>
          </a:xfrm>
          <a:prstGeom prst="straightConnector1">
            <a:avLst/>
          </a:prstGeom>
          <a:noFill/>
          <a:ln cap="flat" cmpd="sng" w="15875">
            <a:solidFill>
              <a:srgbClr val="000000"/>
            </a:solidFill>
            <a:prstDash val="solid"/>
            <a:round/>
            <a:headEnd len="sm" w="sm" type="none"/>
            <a:tailEnd len="sm" w="sm" type="none"/>
          </a:ln>
        </p:spPr>
      </p:cxnSp>
      <p:cxnSp>
        <p:nvCxnSpPr>
          <p:cNvPr id="225" name="Google Shape;225;p5"/>
          <p:cNvCxnSpPr/>
          <p:nvPr/>
        </p:nvCxnSpPr>
        <p:spPr>
          <a:xfrm>
            <a:off x="10447569" y="4328404"/>
            <a:ext cx="0" cy="177211"/>
          </a:xfrm>
          <a:prstGeom prst="straightConnector1">
            <a:avLst/>
          </a:prstGeom>
          <a:noFill/>
          <a:ln cap="flat" cmpd="sng" w="15875">
            <a:solidFill>
              <a:srgbClr val="000000"/>
            </a:solidFill>
            <a:prstDash val="solid"/>
            <a:round/>
            <a:headEnd len="sm" w="sm" type="none"/>
            <a:tailEnd len="sm" w="sm" type="none"/>
          </a:ln>
        </p:spPr>
      </p:cxnSp>
      <p:cxnSp>
        <p:nvCxnSpPr>
          <p:cNvPr id="226" name="Google Shape;226;p5"/>
          <p:cNvCxnSpPr/>
          <p:nvPr/>
        </p:nvCxnSpPr>
        <p:spPr>
          <a:xfrm>
            <a:off x="10447569" y="4328404"/>
            <a:ext cx="445861" cy="0"/>
          </a:xfrm>
          <a:prstGeom prst="straightConnector1">
            <a:avLst/>
          </a:prstGeom>
          <a:noFill/>
          <a:ln cap="flat" cmpd="sng" w="15875">
            <a:solidFill>
              <a:srgbClr val="000000"/>
            </a:solidFill>
            <a:prstDash val="solid"/>
            <a:round/>
            <a:headEnd len="sm" w="sm" type="none"/>
            <a:tailEnd len="sm" w="sm" type="none"/>
          </a:ln>
        </p:spPr>
      </p:cxnSp>
      <p:cxnSp>
        <p:nvCxnSpPr>
          <p:cNvPr id="227" name="Google Shape;227;p5"/>
          <p:cNvCxnSpPr/>
          <p:nvPr/>
        </p:nvCxnSpPr>
        <p:spPr>
          <a:xfrm>
            <a:off x="10893430" y="4234586"/>
            <a:ext cx="0" cy="93817"/>
          </a:xfrm>
          <a:prstGeom prst="straightConnector1">
            <a:avLst/>
          </a:prstGeom>
          <a:noFill/>
          <a:ln cap="flat" cmpd="sng" w="15875">
            <a:solidFill>
              <a:srgbClr val="000000"/>
            </a:solidFill>
            <a:prstDash val="solid"/>
            <a:round/>
            <a:headEnd len="sm" w="sm" type="none"/>
            <a:tailEnd len="sm" w="sm" type="none"/>
          </a:ln>
        </p:spPr>
      </p:cxnSp>
      <p:cxnSp>
        <p:nvCxnSpPr>
          <p:cNvPr id="228" name="Google Shape;228;p5"/>
          <p:cNvCxnSpPr/>
          <p:nvPr/>
        </p:nvCxnSpPr>
        <p:spPr>
          <a:xfrm>
            <a:off x="10893430" y="4234586"/>
            <a:ext cx="135697" cy="281452"/>
          </a:xfrm>
          <a:prstGeom prst="straightConnector1">
            <a:avLst/>
          </a:prstGeom>
          <a:noFill/>
          <a:ln cap="flat" cmpd="sng" w="15875">
            <a:solidFill>
              <a:srgbClr val="000000"/>
            </a:solidFill>
            <a:prstDash val="solid"/>
            <a:round/>
            <a:headEnd len="sm" w="sm" type="none"/>
            <a:tailEnd len="sm" w="sm" type="none"/>
          </a:ln>
        </p:spPr>
      </p:cxnSp>
      <p:cxnSp>
        <p:nvCxnSpPr>
          <p:cNvPr id="229" name="Google Shape;229;p5"/>
          <p:cNvCxnSpPr/>
          <p:nvPr/>
        </p:nvCxnSpPr>
        <p:spPr>
          <a:xfrm>
            <a:off x="9652772" y="4568160"/>
            <a:ext cx="232623" cy="218907"/>
          </a:xfrm>
          <a:prstGeom prst="straightConnector1">
            <a:avLst/>
          </a:prstGeom>
          <a:noFill/>
          <a:ln cap="flat" cmpd="sng" w="15875">
            <a:solidFill>
              <a:srgbClr val="000000"/>
            </a:solidFill>
            <a:prstDash val="solid"/>
            <a:round/>
            <a:headEnd len="sm" w="sm" type="none"/>
            <a:tailEnd len="sm" w="sm" type="none"/>
          </a:ln>
        </p:spPr>
      </p:cxnSp>
      <p:cxnSp>
        <p:nvCxnSpPr>
          <p:cNvPr id="230" name="Google Shape;230;p5"/>
          <p:cNvCxnSpPr/>
          <p:nvPr/>
        </p:nvCxnSpPr>
        <p:spPr>
          <a:xfrm>
            <a:off x="9652772" y="4568160"/>
            <a:ext cx="0" cy="0"/>
          </a:xfrm>
          <a:prstGeom prst="straightConnector1">
            <a:avLst/>
          </a:prstGeom>
          <a:noFill/>
          <a:ln cap="flat" cmpd="sng" w="15875">
            <a:solidFill>
              <a:srgbClr val="000000"/>
            </a:solidFill>
            <a:prstDash val="solid"/>
            <a:round/>
            <a:headEnd len="sm" w="sm" type="none"/>
            <a:tailEnd len="sm" w="sm" type="none"/>
          </a:ln>
        </p:spPr>
      </p:cxnSp>
      <p:cxnSp>
        <p:nvCxnSpPr>
          <p:cNvPr id="231" name="Google Shape;231;p5"/>
          <p:cNvCxnSpPr/>
          <p:nvPr/>
        </p:nvCxnSpPr>
        <p:spPr>
          <a:xfrm>
            <a:off x="10176175" y="4505615"/>
            <a:ext cx="271394" cy="0"/>
          </a:xfrm>
          <a:prstGeom prst="straightConnector1">
            <a:avLst/>
          </a:prstGeom>
          <a:noFill/>
          <a:ln cap="flat" cmpd="sng" w="15875">
            <a:solidFill>
              <a:srgbClr val="000000"/>
            </a:solidFill>
            <a:prstDash val="solid"/>
            <a:round/>
            <a:headEnd len="sm" w="sm" type="none"/>
            <a:tailEnd len="sm" w="sm" type="none"/>
          </a:ln>
        </p:spPr>
      </p:cxnSp>
      <p:cxnSp>
        <p:nvCxnSpPr>
          <p:cNvPr id="232" name="Google Shape;232;p5"/>
          <p:cNvCxnSpPr/>
          <p:nvPr/>
        </p:nvCxnSpPr>
        <p:spPr>
          <a:xfrm>
            <a:off x="10176175" y="4505615"/>
            <a:ext cx="0" cy="62545"/>
          </a:xfrm>
          <a:prstGeom prst="straightConnector1">
            <a:avLst/>
          </a:prstGeom>
          <a:noFill/>
          <a:ln cap="flat" cmpd="sng" w="15875">
            <a:solidFill>
              <a:srgbClr val="000000"/>
            </a:solidFill>
            <a:prstDash val="solid"/>
            <a:round/>
            <a:headEnd len="sm" w="sm" type="none"/>
            <a:tailEnd len="sm" w="sm" type="none"/>
          </a:ln>
        </p:spPr>
      </p:cxnSp>
      <p:cxnSp>
        <p:nvCxnSpPr>
          <p:cNvPr id="233" name="Google Shape;233;p5"/>
          <p:cNvCxnSpPr/>
          <p:nvPr/>
        </p:nvCxnSpPr>
        <p:spPr>
          <a:xfrm>
            <a:off x="10680192" y="4620280"/>
            <a:ext cx="96926" cy="198059"/>
          </a:xfrm>
          <a:prstGeom prst="straightConnector1">
            <a:avLst/>
          </a:prstGeom>
          <a:noFill/>
          <a:ln cap="flat" cmpd="sng" w="15875">
            <a:solidFill>
              <a:srgbClr val="000000"/>
            </a:solidFill>
            <a:prstDash val="solid"/>
            <a:round/>
            <a:headEnd len="sm" w="sm" type="none"/>
            <a:tailEnd len="sm" w="sm" type="none"/>
          </a:ln>
        </p:spPr>
      </p:cxnSp>
      <p:cxnSp>
        <p:nvCxnSpPr>
          <p:cNvPr id="234" name="Google Shape;234;p5"/>
          <p:cNvCxnSpPr/>
          <p:nvPr/>
        </p:nvCxnSpPr>
        <p:spPr>
          <a:xfrm>
            <a:off x="10680192" y="4620280"/>
            <a:ext cx="348935" cy="0"/>
          </a:xfrm>
          <a:prstGeom prst="straightConnector1">
            <a:avLst/>
          </a:prstGeom>
          <a:noFill/>
          <a:ln cap="flat" cmpd="sng" w="15875">
            <a:solidFill>
              <a:srgbClr val="000000"/>
            </a:solidFill>
            <a:prstDash val="solid"/>
            <a:round/>
            <a:headEnd len="sm" w="sm" type="none"/>
            <a:tailEnd len="sm" w="sm" type="none"/>
          </a:ln>
        </p:spPr>
      </p:cxnSp>
      <p:cxnSp>
        <p:nvCxnSpPr>
          <p:cNvPr id="235" name="Google Shape;235;p5"/>
          <p:cNvCxnSpPr/>
          <p:nvPr/>
        </p:nvCxnSpPr>
        <p:spPr>
          <a:xfrm>
            <a:off x="11029127" y="4516039"/>
            <a:ext cx="0" cy="104242"/>
          </a:xfrm>
          <a:prstGeom prst="straightConnector1">
            <a:avLst/>
          </a:prstGeom>
          <a:noFill/>
          <a:ln cap="flat" cmpd="sng" w="15875">
            <a:solidFill>
              <a:srgbClr val="000000"/>
            </a:solidFill>
            <a:prstDash val="solid"/>
            <a:round/>
            <a:headEnd len="sm" w="sm" type="none"/>
            <a:tailEnd len="sm" w="sm" type="none"/>
          </a:ln>
        </p:spPr>
      </p:cxnSp>
      <p:cxnSp>
        <p:nvCxnSpPr>
          <p:cNvPr id="236" name="Google Shape;236;p5"/>
          <p:cNvCxnSpPr/>
          <p:nvPr/>
        </p:nvCxnSpPr>
        <p:spPr>
          <a:xfrm>
            <a:off x="11029127" y="4516039"/>
            <a:ext cx="0" cy="0"/>
          </a:xfrm>
          <a:prstGeom prst="straightConnector1">
            <a:avLst/>
          </a:prstGeom>
          <a:noFill/>
          <a:ln cap="flat" cmpd="sng" w="15875">
            <a:solidFill>
              <a:srgbClr val="000000"/>
            </a:solidFill>
            <a:prstDash val="solid"/>
            <a:round/>
            <a:headEnd len="sm" w="sm" type="none"/>
            <a:tailEnd len="sm" w="sm" type="none"/>
          </a:ln>
        </p:spPr>
      </p:cxnSp>
      <p:cxnSp>
        <p:nvCxnSpPr>
          <p:cNvPr id="237" name="Google Shape;237;p5"/>
          <p:cNvCxnSpPr/>
          <p:nvPr/>
        </p:nvCxnSpPr>
        <p:spPr>
          <a:xfrm>
            <a:off x="9439534" y="4849612"/>
            <a:ext cx="329550" cy="166787"/>
          </a:xfrm>
          <a:prstGeom prst="straightConnector1">
            <a:avLst/>
          </a:prstGeom>
          <a:noFill/>
          <a:ln cap="flat" cmpd="sng" w="15875">
            <a:solidFill>
              <a:srgbClr val="000000"/>
            </a:solidFill>
            <a:prstDash val="solid"/>
            <a:round/>
            <a:headEnd len="sm" w="sm" type="none"/>
            <a:tailEnd len="sm" w="sm" type="none"/>
          </a:ln>
        </p:spPr>
      </p:cxnSp>
      <p:cxnSp>
        <p:nvCxnSpPr>
          <p:cNvPr id="238" name="Google Shape;238;p5"/>
          <p:cNvCxnSpPr/>
          <p:nvPr/>
        </p:nvCxnSpPr>
        <p:spPr>
          <a:xfrm>
            <a:off x="9439534" y="4849612"/>
            <a:ext cx="445861" cy="0"/>
          </a:xfrm>
          <a:prstGeom prst="straightConnector1">
            <a:avLst/>
          </a:prstGeom>
          <a:noFill/>
          <a:ln cap="flat" cmpd="sng" w="15875">
            <a:solidFill>
              <a:srgbClr val="000000"/>
            </a:solidFill>
            <a:prstDash val="solid"/>
            <a:round/>
            <a:headEnd len="sm" w="sm" type="none"/>
            <a:tailEnd len="sm" w="sm" type="none"/>
          </a:ln>
        </p:spPr>
      </p:cxnSp>
      <p:cxnSp>
        <p:nvCxnSpPr>
          <p:cNvPr id="239" name="Google Shape;239;p5"/>
          <p:cNvCxnSpPr/>
          <p:nvPr/>
        </p:nvCxnSpPr>
        <p:spPr>
          <a:xfrm>
            <a:off x="9885396" y="4787067"/>
            <a:ext cx="0" cy="229332"/>
          </a:xfrm>
          <a:prstGeom prst="straightConnector1">
            <a:avLst/>
          </a:prstGeom>
          <a:noFill/>
          <a:ln cap="flat" cmpd="sng" w="15875">
            <a:solidFill>
              <a:srgbClr val="000000"/>
            </a:solidFill>
            <a:prstDash val="solid"/>
            <a:round/>
            <a:headEnd len="sm" w="sm" type="none"/>
            <a:tailEnd len="sm" w="sm" type="none"/>
          </a:ln>
        </p:spPr>
      </p:cxnSp>
      <p:cxnSp>
        <p:nvCxnSpPr>
          <p:cNvPr id="240" name="Google Shape;240;p5"/>
          <p:cNvCxnSpPr/>
          <p:nvPr/>
        </p:nvCxnSpPr>
        <p:spPr>
          <a:xfrm>
            <a:off x="9885396" y="4787067"/>
            <a:ext cx="0" cy="62545"/>
          </a:xfrm>
          <a:prstGeom prst="straightConnector1">
            <a:avLst/>
          </a:prstGeom>
          <a:noFill/>
          <a:ln cap="flat" cmpd="sng" w="15875">
            <a:solidFill>
              <a:srgbClr val="000000"/>
            </a:solidFill>
            <a:prstDash val="solid"/>
            <a:round/>
            <a:headEnd len="sm" w="sm" type="none"/>
            <a:tailEnd len="sm" w="sm" type="none"/>
          </a:ln>
        </p:spPr>
      </p:cxnSp>
      <p:cxnSp>
        <p:nvCxnSpPr>
          <p:cNvPr id="241" name="Google Shape;241;p5"/>
          <p:cNvCxnSpPr/>
          <p:nvPr/>
        </p:nvCxnSpPr>
        <p:spPr>
          <a:xfrm>
            <a:off x="10350642" y="4901733"/>
            <a:ext cx="155082" cy="156362"/>
          </a:xfrm>
          <a:prstGeom prst="straightConnector1">
            <a:avLst/>
          </a:prstGeom>
          <a:noFill/>
          <a:ln cap="flat" cmpd="sng" w="15875">
            <a:solidFill>
              <a:srgbClr val="000000"/>
            </a:solidFill>
            <a:prstDash val="solid"/>
            <a:round/>
            <a:headEnd len="sm" w="sm" type="none"/>
            <a:tailEnd len="sm" w="sm" type="none"/>
          </a:ln>
        </p:spPr>
      </p:cxnSp>
      <p:cxnSp>
        <p:nvCxnSpPr>
          <p:cNvPr id="242" name="Google Shape;242;p5"/>
          <p:cNvCxnSpPr/>
          <p:nvPr/>
        </p:nvCxnSpPr>
        <p:spPr>
          <a:xfrm>
            <a:off x="10350642" y="4901733"/>
            <a:ext cx="426476" cy="0"/>
          </a:xfrm>
          <a:prstGeom prst="straightConnector1">
            <a:avLst/>
          </a:prstGeom>
          <a:noFill/>
          <a:ln cap="flat" cmpd="sng" w="15875">
            <a:solidFill>
              <a:srgbClr val="000000"/>
            </a:solidFill>
            <a:prstDash val="solid"/>
            <a:round/>
            <a:headEnd len="sm" w="sm" type="none"/>
            <a:tailEnd len="sm" w="sm" type="none"/>
          </a:ln>
        </p:spPr>
      </p:cxnSp>
      <p:cxnSp>
        <p:nvCxnSpPr>
          <p:cNvPr id="243" name="Google Shape;243;p5"/>
          <p:cNvCxnSpPr/>
          <p:nvPr/>
        </p:nvCxnSpPr>
        <p:spPr>
          <a:xfrm>
            <a:off x="10777118" y="4818339"/>
            <a:ext cx="0" cy="0"/>
          </a:xfrm>
          <a:prstGeom prst="straightConnector1">
            <a:avLst/>
          </a:prstGeom>
          <a:noFill/>
          <a:ln cap="flat" cmpd="sng" w="15875">
            <a:solidFill>
              <a:srgbClr val="000000"/>
            </a:solidFill>
            <a:prstDash val="solid"/>
            <a:round/>
            <a:headEnd len="sm" w="sm" type="none"/>
            <a:tailEnd len="sm" w="sm" type="none"/>
          </a:ln>
        </p:spPr>
      </p:cxnSp>
      <p:cxnSp>
        <p:nvCxnSpPr>
          <p:cNvPr id="244" name="Google Shape;244;p5"/>
          <p:cNvCxnSpPr/>
          <p:nvPr/>
        </p:nvCxnSpPr>
        <p:spPr>
          <a:xfrm>
            <a:off x="10777118" y="4818339"/>
            <a:ext cx="0" cy="83393"/>
          </a:xfrm>
          <a:prstGeom prst="straightConnector1">
            <a:avLst/>
          </a:prstGeom>
          <a:noFill/>
          <a:ln cap="flat" cmpd="sng" w="15875">
            <a:solidFill>
              <a:srgbClr val="000000"/>
            </a:solidFill>
            <a:prstDash val="solid"/>
            <a:round/>
            <a:headEnd len="sm" w="sm" type="none"/>
            <a:tailEnd len="sm" w="sm" type="none"/>
          </a:ln>
        </p:spPr>
      </p:cxnSp>
      <p:cxnSp>
        <p:nvCxnSpPr>
          <p:cNvPr id="245" name="Google Shape;245;p5"/>
          <p:cNvCxnSpPr/>
          <p:nvPr/>
        </p:nvCxnSpPr>
        <p:spPr>
          <a:xfrm>
            <a:off x="9769084" y="5016398"/>
            <a:ext cx="116312" cy="0"/>
          </a:xfrm>
          <a:prstGeom prst="straightConnector1">
            <a:avLst/>
          </a:prstGeom>
          <a:noFill/>
          <a:ln cap="flat" cmpd="sng" w="15875">
            <a:solidFill>
              <a:srgbClr val="000000"/>
            </a:solidFill>
            <a:prstDash val="solid"/>
            <a:round/>
            <a:headEnd len="sm" w="sm" type="none"/>
            <a:tailEnd len="sm" w="sm" type="none"/>
          </a:ln>
        </p:spPr>
      </p:cxnSp>
      <p:cxnSp>
        <p:nvCxnSpPr>
          <p:cNvPr id="246" name="Google Shape;246;p5"/>
          <p:cNvCxnSpPr/>
          <p:nvPr/>
        </p:nvCxnSpPr>
        <p:spPr>
          <a:xfrm>
            <a:off x="9769084" y="5016398"/>
            <a:ext cx="0" cy="0"/>
          </a:xfrm>
          <a:prstGeom prst="straightConnector1">
            <a:avLst/>
          </a:prstGeom>
          <a:noFill/>
          <a:ln cap="flat" cmpd="sng" w="15875">
            <a:solidFill>
              <a:srgbClr val="000000"/>
            </a:solidFill>
            <a:prstDash val="solid"/>
            <a:round/>
            <a:headEnd len="sm" w="sm" type="none"/>
            <a:tailEnd len="sm" w="sm" type="none"/>
          </a:ln>
        </p:spPr>
      </p:cxnSp>
      <p:cxnSp>
        <p:nvCxnSpPr>
          <p:cNvPr id="247" name="Google Shape;247;p5"/>
          <p:cNvCxnSpPr/>
          <p:nvPr/>
        </p:nvCxnSpPr>
        <p:spPr>
          <a:xfrm>
            <a:off x="10505724" y="5058095"/>
            <a:ext cx="0" cy="0"/>
          </a:xfrm>
          <a:prstGeom prst="straightConnector1">
            <a:avLst/>
          </a:prstGeom>
          <a:noFill/>
          <a:ln cap="flat" cmpd="sng" w="15875">
            <a:solidFill>
              <a:srgbClr val="000000"/>
            </a:solidFill>
            <a:prstDash val="solid"/>
            <a:round/>
            <a:headEnd len="sm" w="sm" type="none"/>
            <a:tailEnd len="sm" w="sm" type="none"/>
          </a:ln>
        </p:spPr>
      </p:cxnSp>
      <p:cxnSp>
        <p:nvCxnSpPr>
          <p:cNvPr id="248" name="Google Shape;248;p5"/>
          <p:cNvCxnSpPr/>
          <p:nvPr/>
        </p:nvCxnSpPr>
        <p:spPr>
          <a:xfrm>
            <a:off x="10505724" y="5058095"/>
            <a:ext cx="271394" cy="0"/>
          </a:xfrm>
          <a:prstGeom prst="straightConnector1">
            <a:avLst/>
          </a:prstGeom>
          <a:noFill/>
          <a:ln cap="flat" cmpd="sng" w="15875">
            <a:solidFill>
              <a:srgbClr val="000000"/>
            </a:solidFill>
            <a:prstDash val="solid"/>
            <a:round/>
            <a:headEnd len="sm" w="sm" type="none"/>
            <a:tailEnd len="sm" w="sm" type="none"/>
          </a:ln>
        </p:spPr>
      </p:cxnSp>
      <p:sp>
        <p:nvSpPr>
          <p:cNvPr id="249" name="Google Shape;249;p5"/>
          <p:cNvSpPr/>
          <p:nvPr/>
        </p:nvSpPr>
        <p:spPr>
          <a:xfrm>
            <a:off x="9456542" y="4266408"/>
            <a:ext cx="82296" cy="82296"/>
          </a:xfrm>
          <a:prstGeom prst="ellipse">
            <a:avLst/>
          </a:prstGeom>
          <a:solidFill>
            <a:srgbClr val="FF4D8D"/>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5"/>
          <p:cNvSpPr/>
          <p:nvPr/>
        </p:nvSpPr>
        <p:spPr>
          <a:xfrm>
            <a:off x="9921789" y="4151742"/>
            <a:ext cx="82296" cy="82296"/>
          </a:xfrm>
          <a:prstGeom prst="ellipse">
            <a:avLst/>
          </a:prstGeom>
          <a:solidFill>
            <a:srgbClr val="FF4D8D"/>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5"/>
          <p:cNvSpPr/>
          <p:nvPr/>
        </p:nvSpPr>
        <p:spPr>
          <a:xfrm>
            <a:off x="10406421" y="4287256"/>
            <a:ext cx="82296" cy="82296"/>
          </a:xfrm>
          <a:prstGeom prst="ellipse">
            <a:avLst/>
          </a:prstGeom>
          <a:solidFill>
            <a:srgbClr val="FF4D8D"/>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5"/>
          <p:cNvSpPr/>
          <p:nvPr/>
        </p:nvSpPr>
        <p:spPr>
          <a:xfrm>
            <a:off x="10852282" y="4193438"/>
            <a:ext cx="82296" cy="82296"/>
          </a:xfrm>
          <a:prstGeom prst="ellipse">
            <a:avLst/>
          </a:prstGeom>
          <a:solidFill>
            <a:srgbClr val="FF4D8D"/>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5"/>
          <p:cNvSpPr/>
          <p:nvPr/>
        </p:nvSpPr>
        <p:spPr>
          <a:xfrm>
            <a:off x="9611624" y="4527012"/>
            <a:ext cx="82296" cy="82296"/>
          </a:xfrm>
          <a:prstGeom prst="ellipse">
            <a:avLst/>
          </a:prstGeom>
          <a:solidFill>
            <a:srgbClr val="FF4D8D"/>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5"/>
          <p:cNvSpPr/>
          <p:nvPr/>
        </p:nvSpPr>
        <p:spPr>
          <a:xfrm>
            <a:off x="10135027" y="4464467"/>
            <a:ext cx="82296" cy="82296"/>
          </a:xfrm>
          <a:prstGeom prst="ellipse">
            <a:avLst/>
          </a:prstGeom>
          <a:solidFill>
            <a:srgbClr val="FF4D8D"/>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5"/>
          <p:cNvSpPr/>
          <p:nvPr/>
        </p:nvSpPr>
        <p:spPr>
          <a:xfrm>
            <a:off x="10639044" y="4579132"/>
            <a:ext cx="82296" cy="82296"/>
          </a:xfrm>
          <a:prstGeom prst="ellipse">
            <a:avLst/>
          </a:prstGeom>
          <a:solidFill>
            <a:srgbClr val="FF4D8D"/>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5"/>
          <p:cNvSpPr/>
          <p:nvPr/>
        </p:nvSpPr>
        <p:spPr>
          <a:xfrm>
            <a:off x="10987979" y="4474891"/>
            <a:ext cx="82296" cy="82296"/>
          </a:xfrm>
          <a:prstGeom prst="ellipse">
            <a:avLst/>
          </a:prstGeom>
          <a:solidFill>
            <a:srgbClr val="FF4D8D"/>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5"/>
          <p:cNvSpPr/>
          <p:nvPr/>
        </p:nvSpPr>
        <p:spPr>
          <a:xfrm>
            <a:off x="9398386" y="4808464"/>
            <a:ext cx="82296" cy="82296"/>
          </a:xfrm>
          <a:prstGeom prst="ellipse">
            <a:avLst/>
          </a:prstGeom>
          <a:solidFill>
            <a:srgbClr val="FF4D8D"/>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5"/>
          <p:cNvSpPr/>
          <p:nvPr/>
        </p:nvSpPr>
        <p:spPr>
          <a:xfrm>
            <a:off x="9844248" y="4745919"/>
            <a:ext cx="82296" cy="82296"/>
          </a:xfrm>
          <a:prstGeom prst="ellipse">
            <a:avLst/>
          </a:prstGeom>
          <a:solidFill>
            <a:srgbClr val="FF4D8D"/>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5"/>
          <p:cNvSpPr/>
          <p:nvPr/>
        </p:nvSpPr>
        <p:spPr>
          <a:xfrm>
            <a:off x="10309494" y="4860585"/>
            <a:ext cx="82296" cy="82296"/>
          </a:xfrm>
          <a:prstGeom prst="ellipse">
            <a:avLst/>
          </a:prstGeom>
          <a:solidFill>
            <a:srgbClr val="FF4D8D"/>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5"/>
          <p:cNvSpPr/>
          <p:nvPr/>
        </p:nvSpPr>
        <p:spPr>
          <a:xfrm>
            <a:off x="10735970" y="4777191"/>
            <a:ext cx="82296" cy="82296"/>
          </a:xfrm>
          <a:prstGeom prst="ellipse">
            <a:avLst/>
          </a:prstGeom>
          <a:solidFill>
            <a:srgbClr val="FF4D8D"/>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5"/>
          <p:cNvSpPr/>
          <p:nvPr/>
        </p:nvSpPr>
        <p:spPr>
          <a:xfrm>
            <a:off x="9727936" y="4975250"/>
            <a:ext cx="82296" cy="82296"/>
          </a:xfrm>
          <a:prstGeom prst="ellipse">
            <a:avLst/>
          </a:prstGeom>
          <a:solidFill>
            <a:srgbClr val="FF4D8D"/>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5"/>
          <p:cNvSpPr/>
          <p:nvPr/>
        </p:nvSpPr>
        <p:spPr>
          <a:xfrm>
            <a:off x="10464576" y="5016947"/>
            <a:ext cx="82296" cy="82296"/>
          </a:xfrm>
          <a:prstGeom prst="ellipse">
            <a:avLst/>
          </a:prstGeom>
          <a:solidFill>
            <a:srgbClr val="FF4D8D"/>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5"/>
          <p:cNvSpPr/>
          <p:nvPr/>
        </p:nvSpPr>
        <p:spPr>
          <a:xfrm>
            <a:off x="9098280" y="5303520"/>
            <a:ext cx="21945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900"/>
              <a:buFont typeface="Arial"/>
              <a:buNone/>
            </a:pPr>
            <a:r>
              <a:rPr b="1" lang="en-US" sz="900">
                <a:solidFill>
                  <a:srgbClr val="000000"/>
                </a:solidFill>
                <a:latin typeface="Arial"/>
                <a:ea typeface="Arial"/>
                <a:cs typeface="Arial"/>
                <a:sym typeface="Arial"/>
              </a:rPr>
              <a:t>2. THE LINES</a:t>
            </a:r>
            <a:endParaRPr sz="900">
              <a:solidFill>
                <a:schemeClr val="dk1"/>
              </a:solidFill>
              <a:latin typeface="Calibri"/>
              <a:ea typeface="Calibri"/>
              <a:cs typeface="Calibri"/>
              <a:sym typeface="Calibri"/>
            </a:endParaRPr>
          </a:p>
        </p:txBody>
      </p:sp>
      <p:pic>
        <p:nvPicPr>
          <p:cNvPr id="264" name="Google Shape;264;p5" title="Sol Lewitt Wall Drawing Time Lapse"/>
          <p:cNvPicPr preferRelativeResize="0"/>
          <p:nvPr/>
        </p:nvPicPr>
        <p:blipFill rotWithShape="1">
          <a:blip r:embed="rId3">
            <a:alphaModFix/>
          </a:blip>
          <a:srcRect b="0" l="0" r="0" t="0"/>
          <a:stretch/>
        </p:blipFill>
        <p:spPr>
          <a:xfrm>
            <a:off x="662940" y="1828799"/>
            <a:ext cx="4960620" cy="2513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1"/>
                                        <p:tgtEl>
                                          <p:spTgt spid="2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69" name="Shape 269"/>
        <p:cNvGrpSpPr/>
        <p:nvPr/>
      </p:nvGrpSpPr>
      <p:grpSpPr>
        <a:xfrm>
          <a:off x="0" y="0"/>
          <a:ext cx="0" cy="0"/>
          <a:chOff x="0" y="0"/>
          <a:chExt cx="0" cy="0"/>
        </a:xfrm>
      </p:grpSpPr>
      <p:cxnSp>
        <p:nvCxnSpPr>
          <p:cNvPr id="270" name="Google Shape;270;p6"/>
          <p:cNvCxnSpPr/>
          <p:nvPr/>
        </p:nvCxnSpPr>
        <p:spPr>
          <a:xfrm>
            <a:off x="594360" y="566928"/>
            <a:ext cx="10972800" cy="0"/>
          </a:xfrm>
          <a:prstGeom prst="straightConnector1">
            <a:avLst/>
          </a:prstGeom>
          <a:noFill/>
          <a:ln cap="flat" cmpd="sng" w="50800">
            <a:solidFill>
              <a:srgbClr val="FFFDF7"/>
            </a:solidFill>
            <a:prstDash val="solid"/>
            <a:round/>
            <a:headEnd len="sm" w="sm" type="none"/>
            <a:tailEnd len="sm" w="sm" type="none"/>
          </a:ln>
        </p:spPr>
      </p:cxnSp>
      <p:sp>
        <p:nvSpPr>
          <p:cNvPr id="271" name="Google Shape;271;p6"/>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3300"/>
              <a:buFont typeface="Arial"/>
              <a:buNone/>
            </a:pPr>
            <a:r>
              <a:rPr b="1" lang="en-US" sz="3300">
                <a:solidFill>
                  <a:srgbClr val="FFFDF7"/>
                </a:solidFill>
                <a:latin typeface="Arial"/>
                <a:ea typeface="Arial"/>
                <a:cs typeface="Arial"/>
                <a:sym typeface="Arial"/>
              </a:rPr>
              <a:t>02 — PARAMETRIC</a:t>
            </a:r>
            <a:endParaRPr sz="3300">
              <a:solidFill>
                <a:schemeClr val="dk1"/>
              </a:solidFill>
              <a:latin typeface="Calibri"/>
              <a:ea typeface="Calibri"/>
              <a:cs typeface="Calibri"/>
              <a:sym typeface="Calibri"/>
            </a:endParaRPr>
          </a:p>
        </p:txBody>
      </p:sp>
      <p:sp>
        <p:nvSpPr>
          <p:cNvPr id="272" name="Google Shape;272;p6"/>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350"/>
              <a:buFont typeface="Calibri"/>
              <a:buNone/>
            </a:pPr>
            <a:r>
              <a:rPr lang="en-US" sz="1350">
                <a:solidFill>
                  <a:srgbClr val="B8B8B8"/>
                </a:solidFill>
                <a:latin typeface="Calibri"/>
                <a:ea typeface="Calibri"/>
                <a:cs typeface="Calibri"/>
                <a:sym typeface="Calibri"/>
              </a:rPr>
              <a:t>Parameters drive the form. Output: partially expected.</a:t>
            </a:r>
            <a:endParaRPr sz="1350">
              <a:solidFill>
                <a:schemeClr val="dk1"/>
              </a:solidFill>
              <a:latin typeface="Calibri"/>
              <a:ea typeface="Calibri"/>
              <a:cs typeface="Calibri"/>
              <a:sym typeface="Calibri"/>
            </a:endParaRPr>
          </a:p>
        </p:txBody>
      </p:sp>
      <p:sp>
        <p:nvSpPr>
          <p:cNvPr id="273" name="Google Shape;273;p6"/>
          <p:cNvSpPr/>
          <p:nvPr/>
        </p:nvSpPr>
        <p:spPr>
          <a:xfrm>
            <a:off x="662940" y="1851660"/>
            <a:ext cx="10972800" cy="658368"/>
          </a:xfrm>
          <a:prstGeom prst="rect">
            <a:avLst/>
          </a:prstGeom>
          <a:solidFill>
            <a:srgbClr val="FFFDF7"/>
          </a:solidFill>
          <a:ln cap="flat" cmpd="sng" w="9525">
            <a:solidFill>
              <a:srgbClr val="FFFDF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6"/>
          <p:cNvSpPr/>
          <p:nvPr/>
        </p:nvSpPr>
        <p:spPr>
          <a:xfrm>
            <a:off x="594360" y="1783080"/>
            <a:ext cx="10972800" cy="658368"/>
          </a:xfrm>
          <a:prstGeom prst="rect">
            <a:avLst/>
          </a:prstGeom>
          <a:solidFill>
            <a:srgbClr val="C6F035"/>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6"/>
          <p:cNvSpPr/>
          <p:nvPr/>
        </p:nvSpPr>
        <p:spPr>
          <a:xfrm>
            <a:off x="914400" y="1929384"/>
            <a:ext cx="10058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700"/>
              <a:buFont typeface="Arial"/>
              <a:buNone/>
            </a:pPr>
            <a:r>
              <a:rPr b="1" lang="en-US" sz="1700">
                <a:solidFill>
                  <a:srgbClr val="000000"/>
                </a:solidFill>
                <a:latin typeface="Arial"/>
                <a:ea typeface="Arial"/>
                <a:cs typeface="Arial"/>
                <a:sym typeface="Arial"/>
              </a:rPr>
              <a:t>DECOMPOSE A FORM INTO VARIABLES</a:t>
            </a:r>
            <a:endParaRPr sz="1700">
              <a:solidFill>
                <a:schemeClr val="dk1"/>
              </a:solidFill>
              <a:latin typeface="Calibri"/>
              <a:ea typeface="Calibri"/>
              <a:cs typeface="Calibri"/>
              <a:sym typeface="Calibri"/>
            </a:endParaRPr>
          </a:p>
        </p:txBody>
      </p:sp>
      <p:sp>
        <p:nvSpPr>
          <p:cNvPr id="276" name="Google Shape;276;p6"/>
          <p:cNvSpPr/>
          <p:nvPr/>
        </p:nvSpPr>
        <p:spPr>
          <a:xfrm>
            <a:off x="662940" y="2857500"/>
            <a:ext cx="2834640" cy="640080"/>
          </a:xfrm>
          <a:prstGeom prst="rect">
            <a:avLst/>
          </a:prstGeom>
          <a:solidFill>
            <a:srgbClr val="C6F035"/>
          </a:solidFill>
          <a:ln cap="flat" cmpd="sng" w="9525">
            <a:solidFill>
              <a:srgbClr val="C6F0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6"/>
          <p:cNvSpPr/>
          <p:nvPr/>
        </p:nvSpPr>
        <p:spPr>
          <a:xfrm>
            <a:off x="594360" y="2788920"/>
            <a:ext cx="2834640" cy="640080"/>
          </a:xfrm>
          <a:prstGeom prst="rect">
            <a:avLst/>
          </a:prstGeom>
          <a:solidFill>
            <a:srgbClr val="FFFDF7"/>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6"/>
          <p:cNvSpPr/>
          <p:nvPr/>
        </p:nvSpPr>
        <p:spPr>
          <a:xfrm>
            <a:off x="777240" y="2962656"/>
            <a:ext cx="2514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50"/>
              <a:buFont typeface="Arial"/>
              <a:buNone/>
            </a:pPr>
            <a:r>
              <a:rPr b="1" lang="en-US" sz="1150">
                <a:solidFill>
                  <a:srgbClr val="000000"/>
                </a:solidFill>
                <a:latin typeface="Arial"/>
                <a:ea typeface="Arial"/>
                <a:cs typeface="Arial"/>
                <a:sym typeface="Arial"/>
              </a:rPr>
              <a:t>SAME INPUTS IN</a:t>
            </a:r>
            <a:endParaRPr sz="1150">
              <a:solidFill>
                <a:schemeClr val="dk1"/>
              </a:solidFill>
              <a:latin typeface="Calibri"/>
              <a:ea typeface="Calibri"/>
              <a:cs typeface="Calibri"/>
              <a:sym typeface="Calibri"/>
            </a:endParaRPr>
          </a:p>
        </p:txBody>
      </p:sp>
      <p:sp>
        <p:nvSpPr>
          <p:cNvPr id="279" name="Google Shape;279;p6"/>
          <p:cNvSpPr/>
          <p:nvPr/>
        </p:nvSpPr>
        <p:spPr>
          <a:xfrm rot="5400000">
            <a:off x="3657600" y="2926080"/>
            <a:ext cx="310896" cy="365760"/>
          </a:xfrm>
          <a:prstGeom prst="triangle">
            <a:avLst>
              <a:gd fmla="val 50000" name="adj"/>
            </a:avLst>
          </a:prstGeom>
          <a:solidFill>
            <a:srgbClr val="FFE500"/>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6"/>
          <p:cNvSpPr/>
          <p:nvPr/>
        </p:nvSpPr>
        <p:spPr>
          <a:xfrm>
            <a:off x="4206240" y="2935224"/>
            <a:ext cx="3017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350"/>
              <a:buFont typeface="Calibri"/>
              <a:buNone/>
            </a:pPr>
            <a:r>
              <a:rPr lang="en-US" sz="1350">
                <a:solidFill>
                  <a:srgbClr val="FFFDF7"/>
                </a:solidFill>
                <a:latin typeface="Calibri"/>
                <a:ea typeface="Calibri"/>
                <a:cs typeface="Calibri"/>
                <a:sym typeface="Calibri"/>
              </a:rPr>
              <a:t>same result out. Always.</a:t>
            </a:r>
            <a:endParaRPr sz="1350">
              <a:solidFill>
                <a:schemeClr val="dk1"/>
              </a:solidFill>
              <a:latin typeface="Calibri"/>
              <a:ea typeface="Calibri"/>
              <a:cs typeface="Calibri"/>
              <a:sym typeface="Calibri"/>
            </a:endParaRPr>
          </a:p>
        </p:txBody>
      </p:sp>
      <p:sp>
        <p:nvSpPr>
          <p:cNvPr id="281" name="Google Shape;281;p6"/>
          <p:cNvSpPr/>
          <p:nvPr/>
        </p:nvSpPr>
        <p:spPr>
          <a:xfrm>
            <a:off x="662940" y="3698748"/>
            <a:ext cx="2834640" cy="640080"/>
          </a:xfrm>
          <a:prstGeom prst="rect">
            <a:avLst/>
          </a:prstGeom>
          <a:solidFill>
            <a:srgbClr val="C6F035"/>
          </a:solidFill>
          <a:ln cap="flat" cmpd="sng" w="9525">
            <a:solidFill>
              <a:srgbClr val="C6F0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6"/>
          <p:cNvSpPr/>
          <p:nvPr/>
        </p:nvSpPr>
        <p:spPr>
          <a:xfrm>
            <a:off x="594360" y="3630168"/>
            <a:ext cx="2834640" cy="640080"/>
          </a:xfrm>
          <a:prstGeom prst="rect">
            <a:avLst/>
          </a:prstGeom>
          <a:solidFill>
            <a:srgbClr val="FFFDF7"/>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6"/>
          <p:cNvSpPr/>
          <p:nvPr/>
        </p:nvSpPr>
        <p:spPr>
          <a:xfrm>
            <a:off x="777240" y="3803904"/>
            <a:ext cx="2514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50"/>
              <a:buFont typeface="Arial"/>
              <a:buNone/>
            </a:pPr>
            <a:r>
              <a:rPr b="1" lang="en-US" sz="1150">
                <a:solidFill>
                  <a:srgbClr val="000000"/>
                </a:solidFill>
                <a:latin typeface="Arial"/>
                <a:ea typeface="Arial"/>
                <a:cs typeface="Arial"/>
                <a:sym typeface="Arial"/>
              </a:rPr>
              <a:t>CHANGE ONE INPUT</a:t>
            </a:r>
            <a:endParaRPr sz="1150">
              <a:solidFill>
                <a:schemeClr val="dk1"/>
              </a:solidFill>
              <a:latin typeface="Calibri"/>
              <a:ea typeface="Calibri"/>
              <a:cs typeface="Calibri"/>
              <a:sym typeface="Calibri"/>
            </a:endParaRPr>
          </a:p>
        </p:txBody>
      </p:sp>
      <p:sp>
        <p:nvSpPr>
          <p:cNvPr id="284" name="Google Shape;284;p6"/>
          <p:cNvSpPr/>
          <p:nvPr/>
        </p:nvSpPr>
        <p:spPr>
          <a:xfrm rot="5400000">
            <a:off x="3657600" y="3767328"/>
            <a:ext cx="310896" cy="365760"/>
          </a:xfrm>
          <a:prstGeom prst="triangle">
            <a:avLst>
              <a:gd fmla="val 50000" name="adj"/>
            </a:avLst>
          </a:prstGeom>
          <a:solidFill>
            <a:srgbClr val="FFE500"/>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6"/>
          <p:cNvSpPr/>
          <p:nvPr/>
        </p:nvSpPr>
        <p:spPr>
          <a:xfrm>
            <a:off x="4206240" y="3776472"/>
            <a:ext cx="3017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350"/>
              <a:buFont typeface="Calibri"/>
              <a:buNone/>
            </a:pPr>
            <a:r>
              <a:rPr lang="en-US" sz="1350">
                <a:solidFill>
                  <a:srgbClr val="FFFDF7"/>
                </a:solidFill>
                <a:latin typeface="Calibri"/>
                <a:ea typeface="Calibri"/>
                <a:cs typeface="Calibri"/>
                <a:sym typeface="Calibri"/>
              </a:rPr>
              <a:t>the whole system responds.</a:t>
            </a:r>
            <a:endParaRPr sz="1350">
              <a:solidFill>
                <a:schemeClr val="dk1"/>
              </a:solidFill>
              <a:latin typeface="Calibri"/>
              <a:ea typeface="Calibri"/>
              <a:cs typeface="Calibri"/>
              <a:sym typeface="Calibri"/>
            </a:endParaRPr>
          </a:p>
        </p:txBody>
      </p:sp>
      <p:sp>
        <p:nvSpPr>
          <p:cNvPr id="286" name="Google Shape;286;p6"/>
          <p:cNvSpPr/>
          <p:nvPr/>
        </p:nvSpPr>
        <p:spPr>
          <a:xfrm>
            <a:off x="662940" y="4539996"/>
            <a:ext cx="2834640" cy="640080"/>
          </a:xfrm>
          <a:prstGeom prst="rect">
            <a:avLst/>
          </a:prstGeom>
          <a:solidFill>
            <a:srgbClr val="C6F035"/>
          </a:solidFill>
          <a:ln cap="flat" cmpd="sng" w="9525">
            <a:solidFill>
              <a:srgbClr val="C6F0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6"/>
          <p:cNvSpPr/>
          <p:nvPr/>
        </p:nvSpPr>
        <p:spPr>
          <a:xfrm>
            <a:off x="594360" y="4471416"/>
            <a:ext cx="2834640" cy="640080"/>
          </a:xfrm>
          <a:prstGeom prst="rect">
            <a:avLst/>
          </a:prstGeom>
          <a:solidFill>
            <a:srgbClr val="FFFDF7"/>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6"/>
          <p:cNvSpPr/>
          <p:nvPr/>
        </p:nvSpPr>
        <p:spPr>
          <a:xfrm>
            <a:off x="777240" y="4645152"/>
            <a:ext cx="2514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50"/>
              <a:buFont typeface="Arial"/>
              <a:buNone/>
            </a:pPr>
            <a:r>
              <a:rPr b="1" lang="en-US" sz="1150">
                <a:solidFill>
                  <a:srgbClr val="000000"/>
                </a:solidFill>
                <a:latin typeface="Arial"/>
                <a:ea typeface="Arial"/>
                <a:cs typeface="Arial"/>
                <a:sym typeface="Arial"/>
              </a:rPr>
              <a:t>NON-DESTRUCTIVE</a:t>
            </a:r>
            <a:endParaRPr sz="1150">
              <a:solidFill>
                <a:schemeClr val="dk1"/>
              </a:solidFill>
              <a:latin typeface="Calibri"/>
              <a:ea typeface="Calibri"/>
              <a:cs typeface="Calibri"/>
              <a:sym typeface="Calibri"/>
            </a:endParaRPr>
          </a:p>
        </p:txBody>
      </p:sp>
      <p:sp>
        <p:nvSpPr>
          <p:cNvPr id="289" name="Google Shape;289;p6"/>
          <p:cNvSpPr/>
          <p:nvPr/>
        </p:nvSpPr>
        <p:spPr>
          <a:xfrm rot="5400000">
            <a:off x="3657600" y="4608576"/>
            <a:ext cx="310896" cy="365760"/>
          </a:xfrm>
          <a:prstGeom prst="triangle">
            <a:avLst>
              <a:gd fmla="val 50000" name="adj"/>
            </a:avLst>
          </a:prstGeom>
          <a:solidFill>
            <a:srgbClr val="FFE500"/>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6"/>
          <p:cNvSpPr/>
          <p:nvPr/>
        </p:nvSpPr>
        <p:spPr>
          <a:xfrm>
            <a:off x="4206240" y="4617720"/>
            <a:ext cx="3017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350"/>
              <a:buFont typeface="Calibri"/>
              <a:buNone/>
            </a:pPr>
            <a:r>
              <a:rPr lang="en-US" sz="1350">
                <a:solidFill>
                  <a:srgbClr val="FFFDF7"/>
                </a:solidFill>
                <a:latin typeface="Calibri"/>
                <a:ea typeface="Calibri"/>
                <a:cs typeface="Calibri"/>
                <a:sym typeface="Calibri"/>
              </a:rPr>
              <a:t>every step stays editable.</a:t>
            </a:r>
            <a:endParaRPr sz="1350">
              <a:solidFill>
                <a:schemeClr val="dk1"/>
              </a:solidFill>
              <a:latin typeface="Calibri"/>
              <a:ea typeface="Calibri"/>
              <a:cs typeface="Calibri"/>
              <a:sym typeface="Calibri"/>
            </a:endParaRPr>
          </a:p>
        </p:txBody>
      </p:sp>
      <p:sp>
        <p:nvSpPr>
          <p:cNvPr id="291" name="Google Shape;291;p6"/>
          <p:cNvSpPr/>
          <p:nvPr/>
        </p:nvSpPr>
        <p:spPr>
          <a:xfrm>
            <a:off x="7018020" y="2857500"/>
            <a:ext cx="4617720" cy="2322576"/>
          </a:xfrm>
          <a:prstGeom prst="rect">
            <a:avLst/>
          </a:prstGeom>
          <a:solidFill>
            <a:srgbClr val="FFFDF7"/>
          </a:solidFill>
          <a:ln cap="flat" cmpd="sng" w="9525">
            <a:solidFill>
              <a:srgbClr val="FFFDF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6"/>
          <p:cNvSpPr/>
          <p:nvPr/>
        </p:nvSpPr>
        <p:spPr>
          <a:xfrm>
            <a:off x="6949440" y="2788920"/>
            <a:ext cx="4617720" cy="2322576"/>
          </a:xfrm>
          <a:prstGeom prst="rect">
            <a:avLst/>
          </a:prstGeom>
          <a:solidFill>
            <a:srgbClr val="EDEDE6"/>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93" name="Google Shape;293;p6"/>
          <p:cNvCxnSpPr/>
          <p:nvPr/>
        </p:nvCxnSpPr>
        <p:spPr>
          <a:xfrm>
            <a:off x="6949440" y="2788920"/>
            <a:ext cx="4617720" cy="2322576"/>
          </a:xfrm>
          <a:prstGeom prst="straightConnector1">
            <a:avLst/>
          </a:prstGeom>
          <a:noFill/>
          <a:ln cap="flat" cmpd="sng" w="15875">
            <a:solidFill>
              <a:srgbClr val="C9C9C0"/>
            </a:solidFill>
            <a:prstDash val="solid"/>
            <a:round/>
            <a:headEnd len="sm" w="sm" type="none"/>
            <a:tailEnd len="sm" w="sm" type="none"/>
          </a:ln>
        </p:spPr>
      </p:cxnSp>
      <p:cxnSp>
        <p:nvCxnSpPr>
          <p:cNvPr id="294" name="Google Shape;294;p6"/>
          <p:cNvCxnSpPr/>
          <p:nvPr/>
        </p:nvCxnSpPr>
        <p:spPr>
          <a:xfrm>
            <a:off x="6949440" y="5111496"/>
            <a:ext cx="4617720" cy="0"/>
          </a:xfrm>
          <a:prstGeom prst="straightConnector1">
            <a:avLst/>
          </a:prstGeom>
          <a:noFill/>
          <a:ln cap="flat" cmpd="sng" w="15875">
            <a:solidFill>
              <a:srgbClr val="C9C9C0"/>
            </a:solidFill>
            <a:prstDash val="solid"/>
            <a:round/>
            <a:headEnd len="sm" w="sm" type="none"/>
            <a:tailEnd len="sm" w="sm" type="none"/>
          </a:ln>
        </p:spPr>
      </p:cxnSp>
      <p:sp>
        <p:nvSpPr>
          <p:cNvPr id="295" name="Google Shape;295;p6"/>
          <p:cNvSpPr/>
          <p:nvPr/>
        </p:nvSpPr>
        <p:spPr>
          <a:xfrm>
            <a:off x="8206740" y="3694176"/>
            <a:ext cx="2103120" cy="512064"/>
          </a:xfrm>
          <a:prstGeom prst="rect">
            <a:avLst/>
          </a:prstGeom>
          <a:solidFill>
            <a:srgbClr val="FFFDF7"/>
          </a:solidFill>
          <a:ln cap="flat" cmpd="sng" w="254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6"/>
          <p:cNvSpPr/>
          <p:nvPr/>
        </p:nvSpPr>
        <p:spPr>
          <a:xfrm>
            <a:off x="8206740" y="3776472"/>
            <a:ext cx="21031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000"/>
              <a:buFont typeface="Arial"/>
              <a:buNone/>
            </a:pPr>
            <a:r>
              <a:rPr b="1" lang="en-US" sz="1000">
                <a:solidFill>
                  <a:srgbClr val="000000"/>
                </a:solidFill>
                <a:latin typeface="Arial"/>
                <a:ea typeface="Arial"/>
                <a:cs typeface="Arial"/>
                <a:sym typeface="Arial"/>
              </a:rPr>
              <a:t>PARAMETRIC PRECEDENT</a:t>
            </a:r>
            <a:endParaRPr sz="1000">
              <a:solidFill>
                <a:schemeClr val="dk1"/>
              </a:solidFill>
              <a:latin typeface="Calibri"/>
              <a:ea typeface="Calibri"/>
              <a:cs typeface="Calibri"/>
              <a:sym typeface="Calibri"/>
            </a:endParaRPr>
          </a:p>
        </p:txBody>
      </p:sp>
      <p:sp>
        <p:nvSpPr>
          <p:cNvPr id="297" name="Google Shape;297;p6"/>
          <p:cNvSpPr/>
          <p:nvPr/>
        </p:nvSpPr>
        <p:spPr>
          <a:xfrm>
            <a:off x="6949440" y="5193792"/>
            <a:ext cx="4617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i="1" lang="en-US" sz="1000">
                <a:solidFill>
                  <a:srgbClr val="6B6B6B"/>
                </a:solidFill>
                <a:latin typeface="Calibri"/>
                <a:ea typeface="Calibri"/>
                <a:cs typeface="Calibri"/>
                <a:sym typeface="Calibri"/>
              </a:rPr>
              <a:t>https://formandcode.com/code-examples/parameterize-chair</a:t>
            </a:r>
            <a:endParaRPr sz="1000">
              <a:solidFill>
                <a:schemeClr val="dk1"/>
              </a:solidFill>
              <a:latin typeface="Calibri"/>
              <a:ea typeface="Calibri"/>
              <a:cs typeface="Calibri"/>
              <a:sym typeface="Calibri"/>
            </a:endParaRPr>
          </a:p>
        </p:txBody>
      </p:sp>
      <p:sp>
        <p:nvSpPr>
          <p:cNvPr id="298" name="Google Shape;298;p6"/>
          <p:cNvSpPr/>
          <p:nvPr/>
        </p:nvSpPr>
        <p:spPr>
          <a:xfrm>
            <a:off x="594360" y="5779008"/>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F035"/>
              </a:buClr>
              <a:buSzPts val="1050"/>
              <a:buFont typeface="Arial"/>
              <a:buNone/>
            </a:pPr>
            <a:r>
              <a:rPr b="1" lang="en-US" sz="1050">
                <a:solidFill>
                  <a:srgbClr val="C6F035"/>
                </a:solidFill>
                <a:latin typeface="Arial"/>
                <a:ea typeface="Arial"/>
                <a:cs typeface="Arial"/>
                <a:sym typeface="Arial"/>
              </a:rPr>
              <a:t>MODULES 1–3   /   FIELDS + ATTRACTORS   /   SECTION + SEQUENCE   /   TESSELLATION</a:t>
            </a:r>
            <a:endParaRPr sz="1050">
              <a:solidFill>
                <a:schemeClr val="dk1"/>
              </a:solidFill>
              <a:latin typeface="Calibri"/>
              <a:ea typeface="Calibri"/>
              <a:cs typeface="Calibri"/>
              <a:sym typeface="Calibri"/>
            </a:endParaRPr>
          </a:p>
        </p:txBody>
      </p:sp>
      <p:pic>
        <p:nvPicPr>
          <p:cNvPr id="299" name="Google Shape;299;p6"/>
          <p:cNvPicPr preferRelativeResize="0"/>
          <p:nvPr/>
        </p:nvPicPr>
        <p:blipFill rotWithShape="1">
          <a:blip r:embed="rId3">
            <a:alphaModFix/>
          </a:blip>
          <a:srcRect b="0" l="0" r="0" t="0"/>
          <a:stretch/>
        </p:blipFill>
        <p:spPr>
          <a:xfrm>
            <a:off x="7517153" y="2816500"/>
            <a:ext cx="3482293" cy="223098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04" name="Shape 304"/>
        <p:cNvGrpSpPr/>
        <p:nvPr/>
      </p:nvGrpSpPr>
      <p:grpSpPr>
        <a:xfrm>
          <a:off x="0" y="0"/>
          <a:ext cx="0" cy="0"/>
          <a:chOff x="0" y="0"/>
          <a:chExt cx="0" cy="0"/>
        </a:xfrm>
      </p:grpSpPr>
      <p:cxnSp>
        <p:nvCxnSpPr>
          <p:cNvPr id="305" name="Google Shape;305;p7"/>
          <p:cNvCxnSpPr/>
          <p:nvPr/>
        </p:nvCxnSpPr>
        <p:spPr>
          <a:xfrm>
            <a:off x="594360" y="566928"/>
            <a:ext cx="10972800" cy="0"/>
          </a:xfrm>
          <a:prstGeom prst="straightConnector1">
            <a:avLst/>
          </a:prstGeom>
          <a:noFill/>
          <a:ln cap="flat" cmpd="sng" w="50800">
            <a:solidFill>
              <a:srgbClr val="FFFDF7"/>
            </a:solidFill>
            <a:prstDash val="solid"/>
            <a:round/>
            <a:headEnd len="sm" w="sm" type="none"/>
            <a:tailEnd len="sm" w="sm" type="none"/>
          </a:ln>
        </p:spPr>
      </p:cxnSp>
      <p:sp>
        <p:nvSpPr>
          <p:cNvPr id="306" name="Google Shape;306;p7"/>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3300"/>
              <a:buFont typeface="Arial"/>
              <a:buNone/>
            </a:pPr>
            <a:r>
              <a:rPr b="1" lang="en-US" sz="3300">
                <a:solidFill>
                  <a:srgbClr val="FFFDF7"/>
                </a:solidFill>
                <a:latin typeface="Arial"/>
                <a:ea typeface="Arial"/>
                <a:cs typeface="Arial"/>
                <a:sym typeface="Arial"/>
              </a:rPr>
              <a:t>03 — GENERATIVE</a:t>
            </a:r>
            <a:endParaRPr sz="3300">
              <a:solidFill>
                <a:schemeClr val="dk1"/>
              </a:solidFill>
              <a:latin typeface="Calibri"/>
              <a:ea typeface="Calibri"/>
              <a:cs typeface="Calibri"/>
              <a:sym typeface="Calibri"/>
            </a:endParaRPr>
          </a:p>
        </p:txBody>
      </p:sp>
      <p:sp>
        <p:nvSpPr>
          <p:cNvPr id="307" name="Google Shape;307;p7"/>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350"/>
              <a:buFont typeface="Calibri"/>
              <a:buNone/>
            </a:pPr>
            <a:r>
              <a:rPr lang="en-US" sz="1350">
                <a:solidFill>
                  <a:srgbClr val="B8B8B8"/>
                </a:solidFill>
                <a:latin typeface="Calibri"/>
                <a:ea typeface="Calibri"/>
                <a:cs typeface="Calibri"/>
                <a:sym typeface="Calibri"/>
              </a:rPr>
              <a:t>The system feeds itself. Output: unknown, within a spectrum.</a:t>
            </a:r>
            <a:endParaRPr sz="1350">
              <a:solidFill>
                <a:schemeClr val="dk1"/>
              </a:solidFill>
              <a:latin typeface="Calibri"/>
              <a:ea typeface="Calibri"/>
              <a:cs typeface="Calibri"/>
              <a:sym typeface="Calibri"/>
            </a:endParaRPr>
          </a:p>
        </p:txBody>
      </p:sp>
      <p:sp>
        <p:nvSpPr>
          <p:cNvPr id="308" name="Google Shape;308;p7"/>
          <p:cNvSpPr/>
          <p:nvPr/>
        </p:nvSpPr>
        <p:spPr>
          <a:xfrm>
            <a:off x="594360" y="1783080"/>
            <a:ext cx="10058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500"/>
              <a:buFont typeface="Calibri"/>
              <a:buNone/>
            </a:pPr>
            <a:r>
              <a:rPr lang="en-US" sz="1500">
                <a:solidFill>
                  <a:srgbClr val="FFFDF7"/>
                </a:solidFill>
                <a:latin typeface="Calibri"/>
                <a:ea typeface="Calibri"/>
                <a:cs typeface="Calibri"/>
                <a:sym typeface="Calibri"/>
              </a:rPr>
              <a:t>Every generative system is the same three-step loop, run over and over.</a:t>
            </a:r>
            <a:endParaRPr sz="1500">
              <a:solidFill>
                <a:schemeClr val="dk1"/>
              </a:solidFill>
              <a:latin typeface="Calibri"/>
              <a:ea typeface="Calibri"/>
              <a:cs typeface="Calibri"/>
              <a:sym typeface="Calibri"/>
            </a:endParaRPr>
          </a:p>
        </p:txBody>
      </p:sp>
      <p:sp>
        <p:nvSpPr>
          <p:cNvPr id="309" name="Google Shape;309;p7"/>
          <p:cNvSpPr/>
          <p:nvPr/>
        </p:nvSpPr>
        <p:spPr>
          <a:xfrm>
            <a:off x="891540" y="2464308"/>
            <a:ext cx="1691640" cy="822960"/>
          </a:xfrm>
          <a:prstGeom prst="rect">
            <a:avLst/>
          </a:prstGeom>
          <a:solidFill>
            <a:srgbClr val="00D9E1"/>
          </a:solidFill>
          <a:ln cap="flat" cmpd="sng" w="9525">
            <a:solidFill>
              <a:srgbClr val="00D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7"/>
          <p:cNvSpPr/>
          <p:nvPr/>
        </p:nvSpPr>
        <p:spPr>
          <a:xfrm>
            <a:off x="822960" y="2395728"/>
            <a:ext cx="1691640" cy="822960"/>
          </a:xfrm>
          <a:prstGeom prst="rect">
            <a:avLst/>
          </a:prstGeom>
          <a:solidFill>
            <a:srgbClr val="FFFDF7"/>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7"/>
          <p:cNvSpPr/>
          <p:nvPr/>
        </p:nvSpPr>
        <p:spPr>
          <a:xfrm>
            <a:off x="822960" y="2633472"/>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STATE</a:t>
            </a:r>
            <a:endParaRPr sz="1200">
              <a:solidFill>
                <a:schemeClr val="dk1"/>
              </a:solidFill>
              <a:latin typeface="Calibri"/>
              <a:ea typeface="Calibri"/>
              <a:cs typeface="Calibri"/>
              <a:sym typeface="Calibri"/>
            </a:endParaRPr>
          </a:p>
        </p:txBody>
      </p:sp>
      <p:sp>
        <p:nvSpPr>
          <p:cNvPr id="312" name="Google Shape;312;p7"/>
          <p:cNvSpPr/>
          <p:nvPr/>
        </p:nvSpPr>
        <p:spPr>
          <a:xfrm rot="5400000">
            <a:off x="2606040" y="2633472"/>
            <a:ext cx="310896" cy="365760"/>
          </a:xfrm>
          <a:prstGeom prst="triangle">
            <a:avLst>
              <a:gd fmla="val 50000" name="adj"/>
            </a:avLst>
          </a:prstGeom>
          <a:solidFill>
            <a:srgbClr val="FF4D8D"/>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7"/>
          <p:cNvSpPr/>
          <p:nvPr/>
        </p:nvSpPr>
        <p:spPr>
          <a:xfrm>
            <a:off x="3040380" y="2464308"/>
            <a:ext cx="1691640" cy="822960"/>
          </a:xfrm>
          <a:prstGeom prst="rect">
            <a:avLst/>
          </a:prstGeom>
          <a:solidFill>
            <a:srgbClr val="FF4D8D"/>
          </a:solidFill>
          <a:ln cap="flat" cmpd="sng" w="9525">
            <a:solidFill>
              <a:srgbClr val="FF4D8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7"/>
          <p:cNvSpPr/>
          <p:nvPr/>
        </p:nvSpPr>
        <p:spPr>
          <a:xfrm>
            <a:off x="2971800" y="2395728"/>
            <a:ext cx="1691640" cy="822960"/>
          </a:xfrm>
          <a:prstGeom prst="rect">
            <a:avLst/>
          </a:prstGeom>
          <a:solidFill>
            <a:srgbClr val="FFE500"/>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7"/>
          <p:cNvSpPr/>
          <p:nvPr/>
        </p:nvSpPr>
        <p:spPr>
          <a:xfrm>
            <a:off x="2971800" y="2633472"/>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RULE</a:t>
            </a:r>
            <a:endParaRPr sz="1200">
              <a:solidFill>
                <a:schemeClr val="dk1"/>
              </a:solidFill>
              <a:latin typeface="Calibri"/>
              <a:ea typeface="Calibri"/>
              <a:cs typeface="Calibri"/>
              <a:sym typeface="Calibri"/>
            </a:endParaRPr>
          </a:p>
        </p:txBody>
      </p:sp>
      <p:sp>
        <p:nvSpPr>
          <p:cNvPr id="316" name="Google Shape;316;p7"/>
          <p:cNvSpPr/>
          <p:nvPr/>
        </p:nvSpPr>
        <p:spPr>
          <a:xfrm rot="5400000">
            <a:off x="4754880" y="2633472"/>
            <a:ext cx="310896" cy="365760"/>
          </a:xfrm>
          <a:prstGeom prst="triangle">
            <a:avLst>
              <a:gd fmla="val 50000" name="adj"/>
            </a:avLst>
          </a:prstGeom>
          <a:solidFill>
            <a:srgbClr val="FF4D8D"/>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7"/>
          <p:cNvSpPr/>
          <p:nvPr/>
        </p:nvSpPr>
        <p:spPr>
          <a:xfrm>
            <a:off x="5189220" y="2464308"/>
            <a:ext cx="1691640" cy="822960"/>
          </a:xfrm>
          <a:prstGeom prst="rect">
            <a:avLst/>
          </a:prstGeom>
          <a:solidFill>
            <a:srgbClr val="00D9E1"/>
          </a:solidFill>
          <a:ln cap="flat" cmpd="sng" w="9525">
            <a:solidFill>
              <a:srgbClr val="00D9E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7"/>
          <p:cNvSpPr/>
          <p:nvPr/>
        </p:nvSpPr>
        <p:spPr>
          <a:xfrm>
            <a:off x="5120640" y="2395728"/>
            <a:ext cx="1691640" cy="822960"/>
          </a:xfrm>
          <a:prstGeom prst="rect">
            <a:avLst/>
          </a:prstGeom>
          <a:solidFill>
            <a:srgbClr val="FFFDF7"/>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7"/>
          <p:cNvSpPr/>
          <p:nvPr/>
        </p:nvSpPr>
        <p:spPr>
          <a:xfrm>
            <a:off x="5120640" y="2633472"/>
            <a:ext cx="1691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NEXT STATE</a:t>
            </a:r>
            <a:endParaRPr sz="1200">
              <a:solidFill>
                <a:schemeClr val="dk1"/>
              </a:solidFill>
              <a:latin typeface="Calibri"/>
              <a:ea typeface="Calibri"/>
              <a:cs typeface="Calibri"/>
              <a:sym typeface="Calibri"/>
            </a:endParaRPr>
          </a:p>
        </p:txBody>
      </p:sp>
      <p:cxnSp>
        <p:nvCxnSpPr>
          <p:cNvPr id="320" name="Google Shape;320;p7"/>
          <p:cNvCxnSpPr/>
          <p:nvPr/>
        </p:nvCxnSpPr>
        <p:spPr>
          <a:xfrm>
            <a:off x="5961888" y="3218688"/>
            <a:ext cx="0" cy="603504"/>
          </a:xfrm>
          <a:prstGeom prst="straightConnector1">
            <a:avLst/>
          </a:prstGeom>
          <a:noFill/>
          <a:ln cap="flat" cmpd="sng" w="38100">
            <a:solidFill>
              <a:srgbClr val="FF4D8D"/>
            </a:solidFill>
            <a:prstDash val="solid"/>
            <a:round/>
            <a:headEnd len="sm" w="sm" type="none"/>
            <a:tailEnd len="sm" w="sm" type="none"/>
          </a:ln>
        </p:spPr>
      </p:cxnSp>
      <p:cxnSp>
        <p:nvCxnSpPr>
          <p:cNvPr id="321" name="Google Shape;321;p7"/>
          <p:cNvCxnSpPr/>
          <p:nvPr/>
        </p:nvCxnSpPr>
        <p:spPr>
          <a:xfrm>
            <a:off x="1664208" y="3822192"/>
            <a:ext cx="4297680" cy="0"/>
          </a:xfrm>
          <a:prstGeom prst="straightConnector1">
            <a:avLst/>
          </a:prstGeom>
          <a:noFill/>
          <a:ln cap="flat" cmpd="sng" w="38100">
            <a:solidFill>
              <a:srgbClr val="FF4D8D"/>
            </a:solidFill>
            <a:prstDash val="solid"/>
            <a:round/>
            <a:headEnd len="sm" w="sm" type="none"/>
            <a:tailEnd len="sm" w="sm" type="none"/>
          </a:ln>
        </p:spPr>
      </p:cxnSp>
      <p:cxnSp>
        <p:nvCxnSpPr>
          <p:cNvPr id="322" name="Google Shape;322;p7"/>
          <p:cNvCxnSpPr/>
          <p:nvPr/>
        </p:nvCxnSpPr>
        <p:spPr>
          <a:xfrm>
            <a:off x="1664208" y="3218688"/>
            <a:ext cx="0" cy="603504"/>
          </a:xfrm>
          <a:prstGeom prst="straightConnector1">
            <a:avLst/>
          </a:prstGeom>
          <a:noFill/>
          <a:ln cap="flat" cmpd="sng" w="38100">
            <a:solidFill>
              <a:srgbClr val="FF4D8D"/>
            </a:solidFill>
            <a:prstDash val="solid"/>
            <a:round/>
            <a:headEnd len="sm" w="sm" type="none"/>
            <a:tailEnd len="sm" w="sm" type="none"/>
          </a:ln>
        </p:spPr>
      </p:cxnSp>
      <p:sp>
        <p:nvSpPr>
          <p:cNvPr id="323" name="Google Shape;323;p7"/>
          <p:cNvSpPr/>
          <p:nvPr/>
        </p:nvSpPr>
        <p:spPr>
          <a:xfrm>
            <a:off x="1737360" y="3913632"/>
            <a:ext cx="42062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4D8D"/>
              </a:buClr>
              <a:buSzPts val="1050"/>
              <a:buFont typeface="Arial"/>
              <a:buNone/>
            </a:pPr>
            <a:r>
              <a:rPr b="1" lang="en-US" sz="1050">
                <a:solidFill>
                  <a:srgbClr val="FF4D8D"/>
                </a:solidFill>
                <a:latin typeface="Arial"/>
                <a:ea typeface="Arial"/>
                <a:cs typeface="Arial"/>
                <a:sym typeface="Arial"/>
              </a:rPr>
              <a:t>THE OUTPUT BECOMES THE INPUT</a:t>
            </a:r>
            <a:endParaRPr sz="1050">
              <a:solidFill>
                <a:schemeClr val="dk1"/>
              </a:solidFill>
              <a:latin typeface="Calibri"/>
              <a:ea typeface="Calibri"/>
              <a:cs typeface="Calibri"/>
              <a:sym typeface="Calibri"/>
            </a:endParaRPr>
          </a:p>
        </p:txBody>
      </p:sp>
      <p:sp>
        <p:nvSpPr>
          <p:cNvPr id="324" name="Google Shape;324;p7"/>
          <p:cNvSpPr/>
          <p:nvPr/>
        </p:nvSpPr>
        <p:spPr>
          <a:xfrm>
            <a:off x="7520940" y="2263140"/>
            <a:ext cx="4114800" cy="2377440"/>
          </a:xfrm>
          <a:prstGeom prst="rect">
            <a:avLst/>
          </a:prstGeom>
          <a:solidFill>
            <a:srgbClr val="FFFDF7"/>
          </a:solidFill>
          <a:ln cap="flat" cmpd="sng" w="9525">
            <a:solidFill>
              <a:srgbClr val="FFFDF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7"/>
          <p:cNvSpPr/>
          <p:nvPr/>
        </p:nvSpPr>
        <p:spPr>
          <a:xfrm>
            <a:off x="7452360" y="2194560"/>
            <a:ext cx="4114800" cy="2377440"/>
          </a:xfrm>
          <a:prstGeom prst="rect">
            <a:avLst/>
          </a:prstGeom>
          <a:solidFill>
            <a:srgbClr val="EDEDE6"/>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326" name="Google Shape;326;p7"/>
          <p:cNvCxnSpPr/>
          <p:nvPr/>
        </p:nvCxnSpPr>
        <p:spPr>
          <a:xfrm>
            <a:off x="7452360" y="2194560"/>
            <a:ext cx="4114800" cy="2377440"/>
          </a:xfrm>
          <a:prstGeom prst="straightConnector1">
            <a:avLst/>
          </a:prstGeom>
          <a:noFill/>
          <a:ln cap="flat" cmpd="sng" w="15875">
            <a:solidFill>
              <a:srgbClr val="C9C9C0"/>
            </a:solidFill>
            <a:prstDash val="solid"/>
            <a:round/>
            <a:headEnd len="sm" w="sm" type="none"/>
            <a:tailEnd len="sm" w="sm" type="none"/>
          </a:ln>
        </p:spPr>
      </p:cxnSp>
      <p:cxnSp>
        <p:nvCxnSpPr>
          <p:cNvPr id="327" name="Google Shape;327;p7"/>
          <p:cNvCxnSpPr/>
          <p:nvPr/>
        </p:nvCxnSpPr>
        <p:spPr>
          <a:xfrm>
            <a:off x="7452360" y="4572000"/>
            <a:ext cx="4114800" cy="0"/>
          </a:xfrm>
          <a:prstGeom prst="straightConnector1">
            <a:avLst/>
          </a:prstGeom>
          <a:noFill/>
          <a:ln cap="flat" cmpd="sng" w="15875">
            <a:solidFill>
              <a:srgbClr val="C9C9C0"/>
            </a:solidFill>
            <a:prstDash val="solid"/>
            <a:round/>
            <a:headEnd len="sm" w="sm" type="none"/>
            <a:tailEnd len="sm" w="sm" type="none"/>
          </a:ln>
        </p:spPr>
      </p:cxnSp>
      <p:sp>
        <p:nvSpPr>
          <p:cNvPr id="328" name="Google Shape;328;p7"/>
          <p:cNvSpPr/>
          <p:nvPr/>
        </p:nvSpPr>
        <p:spPr>
          <a:xfrm>
            <a:off x="8458200" y="3127248"/>
            <a:ext cx="2103120" cy="512064"/>
          </a:xfrm>
          <a:prstGeom prst="rect">
            <a:avLst/>
          </a:prstGeom>
          <a:solidFill>
            <a:srgbClr val="FFFDF7"/>
          </a:solidFill>
          <a:ln cap="flat" cmpd="sng" w="254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7"/>
          <p:cNvSpPr/>
          <p:nvPr/>
        </p:nvSpPr>
        <p:spPr>
          <a:xfrm>
            <a:off x="8458200" y="3209544"/>
            <a:ext cx="21031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000"/>
              <a:buFont typeface="Arial"/>
              <a:buNone/>
            </a:pPr>
            <a:r>
              <a:rPr b="1" lang="en-US" sz="1000">
                <a:solidFill>
                  <a:srgbClr val="000000"/>
                </a:solidFill>
                <a:latin typeface="Arial"/>
                <a:ea typeface="Arial"/>
                <a:cs typeface="Arial"/>
                <a:sym typeface="Arial"/>
              </a:rPr>
              <a:t>GENERATIVE PRECEDENT</a:t>
            </a:r>
            <a:endParaRPr sz="1000">
              <a:solidFill>
                <a:schemeClr val="dk1"/>
              </a:solidFill>
              <a:latin typeface="Calibri"/>
              <a:ea typeface="Calibri"/>
              <a:cs typeface="Calibri"/>
              <a:sym typeface="Calibri"/>
            </a:endParaRPr>
          </a:p>
        </p:txBody>
      </p:sp>
      <p:sp>
        <p:nvSpPr>
          <p:cNvPr id="330" name="Google Shape;330;p7"/>
          <p:cNvSpPr/>
          <p:nvPr/>
        </p:nvSpPr>
        <p:spPr>
          <a:xfrm>
            <a:off x="7452360" y="4654296"/>
            <a:ext cx="4114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alibri"/>
              <a:buNone/>
            </a:pPr>
            <a:r>
              <a:rPr i="1" lang="en-US" sz="1000">
                <a:solidFill>
                  <a:srgbClr val="6B6B6B"/>
                </a:solidFill>
                <a:latin typeface="Calibri"/>
                <a:ea typeface="Calibri"/>
                <a:cs typeface="Calibri"/>
                <a:sym typeface="Calibri"/>
              </a:rPr>
              <a:t>Using FEA as a generative algorithm</a:t>
            </a:r>
            <a:endParaRPr sz="1000">
              <a:solidFill>
                <a:schemeClr val="dk1"/>
              </a:solidFill>
              <a:latin typeface="Calibri"/>
              <a:ea typeface="Calibri"/>
              <a:cs typeface="Calibri"/>
              <a:sym typeface="Calibri"/>
            </a:endParaRPr>
          </a:p>
        </p:txBody>
      </p:sp>
      <p:sp>
        <p:nvSpPr>
          <p:cNvPr id="331" name="Google Shape;331;p7"/>
          <p:cNvSpPr/>
          <p:nvPr/>
        </p:nvSpPr>
        <p:spPr>
          <a:xfrm>
            <a:off x="662940" y="5143500"/>
            <a:ext cx="10972800" cy="1005840"/>
          </a:xfrm>
          <a:prstGeom prst="rect">
            <a:avLst/>
          </a:prstGeom>
          <a:solidFill>
            <a:srgbClr val="FFFDF7"/>
          </a:solidFill>
          <a:ln cap="flat" cmpd="sng" w="9525">
            <a:solidFill>
              <a:srgbClr val="FFFDF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7"/>
          <p:cNvSpPr/>
          <p:nvPr/>
        </p:nvSpPr>
        <p:spPr>
          <a:xfrm>
            <a:off x="594360" y="5074920"/>
            <a:ext cx="10972800" cy="1005840"/>
          </a:xfrm>
          <a:prstGeom prst="rect">
            <a:avLst/>
          </a:prstGeom>
          <a:solidFill>
            <a:srgbClr val="FF4D8D"/>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7"/>
          <p:cNvSpPr/>
          <p:nvPr/>
        </p:nvSpPr>
        <p:spPr>
          <a:xfrm>
            <a:off x="914400" y="5230368"/>
            <a:ext cx="104241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50"/>
              <a:buFont typeface="Arial"/>
              <a:buNone/>
            </a:pPr>
            <a:r>
              <a:rPr b="1" lang="en-US" sz="1350">
                <a:solidFill>
                  <a:srgbClr val="000000"/>
                </a:solidFill>
                <a:latin typeface="Arial"/>
                <a:ea typeface="Arial"/>
                <a:cs typeface="Arial"/>
                <a:sym typeface="Arial"/>
              </a:rPr>
              <a:t>GROWTH  /  AGENTS  /  CELLULAR AUTOMATA  /  RELAXATION + PACKING</a:t>
            </a:r>
            <a:endParaRPr sz="1350">
              <a:solidFill>
                <a:schemeClr val="dk1"/>
              </a:solidFill>
              <a:latin typeface="Calibri"/>
              <a:ea typeface="Calibri"/>
              <a:cs typeface="Calibri"/>
              <a:sym typeface="Calibri"/>
            </a:endParaRPr>
          </a:p>
        </p:txBody>
      </p:sp>
      <p:sp>
        <p:nvSpPr>
          <p:cNvPr id="334" name="Google Shape;334;p7"/>
          <p:cNvSpPr/>
          <p:nvPr/>
        </p:nvSpPr>
        <p:spPr>
          <a:xfrm>
            <a:off x="914400" y="5596128"/>
            <a:ext cx="10424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00"/>
              <a:buFont typeface="Calibri"/>
              <a:buNone/>
            </a:pPr>
            <a:r>
              <a:rPr i="1" lang="en-US" sz="1300">
                <a:solidFill>
                  <a:srgbClr val="000000"/>
                </a:solidFill>
                <a:latin typeface="Calibri"/>
                <a:ea typeface="Calibri"/>
                <a:cs typeface="Calibri"/>
                <a:sym typeface="Calibri"/>
              </a:rPr>
              <a:t>Your final assignment. You will build one of these.</a:t>
            </a:r>
            <a:endParaRPr sz="1300">
              <a:solidFill>
                <a:schemeClr val="dk1"/>
              </a:solidFill>
              <a:latin typeface="Calibri"/>
              <a:ea typeface="Calibri"/>
              <a:cs typeface="Calibri"/>
              <a:sym typeface="Calibri"/>
            </a:endParaRPr>
          </a:p>
        </p:txBody>
      </p:sp>
      <p:pic>
        <p:nvPicPr>
          <p:cNvPr id="335" name="Google Shape;335;p7"/>
          <p:cNvPicPr preferRelativeResize="0"/>
          <p:nvPr/>
        </p:nvPicPr>
        <p:blipFill rotWithShape="1">
          <a:blip r:embed="rId3">
            <a:alphaModFix/>
          </a:blip>
          <a:srcRect b="0" l="0" r="0" t="0"/>
          <a:stretch/>
        </p:blipFill>
        <p:spPr>
          <a:xfrm>
            <a:off x="7808471" y="2452281"/>
            <a:ext cx="3424942" cy="192938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7"/>
        </a:solidFill>
      </p:bgPr>
    </p:bg>
    <p:spTree>
      <p:nvGrpSpPr>
        <p:cNvPr id="340" name="Shape 340"/>
        <p:cNvGrpSpPr/>
        <p:nvPr/>
      </p:nvGrpSpPr>
      <p:grpSpPr>
        <a:xfrm>
          <a:off x="0" y="0"/>
          <a:ext cx="0" cy="0"/>
          <a:chOff x="0" y="0"/>
          <a:chExt cx="0" cy="0"/>
        </a:xfrm>
      </p:grpSpPr>
      <p:cxnSp>
        <p:nvCxnSpPr>
          <p:cNvPr id="341" name="Google Shape;341;p8"/>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342" name="Google Shape;342;p8"/>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300"/>
              <a:buFont typeface="Arial"/>
              <a:buNone/>
            </a:pPr>
            <a:r>
              <a:rPr b="1" lang="en-US" sz="3300">
                <a:solidFill>
                  <a:srgbClr val="000000"/>
                </a:solidFill>
                <a:latin typeface="Arial"/>
                <a:ea typeface="Arial"/>
                <a:cs typeface="Arial"/>
                <a:sym typeface="Arial"/>
              </a:rPr>
              <a:t>HOW THIS RUNS</a:t>
            </a:r>
            <a:endParaRPr sz="3300">
              <a:solidFill>
                <a:schemeClr val="dk1"/>
              </a:solidFill>
              <a:latin typeface="Calibri"/>
              <a:ea typeface="Calibri"/>
              <a:cs typeface="Calibri"/>
              <a:sym typeface="Calibri"/>
            </a:endParaRPr>
          </a:p>
        </p:txBody>
      </p:sp>
      <p:sp>
        <p:nvSpPr>
          <p:cNvPr id="343" name="Google Shape;343;p8"/>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350"/>
              <a:buFont typeface="Calibri"/>
              <a:buNone/>
            </a:pPr>
            <a:r>
              <a:rPr lang="en-US" sz="1350">
                <a:solidFill>
                  <a:srgbClr val="6B6B6B"/>
                </a:solidFill>
                <a:latin typeface="Calibri"/>
                <a:ea typeface="Calibri"/>
                <a:cs typeface="Calibri"/>
                <a:sym typeface="Calibri"/>
              </a:rPr>
              <a:t>Watch before class. Class time is for your problems, not my demo.</a:t>
            </a:r>
            <a:endParaRPr sz="1350">
              <a:solidFill>
                <a:schemeClr val="dk1"/>
              </a:solidFill>
              <a:latin typeface="Calibri"/>
              <a:ea typeface="Calibri"/>
              <a:cs typeface="Calibri"/>
              <a:sym typeface="Calibri"/>
            </a:endParaRPr>
          </a:p>
        </p:txBody>
      </p:sp>
      <p:sp>
        <p:nvSpPr>
          <p:cNvPr id="344" name="Google Shape;344;p8"/>
          <p:cNvSpPr/>
          <p:nvPr/>
        </p:nvSpPr>
        <p:spPr>
          <a:xfrm>
            <a:off x="662940" y="1851660"/>
            <a:ext cx="777240" cy="77724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 name="Google Shape;345;p8"/>
          <p:cNvSpPr/>
          <p:nvPr/>
        </p:nvSpPr>
        <p:spPr>
          <a:xfrm>
            <a:off x="594360" y="1783080"/>
            <a:ext cx="777240" cy="777240"/>
          </a:xfrm>
          <a:prstGeom prst="rect">
            <a:avLst/>
          </a:prstGeom>
          <a:solidFill>
            <a:srgbClr val="000000"/>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 name="Google Shape;346;p8"/>
          <p:cNvSpPr/>
          <p:nvPr/>
        </p:nvSpPr>
        <p:spPr>
          <a:xfrm>
            <a:off x="594360" y="2002536"/>
            <a:ext cx="777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DF7"/>
              </a:buClr>
              <a:buSzPts val="1700"/>
              <a:buFont typeface="Arial"/>
              <a:buNone/>
            </a:pPr>
            <a:r>
              <a:rPr b="1" lang="en-US" sz="1700">
                <a:solidFill>
                  <a:srgbClr val="FFFDF7"/>
                </a:solidFill>
                <a:latin typeface="Arial"/>
                <a:ea typeface="Arial"/>
                <a:cs typeface="Arial"/>
                <a:sym typeface="Arial"/>
              </a:rPr>
              <a:t>01</a:t>
            </a:r>
            <a:endParaRPr sz="1700">
              <a:solidFill>
                <a:schemeClr val="dk1"/>
              </a:solidFill>
              <a:latin typeface="Calibri"/>
              <a:ea typeface="Calibri"/>
              <a:cs typeface="Calibri"/>
              <a:sym typeface="Calibri"/>
            </a:endParaRPr>
          </a:p>
        </p:txBody>
      </p:sp>
      <p:sp>
        <p:nvSpPr>
          <p:cNvPr id="347" name="Google Shape;347;p8"/>
          <p:cNvSpPr/>
          <p:nvPr/>
        </p:nvSpPr>
        <p:spPr>
          <a:xfrm>
            <a:off x="1714500" y="1851660"/>
            <a:ext cx="9921240" cy="77724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8"/>
          <p:cNvSpPr/>
          <p:nvPr/>
        </p:nvSpPr>
        <p:spPr>
          <a:xfrm>
            <a:off x="1645920" y="1783080"/>
            <a:ext cx="9921240" cy="777240"/>
          </a:xfrm>
          <a:prstGeom prst="rect">
            <a:avLst/>
          </a:prstGeom>
          <a:solidFill>
            <a:srgbClr val="FFFDF7"/>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8"/>
          <p:cNvSpPr/>
          <p:nvPr/>
        </p:nvSpPr>
        <p:spPr>
          <a:xfrm>
            <a:off x="1920240" y="1883664"/>
            <a:ext cx="8961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50"/>
              <a:buFont typeface="Arial"/>
              <a:buNone/>
            </a:pPr>
            <a:r>
              <a:rPr b="1" lang="en-US" sz="1350">
                <a:solidFill>
                  <a:srgbClr val="000000"/>
                </a:solidFill>
                <a:latin typeface="Arial"/>
                <a:ea typeface="Arial"/>
                <a:cs typeface="Arial"/>
                <a:sym typeface="Arial"/>
              </a:rPr>
              <a:t>TUTORIAL ARRIVES</a:t>
            </a:r>
            <a:endParaRPr sz="1350">
              <a:solidFill>
                <a:schemeClr val="dk1"/>
              </a:solidFill>
              <a:latin typeface="Calibri"/>
              <a:ea typeface="Calibri"/>
              <a:cs typeface="Calibri"/>
              <a:sym typeface="Calibri"/>
            </a:endParaRPr>
          </a:p>
        </p:txBody>
      </p:sp>
      <p:sp>
        <p:nvSpPr>
          <p:cNvPr id="350" name="Google Shape;350;p8"/>
          <p:cNvSpPr/>
          <p:nvPr/>
        </p:nvSpPr>
        <p:spPr>
          <a:xfrm>
            <a:off x="1920240" y="2194560"/>
            <a:ext cx="9144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Calibri"/>
              <a:buNone/>
            </a:pPr>
            <a:r>
              <a:rPr lang="en-US" sz="1250">
                <a:solidFill>
                  <a:srgbClr val="000000"/>
                </a:solidFill>
                <a:latin typeface="Calibri"/>
                <a:ea typeface="Calibri"/>
                <a:cs typeface="Calibri"/>
                <a:sym typeface="Calibri"/>
              </a:rPr>
              <a:t>Pre-recorded, sent after the class before. Grasshopper and Blender versions of each.</a:t>
            </a:r>
            <a:endParaRPr sz="1250">
              <a:solidFill>
                <a:schemeClr val="dk1"/>
              </a:solidFill>
              <a:latin typeface="Calibri"/>
              <a:ea typeface="Calibri"/>
              <a:cs typeface="Calibri"/>
              <a:sym typeface="Calibri"/>
            </a:endParaRPr>
          </a:p>
        </p:txBody>
      </p:sp>
      <p:sp>
        <p:nvSpPr>
          <p:cNvPr id="351" name="Google Shape;351;p8"/>
          <p:cNvSpPr/>
          <p:nvPr/>
        </p:nvSpPr>
        <p:spPr>
          <a:xfrm>
            <a:off x="662940" y="2912364"/>
            <a:ext cx="777240" cy="77724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8"/>
          <p:cNvSpPr/>
          <p:nvPr/>
        </p:nvSpPr>
        <p:spPr>
          <a:xfrm>
            <a:off x="594360" y="2843784"/>
            <a:ext cx="777240" cy="777240"/>
          </a:xfrm>
          <a:prstGeom prst="rect">
            <a:avLst/>
          </a:prstGeom>
          <a:solidFill>
            <a:srgbClr val="FFE500"/>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8"/>
          <p:cNvSpPr/>
          <p:nvPr/>
        </p:nvSpPr>
        <p:spPr>
          <a:xfrm>
            <a:off x="594360" y="3063240"/>
            <a:ext cx="777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700"/>
              <a:buFont typeface="Arial"/>
              <a:buNone/>
            </a:pPr>
            <a:r>
              <a:rPr b="1" lang="en-US" sz="1700">
                <a:solidFill>
                  <a:srgbClr val="000000"/>
                </a:solidFill>
                <a:latin typeface="Arial"/>
                <a:ea typeface="Arial"/>
                <a:cs typeface="Arial"/>
                <a:sym typeface="Arial"/>
              </a:rPr>
              <a:t>02</a:t>
            </a:r>
            <a:endParaRPr sz="1700">
              <a:solidFill>
                <a:schemeClr val="dk1"/>
              </a:solidFill>
              <a:latin typeface="Calibri"/>
              <a:ea typeface="Calibri"/>
              <a:cs typeface="Calibri"/>
              <a:sym typeface="Calibri"/>
            </a:endParaRPr>
          </a:p>
        </p:txBody>
      </p:sp>
      <p:sp>
        <p:nvSpPr>
          <p:cNvPr id="354" name="Google Shape;354;p8"/>
          <p:cNvSpPr/>
          <p:nvPr/>
        </p:nvSpPr>
        <p:spPr>
          <a:xfrm>
            <a:off x="1714500" y="2912364"/>
            <a:ext cx="9921240" cy="77724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8"/>
          <p:cNvSpPr/>
          <p:nvPr/>
        </p:nvSpPr>
        <p:spPr>
          <a:xfrm>
            <a:off x="1645920" y="2843784"/>
            <a:ext cx="9921240" cy="777240"/>
          </a:xfrm>
          <a:prstGeom prst="rect">
            <a:avLst/>
          </a:prstGeom>
          <a:solidFill>
            <a:srgbClr val="FFE500"/>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6" name="Google Shape;356;p8"/>
          <p:cNvSpPr/>
          <p:nvPr/>
        </p:nvSpPr>
        <p:spPr>
          <a:xfrm>
            <a:off x="1920240" y="2944368"/>
            <a:ext cx="8961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50"/>
              <a:buFont typeface="Arial"/>
              <a:buNone/>
            </a:pPr>
            <a:r>
              <a:rPr b="1" lang="en-US" sz="1350">
                <a:solidFill>
                  <a:srgbClr val="000000"/>
                </a:solidFill>
                <a:latin typeface="Arial"/>
                <a:ea typeface="Arial"/>
                <a:cs typeface="Arial"/>
                <a:sym typeface="Arial"/>
              </a:rPr>
              <a:t>YOU WORK THROUGH IT</a:t>
            </a:r>
            <a:endParaRPr sz="1350">
              <a:solidFill>
                <a:schemeClr val="dk1"/>
              </a:solidFill>
              <a:latin typeface="Calibri"/>
              <a:ea typeface="Calibri"/>
              <a:cs typeface="Calibri"/>
              <a:sym typeface="Calibri"/>
            </a:endParaRPr>
          </a:p>
        </p:txBody>
      </p:sp>
      <p:sp>
        <p:nvSpPr>
          <p:cNvPr id="357" name="Google Shape;357;p8"/>
          <p:cNvSpPr/>
          <p:nvPr/>
        </p:nvSpPr>
        <p:spPr>
          <a:xfrm>
            <a:off x="1920240" y="3255264"/>
            <a:ext cx="9144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Calibri"/>
              <a:buNone/>
            </a:pPr>
            <a:r>
              <a:rPr lang="en-US" sz="1250">
                <a:solidFill>
                  <a:srgbClr val="000000"/>
                </a:solidFill>
                <a:latin typeface="Calibri"/>
                <a:ea typeface="Calibri"/>
                <a:cs typeface="Calibri"/>
                <a:sym typeface="Calibri"/>
              </a:rPr>
              <a:t>Before the session. This is the part that doesn't work if you skip it.</a:t>
            </a:r>
            <a:endParaRPr sz="1250">
              <a:solidFill>
                <a:schemeClr val="dk1"/>
              </a:solidFill>
              <a:latin typeface="Calibri"/>
              <a:ea typeface="Calibri"/>
              <a:cs typeface="Calibri"/>
              <a:sym typeface="Calibri"/>
            </a:endParaRPr>
          </a:p>
        </p:txBody>
      </p:sp>
      <p:sp>
        <p:nvSpPr>
          <p:cNvPr id="358" name="Google Shape;358;p8"/>
          <p:cNvSpPr/>
          <p:nvPr/>
        </p:nvSpPr>
        <p:spPr>
          <a:xfrm>
            <a:off x="662940" y="3973068"/>
            <a:ext cx="777240" cy="77724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8"/>
          <p:cNvSpPr/>
          <p:nvPr/>
        </p:nvSpPr>
        <p:spPr>
          <a:xfrm>
            <a:off x="594360" y="3904488"/>
            <a:ext cx="777240" cy="777240"/>
          </a:xfrm>
          <a:prstGeom prst="rect">
            <a:avLst/>
          </a:prstGeom>
          <a:solidFill>
            <a:srgbClr val="000000"/>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8"/>
          <p:cNvSpPr/>
          <p:nvPr/>
        </p:nvSpPr>
        <p:spPr>
          <a:xfrm>
            <a:off x="594360" y="4123944"/>
            <a:ext cx="777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DF7"/>
              </a:buClr>
              <a:buSzPts val="1700"/>
              <a:buFont typeface="Arial"/>
              <a:buNone/>
            </a:pPr>
            <a:r>
              <a:rPr b="1" lang="en-US" sz="1700">
                <a:solidFill>
                  <a:srgbClr val="FFFDF7"/>
                </a:solidFill>
                <a:latin typeface="Arial"/>
                <a:ea typeface="Arial"/>
                <a:cs typeface="Arial"/>
                <a:sym typeface="Arial"/>
              </a:rPr>
              <a:t>03</a:t>
            </a:r>
            <a:endParaRPr sz="1700">
              <a:solidFill>
                <a:schemeClr val="dk1"/>
              </a:solidFill>
              <a:latin typeface="Calibri"/>
              <a:ea typeface="Calibri"/>
              <a:cs typeface="Calibri"/>
              <a:sym typeface="Calibri"/>
            </a:endParaRPr>
          </a:p>
        </p:txBody>
      </p:sp>
      <p:sp>
        <p:nvSpPr>
          <p:cNvPr id="361" name="Google Shape;361;p8"/>
          <p:cNvSpPr/>
          <p:nvPr/>
        </p:nvSpPr>
        <p:spPr>
          <a:xfrm>
            <a:off x="1714500" y="3973068"/>
            <a:ext cx="9921240" cy="77724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8"/>
          <p:cNvSpPr/>
          <p:nvPr/>
        </p:nvSpPr>
        <p:spPr>
          <a:xfrm>
            <a:off x="1645920" y="3904488"/>
            <a:ext cx="9921240" cy="777240"/>
          </a:xfrm>
          <a:prstGeom prst="rect">
            <a:avLst/>
          </a:prstGeom>
          <a:solidFill>
            <a:srgbClr val="FFFDF7"/>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8"/>
          <p:cNvSpPr/>
          <p:nvPr/>
        </p:nvSpPr>
        <p:spPr>
          <a:xfrm>
            <a:off x="1920240" y="4005072"/>
            <a:ext cx="8961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50"/>
              <a:buFont typeface="Arial"/>
              <a:buNone/>
            </a:pPr>
            <a:r>
              <a:rPr b="1" lang="en-US" sz="1350">
                <a:solidFill>
                  <a:srgbClr val="000000"/>
                </a:solidFill>
                <a:latin typeface="Arial"/>
                <a:ea typeface="Arial"/>
                <a:cs typeface="Arial"/>
                <a:sym typeface="Arial"/>
              </a:rPr>
              <a:t>WE TROUBLESHOOT</a:t>
            </a:r>
            <a:endParaRPr sz="1350">
              <a:solidFill>
                <a:schemeClr val="dk1"/>
              </a:solidFill>
              <a:latin typeface="Calibri"/>
              <a:ea typeface="Calibri"/>
              <a:cs typeface="Calibri"/>
              <a:sym typeface="Calibri"/>
            </a:endParaRPr>
          </a:p>
        </p:txBody>
      </p:sp>
      <p:sp>
        <p:nvSpPr>
          <p:cNvPr id="364" name="Google Shape;364;p8"/>
          <p:cNvSpPr/>
          <p:nvPr/>
        </p:nvSpPr>
        <p:spPr>
          <a:xfrm>
            <a:off x="1920240" y="4315968"/>
            <a:ext cx="9144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Calibri"/>
              <a:buNone/>
            </a:pPr>
            <a:r>
              <a:rPr lang="en-US" sz="1250">
                <a:solidFill>
                  <a:srgbClr val="000000"/>
                </a:solidFill>
                <a:latin typeface="Calibri"/>
                <a:ea typeface="Calibri"/>
                <a:cs typeface="Calibri"/>
                <a:sym typeface="Calibri"/>
              </a:rPr>
              <a:t>First part of class: what broke. Bring the file, not the description.</a:t>
            </a:r>
            <a:endParaRPr sz="1250">
              <a:solidFill>
                <a:schemeClr val="dk1"/>
              </a:solidFill>
              <a:latin typeface="Calibri"/>
              <a:ea typeface="Calibri"/>
              <a:cs typeface="Calibri"/>
              <a:sym typeface="Calibri"/>
            </a:endParaRPr>
          </a:p>
        </p:txBody>
      </p:sp>
      <p:sp>
        <p:nvSpPr>
          <p:cNvPr id="365" name="Google Shape;365;p8"/>
          <p:cNvSpPr/>
          <p:nvPr/>
        </p:nvSpPr>
        <p:spPr>
          <a:xfrm>
            <a:off x="662940" y="5033772"/>
            <a:ext cx="777240" cy="77724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8"/>
          <p:cNvSpPr/>
          <p:nvPr/>
        </p:nvSpPr>
        <p:spPr>
          <a:xfrm>
            <a:off x="594360" y="4965192"/>
            <a:ext cx="777240" cy="777240"/>
          </a:xfrm>
          <a:prstGeom prst="rect">
            <a:avLst/>
          </a:prstGeom>
          <a:solidFill>
            <a:srgbClr val="000000"/>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8"/>
          <p:cNvSpPr/>
          <p:nvPr/>
        </p:nvSpPr>
        <p:spPr>
          <a:xfrm>
            <a:off x="594360" y="5184648"/>
            <a:ext cx="777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DF7"/>
              </a:buClr>
              <a:buSzPts val="1700"/>
              <a:buFont typeface="Arial"/>
              <a:buNone/>
            </a:pPr>
            <a:r>
              <a:rPr b="1" lang="en-US" sz="1700">
                <a:solidFill>
                  <a:srgbClr val="FFFDF7"/>
                </a:solidFill>
                <a:latin typeface="Arial"/>
                <a:ea typeface="Arial"/>
                <a:cs typeface="Arial"/>
                <a:sym typeface="Arial"/>
              </a:rPr>
              <a:t>04</a:t>
            </a:r>
            <a:endParaRPr sz="1700">
              <a:solidFill>
                <a:schemeClr val="dk1"/>
              </a:solidFill>
              <a:latin typeface="Calibri"/>
              <a:ea typeface="Calibri"/>
              <a:cs typeface="Calibri"/>
              <a:sym typeface="Calibri"/>
            </a:endParaRPr>
          </a:p>
        </p:txBody>
      </p:sp>
      <p:sp>
        <p:nvSpPr>
          <p:cNvPr id="368" name="Google Shape;368;p8"/>
          <p:cNvSpPr/>
          <p:nvPr/>
        </p:nvSpPr>
        <p:spPr>
          <a:xfrm>
            <a:off x="1714500" y="5033772"/>
            <a:ext cx="9921240" cy="77724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8"/>
          <p:cNvSpPr/>
          <p:nvPr/>
        </p:nvSpPr>
        <p:spPr>
          <a:xfrm>
            <a:off x="1645920" y="4965192"/>
            <a:ext cx="9921240" cy="777240"/>
          </a:xfrm>
          <a:prstGeom prst="rect">
            <a:avLst/>
          </a:prstGeom>
          <a:solidFill>
            <a:srgbClr val="FFFDF7"/>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8"/>
          <p:cNvSpPr/>
          <p:nvPr/>
        </p:nvSpPr>
        <p:spPr>
          <a:xfrm>
            <a:off x="1920240" y="5065776"/>
            <a:ext cx="8961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350"/>
              <a:buFont typeface="Arial"/>
              <a:buNone/>
            </a:pPr>
            <a:r>
              <a:rPr b="1" lang="en-US" sz="1350">
                <a:solidFill>
                  <a:srgbClr val="000000"/>
                </a:solidFill>
                <a:latin typeface="Arial"/>
                <a:ea typeface="Arial"/>
                <a:cs typeface="Arial"/>
                <a:sym typeface="Arial"/>
              </a:rPr>
              <a:t>ASSIGNMENT BRIEFING</a:t>
            </a:r>
            <a:endParaRPr sz="1350">
              <a:solidFill>
                <a:schemeClr val="dk1"/>
              </a:solidFill>
              <a:latin typeface="Calibri"/>
              <a:ea typeface="Calibri"/>
              <a:cs typeface="Calibri"/>
              <a:sym typeface="Calibri"/>
            </a:endParaRPr>
          </a:p>
        </p:txBody>
      </p:sp>
      <p:sp>
        <p:nvSpPr>
          <p:cNvPr id="371" name="Google Shape;371;p8"/>
          <p:cNvSpPr/>
          <p:nvPr/>
        </p:nvSpPr>
        <p:spPr>
          <a:xfrm>
            <a:off x="1920240" y="5376672"/>
            <a:ext cx="9144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Calibri"/>
              <a:buNone/>
            </a:pPr>
            <a:r>
              <a:rPr lang="en-US" sz="1250">
                <a:solidFill>
                  <a:srgbClr val="000000"/>
                </a:solidFill>
                <a:latin typeface="Calibri"/>
                <a:ea typeface="Calibri"/>
                <a:cs typeface="Calibri"/>
                <a:sym typeface="Calibri"/>
              </a:rPr>
              <a:t>Requirements, precedents, then supervised work and critique.</a:t>
            </a:r>
            <a:endParaRPr sz="125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7"/>
        </a:solidFill>
      </p:bgPr>
    </p:bg>
    <p:spTree>
      <p:nvGrpSpPr>
        <p:cNvPr id="376" name="Shape 376"/>
        <p:cNvGrpSpPr/>
        <p:nvPr/>
      </p:nvGrpSpPr>
      <p:grpSpPr>
        <a:xfrm>
          <a:off x="0" y="0"/>
          <a:ext cx="0" cy="0"/>
          <a:chOff x="0" y="0"/>
          <a:chExt cx="0" cy="0"/>
        </a:xfrm>
      </p:grpSpPr>
      <p:cxnSp>
        <p:nvCxnSpPr>
          <p:cNvPr id="377" name="Google Shape;377;p9"/>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378" name="Google Shape;378;p9"/>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300"/>
              <a:buFont typeface="Arial"/>
              <a:buNone/>
            </a:pPr>
            <a:r>
              <a:rPr b="1" lang="en-US" sz="3300">
                <a:solidFill>
                  <a:srgbClr val="000000"/>
                </a:solidFill>
                <a:latin typeface="Arial"/>
                <a:ea typeface="Arial"/>
                <a:cs typeface="Arial"/>
                <a:sym typeface="Arial"/>
              </a:rPr>
              <a:t>WHAT YOU'LL MAKE</a:t>
            </a:r>
            <a:endParaRPr sz="3300">
              <a:solidFill>
                <a:schemeClr val="dk1"/>
              </a:solidFill>
              <a:latin typeface="Calibri"/>
              <a:ea typeface="Calibri"/>
              <a:cs typeface="Calibri"/>
              <a:sym typeface="Calibri"/>
            </a:endParaRPr>
          </a:p>
        </p:txBody>
      </p:sp>
      <p:sp>
        <p:nvSpPr>
          <p:cNvPr id="379" name="Google Shape;379;p9"/>
          <p:cNvSpPr/>
          <p:nvPr/>
        </p:nvSpPr>
        <p:spPr>
          <a:xfrm>
            <a:off x="594360" y="1261872"/>
            <a:ext cx="109728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350"/>
              <a:buFont typeface="Calibri"/>
              <a:buNone/>
            </a:pPr>
            <a:r>
              <a:rPr lang="en-US" sz="1350">
                <a:solidFill>
                  <a:srgbClr val="6B6B6B"/>
                </a:solidFill>
                <a:latin typeface="Calibri"/>
                <a:ea typeface="Calibri"/>
                <a:cs typeface="Calibri"/>
                <a:sym typeface="Calibri"/>
              </a:rPr>
              <a:t>Every module has a drawing and a physical thing.</a:t>
            </a:r>
            <a:endParaRPr sz="1350">
              <a:solidFill>
                <a:schemeClr val="dk1"/>
              </a:solidFill>
              <a:latin typeface="Calibri"/>
              <a:ea typeface="Calibri"/>
              <a:cs typeface="Calibri"/>
              <a:sym typeface="Calibri"/>
            </a:endParaRPr>
          </a:p>
        </p:txBody>
      </p:sp>
      <p:sp>
        <p:nvSpPr>
          <p:cNvPr id="380" name="Google Shape;380;p9"/>
          <p:cNvSpPr/>
          <p:nvPr/>
        </p:nvSpPr>
        <p:spPr>
          <a:xfrm>
            <a:off x="662940" y="1805940"/>
            <a:ext cx="10972800" cy="749808"/>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9"/>
          <p:cNvSpPr/>
          <p:nvPr/>
        </p:nvSpPr>
        <p:spPr>
          <a:xfrm>
            <a:off x="594360" y="1737360"/>
            <a:ext cx="10972800" cy="749808"/>
          </a:xfrm>
          <a:prstGeom prst="rect">
            <a:avLst/>
          </a:prstGeom>
          <a:solidFill>
            <a:srgbClr val="FFFDF7"/>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9"/>
          <p:cNvSpPr/>
          <p:nvPr/>
        </p:nvSpPr>
        <p:spPr>
          <a:xfrm>
            <a:off x="594360" y="1737360"/>
            <a:ext cx="1600200" cy="749808"/>
          </a:xfrm>
          <a:prstGeom prst="rect">
            <a:avLst/>
          </a:prstGeom>
          <a:solidFill>
            <a:srgbClr val="00D9E1"/>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9"/>
          <p:cNvSpPr/>
          <p:nvPr/>
        </p:nvSpPr>
        <p:spPr>
          <a:xfrm>
            <a:off x="594360" y="1975104"/>
            <a:ext cx="16002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050"/>
              <a:buFont typeface="Arial"/>
              <a:buNone/>
            </a:pPr>
            <a:r>
              <a:rPr b="1" lang="en-US" sz="1050">
                <a:solidFill>
                  <a:srgbClr val="000000"/>
                </a:solidFill>
                <a:latin typeface="Arial"/>
                <a:ea typeface="Arial"/>
                <a:cs typeface="Arial"/>
                <a:sym typeface="Arial"/>
              </a:rPr>
              <a:t>MODULE 0</a:t>
            </a:r>
            <a:endParaRPr sz="1050">
              <a:solidFill>
                <a:schemeClr val="dk1"/>
              </a:solidFill>
              <a:latin typeface="Calibri"/>
              <a:ea typeface="Calibri"/>
              <a:cs typeface="Calibri"/>
              <a:sym typeface="Calibri"/>
            </a:endParaRPr>
          </a:p>
        </p:txBody>
      </p:sp>
      <p:sp>
        <p:nvSpPr>
          <p:cNvPr id="384" name="Google Shape;384;p9"/>
          <p:cNvSpPr/>
          <p:nvPr/>
        </p:nvSpPr>
        <p:spPr>
          <a:xfrm>
            <a:off x="2468880" y="1929384"/>
            <a:ext cx="23774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lang="en-US" sz="1500">
                <a:solidFill>
                  <a:srgbClr val="000000"/>
                </a:solidFill>
                <a:latin typeface="Arial"/>
                <a:ea typeface="Arial"/>
                <a:cs typeface="Arial"/>
                <a:sym typeface="Arial"/>
              </a:rPr>
              <a:t>PROCEDURE</a:t>
            </a:r>
            <a:endParaRPr sz="1500">
              <a:solidFill>
                <a:schemeClr val="dk1"/>
              </a:solidFill>
              <a:latin typeface="Calibri"/>
              <a:ea typeface="Calibri"/>
              <a:cs typeface="Calibri"/>
              <a:sym typeface="Calibri"/>
            </a:endParaRPr>
          </a:p>
        </p:txBody>
      </p:sp>
      <p:sp>
        <p:nvSpPr>
          <p:cNvPr id="385" name="Google Shape;385;p9"/>
          <p:cNvSpPr/>
          <p:nvPr/>
        </p:nvSpPr>
        <p:spPr>
          <a:xfrm>
            <a:off x="4983480" y="1965960"/>
            <a:ext cx="3931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250"/>
              <a:buFont typeface="Calibri"/>
              <a:buNone/>
            </a:pPr>
            <a:r>
              <a:rPr lang="en-US" sz="1250">
                <a:solidFill>
                  <a:srgbClr val="6B6B6B"/>
                </a:solidFill>
                <a:latin typeface="Calibri"/>
                <a:ea typeface="Calibri"/>
                <a:cs typeface="Calibri"/>
                <a:sym typeface="Calibri"/>
              </a:rPr>
              <a:t>Massing diagram + written instructions</a:t>
            </a:r>
            <a:endParaRPr sz="1250">
              <a:solidFill>
                <a:schemeClr val="dk1"/>
              </a:solidFill>
              <a:latin typeface="Calibri"/>
              <a:ea typeface="Calibri"/>
              <a:cs typeface="Calibri"/>
              <a:sym typeface="Calibri"/>
            </a:endParaRPr>
          </a:p>
        </p:txBody>
      </p:sp>
      <p:sp>
        <p:nvSpPr>
          <p:cNvPr id="386" name="Google Shape;386;p9"/>
          <p:cNvSpPr/>
          <p:nvPr/>
        </p:nvSpPr>
        <p:spPr>
          <a:xfrm>
            <a:off x="9098280" y="1965960"/>
            <a:ext cx="23774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1" lang="en-US" sz="1050">
                <a:solidFill>
                  <a:srgbClr val="000000"/>
                </a:solidFill>
                <a:latin typeface="Arial"/>
                <a:ea typeface="Arial"/>
                <a:cs typeface="Arial"/>
                <a:sym typeface="Arial"/>
              </a:rPr>
              <a:t>SMALL 3D PRINT</a:t>
            </a:r>
            <a:endParaRPr sz="1050">
              <a:solidFill>
                <a:schemeClr val="dk1"/>
              </a:solidFill>
              <a:latin typeface="Calibri"/>
              <a:ea typeface="Calibri"/>
              <a:cs typeface="Calibri"/>
              <a:sym typeface="Calibri"/>
            </a:endParaRPr>
          </a:p>
        </p:txBody>
      </p:sp>
      <p:sp>
        <p:nvSpPr>
          <p:cNvPr id="387" name="Google Shape;387;p9"/>
          <p:cNvSpPr/>
          <p:nvPr/>
        </p:nvSpPr>
        <p:spPr>
          <a:xfrm>
            <a:off x="662940" y="2665476"/>
            <a:ext cx="10972800" cy="749808"/>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9"/>
          <p:cNvSpPr/>
          <p:nvPr/>
        </p:nvSpPr>
        <p:spPr>
          <a:xfrm>
            <a:off x="594360" y="2596896"/>
            <a:ext cx="10972800" cy="749808"/>
          </a:xfrm>
          <a:prstGeom prst="rect">
            <a:avLst/>
          </a:prstGeom>
          <a:solidFill>
            <a:srgbClr val="FFFDF7"/>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9" name="Google Shape;389;p9"/>
          <p:cNvSpPr/>
          <p:nvPr/>
        </p:nvSpPr>
        <p:spPr>
          <a:xfrm>
            <a:off x="594360" y="2596896"/>
            <a:ext cx="1600200" cy="749808"/>
          </a:xfrm>
          <a:prstGeom prst="rect">
            <a:avLst/>
          </a:prstGeom>
          <a:solidFill>
            <a:srgbClr val="C6F035"/>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9"/>
          <p:cNvSpPr/>
          <p:nvPr/>
        </p:nvSpPr>
        <p:spPr>
          <a:xfrm>
            <a:off x="594360" y="2834640"/>
            <a:ext cx="16002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050"/>
              <a:buFont typeface="Arial"/>
              <a:buNone/>
            </a:pPr>
            <a:r>
              <a:rPr b="1" lang="en-US" sz="1050">
                <a:solidFill>
                  <a:srgbClr val="000000"/>
                </a:solidFill>
                <a:latin typeface="Arial"/>
                <a:ea typeface="Arial"/>
                <a:cs typeface="Arial"/>
                <a:sym typeface="Arial"/>
              </a:rPr>
              <a:t>MODULE 1</a:t>
            </a:r>
            <a:endParaRPr sz="1050">
              <a:solidFill>
                <a:schemeClr val="dk1"/>
              </a:solidFill>
              <a:latin typeface="Calibri"/>
              <a:ea typeface="Calibri"/>
              <a:cs typeface="Calibri"/>
              <a:sym typeface="Calibri"/>
            </a:endParaRPr>
          </a:p>
        </p:txBody>
      </p:sp>
      <p:sp>
        <p:nvSpPr>
          <p:cNvPr id="391" name="Google Shape;391;p9"/>
          <p:cNvSpPr/>
          <p:nvPr/>
        </p:nvSpPr>
        <p:spPr>
          <a:xfrm>
            <a:off x="2468880" y="2788920"/>
            <a:ext cx="23774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lang="en-US" sz="1500">
                <a:solidFill>
                  <a:srgbClr val="000000"/>
                </a:solidFill>
                <a:latin typeface="Arial"/>
                <a:ea typeface="Arial"/>
                <a:cs typeface="Arial"/>
                <a:sym typeface="Arial"/>
              </a:rPr>
              <a:t>FIELDS</a:t>
            </a:r>
            <a:endParaRPr sz="1500">
              <a:solidFill>
                <a:schemeClr val="dk1"/>
              </a:solidFill>
              <a:latin typeface="Calibri"/>
              <a:ea typeface="Calibri"/>
              <a:cs typeface="Calibri"/>
              <a:sym typeface="Calibri"/>
            </a:endParaRPr>
          </a:p>
        </p:txBody>
      </p:sp>
      <p:sp>
        <p:nvSpPr>
          <p:cNvPr id="392" name="Google Shape;392;p9"/>
          <p:cNvSpPr/>
          <p:nvPr/>
        </p:nvSpPr>
        <p:spPr>
          <a:xfrm>
            <a:off x="4983480" y="2825496"/>
            <a:ext cx="3931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250"/>
              <a:buFont typeface="Calibri"/>
              <a:buNone/>
            </a:pPr>
            <a:r>
              <a:rPr lang="en-US" sz="1250">
                <a:solidFill>
                  <a:srgbClr val="6B6B6B"/>
                </a:solidFill>
                <a:latin typeface="Calibri"/>
                <a:ea typeface="Calibri"/>
                <a:cs typeface="Calibri"/>
                <a:sym typeface="Calibri"/>
              </a:rPr>
              <a:t>Arrays and attractors, systematically</a:t>
            </a:r>
            <a:endParaRPr sz="1250">
              <a:solidFill>
                <a:schemeClr val="dk1"/>
              </a:solidFill>
              <a:latin typeface="Calibri"/>
              <a:ea typeface="Calibri"/>
              <a:cs typeface="Calibri"/>
              <a:sym typeface="Calibri"/>
            </a:endParaRPr>
          </a:p>
        </p:txBody>
      </p:sp>
      <p:sp>
        <p:nvSpPr>
          <p:cNvPr id="393" name="Google Shape;393;p9"/>
          <p:cNvSpPr/>
          <p:nvPr/>
        </p:nvSpPr>
        <p:spPr>
          <a:xfrm>
            <a:off x="9098280" y="2825496"/>
            <a:ext cx="23774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1" lang="en-US" sz="1050">
                <a:solidFill>
                  <a:srgbClr val="000000"/>
                </a:solidFill>
                <a:latin typeface="Arial"/>
                <a:ea typeface="Arial"/>
                <a:cs typeface="Arial"/>
                <a:sym typeface="Arial"/>
              </a:rPr>
              <a:t>PLOTTER DEMO </a:t>
            </a:r>
            <a:endParaRPr sz="1050">
              <a:solidFill>
                <a:schemeClr val="dk1"/>
              </a:solidFill>
              <a:latin typeface="Calibri"/>
              <a:ea typeface="Calibri"/>
              <a:cs typeface="Calibri"/>
              <a:sym typeface="Calibri"/>
            </a:endParaRPr>
          </a:p>
        </p:txBody>
      </p:sp>
      <p:sp>
        <p:nvSpPr>
          <p:cNvPr id="394" name="Google Shape;394;p9"/>
          <p:cNvSpPr/>
          <p:nvPr/>
        </p:nvSpPr>
        <p:spPr>
          <a:xfrm>
            <a:off x="662940" y="3525012"/>
            <a:ext cx="10972800" cy="749808"/>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9"/>
          <p:cNvSpPr/>
          <p:nvPr/>
        </p:nvSpPr>
        <p:spPr>
          <a:xfrm>
            <a:off x="594360" y="3456432"/>
            <a:ext cx="10972800" cy="749808"/>
          </a:xfrm>
          <a:prstGeom prst="rect">
            <a:avLst/>
          </a:prstGeom>
          <a:solidFill>
            <a:srgbClr val="FFFDF7"/>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p9"/>
          <p:cNvSpPr/>
          <p:nvPr/>
        </p:nvSpPr>
        <p:spPr>
          <a:xfrm>
            <a:off x="594360" y="3456432"/>
            <a:ext cx="1600200" cy="749808"/>
          </a:xfrm>
          <a:prstGeom prst="rect">
            <a:avLst/>
          </a:prstGeom>
          <a:solidFill>
            <a:srgbClr val="C6F035"/>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9"/>
          <p:cNvSpPr/>
          <p:nvPr/>
        </p:nvSpPr>
        <p:spPr>
          <a:xfrm>
            <a:off x="594360" y="3694176"/>
            <a:ext cx="16002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050"/>
              <a:buFont typeface="Arial"/>
              <a:buNone/>
            </a:pPr>
            <a:r>
              <a:rPr b="1" lang="en-US" sz="1050">
                <a:solidFill>
                  <a:srgbClr val="000000"/>
                </a:solidFill>
                <a:latin typeface="Arial"/>
                <a:ea typeface="Arial"/>
                <a:cs typeface="Arial"/>
                <a:sym typeface="Arial"/>
              </a:rPr>
              <a:t>MODULE 2</a:t>
            </a:r>
            <a:endParaRPr sz="1050">
              <a:solidFill>
                <a:schemeClr val="dk1"/>
              </a:solidFill>
              <a:latin typeface="Calibri"/>
              <a:ea typeface="Calibri"/>
              <a:cs typeface="Calibri"/>
              <a:sym typeface="Calibri"/>
            </a:endParaRPr>
          </a:p>
        </p:txBody>
      </p:sp>
      <p:sp>
        <p:nvSpPr>
          <p:cNvPr id="398" name="Google Shape;398;p9"/>
          <p:cNvSpPr/>
          <p:nvPr/>
        </p:nvSpPr>
        <p:spPr>
          <a:xfrm>
            <a:off x="2468880" y="3648456"/>
            <a:ext cx="23774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lang="en-US" sz="1500">
                <a:solidFill>
                  <a:srgbClr val="000000"/>
                </a:solidFill>
                <a:latin typeface="Arial"/>
                <a:ea typeface="Arial"/>
                <a:cs typeface="Arial"/>
                <a:sym typeface="Arial"/>
              </a:rPr>
              <a:t>SECTION</a:t>
            </a:r>
            <a:endParaRPr sz="1500">
              <a:solidFill>
                <a:schemeClr val="dk1"/>
              </a:solidFill>
              <a:latin typeface="Calibri"/>
              <a:ea typeface="Calibri"/>
              <a:cs typeface="Calibri"/>
              <a:sym typeface="Calibri"/>
            </a:endParaRPr>
          </a:p>
        </p:txBody>
      </p:sp>
      <p:sp>
        <p:nvSpPr>
          <p:cNvPr id="399" name="Google Shape;399;p9"/>
          <p:cNvSpPr/>
          <p:nvPr/>
        </p:nvSpPr>
        <p:spPr>
          <a:xfrm>
            <a:off x="4983480" y="3685032"/>
            <a:ext cx="3931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250"/>
              <a:buFont typeface="Calibri"/>
              <a:buNone/>
            </a:pPr>
            <a:r>
              <a:rPr lang="en-US" sz="1250">
                <a:solidFill>
                  <a:srgbClr val="6B6B6B"/>
                </a:solidFill>
                <a:latin typeface="Calibri"/>
                <a:ea typeface="Calibri"/>
                <a:cs typeface="Calibri"/>
                <a:sym typeface="Calibri"/>
              </a:rPr>
              <a:t>Serial sections, contours, hierarchy</a:t>
            </a:r>
            <a:endParaRPr sz="1250">
              <a:solidFill>
                <a:schemeClr val="dk1"/>
              </a:solidFill>
              <a:latin typeface="Calibri"/>
              <a:ea typeface="Calibri"/>
              <a:cs typeface="Calibri"/>
              <a:sym typeface="Calibri"/>
            </a:endParaRPr>
          </a:p>
        </p:txBody>
      </p:sp>
      <p:sp>
        <p:nvSpPr>
          <p:cNvPr id="400" name="Google Shape;400;p9"/>
          <p:cNvSpPr/>
          <p:nvPr/>
        </p:nvSpPr>
        <p:spPr>
          <a:xfrm>
            <a:off x="9098280" y="3685032"/>
            <a:ext cx="23774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1" lang="en-US" sz="1050">
                <a:solidFill>
                  <a:srgbClr val="000000"/>
                </a:solidFill>
                <a:latin typeface="Arial"/>
                <a:ea typeface="Arial"/>
                <a:cs typeface="Arial"/>
                <a:sym typeface="Arial"/>
              </a:rPr>
              <a:t>LASER-CUT ASSEMBLY</a:t>
            </a:r>
            <a:endParaRPr sz="1050">
              <a:solidFill>
                <a:schemeClr val="dk1"/>
              </a:solidFill>
              <a:latin typeface="Calibri"/>
              <a:ea typeface="Calibri"/>
              <a:cs typeface="Calibri"/>
              <a:sym typeface="Calibri"/>
            </a:endParaRPr>
          </a:p>
        </p:txBody>
      </p:sp>
      <p:sp>
        <p:nvSpPr>
          <p:cNvPr id="401" name="Google Shape;401;p9"/>
          <p:cNvSpPr/>
          <p:nvPr/>
        </p:nvSpPr>
        <p:spPr>
          <a:xfrm>
            <a:off x="662940" y="4384548"/>
            <a:ext cx="10972800" cy="749808"/>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9"/>
          <p:cNvSpPr/>
          <p:nvPr/>
        </p:nvSpPr>
        <p:spPr>
          <a:xfrm>
            <a:off x="594360" y="4315968"/>
            <a:ext cx="10972800" cy="749808"/>
          </a:xfrm>
          <a:prstGeom prst="rect">
            <a:avLst/>
          </a:prstGeom>
          <a:solidFill>
            <a:srgbClr val="FFFDF7"/>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9"/>
          <p:cNvSpPr/>
          <p:nvPr/>
        </p:nvSpPr>
        <p:spPr>
          <a:xfrm>
            <a:off x="594360" y="4315968"/>
            <a:ext cx="1600200" cy="749808"/>
          </a:xfrm>
          <a:prstGeom prst="rect">
            <a:avLst/>
          </a:prstGeom>
          <a:solidFill>
            <a:srgbClr val="C6F035"/>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9"/>
          <p:cNvSpPr/>
          <p:nvPr/>
        </p:nvSpPr>
        <p:spPr>
          <a:xfrm>
            <a:off x="594360" y="4553712"/>
            <a:ext cx="16002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050"/>
              <a:buFont typeface="Arial"/>
              <a:buNone/>
            </a:pPr>
            <a:r>
              <a:rPr b="1" lang="en-US" sz="1050">
                <a:solidFill>
                  <a:srgbClr val="000000"/>
                </a:solidFill>
                <a:latin typeface="Arial"/>
                <a:ea typeface="Arial"/>
                <a:cs typeface="Arial"/>
                <a:sym typeface="Arial"/>
              </a:rPr>
              <a:t>MODULE 3</a:t>
            </a:r>
            <a:endParaRPr sz="1050">
              <a:solidFill>
                <a:schemeClr val="dk1"/>
              </a:solidFill>
              <a:latin typeface="Calibri"/>
              <a:ea typeface="Calibri"/>
              <a:cs typeface="Calibri"/>
              <a:sym typeface="Calibri"/>
            </a:endParaRPr>
          </a:p>
        </p:txBody>
      </p:sp>
      <p:sp>
        <p:nvSpPr>
          <p:cNvPr id="405" name="Google Shape;405;p9"/>
          <p:cNvSpPr/>
          <p:nvPr/>
        </p:nvSpPr>
        <p:spPr>
          <a:xfrm>
            <a:off x="2468880" y="4507992"/>
            <a:ext cx="23774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lang="en-US" sz="1500">
                <a:solidFill>
                  <a:srgbClr val="000000"/>
                </a:solidFill>
                <a:latin typeface="Arial"/>
                <a:ea typeface="Arial"/>
                <a:cs typeface="Arial"/>
                <a:sym typeface="Arial"/>
              </a:rPr>
              <a:t>TESSELLATION</a:t>
            </a:r>
            <a:endParaRPr sz="1500">
              <a:solidFill>
                <a:schemeClr val="dk1"/>
              </a:solidFill>
              <a:latin typeface="Calibri"/>
              <a:ea typeface="Calibri"/>
              <a:cs typeface="Calibri"/>
              <a:sym typeface="Calibri"/>
            </a:endParaRPr>
          </a:p>
        </p:txBody>
      </p:sp>
      <p:sp>
        <p:nvSpPr>
          <p:cNvPr id="406" name="Google Shape;406;p9"/>
          <p:cNvSpPr/>
          <p:nvPr/>
        </p:nvSpPr>
        <p:spPr>
          <a:xfrm>
            <a:off x="4983480" y="4544568"/>
            <a:ext cx="3931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250"/>
              <a:buFont typeface="Calibri"/>
              <a:buNone/>
            </a:pPr>
            <a:r>
              <a:rPr lang="en-US" sz="1250">
                <a:solidFill>
                  <a:srgbClr val="6B6B6B"/>
                </a:solidFill>
                <a:latin typeface="Calibri"/>
                <a:ea typeface="Calibri"/>
                <a:cs typeface="Calibri"/>
                <a:sym typeface="Calibri"/>
              </a:rPr>
              <a:t>A panelized surface as a filter</a:t>
            </a:r>
            <a:endParaRPr sz="1250">
              <a:solidFill>
                <a:schemeClr val="dk1"/>
              </a:solidFill>
              <a:latin typeface="Calibri"/>
              <a:ea typeface="Calibri"/>
              <a:cs typeface="Calibri"/>
              <a:sym typeface="Calibri"/>
            </a:endParaRPr>
          </a:p>
        </p:txBody>
      </p:sp>
      <p:sp>
        <p:nvSpPr>
          <p:cNvPr id="407" name="Google Shape;407;p9"/>
          <p:cNvSpPr/>
          <p:nvPr/>
        </p:nvSpPr>
        <p:spPr>
          <a:xfrm>
            <a:off x="9098280" y="4544568"/>
            <a:ext cx="23774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1" lang="en-US" sz="1050">
                <a:solidFill>
                  <a:srgbClr val="000000"/>
                </a:solidFill>
                <a:latin typeface="Arial"/>
                <a:ea typeface="Arial"/>
                <a:cs typeface="Arial"/>
                <a:sym typeface="Arial"/>
              </a:rPr>
              <a:t>3D-PRINTED SYSTEM</a:t>
            </a:r>
            <a:endParaRPr/>
          </a:p>
        </p:txBody>
      </p:sp>
      <p:sp>
        <p:nvSpPr>
          <p:cNvPr id="408" name="Google Shape;408;p9"/>
          <p:cNvSpPr/>
          <p:nvPr/>
        </p:nvSpPr>
        <p:spPr>
          <a:xfrm>
            <a:off x="662940" y="5244084"/>
            <a:ext cx="10972800" cy="749808"/>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9"/>
          <p:cNvSpPr/>
          <p:nvPr/>
        </p:nvSpPr>
        <p:spPr>
          <a:xfrm>
            <a:off x="594360" y="5175504"/>
            <a:ext cx="10972800" cy="749808"/>
          </a:xfrm>
          <a:prstGeom prst="rect">
            <a:avLst/>
          </a:prstGeom>
          <a:solidFill>
            <a:srgbClr val="FFFDF7"/>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9"/>
          <p:cNvSpPr/>
          <p:nvPr/>
        </p:nvSpPr>
        <p:spPr>
          <a:xfrm>
            <a:off x="594360" y="5175504"/>
            <a:ext cx="1600200" cy="749808"/>
          </a:xfrm>
          <a:prstGeom prst="rect">
            <a:avLst/>
          </a:prstGeom>
          <a:solidFill>
            <a:srgbClr val="FF4D8D"/>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9"/>
          <p:cNvSpPr/>
          <p:nvPr/>
        </p:nvSpPr>
        <p:spPr>
          <a:xfrm>
            <a:off x="594360" y="5413248"/>
            <a:ext cx="16002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050"/>
              <a:buFont typeface="Arial"/>
              <a:buNone/>
            </a:pPr>
            <a:r>
              <a:rPr b="1" lang="en-US" sz="1050">
                <a:solidFill>
                  <a:srgbClr val="000000"/>
                </a:solidFill>
                <a:latin typeface="Arial"/>
                <a:ea typeface="Arial"/>
                <a:cs typeface="Arial"/>
                <a:sym typeface="Arial"/>
              </a:rPr>
              <a:t>FINAL</a:t>
            </a:r>
            <a:endParaRPr sz="1050">
              <a:solidFill>
                <a:schemeClr val="dk1"/>
              </a:solidFill>
              <a:latin typeface="Calibri"/>
              <a:ea typeface="Calibri"/>
              <a:cs typeface="Calibri"/>
              <a:sym typeface="Calibri"/>
            </a:endParaRPr>
          </a:p>
        </p:txBody>
      </p:sp>
      <p:sp>
        <p:nvSpPr>
          <p:cNvPr id="412" name="Google Shape;412;p9"/>
          <p:cNvSpPr/>
          <p:nvPr/>
        </p:nvSpPr>
        <p:spPr>
          <a:xfrm>
            <a:off x="2468880" y="5367528"/>
            <a:ext cx="23774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lang="en-US" sz="1500">
                <a:solidFill>
                  <a:srgbClr val="000000"/>
                </a:solidFill>
                <a:latin typeface="Arial"/>
                <a:ea typeface="Arial"/>
                <a:cs typeface="Arial"/>
                <a:sym typeface="Arial"/>
              </a:rPr>
              <a:t>GENERATIVE</a:t>
            </a:r>
            <a:endParaRPr sz="1500">
              <a:solidFill>
                <a:schemeClr val="dk1"/>
              </a:solidFill>
              <a:latin typeface="Calibri"/>
              <a:ea typeface="Calibri"/>
              <a:cs typeface="Calibri"/>
              <a:sym typeface="Calibri"/>
            </a:endParaRPr>
          </a:p>
        </p:txBody>
      </p:sp>
      <p:sp>
        <p:nvSpPr>
          <p:cNvPr id="413" name="Google Shape;413;p9"/>
          <p:cNvSpPr/>
          <p:nvPr/>
        </p:nvSpPr>
        <p:spPr>
          <a:xfrm>
            <a:off x="4983480" y="5404104"/>
            <a:ext cx="3931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250"/>
              <a:buFont typeface="Calibri"/>
              <a:buNone/>
            </a:pPr>
            <a:r>
              <a:rPr lang="en-US" sz="1250">
                <a:solidFill>
                  <a:srgbClr val="6B6B6B"/>
                </a:solidFill>
                <a:latin typeface="Calibri"/>
                <a:ea typeface="Calibri"/>
                <a:cs typeface="Calibri"/>
                <a:sym typeface="Calibri"/>
              </a:rPr>
              <a:t>A tool that iterates</a:t>
            </a:r>
            <a:endParaRPr sz="1250">
              <a:solidFill>
                <a:schemeClr val="dk1"/>
              </a:solidFill>
              <a:latin typeface="Calibri"/>
              <a:ea typeface="Calibri"/>
              <a:cs typeface="Calibri"/>
              <a:sym typeface="Calibri"/>
            </a:endParaRPr>
          </a:p>
        </p:txBody>
      </p:sp>
      <p:sp>
        <p:nvSpPr>
          <p:cNvPr id="414" name="Google Shape;414;p9"/>
          <p:cNvSpPr/>
          <p:nvPr/>
        </p:nvSpPr>
        <p:spPr>
          <a:xfrm>
            <a:off x="9098280" y="5404104"/>
            <a:ext cx="23774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1" lang="en-US" sz="1050">
                <a:solidFill>
                  <a:srgbClr val="000000"/>
                </a:solidFill>
                <a:latin typeface="Arial"/>
                <a:ea typeface="Arial"/>
                <a:cs typeface="Arial"/>
                <a:sym typeface="Arial"/>
              </a:rPr>
              <a:t>—</a:t>
            </a:r>
            <a:endParaRPr sz="105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19" name="Shape 419"/>
        <p:cNvGrpSpPr/>
        <p:nvPr/>
      </p:nvGrpSpPr>
      <p:grpSpPr>
        <a:xfrm>
          <a:off x="0" y="0"/>
          <a:ext cx="0" cy="0"/>
          <a:chOff x="0" y="0"/>
          <a:chExt cx="0" cy="0"/>
        </a:xfrm>
      </p:grpSpPr>
      <p:sp>
        <p:nvSpPr>
          <p:cNvPr id="420" name="Google Shape;420;p10"/>
          <p:cNvSpPr/>
          <p:nvPr/>
        </p:nvSpPr>
        <p:spPr>
          <a:xfrm>
            <a:off x="662940" y="635508"/>
            <a:ext cx="2194560" cy="384048"/>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10"/>
          <p:cNvSpPr/>
          <p:nvPr/>
        </p:nvSpPr>
        <p:spPr>
          <a:xfrm>
            <a:off x="594360" y="566928"/>
            <a:ext cx="2194560" cy="384048"/>
          </a:xfrm>
          <a:prstGeom prst="rect">
            <a:avLst/>
          </a:prstGeom>
          <a:solidFill>
            <a:srgbClr val="FFE500"/>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10"/>
          <p:cNvSpPr/>
          <p:nvPr/>
        </p:nvSpPr>
        <p:spPr>
          <a:xfrm>
            <a:off x="594360" y="630936"/>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100"/>
              <a:buFont typeface="Arial"/>
              <a:buNone/>
            </a:pPr>
            <a:r>
              <a:rPr b="1" lang="en-US" sz="1100">
                <a:solidFill>
                  <a:srgbClr val="000000"/>
                </a:solidFill>
                <a:latin typeface="Arial"/>
                <a:ea typeface="Arial"/>
                <a:cs typeface="Arial"/>
                <a:sym typeface="Arial"/>
              </a:rPr>
              <a:t>ISSUED TODAY</a:t>
            </a:r>
            <a:endParaRPr sz="1100">
              <a:solidFill>
                <a:schemeClr val="dk1"/>
              </a:solidFill>
              <a:latin typeface="Calibri"/>
              <a:ea typeface="Calibri"/>
              <a:cs typeface="Calibri"/>
              <a:sym typeface="Calibri"/>
            </a:endParaRPr>
          </a:p>
        </p:txBody>
      </p:sp>
      <p:sp>
        <p:nvSpPr>
          <p:cNvPr id="423" name="Google Shape;423;p10"/>
          <p:cNvSpPr/>
          <p:nvPr/>
        </p:nvSpPr>
        <p:spPr>
          <a:xfrm>
            <a:off x="594360" y="1170432"/>
            <a:ext cx="1097280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3200"/>
              <a:buFont typeface="Arial"/>
              <a:buNone/>
            </a:pPr>
            <a:r>
              <a:rPr b="1" lang="en-US" sz="3200">
                <a:solidFill>
                  <a:srgbClr val="FFFDF7"/>
                </a:solidFill>
                <a:latin typeface="Arial"/>
                <a:ea typeface="Arial"/>
                <a:cs typeface="Arial"/>
                <a:sym typeface="Arial"/>
              </a:rPr>
              <a:t>0.2 — VISUAL IDENTITY MANUAL</a:t>
            </a:r>
            <a:endParaRPr sz="3200">
              <a:solidFill>
                <a:schemeClr val="dk1"/>
              </a:solidFill>
              <a:latin typeface="Calibri"/>
              <a:ea typeface="Calibri"/>
              <a:cs typeface="Calibri"/>
              <a:sym typeface="Calibri"/>
            </a:endParaRPr>
          </a:p>
        </p:txBody>
      </p:sp>
      <p:cxnSp>
        <p:nvCxnSpPr>
          <p:cNvPr id="424" name="Google Shape;424;p10"/>
          <p:cNvCxnSpPr/>
          <p:nvPr/>
        </p:nvCxnSpPr>
        <p:spPr>
          <a:xfrm>
            <a:off x="594360" y="1819656"/>
            <a:ext cx="10972800" cy="0"/>
          </a:xfrm>
          <a:prstGeom prst="straightConnector1">
            <a:avLst/>
          </a:prstGeom>
          <a:noFill/>
          <a:ln cap="flat" cmpd="sng" w="50800">
            <a:solidFill>
              <a:srgbClr val="FFFDF7"/>
            </a:solidFill>
            <a:prstDash val="solid"/>
            <a:round/>
            <a:headEnd len="sm" w="sm" type="none"/>
            <a:tailEnd len="sm" w="sm" type="none"/>
          </a:ln>
        </p:spPr>
      </p:cxnSp>
      <p:sp>
        <p:nvSpPr>
          <p:cNvPr id="425" name="Google Shape;425;p10"/>
          <p:cNvSpPr/>
          <p:nvPr/>
        </p:nvSpPr>
        <p:spPr>
          <a:xfrm>
            <a:off x="594360" y="1938528"/>
            <a:ext cx="109728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E500"/>
              </a:buClr>
              <a:buSzPts val="1300"/>
              <a:buFont typeface="Arial"/>
              <a:buNone/>
            </a:pPr>
            <a:r>
              <a:rPr b="1" lang="en-US" sz="1300">
                <a:solidFill>
                  <a:srgbClr val="FFE500"/>
                </a:solidFill>
                <a:latin typeface="Arial"/>
                <a:ea typeface="Arial"/>
                <a:cs typeface="Arial"/>
                <a:sym typeface="Arial"/>
              </a:rPr>
              <a:t>FOUR PAGES. NO MORE. DUE CLASS 4 — SEP 1</a:t>
            </a:r>
            <a:r>
              <a:rPr b="1" lang="en-US" sz="1300">
                <a:solidFill>
                  <a:srgbClr val="FFE500"/>
                </a:solidFill>
              </a:rPr>
              <a:t>5</a:t>
            </a:r>
            <a:endParaRPr sz="1300">
              <a:solidFill>
                <a:schemeClr val="dk1"/>
              </a:solidFill>
              <a:latin typeface="Calibri"/>
              <a:ea typeface="Calibri"/>
              <a:cs typeface="Calibri"/>
              <a:sym typeface="Calibri"/>
            </a:endParaRPr>
          </a:p>
        </p:txBody>
      </p:sp>
      <p:sp>
        <p:nvSpPr>
          <p:cNvPr id="426" name="Google Shape;426;p10"/>
          <p:cNvSpPr/>
          <p:nvPr/>
        </p:nvSpPr>
        <p:spPr>
          <a:xfrm>
            <a:off x="662940" y="2610612"/>
            <a:ext cx="566928" cy="566928"/>
          </a:xfrm>
          <a:prstGeom prst="rect">
            <a:avLst/>
          </a:prstGeom>
          <a:solidFill>
            <a:srgbClr val="FFFDF7"/>
          </a:solidFill>
          <a:ln cap="flat" cmpd="sng" w="9525">
            <a:solidFill>
              <a:srgbClr val="FFFDF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10"/>
          <p:cNvSpPr/>
          <p:nvPr/>
        </p:nvSpPr>
        <p:spPr>
          <a:xfrm>
            <a:off x="594360" y="2542032"/>
            <a:ext cx="566928" cy="566928"/>
          </a:xfrm>
          <a:prstGeom prst="rect">
            <a:avLst/>
          </a:prstGeom>
          <a:solidFill>
            <a:srgbClr val="00D9E1"/>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10"/>
          <p:cNvSpPr/>
          <p:nvPr/>
        </p:nvSpPr>
        <p:spPr>
          <a:xfrm>
            <a:off x="594360" y="2670048"/>
            <a:ext cx="56692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0"/>
              <a:buFont typeface="Arial"/>
              <a:buNone/>
            </a:pPr>
            <a:r>
              <a:rPr b="1" lang="en-US" sz="1600">
                <a:solidFill>
                  <a:srgbClr val="000000"/>
                </a:solidFill>
                <a:latin typeface="Arial"/>
                <a:ea typeface="Arial"/>
                <a:cs typeface="Arial"/>
                <a:sym typeface="Arial"/>
              </a:rPr>
              <a:t>1</a:t>
            </a:r>
            <a:endParaRPr sz="1600">
              <a:solidFill>
                <a:schemeClr val="dk1"/>
              </a:solidFill>
              <a:latin typeface="Calibri"/>
              <a:ea typeface="Calibri"/>
              <a:cs typeface="Calibri"/>
              <a:sym typeface="Calibri"/>
            </a:endParaRPr>
          </a:p>
        </p:txBody>
      </p:sp>
      <p:sp>
        <p:nvSpPr>
          <p:cNvPr id="429" name="Google Shape;429;p10"/>
          <p:cNvSpPr/>
          <p:nvPr/>
        </p:nvSpPr>
        <p:spPr>
          <a:xfrm>
            <a:off x="1463040" y="2670048"/>
            <a:ext cx="9875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450"/>
              <a:buFont typeface="Calibri"/>
              <a:buNone/>
            </a:pPr>
            <a:r>
              <a:rPr lang="en-US" sz="1450">
                <a:solidFill>
                  <a:srgbClr val="FFFDF7"/>
                </a:solidFill>
                <a:latin typeface="Calibri"/>
                <a:ea typeface="Calibri"/>
                <a:cs typeface="Calibri"/>
                <a:sym typeface="Calibri"/>
              </a:rPr>
              <a:t>Typography — typefaces and hierarchy, with sizes</a:t>
            </a:r>
            <a:endParaRPr sz="1450">
              <a:solidFill>
                <a:schemeClr val="dk1"/>
              </a:solidFill>
              <a:latin typeface="Calibri"/>
              <a:ea typeface="Calibri"/>
              <a:cs typeface="Calibri"/>
              <a:sym typeface="Calibri"/>
            </a:endParaRPr>
          </a:p>
        </p:txBody>
      </p:sp>
      <p:sp>
        <p:nvSpPr>
          <p:cNvPr id="430" name="Google Shape;430;p10"/>
          <p:cNvSpPr/>
          <p:nvPr/>
        </p:nvSpPr>
        <p:spPr>
          <a:xfrm>
            <a:off x="662940" y="3323844"/>
            <a:ext cx="566928" cy="566928"/>
          </a:xfrm>
          <a:prstGeom prst="rect">
            <a:avLst/>
          </a:prstGeom>
          <a:solidFill>
            <a:srgbClr val="FFFDF7"/>
          </a:solidFill>
          <a:ln cap="flat" cmpd="sng" w="9525">
            <a:solidFill>
              <a:srgbClr val="FFFDF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10"/>
          <p:cNvSpPr/>
          <p:nvPr/>
        </p:nvSpPr>
        <p:spPr>
          <a:xfrm>
            <a:off x="594360" y="3255264"/>
            <a:ext cx="566928" cy="566928"/>
          </a:xfrm>
          <a:prstGeom prst="rect">
            <a:avLst/>
          </a:prstGeom>
          <a:solidFill>
            <a:srgbClr val="C6F035"/>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p10"/>
          <p:cNvSpPr/>
          <p:nvPr/>
        </p:nvSpPr>
        <p:spPr>
          <a:xfrm>
            <a:off x="594360" y="3383280"/>
            <a:ext cx="56692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0"/>
              <a:buFont typeface="Arial"/>
              <a:buNone/>
            </a:pPr>
            <a:r>
              <a:rPr b="1" lang="en-US" sz="1600">
                <a:solidFill>
                  <a:srgbClr val="000000"/>
                </a:solidFill>
                <a:latin typeface="Arial"/>
                <a:ea typeface="Arial"/>
                <a:cs typeface="Arial"/>
                <a:sym typeface="Arial"/>
              </a:rPr>
              <a:t>2</a:t>
            </a:r>
            <a:endParaRPr sz="1600">
              <a:solidFill>
                <a:schemeClr val="dk1"/>
              </a:solidFill>
              <a:latin typeface="Calibri"/>
              <a:ea typeface="Calibri"/>
              <a:cs typeface="Calibri"/>
              <a:sym typeface="Calibri"/>
            </a:endParaRPr>
          </a:p>
        </p:txBody>
      </p:sp>
      <p:sp>
        <p:nvSpPr>
          <p:cNvPr id="433" name="Google Shape;433;p10"/>
          <p:cNvSpPr/>
          <p:nvPr/>
        </p:nvSpPr>
        <p:spPr>
          <a:xfrm>
            <a:off x="1463040" y="3383280"/>
            <a:ext cx="9875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450"/>
              <a:buFont typeface="Calibri"/>
              <a:buNone/>
            </a:pPr>
            <a:r>
              <a:rPr lang="en-US" sz="1450">
                <a:solidFill>
                  <a:srgbClr val="FFFDF7"/>
                </a:solidFill>
                <a:latin typeface="Calibri"/>
                <a:ea typeface="Calibri"/>
                <a:cs typeface="Calibri"/>
                <a:sym typeface="Calibri"/>
              </a:rPr>
              <a:t>Palette with stated values · line weights with assigned uses</a:t>
            </a:r>
            <a:endParaRPr sz="1450">
              <a:solidFill>
                <a:schemeClr val="dk1"/>
              </a:solidFill>
              <a:latin typeface="Calibri"/>
              <a:ea typeface="Calibri"/>
              <a:cs typeface="Calibri"/>
              <a:sym typeface="Calibri"/>
            </a:endParaRPr>
          </a:p>
        </p:txBody>
      </p:sp>
      <p:sp>
        <p:nvSpPr>
          <p:cNvPr id="434" name="Google Shape;434;p10"/>
          <p:cNvSpPr/>
          <p:nvPr/>
        </p:nvSpPr>
        <p:spPr>
          <a:xfrm>
            <a:off x="662940" y="4037076"/>
            <a:ext cx="566928" cy="566928"/>
          </a:xfrm>
          <a:prstGeom prst="rect">
            <a:avLst/>
          </a:prstGeom>
          <a:solidFill>
            <a:srgbClr val="FFFDF7"/>
          </a:solidFill>
          <a:ln cap="flat" cmpd="sng" w="9525">
            <a:solidFill>
              <a:srgbClr val="FFFDF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10"/>
          <p:cNvSpPr/>
          <p:nvPr/>
        </p:nvSpPr>
        <p:spPr>
          <a:xfrm>
            <a:off x="594360" y="3968496"/>
            <a:ext cx="566928" cy="566928"/>
          </a:xfrm>
          <a:prstGeom prst="rect">
            <a:avLst/>
          </a:prstGeom>
          <a:solidFill>
            <a:srgbClr val="00D9E1"/>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6" name="Google Shape;436;p10"/>
          <p:cNvSpPr/>
          <p:nvPr/>
        </p:nvSpPr>
        <p:spPr>
          <a:xfrm>
            <a:off x="594360" y="4096512"/>
            <a:ext cx="56692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0"/>
              <a:buFont typeface="Arial"/>
              <a:buNone/>
            </a:pPr>
            <a:r>
              <a:rPr b="1" lang="en-US" sz="1600">
                <a:solidFill>
                  <a:srgbClr val="000000"/>
                </a:solidFill>
                <a:latin typeface="Arial"/>
                <a:ea typeface="Arial"/>
                <a:cs typeface="Arial"/>
                <a:sym typeface="Arial"/>
              </a:rPr>
              <a:t>3</a:t>
            </a:r>
            <a:endParaRPr sz="1600">
              <a:solidFill>
                <a:schemeClr val="dk1"/>
              </a:solidFill>
              <a:latin typeface="Calibri"/>
              <a:ea typeface="Calibri"/>
              <a:cs typeface="Calibri"/>
              <a:sym typeface="Calibri"/>
            </a:endParaRPr>
          </a:p>
        </p:txBody>
      </p:sp>
      <p:sp>
        <p:nvSpPr>
          <p:cNvPr id="437" name="Google Shape;437;p10"/>
          <p:cNvSpPr/>
          <p:nvPr/>
        </p:nvSpPr>
        <p:spPr>
          <a:xfrm>
            <a:off x="1463040" y="4096512"/>
            <a:ext cx="9875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450"/>
              <a:buFont typeface="Calibri"/>
              <a:buNone/>
            </a:pPr>
            <a:r>
              <a:rPr lang="en-US" sz="1450">
                <a:solidFill>
                  <a:srgbClr val="FFFDF7"/>
                </a:solidFill>
                <a:latin typeface="Calibri"/>
                <a:ea typeface="Calibri"/>
                <a:cs typeface="Calibri"/>
                <a:sym typeface="Calibri"/>
              </a:rPr>
              <a:t>The 17" × 11" sheet template, grid shown explicitly</a:t>
            </a:r>
            <a:endParaRPr sz="1450">
              <a:solidFill>
                <a:schemeClr val="dk1"/>
              </a:solidFill>
              <a:latin typeface="Calibri"/>
              <a:ea typeface="Calibri"/>
              <a:cs typeface="Calibri"/>
              <a:sym typeface="Calibri"/>
            </a:endParaRPr>
          </a:p>
        </p:txBody>
      </p:sp>
      <p:sp>
        <p:nvSpPr>
          <p:cNvPr id="438" name="Google Shape;438;p10"/>
          <p:cNvSpPr/>
          <p:nvPr/>
        </p:nvSpPr>
        <p:spPr>
          <a:xfrm>
            <a:off x="662940" y="4750308"/>
            <a:ext cx="566928" cy="566928"/>
          </a:xfrm>
          <a:prstGeom prst="rect">
            <a:avLst/>
          </a:prstGeom>
          <a:solidFill>
            <a:srgbClr val="FFFDF7"/>
          </a:solidFill>
          <a:ln cap="flat" cmpd="sng" w="9525">
            <a:solidFill>
              <a:srgbClr val="FFFDF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10"/>
          <p:cNvSpPr/>
          <p:nvPr/>
        </p:nvSpPr>
        <p:spPr>
          <a:xfrm>
            <a:off x="594360" y="4681728"/>
            <a:ext cx="566928" cy="566928"/>
          </a:xfrm>
          <a:prstGeom prst="rect">
            <a:avLst/>
          </a:prstGeom>
          <a:solidFill>
            <a:srgbClr val="C6F035"/>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10"/>
          <p:cNvSpPr/>
          <p:nvPr/>
        </p:nvSpPr>
        <p:spPr>
          <a:xfrm>
            <a:off x="594360" y="4809744"/>
            <a:ext cx="56692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600"/>
              <a:buFont typeface="Arial"/>
              <a:buNone/>
            </a:pPr>
            <a:r>
              <a:rPr b="1" lang="en-US" sz="1600">
                <a:solidFill>
                  <a:srgbClr val="000000"/>
                </a:solidFill>
                <a:latin typeface="Arial"/>
                <a:ea typeface="Arial"/>
                <a:cs typeface="Arial"/>
                <a:sym typeface="Arial"/>
              </a:rPr>
              <a:t>4</a:t>
            </a:r>
            <a:endParaRPr sz="1600">
              <a:solidFill>
                <a:schemeClr val="dk1"/>
              </a:solidFill>
              <a:latin typeface="Calibri"/>
              <a:ea typeface="Calibri"/>
              <a:cs typeface="Calibri"/>
              <a:sym typeface="Calibri"/>
            </a:endParaRPr>
          </a:p>
        </p:txBody>
      </p:sp>
      <p:sp>
        <p:nvSpPr>
          <p:cNvPr id="441" name="Google Shape;441;p10"/>
          <p:cNvSpPr/>
          <p:nvPr/>
        </p:nvSpPr>
        <p:spPr>
          <a:xfrm>
            <a:off x="1463040" y="4809744"/>
            <a:ext cx="9875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DF7"/>
              </a:buClr>
              <a:buSzPts val="1450"/>
              <a:buFont typeface="Calibri"/>
              <a:buNone/>
            </a:pPr>
            <a:r>
              <a:rPr lang="en-US" sz="1450">
                <a:solidFill>
                  <a:srgbClr val="FFFDF7"/>
                </a:solidFill>
                <a:latin typeface="Calibri"/>
                <a:ea typeface="Calibri"/>
                <a:cs typeface="Calibri"/>
                <a:sym typeface="Calibri"/>
              </a:rPr>
              <a:t>A sample sheet, using the system on real work</a:t>
            </a:r>
            <a:endParaRPr sz="1450">
              <a:solidFill>
                <a:schemeClr val="dk1"/>
              </a:solidFill>
              <a:latin typeface="Calibri"/>
              <a:ea typeface="Calibri"/>
              <a:cs typeface="Calibri"/>
              <a:sym typeface="Calibri"/>
            </a:endParaRPr>
          </a:p>
        </p:txBody>
      </p:sp>
      <p:sp>
        <p:nvSpPr>
          <p:cNvPr id="442" name="Google Shape;442;p10"/>
          <p:cNvSpPr/>
          <p:nvPr/>
        </p:nvSpPr>
        <p:spPr>
          <a:xfrm>
            <a:off x="662940" y="5573268"/>
            <a:ext cx="10972800" cy="777240"/>
          </a:xfrm>
          <a:prstGeom prst="rect">
            <a:avLst/>
          </a:prstGeom>
          <a:solidFill>
            <a:srgbClr val="FFE500"/>
          </a:solidFill>
          <a:ln cap="flat" cmpd="sng" w="9525">
            <a:solidFill>
              <a:srgbClr val="FFE5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10"/>
          <p:cNvSpPr/>
          <p:nvPr/>
        </p:nvSpPr>
        <p:spPr>
          <a:xfrm>
            <a:off x="594360" y="5504688"/>
            <a:ext cx="10972800" cy="777240"/>
          </a:xfrm>
          <a:prstGeom prst="rect">
            <a:avLst/>
          </a:prstGeom>
          <a:solidFill>
            <a:srgbClr val="FF4D8D"/>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10"/>
          <p:cNvSpPr/>
          <p:nvPr/>
        </p:nvSpPr>
        <p:spPr>
          <a:xfrm>
            <a:off x="868680" y="5705856"/>
            <a:ext cx="104241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250"/>
              <a:buFont typeface="Calibri"/>
              <a:buNone/>
            </a:pPr>
            <a:r>
              <a:rPr lang="en-US" sz="1250">
                <a:solidFill>
                  <a:srgbClr val="000000"/>
                </a:solidFill>
                <a:latin typeface="Calibri"/>
                <a:ea typeface="Calibri"/>
                <a:cs typeface="Calibri"/>
                <a:sym typeface="Calibri"/>
              </a:rPr>
              <a:t>NO CANVA. NO EXPRESS. NO SLIDES. A template supplies the grid, the hierarchy and the palette — exactly what you're being asked to decide.</a:t>
            </a:r>
            <a:endParaRPr sz="125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7"/>
        </a:solidFill>
      </p:bgPr>
    </p:bg>
    <p:spTree>
      <p:nvGrpSpPr>
        <p:cNvPr id="449" name="Shape 449"/>
        <p:cNvGrpSpPr/>
        <p:nvPr/>
      </p:nvGrpSpPr>
      <p:grpSpPr>
        <a:xfrm>
          <a:off x="0" y="0"/>
          <a:ext cx="0" cy="0"/>
          <a:chOff x="0" y="0"/>
          <a:chExt cx="0" cy="0"/>
        </a:xfrm>
      </p:grpSpPr>
      <p:cxnSp>
        <p:nvCxnSpPr>
          <p:cNvPr id="450" name="Google Shape;450;p11"/>
          <p:cNvCxnSpPr/>
          <p:nvPr/>
        </p:nvCxnSpPr>
        <p:spPr>
          <a:xfrm>
            <a:off x="594360" y="566928"/>
            <a:ext cx="10972800" cy="0"/>
          </a:xfrm>
          <a:prstGeom prst="straightConnector1">
            <a:avLst/>
          </a:prstGeom>
          <a:noFill/>
          <a:ln cap="flat" cmpd="sng" w="50800">
            <a:solidFill>
              <a:srgbClr val="000000"/>
            </a:solidFill>
            <a:prstDash val="solid"/>
            <a:round/>
            <a:headEnd len="sm" w="sm" type="none"/>
            <a:tailEnd len="sm" w="sm" type="none"/>
          </a:ln>
        </p:spPr>
      </p:cxnSp>
      <p:sp>
        <p:nvSpPr>
          <p:cNvPr id="451" name="Google Shape;451;p11"/>
          <p:cNvSpPr/>
          <p:nvPr/>
        </p:nvSpPr>
        <p:spPr>
          <a:xfrm>
            <a:off x="594360" y="676656"/>
            <a:ext cx="10972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300"/>
              <a:buFont typeface="Arial"/>
              <a:buNone/>
            </a:pPr>
            <a:r>
              <a:rPr b="1" lang="en-US" sz="3300">
                <a:solidFill>
                  <a:srgbClr val="000000"/>
                </a:solidFill>
                <a:latin typeface="Arial"/>
                <a:ea typeface="Arial"/>
                <a:cs typeface="Arial"/>
                <a:sym typeface="Arial"/>
              </a:rPr>
              <a:t>BEFORE NEXT CLASS</a:t>
            </a:r>
            <a:endParaRPr sz="3300">
              <a:solidFill>
                <a:schemeClr val="dk1"/>
              </a:solidFill>
              <a:latin typeface="Calibri"/>
              <a:ea typeface="Calibri"/>
              <a:cs typeface="Calibri"/>
              <a:sym typeface="Calibri"/>
            </a:endParaRPr>
          </a:p>
        </p:txBody>
      </p:sp>
      <p:sp>
        <p:nvSpPr>
          <p:cNvPr id="452" name="Google Shape;452;p11"/>
          <p:cNvSpPr/>
          <p:nvPr/>
        </p:nvSpPr>
        <p:spPr>
          <a:xfrm>
            <a:off x="662940" y="1851660"/>
            <a:ext cx="1508760" cy="804672"/>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11"/>
          <p:cNvSpPr/>
          <p:nvPr/>
        </p:nvSpPr>
        <p:spPr>
          <a:xfrm>
            <a:off x="594360" y="1783080"/>
            <a:ext cx="1508760" cy="804672"/>
          </a:xfrm>
          <a:prstGeom prst="rect">
            <a:avLst/>
          </a:prstGeom>
          <a:solidFill>
            <a:srgbClr val="00D9E1"/>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11"/>
          <p:cNvSpPr/>
          <p:nvPr/>
        </p:nvSpPr>
        <p:spPr>
          <a:xfrm>
            <a:off x="594360" y="2029968"/>
            <a:ext cx="15087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1" lang="en-US"/>
              <a:t>MODEL</a:t>
            </a:r>
            <a:endParaRPr sz="1400">
              <a:solidFill>
                <a:schemeClr val="dk1"/>
              </a:solidFill>
              <a:latin typeface="Calibri"/>
              <a:ea typeface="Calibri"/>
              <a:cs typeface="Calibri"/>
              <a:sym typeface="Calibri"/>
            </a:endParaRPr>
          </a:p>
        </p:txBody>
      </p:sp>
      <p:sp>
        <p:nvSpPr>
          <p:cNvPr id="455" name="Google Shape;455;p11"/>
          <p:cNvSpPr/>
          <p:nvPr/>
        </p:nvSpPr>
        <p:spPr>
          <a:xfrm>
            <a:off x="2377440" y="1856232"/>
            <a:ext cx="9052560" cy="685800"/>
          </a:xfrm>
          <a:prstGeom prst="rect">
            <a:avLst/>
          </a:prstGeom>
          <a:noFill/>
          <a:ln>
            <a:noFill/>
          </a:ln>
        </p:spPr>
        <p:txBody>
          <a:bodyPr anchorCtr="0" anchor="ctr" bIns="0" lIns="0" spcFirstLastPara="1" rIns="0" wrap="square" tIns="0">
            <a:noAutofit/>
          </a:bodyPr>
          <a:lstStyle/>
          <a:p>
            <a:pPr indent="0" lvl="0" marL="0" marR="0" rtl="0" algn="l">
              <a:lnSpc>
                <a:spcPct val="140740"/>
              </a:lnSpc>
              <a:spcBef>
                <a:spcPts val="0"/>
              </a:spcBef>
              <a:spcAft>
                <a:spcPts val="0"/>
              </a:spcAft>
              <a:buClr>
                <a:srgbClr val="000000"/>
              </a:buClr>
              <a:buSzPts val="1350"/>
              <a:buFont typeface="Calibri"/>
              <a:buNone/>
            </a:pPr>
            <a:r>
              <a:rPr lang="en-US" sz="1350">
                <a:solidFill>
                  <a:srgbClr val="000000"/>
                </a:solidFill>
                <a:latin typeface="Calibri"/>
                <a:ea typeface="Calibri"/>
                <a:cs typeface="Calibri"/>
                <a:sym typeface="Calibri"/>
              </a:rPr>
              <a:t>Tutorial 0.1 — Grasshopper / Geometry Nodes basics, transformations, Booleans, non-destructive modeling. Sent tonight.</a:t>
            </a:r>
            <a:endParaRPr sz="1350">
              <a:solidFill>
                <a:schemeClr val="dk1"/>
              </a:solidFill>
              <a:latin typeface="Calibri"/>
              <a:ea typeface="Calibri"/>
              <a:cs typeface="Calibri"/>
              <a:sym typeface="Calibri"/>
            </a:endParaRPr>
          </a:p>
        </p:txBody>
      </p:sp>
      <p:sp>
        <p:nvSpPr>
          <p:cNvPr id="456" name="Google Shape;456;p11"/>
          <p:cNvSpPr/>
          <p:nvPr/>
        </p:nvSpPr>
        <p:spPr>
          <a:xfrm>
            <a:off x="662940" y="2912364"/>
            <a:ext cx="1508760" cy="804672"/>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11"/>
          <p:cNvSpPr/>
          <p:nvPr/>
        </p:nvSpPr>
        <p:spPr>
          <a:xfrm>
            <a:off x="594360" y="2843784"/>
            <a:ext cx="1508760" cy="804672"/>
          </a:xfrm>
          <a:prstGeom prst="rect">
            <a:avLst/>
          </a:prstGeom>
          <a:solidFill>
            <a:srgbClr val="FF4D8D"/>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8" name="Google Shape;458;p11"/>
          <p:cNvSpPr/>
          <p:nvPr/>
        </p:nvSpPr>
        <p:spPr>
          <a:xfrm>
            <a:off x="594360" y="3090672"/>
            <a:ext cx="15087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ENROL</a:t>
            </a:r>
            <a:endParaRPr sz="1400">
              <a:solidFill>
                <a:schemeClr val="dk1"/>
              </a:solidFill>
              <a:latin typeface="Calibri"/>
              <a:ea typeface="Calibri"/>
              <a:cs typeface="Calibri"/>
              <a:sym typeface="Calibri"/>
            </a:endParaRPr>
          </a:p>
        </p:txBody>
      </p:sp>
      <p:sp>
        <p:nvSpPr>
          <p:cNvPr id="459" name="Google Shape;459;p11"/>
          <p:cNvSpPr/>
          <p:nvPr/>
        </p:nvSpPr>
        <p:spPr>
          <a:xfrm>
            <a:off x="2377440" y="2916936"/>
            <a:ext cx="9052560" cy="685800"/>
          </a:xfrm>
          <a:prstGeom prst="rect">
            <a:avLst/>
          </a:prstGeom>
          <a:noFill/>
          <a:ln>
            <a:noFill/>
          </a:ln>
        </p:spPr>
        <p:txBody>
          <a:bodyPr anchorCtr="0" anchor="ctr" bIns="0" lIns="0" spcFirstLastPara="1" rIns="0" wrap="square" tIns="0">
            <a:noAutofit/>
          </a:bodyPr>
          <a:lstStyle/>
          <a:p>
            <a:pPr indent="0" lvl="0" marL="0" marR="0" rtl="0" algn="l">
              <a:lnSpc>
                <a:spcPct val="140740"/>
              </a:lnSpc>
              <a:spcBef>
                <a:spcPts val="0"/>
              </a:spcBef>
              <a:spcAft>
                <a:spcPts val="0"/>
              </a:spcAft>
              <a:buClr>
                <a:srgbClr val="000000"/>
              </a:buClr>
              <a:buSzPts val="1350"/>
              <a:buFont typeface="Calibri"/>
              <a:buNone/>
            </a:pPr>
            <a:r>
              <a:rPr lang="en-US" sz="1350">
                <a:solidFill>
                  <a:srgbClr val="000000"/>
                </a:solidFill>
                <a:latin typeface="Calibri"/>
                <a:ea typeface="Calibri"/>
                <a:cs typeface="Calibri"/>
                <a:sym typeface="Calibri"/>
              </a:rPr>
              <a:t>FabLab Safety Orientation on Canvas. Required before you touch any machine — due end of Class 2.</a:t>
            </a:r>
            <a:endParaRPr sz="1350">
              <a:solidFill>
                <a:schemeClr val="dk1"/>
              </a:solidFill>
              <a:latin typeface="Calibri"/>
              <a:ea typeface="Calibri"/>
              <a:cs typeface="Calibri"/>
              <a:sym typeface="Calibri"/>
            </a:endParaRPr>
          </a:p>
        </p:txBody>
      </p:sp>
      <p:sp>
        <p:nvSpPr>
          <p:cNvPr id="460" name="Google Shape;460;p11"/>
          <p:cNvSpPr/>
          <p:nvPr/>
        </p:nvSpPr>
        <p:spPr>
          <a:xfrm>
            <a:off x="662940" y="3973068"/>
            <a:ext cx="1508760" cy="804672"/>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11"/>
          <p:cNvSpPr/>
          <p:nvPr/>
        </p:nvSpPr>
        <p:spPr>
          <a:xfrm>
            <a:off x="594360" y="3904488"/>
            <a:ext cx="1508760" cy="804672"/>
          </a:xfrm>
          <a:prstGeom prst="rect">
            <a:avLst/>
          </a:prstGeom>
          <a:solidFill>
            <a:srgbClr val="C6F035"/>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2" name="Google Shape;462;p11"/>
          <p:cNvSpPr/>
          <p:nvPr/>
        </p:nvSpPr>
        <p:spPr>
          <a:xfrm>
            <a:off x="594360" y="4151376"/>
            <a:ext cx="15087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START</a:t>
            </a:r>
            <a:endParaRPr sz="1400">
              <a:solidFill>
                <a:schemeClr val="dk1"/>
              </a:solidFill>
              <a:latin typeface="Calibri"/>
              <a:ea typeface="Calibri"/>
              <a:cs typeface="Calibri"/>
              <a:sym typeface="Calibri"/>
            </a:endParaRPr>
          </a:p>
        </p:txBody>
      </p:sp>
      <p:sp>
        <p:nvSpPr>
          <p:cNvPr id="463" name="Google Shape;463;p11"/>
          <p:cNvSpPr/>
          <p:nvPr/>
        </p:nvSpPr>
        <p:spPr>
          <a:xfrm>
            <a:off x="2377440" y="3977640"/>
            <a:ext cx="9052560" cy="685800"/>
          </a:xfrm>
          <a:prstGeom prst="rect">
            <a:avLst/>
          </a:prstGeom>
          <a:noFill/>
          <a:ln>
            <a:noFill/>
          </a:ln>
        </p:spPr>
        <p:txBody>
          <a:bodyPr anchorCtr="0" anchor="ctr" bIns="0" lIns="0" spcFirstLastPara="1" rIns="0" wrap="square" tIns="0">
            <a:noAutofit/>
          </a:bodyPr>
          <a:lstStyle/>
          <a:p>
            <a:pPr indent="0" lvl="0" marL="0" marR="0" rtl="0" algn="l">
              <a:lnSpc>
                <a:spcPct val="140740"/>
              </a:lnSpc>
              <a:spcBef>
                <a:spcPts val="0"/>
              </a:spcBef>
              <a:spcAft>
                <a:spcPts val="0"/>
              </a:spcAft>
              <a:buClr>
                <a:srgbClr val="000000"/>
              </a:buClr>
              <a:buSzPts val="1350"/>
              <a:buFont typeface="Calibri"/>
              <a:buNone/>
            </a:pPr>
            <a:r>
              <a:rPr lang="en-US" sz="1350">
                <a:latin typeface="Calibri"/>
                <a:ea typeface="Calibri"/>
                <a:cs typeface="Calibri"/>
                <a:sym typeface="Calibri"/>
              </a:rPr>
              <a:t>visual identity - </a:t>
            </a:r>
            <a:r>
              <a:rPr lang="en-US" sz="1350">
                <a:solidFill>
                  <a:srgbClr val="000000"/>
                </a:solidFill>
                <a:latin typeface="Calibri"/>
                <a:ea typeface="Calibri"/>
                <a:cs typeface="Calibri"/>
                <a:sym typeface="Calibri"/>
              </a:rPr>
              <a:t>Look at how other people build identity systems before you build yours.</a:t>
            </a:r>
            <a:endParaRPr sz="1350">
              <a:solidFill>
                <a:schemeClr val="dk1"/>
              </a:solidFill>
              <a:latin typeface="Calibri"/>
              <a:ea typeface="Calibri"/>
              <a:cs typeface="Calibri"/>
              <a:sym typeface="Calibri"/>
            </a:endParaRPr>
          </a:p>
        </p:txBody>
      </p:sp>
      <p:sp>
        <p:nvSpPr>
          <p:cNvPr id="464" name="Google Shape;464;p11"/>
          <p:cNvSpPr/>
          <p:nvPr/>
        </p:nvSpPr>
        <p:spPr>
          <a:xfrm>
            <a:off x="662940" y="5033772"/>
            <a:ext cx="1508760" cy="804672"/>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11"/>
          <p:cNvSpPr/>
          <p:nvPr/>
        </p:nvSpPr>
        <p:spPr>
          <a:xfrm>
            <a:off x="594360" y="4965192"/>
            <a:ext cx="1508760" cy="804672"/>
          </a:xfrm>
          <a:prstGeom prst="rect">
            <a:avLst/>
          </a:prstGeom>
          <a:solidFill>
            <a:srgbClr val="FFE500"/>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11"/>
          <p:cNvSpPr/>
          <p:nvPr/>
        </p:nvSpPr>
        <p:spPr>
          <a:xfrm>
            <a:off x="594360" y="5212080"/>
            <a:ext cx="15087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Arial"/>
              <a:buNone/>
            </a:pPr>
            <a:r>
              <a:rPr b="1" lang="en-US" sz="1400">
                <a:solidFill>
                  <a:srgbClr val="000000"/>
                </a:solidFill>
                <a:latin typeface="Arial"/>
                <a:ea typeface="Arial"/>
                <a:cs typeface="Arial"/>
                <a:sym typeface="Arial"/>
              </a:rPr>
              <a:t>BRING</a:t>
            </a:r>
            <a:endParaRPr sz="1400">
              <a:solidFill>
                <a:schemeClr val="dk1"/>
              </a:solidFill>
              <a:latin typeface="Calibri"/>
              <a:ea typeface="Calibri"/>
              <a:cs typeface="Calibri"/>
              <a:sym typeface="Calibri"/>
            </a:endParaRPr>
          </a:p>
        </p:txBody>
      </p:sp>
      <p:sp>
        <p:nvSpPr>
          <p:cNvPr id="467" name="Google Shape;467;p11"/>
          <p:cNvSpPr/>
          <p:nvPr/>
        </p:nvSpPr>
        <p:spPr>
          <a:xfrm>
            <a:off x="2377440" y="5038344"/>
            <a:ext cx="9052560" cy="685800"/>
          </a:xfrm>
          <a:prstGeom prst="rect">
            <a:avLst/>
          </a:prstGeom>
          <a:noFill/>
          <a:ln>
            <a:noFill/>
          </a:ln>
        </p:spPr>
        <p:txBody>
          <a:bodyPr anchorCtr="0" anchor="ctr" bIns="0" lIns="0" spcFirstLastPara="1" rIns="0" wrap="square" tIns="0">
            <a:noAutofit/>
          </a:bodyPr>
          <a:lstStyle/>
          <a:p>
            <a:pPr indent="0" lvl="0" marL="0" marR="0" rtl="0" algn="l">
              <a:lnSpc>
                <a:spcPct val="140740"/>
              </a:lnSpc>
              <a:spcBef>
                <a:spcPts val="0"/>
              </a:spcBef>
              <a:spcAft>
                <a:spcPts val="0"/>
              </a:spcAft>
              <a:buClr>
                <a:srgbClr val="000000"/>
              </a:buClr>
              <a:buSzPts val="1350"/>
              <a:buFont typeface="Calibri"/>
              <a:buNone/>
            </a:pPr>
            <a:r>
              <a:rPr lang="en-US" sz="1350">
                <a:solidFill>
                  <a:srgbClr val="000000"/>
                </a:solidFill>
                <a:latin typeface="Calibri"/>
                <a:ea typeface="Calibri"/>
                <a:cs typeface="Calibri"/>
                <a:sym typeface="Calibri"/>
              </a:rPr>
              <a:t>A building you find interesting. Orthogonal massing — no complex curves. You'll rebuild it as a procedure.</a:t>
            </a:r>
            <a:endParaRPr sz="135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00"/>
        </a:solidFill>
      </p:bgPr>
    </p:bg>
    <p:spTree>
      <p:nvGrpSpPr>
        <p:cNvPr id="472" name="Shape 472"/>
        <p:cNvGrpSpPr/>
        <p:nvPr/>
      </p:nvGrpSpPr>
      <p:grpSpPr>
        <a:xfrm>
          <a:off x="0" y="0"/>
          <a:ext cx="0" cy="0"/>
          <a:chOff x="0" y="0"/>
          <a:chExt cx="0" cy="0"/>
        </a:xfrm>
      </p:grpSpPr>
      <p:sp>
        <p:nvSpPr>
          <p:cNvPr id="473" name="Google Shape;473;p12"/>
          <p:cNvSpPr/>
          <p:nvPr/>
        </p:nvSpPr>
        <p:spPr>
          <a:xfrm>
            <a:off x="662940" y="1485900"/>
            <a:ext cx="6949440" cy="100584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12"/>
          <p:cNvSpPr/>
          <p:nvPr/>
        </p:nvSpPr>
        <p:spPr>
          <a:xfrm>
            <a:off x="594360" y="1417320"/>
            <a:ext cx="6949440" cy="1005840"/>
          </a:xfrm>
          <a:prstGeom prst="rect">
            <a:avLst/>
          </a:prstGeom>
          <a:solidFill>
            <a:srgbClr val="00D9E1"/>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12"/>
          <p:cNvSpPr/>
          <p:nvPr/>
        </p:nvSpPr>
        <p:spPr>
          <a:xfrm>
            <a:off x="960120" y="1691640"/>
            <a:ext cx="6400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000"/>
              <a:buFont typeface="Arial"/>
              <a:buNone/>
            </a:pPr>
            <a:r>
              <a:rPr b="1" lang="en-US" sz="3000">
                <a:solidFill>
                  <a:srgbClr val="000000"/>
                </a:solidFill>
                <a:latin typeface="Arial"/>
                <a:ea typeface="Arial"/>
                <a:cs typeface="Arial"/>
                <a:sym typeface="Arial"/>
              </a:rPr>
              <a:t>PROCEDURAL</a:t>
            </a:r>
            <a:endParaRPr sz="3000">
              <a:solidFill>
                <a:schemeClr val="dk1"/>
              </a:solidFill>
              <a:latin typeface="Calibri"/>
              <a:ea typeface="Calibri"/>
              <a:cs typeface="Calibri"/>
              <a:sym typeface="Calibri"/>
            </a:endParaRPr>
          </a:p>
        </p:txBody>
      </p:sp>
      <p:sp>
        <p:nvSpPr>
          <p:cNvPr id="476" name="Google Shape;476;p12"/>
          <p:cNvSpPr/>
          <p:nvPr/>
        </p:nvSpPr>
        <p:spPr>
          <a:xfrm rot="10800000">
            <a:off x="3840480" y="2459736"/>
            <a:ext cx="365760" cy="310896"/>
          </a:xfrm>
          <a:prstGeom prst="triangle">
            <a:avLst>
              <a:gd fmla="val 50000" name="adj"/>
            </a:avLst>
          </a:prstGeom>
          <a:solidFill>
            <a:srgbClr val="000000"/>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12"/>
          <p:cNvSpPr/>
          <p:nvPr/>
        </p:nvSpPr>
        <p:spPr>
          <a:xfrm>
            <a:off x="662940" y="2720340"/>
            <a:ext cx="6949440" cy="100584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12"/>
          <p:cNvSpPr/>
          <p:nvPr/>
        </p:nvSpPr>
        <p:spPr>
          <a:xfrm>
            <a:off x="594360" y="2651760"/>
            <a:ext cx="6949440" cy="1005840"/>
          </a:xfrm>
          <a:prstGeom prst="rect">
            <a:avLst/>
          </a:prstGeom>
          <a:solidFill>
            <a:srgbClr val="C6F035"/>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12"/>
          <p:cNvSpPr/>
          <p:nvPr/>
        </p:nvSpPr>
        <p:spPr>
          <a:xfrm>
            <a:off x="960120" y="2926080"/>
            <a:ext cx="6400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000"/>
              <a:buFont typeface="Arial"/>
              <a:buNone/>
            </a:pPr>
            <a:r>
              <a:rPr b="1" lang="en-US" sz="3000">
                <a:solidFill>
                  <a:srgbClr val="000000"/>
                </a:solidFill>
                <a:latin typeface="Arial"/>
                <a:ea typeface="Arial"/>
                <a:cs typeface="Arial"/>
                <a:sym typeface="Arial"/>
              </a:rPr>
              <a:t>PARAMETRIC</a:t>
            </a:r>
            <a:endParaRPr sz="3000">
              <a:solidFill>
                <a:schemeClr val="dk1"/>
              </a:solidFill>
              <a:latin typeface="Calibri"/>
              <a:ea typeface="Calibri"/>
              <a:cs typeface="Calibri"/>
              <a:sym typeface="Calibri"/>
            </a:endParaRPr>
          </a:p>
        </p:txBody>
      </p:sp>
      <p:sp>
        <p:nvSpPr>
          <p:cNvPr id="480" name="Google Shape;480;p12"/>
          <p:cNvSpPr/>
          <p:nvPr/>
        </p:nvSpPr>
        <p:spPr>
          <a:xfrm rot="10800000">
            <a:off x="3840480" y="3694176"/>
            <a:ext cx="365760" cy="310896"/>
          </a:xfrm>
          <a:prstGeom prst="triangle">
            <a:avLst>
              <a:gd fmla="val 50000" name="adj"/>
            </a:avLst>
          </a:prstGeom>
          <a:solidFill>
            <a:srgbClr val="000000"/>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12"/>
          <p:cNvSpPr/>
          <p:nvPr/>
        </p:nvSpPr>
        <p:spPr>
          <a:xfrm>
            <a:off x="662940" y="3954780"/>
            <a:ext cx="6949440" cy="100584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12"/>
          <p:cNvSpPr/>
          <p:nvPr/>
        </p:nvSpPr>
        <p:spPr>
          <a:xfrm>
            <a:off x="594360" y="3886200"/>
            <a:ext cx="6949440" cy="1005840"/>
          </a:xfrm>
          <a:prstGeom prst="rect">
            <a:avLst/>
          </a:prstGeom>
          <a:solidFill>
            <a:srgbClr val="FF4D8D"/>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3" name="Google Shape;483;p12"/>
          <p:cNvSpPr/>
          <p:nvPr/>
        </p:nvSpPr>
        <p:spPr>
          <a:xfrm>
            <a:off x="960120" y="4160520"/>
            <a:ext cx="6400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3000"/>
              <a:buFont typeface="Arial"/>
              <a:buNone/>
            </a:pPr>
            <a:r>
              <a:rPr b="1" lang="en-US" sz="3000">
                <a:solidFill>
                  <a:srgbClr val="000000"/>
                </a:solidFill>
                <a:latin typeface="Arial"/>
                <a:ea typeface="Arial"/>
                <a:cs typeface="Arial"/>
                <a:sym typeface="Arial"/>
              </a:rPr>
              <a:t>GENERATIVE</a:t>
            </a:r>
            <a:endParaRPr sz="3000">
              <a:solidFill>
                <a:schemeClr val="dk1"/>
              </a:solidFill>
              <a:latin typeface="Calibri"/>
              <a:ea typeface="Calibri"/>
              <a:cs typeface="Calibri"/>
              <a:sym typeface="Calibri"/>
            </a:endParaRPr>
          </a:p>
        </p:txBody>
      </p:sp>
      <p:sp>
        <p:nvSpPr>
          <p:cNvPr id="484" name="Google Shape;484;p12"/>
          <p:cNvSpPr/>
          <p:nvPr/>
        </p:nvSpPr>
        <p:spPr>
          <a:xfrm>
            <a:off x="662940" y="5417820"/>
            <a:ext cx="3840480" cy="77724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12"/>
          <p:cNvSpPr/>
          <p:nvPr/>
        </p:nvSpPr>
        <p:spPr>
          <a:xfrm>
            <a:off x="594360" y="5349240"/>
            <a:ext cx="3840480" cy="777240"/>
          </a:xfrm>
          <a:prstGeom prst="rect">
            <a:avLst/>
          </a:prstGeom>
          <a:solidFill>
            <a:srgbClr val="000000"/>
          </a:solidFill>
          <a:ln cap="flat" cmpd="sng" w="349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12"/>
          <p:cNvSpPr/>
          <p:nvPr/>
        </p:nvSpPr>
        <p:spPr>
          <a:xfrm>
            <a:off x="594360" y="5541264"/>
            <a:ext cx="3840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E500"/>
              </a:buClr>
              <a:buSzPts val="2200"/>
              <a:buFont typeface="Arial"/>
              <a:buNone/>
            </a:pPr>
            <a:r>
              <a:rPr b="1" lang="en-US" sz="2200">
                <a:solidFill>
                  <a:srgbClr val="FFE500"/>
                </a:solidFill>
                <a:latin typeface="Arial"/>
                <a:ea typeface="Arial"/>
                <a:cs typeface="Arial"/>
                <a:sym typeface="Arial"/>
              </a:rPr>
              <a:t>QUESTIONS.</a:t>
            </a:r>
            <a:endParaRPr sz="2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2026-08-21T17:24:11Z</dcterms:created>
  <dc:creator>Luis Pacheco Alcala</dc:creator>
</cp:coreProperties>
</file>