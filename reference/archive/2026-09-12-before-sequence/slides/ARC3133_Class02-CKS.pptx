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f5y2hIz4QinRdKz+irGVattIX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8b8c37f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f8b8c37f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8b8c37f3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LEARNING ABOUT NON DESTRUCTIve MODELING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ANYONE TELL ME WHAT THEY THINK NON DESTRUCTIVE MODELING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MEANS BUILDING GEOMETRY WHILE KEEPING THE SET OF INSTRUCTIONS EDITABLE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INSTEAD OF TREATING A MODEL AS ONE finished project/object/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re treating it as a result of sequence of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 can be editable.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Imagine making a cake. Destructive modeling gives you the finished cake but throws away the recipe. Non-destructive modeling keeps the recipe, ingredients, and steps available, so we can change something and make an updated cake 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recipe will be represented as a graph, or intructions, or collected of connected nodes, or connected grasshopper components.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graph is a visual chain of instructions. Each rectangular node performs one job. It receives information through its inputs, processes that information, and produces an output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you may have realized while working on grasshopper and geometry nodes, information flows from left to right,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node/ component is the </a:t>
            </a:r>
            <a:r>
              <a:rPr lang="en-US"/>
              <a:t>instruction</a:t>
            </a:r>
            <a:r>
              <a:rPr lang="en-US"/>
              <a:t>, the wires carry the information in the flow,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can be number, point, direction, shape, a list of shapes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geometry is an output,  but it remains dependent on its instructions. We are not manually sculpting a final, isolated object; the software is continually generating it from our graph.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means editable and connected. If I change the box width at the beginning, the Move and Boolean operations downstream receive the new box and recalculate automatically. The software executes the instructions again using the updated information.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COME ACROSS ERRORS,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EACH COMPONENT/NODE TO FIND WHAT THE ISSUE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wrong number of geometries, check each node, is this an accidental duplication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error, then walk backwards. </a:t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“In the destructive example, the box and sphere are combined into a final mesh, and the earlier operation history is discarded. If I later want a larger opening, I may no longer have the original sphere available to edit.”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“In the non-destructive version, the cube, sphere, sphere radius, and subtraction remain separate parts of the graph. I can change the sphere’s radius, and the subtraction recalculates.”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main objective of this class is right here, the understanding on non destructive modeling and implementing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we move to the next slide, i want you all to download blender if you have not yet. start the downloads , so we can give it some time to install. 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you all know boolean difference, union, intersection, you should have already done some in the tutorials, but let me know.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matters. If I subtract a sphere from a box, I get a box with a spherical opening. If I subtract the box from the sphere, I get the portions of the sphere outside the box.”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the tutorial it was shown which is a and b but sometimes, if you are trying to do one of these booleans and it fails, try reversing them</a:t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“The software locates things using coordinates. A point written as (x,y,z)(x,y,z) tells us its position along three axes.” can anyone tell me what a vector is?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“A vector is basically an arrow telling the geometry how far and in which direction to move.”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move something, we add a displacement to its current coordinates.”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“Scaling multiplies the distance between points and the scale center.”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“Rotation is a little different because movement along x changes the y-position and movement along y changes the x-position.”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matters here too.</a:t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assignment will be to create a massing diagram similar to bjarke ingles but now with visual scripting, grasshopper/ blender geometry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will pick a precedent, you should have 3 buildings for today and you will reverse-engineer an existing building and propose a sequence of simpler operations that could produce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what procedural modelling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successful submission should allow someone to understand the procedure without watching you build the model.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“A primitive is a basic geometric starting shape, such as a box, sphere, cylinder, or cone.”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similar to how you modelled the CSG, Constructive Solid Geometry (CSG) , you will breakdown your building into steps, similar to how you have done in other semesters, but now model it with grasshopper or geometry nodes. the requirements r xxxx</a:t>
            </a:r>
            <a:endParaRPr/>
          </a:p>
        </p:txBody>
      </p:sp>
      <p:sp>
        <p:nvSpPr>
          <p:cNvPr id="297" name="Google Shape;2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dont recall if i touched on this last week,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this way of thinking and modelling is what is called procedural modelling but is also called pseudo code.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were to start coding python, java or any other coding language, this would be the first thing to understand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“Pseudocode is a written description that borrows the structure of programming without requiring exact software syntax. It allows us to communicate an algorithm clearly.”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anyone tell me what the box , xyz could also stand for? its not just w x l x d they r the parameters that make up these primitives.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understand this, and apply this logic to grasshopper too</a:t>
            </a:r>
            <a:endParaRPr/>
          </a:p>
        </p:txBody>
      </p:sp>
      <p:sp>
        <p:nvSpPr>
          <p:cNvPr id="327" name="Google Shape;3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were going to dive more into python but this is here for additional information on </a:t>
            </a:r>
            <a:r>
              <a:rPr lang="en-US"/>
              <a:t>procedural</a:t>
            </a:r>
            <a:r>
              <a:rPr lang="en-US"/>
              <a:t> pseudocode</a:t>
            </a:r>
            <a:endParaRPr/>
          </a:p>
        </p:txBody>
      </p:sp>
      <p:sp>
        <p:nvSpPr>
          <p:cNvPr id="368" name="Google Shape;3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Choose a building whose major form can be explained with basic solids and basic </a:t>
            </a:r>
            <a:r>
              <a:rPr lang="en-US"/>
              <a:t>movements</a:t>
            </a:r>
            <a:r>
              <a:rPr lang="en-US"/>
              <a:t>/ scale/ rotations. send your buildings in this chat in the khouri sader chat.</a:t>
            </a:r>
            <a:endParaRPr/>
          </a:p>
        </p:txBody>
      </p:sp>
      <p:sp>
        <p:nvSpPr>
          <p:cNvPr id="394" name="Google Shape;3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FROM PPT</a:t>
            </a:r>
            <a:endParaRPr/>
          </a:p>
        </p:txBody>
      </p:sp>
      <p:sp>
        <p:nvSpPr>
          <p:cNvPr id="424" name="Google Shape;4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ppt</a:t>
            </a:r>
            <a:endParaRPr/>
          </a:p>
        </p:txBody>
      </p:sp>
      <p:sp>
        <p:nvSpPr>
          <p:cNvPr id="454" name="Google Shape;4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will send the tutorial for you to watch and </a:t>
            </a:r>
            <a:r>
              <a:rPr lang="en-US"/>
              <a:t>implement</a:t>
            </a:r>
            <a:r>
              <a:rPr lang="en-US"/>
              <a:t> make2d to make vector graphics from grasshopper to rhino for the diagrams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also the blender version of make2d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b8c37f3b_0_0"/>
          <p:cNvSpPr/>
          <p:nvPr/>
        </p:nvSpPr>
        <p:spPr>
          <a:xfrm>
            <a:off x="1005840" y="2240280"/>
            <a:ext cx="93270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/>
              <a:t>DOWNLOAD BLENDER IF YOU ARE HERE EARLY :)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9E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02  /  SEP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2940" y="2125980"/>
            <a:ext cx="10149840" cy="1828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94360" y="2057400"/>
            <a:ext cx="10149840" cy="18288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005840" y="2240280"/>
            <a:ext cx="9326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NON-DESTRUCTIVE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62940" y="4229100"/>
            <a:ext cx="7680960" cy="56692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94360" y="4160520"/>
            <a:ext cx="7680960" cy="566928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68680" y="427939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ASSIGNMENT 0.1 ISSUED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94360" y="5870448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FALL 2026   </a:t>
            </a:r>
            <a:r>
              <a:rPr b="1" lang="en-US" sz="1050"/>
              <a:t>|</a:t>
            </a:r>
            <a:r>
              <a:rPr b="1"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-US" sz="1050"/>
              <a:t>WEDNESDAY 9 AM   | CHRISTINE KHOURI SADER									HEAD COORDINATOR: </a:t>
            </a:r>
            <a:r>
              <a:rPr b="1" lang="en-US" sz="1050">
                <a:solidFill>
                  <a:srgbClr val="000000"/>
                </a:solidFill>
              </a:rPr>
              <a:t>LUIS PACHECO ALCALA</a:t>
            </a:r>
            <a:endParaRPr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94360" y="6162948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050"/>
              <a:t>CSADER2015@FAU.EDU</a:t>
            </a:r>
            <a:endParaRPr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2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TUTORIAL 0.1 — THE LOGIC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62940" y="1805940"/>
            <a:ext cx="777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94360" y="1737360"/>
            <a:ext cx="777240" cy="77724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94360" y="1956816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714500" y="1805940"/>
            <a:ext cx="9921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645920" y="1737360"/>
            <a:ext cx="9921240" cy="77724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920240" y="1837944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GRAPH/</a:t>
            </a:r>
            <a:r>
              <a:rPr b="1" lang="en-US" sz="1350"/>
              <a:t>COMPONENT/NODE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CHAIN OF OPERATIONS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920240" y="2148840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Each node takes something in, does one thing, passes it 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62940" y="2866644"/>
            <a:ext cx="777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94360" y="2798064"/>
            <a:ext cx="777240" cy="77724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94360" y="301752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714500" y="2866644"/>
            <a:ext cx="9921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645920" y="2798064"/>
            <a:ext cx="9921240" cy="77724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1920240" y="2898648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FLOWS LEFT TO RIGHT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920240" y="3209544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If a result is wrong, walk backwards until it stops being wrong.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62940" y="3927348"/>
            <a:ext cx="777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94360" y="3858768"/>
            <a:ext cx="777240" cy="777240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94360" y="4078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714500" y="3927348"/>
            <a:ext cx="9921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645920" y="3858768"/>
            <a:ext cx="9921240" cy="77724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920240" y="3959352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GEOMETRY IS AN OUTPUT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920240" y="4270248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Nothing is 'made'. The graph describes how to make it, every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62940" y="4988052"/>
            <a:ext cx="777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94360" y="4919472"/>
            <a:ext cx="777240" cy="777240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94360" y="5138928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714500" y="4988052"/>
            <a:ext cx="992124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1645920" y="4919472"/>
            <a:ext cx="9921240" cy="77724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920240" y="502005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INPUT STAYS 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920240" y="5330952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Change a number at the start and everything downstream recomputes.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3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FFDF7"/>
                </a:solidFill>
              </a:rPr>
              <a:t>ERRORS?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62940" y="1897380"/>
            <a:ext cx="5486400" cy="169164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94360" y="1828800"/>
            <a:ext cx="5486400" cy="169164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14400" y="208483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NOTHING APPEARS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914400" y="2560320"/>
            <a:ext cx="484632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914400" y="269748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Usually a preview toggled off, or a node not connected to output.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46520" y="1897380"/>
            <a:ext cx="5486400" cy="169164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377940" y="1828800"/>
            <a:ext cx="5486400" cy="169164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697980" y="208483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WRONG NUMBER OF THINGS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6697980" y="2560320"/>
            <a:ext cx="484632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6697980" y="269748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list where a single item was expected, or the reverse.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62940" y="3863340"/>
            <a:ext cx="5486400" cy="169164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94360" y="3794760"/>
            <a:ext cx="5486400" cy="169164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14400" y="405079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WORKED, THEN STOPPED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914400" y="4526280"/>
            <a:ext cx="484632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914400" y="466344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 upstream changed. Walk backwards node by node.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46520" y="3863340"/>
            <a:ext cx="5486400" cy="169164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377940" y="3794760"/>
            <a:ext cx="5486400" cy="169164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697980" y="405079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NODE IS ORANGE / 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6697980" y="4526280"/>
            <a:ext cx="484632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/>
          <p:nvPr/>
        </p:nvSpPr>
        <p:spPr>
          <a:xfrm>
            <a:off x="6697980" y="466344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telling you what it needs. Read the message before changing anything.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4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NON-DESTRUCTIVE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62940" y="1805940"/>
            <a:ext cx="5349240" cy="3794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94360" y="1737360"/>
            <a:ext cx="5349240" cy="37947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94360" y="1737360"/>
            <a:ext cx="5349240" cy="548640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68680" y="1847088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DESTRUCTIVE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86968" y="2697480"/>
            <a:ext cx="1371600" cy="566928"/>
          </a:xfrm>
          <a:prstGeom prst="rect">
            <a:avLst/>
          </a:prstGeom>
          <a:solidFill>
            <a:srgbClr val="E4E4DE"/>
          </a:solidFill>
          <a:ln cap="flat" cmpd="sng" w="28575">
            <a:solidFill>
              <a:srgbClr val="B4B4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86968" y="28437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9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A9A92"/>
                </a:solidFill>
                <a:latin typeface="Arial"/>
                <a:ea typeface="Arial"/>
                <a:cs typeface="Arial"/>
                <a:sym typeface="Arial"/>
              </a:rPr>
              <a:t>CUBE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996696" y="2807208"/>
            <a:ext cx="1152144" cy="347472"/>
          </a:xfrm>
          <a:prstGeom prst="straightConnector1">
            <a:avLst/>
          </a:prstGeom>
          <a:noFill/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 flipH="1" rot="10800000">
            <a:off x="996696" y="2807208"/>
            <a:ext cx="1152144" cy="347472"/>
          </a:xfrm>
          <a:prstGeom prst="straightConnector1">
            <a:avLst/>
          </a:prstGeom>
          <a:noFill/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4"/>
          <p:cNvSpPr/>
          <p:nvPr/>
        </p:nvSpPr>
        <p:spPr>
          <a:xfrm rot="5400000">
            <a:off x="2331720" y="2798064"/>
            <a:ext cx="310896" cy="365760"/>
          </a:xfrm>
          <a:prstGeom prst="triangle">
            <a:avLst>
              <a:gd fmla="val 50000" name="adj"/>
            </a:avLst>
          </a:prstGeom>
          <a:solidFill>
            <a:srgbClr val="B4B4A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514600" y="2697480"/>
            <a:ext cx="1371600" cy="566928"/>
          </a:xfrm>
          <a:prstGeom prst="rect">
            <a:avLst/>
          </a:prstGeom>
          <a:solidFill>
            <a:srgbClr val="E4E4DE"/>
          </a:solidFill>
          <a:ln cap="flat" cmpd="sng" w="28575">
            <a:solidFill>
              <a:srgbClr val="B4B4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2514600" y="28437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9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A9A92"/>
                </a:solidFill>
                <a:latin typeface="Arial"/>
                <a:ea typeface="Arial"/>
                <a:cs typeface="Arial"/>
                <a:sym typeface="Arial"/>
              </a:rPr>
              <a:t>SPHERE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4"/>
          <p:cNvCxnSpPr/>
          <p:nvPr/>
        </p:nvCxnSpPr>
        <p:spPr>
          <a:xfrm>
            <a:off x="2624328" y="2807208"/>
            <a:ext cx="1152144" cy="347472"/>
          </a:xfrm>
          <a:prstGeom prst="straightConnector1">
            <a:avLst/>
          </a:prstGeom>
          <a:noFill/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/>
          <p:nvPr/>
        </p:nvCxnSpPr>
        <p:spPr>
          <a:xfrm flipH="1" rot="10800000">
            <a:off x="2624328" y="2807208"/>
            <a:ext cx="1152144" cy="347472"/>
          </a:xfrm>
          <a:prstGeom prst="straightConnector1">
            <a:avLst/>
          </a:prstGeom>
          <a:noFill/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 rot="5400000">
            <a:off x="3959352" y="2798064"/>
            <a:ext cx="310896" cy="365760"/>
          </a:xfrm>
          <a:prstGeom prst="triangle">
            <a:avLst>
              <a:gd fmla="val 50000" name="adj"/>
            </a:avLst>
          </a:prstGeom>
          <a:solidFill>
            <a:srgbClr val="B4B4A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142232" y="2697480"/>
            <a:ext cx="1371600" cy="566928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142232" y="28437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8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D8D"/>
                </a:solidFill>
                <a:latin typeface="Arial"/>
                <a:ea typeface="Arial"/>
                <a:cs typeface="Arial"/>
                <a:sym typeface="Arial"/>
              </a:rPr>
              <a:t>ONE MESH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86968" y="3310128"/>
            <a:ext cx="2999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9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A9A92"/>
                </a:solidFill>
                <a:latin typeface="Calibri"/>
                <a:ea typeface="Calibri"/>
                <a:cs typeface="Calibri"/>
                <a:sym typeface="Calibri"/>
              </a:rPr>
              <a:t>gone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4892040" y="3291840"/>
            <a:ext cx="0" cy="621792"/>
          </a:xfrm>
          <a:prstGeom prst="straightConnector1">
            <a:avLst/>
          </a:prstGeom>
          <a:noFill/>
          <a:ln cap="flat" cmpd="sng" w="38100">
            <a:solidFill>
              <a:srgbClr val="FF4D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4"/>
          <p:cNvCxnSpPr/>
          <p:nvPr/>
        </p:nvCxnSpPr>
        <p:spPr>
          <a:xfrm>
            <a:off x="1463040" y="3913632"/>
            <a:ext cx="3429000" cy="0"/>
          </a:xfrm>
          <a:prstGeom prst="straightConnector1">
            <a:avLst/>
          </a:prstGeom>
          <a:noFill/>
          <a:ln cap="flat" cmpd="sng" w="38100">
            <a:solidFill>
              <a:srgbClr val="FF4D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4"/>
          <p:cNvSpPr/>
          <p:nvPr/>
        </p:nvSpPr>
        <p:spPr>
          <a:xfrm rot="-5400000">
            <a:off x="1143000" y="3730752"/>
            <a:ext cx="310896" cy="365760"/>
          </a:xfrm>
          <a:prstGeom prst="triangle">
            <a:avLst>
              <a:gd fmla="val 50000" name="adj"/>
            </a:avLst>
          </a:prstGeom>
          <a:solidFill>
            <a:srgbClr val="FF4D8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1417320" y="4023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8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D8D"/>
                </a:solidFill>
                <a:latin typeface="Arial"/>
                <a:ea typeface="Arial"/>
                <a:cs typeface="Arial"/>
                <a:sym typeface="Arial"/>
              </a:rPr>
              <a:t>REBUILD FROM SCRATCH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86968" y="4617720"/>
            <a:ext cx="47640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 operations were discarded. The sphere no longer exists as anything you can edit.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286500" y="1805940"/>
            <a:ext cx="5349240" cy="3794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217920" y="1737360"/>
            <a:ext cx="5349240" cy="37947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217920" y="1737360"/>
            <a:ext cx="5349240" cy="54864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492240" y="1847088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NON-DESTRUCTIVE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178040" y="2578608"/>
            <a:ext cx="1280160" cy="502920"/>
          </a:xfrm>
          <a:prstGeom prst="rect">
            <a:avLst/>
          </a:prstGeom>
          <a:solidFill>
            <a:srgbClr val="FFFDF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178040" y="26974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178040" y="3401568"/>
            <a:ext cx="1280160" cy="502920"/>
          </a:xfrm>
          <a:prstGeom prst="rect">
            <a:avLst/>
          </a:prstGeom>
          <a:solidFill>
            <a:srgbClr val="C6F03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178040" y="35204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869680" y="2990088"/>
            <a:ext cx="1188720" cy="502920"/>
          </a:xfrm>
          <a:prstGeom prst="rect">
            <a:avLst/>
          </a:prstGeom>
          <a:solidFill>
            <a:srgbClr val="FFFDF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869680" y="31089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287000" y="2990088"/>
            <a:ext cx="1051560" cy="502920"/>
          </a:xfrm>
          <a:prstGeom prst="rect">
            <a:avLst/>
          </a:prstGeom>
          <a:solidFill>
            <a:srgbClr val="FFE5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0287000" y="310896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8458200" y="2825496"/>
            <a:ext cx="411480" cy="30175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4"/>
          <p:cNvCxnSpPr/>
          <p:nvPr/>
        </p:nvCxnSpPr>
        <p:spPr>
          <a:xfrm flipH="1" rot="10800000">
            <a:off x="8458200" y="3401568"/>
            <a:ext cx="411480" cy="24688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4"/>
          <p:cNvCxnSpPr/>
          <p:nvPr/>
        </p:nvCxnSpPr>
        <p:spPr>
          <a:xfrm>
            <a:off x="10058400" y="323697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 rot="5400000">
            <a:off x="6720840" y="3465576"/>
            <a:ext cx="310896" cy="365760"/>
          </a:xfrm>
          <a:prstGeom prst="triangle">
            <a:avLst>
              <a:gd fmla="val 50000" name="adj"/>
            </a:avLst>
          </a:prstGeom>
          <a:solidFill>
            <a:srgbClr val="FF4D8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355080" y="39502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8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4D8D"/>
                </a:solidFill>
                <a:latin typeface="Arial"/>
                <a:ea typeface="Arial"/>
                <a:cs typeface="Arial"/>
                <a:sym typeface="Arial"/>
              </a:rPr>
              <a:t>CHANGE r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732520" y="40233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EVERYTHING DOWNSTREAM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510528" y="4617720"/>
            <a:ext cx="47640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Every input is still a live node. Edit it and the result rebuilds itself.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62940" y="5783580"/>
            <a:ext cx="10972800" cy="6583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94360" y="5715000"/>
            <a:ext cx="10972800" cy="658368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914400" y="587959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0.1 REQUIRES YOUR OPERATION HISTORY TO BE INTACT. I WILL ASK TO SEE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5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BOOLEANS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Everything in Module 0 is built from these, applied in order.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25780" y="1988820"/>
            <a:ext cx="3200400" cy="2926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57200" y="1920240"/>
            <a:ext cx="3200400" cy="2926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005840" y="2331720"/>
            <a:ext cx="2103120" cy="1463040"/>
          </a:xfrm>
          <a:prstGeom prst="rect">
            <a:avLst/>
          </a:prstGeom>
          <a:solidFill>
            <a:srgbClr val="FFFDF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005840" y="2331720"/>
            <a:ext cx="1388059" cy="1463040"/>
          </a:xfrm>
          <a:prstGeom prst="rect">
            <a:avLst/>
          </a:prstGeom>
          <a:solidFill>
            <a:srgbClr val="C6F03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931213" y="2580437"/>
            <a:ext cx="1093622" cy="965606"/>
          </a:xfrm>
          <a:prstGeom prst="ellipse">
            <a:avLst/>
          </a:prstGeom>
          <a:solidFill>
            <a:srgbClr val="C6F03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5"/>
          <p:cNvCxnSpPr/>
          <p:nvPr/>
        </p:nvCxnSpPr>
        <p:spPr>
          <a:xfrm>
            <a:off x="731520" y="4023360"/>
            <a:ext cx="26517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731520" y="415137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31520" y="451713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A +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49140" y="1988820"/>
            <a:ext cx="3200400" cy="2926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480560" y="1920240"/>
            <a:ext cx="3200400" cy="2926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029200" y="2331720"/>
            <a:ext cx="2103120" cy="1463040"/>
          </a:xfrm>
          <a:prstGeom prst="rect">
            <a:avLst/>
          </a:prstGeom>
          <a:solidFill>
            <a:srgbClr val="FFFDF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029200" y="2331720"/>
            <a:ext cx="1388059" cy="1463040"/>
          </a:xfrm>
          <a:prstGeom prst="rect">
            <a:avLst/>
          </a:prstGeom>
          <a:solidFill>
            <a:srgbClr val="FF4D8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954573" y="2580437"/>
            <a:ext cx="1093622" cy="965606"/>
          </a:xfrm>
          <a:prstGeom prst="ellipse">
            <a:avLst/>
          </a:prstGeom>
          <a:solidFill>
            <a:srgbClr val="FFFDF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5"/>
          <p:cNvCxnSpPr/>
          <p:nvPr/>
        </p:nvCxnSpPr>
        <p:spPr>
          <a:xfrm>
            <a:off x="4754880" y="4023360"/>
            <a:ext cx="26517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4754880" y="415137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54880" y="451713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A −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572500" y="1988820"/>
            <a:ext cx="3200400" cy="2926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8503920" y="1920240"/>
            <a:ext cx="3200400" cy="2926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9052560" y="2331720"/>
            <a:ext cx="2103120" cy="1463040"/>
          </a:xfrm>
          <a:prstGeom prst="rect">
            <a:avLst/>
          </a:prstGeom>
          <a:solidFill>
            <a:srgbClr val="FFFDF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9977933" y="2580437"/>
            <a:ext cx="1093622" cy="965606"/>
          </a:xfrm>
          <a:prstGeom prst="ellipse">
            <a:avLst/>
          </a:prstGeom>
          <a:solidFill>
            <a:srgbClr val="00D9E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0440619" y="2359152"/>
            <a:ext cx="687629" cy="1408176"/>
          </a:xfrm>
          <a:prstGeom prst="rect">
            <a:avLst/>
          </a:prstGeom>
          <a:solidFill>
            <a:srgbClr val="FFFDF7"/>
          </a:solidFill>
          <a:ln cap="flat" cmpd="sng" w="127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977933" y="2580437"/>
            <a:ext cx="1093622" cy="965606"/>
          </a:xfrm>
          <a:prstGeom prst="ellipse">
            <a:avLst/>
          </a:prstGeom>
          <a:solidFill>
            <a:srgbClr val="FFFDF7">
              <a:alpha val="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10440619" y="2359152"/>
            <a:ext cx="687629" cy="1408176"/>
          </a:xfrm>
          <a:prstGeom prst="rect">
            <a:avLst/>
          </a:prstGeom>
          <a:solidFill>
            <a:srgbClr val="FFFDF7"/>
          </a:solidFill>
          <a:ln cap="flat" cmpd="sng" w="127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9052560" y="2331720"/>
            <a:ext cx="1388059" cy="1463040"/>
          </a:xfrm>
          <a:prstGeom prst="rect">
            <a:avLst/>
          </a:prstGeom>
          <a:solidFill>
            <a:srgbClr val="FFFDF7">
              <a:alpha val="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9052560" y="2331720"/>
            <a:ext cx="2103120" cy="1463040"/>
          </a:xfrm>
          <a:prstGeom prst="rect">
            <a:avLst/>
          </a:prstGeom>
          <a:solidFill>
            <a:srgbClr val="FFFDF7">
              <a:alpha val="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5"/>
          <p:cNvCxnSpPr/>
          <p:nvPr/>
        </p:nvCxnSpPr>
        <p:spPr>
          <a:xfrm>
            <a:off x="8778240" y="4023360"/>
            <a:ext cx="26517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5"/>
          <p:cNvSpPr/>
          <p:nvPr/>
        </p:nvSpPr>
        <p:spPr>
          <a:xfrm>
            <a:off x="8778240" y="415137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778240" y="451713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A ∩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62940" y="5280660"/>
            <a:ext cx="10972800" cy="77724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594360" y="5212080"/>
            <a:ext cx="10972800" cy="77724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14400" y="541324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Order matters. A − B is not B − A. Your instructions must make the order unambiguous.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6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6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TRANSFORMATIONS ARE ARITHMETIC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" y="1760220"/>
            <a:ext cx="3429000" cy="3794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88620" y="1691640"/>
            <a:ext cx="3429000" cy="37947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88620" y="1691640"/>
            <a:ext cx="3429000" cy="566928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44652" y="18105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897380" y="185623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 ADD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44652" y="2423160"/>
            <a:ext cx="2916936" cy="1143000"/>
          </a:xfrm>
          <a:prstGeom prst="rect">
            <a:avLst/>
          </a:prstGeom>
          <a:solidFill>
            <a:srgbClr val="F4F4EE"/>
          </a:solidFill>
          <a:ln cap="flat" cmpd="sng" w="19050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028700" y="2807208"/>
            <a:ext cx="384048" cy="384048"/>
          </a:xfrm>
          <a:prstGeom prst="rect">
            <a:avLst/>
          </a:prstGeom>
          <a:solidFill>
            <a:srgbClr val="FFFDF7"/>
          </a:solidFill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6"/>
          <p:cNvCxnSpPr/>
          <p:nvPr/>
        </p:nvCxnSpPr>
        <p:spPr>
          <a:xfrm>
            <a:off x="1522476" y="2999232"/>
            <a:ext cx="566928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6"/>
          <p:cNvSpPr/>
          <p:nvPr/>
        </p:nvSpPr>
        <p:spPr>
          <a:xfrm rot="5400000">
            <a:off x="2089404" y="2816352"/>
            <a:ext cx="310896" cy="36576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510028" y="2807208"/>
            <a:ext cx="384048" cy="384048"/>
          </a:xfrm>
          <a:prstGeom prst="rect">
            <a:avLst/>
          </a:prstGeom>
          <a:solidFill>
            <a:srgbClr val="00D9E1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6"/>
          <p:cNvCxnSpPr/>
          <p:nvPr/>
        </p:nvCxnSpPr>
        <p:spPr>
          <a:xfrm>
            <a:off x="644652" y="3703320"/>
            <a:ext cx="2916936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6"/>
          <p:cNvSpPr/>
          <p:nvPr/>
        </p:nvSpPr>
        <p:spPr>
          <a:xfrm>
            <a:off x="644652" y="381304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MATH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44652" y="4050792"/>
            <a:ext cx="29169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x' = x + dx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y' = y + dy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z' = z + dz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44652" y="4846320"/>
            <a:ext cx="2916936" cy="438912"/>
          </a:xfrm>
          <a:prstGeom prst="rect">
            <a:avLst/>
          </a:prstGeom>
          <a:solidFill>
            <a:srgbClr val="00D9E1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717804" y="4946904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(2, 1)  +  (3, 0)   →   (5,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434840" y="1760220"/>
            <a:ext cx="3429000" cy="3794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366260" y="1691640"/>
            <a:ext cx="3429000" cy="37947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4366260" y="1691640"/>
            <a:ext cx="3429000" cy="566928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622292" y="18105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875020" y="185623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 MULTIPLY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622292" y="2423160"/>
            <a:ext cx="2916936" cy="1143000"/>
          </a:xfrm>
          <a:prstGeom prst="rect">
            <a:avLst/>
          </a:prstGeom>
          <a:solidFill>
            <a:srgbClr val="F4F4EE"/>
          </a:solidFill>
          <a:ln cap="flat" cmpd="sng" w="19050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5006340" y="2807208"/>
            <a:ext cx="384048" cy="384048"/>
          </a:xfrm>
          <a:prstGeom prst="rect">
            <a:avLst/>
          </a:prstGeom>
          <a:solidFill>
            <a:srgbClr val="FFFDF7"/>
          </a:solidFill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6"/>
          <p:cNvCxnSpPr/>
          <p:nvPr/>
        </p:nvCxnSpPr>
        <p:spPr>
          <a:xfrm>
            <a:off x="5500116" y="2999232"/>
            <a:ext cx="566928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6"/>
          <p:cNvSpPr/>
          <p:nvPr/>
        </p:nvSpPr>
        <p:spPr>
          <a:xfrm rot="5400000">
            <a:off x="6067044" y="2816352"/>
            <a:ext cx="310896" cy="36576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487668" y="2615184"/>
            <a:ext cx="768096" cy="768096"/>
          </a:xfrm>
          <a:prstGeom prst="rect">
            <a:avLst/>
          </a:prstGeom>
          <a:solidFill>
            <a:srgbClr val="C6F035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6"/>
          <p:cNvCxnSpPr/>
          <p:nvPr/>
        </p:nvCxnSpPr>
        <p:spPr>
          <a:xfrm>
            <a:off x="4622292" y="3703320"/>
            <a:ext cx="2916936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6"/>
          <p:cNvSpPr/>
          <p:nvPr/>
        </p:nvSpPr>
        <p:spPr>
          <a:xfrm>
            <a:off x="4622292" y="381304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MATH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622292" y="4050792"/>
            <a:ext cx="29169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x' = x × 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y' = y × 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z' = z × 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622292" y="4846320"/>
            <a:ext cx="2916936" cy="438912"/>
          </a:xfrm>
          <a:prstGeom prst="rect">
            <a:avLst/>
          </a:prstGeom>
          <a:solidFill>
            <a:srgbClr val="C6F035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695444" y="4946904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(2, 1)  ×  2       →   (4, 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412480" y="1760220"/>
            <a:ext cx="3429000" cy="3794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343900" y="1691640"/>
            <a:ext cx="3429000" cy="37947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8343900" y="1691640"/>
            <a:ext cx="3429000" cy="566928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8599932" y="18105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9852660" y="185623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 MIX x AND 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8599932" y="2423160"/>
            <a:ext cx="2916936" cy="1143000"/>
          </a:xfrm>
          <a:prstGeom prst="rect">
            <a:avLst/>
          </a:prstGeom>
          <a:solidFill>
            <a:srgbClr val="F4F4EE"/>
          </a:solidFill>
          <a:ln cap="flat" cmpd="sng" w="19050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8983980" y="2807208"/>
            <a:ext cx="384048" cy="384048"/>
          </a:xfrm>
          <a:prstGeom prst="rect">
            <a:avLst/>
          </a:prstGeom>
          <a:solidFill>
            <a:srgbClr val="FFFDF7"/>
          </a:solidFill>
          <a:ln cap="flat" cmpd="sng" w="25400">
            <a:solidFill>
              <a:srgbClr val="9A9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6"/>
          <p:cNvCxnSpPr/>
          <p:nvPr/>
        </p:nvCxnSpPr>
        <p:spPr>
          <a:xfrm>
            <a:off x="9477756" y="2999232"/>
            <a:ext cx="566928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6"/>
          <p:cNvSpPr/>
          <p:nvPr/>
        </p:nvSpPr>
        <p:spPr>
          <a:xfrm rot="5400000">
            <a:off x="10044684" y="2816352"/>
            <a:ext cx="310896" cy="36576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 rot="2100000">
            <a:off x="10556748" y="2807208"/>
            <a:ext cx="384048" cy="384048"/>
          </a:xfrm>
          <a:prstGeom prst="rect">
            <a:avLst/>
          </a:prstGeom>
          <a:solidFill>
            <a:srgbClr val="FF4D8D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p6"/>
          <p:cNvCxnSpPr/>
          <p:nvPr/>
        </p:nvCxnSpPr>
        <p:spPr>
          <a:xfrm>
            <a:off x="8599932" y="3703320"/>
            <a:ext cx="2916936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6"/>
          <p:cNvSpPr/>
          <p:nvPr/>
        </p:nvSpPr>
        <p:spPr>
          <a:xfrm>
            <a:off x="8599932" y="381304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MATH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8599932" y="4050792"/>
            <a:ext cx="29169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x' = x·cosθ − y·sinθ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y' = x·sinθ + y·cosθ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599932" y="4846320"/>
            <a:ext cx="2916936" cy="438912"/>
          </a:xfrm>
          <a:prstGeom prst="rect">
            <a:avLst/>
          </a:prstGeom>
          <a:solidFill>
            <a:srgbClr val="FF4D8D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8673084" y="4946904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(1, 0)  rot 90°   →   (0,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62940" y="5783580"/>
            <a:ext cx="10972800" cy="6583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594360" y="5715000"/>
            <a:ext cx="10972800" cy="658368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914400" y="587959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 and scale treat each coordinate on its own. Rotation is the only one where x and y have to talk to each other.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7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7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DF7"/>
                </a:solidFill>
                <a:latin typeface="Arial"/>
                <a:ea typeface="Arial"/>
                <a:cs typeface="Arial"/>
                <a:sym typeface="Arial"/>
              </a:rPr>
              <a:t>PRECEDENT — THE MASSING DIAGRAM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62940" y="1943100"/>
            <a:ext cx="5349300" cy="320040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7"/>
          <p:cNvCxnSpPr/>
          <p:nvPr/>
        </p:nvCxnSpPr>
        <p:spPr>
          <a:xfrm>
            <a:off x="594360" y="1874520"/>
            <a:ext cx="5349240" cy="3200400"/>
          </a:xfrm>
          <a:prstGeom prst="straightConnector1">
            <a:avLst/>
          </a:prstGeom>
          <a:noFill/>
          <a:ln cap="flat" cmpd="sng" w="15875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7"/>
          <p:cNvCxnSpPr/>
          <p:nvPr/>
        </p:nvCxnSpPr>
        <p:spPr>
          <a:xfrm flipH="1" rot="10800000">
            <a:off x="594360" y="1874520"/>
            <a:ext cx="5349240" cy="3200400"/>
          </a:xfrm>
          <a:prstGeom prst="straightConnector1">
            <a:avLst/>
          </a:prstGeom>
          <a:noFill/>
          <a:ln cap="flat" cmpd="sng" w="15875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7"/>
          <p:cNvSpPr/>
          <p:nvPr/>
        </p:nvSpPr>
        <p:spPr>
          <a:xfrm>
            <a:off x="2217420" y="3255264"/>
            <a:ext cx="2103120" cy="438912"/>
          </a:xfrm>
          <a:prstGeom prst="rect">
            <a:avLst/>
          </a:prstGeom>
          <a:solidFill>
            <a:srgbClr val="FFFDF7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2217420" y="332841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MASSING DIAGRAM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94360" y="5148072"/>
            <a:ext cx="5349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Add: a sequential massing diagram, one axo per move.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286500" y="1943100"/>
            <a:ext cx="5349240" cy="3200400"/>
          </a:xfrm>
          <a:prstGeom prst="rect">
            <a:avLst/>
          </a:prstGeom>
          <a:solidFill>
            <a:srgbClr val="00D9E1"/>
          </a:solidFill>
          <a:ln cap="flat" cmpd="sng" w="9525">
            <a:solidFill>
              <a:srgbClr val="00D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6217920" y="1874520"/>
            <a:ext cx="5349240" cy="3200400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537960" y="210312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MAKES IT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7"/>
          <p:cNvCxnSpPr/>
          <p:nvPr/>
        </p:nvCxnSpPr>
        <p:spPr>
          <a:xfrm>
            <a:off x="6537960" y="2505456"/>
            <a:ext cx="475488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6537960" y="275234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830568" y="267004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operation per frame.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537960" y="330098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6830568" y="321868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same viewpoint every frame, so the change is the only thing moving.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537960" y="384962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6830568" y="376732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moved or removed part is marked — colour, arrow, ghost.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537960" y="439826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830568" y="431596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reads left to right without a caption.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62940" y="5509260"/>
            <a:ext cx="10972800" cy="685800"/>
          </a:xfrm>
          <a:prstGeom prst="rect">
            <a:avLst/>
          </a:prstGeom>
          <a:solidFill>
            <a:srgbClr val="FF4D8D"/>
          </a:solidFill>
          <a:ln cap="flat" cmpd="sng" w="9525">
            <a:solidFill>
              <a:srgbClr val="FF4D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594360" y="5440680"/>
            <a:ext cx="10972800" cy="6858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914400" y="5614416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diagram is graded on whether the sequence can be read </a:t>
            </a: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on how the building looks.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94360" y="6309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ISSUED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DF7"/>
                </a:solidFill>
                <a:latin typeface="Arial"/>
                <a:ea typeface="Arial"/>
                <a:cs typeface="Arial"/>
                <a:sym typeface="Arial"/>
              </a:rPr>
              <a:t>0.1 — PROCEDURE: DIAGRAM + INSTRUCTIONS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>
            <a:off x="594360" y="1783080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8"/>
          <p:cNvSpPr/>
          <p:nvPr/>
        </p:nvSpPr>
        <p:spPr>
          <a:xfrm>
            <a:off x="594360" y="190195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E500"/>
                </a:solidFill>
                <a:latin typeface="Arial"/>
                <a:ea typeface="Arial"/>
                <a:cs typeface="Arial"/>
                <a:sym typeface="Arial"/>
              </a:rPr>
              <a:t>DUE CLASS 4 — SEP </a:t>
            </a:r>
            <a:r>
              <a:rPr b="1" lang="en-US" sz="1300">
                <a:solidFill>
                  <a:srgbClr val="FFE500"/>
                </a:solidFill>
              </a:rPr>
              <a:t>16</a:t>
            </a:r>
            <a:r>
              <a:rPr b="1" i="0" lang="en-US" sz="1300" u="none" cap="none" strike="noStrike">
                <a:solidFill>
                  <a:srgbClr val="FFE500"/>
                </a:solidFill>
                <a:latin typeface="Arial"/>
                <a:ea typeface="Arial"/>
                <a:cs typeface="Arial"/>
                <a:sym typeface="Arial"/>
              </a:rPr>
              <a:t>  /   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94360" y="239572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DF7"/>
                </a:solidFill>
                <a:latin typeface="Calibri"/>
                <a:ea typeface="Calibri"/>
                <a:cs typeface="Calibri"/>
                <a:sym typeface="Calibri"/>
              </a:rPr>
              <a:t>Take an existing building. Rebuild its massing as a sequence of primitives and Booleans. Then document that sequence twice.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62940" y="3086100"/>
            <a:ext cx="5349240" cy="228600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94360" y="3017520"/>
            <a:ext cx="5349240" cy="228600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914400" y="321868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691640" y="32918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DIAGRAM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8"/>
          <p:cNvCxnSpPr/>
          <p:nvPr/>
        </p:nvCxnSpPr>
        <p:spPr>
          <a:xfrm>
            <a:off x="914400" y="3794760"/>
            <a:ext cx="47091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/>
          <p:nvPr/>
        </p:nvSpPr>
        <p:spPr>
          <a:xfrm>
            <a:off x="914400" y="3950208"/>
            <a:ext cx="4709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sequential axonometric set — one drawing per operation — plus one larger final isometric with human scale, context, shadows and annotation.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286500" y="3086100"/>
            <a:ext cx="5349240" cy="228600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6217920" y="3017520"/>
            <a:ext cx="5349240" cy="228600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537960" y="321868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7315200" y="32918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INSTRUCTIONS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8"/>
          <p:cNvCxnSpPr/>
          <p:nvPr/>
        </p:nvCxnSpPr>
        <p:spPr>
          <a:xfrm>
            <a:off x="6537960" y="3794760"/>
            <a:ext cx="47091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8"/>
          <p:cNvSpPr/>
          <p:nvPr/>
        </p:nvSpPr>
        <p:spPr>
          <a:xfrm>
            <a:off x="6537960" y="3950208"/>
            <a:ext cx="4709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written procedure another person could follow to rebuild your object without ever seeing your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62940" y="5600700"/>
            <a:ext cx="10972800" cy="640080"/>
          </a:xfrm>
          <a:prstGeom prst="rect">
            <a:avLst/>
          </a:prstGeom>
          <a:solidFill>
            <a:srgbClr val="FF4D8D"/>
          </a:solidFill>
          <a:ln cap="flat" cmpd="sng" w="9525">
            <a:solidFill>
              <a:srgbClr val="FF4D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94360" y="5532120"/>
            <a:ext cx="10972800" cy="640080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914400" y="5678424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ON ONE 17" × 11" SHEET, IN YOUR VISUAL IDENTITY.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9" name="Google Shape;299;p9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9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62940" y="1851660"/>
            <a:ext cx="1051560" cy="603504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94360" y="1783080"/>
            <a:ext cx="1051560" cy="603504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94360" y="192024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965960" y="1929384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Boolean operations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62940" y="2610612"/>
            <a:ext cx="1051560" cy="603504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94360" y="2542032"/>
            <a:ext cx="1051560" cy="603504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594360" y="2679192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965960" y="2688336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primitive types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662940" y="3369564"/>
            <a:ext cx="1051560" cy="603504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594360" y="3300984"/>
            <a:ext cx="1051560" cy="603504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94360" y="3438144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965960" y="344728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translations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62940" y="4128516"/>
            <a:ext cx="1051560" cy="603504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94360" y="4059936"/>
            <a:ext cx="1051560" cy="603504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94360" y="4197096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965960" y="42062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62940" y="4887468"/>
            <a:ext cx="1051560" cy="603504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94360" y="4818888"/>
            <a:ext cx="1051560" cy="603504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594360" y="4956048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1965960" y="49651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precedent analysis — 2–3 sentences on why the massing reads as a sequence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62940" y="5692140"/>
            <a:ext cx="10972800" cy="6583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594360" y="5623560"/>
            <a:ext cx="10972800" cy="658368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914400" y="578815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 history intact and demonstrable.  No imported or downloaded models.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10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0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NOTATION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Write the procedure as pseudocode. Formal enough to be unambiguous, plain enough to read aloud.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57200" y="1851660"/>
            <a:ext cx="3429000" cy="228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388620" y="1783080"/>
            <a:ext cx="3429000" cy="22860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388620" y="1783080"/>
            <a:ext cx="3429000" cy="50292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644652" y="1874520"/>
            <a:ext cx="29169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PRIMITIVES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44652" y="2441448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box(x, y, z)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4652" y="28254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cylinder(r, 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44652" y="320954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sphere(r)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44652" y="359359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cone(r, 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434840" y="1851660"/>
            <a:ext cx="3429000" cy="228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366260" y="1783080"/>
            <a:ext cx="3429000" cy="22860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4366260" y="1783080"/>
            <a:ext cx="3429000" cy="50292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622292" y="1874520"/>
            <a:ext cx="29169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622292" y="2441448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move(s, x, y, z)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4622292" y="28254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rotate(s, axis, deg)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622292" y="320954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scale(s, factor)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8412480" y="1851660"/>
            <a:ext cx="3429000" cy="228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8343900" y="1783080"/>
            <a:ext cx="3429000" cy="22860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8343900" y="1783080"/>
            <a:ext cx="3429000" cy="502920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8599932" y="1874520"/>
            <a:ext cx="29169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BOOLEANS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8599932" y="2441448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union(a, 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8599932" y="28254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subtract(a, 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8599932" y="320954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intersect(a, 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62940" y="4411980"/>
            <a:ext cx="10972800" cy="1600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594360" y="4343400"/>
            <a:ext cx="10972800" cy="1600200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914400" y="449884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0"/>
          <p:cNvCxnSpPr/>
          <p:nvPr/>
        </p:nvCxnSpPr>
        <p:spPr>
          <a:xfrm>
            <a:off x="914400" y="4864608"/>
            <a:ext cx="1033272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0"/>
          <p:cNvSpPr/>
          <p:nvPr/>
        </p:nvSpPr>
        <p:spPr>
          <a:xfrm>
            <a:off x="914400" y="504748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1161288" y="4974336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shape is created centred on the origin (0, 0, 0). Move it from there.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914400" y="533095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1161288" y="525780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Units are abstract. No millimetres, no metres — 3 units, half the width.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914400" y="5614416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1161288" y="5541264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step assigns a name, so the order of a subtraction is never in doubt.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94360" y="614476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This is real: OpenSCAD is a working language built on exactly these operations.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Google Shape;370;p11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1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DF7"/>
                </a:solidFill>
                <a:latin typeface="Arial"/>
                <a:ea typeface="Arial"/>
                <a:cs typeface="Arial"/>
                <a:sym typeface="Arial"/>
              </a:rPr>
              <a:t>WORKED EXAMPLE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662940" y="1897380"/>
            <a:ext cx="5577840" cy="3977640"/>
          </a:xfrm>
          <a:prstGeom prst="rect">
            <a:avLst/>
          </a:prstGeom>
          <a:solidFill>
            <a:srgbClr val="00D9E1"/>
          </a:solidFill>
          <a:ln cap="flat" cmpd="sng" w="9525">
            <a:solidFill>
              <a:srgbClr val="00D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94360" y="1828800"/>
            <a:ext cx="5577840" cy="397764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594360" y="1828800"/>
            <a:ext cx="5577840" cy="457200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68680" y="19019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868680" y="2468880"/>
            <a:ext cx="5029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base   = box(6, 4,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tower  = box(2, 2, 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tower  = move(tower, 2, 0,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  = cylinder(r=1, h=5)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  = move(void, -1.5, 0, 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mass   = union(base, tower)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result = subtract(mass, void)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515100" y="1897380"/>
            <a:ext cx="5120640" cy="397764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6446520" y="1828800"/>
            <a:ext cx="5120640" cy="397764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6766560" y="2048256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THIS FIXES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1"/>
          <p:cNvCxnSpPr/>
          <p:nvPr/>
        </p:nvCxnSpPr>
        <p:spPr>
          <a:xfrm>
            <a:off x="6766560" y="2432304"/>
            <a:ext cx="47091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11"/>
          <p:cNvSpPr/>
          <p:nvPr/>
        </p:nvSpPr>
        <p:spPr>
          <a:xfrm>
            <a:off x="6766560" y="256032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766560" y="2798064"/>
            <a:ext cx="4709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subtract(mass, void) can only mean one thing.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6766560" y="3282696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766560" y="3520440"/>
            <a:ext cx="4709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shape starts at the origin, so a move is the whole story.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766560" y="4005072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766560" y="4242816"/>
            <a:ext cx="4709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named step can be referred to later — mass is used, not rebuilt.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6766560" y="4727448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6766560" y="4965192"/>
            <a:ext cx="4709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Anyone can execute it. That is the test at Class 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662940" y="5600700"/>
            <a:ext cx="10972800" cy="685800"/>
          </a:xfrm>
          <a:prstGeom prst="rect">
            <a:avLst/>
          </a:prstGeom>
          <a:solidFill>
            <a:srgbClr val="FFE500"/>
          </a:solidFill>
          <a:ln cap="flat" cmpd="sng" w="9525">
            <a:solidFill>
              <a:srgbClr val="FFE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94360" y="5532120"/>
            <a:ext cx="10972800" cy="685800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12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2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DF7"/>
                </a:solidFill>
                <a:latin typeface="Arial"/>
                <a:ea typeface="Arial"/>
                <a:cs typeface="Arial"/>
                <a:sym typeface="Arial"/>
              </a:rPr>
              <a:t>CHOOSING YOUR OBJECT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8B8B8"/>
                </a:solidFill>
                <a:latin typeface="Calibri"/>
                <a:ea typeface="Calibri"/>
                <a:cs typeface="Calibri"/>
                <a:sym typeface="Calibri"/>
              </a:rPr>
              <a:t>Pick badly and the rest of the assignment is impossible.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662940" y="1897380"/>
            <a:ext cx="3429000" cy="173736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594360" y="1828800"/>
            <a:ext cx="3429000" cy="173736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868680" y="202996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ORTHOGONAL MASSING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12"/>
          <p:cNvCxnSpPr/>
          <p:nvPr/>
        </p:nvCxnSpPr>
        <p:spPr>
          <a:xfrm>
            <a:off x="868680" y="2706624"/>
            <a:ext cx="28803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2"/>
          <p:cNvSpPr/>
          <p:nvPr/>
        </p:nvSpPr>
        <p:spPr>
          <a:xfrm>
            <a:off x="868680" y="283464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Boxes, slabs, stacked volumes. Right angles.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366260" y="1897380"/>
            <a:ext cx="3429000" cy="173736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4297680" y="1828800"/>
            <a:ext cx="3429000" cy="1737360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4572000" y="202996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COMPLEX CURVES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2"/>
          <p:cNvCxnSpPr/>
          <p:nvPr/>
        </p:nvCxnSpPr>
        <p:spPr>
          <a:xfrm>
            <a:off x="4572000" y="2706624"/>
            <a:ext cx="28803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2"/>
          <p:cNvSpPr/>
          <p:nvPr/>
        </p:nvSpPr>
        <p:spPr>
          <a:xfrm>
            <a:off x="4572000" y="283464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cannot get there with primitives, it is the wrong building.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8069580" y="1897380"/>
            <a:ext cx="3429000" cy="173736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8001000" y="1828800"/>
            <a:ext cx="3429000" cy="173736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8275320" y="202996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5–10 CLEAR MOVES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2"/>
          <p:cNvCxnSpPr/>
          <p:nvPr/>
        </p:nvCxnSpPr>
        <p:spPr>
          <a:xfrm>
            <a:off x="8275320" y="2706624"/>
            <a:ext cx="288036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12"/>
          <p:cNvSpPr/>
          <p:nvPr/>
        </p:nvSpPr>
        <p:spPr>
          <a:xfrm>
            <a:off x="8275320" y="283464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Too simple is boring. Too complex will not resolve in five Booleans.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62940" y="4091940"/>
            <a:ext cx="10972800" cy="1783080"/>
          </a:xfrm>
          <a:prstGeom prst="rect">
            <a:avLst/>
          </a:prstGeom>
          <a:solidFill>
            <a:srgbClr val="FFFDF7"/>
          </a:solidFill>
          <a:ln cap="flat" cmpd="sng" w="9525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594360" y="4023360"/>
            <a:ext cx="10972800" cy="1783080"/>
          </a:xfrm>
          <a:prstGeom prst="rect">
            <a:avLst/>
          </a:prstGeom>
          <a:solidFill>
            <a:srgbClr val="EDEDE6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6" name="Google Shape;416;p12"/>
          <p:cNvCxnSpPr/>
          <p:nvPr/>
        </p:nvCxnSpPr>
        <p:spPr>
          <a:xfrm>
            <a:off x="594360" y="4023360"/>
            <a:ext cx="10972800" cy="1783080"/>
          </a:xfrm>
          <a:prstGeom prst="straightConnector1">
            <a:avLst/>
          </a:prstGeom>
          <a:noFill/>
          <a:ln cap="flat" cmpd="sng" w="15875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12"/>
          <p:cNvCxnSpPr/>
          <p:nvPr/>
        </p:nvCxnSpPr>
        <p:spPr>
          <a:xfrm flipH="1" rot="10800000">
            <a:off x="594360" y="4023360"/>
            <a:ext cx="10972800" cy="1783080"/>
          </a:xfrm>
          <a:prstGeom prst="straightConnector1">
            <a:avLst/>
          </a:prstGeom>
          <a:noFill/>
          <a:ln cap="flat" cmpd="sng" w="15875">
            <a:solidFill>
              <a:srgbClr val="C9C9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2"/>
          <p:cNvSpPr/>
          <p:nvPr/>
        </p:nvSpPr>
        <p:spPr>
          <a:xfrm>
            <a:off x="5029200" y="4695444"/>
            <a:ext cx="2103120" cy="438912"/>
          </a:xfrm>
          <a:prstGeom prst="rect">
            <a:avLst/>
          </a:prstGeom>
          <a:solidFill>
            <a:srgbClr val="FFFDF7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5029200" y="476859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APPROVED OBJECT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594360" y="5879592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Add: 6–8 buildings that work. Students may propose others for approval.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6" name="Google Shape;426;p13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3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/>
              <a:t>UPCOMING WEEKS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62940" y="1897380"/>
            <a:ext cx="1371600" cy="10515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594360" y="1828800"/>
            <a:ext cx="1371600" cy="1051560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594360" y="204825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94360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 1</a:t>
            </a:r>
            <a:r>
              <a:rPr lang="en-US" sz="1150"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2308860" y="1897380"/>
            <a:ext cx="9326880" cy="10515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2240280" y="1828800"/>
            <a:ext cx="9326880" cy="10515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2514600" y="2048256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Sheet due — diagram and instructions.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 rot="10800000">
            <a:off x="1097280" y="2916936"/>
            <a:ext cx="365760" cy="310896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662940" y="3195828"/>
            <a:ext cx="1371600" cy="10515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594360" y="3127248"/>
            <a:ext cx="1371600" cy="1051560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594360" y="334670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594360" y="36758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 2</a:t>
            </a:r>
            <a:r>
              <a:rPr lang="en-US" sz="1150"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2308860" y="3195828"/>
            <a:ext cx="9326880" cy="10515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2240280" y="3127248"/>
            <a:ext cx="9326880" cy="10515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2514600" y="3346704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Instructions exchanged. You build a classmate's object from their written procedure alone. The gap between the two results is the finding.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 rot="10800000">
            <a:off x="1097280" y="4215384"/>
            <a:ext cx="365760" cy="310896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662940" y="4494276"/>
            <a:ext cx="1371600" cy="10515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594360" y="4425696"/>
            <a:ext cx="1371600" cy="1051560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594360" y="464515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594360" y="49743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OCT 1</a:t>
            </a:r>
            <a:r>
              <a:rPr lang="en-US" sz="1150"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2308860" y="4494276"/>
            <a:ext cx="9326880" cy="10515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2240280" y="4425696"/>
            <a:ext cx="9326880" cy="105156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2514600" y="4645152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object, 3D printed at small scale, presented at the Midterm. No supports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F035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14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14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/>
              <a:t>NEXT up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662940" y="2446020"/>
            <a:ext cx="64008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594360" y="2377440"/>
            <a:ext cx="64008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594360" y="250545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1577340" y="2446020"/>
            <a:ext cx="1005840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1508760" y="2377440"/>
            <a:ext cx="1005840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1783080" y="255117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chosen and approved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662940" y="3268980"/>
            <a:ext cx="64008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594360" y="3200400"/>
            <a:ext cx="64008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594360" y="332841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1577340" y="3268980"/>
            <a:ext cx="1005840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1508760" y="3200400"/>
            <a:ext cx="1005840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1783080" y="337413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three primitives placed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662940" y="4091940"/>
            <a:ext cx="64008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594360" y="4023360"/>
            <a:ext cx="64008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594360" y="415137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1577340" y="4091940"/>
            <a:ext cx="1005840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1508760" y="4023360"/>
            <a:ext cx="1005840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1783080" y="419709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least one Boolean working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662940" y="4914900"/>
            <a:ext cx="64008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594360" y="4846320"/>
            <a:ext cx="64008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594360" y="497433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1577340" y="4914900"/>
            <a:ext cx="10058400" cy="640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1508760" y="4846320"/>
            <a:ext cx="10058400" cy="64008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1783080" y="502005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 history intact 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- non destructive modeling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659830" y="1626481"/>
            <a:ext cx="640200" cy="640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591250" y="1557901"/>
            <a:ext cx="640200" cy="6402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4"/>
          <p:cNvSpPr/>
          <p:nvPr/>
        </p:nvSpPr>
        <p:spPr>
          <a:xfrm>
            <a:off x="591250" y="1685917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1574230" y="1626481"/>
            <a:ext cx="10058400" cy="640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1505650" y="1557901"/>
            <a:ext cx="10058400" cy="640200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1779970" y="1731637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Blender tutorial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3" name="Google Shape;493;p15"/>
          <p:cNvCxnSpPr/>
          <p:nvPr/>
        </p:nvCxnSpPr>
        <p:spPr>
          <a:xfrm>
            <a:off x="594360" y="566928"/>
            <a:ext cx="10972800" cy="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15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NEXT CLASS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594360" y="20299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2651760" y="191109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Tutorial 0.2 — </a:t>
            </a: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Make2d on blender and rhino and 3D printing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FF4D8D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59436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2651760" y="2971800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FabLab Safety Orientation </a:t>
            </a: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is waived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594360" y="3904488"/>
            <a:ext cx="1508760" cy="804672"/>
          </a:xfrm>
          <a:prstGeom prst="rect">
            <a:avLst/>
          </a:prstGeom>
          <a:solidFill>
            <a:srgbClr val="C6F035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594360" y="415137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2377440" y="3904488"/>
            <a:ext cx="9189720" cy="804672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2651760" y="4032504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 going on 0.1. </a:t>
            </a: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CSG and buildings massings . Visual identity manual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E500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594360" y="521208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2651760" y="5093208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Draft your instructions. Read them aloud to someone who has not seen the model.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2026-08-21T18:09:49Z</dcterms:created>
  <dc:creator>Luis Pacheco Alcala</dc:creator>
</cp:coreProperties>
</file>