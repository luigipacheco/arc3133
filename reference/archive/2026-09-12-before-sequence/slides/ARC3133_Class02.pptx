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today: make sure everyone can drive a graph, and issue 0.1.
Most of the session is building — they should leave with a working operation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before you explain: who got through it, who got stuck, where.
Item 03 is the one that takes a while to sink in. Say it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at least two of these on the projector with a real student file.
The habit you are teaching: read the error, then walk backwards. Not: delete and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build it destructively, then try to enlarge the sphere. There is nothing to grab.
Then the graph version — drag the radius and let them watch it update.
The left panel is grey and struck through on purpose: those operations no longer exist. The right panel is a graph because that is literally what they are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A−B and B−A on screen back to back. Thirty seconds, and the point lands permanently.
This is also the first place their written instructions will fail — 'subtract the cylinder' doesn't say from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none of this is new maths. They have been doing it since school — it just has geometry attached.
The bottom line is the one worth dwelling on. Move and scale are per-coordinate, so they are easy. Rotation couples x and y, which is why it needs sine and cosine and why rotating about the wrong point is the classic mistake.
Ask: what happens if you rotate before you move, versus move before you rotate? Try it on screen. Order matters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three or four examples, good and bad.
The bad ones usually change viewpoint between frames, or show two moves at once.
Ask them to name the operation in each frame before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the diagram and the instructions carry equal weight.
A beautiful diagram with vague instructions fails half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C-floor line matters — say it out loud. Hitting these numbers is not the assignment, it's the entry price.
No downloaded models: they will try. It defeats the whole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formal notation and not plain English: LeWitt's instructions were ambiguous on purpose — different executors, different drawings. Yours must produce ONE result.
Named assignment is the fix for the A−B / B−A problem from the Booleans slide.
Origin-centred is the fix for 'where is it?' — every position is stated as a move from a known place.
Mention OpenSCAD. Some of them will go and try it, which is a good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line by line and have them sketch it. Two minutes.
Then ask what is STILL ambiguous — e.g. which axis is the cylinder's height along? Does 'move' use the centre?
That residue is what the Class 5 exchange will expose. Perfect notation still needs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list ready — this is the single biggest failure point in the assignment.
If someone picks a building that cannot be described in five Booleans, the peer exchange at Class 5 fails for reasons that aren't their fault.
Anyone proposing their own must clear it with you before they leave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print now, not in October — the geometry they build today has to be printable.
No supports means overhangs are their problem to design around. Say it today so it shapes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two failures to catch early: collapsing to a mesh, and picking an object that won't resolve.
Don't let anyone leave without an approved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them aloud to someone' instruction is the cheapest possible test and they will skip it.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D9E1"/>
        </a:solidFill>
      </p:bgPr>
    </p:bg>
    <p:spTree>
      <p:nvGrpSpPr>
        <p:cNvPr id="1" name=""/>
        <p:cNvGrpSpPr/>
        <p:nvPr/>
      </p:nvGrpSpPr>
      <p:grpSpPr>
        <a:xfrm>
          <a:off x="0" y="0"/>
          <a:ext cx="0" cy="0"/>
          <a:chOff x="0" y="0"/>
          <a:chExt cx="0" cy="0"/>
        </a:xfrm>
      </p:grpSpPr>
      <p:sp>
        <p:nvSpPr>
          <p:cNvPr id="2" name="Shape 0"/>
          <p:cNvSpPr/>
          <p:nvPr/>
        </p:nvSpPr>
        <p:spPr>
          <a:xfrm>
            <a:off x="594360" y="1051560"/>
            <a:ext cx="10972800" cy="256032"/>
          </a:xfrm>
          <a:prstGeom prst="rect">
            <a:avLst/>
          </a:prstGeom>
          <a:solidFill>
            <a:srgbClr val="000000"/>
          </a:solidFill>
          <a:ln/>
        </p:spPr>
      </p:sp>
      <p:sp>
        <p:nvSpPr>
          <p:cNvPr id="3" name="Text 1"/>
          <p:cNvSpPr/>
          <p:nvPr/>
        </p:nvSpPr>
        <p:spPr>
          <a:xfrm>
            <a:off x="594360" y="1481328"/>
            <a:ext cx="7315200" cy="457200"/>
          </a:xfrm>
          <a:prstGeom prst="rect">
            <a:avLst/>
          </a:prstGeom>
          <a:noFill/>
          <a:ln/>
        </p:spPr>
        <p:txBody>
          <a:bodyPr wrap="square" lIns="0" tIns="0" rIns="0" bIns="0" rtlCol="0" anchor="ctr"/>
          <a:lstStyle/>
          <a:p>
            <a:pPr indent="0" marL="0">
              <a:buNone/>
            </a:pPr>
            <a:r>
              <a:rPr lang="en-US" sz="1800" b="1" spc="400" kern="0" dirty="0">
                <a:solidFill>
                  <a:srgbClr val="000000"/>
                </a:solidFill>
                <a:latin typeface="Arial" pitchFamily="34" charset="0"/>
                <a:ea typeface="Arial" pitchFamily="34" charset="-122"/>
                <a:cs typeface="Arial" pitchFamily="34" charset="-120"/>
              </a:rPr>
              <a:t>CLASS 02  /  SEP 1</a:t>
            </a:r>
            <a:endParaRPr lang="en-US" sz="1800" dirty="0"/>
          </a:p>
        </p:txBody>
      </p:sp>
      <p:sp>
        <p:nvSpPr>
          <p:cNvPr id="4" name="Shape 2"/>
          <p:cNvSpPr/>
          <p:nvPr/>
        </p:nvSpPr>
        <p:spPr>
          <a:xfrm>
            <a:off x="662940" y="2125980"/>
            <a:ext cx="10149840" cy="1828800"/>
          </a:xfrm>
          <a:prstGeom prst="rect">
            <a:avLst/>
          </a:prstGeom>
          <a:solidFill>
            <a:srgbClr val="000000"/>
          </a:solidFill>
          <a:ln w="6350">
            <a:solidFill>
              <a:srgbClr val="000000"/>
            </a:solidFill>
            <a:prstDash val="solid"/>
          </a:ln>
        </p:spPr>
      </p:sp>
      <p:sp>
        <p:nvSpPr>
          <p:cNvPr id="5" name="Shape 3"/>
          <p:cNvSpPr/>
          <p:nvPr/>
        </p:nvSpPr>
        <p:spPr>
          <a:xfrm>
            <a:off x="594360" y="2057400"/>
            <a:ext cx="10149840" cy="1828800"/>
          </a:xfrm>
          <a:prstGeom prst="rect">
            <a:avLst/>
          </a:prstGeom>
          <a:solidFill>
            <a:srgbClr val="FFFDF7"/>
          </a:solidFill>
          <a:ln w="34925">
            <a:solidFill>
              <a:srgbClr val="000000"/>
            </a:solidFill>
            <a:prstDash val="solid"/>
          </a:ln>
        </p:spPr>
      </p:sp>
      <p:sp>
        <p:nvSpPr>
          <p:cNvPr id="6" name="Text 4"/>
          <p:cNvSpPr/>
          <p:nvPr/>
        </p:nvSpPr>
        <p:spPr>
          <a:xfrm>
            <a:off x="1005840" y="2240280"/>
            <a:ext cx="9326880" cy="1508760"/>
          </a:xfrm>
          <a:prstGeom prst="rect">
            <a:avLst/>
          </a:prstGeom>
          <a:noFill/>
          <a:ln/>
        </p:spPr>
        <p:txBody>
          <a:bodyPr wrap="square" lIns="0" tIns="0" rIns="0" bIns="0" rtlCol="0" anchor="ctr"/>
          <a:lstStyle/>
          <a:p>
            <a:pPr indent="0" marL="0">
              <a:lnSpc>
                <a:spcPts val="4600"/>
              </a:lnSpc>
              <a:buNone/>
            </a:pPr>
            <a:r>
              <a:rPr lang="en-US" sz="4200" b="1" spc="-100" kern="0" dirty="0">
                <a:solidFill>
                  <a:srgbClr val="000000"/>
                </a:solidFill>
                <a:latin typeface="Arial" pitchFamily="34" charset="0"/>
                <a:ea typeface="Arial" pitchFamily="34" charset="-122"/>
                <a:cs typeface="Arial" pitchFamily="34" charset="-120"/>
              </a:rPr>
              <a:t>NON-DESTRUCTIVE</a:t>
            </a:r>
            <a:endParaRPr lang="en-US" sz="4200" dirty="0"/>
          </a:p>
          <a:p>
            <a:pPr indent="0" marL="0">
              <a:lnSpc>
                <a:spcPts val="4600"/>
              </a:lnSpc>
              <a:buNone/>
            </a:pPr>
            <a:r>
              <a:rPr lang="en-US" sz="4200" b="1" spc="-100" kern="0" dirty="0">
                <a:solidFill>
                  <a:srgbClr val="000000"/>
                </a:solidFill>
                <a:latin typeface="Arial" pitchFamily="34" charset="0"/>
                <a:ea typeface="Arial" pitchFamily="34" charset="-122"/>
                <a:cs typeface="Arial" pitchFamily="34" charset="-120"/>
              </a:rPr>
              <a:t>MODELING</a:t>
            </a:r>
            <a:endParaRPr lang="en-US" sz="4200" dirty="0"/>
          </a:p>
        </p:txBody>
      </p:sp>
      <p:sp>
        <p:nvSpPr>
          <p:cNvPr id="7" name="Shape 5"/>
          <p:cNvSpPr/>
          <p:nvPr/>
        </p:nvSpPr>
        <p:spPr>
          <a:xfrm>
            <a:off x="662940" y="4229100"/>
            <a:ext cx="7680960" cy="566928"/>
          </a:xfrm>
          <a:prstGeom prst="rect">
            <a:avLst/>
          </a:prstGeom>
          <a:solidFill>
            <a:srgbClr val="000000"/>
          </a:solidFill>
          <a:ln w="6350">
            <a:solidFill>
              <a:srgbClr val="000000"/>
            </a:solidFill>
            <a:prstDash val="solid"/>
          </a:ln>
        </p:spPr>
      </p:sp>
      <p:sp>
        <p:nvSpPr>
          <p:cNvPr id="8" name="Shape 6"/>
          <p:cNvSpPr/>
          <p:nvPr/>
        </p:nvSpPr>
        <p:spPr>
          <a:xfrm>
            <a:off x="594360" y="4160520"/>
            <a:ext cx="7680960" cy="566928"/>
          </a:xfrm>
          <a:prstGeom prst="rect">
            <a:avLst/>
          </a:prstGeom>
          <a:solidFill>
            <a:srgbClr val="FFE500"/>
          </a:solidFill>
          <a:ln w="34925">
            <a:solidFill>
              <a:srgbClr val="000000"/>
            </a:solidFill>
            <a:prstDash val="solid"/>
          </a:ln>
        </p:spPr>
      </p:sp>
      <p:sp>
        <p:nvSpPr>
          <p:cNvPr id="9" name="Text 7"/>
          <p:cNvSpPr/>
          <p:nvPr/>
        </p:nvSpPr>
        <p:spPr>
          <a:xfrm>
            <a:off x="868680" y="4279392"/>
            <a:ext cx="7315200" cy="365760"/>
          </a:xfrm>
          <a:prstGeom prst="rect">
            <a:avLst/>
          </a:prstGeom>
          <a:noFill/>
          <a:ln/>
        </p:spPr>
        <p:txBody>
          <a:bodyPr wrap="square" lIns="0" tIns="0" rIns="0" bIns="0" rtlCol="0" anchor="ctr"/>
          <a:lstStyle/>
          <a:p>
            <a:pPr indent="0" marL="0">
              <a:buNone/>
            </a:pPr>
            <a:r>
              <a:rPr lang="en-US" sz="1300" b="1" spc="40" kern="0" dirty="0">
                <a:solidFill>
                  <a:srgbClr val="000000"/>
                </a:solidFill>
                <a:latin typeface="Arial" pitchFamily="34" charset="0"/>
                <a:ea typeface="Arial" pitchFamily="34" charset="-122"/>
                <a:cs typeface="Arial" pitchFamily="34" charset="-120"/>
              </a:rPr>
              <a:t>+ ASSIGNMENT 0.1 ISSUED TODAY</a:t>
            </a:r>
            <a:endParaRPr lang="en-US" sz="1300" dirty="0"/>
          </a:p>
        </p:txBody>
      </p:sp>
      <p:sp>
        <p:nvSpPr>
          <p:cNvPr id="10" name="Text 8"/>
          <p:cNvSpPr/>
          <p:nvPr/>
        </p:nvSpPr>
        <p:spPr>
          <a:xfrm>
            <a:off x="594360" y="5870448"/>
            <a:ext cx="10972800" cy="292608"/>
          </a:xfrm>
          <a:prstGeom prst="rect">
            <a:avLst/>
          </a:prstGeom>
          <a:noFill/>
          <a:ln/>
        </p:spPr>
        <p:txBody>
          <a:bodyPr wrap="square" lIns="0" tIns="0" rIns="0" bIns="0" rtlCol="0" anchor="ctr"/>
          <a:lstStyle/>
          <a:p>
            <a:pPr indent="0" marL="0">
              <a:buNone/>
            </a:pPr>
            <a:r>
              <a:rPr lang="en-US" sz="1050" b="1" spc="80" kern="0" dirty="0">
                <a:solidFill>
                  <a:srgbClr val="000000"/>
                </a:solidFill>
                <a:latin typeface="Arial" pitchFamily="34" charset="0"/>
                <a:ea typeface="Arial" pitchFamily="34" charset="-122"/>
                <a:cs typeface="Arial" pitchFamily="34" charset="-120"/>
              </a:rPr>
              <a:t>MODULE 0  /  PROCEDURAL  /  ARC 3133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TUTORIAL 0.1 — THE LOGIC</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Not the buttons. The four things a graph actually does.</a:t>
            </a:r>
            <a:endParaRPr lang="en-US" sz="1350" dirty="0"/>
          </a:p>
        </p:txBody>
      </p:sp>
      <p:sp>
        <p:nvSpPr>
          <p:cNvPr id="5" name="Shape 3"/>
          <p:cNvSpPr/>
          <p:nvPr/>
        </p:nvSpPr>
        <p:spPr>
          <a:xfrm>
            <a:off x="662940" y="1805940"/>
            <a:ext cx="777240" cy="777240"/>
          </a:xfrm>
          <a:prstGeom prst="rect">
            <a:avLst/>
          </a:prstGeom>
          <a:solidFill>
            <a:srgbClr val="000000"/>
          </a:solidFill>
          <a:ln w="6350">
            <a:solidFill>
              <a:srgbClr val="000000"/>
            </a:solidFill>
            <a:prstDash val="solid"/>
          </a:ln>
        </p:spPr>
      </p:sp>
      <p:sp>
        <p:nvSpPr>
          <p:cNvPr id="6" name="Shape 4"/>
          <p:cNvSpPr/>
          <p:nvPr/>
        </p:nvSpPr>
        <p:spPr>
          <a:xfrm>
            <a:off x="594360" y="1737360"/>
            <a:ext cx="777240" cy="777240"/>
          </a:xfrm>
          <a:prstGeom prst="rect">
            <a:avLst/>
          </a:prstGeom>
          <a:solidFill>
            <a:srgbClr val="00D9E1"/>
          </a:solidFill>
          <a:ln w="34925">
            <a:solidFill>
              <a:srgbClr val="000000"/>
            </a:solidFill>
            <a:prstDash val="solid"/>
          </a:ln>
        </p:spPr>
      </p:sp>
      <p:sp>
        <p:nvSpPr>
          <p:cNvPr id="7" name="Text 5"/>
          <p:cNvSpPr/>
          <p:nvPr/>
        </p:nvSpPr>
        <p:spPr>
          <a:xfrm>
            <a:off x="594360" y="1956816"/>
            <a:ext cx="77724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01</a:t>
            </a:r>
            <a:endParaRPr lang="en-US" sz="1700" dirty="0"/>
          </a:p>
        </p:txBody>
      </p:sp>
      <p:sp>
        <p:nvSpPr>
          <p:cNvPr id="8" name="Shape 6"/>
          <p:cNvSpPr/>
          <p:nvPr/>
        </p:nvSpPr>
        <p:spPr>
          <a:xfrm>
            <a:off x="1714500" y="1805940"/>
            <a:ext cx="9921240" cy="777240"/>
          </a:xfrm>
          <a:prstGeom prst="rect">
            <a:avLst/>
          </a:prstGeom>
          <a:solidFill>
            <a:srgbClr val="000000"/>
          </a:solidFill>
          <a:ln w="6350">
            <a:solidFill>
              <a:srgbClr val="000000"/>
            </a:solidFill>
            <a:prstDash val="solid"/>
          </a:ln>
        </p:spPr>
      </p:sp>
      <p:sp>
        <p:nvSpPr>
          <p:cNvPr id="9" name="Shape 7"/>
          <p:cNvSpPr/>
          <p:nvPr/>
        </p:nvSpPr>
        <p:spPr>
          <a:xfrm>
            <a:off x="1645920" y="1737360"/>
            <a:ext cx="9921240" cy="777240"/>
          </a:xfrm>
          <a:prstGeom prst="rect">
            <a:avLst/>
          </a:prstGeom>
          <a:solidFill>
            <a:srgbClr val="FFFDF7"/>
          </a:solidFill>
          <a:ln w="34925">
            <a:solidFill>
              <a:srgbClr val="000000"/>
            </a:solidFill>
            <a:prstDash val="solid"/>
          </a:ln>
        </p:spPr>
      </p:sp>
      <p:sp>
        <p:nvSpPr>
          <p:cNvPr id="10" name="Text 8"/>
          <p:cNvSpPr/>
          <p:nvPr/>
        </p:nvSpPr>
        <p:spPr>
          <a:xfrm>
            <a:off x="1920240" y="1837944"/>
            <a:ext cx="9144000" cy="310896"/>
          </a:xfrm>
          <a:prstGeom prst="rect">
            <a:avLst/>
          </a:prstGeom>
          <a:noFill/>
          <a:ln/>
        </p:spPr>
        <p:txBody>
          <a:bodyPr wrap="square" lIns="0" tIns="0" rIns="0" bIns="0" rtlCol="0" anchor="ctr"/>
          <a:lstStyle/>
          <a:p>
            <a:pPr indent="0" marL="0">
              <a:buNone/>
            </a:pPr>
            <a:r>
              <a:rPr lang="en-US" sz="1350" b="1" spc="30" kern="0" dirty="0">
                <a:solidFill>
                  <a:srgbClr val="000000"/>
                </a:solidFill>
                <a:latin typeface="Arial" pitchFamily="34" charset="0"/>
                <a:ea typeface="Arial" pitchFamily="34" charset="-122"/>
                <a:cs typeface="Arial" pitchFamily="34" charset="-120"/>
              </a:rPr>
              <a:t>A GRAPH IS A CHAIN OF OPERATIONS</a:t>
            </a:r>
            <a:endParaRPr lang="en-US" sz="1350" dirty="0"/>
          </a:p>
        </p:txBody>
      </p:sp>
      <p:sp>
        <p:nvSpPr>
          <p:cNvPr id="11" name="Text 9"/>
          <p:cNvSpPr/>
          <p:nvPr/>
        </p:nvSpPr>
        <p:spPr>
          <a:xfrm>
            <a:off x="1920240" y="2148840"/>
            <a:ext cx="9326880" cy="310896"/>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Each node takes something in, does one thing, passes it on.</a:t>
            </a:r>
            <a:endParaRPr lang="en-US" sz="1250" dirty="0"/>
          </a:p>
        </p:txBody>
      </p:sp>
      <p:sp>
        <p:nvSpPr>
          <p:cNvPr id="12" name="Shape 10"/>
          <p:cNvSpPr/>
          <p:nvPr/>
        </p:nvSpPr>
        <p:spPr>
          <a:xfrm>
            <a:off x="662940" y="2866644"/>
            <a:ext cx="777240" cy="777240"/>
          </a:xfrm>
          <a:prstGeom prst="rect">
            <a:avLst/>
          </a:prstGeom>
          <a:solidFill>
            <a:srgbClr val="000000"/>
          </a:solidFill>
          <a:ln w="6350">
            <a:solidFill>
              <a:srgbClr val="000000"/>
            </a:solidFill>
            <a:prstDash val="solid"/>
          </a:ln>
        </p:spPr>
      </p:sp>
      <p:sp>
        <p:nvSpPr>
          <p:cNvPr id="13" name="Shape 11"/>
          <p:cNvSpPr/>
          <p:nvPr/>
        </p:nvSpPr>
        <p:spPr>
          <a:xfrm>
            <a:off x="594360" y="2798064"/>
            <a:ext cx="777240" cy="777240"/>
          </a:xfrm>
          <a:prstGeom prst="rect">
            <a:avLst/>
          </a:prstGeom>
          <a:solidFill>
            <a:srgbClr val="C6F035"/>
          </a:solidFill>
          <a:ln w="34925">
            <a:solidFill>
              <a:srgbClr val="000000"/>
            </a:solidFill>
            <a:prstDash val="solid"/>
          </a:ln>
        </p:spPr>
      </p:sp>
      <p:sp>
        <p:nvSpPr>
          <p:cNvPr id="14" name="Text 12"/>
          <p:cNvSpPr/>
          <p:nvPr/>
        </p:nvSpPr>
        <p:spPr>
          <a:xfrm>
            <a:off x="594360" y="3017520"/>
            <a:ext cx="77724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02</a:t>
            </a:r>
            <a:endParaRPr lang="en-US" sz="1700" dirty="0"/>
          </a:p>
        </p:txBody>
      </p:sp>
      <p:sp>
        <p:nvSpPr>
          <p:cNvPr id="15" name="Shape 13"/>
          <p:cNvSpPr/>
          <p:nvPr/>
        </p:nvSpPr>
        <p:spPr>
          <a:xfrm>
            <a:off x="1714500" y="2866644"/>
            <a:ext cx="9921240" cy="777240"/>
          </a:xfrm>
          <a:prstGeom prst="rect">
            <a:avLst/>
          </a:prstGeom>
          <a:solidFill>
            <a:srgbClr val="000000"/>
          </a:solidFill>
          <a:ln w="6350">
            <a:solidFill>
              <a:srgbClr val="000000"/>
            </a:solidFill>
            <a:prstDash val="solid"/>
          </a:ln>
        </p:spPr>
      </p:sp>
      <p:sp>
        <p:nvSpPr>
          <p:cNvPr id="16" name="Shape 14"/>
          <p:cNvSpPr/>
          <p:nvPr/>
        </p:nvSpPr>
        <p:spPr>
          <a:xfrm>
            <a:off x="1645920" y="2798064"/>
            <a:ext cx="9921240" cy="777240"/>
          </a:xfrm>
          <a:prstGeom prst="rect">
            <a:avLst/>
          </a:prstGeom>
          <a:solidFill>
            <a:srgbClr val="FFFDF7"/>
          </a:solidFill>
          <a:ln w="34925">
            <a:solidFill>
              <a:srgbClr val="000000"/>
            </a:solidFill>
            <a:prstDash val="solid"/>
          </a:ln>
        </p:spPr>
      </p:sp>
      <p:sp>
        <p:nvSpPr>
          <p:cNvPr id="17" name="Text 15"/>
          <p:cNvSpPr/>
          <p:nvPr/>
        </p:nvSpPr>
        <p:spPr>
          <a:xfrm>
            <a:off x="1920240" y="2898648"/>
            <a:ext cx="9144000" cy="310896"/>
          </a:xfrm>
          <a:prstGeom prst="rect">
            <a:avLst/>
          </a:prstGeom>
          <a:noFill/>
          <a:ln/>
        </p:spPr>
        <p:txBody>
          <a:bodyPr wrap="square" lIns="0" tIns="0" rIns="0" bIns="0" rtlCol="0" anchor="ctr"/>
          <a:lstStyle/>
          <a:p>
            <a:pPr indent="0" marL="0">
              <a:buNone/>
            </a:pPr>
            <a:r>
              <a:rPr lang="en-US" sz="1350" b="1" spc="30" kern="0" dirty="0">
                <a:solidFill>
                  <a:srgbClr val="000000"/>
                </a:solidFill>
                <a:latin typeface="Arial" pitchFamily="34" charset="0"/>
                <a:ea typeface="Arial" pitchFamily="34" charset="-122"/>
                <a:cs typeface="Arial" pitchFamily="34" charset="-120"/>
              </a:rPr>
              <a:t>DATA FLOWS LEFT TO RIGHT</a:t>
            </a:r>
            <a:endParaRPr lang="en-US" sz="1350" dirty="0"/>
          </a:p>
        </p:txBody>
      </p:sp>
      <p:sp>
        <p:nvSpPr>
          <p:cNvPr id="18" name="Text 16"/>
          <p:cNvSpPr/>
          <p:nvPr/>
        </p:nvSpPr>
        <p:spPr>
          <a:xfrm>
            <a:off x="1920240" y="3209544"/>
            <a:ext cx="9326880" cy="310896"/>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If a result is wrong, walk backwards until it stops being wrong.</a:t>
            </a:r>
            <a:endParaRPr lang="en-US" sz="1250" dirty="0"/>
          </a:p>
        </p:txBody>
      </p:sp>
      <p:sp>
        <p:nvSpPr>
          <p:cNvPr id="19" name="Shape 17"/>
          <p:cNvSpPr/>
          <p:nvPr/>
        </p:nvSpPr>
        <p:spPr>
          <a:xfrm>
            <a:off x="662940" y="3927348"/>
            <a:ext cx="777240" cy="777240"/>
          </a:xfrm>
          <a:prstGeom prst="rect">
            <a:avLst/>
          </a:prstGeom>
          <a:solidFill>
            <a:srgbClr val="000000"/>
          </a:solidFill>
          <a:ln w="6350">
            <a:solidFill>
              <a:srgbClr val="000000"/>
            </a:solidFill>
            <a:prstDash val="solid"/>
          </a:ln>
        </p:spPr>
      </p:sp>
      <p:sp>
        <p:nvSpPr>
          <p:cNvPr id="20" name="Shape 18"/>
          <p:cNvSpPr/>
          <p:nvPr/>
        </p:nvSpPr>
        <p:spPr>
          <a:xfrm>
            <a:off x="594360" y="3858768"/>
            <a:ext cx="777240" cy="777240"/>
          </a:xfrm>
          <a:prstGeom prst="rect">
            <a:avLst/>
          </a:prstGeom>
          <a:solidFill>
            <a:srgbClr val="FFE500"/>
          </a:solidFill>
          <a:ln w="34925">
            <a:solidFill>
              <a:srgbClr val="000000"/>
            </a:solidFill>
            <a:prstDash val="solid"/>
          </a:ln>
        </p:spPr>
      </p:sp>
      <p:sp>
        <p:nvSpPr>
          <p:cNvPr id="21" name="Text 19"/>
          <p:cNvSpPr/>
          <p:nvPr/>
        </p:nvSpPr>
        <p:spPr>
          <a:xfrm>
            <a:off x="594360" y="4078224"/>
            <a:ext cx="77724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03</a:t>
            </a:r>
            <a:endParaRPr lang="en-US" sz="1700" dirty="0"/>
          </a:p>
        </p:txBody>
      </p:sp>
      <p:sp>
        <p:nvSpPr>
          <p:cNvPr id="22" name="Shape 20"/>
          <p:cNvSpPr/>
          <p:nvPr/>
        </p:nvSpPr>
        <p:spPr>
          <a:xfrm>
            <a:off x="1714500" y="3927348"/>
            <a:ext cx="9921240" cy="777240"/>
          </a:xfrm>
          <a:prstGeom prst="rect">
            <a:avLst/>
          </a:prstGeom>
          <a:solidFill>
            <a:srgbClr val="000000"/>
          </a:solidFill>
          <a:ln w="6350">
            <a:solidFill>
              <a:srgbClr val="000000"/>
            </a:solidFill>
            <a:prstDash val="solid"/>
          </a:ln>
        </p:spPr>
      </p:sp>
      <p:sp>
        <p:nvSpPr>
          <p:cNvPr id="23" name="Shape 21"/>
          <p:cNvSpPr/>
          <p:nvPr/>
        </p:nvSpPr>
        <p:spPr>
          <a:xfrm>
            <a:off x="1645920" y="3858768"/>
            <a:ext cx="9921240" cy="777240"/>
          </a:xfrm>
          <a:prstGeom prst="rect">
            <a:avLst/>
          </a:prstGeom>
          <a:solidFill>
            <a:srgbClr val="FFFDF7"/>
          </a:solidFill>
          <a:ln w="34925">
            <a:solidFill>
              <a:srgbClr val="000000"/>
            </a:solidFill>
            <a:prstDash val="solid"/>
          </a:ln>
        </p:spPr>
      </p:sp>
      <p:sp>
        <p:nvSpPr>
          <p:cNvPr id="24" name="Text 22"/>
          <p:cNvSpPr/>
          <p:nvPr/>
        </p:nvSpPr>
        <p:spPr>
          <a:xfrm>
            <a:off x="1920240" y="3959352"/>
            <a:ext cx="9144000" cy="310896"/>
          </a:xfrm>
          <a:prstGeom prst="rect">
            <a:avLst/>
          </a:prstGeom>
          <a:noFill/>
          <a:ln/>
        </p:spPr>
        <p:txBody>
          <a:bodyPr wrap="square" lIns="0" tIns="0" rIns="0" bIns="0" rtlCol="0" anchor="ctr"/>
          <a:lstStyle/>
          <a:p>
            <a:pPr indent="0" marL="0">
              <a:buNone/>
            </a:pPr>
            <a:r>
              <a:rPr lang="en-US" sz="1350" b="1" spc="30" kern="0" dirty="0">
                <a:solidFill>
                  <a:srgbClr val="000000"/>
                </a:solidFill>
                <a:latin typeface="Arial" pitchFamily="34" charset="0"/>
                <a:ea typeface="Arial" pitchFamily="34" charset="-122"/>
                <a:cs typeface="Arial" pitchFamily="34" charset="-120"/>
              </a:rPr>
              <a:t>GEOMETRY IS AN OUTPUT, NOT A THING</a:t>
            </a:r>
            <a:endParaRPr lang="en-US" sz="1350" dirty="0"/>
          </a:p>
        </p:txBody>
      </p:sp>
      <p:sp>
        <p:nvSpPr>
          <p:cNvPr id="25" name="Text 23"/>
          <p:cNvSpPr/>
          <p:nvPr/>
        </p:nvSpPr>
        <p:spPr>
          <a:xfrm>
            <a:off x="1920240" y="4270248"/>
            <a:ext cx="9326880" cy="310896"/>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Nothing is 'made'. The graph describes how to make it, every time.</a:t>
            </a:r>
            <a:endParaRPr lang="en-US" sz="1250" dirty="0"/>
          </a:p>
        </p:txBody>
      </p:sp>
      <p:sp>
        <p:nvSpPr>
          <p:cNvPr id="26" name="Shape 24"/>
          <p:cNvSpPr/>
          <p:nvPr/>
        </p:nvSpPr>
        <p:spPr>
          <a:xfrm>
            <a:off x="662940" y="4988052"/>
            <a:ext cx="777240" cy="777240"/>
          </a:xfrm>
          <a:prstGeom prst="rect">
            <a:avLst/>
          </a:prstGeom>
          <a:solidFill>
            <a:srgbClr val="000000"/>
          </a:solidFill>
          <a:ln w="6350">
            <a:solidFill>
              <a:srgbClr val="000000"/>
            </a:solidFill>
            <a:prstDash val="solid"/>
          </a:ln>
        </p:spPr>
      </p:sp>
      <p:sp>
        <p:nvSpPr>
          <p:cNvPr id="27" name="Shape 25"/>
          <p:cNvSpPr/>
          <p:nvPr/>
        </p:nvSpPr>
        <p:spPr>
          <a:xfrm>
            <a:off x="594360" y="4919472"/>
            <a:ext cx="777240" cy="777240"/>
          </a:xfrm>
          <a:prstGeom prst="rect">
            <a:avLst/>
          </a:prstGeom>
          <a:solidFill>
            <a:srgbClr val="FF4D8D"/>
          </a:solidFill>
          <a:ln w="34925">
            <a:solidFill>
              <a:srgbClr val="000000"/>
            </a:solidFill>
            <a:prstDash val="solid"/>
          </a:ln>
        </p:spPr>
      </p:sp>
      <p:sp>
        <p:nvSpPr>
          <p:cNvPr id="28" name="Text 26"/>
          <p:cNvSpPr/>
          <p:nvPr/>
        </p:nvSpPr>
        <p:spPr>
          <a:xfrm>
            <a:off x="594360" y="5138928"/>
            <a:ext cx="77724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04</a:t>
            </a:r>
            <a:endParaRPr lang="en-US" sz="1700" dirty="0"/>
          </a:p>
        </p:txBody>
      </p:sp>
      <p:sp>
        <p:nvSpPr>
          <p:cNvPr id="29" name="Shape 27"/>
          <p:cNvSpPr/>
          <p:nvPr/>
        </p:nvSpPr>
        <p:spPr>
          <a:xfrm>
            <a:off x="1714500" y="4988052"/>
            <a:ext cx="9921240" cy="777240"/>
          </a:xfrm>
          <a:prstGeom prst="rect">
            <a:avLst/>
          </a:prstGeom>
          <a:solidFill>
            <a:srgbClr val="000000"/>
          </a:solidFill>
          <a:ln w="6350">
            <a:solidFill>
              <a:srgbClr val="000000"/>
            </a:solidFill>
            <a:prstDash val="solid"/>
          </a:ln>
        </p:spPr>
      </p:sp>
      <p:sp>
        <p:nvSpPr>
          <p:cNvPr id="30" name="Shape 28"/>
          <p:cNvSpPr/>
          <p:nvPr/>
        </p:nvSpPr>
        <p:spPr>
          <a:xfrm>
            <a:off x="1645920" y="4919472"/>
            <a:ext cx="9921240" cy="777240"/>
          </a:xfrm>
          <a:prstGeom prst="rect">
            <a:avLst/>
          </a:prstGeom>
          <a:solidFill>
            <a:srgbClr val="FFFDF7"/>
          </a:solidFill>
          <a:ln w="34925">
            <a:solidFill>
              <a:srgbClr val="000000"/>
            </a:solidFill>
            <a:prstDash val="solid"/>
          </a:ln>
        </p:spPr>
      </p:sp>
      <p:sp>
        <p:nvSpPr>
          <p:cNvPr id="31" name="Text 29"/>
          <p:cNvSpPr/>
          <p:nvPr/>
        </p:nvSpPr>
        <p:spPr>
          <a:xfrm>
            <a:off x="1920240" y="5020056"/>
            <a:ext cx="9144000" cy="310896"/>
          </a:xfrm>
          <a:prstGeom prst="rect">
            <a:avLst/>
          </a:prstGeom>
          <a:noFill/>
          <a:ln/>
        </p:spPr>
        <p:txBody>
          <a:bodyPr wrap="square" lIns="0" tIns="0" rIns="0" bIns="0" rtlCol="0" anchor="ctr"/>
          <a:lstStyle/>
          <a:p>
            <a:pPr indent="0" marL="0">
              <a:buNone/>
            </a:pPr>
            <a:r>
              <a:rPr lang="en-US" sz="1350" b="1" spc="30" kern="0" dirty="0">
                <a:solidFill>
                  <a:srgbClr val="000000"/>
                </a:solidFill>
                <a:latin typeface="Arial" pitchFamily="34" charset="0"/>
                <a:ea typeface="Arial" pitchFamily="34" charset="-122"/>
                <a:cs typeface="Arial" pitchFamily="34" charset="-120"/>
              </a:rPr>
              <a:t>EVERY INPUT STAYS LIVE</a:t>
            </a:r>
            <a:endParaRPr lang="en-US" sz="1350" dirty="0"/>
          </a:p>
        </p:txBody>
      </p:sp>
      <p:sp>
        <p:nvSpPr>
          <p:cNvPr id="32" name="Text 30"/>
          <p:cNvSpPr/>
          <p:nvPr/>
        </p:nvSpPr>
        <p:spPr>
          <a:xfrm>
            <a:off x="1920240" y="5330952"/>
            <a:ext cx="9326880" cy="310896"/>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Change a number at the start and everything downstream recomputes.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FFFDF7"/>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FFFDF7"/>
                </a:solidFill>
                <a:latin typeface="Arial" pitchFamily="34" charset="0"/>
                <a:ea typeface="Arial" pitchFamily="34" charset="-122"/>
                <a:cs typeface="Arial" pitchFamily="34" charset="-120"/>
              </a:rPr>
              <a:t>WHAT BROKE</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B8B8B8"/>
                </a:solidFill>
                <a:latin typeface="Calibri" pitchFamily="34" charset="0"/>
                <a:ea typeface="Calibri" pitchFamily="34" charset="-122"/>
                <a:cs typeface="Calibri" pitchFamily="34" charset="-120"/>
              </a:rPr>
              <a:t>Bring the file, not the description. Let's fix it live.</a:t>
            </a:r>
            <a:endParaRPr lang="en-US" sz="1350" dirty="0"/>
          </a:p>
        </p:txBody>
      </p:sp>
      <p:sp>
        <p:nvSpPr>
          <p:cNvPr id="5" name="Shape 3"/>
          <p:cNvSpPr/>
          <p:nvPr/>
        </p:nvSpPr>
        <p:spPr>
          <a:xfrm>
            <a:off x="662940" y="1897380"/>
            <a:ext cx="5486400" cy="1691640"/>
          </a:xfrm>
          <a:prstGeom prst="rect">
            <a:avLst/>
          </a:prstGeom>
          <a:solidFill>
            <a:srgbClr val="FFFDF7"/>
          </a:solidFill>
          <a:ln w="6350">
            <a:solidFill>
              <a:srgbClr val="FFFDF7"/>
            </a:solidFill>
            <a:prstDash val="solid"/>
          </a:ln>
        </p:spPr>
      </p:sp>
      <p:sp>
        <p:nvSpPr>
          <p:cNvPr id="6" name="Shape 4"/>
          <p:cNvSpPr/>
          <p:nvPr/>
        </p:nvSpPr>
        <p:spPr>
          <a:xfrm>
            <a:off x="594360" y="1828800"/>
            <a:ext cx="5486400" cy="1691640"/>
          </a:xfrm>
          <a:prstGeom prst="rect">
            <a:avLst/>
          </a:prstGeom>
          <a:solidFill>
            <a:srgbClr val="00D9E1"/>
          </a:solidFill>
          <a:ln w="34925">
            <a:solidFill>
              <a:srgbClr val="000000"/>
            </a:solidFill>
            <a:prstDash val="solid"/>
          </a:ln>
        </p:spPr>
      </p:sp>
      <p:sp>
        <p:nvSpPr>
          <p:cNvPr id="7" name="Text 5"/>
          <p:cNvSpPr/>
          <p:nvPr/>
        </p:nvSpPr>
        <p:spPr>
          <a:xfrm>
            <a:off x="914400" y="2084832"/>
            <a:ext cx="4846320" cy="384048"/>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NOTHING APPEARS</a:t>
            </a:r>
            <a:endParaRPr lang="en-US" sz="1500" dirty="0"/>
          </a:p>
        </p:txBody>
      </p:sp>
      <p:sp>
        <p:nvSpPr>
          <p:cNvPr id="8" name="Shape 6"/>
          <p:cNvSpPr/>
          <p:nvPr/>
        </p:nvSpPr>
        <p:spPr>
          <a:xfrm>
            <a:off x="914400" y="2560320"/>
            <a:ext cx="4846320" cy="0"/>
          </a:xfrm>
          <a:prstGeom prst="line">
            <a:avLst/>
          </a:prstGeom>
          <a:noFill/>
          <a:ln w="25400">
            <a:solidFill>
              <a:srgbClr val="000000"/>
            </a:solidFill>
            <a:prstDash val="solid"/>
          </a:ln>
        </p:spPr>
      </p:sp>
      <p:sp>
        <p:nvSpPr>
          <p:cNvPr id="9" name="Text 7"/>
          <p:cNvSpPr/>
          <p:nvPr/>
        </p:nvSpPr>
        <p:spPr>
          <a:xfrm>
            <a:off x="914400" y="2697480"/>
            <a:ext cx="4846320" cy="68580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Usually a preview toggled off, or a node not connected to output.</a:t>
            </a:r>
            <a:endParaRPr lang="en-US" sz="1300" dirty="0"/>
          </a:p>
        </p:txBody>
      </p:sp>
      <p:sp>
        <p:nvSpPr>
          <p:cNvPr id="10" name="Shape 8"/>
          <p:cNvSpPr/>
          <p:nvPr/>
        </p:nvSpPr>
        <p:spPr>
          <a:xfrm>
            <a:off x="6446520" y="1897380"/>
            <a:ext cx="5486400" cy="1691640"/>
          </a:xfrm>
          <a:prstGeom prst="rect">
            <a:avLst/>
          </a:prstGeom>
          <a:solidFill>
            <a:srgbClr val="FFFDF7"/>
          </a:solidFill>
          <a:ln w="6350">
            <a:solidFill>
              <a:srgbClr val="FFFDF7"/>
            </a:solidFill>
            <a:prstDash val="solid"/>
          </a:ln>
        </p:spPr>
      </p:sp>
      <p:sp>
        <p:nvSpPr>
          <p:cNvPr id="11" name="Shape 9"/>
          <p:cNvSpPr/>
          <p:nvPr/>
        </p:nvSpPr>
        <p:spPr>
          <a:xfrm>
            <a:off x="6377940" y="1828800"/>
            <a:ext cx="5486400" cy="1691640"/>
          </a:xfrm>
          <a:prstGeom prst="rect">
            <a:avLst/>
          </a:prstGeom>
          <a:solidFill>
            <a:srgbClr val="C6F035"/>
          </a:solidFill>
          <a:ln w="34925">
            <a:solidFill>
              <a:srgbClr val="000000"/>
            </a:solidFill>
            <a:prstDash val="solid"/>
          </a:ln>
        </p:spPr>
      </p:sp>
      <p:sp>
        <p:nvSpPr>
          <p:cNvPr id="12" name="Text 10"/>
          <p:cNvSpPr/>
          <p:nvPr/>
        </p:nvSpPr>
        <p:spPr>
          <a:xfrm>
            <a:off x="6697980" y="2084832"/>
            <a:ext cx="4846320" cy="384048"/>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THE WRONG NUMBER OF THINGS</a:t>
            </a:r>
            <a:endParaRPr lang="en-US" sz="1500" dirty="0"/>
          </a:p>
        </p:txBody>
      </p:sp>
      <p:sp>
        <p:nvSpPr>
          <p:cNvPr id="13" name="Shape 11"/>
          <p:cNvSpPr/>
          <p:nvPr/>
        </p:nvSpPr>
        <p:spPr>
          <a:xfrm>
            <a:off x="6697980" y="2560320"/>
            <a:ext cx="4846320" cy="0"/>
          </a:xfrm>
          <a:prstGeom prst="line">
            <a:avLst/>
          </a:prstGeom>
          <a:noFill/>
          <a:ln w="25400">
            <a:solidFill>
              <a:srgbClr val="000000"/>
            </a:solidFill>
            <a:prstDash val="solid"/>
          </a:ln>
        </p:spPr>
      </p:sp>
      <p:sp>
        <p:nvSpPr>
          <p:cNvPr id="14" name="Text 12"/>
          <p:cNvSpPr/>
          <p:nvPr/>
        </p:nvSpPr>
        <p:spPr>
          <a:xfrm>
            <a:off x="6697980" y="2697480"/>
            <a:ext cx="4846320" cy="68580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A list where a single item was expected, or the reverse.</a:t>
            </a:r>
            <a:endParaRPr lang="en-US" sz="1300" dirty="0"/>
          </a:p>
        </p:txBody>
      </p:sp>
      <p:sp>
        <p:nvSpPr>
          <p:cNvPr id="15" name="Shape 13"/>
          <p:cNvSpPr/>
          <p:nvPr/>
        </p:nvSpPr>
        <p:spPr>
          <a:xfrm>
            <a:off x="662940" y="3863340"/>
            <a:ext cx="5486400" cy="1691640"/>
          </a:xfrm>
          <a:prstGeom prst="rect">
            <a:avLst/>
          </a:prstGeom>
          <a:solidFill>
            <a:srgbClr val="FFFDF7"/>
          </a:solidFill>
          <a:ln w="6350">
            <a:solidFill>
              <a:srgbClr val="FFFDF7"/>
            </a:solidFill>
            <a:prstDash val="solid"/>
          </a:ln>
        </p:spPr>
      </p:sp>
      <p:sp>
        <p:nvSpPr>
          <p:cNvPr id="16" name="Shape 14"/>
          <p:cNvSpPr/>
          <p:nvPr/>
        </p:nvSpPr>
        <p:spPr>
          <a:xfrm>
            <a:off x="594360" y="3794760"/>
            <a:ext cx="5486400" cy="1691640"/>
          </a:xfrm>
          <a:prstGeom prst="rect">
            <a:avLst/>
          </a:prstGeom>
          <a:solidFill>
            <a:srgbClr val="00D9E1"/>
          </a:solidFill>
          <a:ln w="34925">
            <a:solidFill>
              <a:srgbClr val="000000"/>
            </a:solidFill>
            <a:prstDash val="solid"/>
          </a:ln>
        </p:spPr>
      </p:sp>
      <p:sp>
        <p:nvSpPr>
          <p:cNvPr id="17" name="Text 15"/>
          <p:cNvSpPr/>
          <p:nvPr/>
        </p:nvSpPr>
        <p:spPr>
          <a:xfrm>
            <a:off x="914400" y="4050792"/>
            <a:ext cx="4846320" cy="384048"/>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IT WORKED, THEN STOPPED</a:t>
            </a:r>
            <a:endParaRPr lang="en-US" sz="1500" dirty="0"/>
          </a:p>
        </p:txBody>
      </p:sp>
      <p:sp>
        <p:nvSpPr>
          <p:cNvPr id="18" name="Shape 16"/>
          <p:cNvSpPr/>
          <p:nvPr/>
        </p:nvSpPr>
        <p:spPr>
          <a:xfrm>
            <a:off x="914400" y="4526280"/>
            <a:ext cx="4846320" cy="0"/>
          </a:xfrm>
          <a:prstGeom prst="line">
            <a:avLst/>
          </a:prstGeom>
          <a:noFill/>
          <a:ln w="25400">
            <a:solidFill>
              <a:srgbClr val="000000"/>
            </a:solidFill>
            <a:prstDash val="solid"/>
          </a:ln>
        </p:spPr>
      </p:sp>
      <p:sp>
        <p:nvSpPr>
          <p:cNvPr id="19" name="Text 17"/>
          <p:cNvSpPr/>
          <p:nvPr/>
        </p:nvSpPr>
        <p:spPr>
          <a:xfrm>
            <a:off x="914400" y="4663440"/>
            <a:ext cx="4846320" cy="68580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Something upstream changed. Walk backwards node by node.</a:t>
            </a:r>
            <a:endParaRPr lang="en-US" sz="1300" dirty="0"/>
          </a:p>
        </p:txBody>
      </p:sp>
      <p:sp>
        <p:nvSpPr>
          <p:cNvPr id="20" name="Shape 18"/>
          <p:cNvSpPr/>
          <p:nvPr/>
        </p:nvSpPr>
        <p:spPr>
          <a:xfrm>
            <a:off x="6446520" y="3863340"/>
            <a:ext cx="5486400" cy="1691640"/>
          </a:xfrm>
          <a:prstGeom prst="rect">
            <a:avLst/>
          </a:prstGeom>
          <a:solidFill>
            <a:srgbClr val="FFFDF7"/>
          </a:solidFill>
          <a:ln w="6350">
            <a:solidFill>
              <a:srgbClr val="FFFDF7"/>
            </a:solidFill>
            <a:prstDash val="solid"/>
          </a:ln>
        </p:spPr>
      </p:sp>
      <p:sp>
        <p:nvSpPr>
          <p:cNvPr id="21" name="Shape 19"/>
          <p:cNvSpPr/>
          <p:nvPr/>
        </p:nvSpPr>
        <p:spPr>
          <a:xfrm>
            <a:off x="6377940" y="3794760"/>
            <a:ext cx="5486400" cy="1691640"/>
          </a:xfrm>
          <a:prstGeom prst="rect">
            <a:avLst/>
          </a:prstGeom>
          <a:solidFill>
            <a:srgbClr val="C6F035"/>
          </a:solidFill>
          <a:ln w="34925">
            <a:solidFill>
              <a:srgbClr val="000000"/>
            </a:solidFill>
            <a:prstDash val="solid"/>
          </a:ln>
        </p:spPr>
      </p:sp>
      <p:sp>
        <p:nvSpPr>
          <p:cNvPr id="22" name="Text 20"/>
          <p:cNvSpPr/>
          <p:nvPr/>
        </p:nvSpPr>
        <p:spPr>
          <a:xfrm>
            <a:off x="6697980" y="4050792"/>
            <a:ext cx="4846320" cy="384048"/>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A NODE IS ORANGE / RED</a:t>
            </a:r>
            <a:endParaRPr lang="en-US" sz="1500" dirty="0"/>
          </a:p>
        </p:txBody>
      </p:sp>
      <p:sp>
        <p:nvSpPr>
          <p:cNvPr id="23" name="Shape 21"/>
          <p:cNvSpPr/>
          <p:nvPr/>
        </p:nvSpPr>
        <p:spPr>
          <a:xfrm>
            <a:off x="6697980" y="4526280"/>
            <a:ext cx="4846320" cy="0"/>
          </a:xfrm>
          <a:prstGeom prst="line">
            <a:avLst/>
          </a:prstGeom>
          <a:noFill/>
          <a:ln w="25400">
            <a:solidFill>
              <a:srgbClr val="000000"/>
            </a:solidFill>
            <a:prstDash val="solid"/>
          </a:ln>
        </p:spPr>
      </p:sp>
      <p:sp>
        <p:nvSpPr>
          <p:cNvPr id="24" name="Text 22"/>
          <p:cNvSpPr/>
          <p:nvPr/>
        </p:nvSpPr>
        <p:spPr>
          <a:xfrm>
            <a:off x="6697980" y="4663440"/>
            <a:ext cx="4846320" cy="68580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It is telling you what it needs. Read the message before changing anything.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WHY NON-DESTRUCTIVE</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Same job both times: make the sphere bigger. Watch what it costs.</a:t>
            </a:r>
            <a:endParaRPr lang="en-US" sz="1350" dirty="0"/>
          </a:p>
        </p:txBody>
      </p:sp>
      <p:sp>
        <p:nvSpPr>
          <p:cNvPr id="5" name="Shape 3"/>
          <p:cNvSpPr/>
          <p:nvPr/>
        </p:nvSpPr>
        <p:spPr>
          <a:xfrm>
            <a:off x="662940" y="1805940"/>
            <a:ext cx="5349240" cy="3794760"/>
          </a:xfrm>
          <a:prstGeom prst="rect">
            <a:avLst/>
          </a:prstGeom>
          <a:solidFill>
            <a:srgbClr val="000000"/>
          </a:solidFill>
          <a:ln w="6350">
            <a:solidFill>
              <a:srgbClr val="000000"/>
            </a:solidFill>
            <a:prstDash val="solid"/>
          </a:ln>
        </p:spPr>
      </p:sp>
      <p:sp>
        <p:nvSpPr>
          <p:cNvPr id="6" name="Shape 4"/>
          <p:cNvSpPr/>
          <p:nvPr/>
        </p:nvSpPr>
        <p:spPr>
          <a:xfrm>
            <a:off x="594360" y="1737360"/>
            <a:ext cx="5349240" cy="3794760"/>
          </a:xfrm>
          <a:prstGeom prst="rect">
            <a:avLst/>
          </a:prstGeom>
          <a:solidFill>
            <a:srgbClr val="FFFDF7"/>
          </a:solidFill>
          <a:ln w="34925">
            <a:solidFill>
              <a:srgbClr val="000000"/>
            </a:solidFill>
            <a:prstDash val="solid"/>
          </a:ln>
        </p:spPr>
      </p:sp>
      <p:sp>
        <p:nvSpPr>
          <p:cNvPr id="7" name="Shape 5"/>
          <p:cNvSpPr/>
          <p:nvPr/>
        </p:nvSpPr>
        <p:spPr>
          <a:xfrm>
            <a:off x="594360" y="1737360"/>
            <a:ext cx="5349240" cy="548640"/>
          </a:xfrm>
          <a:prstGeom prst="rect">
            <a:avLst/>
          </a:prstGeom>
          <a:solidFill>
            <a:srgbClr val="FF4D8D"/>
          </a:solidFill>
          <a:ln w="34925">
            <a:solidFill>
              <a:srgbClr val="000000"/>
            </a:solidFill>
            <a:prstDash val="solid"/>
          </a:ln>
        </p:spPr>
      </p:sp>
      <p:sp>
        <p:nvSpPr>
          <p:cNvPr id="8" name="Text 6"/>
          <p:cNvSpPr/>
          <p:nvPr/>
        </p:nvSpPr>
        <p:spPr>
          <a:xfrm>
            <a:off x="868680" y="1847088"/>
            <a:ext cx="4800600" cy="347472"/>
          </a:xfrm>
          <a:prstGeom prst="rect">
            <a:avLst/>
          </a:prstGeom>
          <a:noFill/>
          <a:ln/>
        </p:spPr>
        <p:txBody>
          <a:bodyPr wrap="square" lIns="0" tIns="0" rIns="0" bIns="0" rtlCol="0" anchor="ctr"/>
          <a:lstStyle/>
          <a:p>
            <a:pPr indent="0" marL="0">
              <a:buNone/>
            </a:pPr>
            <a:r>
              <a:rPr lang="en-US" sz="1500" b="1" spc="40" kern="0" dirty="0">
                <a:solidFill>
                  <a:srgbClr val="000000"/>
                </a:solidFill>
                <a:latin typeface="Arial" pitchFamily="34" charset="0"/>
                <a:ea typeface="Arial" pitchFamily="34" charset="-122"/>
                <a:cs typeface="Arial" pitchFamily="34" charset="-120"/>
              </a:rPr>
              <a:t>DESTRUCTIVE</a:t>
            </a:r>
            <a:endParaRPr lang="en-US" sz="1500" dirty="0"/>
          </a:p>
        </p:txBody>
      </p:sp>
      <p:sp>
        <p:nvSpPr>
          <p:cNvPr id="9" name="Shape 7"/>
          <p:cNvSpPr/>
          <p:nvPr/>
        </p:nvSpPr>
        <p:spPr>
          <a:xfrm>
            <a:off x="886968" y="2697480"/>
            <a:ext cx="1371600" cy="566928"/>
          </a:xfrm>
          <a:prstGeom prst="rect">
            <a:avLst/>
          </a:prstGeom>
          <a:solidFill>
            <a:srgbClr val="E4E4DE"/>
          </a:solidFill>
          <a:ln w="28575">
            <a:solidFill>
              <a:srgbClr val="B4B4AC"/>
            </a:solidFill>
            <a:prstDash val="solid"/>
          </a:ln>
        </p:spPr>
      </p:sp>
      <p:sp>
        <p:nvSpPr>
          <p:cNvPr id="10" name="Text 8"/>
          <p:cNvSpPr/>
          <p:nvPr/>
        </p:nvSpPr>
        <p:spPr>
          <a:xfrm>
            <a:off x="886968" y="2843784"/>
            <a:ext cx="1371600" cy="292608"/>
          </a:xfrm>
          <a:prstGeom prst="rect">
            <a:avLst/>
          </a:prstGeom>
          <a:noFill/>
          <a:ln/>
        </p:spPr>
        <p:txBody>
          <a:bodyPr wrap="square" lIns="0" tIns="0" rIns="0" bIns="0" rtlCol="0" anchor="ctr"/>
          <a:lstStyle/>
          <a:p>
            <a:pPr algn="ctr" indent="0" marL="0">
              <a:buNone/>
            </a:pPr>
            <a:r>
              <a:rPr lang="en-US" sz="1100" b="1" dirty="0">
                <a:solidFill>
                  <a:srgbClr val="9A9A92"/>
                </a:solidFill>
                <a:latin typeface="Arial" pitchFamily="34" charset="0"/>
                <a:ea typeface="Arial" pitchFamily="34" charset="-122"/>
                <a:cs typeface="Arial" pitchFamily="34" charset="-120"/>
              </a:rPr>
              <a:t>CUBE</a:t>
            </a:r>
            <a:endParaRPr lang="en-US" sz="1100" dirty="0"/>
          </a:p>
        </p:txBody>
      </p:sp>
      <p:sp>
        <p:nvSpPr>
          <p:cNvPr id="11" name="Shape 9"/>
          <p:cNvSpPr/>
          <p:nvPr/>
        </p:nvSpPr>
        <p:spPr>
          <a:xfrm>
            <a:off x="996696" y="2807208"/>
            <a:ext cx="1152144" cy="347472"/>
          </a:xfrm>
          <a:prstGeom prst="line">
            <a:avLst/>
          </a:prstGeom>
          <a:noFill/>
          <a:ln w="25400">
            <a:solidFill>
              <a:srgbClr val="9A9A92"/>
            </a:solidFill>
            <a:prstDash val="solid"/>
          </a:ln>
        </p:spPr>
      </p:sp>
      <p:sp>
        <p:nvSpPr>
          <p:cNvPr id="12" name="Shape 10"/>
          <p:cNvSpPr/>
          <p:nvPr/>
        </p:nvSpPr>
        <p:spPr>
          <a:xfrm>
            <a:off x="996696" y="3154680"/>
            <a:ext cx="1152144" cy="-347472"/>
          </a:xfrm>
          <a:prstGeom prst="line">
            <a:avLst/>
          </a:prstGeom>
          <a:noFill/>
          <a:ln w="25400">
            <a:solidFill>
              <a:srgbClr val="9A9A92"/>
            </a:solidFill>
            <a:prstDash val="solid"/>
          </a:ln>
        </p:spPr>
      </p:sp>
      <p:sp>
        <p:nvSpPr>
          <p:cNvPr id="13" name="Shape 11"/>
          <p:cNvSpPr/>
          <p:nvPr/>
        </p:nvSpPr>
        <p:spPr>
          <a:xfrm rot="5400000">
            <a:off x="2331720" y="2798064"/>
            <a:ext cx="310896" cy="365760"/>
          </a:xfrm>
          <a:prstGeom prst="triangle">
            <a:avLst/>
          </a:prstGeom>
          <a:solidFill>
            <a:srgbClr val="B4B4AC"/>
          </a:solidFill>
          <a:ln w="19050">
            <a:solidFill>
              <a:srgbClr val="000000"/>
            </a:solidFill>
            <a:prstDash val="solid"/>
          </a:ln>
        </p:spPr>
      </p:sp>
      <p:sp>
        <p:nvSpPr>
          <p:cNvPr id="14" name="Shape 12"/>
          <p:cNvSpPr/>
          <p:nvPr/>
        </p:nvSpPr>
        <p:spPr>
          <a:xfrm>
            <a:off x="2514600" y="2697480"/>
            <a:ext cx="1371600" cy="566928"/>
          </a:xfrm>
          <a:prstGeom prst="rect">
            <a:avLst/>
          </a:prstGeom>
          <a:solidFill>
            <a:srgbClr val="E4E4DE"/>
          </a:solidFill>
          <a:ln w="28575">
            <a:solidFill>
              <a:srgbClr val="B4B4AC"/>
            </a:solidFill>
            <a:prstDash val="solid"/>
          </a:ln>
        </p:spPr>
      </p:sp>
      <p:sp>
        <p:nvSpPr>
          <p:cNvPr id="15" name="Text 13"/>
          <p:cNvSpPr/>
          <p:nvPr/>
        </p:nvSpPr>
        <p:spPr>
          <a:xfrm>
            <a:off x="2514600" y="2843784"/>
            <a:ext cx="1371600" cy="292608"/>
          </a:xfrm>
          <a:prstGeom prst="rect">
            <a:avLst/>
          </a:prstGeom>
          <a:noFill/>
          <a:ln/>
        </p:spPr>
        <p:txBody>
          <a:bodyPr wrap="square" lIns="0" tIns="0" rIns="0" bIns="0" rtlCol="0" anchor="ctr"/>
          <a:lstStyle/>
          <a:p>
            <a:pPr algn="ctr" indent="0" marL="0">
              <a:buNone/>
            </a:pPr>
            <a:r>
              <a:rPr lang="en-US" sz="1100" b="1" dirty="0">
                <a:solidFill>
                  <a:srgbClr val="9A9A92"/>
                </a:solidFill>
                <a:latin typeface="Arial" pitchFamily="34" charset="0"/>
                <a:ea typeface="Arial" pitchFamily="34" charset="-122"/>
                <a:cs typeface="Arial" pitchFamily="34" charset="-120"/>
              </a:rPr>
              <a:t>SPHERE</a:t>
            </a:r>
            <a:endParaRPr lang="en-US" sz="1100" dirty="0"/>
          </a:p>
        </p:txBody>
      </p:sp>
      <p:sp>
        <p:nvSpPr>
          <p:cNvPr id="16" name="Shape 14"/>
          <p:cNvSpPr/>
          <p:nvPr/>
        </p:nvSpPr>
        <p:spPr>
          <a:xfrm>
            <a:off x="2624328" y="2807208"/>
            <a:ext cx="1152144" cy="347472"/>
          </a:xfrm>
          <a:prstGeom prst="line">
            <a:avLst/>
          </a:prstGeom>
          <a:noFill/>
          <a:ln w="25400">
            <a:solidFill>
              <a:srgbClr val="9A9A92"/>
            </a:solidFill>
            <a:prstDash val="solid"/>
          </a:ln>
        </p:spPr>
      </p:sp>
      <p:sp>
        <p:nvSpPr>
          <p:cNvPr id="17" name="Shape 15"/>
          <p:cNvSpPr/>
          <p:nvPr/>
        </p:nvSpPr>
        <p:spPr>
          <a:xfrm>
            <a:off x="2624328" y="3154680"/>
            <a:ext cx="1152144" cy="-347472"/>
          </a:xfrm>
          <a:prstGeom prst="line">
            <a:avLst/>
          </a:prstGeom>
          <a:noFill/>
          <a:ln w="25400">
            <a:solidFill>
              <a:srgbClr val="9A9A92"/>
            </a:solidFill>
            <a:prstDash val="solid"/>
          </a:ln>
        </p:spPr>
      </p:sp>
      <p:sp>
        <p:nvSpPr>
          <p:cNvPr id="18" name="Shape 16"/>
          <p:cNvSpPr/>
          <p:nvPr/>
        </p:nvSpPr>
        <p:spPr>
          <a:xfrm rot="5400000">
            <a:off x="3959352" y="2798064"/>
            <a:ext cx="310896" cy="365760"/>
          </a:xfrm>
          <a:prstGeom prst="triangle">
            <a:avLst/>
          </a:prstGeom>
          <a:solidFill>
            <a:srgbClr val="B4B4AC"/>
          </a:solidFill>
          <a:ln w="19050">
            <a:solidFill>
              <a:srgbClr val="000000"/>
            </a:solidFill>
            <a:prstDash val="solid"/>
          </a:ln>
        </p:spPr>
      </p:sp>
      <p:sp>
        <p:nvSpPr>
          <p:cNvPr id="19" name="Shape 17"/>
          <p:cNvSpPr/>
          <p:nvPr/>
        </p:nvSpPr>
        <p:spPr>
          <a:xfrm>
            <a:off x="4142232" y="2697480"/>
            <a:ext cx="1371600" cy="566928"/>
          </a:xfrm>
          <a:prstGeom prst="rect">
            <a:avLst/>
          </a:prstGeom>
          <a:solidFill>
            <a:srgbClr val="000000"/>
          </a:solidFill>
          <a:ln w="28575">
            <a:solidFill>
              <a:srgbClr val="000000"/>
            </a:solidFill>
            <a:prstDash val="solid"/>
          </a:ln>
        </p:spPr>
      </p:sp>
      <p:sp>
        <p:nvSpPr>
          <p:cNvPr id="20" name="Text 18"/>
          <p:cNvSpPr/>
          <p:nvPr/>
        </p:nvSpPr>
        <p:spPr>
          <a:xfrm>
            <a:off x="4142232" y="2843784"/>
            <a:ext cx="1371600" cy="292608"/>
          </a:xfrm>
          <a:prstGeom prst="rect">
            <a:avLst/>
          </a:prstGeom>
          <a:noFill/>
          <a:ln/>
        </p:spPr>
        <p:txBody>
          <a:bodyPr wrap="square" lIns="0" tIns="0" rIns="0" bIns="0" rtlCol="0" anchor="ctr"/>
          <a:lstStyle/>
          <a:p>
            <a:pPr algn="ctr" indent="0" marL="0">
              <a:buNone/>
            </a:pPr>
            <a:r>
              <a:rPr lang="en-US" sz="1100" b="1" dirty="0">
                <a:solidFill>
                  <a:srgbClr val="FF4D8D"/>
                </a:solidFill>
                <a:latin typeface="Arial" pitchFamily="34" charset="0"/>
                <a:ea typeface="Arial" pitchFamily="34" charset="-122"/>
                <a:cs typeface="Arial" pitchFamily="34" charset="-120"/>
              </a:rPr>
              <a:t>ONE MESH</a:t>
            </a:r>
            <a:endParaRPr lang="en-US" sz="1100" dirty="0"/>
          </a:p>
        </p:txBody>
      </p:sp>
      <p:sp>
        <p:nvSpPr>
          <p:cNvPr id="21" name="Text 19"/>
          <p:cNvSpPr/>
          <p:nvPr/>
        </p:nvSpPr>
        <p:spPr>
          <a:xfrm>
            <a:off x="886968" y="3310128"/>
            <a:ext cx="2999232" cy="237744"/>
          </a:xfrm>
          <a:prstGeom prst="rect">
            <a:avLst/>
          </a:prstGeom>
          <a:noFill/>
          <a:ln/>
        </p:spPr>
        <p:txBody>
          <a:bodyPr wrap="square" lIns="0" tIns="0" rIns="0" bIns="0" rtlCol="0" anchor="ctr"/>
          <a:lstStyle/>
          <a:p>
            <a:pPr algn="ctr" indent="0" marL="0">
              <a:buNone/>
            </a:pPr>
            <a:r>
              <a:rPr lang="en-US" sz="1050" i="1" dirty="0">
                <a:solidFill>
                  <a:srgbClr val="9A9A92"/>
                </a:solidFill>
                <a:latin typeface="Calibri" pitchFamily="34" charset="0"/>
                <a:ea typeface="Calibri" pitchFamily="34" charset="-122"/>
                <a:cs typeface="Calibri" pitchFamily="34" charset="-120"/>
              </a:rPr>
              <a:t>gone</a:t>
            </a:r>
            <a:endParaRPr lang="en-US" sz="1050" dirty="0"/>
          </a:p>
        </p:txBody>
      </p:sp>
      <p:sp>
        <p:nvSpPr>
          <p:cNvPr id="22" name="Shape 20"/>
          <p:cNvSpPr/>
          <p:nvPr/>
        </p:nvSpPr>
        <p:spPr>
          <a:xfrm>
            <a:off x="4892040" y="3291840"/>
            <a:ext cx="0" cy="621792"/>
          </a:xfrm>
          <a:prstGeom prst="line">
            <a:avLst/>
          </a:prstGeom>
          <a:noFill/>
          <a:ln w="38100">
            <a:solidFill>
              <a:srgbClr val="FF4D8D"/>
            </a:solidFill>
            <a:prstDash val="solid"/>
          </a:ln>
        </p:spPr>
      </p:sp>
      <p:sp>
        <p:nvSpPr>
          <p:cNvPr id="23" name="Shape 21"/>
          <p:cNvSpPr/>
          <p:nvPr/>
        </p:nvSpPr>
        <p:spPr>
          <a:xfrm>
            <a:off x="1463040" y="3913632"/>
            <a:ext cx="3429000" cy="0"/>
          </a:xfrm>
          <a:prstGeom prst="line">
            <a:avLst/>
          </a:prstGeom>
          <a:noFill/>
          <a:ln w="38100">
            <a:solidFill>
              <a:srgbClr val="FF4D8D"/>
            </a:solidFill>
            <a:prstDash val="solid"/>
          </a:ln>
        </p:spPr>
      </p:sp>
      <p:sp>
        <p:nvSpPr>
          <p:cNvPr id="24" name="Shape 22"/>
          <p:cNvSpPr/>
          <p:nvPr/>
        </p:nvSpPr>
        <p:spPr>
          <a:xfrm rot="16200000">
            <a:off x="1143000" y="3730752"/>
            <a:ext cx="310896" cy="365760"/>
          </a:xfrm>
          <a:prstGeom prst="triangle">
            <a:avLst/>
          </a:prstGeom>
          <a:solidFill>
            <a:srgbClr val="FF4D8D"/>
          </a:solidFill>
          <a:ln w="19050">
            <a:solidFill>
              <a:srgbClr val="000000"/>
            </a:solidFill>
            <a:prstDash val="solid"/>
          </a:ln>
        </p:spPr>
      </p:sp>
      <p:sp>
        <p:nvSpPr>
          <p:cNvPr id="25" name="Text 23"/>
          <p:cNvSpPr/>
          <p:nvPr/>
        </p:nvSpPr>
        <p:spPr>
          <a:xfrm>
            <a:off x="1417320" y="4023360"/>
            <a:ext cx="3566160" cy="274320"/>
          </a:xfrm>
          <a:prstGeom prst="rect">
            <a:avLst/>
          </a:prstGeom>
          <a:noFill/>
          <a:ln/>
        </p:spPr>
        <p:txBody>
          <a:bodyPr wrap="square" lIns="0" tIns="0" rIns="0" bIns="0" rtlCol="0" anchor="ctr"/>
          <a:lstStyle/>
          <a:p>
            <a:pPr algn="ctr" indent="0" marL="0">
              <a:buNone/>
            </a:pPr>
            <a:r>
              <a:rPr lang="en-US" sz="1100" b="1" spc="50" kern="0" dirty="0">
                <a:solidFill>
                  <a:srgbClr val="FF4D8D"/>
                </a:solidFill>
                <a:latin typeface="Arial" pitchFamily="34" charset="0"/>
                <a:ea typeface="Arial" pitchFamily="34" charset="-122"/>
                <a:cs typeface="Arial" pitchFamily="34" charset="-120"/>
              </a:rPr>
              <a:t>REBUILD FROM SCRATCH</a:t>
            </a:r>
            <a:endParaRPr lang="en-US" sz="1100" dirty="0"/>
          </a:p>
        </p:txBody>
      </p:sp>
      <p:sp>
        <p:nvSpPr>
          <p:cNvPr id="26" name="Text 24"/>
          <p:cNvSpPr/>
          <p:nvPr/>
        </p:nvSpPr>
        <p:spPr>
          <a:xfrm>
            <a:off x="886968" y="4617720"/>
            <a:ext cx="4764024" cy="548640"/>
          </a:xfrm>
          <a:prstGeom prst="rect">
            <a:avLst/>
          </a:prstGeom>
          <a:noFill/>
          <a:ln/>
        </p:spPr>
        <p:txBody>
          <a:bodyPr wrap="square" lIns="0" tIns="0" rIns="0" bIns="0" rtlCol="0" anchor="ctr"/>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The operations were discarded. The sphere no longer exists as anything you can edit.</a:t>
            </a:r>
            <a:endParaRPr lang="en-US" sz="1250" dirty="0"/>
          </a:p>
        </p:txBody>
      </p:sp>
      <p:sp>
        <p:nvSpPr>
          <p:cNvPr id="27" name="Shape 25"/>
          <p:cNvSpPr/>
          <p:nvPr/>
        </p:nvSpPr>
        <p:spPr>
          <a:xfrm>
            <a:off x="6286500" y="1805940"/>
            <a:ext cx="5349240" cy="3794760"/>
          </a:xfrm>
          <a:prstGeom prst="rect">
            <a:avLst/>
          </a:prstGeom>
          <a:solidFill>
            <a:srgbClr val="000000"/>
          </a:solidFill>
          <a:ln w="6350">
            <a:solidFill>
              <a:srgbClr val="000000"/>
            </a:solidFill>
            <a:prstDash val="solid"/>
          </a:ln>
        </p:spPr>
      </p:sp>
      <p:sp>
        <p:nvSpPr>
          <p:cNvPr id="28" name="Shape 26"/>
          <p:cNvSpPr/>
          <p:nvPr/>
        </p:nvSpPr>
        <p:spPr>
          <a:xfrm>
            <a:off x="6217920" y="1737360"/>
            <a:ext cx="5349240" cy="3794760"/>
          </a:xfrm>
          <a:prstGeom prst="rect">
            <a:avLst/>
          </a:prstGeom>
          <a:solidFill>
            <a:srgbClr val="FFFDF7"/>
          </a:solidFill>
          <a:ln w="34925">
            <a:solidFill>
              <a:srgbClr val="000000"/>
            </a:solidFill>
            <a:prstDash val="solid"/>
          </a:ln>
        </p:spPr>
      </p:sp>
      <p:sp>
        <p:nvSpPr>
          <p:cNvPr id="29" name="Shape 27"/>
          <p:cNvSpPr/>
          <p:nvPr/>
        </p:nvSpPr>
        <p:spPr>
          <a:xfrm>
            <a:off x="6217920" y="1737360"/>
            <a:ext cx="5349240" cy="548640"/>
          </a:xfrm>
          <a:prstGeom prst="rect">
            <a:avLst/>
          </a:prstGeom>
          <a:solidFill>
            <a:srgbClr val="C6F035"/>
          </a:solidFill>
          <a:ln w="34925">
            <a:solidFill>
              <a:srgbClr val="000000"/>
            </a:solidFill>
            <a:prstDash val="solid"/>
          </a:ln>
        </p:spPr>
      </p:sp>
      <p:sp>
        <p:nvSpPr>
          <p:cNvPr id="30" name="Text 28"/>
          <p:cNvSpPr/>
          <p:nvPr/>
        </p:nvSpPr>
        <p:spPr>
          <a:xfrm>
            <a:off x="6492240" y="1847088"/>
            <a:ext cx="4800600" cy="347472"/>
          </a:xfrm>
          <a:prstGeom prst="rect">
            <a:avLst/>
          </a:prstGeom>
          <a:noFill/>
          <a:ln/>
        </p:spPr>
        <p:txBody>
          <a:bodyPr wrap="square" lIns="0" tIns="0" rIns="0" bIns="0" rtlCol="0" anchor="ctr"/>
          <a:lstStyle/>
          <a:p>
            <a:pPr indent="0" marL="0">
              <a:buNone/>
            </a:pPr>
            <a:r>
              <a:rPr lang="en-US" sz="1500" b="1" spc="40" kern="0" dirty="0">
                <a:solidFill>
                  <a:srgbClr val="000000"/>
                </a:solidFill>
                <a:latin typeface="Arial" pitchFamily="34" charset="0"/>
                <a:ea typeface="Arial" pitchFamily="34" charset="-122"/>
                <a:cs typeface="Arial" pitchFamily="34" charset="-120"/>
              </a:rPr>
              <a:t>NON-DESTRUCTIVE</a:t>
            </a:r>
            <a:endParaRPr lang="en-US" sz="1500" dirty="0"/>
          </a:p>
        </p:txBody>
      </p:sp>
      <p:sp>
        <p:nvSpPr>
          <p:cNvPr id="31" name="Shape 29"/>
          <p:cNvSpPr/>
          <p:nvPr/>
        </p:nvSpPr>
        <p:spPr>
          <a:xfrm>
            <a:off x="7178040" y="2578608"/>
            <a:ext cx="1280160" cy="502920"/>
          </a:xfrm>
          <a:prstGeom prst="rect">
            <a:avLst/>
          </a:prstGeom>
          <a:solidFill>
            <a:srgbClr val="FFFDF7"/>
          </a:solidFill>
          <a:ln w="28575">
            <a:solidFill>
              <a:srgbClr val="000000"/>
            </a:solidFill>
            <a:prstDash val="solid"/>
          </a:ln>
        </p:spPr>
      </p:sp>
      <p:sp>
        <p:nvSpPr>
          <p:cNvPr id="32" name="Text 30"/>
          <p:cNvSpPr/>
          <p:nvPr/>
        </p:nvSpPr>
        <p:spPr>
          <a:xfrm>
            <a:off x="7178040" y="2697480"/>
            <a:ext cx="1280160" cy="274320"/>
          </a:xfrm>
          <a:prstGeom prst="rect">
            <a:avLst/>
          </a:prstGeom>
          <a:noFill/>
          <a:ln/>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CUBE</a:t>
            </a:r>
            <a:endParaRPr lang="en-US" sz="1050" dirty="0"/>
          </a:p>
        </p:txBody>
      </p:sp>
      <p:sp>
        <p:nvSpPr>
          <p:cNvPr id="33" name="Shape 31"/>
          <p:cNvSpPr/>
          <p:nvPr/>
        </p:nvSpPr>
        <p:spPr>
          <a:xfrm>
            <a:off x="7178040" y="3401568"/>
            <a:ext cx="1280160" cy="502920"/>
          </a:xfrm>
          <a:prstGeom prst="rect">
            <a:avLst/>
          </a:prstGeom>
          <a:solidFill>
            <a:srgbClr val="C6F035"/>
          </a:solidFill>
          <a:ln w="28575">
            <a:solidFill>
              <a:srgbClr val="000000"/>
            </a:solidFill>
            <a:prstDash val="solid"/>
          </a:ln>
        </p:spPr>
      </p:sp>
      <p:sp>
        <p:nvSpPr>
          <p:cNvPr id="34" name="Text 32"/>
          <p:cNvSpPr/>
          <p:nvPr/>
        </p:nvSpPr>
        <p:spPr>
          <a:xfrm>
            <a:off x="7178040" y="3520440"/>
            <a:ext cx="1280160" cy="274320"/>
          </a:xfrm>
          <a:prstGeom prst="rect">
            <a:avLst/>
          </a:prstGeom>
          <a:noFill/>
          <a:ln/>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SPHERE</a:t>
            </a:r>
            <a:endParaRPr lang="en-US" sz="1050" dirty="0"/>
          </a:p>
        </p:txBody>
      </p:sp>
      <p:sp>
        <p:nvSpPr>
          <p:cNvPr id="35" name="Shape 33"/>
          <p:cNvSpPr/>
          <p:nvPr/>
        </p:nvSpPr>
        <p:spPr>
          <a:xfrm>
            <a:off x="8869680" y="2990088"/>
            <a:ext cx="1188720" cy="502920"/>
          </a:xfrm>
          <a:prstGeom prst="rect">
            <a:avLst/>
          </a:prstGeom>
          <a:solidFill>
            <a:srgbClr val="FFFDF7"/>
          </a:solidFill>
          <a:ln w="28575">
            <a:solidFill>
              <a:srgbClr val="000000"/>
            </a:solidFill>
            <a:prstDash val="solid"/>
          </a:ln>
        </p:spPr>
      </p:sp>
      <p:sp>
        <p:nvSpPr>
          <p:cNvPr id="36" name="Text 34"/>
          <p:cNvSpPr/>
          <p:nvPr/>
        </p:nvSpPr>
        <p:spPr>
          <a:xfrm>
            <a:off x="8869680" y="3108960"/>
            <a:ext cx="1188720" cy="274320"/>
          </a:xfrm>
          <a:prstGeom prst="rect">
            <a:avLst/>
          </a:prstGeom>
          <a:noFill/>
          <a:ln/>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SUBTRACT</a:t>
            </a:r>
            <a:endParaRPr lang="en-US" sz="1050" dirty="0"/>
          </a:p>
        </p:txBody>
      </p:sp>
      <p:sp>
        <p:nvSpPr>
          <p:cNvPr id="37" name="Shape 35"/>
          <p:cNvSpPr/>
          <p:nvPr/>
        </p:nvSpPr>
        <p:spPr>
          <a:xfrm>
            <a:off x="10287000" y="2990088"/>
            <a:ext cx="1051560" cy="502920"/>
          </a:xfrm>
          <a:prstGeom prst="rect">
            <a:avLst/>
          </a:prstGeom>
          <a:solidFill>
            <a:srgbClr val="FFE500"/>
          </a:solidFill>
          <a:ln w="28575">
            <a:solidFill>
              <a:srgbClr val="000000"/>
            </a:solidFill>
            <a:prstDash val="solid"/>
          </a:ln>
        </p:spPr>
      </p:sp>
      <p:sp>
        <p:nvSpPr>
          <p:cNvPr id="38" name="Text 36"/>
          <p:cNvSpPr/>
          <p:nvPr/>
        </p:nvSpPr>
        <p:spPr>
          <a:xfrm>
            <a:off x="10287000" y="3108960"/>
            <a:ext cx="1051560" cy="274320"/>
          </a:xfrm>
          <a:prstGeom prst="rect">
            <a:avLst/>
          </a:prstGeom>
          <a:noFill/>
          <a:ln/>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RESULT</a:t>
            </a:r>
            <a:endParaRPr lang="en-US" sz="1050" dirty="0"/>
          </a:p>
        </p:txBody>
      </p:sp>
      <p:sp>
        <p:nvSpPr>
          <p:cNvPr id="39" name="Shape 37"/>
          <p:cNvSpPr/>
          <p:nvPr/>
        </p:nvSpPr>
        <p:spPr>
          <a:xfrm>
            <a:off x="8458200" y="2825496"/>
            <a:ext cx="411480" cy="301752"/>
          </a:xfrm>
          <a:prstGeom prst="line">
            <a:avLst/>
          </a:prstGeom>
          <a:noFill/>
          <a:ln w="25400">
            <a:solidFill>
              <a:srgbClr val="000000"/>
            </a:solidFill>
            <a:prstDash val="solid"/>
          </a:ln>
        </p:spPr>
      </p:sp>
      <p:sp>
        <p:nvSpPr>
          <p:cNvPr id="40" name="Shape 38"/>
          <p:cNvSpPr/>
          <p:nvPr/>
        </p:nvSpPr>
        <p:spPr>
          <a:xfrm>
            <a:off x="8458200" y="3648456"/>
            <a:ext cx="411480" cy="-246888"/>
          </a:xfrm>
          <a:prstGeom prst="line">
            <a:avLst/>
          </a:prstGeom>
          <a:noFill/>
          <a:ln w="25400">
            <a:solidFill>
              <a:srgbClr val="000000"/>
            </a:solidFill>
            <a:prstDash val="solid"/>
          </a:ln>
        </p:spPr>
      </p:sp>
      <p:sp>
        <p:nvSpPr>
          <p:cNvPr id="41" name="Shape 39"/>
          <p:cNvSpPr/>
          <p:nvPr/>
        </p:nvSpPr>
        <p:spPr>
          <a:xfrm>
            <a:off x="10058400" y="3236976"/>
            <a:ext cx="228600" cy="0"/>
          </a:xfrm>
          <a:prstGeom prst="line">
            <a:avLst/>
          </a:prstGeom>
          <a:noFill/>
          <a:ln w="25400">
            <a:solidFill>
              <a:srgbClr val="000000"/>
            </a:solidFill>
            <a:prstDash val="solid"/>
          </a:ln>
        </p:spPr>
      </p:sp>
      <p:sp>
        <p:nvSpPr>
          <p:cNvPr id="42" name="Shape 40"/>
          <p:cNvSpPr/>
          <p:nvPr/>
        </p:nvSpPr>
        <p:spPr>
          <a:xfrm rot="5400000">
            <a:off x="6720840" y="3465576"/>
            <a:ext cx="310896" cy="365760"/>
          </a:xfrm>
          <a:prstGeom prst="triangle">
            <a:avLst/>
          </a:prstGeom>
          <a:solidFill>
            <a:srgbClr val="FF4D8D"/>
          </a:solidFill>
          <a:ln w="19050">
            <a:solidFill>
              <a:srgbClr val="000000"/>
            </a:solidFill>
            <a:prstDash val="solid"/>
          </a:ln>
        </p:spPr>
      </p:sp>
      <p:sp>
        <p:nvSpPr>
          <p:cNvPr id="43" name="Text 41"/>
          <p:cNvSpPr/>
          <p:nvPr/>
        </p:nvSpPr>
        <p:spPr>
          <a:xfrm>
            <a:off x="6355080" y="3950208"/>
            <a:ext cx="2103120" cy="256032"/>
          </a:xfrm>
          <a:prstGeom prst="rect">
            <a:avLst/>
          </a:prstGeom>
          <a:noFill/>
          <a:ln/>
        </p:spPr>
        <p:txBody>
          <a:bodyPr wrap="square" lIns="0" tIns="0" rIns="0" bIns="0" rtlCol="0" anchor="ctr"/>
          <a:lstStyle/>
          <a:p>
            <a:pPr algn="ctr" indent="0" marL="0">
              <a:buNone/>
            </a:pPr>
            <a:r>
              <a:rPr lang="en-US" sz="1000" b="1" spc="40" kern="0" dirty="0">
                <a:solidFill>
                  <a:srgbClr val="FF4D8D"/>
                </a:solidFill>
                <a:latin typeface="Arial" pitchFamily="34" charset="0"/>
                <a:ea typeface="Arial" pitchFamily="34" charset="-122"/>
                <a:cs typeface="Arial" pitchFamily="34" charset="-120"/>
              </a:rPr>
              <a:t>CHANGE r HERE</a:t>
            </a:r>
            <a:endParaRPr lang="en-US" sz="1000" dirty="0"/>
          </a:p>
        </p:txBody>
      </p:sp>
      <p:sp>
        <p:nvSpPr>
          <p:cNvPr id="44" name="Text 42"/>
          <p:cNvSpPr/>
          <p:nvPr/>
        </p:nvSpPr>
        <p:spPr>
          <a:xfrm>
            <a:off x="8732520" y="4023360"/>
            <a:ext cx="2651760" cy="457200"/>
          </a:xfrm>
          <a:prstGeom prst="rect">
            <a:avLst/>
          </a:prstGeom>
          <a:noFill/>
          <a:ln/>
        </p:spPr>
        <p:txBody>
          <a:bodyPr wrap="square" lIns="0" tIns="0" rIns="0" bIns="0" rtlCol="0" anchor="ctr"/>
          <a:lstStyle/>
          <a:p>
            <a:pPr algn="ctr" indent="0" marL="0">
              <a:lnSpc>
                <a:spcPts val="1200"/>
              </a:lnSpc>
              <a:buNone/>
            </a:pPr>
            <a:r>
              <a:rPr lang="en-US" sz="950" b="1" dirty="0">
                <a:solidFill>
                  <a:srgbClr val="000000"/>
                </a:solidFill>
                <a:latin typeface="Arial" pitchFamily="34" charset="0"/>
                <a:ea typeface="Arial" pitchFamily="34" charset="-122"/>
                <a:cs typeface="Arial" pitchFamily="34" charset="-120"/>
              </a:rPr>
              <a:t>EVERYTHING DOWNSTREAM</a:t>
            </a:r>
            <a:endParaRPr lang="en-US" sz="950" dirty="0"/>
          </a:p>
          <a:p>
            <a:pPr algn="ctr" indent="0" marL="0">
              <a:lnSpc>
                <a:spcPts val="1200"/>
              </a:lnSpc>
              <a:buNone/>
            </a:pPr>
            <a:r>
              <a:rPr lang="en-US" sz="950" b="1" dirty="0">
                <a:solidFill>
                  <a:srgbClr val="000000"/>
                </a:solidFill>
                <a:latin typeface="Arial" pitchFamily="34" charset="0"/>
                <a:ea typeface="Arial" pitchFamily="34" charset="-122"/>
                <a:cs typeface="Arial" pitchFamily="34" charset="-120"/>
              </a:rPr>
              <a:t>RECOMPUTES</a:t>
            </a:r>
            <a:endParaRPr lang="en-US" sz="950" dirty="0"/>
          </a:p>
        </p:txBody>
      </p:sp>
      <p:sp>
        <p:nvSpPr>
          <p:cNvPr id="45" name="Text 43"/>
          <p:cNvSpPr/>
          <p:nvPr/>
        </p:nvSpPr>
        <p:spPr>
          <a:xfrm>
            <a:off x="6510528" y="4617720"/>
            <a:ext cx="4764024" cy="548640"/>
          </a:xfrm>
          <a:prstGeom prst="rect">
            <a:avLst/>
          </a:prstGeom>
          <a:noFill/>
          <a:ln/>
        </p:spPr>
        <p:txBody>
          <a:bodyPr wrap="square" lIns="0" tIns="0" rIns="0" bIns="0" rtlCol="0" anchor="ctr"/>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Every input is still a live node. Edit it and the result rebuilds itself.</a:t>
            </a:r>
            <a:endParaRPr lang="en-US" sz="1250" dirty="0"/>
          </a:p>
        </p:txBody>
      </p:sp>
      <p:sp>
        <p:nvSpPr>
          <p:cNvPr id="46" name="Shape 44"/>
          <p:cNvSpPr/>
          <p:nvPr/>
        </p:nvSpPr>
        <p:spPr>
          <a:xfrm>
            <a:off x="662940" y="5783580"/>
            <a:ext cx="10972800" cy="658368"/>
          </a:xfrm>
          <a:prstGeom prst="rect">
            <a:avLst/>
          </a:prstGeom>
          <a:solidFill>
            <a:srgbClr val="000000"/>
          </a:solidFill>
          <a:ln w="6350">
            <a:solidFill>
              <a:srgbClr val="000000"/>
            </a:solidFill>
            <a:prstDash val="solid"/>
          </a:ln>
        </p:spPr>
      </p:sp>
      <p:sp>
        <p:nvSpPr>
          <p:cNvPr id="47" name="Shape 45"/>
          <p:cNvSpPr/>
          <p:nvPr/>
        </p:nvSpPr>
        <p:spPr>
          <a:xfrm>
            <a:off x="594360" y="5715000"/>
            <a:ext cx="10972800" cy="658368"/>
          </a:xfrm>
          <a:prstGeom prst="rect">
            <a:avLst/>
          </a:prstGeom>
          <a:solidFill>
            <a:srgbClr val="FFE500"/>
          </a:solidFill>
          <a:ln w="34925">
            <a:solidFill>
              <a:srgbClr val="000000"/>
            </a:solidFill>
            <a:prstDash val="solid"/>
          </a:ln>
        </p:spPr>
      </p:sp>
      <p:sp>
        <p:nvSpPr>
          <p:cNvPr id="48" name="Text 46"/>
          <p:cNvSpPr/>
          <p:nvPr/>
        </p:nvSpPr>
        <p:spPr>
          <a:xfrm>
            <a:off x="914400" y="5879592"/>
            <a:ext cx="10515600" cy="36576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0.1 REQUIRES YOUR OPERATION HISTORY TO BE INTACT. I WILL ASK TO SEE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THREE BOOLEANS</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Everything in Module 0 is built from these, applied in order.</a:t>
            </a:r>
            <a:endParaRPr lang="en-US" sz="1350" dirty="0"/>
          </a:p>
        </p:txBody>
      </p:sp>
      <p:sp>
        <p:nvSpPr>
          <p:cNvPr id="5" name="Shape 3"/>
          <p:cNvSpPr/>
          <p:nvPr/>
        </p:nvSpPr>
        <p:spPr>
          <a:xfrm>
            <a:off x="525780" y="1988820"/>
            <a:ext cx="3200400" cy="2926080"/>
          </a:xfrm>
          <a:prstGeom prst="rect">
            <a:avLst/>
          </a:prstGeom>
          <a:solidFill>
            <a:srgbClr val="000000"/>
          </a:solidFill>
          <a:ln w="6350">
            <a:solidFill>
              <a:srgbClr val="000000"/>
            </a:solidFill>
            <a:prstDash val="solid"/>
          </a:ln>
        </p:spPr>
      </p:sp>
      <p:sp>
        <p:nvSpPr>
          <p:cNvPr id="6" name="Shape 4"/>
          <p:cNvSpPr/>
          <p:nvPr/>
        </p:nvSpPr>
        <p:spPr>
          <a:xfrm>
            <a:off x="457200" y="1920240"/>
            <a:ext cx="3200400" cy="2926080"/>
          </a:xfrm>
          <a:prstGeom prst="rect">
            <a:avLst/>
          </a:prstGeom>
          <a:solidFill>
            <a:srgbClr val="FFFDF7"/>
          </a:solidFill>
          <a:ln w="34925">
            <a:solidFill>
              <a:srgbClr val="000000"/>
            </a:solidFill>
            <a:prstDash val="solid"/>
          </a:ln>
        </p:spPr>
      </p:sp>
      <p:sp>
        <p:nvSpPr>
          <p:cNvPr id="7" name="Shape 5"/>
          <p:cNvSpPr/>
          <p:nvPr/>
        </p:nvSpPr>
        <p:spPr>
          <a:xfrm>
            <a:off x="1005840" y="2331720"/>
            <a:ext cx="2103120" cy="1463040"/>
          </a:xfrm>
          <a:prstGeom prst="rect">
            <a:avLst/>
          </a:prstGeom>
          <a:solidFill>
            <a:srgbClr val="FFFDF7"/>
          </a:solidFill>
          <a:ln w="28575">
            <a:solidFill>
              <a:srgbClr val="000000"/>
            </a:solidFill>
            <a:prstDash val="solid"/>
          </a:ln>
        </p:spPr>
      </p:sp>
      <p:sp>
        <p:nvSpPr>
          <p:cNvPr id="8" name="Shape 6"/>
          <p:cNvSpPr/>
          <p:nvPr/>
        </p:nvSpPr>
        <p:spPr>
          <a:xfrm>
            <a:off x="1005840" y="2331720"/>
            <a:ext cx="1388059" cy="1463040"/>
          </a:xfrm>
          <a:prstGeom prst="rect">
            <a:avLst/>
          </a:prstGeom>
          <a:solidFill>
            <a:srgbClr val="C6F035"/>
          </a:solidFill>
          <a:ln w="28575">
            <a:solidFill>
              <a:srgbClr val="000000"/>
            </a:solidFill>
            <a:prstDash val="solid"/>
          </a:ln>
        </p:spPr>
      </p:sp>
      <p:sp>
        <p:nvSpPr>
          <p:cNvPr id="9" name="Shape 7"/>
          <p:cNvSpPr/>
          <p:nvPr/>
        </p:nvSpPr>
        <p:spPr>
          <a:xfrm>
            <a:off x="1931213" y="2580437"/>
            <a:ext cx="1093622" cy="965606"/>
          </a:xfrm>
          <a:prstGeom prst="ellipse">
            <a:avLst/>
          </a:prstGeom>
          <a:solidFill>
            <a:srgbClr val="C6F035"/>
          </a:solidFill>
          <a:ln w="28575">
            <a:solidFill>
              <a:srgbClr val="000000"/>
            </a:solidFill>
            <a:prstDash val="solid"/>
          </a:ln>
        </p:spPr>
      </p:sp>
      <p:sp>
        <p:nvSpPr>
          <p:cNvPr id="10" name="Shape 8"/>
          <p:cNvSpPr/>
          <p:nvPr/>
        </p:nvSpPr>
        <p:spPr>
          <a:xfrm>
            <a:off x="731520" y="4023360"/>
            <a:ext cx="2651760" cy="0"/>
          </a:xfrm>
          <a:prstGeom prst="line">
            <a:avLst/>
          </a:prstGeom>
          <a:noFill/>
          <a:ln w="25400">
            <a:solidFill>
              <a:srgbClr val="000000"/>
            </a:solidFill>
            <a:prstDash val="solid"/>
          </a:ln>
        </p:spPr>
      </p:sp>
      <p:sp>
        <p:nvSpPr>
          <p:cNvPr id="11" name="Text 9"/>
          <p:cNvSpPr/>
          <p:nvPr/>
        </p:nvSpPr>
        <p:spPr>
          <a:xfrm>
            <a:off x="731520" y="4151376"/>
            <a:ext cx="2651760" cy="365760"/>
          </a:xfrm>
          <a:prstGeom prst="rect">
            <a:avLst/>
          </a:prstGeom>
          <a:noFill/>
          <a:ln/>
        </p:spPr>
        <p:txBody>
          <a:bodyPr wrap="square" lIns="0" tIns="0" rIns="0" bIns="0" rtlCol="0" anchor="ctr"/>
          <a:lstStyle/>
          <a:p>
            <a:pPr indent="0" marL="0">
              <a:buNone/>
            </a:pPr>
            <a:r>
              <a:rPr lang="en-US" sz="1600" b="1" spc="-20" kern="0" dirty="0">
                <a:solidFill>
                  <a:srgbClr val="000000"/>
                </a:solidFill>
                <a:latin typeface="Arial" pitchFamily="34" charset="0"/>
                <a:ea typeface="Arial" pitchFamily="34" charset="-122"/>
                <a:cs typeface="Arial" pitchFamily="34" charset="-120"/>
              </a:rPr>
              <a:t>UNION</a:t>
            </a:r>
            <a:endParaRPr lang="en-US" sz="1600" dirty="0"/>
          </a:p>
        </p:txBody>
      </p:sp>
      <p:sp>
        <p:nvSpPr>
          <p:cNvPr id="12" name="Text 10"/>
          <p:cNvSpPr/>
          <p:nvPr/>
        </p:nvSpPr>
        <p:spPr>
          <a:xfrm>
            <a:off x="731520" y="4517136"/>
            <a:ext cx="2651760" cy="274320"/>
          </a:xfrm>
          <a:prstGeom prst="rect">
            <a:avLst/>
          </a:prstGeom>
          <a:noFill/>
          <a:ln/>
        </p:spPr>
        <p:txBody>
          <a:bodyPr wrap="square" lIns="0" tIns="0" rIns="0" bIns="0" rtlCol="0" anchor="ctr"/>
          <a:lstStyle/>
          <a:p>
            <a:pPr indent="0" marL="0">
              <a:buNone/>
            </a:pPr>
            <a:r>
              <a:rPr lang="en-US" sz="1300" dirty="0">
                <a:solidFill>
                  <a:srgbClr val="6B6B6B"/>
                </a:solidFill>
                <a:latin typeface="Courier New" pitchFamily="34" charset="0"/>
                <a:ea typeface="Courier New" pitchFamily="34" charset="-122"/>
                <a:cs typeface="Courier New" pitchFamily="34" charset="-120"/>
              </a:rPr>
              <a:t>A + B</a:t>
            </a:r>
            <a:endParaRPr lang="en-US" sz="1300" dirty="0"/>
          </a:p>
        </p:txBody>
      </p:sp>
      <p:sp>
        <p:nvSpPr>
          <p:cNvPr id="13" name="Shape 11"/>
          <p:cNvSpPr/>
          <p:nvPr/>
        </p:nvSpPr>
        <p:spPr>
          <a:xfrm>
            <a:off x="4549140" y="1988820"/>
            <a:ext cx="3200400" cy="2926080"/>
          </a:xfrm>
          <a:prstGeom prst="rect">
            <a:avLst/>
          </a:prstGeom>
          <a:solidFill>
            <a:srgbClr val="000000"/>
          </a:solidFill>
          <a:ln w="6350">
            <a:solidFill>
              <a:srgbClr val="000000"/>
            </a:solidFill>
            <a:prstDash val="solid"/>
          </a:ln>
        </p:spPr>
      </p:sp>
      <p:sp>
        <p:nvSpPr>
          <p:cNvPr id="14" name="Shape 12"/>
          <p:cNvSpPr/>
          <p:nvPr/>
        </p:nvSpPr>
        <p:spPr>
          <a:xfrm>
            <a:off x="4480560" y="1920240"/>
            <a:ext cx="3200400" cy="2926080"/>
          </a:xfrm>
          <a:prstGeom prst="rect">
            <a:avLst/>
          </a:prstGeom>
          <a:solidFill>
            <a:srgbClr val="FFFDF7"/>
          </a:solidFill>
          <a:ln w="34925">
            <a:solidFill>
              <a:srgbClr val="000000"/>
            </a:solidFill>
            <a:prstDash val="solid"/>
          </a:ln>
        </p:spPr>
      </p:sp>
      <p:sp>
        <p:nvSpPr>
          <p:cNvPr id="15" name="Shape 13"/>
          <p:cNvSpPr/>
          <p:nvPr/>
        </p:nvSpPr>
        <p:spPr>
          <a:xfrm>
            <a:off x="5029200" y="2331720"/>
            <a:ext cx="2103120" cy="1463040"/>
          </a:xfrm>
          <a:prstGeom prst="rect">
            <a:avLst/>
          </a:prstGeom>
          <a:solidFill>
            <a:srgbClr val="FFFDF7"/>
          </a:solidFill>
          <a:ln w="28575">
            <a:solidFill>
              <a:srgbClr val="000000"/>
            </a:solidFill>
            <a:prstDash val="solid"/>
          </a:ln>
        </p:spPr>
      </p:sp>
      <p:sp>
        <p:nvSpPr>
          <p:cNvPr id="16" name="Shape 14"/>
          <p:cNvSpPr/>
          <p:nvPr/>
        </p:nvSpPr>
        <p:spPr>
          <a:xfrm>
            <a:off x="5029200" y="2331720"/>
            <a:ext cx="1388059" cy="1463040"/>
          </a:xfrm>
          <a:prstGeom prst="rect">
            <a:avLst/>
          </a:prstGeom>
          <a:solidFill>
            <a:srgbClr val="FF4D8D"/>
          </a:solidFill>
          <a:ln w="28575">
            <a:solidFill>
              <a:srgbClr val="000000"/>
            </a:solidFill>
            <a:prstDash val="solid"/>
          </a:ln>
        </p:spPr>
      </p:sp>
      <p:sp>
        <p:nvSpPr>
          <p:cNvPr id="17" name="Shape 15"/>
          <p:cNvSpPr/>
          <p:nvPr/>
        </p:nvSpPr>
        <p:spPr>
          <a:xfrm>
            <a:off x="5954573" y="2580437"/>
            <a:ext cx="1093622" cy="965606"/>
          </a:xfrm>
          <a:prstGeom prst="ellipse">
            <a:avLst/>
          </a:prstGeom>
          <a:solidFill>
            <a:srgbClr val="FFFDF7"/>
          </a:solidFill>
          <a:ln w="28575">
            <a:solidFill>
              <a:srgbClr val="000000"/>
            </a:solidFill>
            <a:prstDash val="solid"/>
          </a:ln>
        </p:spPr>
      </p:sp>
      <p:sp>
        <p:nvSpPr>
          <p:cNvPr id="18" name="Shape 16"/>
          <p:cNvSpPr/>
          <p:nvPr/>
        </p:nvSpPr>
        <p:spPr>
          <a:xfrm>
            <a:off x="4754880" y="4023360"/>
            <a:ext cx="2651760" cy="0"/>
          </a:xfrm>
          <a:prstGeom prst="line">
            <a:avLst/>
          </a:prstGeom>
          <a:noFill/>
          <a:ln w="25400">
            <a:solidFill>
              <a:srgbClr val="000000"/>
            </a:solidFill>
            <a:prstDash val="solid"/>
          </a:ln>
        </p:spPr>
      </p:sp>
      <p:sp>
        <p:nvSpPr>
          <p:cNvPr id="19" name="Text 17"/>
          <p:cNvSpPr/>
          <p:nvPr/>
        </p:nvSpPr>
        <p:spPr>
          <a:xfrm>
            <a:off x="4754880" y="4151376"/>
            <a:ext cx="2651760" cy="365760"/>
          </a:xfrm>
          <a:prstGeom prst="rect">
            <a:avLst/>
          </a:prstGeom>
          <a:noFill/>
          <a:ln/>
        </p:spPr>
        <p:txBody>
          <a:bodyPr wrap="square" lIns="0" tIns="0" rIns="0" bIns="0" rtlCol="0" anchor="ctr"/>
          <a:lstStyle/>
          <a:p>
            <a:pPr indent="0" marL="0">
              <a:buNone/>
            </a:pPr>
            <a:r>
              <a:rPr lang="en-US" sz="1600" b="1" spc="-20" kern="0" dirty="0">
                <a:solidFill>
                  <a:srgbClr val="000000"/>
                </a:solidFill>
                <a:latin typeface="Arial" pitchFamily="34" charset="0"/>
                <a:ea typeface="Arial" pitchFamily="34" charset="-122"/>
                <a:cs typeface="Arial" pitchFamily="34" charset="-120"/>
              </a:rPr>
              <a:t>DIFFERENCE</a:t>
            </a:r>
            <a:endParaRPr lang="en-US" sz="1600" dirty="0"/>
          </a:p>
        </p:txBody>
      </p:sp>
      <p:sp>
        <p:nvSpPr>
          <p:cNvPr id="20" name="Text 18"/>
          <p:cNvSpPr/>
          <p:nvPr/>
        </p:nvSpPr>
        <p:spPr>
          <a:xfrm>
            <a:off x="4754880" y="4517136"/>
            <a:ext cx="2651760" cy="274320"/>
          </a:xfrm>
          <a:prstGeom prst="rect">
            <a:avLst/>
          </a:prstGeom>
          <a:noFill/>
          <a:ln/>
        </p:spPr>
        <p:txBody>
          <a:bodyPr wrap="square" lIns="0" tIns="0" rIns="0" bIns="0" rtlCol="0" anchor="ctr"/>
          <a:lstStyle/>
          <a:p>
            <a:pPr indent="0" marL="0">
              <a:buNone/>
            </a:pPr>
            <a:r>
              <a:rPr lang="en-US" sz="1300" dirty="0">
                <a:solidFill>
                  <a:srgbClr val="6B6B6B"/>
                </a:solidFill>
                <a:latin typeface="Courier New" pitchFamily="34" charset="0"/>
                <a:ea typeface="Courier New" pitchFamily="34" charset="-122"/>
                <a:cs typeface="Courier New" pitchFamily="34" charset="-120"/>
              </a:rPr>
              <a:t>A − B</a:t>
            </a:r>
            <a:endParaRPr lang="en-US" sz="1300" dirty="0"/>
          </a:p>
        </p:txBody>
      </p:sp>
      <p:sp>
        <p:nvSpPr>
          <p:cNvPr id="21" name="Shape 19"/>
          <p:cNvSpPr/>
          <p:nvPr/>
        </p:nvSpPr>
        <p:spPr>
          <a:xfrm>
            <a:off x="8572500" y="1988820"/>
            <a:ext cx="3200400" cy="2926080"/>
          </a:xfrm>
          <a:prstGeom prst="rect">
            <a:avLst/>
          </a:prstGeom>
          <a:solidFill>
            <a:srgbClr val="000000"/>
          </a:solidFill>
          <a:ln w="6350">
            <a:solidFill>
              <a:srgbClr val="000000"/>
            </a:solidFill>
            <a:prstDash val="solid"/>
          </a:ln>
        </p:spPr>
      </p:sp>
      <p:sp>
        <p:nvSpPr>
          <p:cNvPr id="22" name="Shape 20"/>
          <p:cNvSpPr/>
          <p:nvPr/>
        </p:nvSpPr>
        <p:spPr>
          <a:xfrm>
            <a:off x="8503920" y="1920240"/>
            <a:ext cx="3200400" cy="2926080"/>
          </a:xfrm>
          <a:prstGeom prst="rect">
            <a:avLst/>
          </a:prstGeom>
          <a:solidFill>
            <a:srgbClr val="FFFDF7"/>
          </a:solidFill>
          <a:ln w="34925">
            <a:solidFill>
              <a:srgbClr val="000000"/>
            </a:solidFill>
            <a:prstDash val="solid"/>
          </a:ln>
        </p:spPr>
      </p:sp>
      <p:sp>
        <p:nvSpPr>
          <p:cNvPr id="23" name="Shape 21"/>
          <p:cNvSpPr/>
          <p:nvPr/>
        </p:nvSpPr>
        <p:spPr>
          <a:xfrm>
            <a:off x="9052560" y="2331720"/>
            <a:ext cx="2103120" cy="1463040"/>
          </a:xfrm>
          <a:prstGeom prst="rect">
            <a:avLst/>
          </a:prstGeom>
          <a:solidFill>
            <a:srgbClr val="FFFDF7"/>
          </a:solidFill>
          <a:ln w="28575">
            <a:solidFill>
              <a:srgbClr val="000000"/>
            </a:solidFill>
            <a:prstDash val="solid"/>
          </a:ln>
        </p:spPr>
      </p:sp>
      <p:sp>
        <p:nvSpPr>
          <p:cNvPr id="24" name="Shape 22"/>
          <p:cNvSpPr/>
          <p:nvPr/>
        </p:nvSpPr>
        <p:spPr>
          <a:xfrm>
            <a:off x="9977933" y="2580437"/>
            <a:ext cx="1093622" cy="965606"/>
          </a:xfrm>
          <a:prstGeom prst="ellipse">
            <a:avLst/>
          </a:prstGeom>
          <a:solidFill>
            <a:srgbClr val="00D9E1"/>
          </a:solidFill>
          <a:ln w="28575">
            <a:solidFill>
              <a:srgbClr val="000000"/>
            </a:solidFill>
            <a:prstDash val="solid"/>
          </a:ln>
        </p:spPr>
      </p:sp>
      <p:sp>
        <p:nvSpPr>
          <p:cNvPr id="25" name="Shape 23"/>
          <p:cNvSpPr/>
          <p:nvPr/>
        </p:nvSpPr>
        <p:spPr>
          <a:xfrm>
            <a:off x="10440619" y="2359152"/>
            <a:ext cx="687629" cy="1408176"/>
          </a:xfrm>
          <a:prstGeom prst="rect">
            <a:avLst/>
          </a:prstGeom>
          <a:solidFill>
            <a:srgbClr val="FFFDF7"/>
          </a:solidFill>
          <a:ln w="12700">
            <a:solidFill>
              <a:srgbClr val="FFFDF7"/>
            </a:solidFill>
            <a:prstDash val="solid"/>
          </a:ln>
        </p:spPr>
      </p:sp>
      <p:sp>
        <p:nvSpPr>
          <p:cNvPr id="26" name="Shape 24"/>
          <p:cNvSpPr/>
          <p:nvPr/>
        </p:nvSpPr>
        <p:spPr>
          <a:xfrm>
            <a:off x="9977933" y="2580437"/>
            <a:ext cx="1093622" cy="965606"/>
          </a:xfrm>
          <a:prstGeom prst="ellipse">
            <a:avLst/>
          </a:prstGeom>
          <a:solidFill>
            <a:srgbClr val="FFFDF7">
              <a:alpha val="0"/>
            </a:srgbClr>
          </a:solidFill>
          <a:ln w="28575">
            <a:solidFill>
              <a:srgbClr val="000000"/>
            </a:solidFill>
            <a:prstDash val="solid"/>
          </a:ln>
        </p:spPr>
      </p:sp>
      <p:sp>
        <p:nvSpPr>
          <p:cNvPr id="27" name="Shape 25"/>
          <p:cNvSpPr/>
          <p:nvPr/>
        </p:nvSpPr>
        <p:spPr>
          <a:xfrm>
            <a:off x="10440619" y="2359152"/>
            <a:ext cx="687629" cy="1408176"/>
          </a:xfrm>
          <a:prstGeom prst="rect">
            <a:avLst/>
          </a:prstGeom>
          <a:solidFill>
            <a:srgbClr val="FFFDF7"/>
          </a:solidFill>
          <a:ln w="12700">
            <a:solidFill>
              <a:srgbClr val="FFFDF7"/>
            </a:solidFill>
            <a:prstDash val="solid"/>
          </a:ln>
        </p:spPr>
      </p:sp>
      <p:sp>
        <p:nvSpPr>
          <p:cNvPr id="28" name="Shape 26"/>
          <p:cNvSpPr/>
          <p:nvPr/>
        </p:nvSpPr>
        <p:spPr>
          <a:xfrm>
            <a:off x="9052560" y="2331720"/>
            <a:ext cx="1388059" cy="1463040"/>
          </a:xfrm>
          <a:prstGeom prst="rect">
            <a:avLst/>
          </a:prstGeom>
          <a:solidFill>
            <a:srgbClr val="FFFDF7">
              <a:alpha val="0"/>
            </a:srgbClr>
          </a:solidFill>
          <a:ln w="28575">
            <a:solidFill>
              <a:srgbClr val="000000"/>
            </a:solidFill>
            <a:prstDash val="solid"/>
          </a:ln>
        </p:spPr>
      </p:sp>
      <p:sp>
        <p:nvSpPr>
          <p:cNvPr id="29" name="Shape 27"/>
          <p:cNvSpPr/>
          <p:nvPr/>
        </p:nvSpPr>
        <p:spPr>
          <a:xfrm>
            <a:off x="9052560" y="2331720"/>
            <a:ext cx="2103120" cy="1463040"/>
          </a:xfrm>
          <a:prstGeom prst="rect">
            <a:avLst/>
          </a:prstGeom>
          <a:solidFill>
            <a:srgbClr val="FFFDF7">
              <a:alpha val="0"/>
            </a:srgbClr>
          </a:solidFill>
          <a:ln w="28575">
            <a:solidFill>
              <a:srgbClr val="000000"/>
            </a:solidFill>
            <a:prstDash val="solid"/>
          </a:ln>
        </p:spPr>
      </p:sp>
      <p:sp>
        <p:nvSpPr>
          <p:cNvPr id="30" name="Shape 28"/>
          <p:cNvSpPr/>
          <p:nvPr/>
        </p:nvSpPr>
        <p:spPr>
          <a:xfrm>
            <a:off x="8778240" y="4023360"/>
            <a:ext cx="2651760" cy="0"/>
          </a:xfrm>
          <a:prstGeom prst="line">
            <a:avLst/>
          </a:prstGeom>
          <a:noFill/>
          <a:ln w="25400">
            <a:solidFill>
              <a:srgbClr val="000000"/>
            </a:solidFill>
            <a:prstDash val="solid"/>
          </a:ln>
        </p:spPr>
      </p:sp>
      <p:sp>
        <p:nvSpPr>
          <p:cNvPr id="31" name="Text 29"/>
          <p:cNvSpPr/>
          <p:nvPr/>
        </p:nvSpPr>
        <p:spPr>
          <a:xfrm>
            <a:off x="8778240" y="4151376"/>
            <a:ext cx="2651760" cy="365760"/>
          </a:xfrm>
          <a:prstGeom prst="rect">
            <a:avLst/>
          </a:prstGeom>
          <a:noFill/>
          <a:ln/>
        </p:spPr>
        <p:txBody>
          <a:bodyPr wrap="square" lIns="0" tIns="0" rIns="0" bIns="0" rtlCol="0" anchor="ctr"/>
          <a:lstStyle/>
          <a:p>
            <a:pPr indent="0" marL="0">
              <a:buNone/>
            </a:pPr>
            <a:r>
              <a:rPr lang="en-US" sz="1600" b="1" spc="-20" kern="0" dirty="0">
                <a:solidFill>
                  <a:srgbClr val="000000"/>
                </a:solidFill>
                <a:latin typeface="Arial" pitchFamily="34" charset="0"/>
                <a:ea typeface="Arial" pitchFamily="34" charset="-122"/>
                <a:cs typeface="Arial" pitchFamily="34" charset="-120"/>
              </a:rPr>
              <a:t>INTERSECTION</a:t>
            </a:r>
            <a:endParaRPr lang="en-US" sz="1600" dirty="0"/>
          </a:p>
        </p:txBody>
      </p:sp>
      <p:sp>
        <p:nvSpPr>
          <p:cNvPr id="32" name="Text 30"/>
          <p:cNvSpPr/>
          <p:nvPr/>
        </p:nvSpPr>
        <p:spPr>
          <a:xfrm>
            <a:off x="8778240" y="4517136"/>
            <a:ext cx="2651760" cy="274320"/>
          </a:xfrm>
          <a:prstGeom prst="rect">
            <a:avLst/>
          </a:prstGeom>
          <a:noFill/>
          <a:ln/>
        </p:spPr>
        <p:txBody>
          <a:bodyPr wrap="square" lIns="0" tIns="0" rIns="0" bIns="0" rtlCol="0" anchor="ctr"/>
          <a:lstStyle/>
          <a:p>
            <a:pPr indent="0" marL="0">
              <a:buNone/>
            </a:pPr>
            <a:r>
              <a:rPr lang="en-US" sz="1300" dirty="0">
                <a:solidFill>
                  <a:srgbClr val="6B6B6B"/>
                </a:solidFill>
                <a:latin typeface="Courier New" pitchFamily="34" charset="0"/>
                <a:ea typeface="Courier New" pitchFamily="34" charset="-122"/>
                <a:cs typeface="Courier New" pitchFamily="34" charset="-120"/>
              </a:rPr>
              <a:t>A ∩ B</a:t>
            </a:r>
            <a:endParaRPr lang="en-US" sz="1300" dirty="0"/>
          </a:p>
        </p:txBody>
      </p:sp>
      <p:sp>
        <p:nvSpPr>
          <p:cNvPr id="33" name="Shape 31"/>
          <p:cNvSpPr/>
          <p:nvPr/>
        </p:nvSpPr>
        <p:spPr>
          <a:xfrm>
            <a:off x="662940" y="5280660"/>
            <a:ext cx="10972800" cy="777240"/>
          </a:xfrm>
          <a:prstGeom prst="rect">
            <a:avLst/>
          </a:prstGeom>
          <a:solidFill>
            <a:srgbClr val="000000"/>
          </a:solidFill>
          <a:ln w="6350">
            <a:solidFill>
              <a:srgbClr val="000000"/>
            </a:solidFill>
            <a:prstDash val="solid"/>
          </a:ln>
        </p:spPr>
      </p:sp>
      <p:sp>
        <p:nvSpPr>
          <p:cNvPr id="34" name="Shape 32"/>
          <p:cNvSpPr/>
          <p:nvPr/>
        </p:nvSpPr>
        <p:spPr>
          <a:xfrm>
            <a:off x="594360" y="5212080"/>
            <a:ext cx="10972800" cy="777240"/>
          </a:xfrm>
          <a:prstGeom prst="rect">
            <a:avLst/>
          </a:prstGeom>
          <a:solidFill>
            <a:srgbClr val="FFFDF7"/>
          </a:solidFill>
          <a:ln w="34925">
            <a:solidFill>
              <a:srgbClr val="000000"/>
            </a:solidFill>
            <a:prstDash val="solid"/>
          </a:ln>
        </p:spPr>
      </p:sp>
      <p:sp>
        <p:nvSpPr>
          <p:cNvPr id="35" name="Text 33"/>
          <p:cNvSpPr/>
          <p:nvPr/>
        </p:nvSpPr>
        <p:spPr>
          <a:xfrm>
            <a:off x="914400" y="5413248"/>
            <a:ext cx="10515600" cy="411480"/>
          </a:xfrm>
          <a:prstGeom prst="rect">
            <a:avLst/>
          </a:prstGeom>
          <a:noFill/>
          <a:ln/>
        </p:spPr>
        <p:txBody>
          <a:bodyPr wrap="square" lIns="0" tIns="0" rIns="0" bIns="0" rtlCol="0" anchor="ctr"/>
          <a:lstStyle/>
          <a:p>
            <a:pPr indent="0" marL="0">
              <a:buNone/>
            </a:pPr>
            <a:r>
              <a:rPr lang="en-US" sz="1400" dirty="0">
                <a:solidFill>
                  <a:srgbClr val="000000"/>
                </a:solidFill>
                <a:latin typeface="Calibri" pitchFamily="34" charset="0"/>
                <a:ea typeface="Calibri" pitchFamily="34" charset="-122"/>
                <a:cs typeface="Calibri" pitchFamily="34" charset="-120"/>
              </a:rPr>
              <a:t>Order matters. A − B is not B − A. Your instructions must make the order unambiguous.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TRANSFORMATIONS ARE ARITHMETIC</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Three operations on a coordinate. Nothing more mysterious than that.</a:t>
            </a:r>
            <a:endParaRPr lang="en-US" sz="1350" dirty="0"/>
          </a:p>
        </p:txBody>
      </p:sp>
      <p:sp>
        <p:nvSpPr>
          <p:cNvPr id="5" name="Shape 3"/>
          <p:cNvSpPr/>
          <p:nvPr/>
        </p:nvSpPr>
        <p:spPr>
          <a:xfrm>
            <a:off x="457200" y="1760220"/>
            <a:ext cx="3429000" cy="3794760"/>
          </a:xfrm>
          <a:prstGeom prst="rect">
            <a:avLst/>
          </a:prstGeom>
          <a:solidFill>
            <a:srgbClr val="000000"/>
          </a:solidFill>
          <a:ln w="6350">
            <a:solidFill>
              <a:srgbClr val="000000"/>
            </a:solidFill>
            <a:prstDash val="solid"/>
          </a:ln>
        </p:spPr>
      </p:sp>
      <p:sp>
        <p:nvSpPr>
          <p:cNvPr id="6" name="Shape 4"/>
          <p:cNvSpPr/>
          <p:nvPr/>
        </p:nvSpPr>
        <p:spPr>
          <a:xfrm>
            <a:off x="388620" y="1691640"/>
            <a:ext cx="3429000" cy="3794760"/>
          </a:xfrm>
          <a:prstGeom prst="rect">
            <a:avLst/>
          </a:prstGeom>
          <a:solidFill>
            <a:srgbClr val="FFFDF7"/>
          </a:solidFill>
          <a:ln w="34925">
            <a:solidFill>
              <a:srgbClr val="000000"/>
            </a:solidFill>
            <a:prstDash val="solid"/>
          </a:ln>
        </p:spPr>
      </p:sp>
      <p:sp>
        <p:nvSpPr>
          <p:cNvPr id="7" name="Shape 5"/>
          <p:cNvSpPr/>
          <p:nvPr/>
        </p:nvSpPr>
        <p:spPr>
          <a:xfrm>
            <a:off x="388620" y="1691640"/>
            <a:ext cx="3429000" cy="566928"/>
          </a:xfrm>
          <a:prstGeom prst="rect">
            <a:avLst/>
          </a:prstGeom>
          <a:solidFill>
            <a:srgbClr val="00D9E1"/>
          </a:solidFill>
          <a:ln w="34925">
            <a:solidFill>
              <a:srgbClr val="000000"/>
            </a:solidFill>
            <a:prstDash val="solid"/>
          </a:ln>
        </p:spPr>
      </p:sp>
      <p:sp>
        <p:nvSpPr>
          <p:cNvPr id="8" name="Text 6"/>
          <p:cNvSpPr/>
          <p:nvPr/>
        </p:nvSpPr>
        <p:spPr>
          <a:xfrm>
            <a:off x="644652" y="1810512"/>
            <a:ext cx="1463040" cy="347472"/>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MOVE</a:t>
            </a:r>
            <a:endParaRPr lang="en-US" sz="1500" dirty="0"/>
          </a:p>
        </p:txBody>
      </p:sp>
      <p:sp>
        <p:nvSpPr>
          <p:cNvPr id="9" name="Text 7"/>
          <p:cNvSpPr/>
          <p:nvPr/>
        </p:nvSpPr>
        <p:spPr>
          <a:xfrm>
            <a:off x="1897380" y="1856232"/>
            <a:ext cx="1691640" cy="292608"/>
          </a:xfrm>
          <a:prstGeom prst="rect">
            <a:avLst/>
          </a:prstGeom>
          <a:noFill/>
          <a:ln/>
        </p:spPr>
        <p:txBody>
          <a:bodyPr wrap="square" lIns="0" tIns="0" rIns="0" bIns="0" rtlCol="0" anchor="ctr"/>
          <a:lstStyle/>
          <a:p>
            <a:pPr indent="0" marL="0">
              <a:buNone/>
            </a:pPr>
            <a:r>
              <a:rPr lang="en-US" sz="1050" b="1" spc="50" kern="0" dirty="0">
                <a:solidFill>
                  <a:srgbClr val="000000"/>
                </a:solidFill>
                <a:latin typeface="Arial" pitchFamily="34" charset="0"/>
                <a:ea typeface="Arial" pitchFamily="34" charset="-122"/>
                <a:cs typeface="Arial" pitchFamily="34" charset="-120"/>
              </a:rPr>
              <a:t>=  ADD</a:t>
            </a:r>
            <a:endParaRPr lang="en-US" sz="1050" dirty="0"/>
          </a:p>
        </p:txBody>
      </p:sp>
      <p:sp>
        <p:nvSpPr>
          <p:cNvPr id="10" name="Shape 8"/>
          <p:cNvSpPr/>
          <p:nvPr/>
        </p:nvSpPr>
        <p:spPr>
          <a:xfrm>
            <a:off x="644652" y="2423160"/>
            <a:ext cx="2916936" cy="1143000"/>
          </a:xfrm>
          <a:prstGeom prst="rect">
            <a:avLst/>
          </a:prstGeom>
          <a:solidFill>
            <a:srgbClr val="F4F4EE"/>
          </a:solidFill>
          <a:ln w="19050">
            <a:solidFill>
              <a:srgbClr val="C9C9C0"/>
            </a:solidFill>
            <a:prstDash val="solid"/>
          </a:ln>
        </p:spPr>
      </p:sp>
      <p:sp>
        <p:nvSpPr>
          <p:cNvPr id="11" name="Shape 9"/>
          <p:cNvSpPr/>
          <p:nvPr/>
        </p:nvSpPr>
        <p:spPr>
          <a:xfrm>
            <a:off x="1028700" y="2807208"/>
            <a:ext cx="384048" cy="384048"/>
          </a:xfrm>
          <a:prstGeom prst="rect">
            <a:avLst/>
          </a:prstGeom>
          <a:solidFill>
            <a:srgbClr val="FFFDF7"/>
          </a:solidFill>
          <a:ln w="25400">
            <a:solidFill>
              <a:srgbClr val="9A9A92"/>
            </a:solidFill>
            <a:prstDash val="solid"/>
          </a:ln>
        </p:spPr>
      </p:sp>
      <p:sp>
        <p:nvSpPr>
          <p:cNvPr id="12" name="Shape 10"/>
          <p:cNvSpPr/>
          <p:nvPr/>
        </p:nvSpPr>
        <p:spPr>
          <a:xfrm>
            <a:off x="1522476" y="2999232"/>
            <a:ext cx="566928" cy="0"/>
          </a:xfrm>
          <a:prstGeom prst="line">
            <a:avLst/>
          </a:prstGeom>
          <a:noFill/>
          <a:ln w="19050">
            <a:solidFill>
              <a:srgbClr val="000000"/>
            </a:solidFill>
            <a:prstDash val="solid"/>
          </a:ln>
        </p:spPr>
      </p:sp>
      <p:sp>
        <p:nvSpPr>
          <p:cNvPr id="13" name="Shape 11"/>
          <p:cNvSpPr/>
          <p:nvPr/>
        </p:nvSpPr>
        <p:spPr>
          <a:xfrm rot="5400000">
            <a:off x="2089404" y="2816352"/>
            <a:ext cx="310896" cy="365760"/>
          </a:xfrm>
          <a:prstGeom prst="triangle">
            <a:avLst/>
          </a:prstGeom>
          <a:solidFill>
            <a:srgbClr val="000000"/>
          </a:solidFill>
          <a:ln w="19050">
            <a:solidFill>
              <a:srgbClr val="000000"/>
            </a:solidFill>
            <a:prstDash val="solid"/>
          </a:ln>
        </p:spPr>
      </p:sp>
      <p:sp>
        <p:nvSpPr>
          <p:cNvPr id="14" name="Shape 12"/>
          <p:cNvSpPr/>
          <p:nvPr/>
        </p:nvSpPr>
        <p:spPr>
          <a:xfrm>
            <a:off x="2510028" y="2807208"/>
            <a:ext cx="384048" cy="384048"/>
          </a:xfrm>
          <a:prstGeom prst="rect">
            <a:avLst/>
          </a:prstGeom>
          <a:solidFill>
            <a:srgbClr val="00D9E1"/>
          </a:solidFill>
          <a:ln w="25400">
            <a:solidFill>
              <a:srgbClr val="000000"/>
            </a:solidFill>
            <a:prstDash val="solid"/>
          </a:ln>
        </p:spPr>
      </p:sp>
      <p:sp>
        <p:nvSpPr>
          <p:cNvPr id="15" name="Shape 13"/>
          <p:cNvSpPr/>
          <p:nvPr/>
        </p:nvSpPr>
        <p:spPr>
          <a:xfrm>
            <a:off x="644652" y="3703320"/>
            <a:ext cx="2916936" cy="0"/>
          </a:xfrm>
          <a:prstGeom prst="line">
            <a:avLst/>
          </a:prstGeom>
          <a:noFill/>
          <a:ln w="25400">
            <a:solidFill>
              <a:srgbClr val="000000"/>
            </a:solidFill>
            <a:prstDash val="solid"/>
          </a:ln>
        </p:spPr>
      </p:sp>
      <p:sp>
        <p:nvSpPr>
          <p:cNvPr id="16" name="Text 14"/>
          <p:cNvSpPr/>
          <p:nvPr/>
        </p:nvSpPr>
        <p:spPr>
          <a:xfrm>
            <a:off x="644652" y="3813048"/>
            <a:ext cx="2916936" cy="219456"/>
          </a:xfrm>
          <a:prstGeom prst="rect">
            <a:avLst/>
          </a:prstGeom>
          <a:noFill/>
          <a:ln/>
        </p:spPr>
        <p:txBody>
          <a:bodyPr wrap="square" lIns="0" tIns="0" rIns="0" bIns="0" rtlCol="0" anchor="ctr"/>
          <a:lstStyle/>
          <a:p>
            <a:pPr indent="0" marL="0">
              <a:buNone/>
            </a:pPr>
            <a:r>
              <a:rPr lang="en-US" sz="850" b="1" spc="120" kern="0" dirty="0">
                <a:solidFill>
                  <a:srgbClr val="6B6B6B"/>
                </a:solidFill>
                <a:latin typeface="Arial" pitchFamily="34" charset="0"/>
                <a:ea typeface="Arial" pitchFamily="34" charset="-122"/>
                <a:cs typeface="Arial" pitchFamily="34" charset="-120"/>
              </a:rPr>
              <a:t>THE MATH</a:t>
            </a:r>
            <a:endParaRPr lang="en-US" sz="850" dirty="0"/>
          </a:p>
        </p:txBody>
      </p:sp>
      <p:sp>
        <p:nvSpPr>
          <p:cNvPr id="17" name="Text 15"/>
          <p:cNvSpPr/>
          <p:nvPr/>
        </p:nvSpPr>
        <p:spPr>
          <a:xfrm>
            <a:off x="644652" y="4050792"/>
            <a:ext cx="2916936"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x' = x + dx</a:t>
            </a:r>
            <a:endParaRPr lang="en-US" sz="1150" dirty="0"/>
          </a:p>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y' = y + dy</a:t>
            </a:r>
            <a:endParaRPr lang="en-US" sz="1150" dirty="0"/>
          </a:p>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z' = z + dz</a:t>
            </a:r>
            <a:endParaRPr lang="en-US" sz="1150" dirty="0"/>
          </a:p>
        </p:txBody>
      </p:sp>
      <p:sp>
        <p:nvSpPr>
          <p:cNvPr id="18" name="Shape 16"/>
          <p:cNvSpPr/>
          <p:nvPr/>
        </p:nvSpPr>
        <p:spPr>
          <a:xfrm>
            <a:off x="644652" y="4846320"/>
            <a:ext cx="2916936" cy="438912"/>
          </a:xfrm>
          <a:prstGeom prst="rect">
            <a:avLst/>
          </a:prstGeom>
          <a:solidFill>
            <a:srgbClr val="00D9E1"/>
          </a:solidFill>
          <a:ln w="25400">
            <a:solidFill>
              <a:srgbClr val="000000"/>
            </a:solidFill>
            <a:prstDash val="solid"/>
          </a:ln>
        </p:spPr>
      </p:sp>
      <p:sp>
        <p:nvSpPr>
          <p:cNvPr id="19" name="Text 17"/>
          <p:cNvSpPr/>
          <p:nvPr/>
        </p:nvSpPr>
        <p:spPr>
          <a:xfrm>
            <a:off x="717804" y="4946904"/>
            <a:ext cx="2770632" cy="274320"/>
          </a:xfrm>
          <a:prstGeom prst="rect">
            <a:avLst/>
          </a:prstGeom>
          <a:noFill/>
          <a:ln/>
        </p:spPr>
        <p:txBody>
          <a:bodyPr wrap="square" lIns="0" tIns="0" rIns="0" bIns="0" rtlCol="0" anchor="ctr"/>
          <a:lstStyle/>
          <a:p>
            <a:pPr indent="0" marL="0">
              <a:buNone/>
            </a:pPr>
            <a:r>
              <a:rPr lang="en-US" sz="1050" b="1" dirty="0">
                <a:solidFill>
                  <a:srgbClr val="000000"/>
                </a:solidFill>
                <a:latin typeface="Courier New" pitchFamily="34" charset="0"/>
                <a:ea typeface="Courier New" pitchFamily="34" charset="-122"/>
                <a:cs typeface="Courier New" pitchFamily="34" charset="-120"/>
              </a:rPr>
              <a:t>(2, 1)  +  (3, 0)   →   (5, 1)</a:t>
            </a:r>
            <a:endParaRPr lang="en-US" sz="1050" dirty="0"/>
          </a:p>
        </p:txBody>
      </p:sp>
      <p:sp>
        <p:nvSpPr>
          <p:cNvPr id="20" name="Shape 18"/>
          <p:cNvSpPr/>
          <p:nvPr/>
        </p:nvSpPr>
        <p:spPr>
          <a:xfrm>
            <a:off x="4434840" y="1760220"/>
            <a:ext cx="3429000" cy="3794760"/>
          </a:xfrm>
          <a:prstGeom prst="rect">
            <a:avLst/>
          </a:prstGeom>
          <a:solidFill>
            <a:srgbClr val="000000"/>
          </a:solidFill>
          <a:ln w="6350">
            <a:solidFill>
              <a:srgbClr val="000000"/>
            </a:solidFill>
            <a:prstDash val="solid"/>
          </a:ln>
        </p:spPr>
      </p:sp>
      <p:sp>
        <p:nvSpPr>
          <p:cNvPr id="21" name="Shape 19"/>
          <p:cNvSpPr/>
          <p:nvPr/>
        </p:nvSpPr>
        <p:spPr>
          <a:xfrm>
            <a:off x="4366260" y="1691640"/>
            <a:ext cx="3429000" cy="3794760"/>
          </a:xfrm>
          <a:prstGeom prst="rect">
            <a:avLst/>
          </a:prstGeom>
          <a:solidFill>
            <a:srgbClr val="FFFDF7"/>
          </a:solidFill>
          <a:ln w="34925">
            <a:solidFill>
              <a:srgbClr val="000000"/>
            </a:solidFill>
            <a:prstDash val="solid"/>
          </a:ln>
        </p:spPr>
      </p:sp>
      <p:sp>
        <p:nvSpPr>
          <p:cNvPr id="22" name="Shape 20"/>
          <p:cNvSpPr/>
          <p:nvPr/>
        </p:nvSpPr>
        <p:spPr>
          <a:xfrm>
            <a:off x="4366260" y="1691640"/>
            <a:ext cx="3429000" cy="566928"/>
          </a:xfrm>
          <a:prstGeom prst="rect">
            <a:avLst/>
          </a:prstGeom>
          <a:solidFill>
            <a:srgbClr val="C6F035"/>
          </a:solidFill>
          <a:ln w="34925">
            <a:solidFill>
              <a:srgbClr val="000000"/>
            </a:solidFill>
            <a:prstDash val="solid"/>
          </a:ln>
        </p:spPr>
      </p:sp>
      <p:sp>
        <p:nvSpPr>
          <p:cNvPr id="23" name="Text 21"/>
          <p:cNvSpPr/>
          <p:nvPr/>
        </p:nvSpPr>
        <p:spPr>
          <a:xfrm>
            <a:off x="4622292" y="1810512"/>
            <a:ext cx="1463040" cy="347472"/>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SCALE</a:t>
            </a:r>
            <a:endParaRPr lang="en-US" sz="1500" dirty="0"/>
          </a:p>
        </p:txBody>
      </p:sp>
      <p:sp>
        <p:nvSpPr>
          <p:cNvPr id="24" name="Text 22"/>
          <p:cNvSpPr/>
          <p:nvPr/>
        </p:nvSpPr>
        <p:spPr>
          <a:xfrm>
            <a:off x="5875020" y="1856232"/>
            <a:ext cx="1691640" cy="292608"/>
          </a:xfrm>
          <a:prstGeom prst="rect">
            <a:avLst/>
          </a:prstGeom>
          <a:noFill/>
          <a:ln/>
        </p:spPr>
        <p:txBody>
          <a:bodyPr wrap="square" lIns="0" tIns="0" rIns="0" bIns="0" rtlCol="0" anchor="ctr"/>
          <a:lstStyle/>
          <a:p>
            <a:pPr indent="0" marL="0">
              <a:buNone/>
            </a:pPr>
            <a:r>
              <a:rPr lang="en-US" sz="1050" b="1" spc="50" kern="0" dirty="0">
                <a:solidFill>
                  <a:srgbClr val="000000"/>
                </a:solidFill>
                <a:latin typeface="Arial" pitchFamily="34" charset="0"/>
                <a:ea typeface="Arial" pitchFamily="34" charset="-122"/>
                <a:cs typeface="Arial" pitchFamily="34" charset="-120"/>
              </a:rPr>
              <a:t>=  MULTIPLY</a:t>
            </a:r>
            <a:endParaRPr lang="en-US" sz="1050" dirty="0"/>
          </a:p>
        </p:txBody>
      </p:sp>
      <p:sp>
        <p:nvSpPr>
          <p:cNvPr id="25" name="Shape 23"/>
          <p:cNvSpPr/>
          <p:nvPr/>
        </p:nvSpPr>
        <p:spPr>
          <a:xfrm>
            <a:off x="4622292" y="2423160"/>
            <a:ext cx="2916936" cy="1143000"/>
          </a:xfrm>
          <a:prstGeom prst="rect">
            <a:avLst/>
          </a:prstGeom>
          <a:solidFill>
            <a:srgbClr val="F4F4EE"/>
          </a:solidFill>
          <a:ln w="19050">
            <a:solidFill>
              <a:srgbClr val="C9C9C0"/>
            </a:solidFill>
            <a:prstDash val="solid"/>
          </a:ln>
        </p:spPr>
      </p:sp>
      <p:sp>
        <p:nvSpPr>
          <p:cNvPr id="26" name="Shape 24"/>
          <p:cNvSpPr/>
          <p:nvPr/>
        </p:nvSpPr>
        <p:spPr>
          <a:xfrm>
            <a:off x="5006340" y="2807208"/>
            <a:ext cx="384048" cy="384048"/>
          </a:xfrm>
          <a:prstGeom prst="rect">
            <a:avLst/>
          </a:prstGeom>
          <a:solidFill>
            <a:srgbClr val="FFFDF7"/>
          </a:solidFill>
          <a:ln w="25400">
            <a:solidFill>
              <a:srgbClr val="9A9A92"/>
            </a:solidFill>
            <a:prstDash val="solid"/>
          </a:ln>
        </p:spPr>
      </p:sp>
      <p:sp>
        <p:nvSpPr>
          <p:cNvPr id="27" name="Shape 25"/>
          <p:cNvSpPr/>
          <p:nvPr/>
        </p:nvSpPr>
        <p:spPr>
          <a:xfrm>
            <a:off x="5500116" y="2999232"/>
            <a:ext cx="566928" cy="0"/>
          </a:xfrm>
          <a:prstGeom prst="line">
            <a:avLst/>
          </a:prstGeom>
          <a:noFill/>
          <a:ln w="19050">
            <a:solidFill>
              <a:srgbClr val="000000"/>
            </a:solidFill>
            <a:prstDash val="solid"/>
          </a:ln>
        </p:spPr>
      </p:sp>
      <p:sp>
        <p:nvSpPr>
          <p:cNvPr id="28" name="Shape 26"/>
          <p:cNvSpPr/>
          <p:nvPr/>
        </p:nvSpPr>
        <p:spPr>
          <a:xfrm rot="5400000">
            <a:off x="6067044" y="2816352"/>
            <a:ext cx="310896" cy="365760"/>
          </a:xfrm>
          <a:prstGeom prst="triangle">
            <a:avLst/>
          </a:prstGeom>
          <a:solidFill>
            <a:srgbClr val="000000"/>
          </a:solidFill>
          <a:ln w="19050">
            <a:solidFill>
              <a:srgbClr val="000000"/>
            </a:solidFill>
            <a:prstDash val="solid"/>
          </a:ln>
        </p:spPr>
      </p:sp>
      <p:sp>
        <p:nvSpPr>
          <p:cNvPr id="29" name="Shape 27"/>
          <p:cNvSpPr/>
          <p:nvPr/>
        </p:nvSpPr>
        <p:spPr>
          <a:xfrm>
            <a:off x="6487668" y="2615184"/>
            <a:ext cx="768096" cy="768096"/>
          </a:xfrm>
          <a:prstGeom prst="rect">
            <a:avLst/>
          </a:prstGeom>
          <a:solidFill>
            <a:srgbClr val="C6F035"/>
          </a:solidFill>
          <a:ln w="25400">
            <a:solidFill>
              <a:srgbClr val="000000"/>
            </a:solidFill>
            <a:prstDash val="solid"/>
          </a:ln>
        </p:spPr>
      </p:sp>
      <p:sp>
        <p:nvSpPr>
          <p:cNvPr id="30" name="Shape 28"/>
          <p:cNvSpPr/>
          <p:nvPr/>
        </p:nvSpPr>
        <p:spPr>
          <a:xfrm>
            <a:off x="4622292" y="3703320"/>
            <a:ext cx="2916936" cy="0"/>
          </a:xfrm>
          <a:prstGeom prst="line">
            <a:avLst/>
          </a:prstGeom>
          <a:noFill/>
          <a:ln w="25400">
            <a:solidFill>
              <a:srgbClr val="000000"/>
            </a:solidFill>
            <a:prstDash val="solid"/>
          </a:ln>
        </p:spPr>
      </p:sp>
      <p:sp>
        <p:nvSpPr>
          <p:cNvPr id="31" name="Text 29"/>
          <p:cNvSpPr/>
          <p:nvPr/>
        </p:nvSpPr>
        <p:spPr>
          <a:xfrm>
            <a:off x="4622292" y="3813048"/>
            <a:ext cx="2916936" cy="219456"/>
          </a:xfrm>
          <a:prstGeom prst="rect">
            <a:avLst/>
          </a:prstGeom>
          <a:noFill/>
          <a:ln/>
        </p:spPr>
        <p:txBody>
          <a:bodyPr wrap="square" lIns="0" tIns="0" rIns="0" bIns="0" rtlCol="0" anchor="ctr"/>
          <a:lstStyle/>
          <a:p>
            <a:pPr indent="0" marL="0">
              <a:buNone/>
            </a:pPr>
            <a:r>
              <a:rPr lang="en-US" sz="850" b="1" spc="120" kern="0" dirty="0">
                <a:solidFill>
                  <a:srgbClr val="6B6B6B"/>
                </a:solidFill>
                <a:latin typeface="Arial" pitchFamily="34" charset="0"/>
                <a:ea typeface="Arial" pitchFamily="34" charset="-122"/>
                <a:cs typeface="Arial" pitchFamily="34" charset="-120"/>
              </a:rPr>
              <a:t>THE MATH</a:t>
            </a:r>
            <a:endParaRPr lang="en-US" sz="850" dirty="0"/>
          </a:p>
        </p:txBody>
      </p:sp>
      <p:sp>
        <p:nvSpPr>
          <p:cNvPr id="32" name="Text 30"/>
          <p:cNvSpPr/>
          <p:nvPr/>
        </p:nvSpPr>
        <p:spPr>
          <a:xfrm>
            <a:off x="4622292" y="4050792"/>
            <a:ext cx="2916936"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x' = x × f</a:t>
            </a:r>
            <a:endParaRPr lang="en-US" sz="1150" dirty="0"/>
          </a:p>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y' = y × f</a:t>
            </a:r>
            <a:endParaRPr lang="en-US" sz="1150" dirty="0"/>
          </a:p>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z' = z × f</a:t>
            </a:r>
            <a:endParaRPr lang="en-US" sz="1150" dirty="0"/>
          </a:p>
        </p:txBody>
      </p:sp>
      <p:sp>
        <p:nvSpPr>
          <p:cNvPr id="33" name="Shape 31"/>
          <p:cNvSpPr/>
          <p:nvPr/>
        </p:nvSpPr>
        <p:spPr>
          <a:xfrm>
            <a:off x="4622292" y="4846320"/>
            <a:ext cx="2916936" cy="438912"/>
          </a:xfrm>
          <a:prstGeom prst="rect">
            <a:avLst/>
          </a:prstGeom>
          <a:solidFill>
            <a:srgbClr val="C6F035"/>
          </a:solidFill>
          <a:ln w="25400">
            <a:solidFill>
              <a:srgbClr val="000000"/>
            </a:solidFill>
            <a:prstDash val="solid"/>
          </a:ln>
        </p:spPr>
      </p:sp>
      <p:sp>
        <p:nvSpPr>
          <p:cNvPr id="34" name="Text 32"/>
          <p:cNvSpPr/>
          <p:nvPr/>
        </p:nvSpPr>
        <p:spPr>
          <a:xfrm>
            <a:off x="4695444" y="4946904"/>
            <a:ext cx="2770632" cy="274320"/>
          </a:xfrm>
          <a:prstGeom prst="rect">
            <a:avLst/>
          </a:prstGeom>
          <a:noFill/>
          <a:ln/>
        </p:spPr>
        <p:txBody>
          <a:bodyPr wrap="square" lIns="0" tIns="0" rIns="0" bIns="0" rtlCol="0" anchor="ctr"/>
          <a:lstStyle/>
          <a:p>
            <a:pPr indent="0" marL="0">
              <a:buNone/>
            </a:pPr>
            <a:r>
              <a:rPr lang="en-US" sz="1050" b="1" dirty="0">
                <a:solidFill>
                  <a:srgbClr val="000000"/>
                </a:solidFill>
                <a:latin typeface="Courier New" pitchFamily="34" charset="0"/>
                <a:ea typeface="Courier New" pitchFamily="34" charset="-122"/>
                <a:cs typeface="Courier New" pitchFamily="34" charset="-120"/>
              </a:rPr>
              <a:t>(2, 1)  ×  2       →   (4, 2)</a:t>
            </a:r>
            <a:endParaRPr lang="en-US" sz="1050" dirty="0"/>
          </a:p>
        </p:txBody>
      </p:sp>
      <p:sp>
        <p:nvSpPr>
          <p:cNvPr id="35" name="Shape 33"/>
          <p:cNvSpPr/>
          <p:nvPr/>
        </p:nvSpPr>
        <p:spPr>
          <a:xfrm>
            <a:off x="8412480" y="1760220"/>
            <a:ext cx="3429000" cy="3794760"/>
          </a:xfrm>
          <a:prstGeom prst="rect">
            <a:avLst/>
          </a:prstGeom>
          <a:solidFill>
            <a:srgbClr val="000000"/>
          </a:solidFill>
          <a:ln w="6350">
            <a:solidFill>
              <a:srgbClr val="000000"/>
            </a:solidFill>
            <a:prstDash val="solid"/>
          </a:ln>
        </p:spPr>
      </p:sp>
      <p:sp>
        <p:nvSpPr>
          <p:cNvPr id="36" name="Shape 34"/>
          <p:cNvSpPr/>
          <p:nvPr/>
        </p:nvSpPr>
        <p:spPr>
          <a:xfrm>
            <a:off x="8343900" y="1691640"/>
            <a:ext cx="3429000" cy="3794760"/>
          </a:xfrm>
          <a:prstGeom prst="rect">
            <a:avLst/>
          </a:prstGeom>
          <a:solidFill>
            <a:srgbClr val="FFFDF7"/>
          </a:solidFill>
          <a:ln w="34925">
            <a:solidFill>
              <a:srgbClr val="000000"/>
            </a:solidFill>
            <a:prstDash val="solid"/>
          </a:ln>
        </p:spPr>
      </p:sp>
      <p:sp>
        <p:nvSpPr>
          <p:cNvPr id="37" name="Shape 35"/>
          <p:cNvSpPr/>
          <p:nvPr/>
        </p:nvSpPr>
        <p:spPr>
          <a:xfrm>
            <a:off x="8343900" y="1691640"/>
            <a:ext cx="3429000" cy="566928"/>
          </a:xfrm>
          <a:prstGeom prst="rect">
            <a:avLst/>
          </a:prstGeom>
          <a:solidFill>
            <a:srgbClr val="FF4D8D"/>
          </a:solidFill>
          <a:ln w="34925">
            <a:solidFill>
              <a:srgbClr val="000000"/>
            </a:solidFill>
            <a:prstDash val="solid"/>
          </a:ln>
        </p:spPr>
      </p:sp>
      <p:sp>
        <p:nvSpPr>
          <p:cNvPr id="38" name="Text 36"/>
          <p:cNvSpPr/>
          <p:nvPr/>
        </p:nvSpPr>
        <p:spPr>
          <a:xfrm>
            <a:off x="8599932" y="1810512"/>
            <a:ext cx="1463040" cy="347472"/>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ROTATE</a:t>
            </a:r>
            <a:endParaRPr lang="en-US" sz="1500" dirty="0"/>
          </a:p>
        </p:txBody>
      </p:sp>
      <p:sp>
        <p:nvSpPr>
          <p:cNvPr id="39" name="Text 37"/>
          <p:cNvSpPr/>
          <p:nvPr/>
        </p:nvSpPr>
        <p:spPr>
          <a:xfrm>
            <a:off x="9852660" y="1856232"/>
            <a:ext cx="1691640" cy="292608"/>
          </a:xfrm>
          <a:prstGeom prst="rect">
            <a:avLst/>
          </a:prstGeom>
          <a:noFill/>
          <a:ln/>
        </p:spPr>
        <p:txBody>
          <a:bodyPr wrap="square" lIns="0" tIns="0" rIns="0" bIns="0" rtlCol="0" anchor="ctr"/>
          <a:lstStyle/>
          <a:p>
            <a:pPr indent="0" marL="0">
              <a:buNone/>
            </a:pPr>
            <a:r>
              <a:rPr lang="en-US" sz="1050" b="1" spc="50" kern="0" dirty="0">
                <a:solidFill>
                  <a:srgbClr val="000000"/>
                </a:solidFill>
                <a:latin typeface="Arial" pitchFamily="34" charset="0"/>
                <a:ea typeface="Arial" pitchFamily="34" charset="-122"/>
                <a:cs typeface="Arial" pitchFamily="34" charset="-120"/>
              </a:rPr>
              <a:t>=  MIX x AND y</a:t>
            </a:r>
            <a:endParaRPr lang="en-US" sz="1050" dirty="0"/>
          </a:p>
        </p:txBody>
      </p:sp>
      <p:sp>
        <p:nvSpPr>
          <p:cNvPr id="40" name="Shape 38"/>
          <p:cNvSpPr/>
          <p:nvPr/>
        </p:nvSpPr>
        <p:spPr>
          <a:xfrm>
            <a:off x="8599932" y="2423160"/>
            <a:ext cx="2916936" cy="1143000"/>
          </a:xfrm>
          <a:prstGeom prst="rect">
            <a:avLst/>
          </a:prstGeom>
          <a:solidFill>
            <a:srgbClr val="F4F4EE"/>
          </a:solidFill>
          <a:ln w="19050">
            <a:solidFill>
              <a:srgbClr val="C9C9C0"/>
            </a:solidFill>
            <a:prstDash val="solid"/>
          </a:ln>
        </p:spPr>
      </p:sp>
      <p:sp>
        <p:nvSpPr>
          <p:cNvPr id="41" name="Shape 39"/>
          <p:cNvSpPr/>
          <p:nvPr/>
        </p:nvSpPr>
        <p:spPr>
          <a:xfrm>
            <a:off x="8983980" y="2807208"/>
            <a:ext cx="384048" cy="384048"/>
          </a:xfrm>
          <a:prstGeom prst="rect">
            <a:avLst/>
          </a:prstGeom>
          <a:solidFill>
            <a:srgbClr val="FFFDF7"/>
          </a:solidFill>
          <a:ln w="25400">
            <a:solidFill>
              <a:srgbClr val="9A9A92"/>
            </a:solidFill>
            <a:prstDash val="solid"/>
          </a:ln>
        </p:spPr>
      </p:sp>
      <p:sp>
        <p:nvSpPr>
          <p:cNvPr id="42" name="Shape 40"/>
          <p:cNvSpPr/>
          <p:nvPr/>
        </p:nvSpPr>
        <p:spPr>
          <a:xfrm>
            <a:off x="9477756" y="2999232"/>
            <a:ext cx="566928" cy="0"/>
          </a:xfrm>
          <a:prstGeom prst="line">
            <a:avLst/>
          </a:prstGeom>
          <a:noFill/>
          <a:ln w="19050">
            <a:solidFill>
              <a:srgbClr val="000000"/>
            </a:solidFill>
            <a:prstDash val="solid"/>
          </a:ln>
        </p:spPr>
      </p:sp>
      <p:sp>
        <p:nvSpPr>
          <p:cNvPr id="43" name="Shape 41"/>
          <p:cNvSpPr/>
          <p:nvPr/>
        </p:nvSpPr>
        <p:spPr>
          <a:xfrm rot="5400000">
            <a:off x="10044684" y="2816352"/>
            <a:ext cx="310896" cy="365760"/>
          </a:xfrm>
          <a:prstGeom prst="triangle">
            <a:avLst/>
          </a:prstGeom>
          <a:solidFill>
            <a:srgbClr val="000000"/>
          </a:solidFill>
          <a:ln w="19050">
            <a:solidFill>
              <a:srgbClr val="000000"/>
            </a:solidFill>
            <a:prstDash val="solid"/>
          </a:ln>
        </p:spPr>
      </p:sp>
      <p:sp>
        <p:nvSpPr>
          <p:cNvPr id="44" name="Shape 42"/>
          <p:cNvSpPr/>
          <p:nvPr/>
        </p:nvSpPr>
        <p:spPr>
          <a:xfrm rot="2100000">
            <a:off x="10556748" y="2807208"/>
            <a:ext cx="384048" cy="384048"/>
          </a:xfrm>
          <a:prstGeom prst="rect">
            <a:avLst/>
          </a:prstGeom>
          <a:solidFill>
            <a:srgbClr val="FF4D8D"/>
          </a:solidFill>
          <a:ln w="25400">
            <a:solidFill>
              <a:srgbClr val="000000"/>
            </a:solidFill>
            <a:prstDash val="solid"/>
          </a:ln>
        </p:spPr>
      </p:sp>
      <p:sp>
        <p:nvSpPr>
          <p:cNvPr id="45" name="Shape 43"/>
          <p:cNvSpPr/>
          <p:nvPr/>
        </p:nvSpPr>
        <p:spPr>
          <a:xfrm>
            <a:off x="8599932" y="3703320"/>
            <a:ext cx="2916936" cy="0"/>
          </a:xfrm>
          <a:prstGeom prst="line">
            <a:avLst/>
          </a:prstGeom>
          <a:noFill/>
          <a:ln w="25400">
            <a:solidFill>
              <a:srgbClr val="000000"/>
            </a:solidFill>
            <a:prstDash val="solid"/>
          </a:ln>
        </p:spPr>
      </p:sp>
      <p:sp>
        <p:nvSpPr>
          <p:cNvPr id="46" name="Text 44"/>
          <p:cNvSpPr/>
          <p:nvPr/>
        </p:nvSpPr>
        <p:spPr>
          <a:xfrm>
            <a:off x="8599932" y="3813048"/>
            <a:ext cx="2916936" cy="219456"/>
          </a:xfrm>
          <a:prstGeom prst="rect">
            <a:avLst/>
          </a:prstGeom>
          <a:noFill/>
          <a:ln/>
        </p:spPr>
        <p:txBody>
          <a:bodyPr wrap="square" lIns="0" tIns="0" rIns="0" bIns="0" rtlCol="0" anchor="ctr"/>
          <a:lstStyle/>
          <a:p>
            <a:pPr indent="0" marL="0">
              <a:buNone/>
            </a:pPr>
            <a:r>
              <a:rPr lang="en-US" sz="850" b="1" spc="120" kern="0" dirty="0">
                <a:solidFill>
                  <a:srgbClr val="6B6B6B"/>
                </a:solidFill>
                <a:latin typeface="Arial" pitchFamily="34" charset="0"/>
                <a:ea typeface="Arial" pitchFamily="34" charset="-122"/>
                <a:cs typeface="Arial" pitchFamily="34" charset="-120"/>
              </a:rPr>
              <a:t>THE MATH</a:t>
            </a:r>
            <a:endParaRPr lang="en-US" sz="850" dirty="0"/>
          </a:p>
        </p:txBody>
      </p:sp>
      <p:sp>
        <p:nvSpPr>
          <p:cNvPr id="47" name="Text 45"/>
          <p:cNvSpPr/>
          <p:nvPr/>
        </p:nvSpPr>
        <p:spPr>
          <a:xfrm>
            <a:off x="8599932" y="4050792"/>
            <a:ext cx="2916936"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x' = x·cosθ − y·sinθ</a:t>
            </a:r>
            <a:endParaRPr lang="en-US" sz="1150" dirty="0"/>
          </a:p>
          <a:p>
            <a:pPr indent="0" marL="0">
              <a:lnSpc>
                <a:spcPts val="1600"/>
              </a:lnSpc>
              <a:buNone/>
            </a:pPr>
            <a:r>
              <a:rPr lang="en-US" sz="1150" dirty="0">
                <a:solidFill>
                  <a:srgbClr val="000000"/>
                </a:solidFill>
                <a:latin typeface="Courier New" pitchFamily="34" charset="0"/>
                <a:ea typeface="Courier New" pitchFamily="34" charset="-122"/>
                <a:cs typeface="Courier New" pitchFamily="34" charset="-120"/>
              </a:rPr>
              <a:t>y' = x·sinθ + y·cosθ</a:t>
            </a:r>
            <a:endParaRPr lang="en-US" sz="1150" dirty="0"/>
          </a:p>
        </p:txBody>
      </p:sp>
      <p:sp>
        <p:nvSpPr>
          <p:cNvPr id="48" name="Shape 46"/>
          <p:cNvSpPr/>
          <p:nvPr/>
        </p:nvSpPr>
        <p:spPr>
          <a:xfrm>
            <a:off x="8599932" y="4846320"/>
            <a:ext cx="2916936" cy="438912"/>
          </a:xfrm>
          <a:prstGeom prst="rect">
            <a:avLst/>
          </a:prstGeom>
          <a:solidFill>
            <a:srgbClr val="FF4D8D"/>
          </a:solidFill>
          <a:ln w="25400">
            <a:solidFill>
              <a:srgbClr val="000000"/>
            </a:solidFill>
            <a:prstDash val="solid"/>
          </a:ln>
        </p:spPr>
      </p:sp>
      <p:sp>
        <p:nvSpPr>
          <p:cNvPr id="49" name="Text 47"/>
          <p:cNvSpPr/>
          <p:nvPr/>
        </p:nvSpPr>
        <p:spPr>
          <a:xfrm>
            <a:off x="8673084" y="4946904"/>
            <a:ext cx="2770632" cy="274320"/>
          </a:xfrm>
          <a:prstGeom prst="rect">
            <a:avLst/>
          </a:prstGeom>
          <a:noFill/>
          <a:ln/>
        </p:spPr>
        <p:txBody>
          <a:bodyPr wrap="square" lIns="0" tIns="0" rIns="0" bIns="0" rtlCol="0" anchor="ctr"/>
          <a:lstStyle/>
          <a:p>
            <a:pPr indent="0" marL="0">
              <a:buNone/>
            </a:pPr>
            <a:r>
              <a:rPr lang="en-US" sz="1050" b="1" dirty="0">
                <a:solidFill>
                  <a:srgbClr val="000000"/>
                </a:solidFill>
                <a:latin typeface="Courier New" pitchFamily="34" charset="0"/>
                <a:ea typeface="Courier New" pitchFamily="34" charset="-122"/>
                <a:cs typeface="Courier New" pitchFamily="34" charset="-120"/>
              </a:rPr>
              <a:t>(1, 0)  rot 90°   →   (0, 1)</a:t>
            </a:r>
            <a:endParaRPr lang="en-US" sz="1050" dirty="0"/>
          </a:p>
        </p:txBody>
      </p:sp>
      <p:sp>
        <p:nvSpPr>
          <p:cNvPr id="50" name="Shape 48"/>
          <p:cNvSpPr/>
          <p:nvPr/>
        </p:nvSpPr>
        <p:spPr>
          <a:xfrm>
            <a:off x="662940" y="5783580"/>
            <a:ext cx="10972800" cy="658368"/>
          </a:xfrm>
          <a:prstGeom prst="rect">
            <a:avLst/>
          </a:prstGeom>
          <a:solidFill>
            <a:srgbClr val="000000"/>
          </a:solidFill>
          <a:ln w="6350">
            <a:solidFill>
              <a:srgbClr val="000000"/>
            </a:solidFill>
            <a:prstDash val="solid"/>
          </a:ln>
        </p:spPr>
      </p:sp>
      <p:sp>
        <p:nvSpPr>
          <p:cNvPr id="51" name="Shape 49"/>
          <p:cNvSpPr/>
          <p:nvPr/>
        </p:nvSpPr>
        <p:spPr>
          <a:xfrm>
            <a:off x="594360" y="5715000"/>
            <a:ext cx="10972800" cy="658368"/>
          </a:xfrm>
          <a:prstGeom prst="rect">
            <a:avLst/>
          </a:prstGeom>
          <a:solidFill>
            <a:srgbClr val="FFE500"/>
          </a:solidFill>
          <a:ln w="34925">
            <a:solidFill>
              <a:srgbClr val="000000"/>
            </a:solidFill>
            <a:prstDash val="solid"/>
          </a:ln>
        </p:spPr>
      </p:sp>
      <p:sp>
        <p:nvSpPr>
          <p:cNvPr id="52" name="Text 50"/>
          <p:cNvSpPr/>
          <p:nvPr/>
        </p:nvSpPr>
        <p:spPr>
          <a:xfrm>
            <a:off x="914400" y="5879592"/>
            <a:ext cx="10607040" cy="365760"/>
          </a:xfrm>
          <a:prstGeom prst="rect">
            <a:avLst/>
          </a:prstGeom>
          <a:noFill/>
          <a:ln/>
        </p:spPr>
        <p:txBody>
          <a:bodyPr wrap="square" lIns="0" tIns="0" rIns="0" bIns="0" rtlCol="0" anchor="ctr"/>
          <a:lstStyle/>
          <a:p>
            <a:pPr indent="0" marL="0">
              <a:buNone/>
            </a:pPr>
            <a:r>
              <a:rPr lang="en-US" sz="1350" dirty="0">
                <a:solidFill>
                  <a:srgbClr val="000000"/>
                </a:solidFill>
                <a:latin typeface="Calibri" pitchFamily="34" charset="0"/>
                <a:ea typeface="Calibri" pitchFamily="34" charset="-122"/>
                <a:cs typeface="Calibri" pitchFamily="34" charset="-120"/>
              </a:rPr>
              <a:t>Move and scale treat each coordinate on its own. Rotation is the only one where x and y have to talk to each other.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FFFDF7"/>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FFFDF7"/>
                </a:solidFill>
                <a:latin typeface="Arial" pitchFamily="34" charset="0"/>
                <a:ea typeface="Arial" pitchFamily="34" charset="-122"/>
                <a:cs typeface="Arial" pitchFamily="34" charset="-120"/>
              </a:rPr>
              <a:t>PRECEDENT — THE MASSING DIAGRAM</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B8B8B8"/>
                </a:solidFill>
                <a:latin typeface="Calibri" pitchFamily="34" charset="0"/>
                <a:ea typeface="Calibri" pitchFamily="34" charset="-122"/>
                <a:cs typeface="Calibri" pitchFamily="34" charset="-120"/>
              </a:rPr>
              <a:t>One drawing per operation. The sequence is the argument.</a:t>
            </a:r>
            <a:endParaRPr lang="en-US" sz="1350" dirty="0"/>
          </a:p>
        </p:txBody>
      </p:sp>
      <p:sp>
        <p:nvSpPr>
          <p:cNvPr id="5" name="Shape 3"/>
          <p:cNvSpPr/>
          <p:nvPr/>
        </p:nvSpPr>
        <p:spPr>
          <a:xfrm>
            <a:off x="662940" y="1943100"/>
            <a:ext cx="5349240" cy="3200400"/>
          </a:xfrm>
          <a:prstGeom prst="rect">
            <a:avLst/>
          </a:prstGeom>
          <a:solidFill>
            <a:srgbClr val="FFFDF7"/>
          </a:solidFill>
          <a:ln w="6350">
            <a:solidFill>
              <a:srgbClr val="FFFDF7"/>
            </a:solidFill>
            <a:prstDash val="solid"/>
          </a:ln>
        </p:spPr>
      </p:sp>
      <p:sp>
        <p:nvSpPr>
          <p:cNvPr id="6" name="Shape 4"/>
          <p:cNvSpPr/>
          <p:nvPr/>
        </p:nvSpPr>
        <p:spPr>
          <a:xfrm>
            <a:off x="594360" y="1874520"/>
            <a:ext cx="5349240" cy="3200400"/>
          </a:xfrm>
          <a:prstGeom prst="rect">
            <a:avLst/>
          </a:prstGeom>
          <a:solidFill>
            <a:srgbClr val="EDEDE6"/>
          </a:solidFill>
          <a:ln w="34925">
            <a:solidFill>
              <a:srgbClr val="000000"/>
            </a:solidFill>
            <a:prstDash val="solid"/>
          </a:ln>
        </p:spPr>
      </p:sp>
      <p:sp>
        <p:nvSpPr>
          <p:cNvPr id="7" name="Shape 5"/>
          <p:cNvSpPr/>
          <p:nvPr/>
        </p:nvSpPr>
        <p:spPr>
          <a:xfrm>
            <a:off x="594360" y="1874520"/>
            <a:ext cx="5349240" cy="3200400"/>
          </a:xfrm>
          <a:prstGeom prst="line">
            <a:avLst/>
          </a:prstGeom>
          <a:noFill/>
          <a:ln w="15875">
            <a:solidFill>
              <a:srgbClr val="C9C9C0"/>
            </a:solidFill>
            <a:prstDash val="solid"/>
          </a:ln>
        </p:spPr>
      </p:sp>
      <p:sp>
        <p:nvSpPr>
          <p:cNvPr id="8" name="Shape 6"/>
          <p:cNvSpPr/>
          <p:nvPr/>
        </p:nvSpPr>
        <p:spPr>
          <a:xfrm>
            <a:off x="594360" y="5074920"/>
            <a:ext cx="5349240" cy="-3200400"/>
          </a:xfrm>
          <a:prstGeom prst="line">
            <a:avLst/>
          </a:prstGeom>
          <a:noFill/>
          <a:ln w="15875">
            <a:solidFill>
              <a:srgbClr val="C9C9C0"/>
            </a:solidFill>
            <a:prstDash val="solid"/>
          </a:ln>
        </p:spPr>
      </p:sp>
      <p:sp>
        <p:nvSpPr>
          <p:cNvPr id="9" name="Shape 7"/>
          <p:cNvSpPr/>
          <p:nvPr/>
        </p:nvSpPr>
        <p:spPr>
          <a:xfrm>
            <a:off x="2217420" y="3255264"/>
            <a:ext cx="2103120" cy="438912"/>
          </a:xfrm>
          <a:prstGeom prst="rect">
            <a:avLst/>
          </a:prstGeom>
          <a:solidFill>
            <a:srgbClr val="FFFDF7"/>
          </a:solidFill>
          <a:ln w="25400">
            <a:solidFill>
              <a:srgbClr val="000000"/>
            </a:solidFill>
            <a:prstDash val="solid"/>
          </a:ln>
        </p:spPr>
      </p:sp>
      <p:sp>
        <p:nvSpPr>
          <p:cNvPr id="10" name="Text 8"/>
          <p:cNvSpPr/>
          <p:nvPr/>
        </p:nvSpPr>
        <p:spPr>
          <a:xfrm>
            <a:off x="2217420" y="3328416"/>
            <a:ext cx="2103120" cy="292608"/>
          </a:xfrm>
          <a:prstGeom prst="rect">
            <a:avLst/>
          </a:prstGeom>
          <a:noFill/>
          <a:ln/>
        </p:spPr>
        <p:txBody>
          <a:bodyPr wrap="square" lIns="0" tIns="0" rIns="0" bIns="0" rtlCol="0" anchor="ctr"/>
          <a:lstStyle/>
          <a:p>
            <a:pPr algn="ctr" indent="0" marL="0">
              <a:buNone/>
            </a:pPr>
            <a:r>
              <a:rPr lang="en-US" sz="900" b="1" spc="60" kern="0" dirty="0">
                <a:solidFill>
                  <a:srgbClr val="000000"/>
                </a:solidFill>
                <a:latin typeface="Arial" pitchFamily="34" charset="0"/>
                <a:ea typeface="Arial" pitchFamily="34" charset="-122"/>
                <a:cs typeface="Arial" pitchFamily="34" charset="-120"/>
              </a:rPr>
              <a:t>BIG MASSING DIAGRAM</a:t>
            </a:r>
            <a:endParaRPr lang="en-US" sz="900" dirty="0"/>
          </a:p>
        </p:txBody>
      </p:sp>
      <p:sp>
        <p:nvSpPr>
          <p:cNvPr id="11" name="Text 9"/>
          <p:cNvSpPr/>
          <p:nvPr/>
        </p:nvSpPr>
        <p:spPr>
          <a:xfrm>
            <a:off x="594360" y="5148072"/>
            <a:ext cx="5349240" cy="237744"/>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Add: a sequential massing diagram, one axo per move.</a:t>
            </a:r>
            <a:endParaRPr lang="en-US" sz="950" dirty="0"/>
          </a:p>
        </p:txBody>
      </p:sp>
      <p:sp>
        <p:nvSpPr>
          <p:cNvPr id="12" name="Shape 10"/>
          <p:cNvSpPr/>
          <p:nvPr/>
        </p:nvSpPr>
        <p:spPr>
          <a:xfrm>
            <a:off x="6286500" y="1943100"/>
            <a:ext cx="5349240" cy="3200400"/>
          </a:xfrm>
          <a:prstGeom prst="rect">
            <a:avLst/>
          </a:prstGeom>
          <a:solidFill>
            <a:srgbClr val="00D9E1"/>
          </a:solidFill>
          <a:ln w="6350">
            <a:solidFill>
              <a:srgbClr val="00D9E1"/>
            </a:solidFill>
            <a:prstDash val="solid"/>
          </a:ln>
        </p:spPr>
      </p:sp>
      <p:sp>
        <p:nvSpPr>
          <p:cNvPr id="13" name="Shape 11"/>
          <p:cNvSpPr/>
          <p:nvPr/>
        </p:nvSpPr>
        <p:spPr>
          <a:xfrm>
            <a:off x="6217920" y="1874520"/>
            <a:ext cx="5349240" cy="3200400"/>
          </a:xfrm>
          <a:prstGeom prst="rect">
            <a:avLst/>
          </a:prstGeom>
          <a:solidFill>
            <a:srgbClr val="FFE500"/>
          </a:solidFill>
          <a:ln w="34925">
            <a:solidFill>
              <a:srgbClr val="000000"/>
            </a:solidFill>
            <a:prstDash val="solid"/>
          </a:ln>
        </p:spPr>
      </p:sp>
      <p:sp>
        <p:nvSpPr>
          <p:cNvPr id="14" name="Text 12"/>
          <p:cNvSpPr/>
          <p:nvPr/>
        </p:nvSpPr>
        <p:spPr>
          <a:xfrm>
            <a:off x="6537960" y="2103120"/>
            <a:ext cx="4754880" cy="329184"/>
          </a:xfrm>
          <a:prstGeom prst="rect">
            <a:avLst/>
          </a:prstGeom>
          <a:noFill/>
          <a:ln/>
        </p:spPr>
        <p:txBody>
          <a:bodyPr wrap="square" lIns="0" tIns="0" rIns="0" bIns="0" rtlCol="0" anchor="ctr"/>
          <a:lstStyle/>
          <a:p>
            <a:pPr indent="0" marL="0">
              <a:buNone/>
            </a:pPr>
            <a:r>
              <a:rPr lang="en-US" sz="1300" b="1" spc="60" kern="0" dirty="0">
                <a:solidFill>
                  <a:srgbClr val="000000"/>
                </a:solidFill>
                <a:latin typeface="Arial" pitchFamily="34" charset="0"/>
                <a:ea typeface="Arial" pitchFamily="34" charset="-122"/>
                <a:cs typeface="Arial" pitchFamily="34" charset="-120"/>
              </a:rPr>
              <a:t>WHAT MAKES IT WORK</a:t>
            </a:r>
            <a:endParaRPr lang="en-US" sz="1300" dirty="0"/>
          </a:p>
        </p:txBody>
      </p:sp>
      <p:sp>
        <p:nvSpPr>
          <p:cNvPr id="15" name="Shape 13"/>
          <p:cNvSpPr/>
          <p:nvPr/>
        </p:nvSpPr>
        <p:spPr>
          <a:xfrm>
            <a:off x="6537960" y="2505456"/>
            <a:ext cx="4754880" cy="0"/>
          </a:xfrm>
          <a:prstGeom prst="line">
            <a:avLst/>
          </a:prstGeom>
          <a:noFill/>
          <a:ln w="25400">
            <a:solidFill>
              <a:srgbClr val="000000"/>
            </a:solidFill>
            <a:prstDash val="solid"/>
          </a:ln>
        </p:spPr>
      </p:sp>
      <p:sp>
        <p:nvSpPr>
          <p:cNvPr id="16" name="Shape 14"/>
          <p:cNvSpPr/>
          <p:nvPr/>
        </p:nvSpPr>
        <p:spPr>
          <a:xfrm>
            <a:off x="6537960" y="2752344"/>
            <a:ext cx="109728" cy="109728"/>
          </a:xfrm>
          <a:prstGeom prst="rect">
            <a:avLst/>
          </a:prstGeom>
          <a:solidFill>
            <a:srgbClr val="000000"/>
          </a:solidFill>
          <a:ln/>
        </p:spPr>
      </p:sp>
      <p:sp>
        <p:nvSpPr>
          <p:cNvPr id="17" name="Text 15"/>
          <p:cNvSpPr/>
          <p:nvPr/>
        </p:nvSpPr>
        <p:spPr>
          <a:xfrm>
            <a:off x="6830568" y="2670048"/>
            <a:ext cx="4434840" cy="45720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Calibri" pitchFamily="34" charset="0"/>
                <a:ea typeface="Calibri" pitchFamily="34" charset="-122"/>
                <a:cs typeface="Calibri" pitchFamily="34" charset="-120"/>
              </a:rPr>
              <a:t>One operation per frame. Never two.</a:t>
            </a:r>
            <a:endParaRPr lang="en-US" sz="1250" dirty="0"/>
          </a:p>
        </p:txBody>
      </p:sp>
      <p:sp>
        <p:nvSpPr>
          <p:cNvPr id="18" name="Shape 16"/>
          <p:cNvSpPr/>
          <p:nvPr/>
        </p:nvSpPr>
        <p:spPr>
          <a:xfrm>
            <a:off x="6537960" y="3300984"/>
            <a:ext cx="109728" cy="109728"/>
          </a:xfrm>
          <a:prstGeom prst="rect">
            <a:avLst/>
          </a:prstGeom>
          <a:solidFill>
            <a:srgbClr val="000000"/>
          </a:solidFill>
          <a:ln/>
        </p:spPr>
      </p:sp>
      <p:sp>
        <p:nvSpPr>
          <p:cNvPr id="19" name="Text 17"/>
          <p:cNvSpPr/>
          <p:nvPr/>
        </p:nvSpPr>
        <p:spPr>
          <a:xfrm>
            <a:off x="6830568" y="3218688"/>
            <a:ext cx="4434840" cy="45720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Calibri" pitchFamily="34" charset="0"/>
                <a:ea typeface="Calibri" pitchFamily="34" charset="-122"/>
                <a:cs typeface="Calibri" pitchFamily="34" charset="-120"/>
              </a:rPr>
              <a:t>The same viewpoint every frame, so the change is the only thing moving.</a:t>
            </a:r>
            <a:endParaRPr lang="en-US" sz="1250" dirty="0"/>
          </a:p>
        </p:txBody>
      </p:sp>
      <p:sp>
        <p:nvSpPr>
          <p:cNvPr id="20" name="Shape 18"/>
          <p:cNvSpPr/>
          <p:nvPr/>
        </p:nvSpPr>
        <p:spPr>
          <a:xfrm>
            <a:off x="6537960" y="3849624"/>
            <a:ext cx="109728" cy="109728"/>
          </a:xfrm>
          <a:prstGeom prst="rect">
            <a:avLst/>
          </a:prstGeom>
          <a:solidFill>
            <a:srgbClr val="000000"/>
          </a:solidFill>
          <a:ln/>
        </p:spPr>
      </p:sp>
      <p:sp>
        <p:nvSpPr>
          <p:cNvPr id="21" name="Text 19"/>
          <p:cNvSpPr/>
          <p:nvPr/>
        </p:nvSpPr>
        <p:spPr>
          <a:xfrm>
            <a:off x="6830568" y="3767328"/>
            <a:ext cx="4434840" cy="45720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Calibri" pitchFamily="34" charset="0"/>
                <a:ea typeface="Calibri" pitchFamily="34" charset="-122"/>
                <a:cs typeface="Calibri" pitchFamily="34" charset="-120"/>
              </a:rPr>
              <a:t>The moved or removed part is marked — colour, arrow, ghost.</a:t>
            </a:r>
            <a:endParaRPr lang="en-US" sz="1250" dirty="0"/>
          </a:p>
        </p:txBody>
      </p:sp>
      <p:sp>
        <p:nvSpPr>
          <p:cNvPr id="22" name="Shape 20"/>
          <p:cNvSpPr/>
          <p:nvPr/>
        </p:nvSpPr>
        <p:spPr>
          <a:xfrm>
            <a:off x="6537960" y="4398264"/>
            <a:ext cx="109728" cy="109728"/>
          </a:xfrm>
          <a:prstGeom prst="rect">
            <a:avLst/>
          </a:prstGeom>
          <a:solidFill>
            <a:srgbClr val="000000"/>
          </a:solidFill>
          <a:ln/>
        </p:spPr>
      </p:sp>
      <p:sp>
        <p:nvSpPr>
          <p:cNvPr id="23" name="Text 21"/>
          <p:cNvSpPr/>
          <p:nvPr/>
        </p:nvSpPr>
        <p:spPr>
          <a:xfrm>
            <a:off x="6830568" y="4315968"/>
            <a:ext cx="4434840" cy="45720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Calibri" pitchFamily="34" charset="0"/>
                <a:ea typeface="Calibri" pitchFamily="34" charset="-122"/>
                <a:cs typeface="Calibri" pitchFamily="34" charset="-120"/>
              </a:rPr>
              <a:t>It reads left to right without a caption.</a:t>
            </a:r>
            <a:endParaRPr lang="en-US" sz="1250" dirty="0"/>
          </a:p>
        </p:txBody>
      </p:sp>
      <p:sp>
        <p:nvSpPr>
          <p:cNvPr id="24" name="Shape 22"/>
          <p:cNvSpPr/>
          <p:nvPr/>
        </p:nvSpPr>
        <p:spPr>
          <a:xfrm>
            <a:off x="662940" y="5509260"/>
            <a:ext cx="10972800" cy="685800"/>
          </a:xfrm>
          <a:prstGeom prst="rect">
            <a:avLst/>
          </a:prstGeom>
          <a:solidFill>
            <a:srgbClr val="FF4D8D"/>
          </a:solidFill>
          <a:ln w="6350">
            <a:solidFill>
              <a:srgbClr val="FF4D8D"/>
            </a:solidFill>
            <a:prstDash val="solid"/>
          </a:ln>
        </p:spPr>
      </p:sp>
      <p:sp>
        <p:nvSpPr>
          <p:cNvPr id="25" name="Shape 23"/>
          <p:cNvSpPr/>
          <p:nvPr/>
        </p:nvSpPr>
        <p:spPr>
          <a:xfrm>
            <a:off x="594360" y="5440680"/>
            <a:ext cx="10972800" cy="685800"/>
          </a:xfrm>
          <a:prstGeom prst="rect">
            <a:avLst/>
          </a:prstGeom>
          <a:solidFill>
            <a:srgbClr val="FFFDF7"/>
          </a:solidFill>
          <a:ln w="34925">
            <a:solidFill>
              <a:srgbClr val="000000"/>
            </a:solidFill>
            <a:prstDash val="solid"/>
          </a:ln>
        </p:spPr>
      </p:sp>
      <p:sp>
        <p:nvSpPr>
          <p:cNvPr id="26" name="Text 24"/>
          <p:cNvSpPr/>
          <p:nvPr/>
        </p:nvSpPr>
        <p:spPr>
          <a:xfrm>
            <a:off x="914400" y="5614416"/>
            <a:ext cx="10515600" cy="384048"/>
          </a:xfrm>
          <a:prstGeom prst="rect">
            <a:avLst/>
          </a:prstGeom>
          <a:noFill/>
          <a:ln/>
        </p:spPr>
        <p:txBody>
          <a:bodyPr wrap="square" lIns="0" tIns="0" rIns="0" bIns="0" rtlCol="0" anchor="ctr"/>
          <a:lstStyle/>
          <a:p>
            <a:pPr indent="0" marL="0">
              <a:buNone/>
            </a:pPr>
            <a:r>
              <a:rPr lang="en-US" sz="1350" dirty="0">
                <a:solidFill>
                  <a:srgbClr val="000000"/>
                </a:solidFill>
                <a:latin typeface="Calibri" pitchFamily="34" charset="0"/>
                <a:ea typeface="Calibri" pitchFamily="34" charset="-122"/>
                <a:cs typeface="Calibri" pitchFamily="34" charset="-120"/>
              </a:rPr>
              <a:t>Your diagram is graded on whether the sequence can be read — not on how the building looks.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62940" y="635508"/>
            <a:ext cx="2194560" cy="384048"/>
          </a:xfrm>
          <a:prstGeom prst="rect">
            <a:avLst/>
          </a:prstGeom>
          <a:solidFill>
            <a:srgbClr val="000000"/>
          </a:solidFill>
          <a:ln w="6350">
            <a:solidFill>
              <a:srgbClr val="000000"/>
            </a:solidFill>
            <a:prstDash val="solid"/>
          </a:ln>
        </p:spPr>
      </p:sp>
      <p:sp>
        <p:nvSpPr>
          <p:cNvPr id="3" name="Shape 1"/>
          <p:cNvSpPr/>
          <p:nvPr/>
        </p:nvSpPr>
        <p:spPr>
          <a:xfrm>
            <a:off x="594360" y="566928"/>
            <a:ext cx="2194560" cy="384048"/>
          </a:xfrm>
          <a:prstGeom prst="rect">
            <a:avLst/>
          </a:prstGeom>
          <a:solidFill>
            <a:srgbClr val="FFE500"/>
          </a:solidFill>
          <a:ln w="34925">
            <a:solidFill>
              <a:srgbClr val="000000"/>
            </a:solidFill>
            <a:prstDash val="solid"/>
          </a:ln>
        </p:spPr>
      </p:sp>
      <p:sp>
        <p:nvSpPr>
          <p:cNvPr id="4" name="Text 2"/>
          <p:cNvSpPr/>
          <p:nvPr/>
        </p:nvSpPr>
        <p:spPr>
          <a:xfrm>
            <a:off x="594360" y="630936"/>
            <a:ext cx="2194560" cy="274320"/>
          </a:xfrm>
          <a:prstGeom prst="rect">
            <a:avLst/>
          </a:prstGeom>
          <a:noFill/>
          <a:ln/>
        </p:spPr>
        <p:txBody>
          <a:bodyPr wrap="square" lIns="0" tIns="0" rIns="0" bIns="0" rtlCol="0" anchor="ctr"/>
          <a:lstStyle/>
          <a:p>
            <a:pPr algn="ctr" indent="0" marL="0">
              <a:buNone/>
            </a:pPr>
            <a:r>
              <a:rPr lang="en-US" sz="1100" b="1" spc="100" kern="0" dirty="0">
                <a:solidFill>
                  <a:srgbClr val="000000"/>
                </a:solidFill>
                <a:latin typeface="Arial" pitchFamily="34" charset="0"/>
                <a:ea typeface="Arial" pitchFamily="34" charset="-122"/>
                <a:cs typeface="Arial" pitchFamily="34" charset="-120"/>
              </a:rPr>
              <a:t>ISSUED TODAY</a:t>
            </a:r>
            <a:endParaRPr lang="en-US" sz="1100" dirty="0"/>
          </a:p>
        </p:txBody>
      </p:sp>
      <p:sp>
        <p:nvSpPr>
          <p:cNvPr id="5" name="Text 3"/>
          <p:cNvSpPr/>
          <p:nvPr/>
        </p:nvSpPr>
        <p:spPr>
          <a:xfrm>
            <a:off x="594360" y="1152144"/>
            <a:ext cx="10972800" cy="566928"/>
          </a:xfrm>
          <a:prstGeom prst="rect">
            <a:avLst/>
          </a:prstGeom>
          <a:noFill/>
          <a:ln/>
        </p:spPr>
        <p:txBody>
          <a:bodyPr wrap="square" lIns="0" tIns="0" rIns="0" bIns="0" rtlCol="0" anchor="ctr"/>
          <a:lstStyle/>
          <a:p>
            <a:pPr indent="0" marL="0">
              <a:buNone/>
            </a:pPr>
            <a:r>
              <a:rPr lang="en-US" sz="2900" b="1" spc="-80" kern="0" dirty="0">
                <a:solidFill>
                  <a:srgbClr val="FFFDF7"/>
                </a:solidFill>
                <a:latin typeface="Arial" pitchFamily="34" charset="0"/>
                <a:ea typeface="Arial" pitchFamily="34" charset="-122"/>
                <a:cs typeface="Arial" pitchFamily="34" charset="-120"/>
              </a:rPr>
              <a:t>0.1 — PROCEDURE: DIAGRAM + INSTRUCTIONS</a:t>
            </a:r>
            <a:endParaRPr lang="en-US" sz="2900" dirty="0"/>
          </a:p>
        </p:txBody>
      </p:sp>
      <p:sp>
        <p:nvSpPr>
          <p:cNvPr id="6" name="Shape 4"/>
          <p:cNvSpPr/>
          <p:nvPr/>
        </p:nvSpPr>
        <p:spPr>
          <a:xfrm>
            <a:off x="594360" y="1783080"/>
            <a:ext cx="10972800" cy="0"/>
          </a:xfrm>
          <a:prstGeom prst="line">
            <a:avLst/>
          </a:prstGeom>
          <a:noFill/>
          <a:ln w="50800">
            <a:solidFill>
              <a:srgbClr val="FFFDF7"/>
            </a:solidFill>
            <a:prstDash val="solid"/>
          </a:ln>
        </p:spPr>
      </p:sp>
      <p:sp>
        <p:nvSpPr>
          <p:cNvPr id="7" name="Text 5"/>
          <p:cNvSpPr/>
          <p:nvPr/>
        </p:nvSpPr>
        <p:spPr>
          <a:xfrm>
            <a:off x="594360" y="1901952"/>
            <a:ext cx="10972800" cy="329184"/>
          </a:xfrm>
          <a:prstGeom prst="rect">
            <a:avLst/>
          </a:prstGeom>
          <a:noFill/>
          <a:ln/>
        </p:spPr>
        <p:txBody>
          <a:bodyPr wrap="square" lIns="0" tIns="0" rIns="0" bIns="0" rtlCol="0" anchor="ctr"/>
          <a:lstStyle/>
          <a:p>
            <a:pPr indent="0" marL="0">
              <a:buNone/>
            </a:pPr>
            <a:r>
              <a:rPr lang="en-US" sz="1300" b="1" spc="50" kern="0" dirty="0">
                <a:solidFill>
                  <a:srgbClr val="FFE500"/>
                </a:solidFill>
                <a:latin typeface="Arial" pitchFamily="34" charset="0"/>
                <a:ea typeface="Arial" pitchFamily="34" charset="-122"/>
                <a:cs typeface="Arial" pitchFamily="34" charset="-120"/>
              </a:rPr>
              <a:t>DUE CLASS 4 — SEP 15   /   8%</a:t>
            </a:r>
            <a:endParaRPr lang="en-US" sz="1300" dirty="0"/>
          </a:p>
        </p:txBody>
      </p:sp>
      <p:sp>
        <p:nvSpPr>
          <p:cNvPr id="8" name="Text 6"/>
          <p:cNvSpPr/>
          <p:nvPr/>
        </p:nvSpPr>
        <p:spPr>
          <a:xfrm>
            <a:off x="594360" y="2395728"/>
            <a:ext cx="10789920" cy="457200"/>
          </a:xfrm>
          <a:prstGeom prst="rect">
            <a:avLst/>
          </a:prstGeom>
          <a:noFill/>
          <a:ln/>
        </p:spPr>
        <p:txBody>
          <a:bodyPr wrap="square" lIns="0" tIns="0" rIns="0" bIns="0" rtlCol="0" anchor="ctr"/>
          <a:lstStyle/>
          <a:p>
            <a:pPr indent="0" marL="0">
              <a:buNone/>
            </a:pPr>
            <a:r>
              <a:rPr lang="en-US" sz="1500" dirty="0">
                <a:solidFill>
                  <a:srgbClr val="FFFDF7"/>
                </a:solidFill>
                <a:latin typeface="Calibri" pitchFamily="34" charset="0"/>
                <a:ea typeface="Calibri" pitchFamily="34" charset="-122"/>
                <a:cs typeface="Calibri" pitchFamily="34" charset="-120"/>
              </a:rPr>
              <a:t>Take an existing building. Rebuild its massing as a sequence of primitives and Booleans. Then document that sequence twice.</a:t>
            </a:r>
            <a:endParaRPr lang="en-US" sz="1500" dirty="0"/>
          </a:p>
        </p:txBody>
      </p:sp>
      <p:sp>
        <p:nvSpPr>
          <p:cNvPr id="9" name="Shape 7"/>
          <p:cNvSpPr/>
          <p:nvPr/>
        </p:nvSpPr>
        <p:spPr>
          <a:xfrm>
            <a:off x="662940" y="3086100"/>
            <a:ext cx="5349240" cy="2286000"/>
          </a:xfrm>
          <a:prstGeom prst="rect">
            <a:avLst/>
          </a:prstGeom>
          <a:solidFill>
            <a:srgbClr val="FFFDF7"/>
          </a:solidFill>
          <a:ln w="6350">
            <a:solidFill>
              <a:srgbClr val="FFFDF7"/>
            </a:solidFill>
            <a:prstDash val="solid"/>
          </a:ln>
        </p:spPr>
      </p:sp>
      <p:sp>
        <p:nvSpPr>
          <p:cNvPr id="10" name="Shape 8"/>
          <p:cNvSpPr/>
          <p:nvPr/>
        </p:nvSpPr>
        <p:spPr>
          <a:xfrm>
            <a:off x="594360" y="3017520"/>
            <a:ext cx="5349240" cy="2286000"/>
          </a:xfrm>
          <a:prstGeom prst="rect">
            <a:avLst/>
          </a:prstGeom>
          <a:solidFill>
            <a:srgbClr val="00D9E1"/>
          </a:solidFill>
          <a:ln w="34925">
            <a:solidFill>
              <a:srgbClr val="000000"/>
            </a:solidFill>
            <a:prstDash val="solid"/>
          </a:ln>
        </p:spPr>
      </p:sp>
      <p:sp>
        <p:nvSpPr>
          <p:cNvPr id="11" name="Text 9"/>
          <p:cNvSpPr/>
          <p:nvPr/>
        </p:nvSpPr>
        <p:spPr>
          <a:xfrm>
            <a:off x="914400" y="3218688"/>
            <a:ext cx="914400" cy="411480"/>
          </a:xfrm>
          <a:prstGeom prst="rect">
            <a:avLst/>
          </a:prstGeom>
          <a:noFill/>
          <a:ln/>
        </p:spPr>
        <p:txBody>
          <a:bodyPr wrap="square" lIns="0" tIns="0" rIns="0" bIns="0" rtlCol="0" anchor="ctr"/>
          <a:lstStyle/>
          <a:p>
            <a:pPr indent="0" marL="0">
              <a:buNone/>
            </a:pPr>
            <a:r>
              <a:rPr lang="en-US" sz="2100" b="1" dirty="0">
                <a:solidFill>
                  <a:srgbClr val="000000"/>
                </a:solidFill>
                <a:latin typeface="Arial" pitchFamily="34" charset="0"/>
                <a:ea typeface="Arial" pitchFamily="34" charset="-122"/>
                <a:cs typeface="Arial" pitchFamily="34" charset="-120"/>
              </a:rPr>
              <a:t>01</a:t>
            </a:r>
            <a:endParaRPr lang="en-US" sz="2100" dirty="0"/>
          </a:p>
        </p:txBody>
      </p:sp>
      <p:sp>
        <p:nvSpPr>
          <p:cNvPr id="12" name="Text 10"/>
          <p:cNvSpPr/>
          <p:nvPr/>
        </p:nvSpPr>
        <p:spPr>
          <a:xfrm>
            <a:off x="1691640" y="3291840"/>
            <a:ext cx="4023360" cy="365760"/>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THE DIAGRAM</a:t>
            </a:r>
            <a:endParaRPr lang="en-US" sz="1500" dirty="0"/>
          </a:p>
        </p:txBody>
      </p:sp>
      <p:sp>
        <p:nvSpPr>
          <p:cNvPr id="13" name="Shape 11"/>
          <p:cNvSpPr/>
          <p:nvPr/>
        </p:nvSpPr>
        <p:spPr>
          <a:xfrm>
            <a:off x="914400" y="3794760"/>
            <a:ext cx="4709160" cy="0"/>
          </a:xfrm>
          <a:prstGeom prst="line">
            <a:avLst/>
          </a:prstGeom>
          <a:noFill/>
          <a:ln w="25400">
            <a:solidFill>
              <a:srgbClr val="000000"/>
            </a:solidFill>
            <a:prstDash val="solid"/>
          </a:ln>
        </p:spPr>
      </p:sp>
      <p:sp>
        <p:nvSpPr>
          <p:cNvPr id="14" name="Text 12"/>
          <p:cNvSpPr/>
          <p:nvPr/>
        </p:nvSpPr>
        <p:spPr>
          <a:xfrm>
            <a:off x="914400" y="3950208"/>
            <a:ext cx="4709160" cy="118872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A sequential axonometric set — one drawing per operation — plus one larger final isometric with human scale, context, shadows and annotation.</a:t>
            </a:r>
            <a:endParaRPr lang="en-US" sz="1300" dirty="0"/>
          </a:p>
        </p:txBody>
      </p:sp>
      <p:sp>
        <p:nvSpPr>
          <p:cNvPr id="15" name="Shape 13"/>
          <p:cNvSpPr/>
          <p:nvPr/>
        </p:nvSpPr>
        <p:spPr>
          <a:xfrm>
            <a:off x="6286500" y="3086100"/>
            <a:ext cx="5349240" cy="2286000"/>
          </a:xfrm>
          <a:prstGeom prst="rect">
            <a:avLst/>
          </a:prstGeom>
          <a:solidFill>
            <a:srgbClr val="FFFDF7"/>
          </a:solidFill>
          <a:ln w="6350">
            <a:solidFill>
              <a:srgbClr val="FFFDF7"/>
            </a:solidFill>
            <a:prstDash val="solid"/>
          </a:ln>
        </p:spPr>
      </p:sp>
      <p:sp>
        <p:nvSpPr>
          <p:cNvPr id="16" name="Shape 14"/>
          <p:cNvSpPr/>
          <p:nvPr/>
        </p:nvSpPr>
        <p:spPr>
          <a:xfrm>
            <a:off x="6217920" y="3017520"/>
            <a:ext cx="5349240" cy="2286000"/>
          </a:xfrm>
          <a:prstGeom prst="rect">
            <a:avLst/>
          </a:prstGeom>
          <a:solidFill>
            <a:srgbClr val="C6F035"/>
          </a:solidFill>
          <a:ln w="34925">
            <a:solidFill>
              <a:srgbClr val="000000"/>
            </a:solidFill>
            <a:prstDash val="solid"/>
          </a:ln>
        </p:spPr>
      </p:sp>
      <p:sp>
        <p:nvSpPr>
          <p:cNvPr id="17" name="Text 15"/>
          <p:cNvSpPr/>
          <p:nvPr/>
        </p:nvSpPr>
        <p:spPr>
          <a:xfrm>
            <a:off x="6537960" y="3218688"/>
            <a:ext cx="914400" cy="411480"/>
          </a:xfrm>
          <a:prstGeom prst="rect">
            <a:avLst/>
          </a:prstGeom>
          <a:noFill/>
          <a:ln/>
        </p:spPr>
        <p:txBody>
          <a:bodyPr wrap="square" lIns="0" tIns="0" rIns="0" bIns="0" rtlCol="0" anchor="ctr"/>
          <a:lstStyle/>
          <a:p>
            <a:pPr indent="0" marL="0">
              <a:buNone/>
            </a:pPr>
            <a:r>
              <a:rPr lang="en-US" sz="2100" b="1" dirty="0">
                <a:solidFill>
                  <a:srgbClr val="000000"/>
                </a:solidFill>
                <a:latin typeface="Arial" pitchFamily="34" charset="0"/>
                <a:ea typeface="Arial" pitchFamily="34" charset="-122"/>
                <a:cs typeface="Arial" pitchFamily="34" charset="-120"/>
              </a:rPr>
              <a:t>02</a:t>
            </a:r>
            <a:endParaRPr lang="en-US" sz="2100" dirty="0"/>
          </a:p>
        </p:txBody>
      </p:sp>
      <p:sp>
        <p:nvSpPr>
          <p:cNvPr id="18" name="Text 16"/>
          <p:cNvSpPr/>
          <p:nvPr/>
        </p:nvSpPr>
        <p:spPr>
          <a:xfrm>
            <a:off x="7315200" y="3291840"/>
            <a:ext cx="4023360" cy="365760"/>
          </a:xfrm>
          <a:prstGeom prst="rect">
            <a:avLst/>
          </a:prstGeom>
          <a:noFill/>
          <a:ln/>
        </p:spPr>
        <p:txBody>
          <a:bodyPr wrap="square" lIns="0" tIns="0" rIns="0" bIns="0" rtlCol="0" anchor="ctr"/>
          <a:lstStyle/>
          <a:p>
            <a:pPr indent="0" marL="0">
              <a:buNone/>
            </a:pPr>
            <a:r>
              <a:rPr lang="en-US" sz="1500" b="1" spc="20" kern="0" dirty="0">
                <a:solidFill>
                  <a:srgbClr val="000000"/>
                </a:solidFill>
                <a:latin typeface="Arial" pitchFamily="34" charset="0"/>
                <a:ea typeface="Arial" pitchFamily="34" charset="-122"/>
                <a:cs typeface="Arial" pitchFamily="34" charset="-120"/>
              </a:rPr>
              <a:t>THE INSTRUCTIONS</a:t>
            </a:r>
            <a:endParaRPr lang="en-US" sz="1500" dirty="0"/>
          </a:p>
        </p:txBody>
      </p:sp>
      <p:sp>
        <p:nvSpPr>
          <p:cNvPr id="19" name="Shape 17"/>
          <p:cNvSpPr/>
          <p:nvPr/>
        </p:nvSpPr>
        <p:spPr>
          <a:xfrm>
            <a:off x="6537960" y="3794760"/>
            <a:ext cx="4709160" cy="0"/>
          </a:xfrm>
          <a:prstGeom prst="line">
            <a:avLst/>
          </a:prstGeom>
          <a:noFill/>
          <a:ln w="25400">
            <a:solidFill>
              <a:srgbClr val="000000"/>
            </a:solidFill>
            <a:prstDash val="solid"/>
          </a:ln>
        </p:spPr>
      </p:sp>
      <p:sp>
        <p:nvSpPr>
          <p:cNvPr id="20" name="Text 18"/>
          <p:cNvSpPr/>
          <p:nvPr/>
        </p:nvSpPr>
        <p:spPr>
          <a:xfrm>
            <a:off x="6537960" y="3950208"/>
            <a:ext cx="4709160" cy="1188720"/>
          </a:xfrm>
          <a:prstGeom prst="rect">
            <a:avLst/>
          </a:prstGeom>
          <a:noFill/>
          <a:ln/>
        </p:spPr>
        <p:txBody>
          <a:bodyPr wrap="square" lIns="0" tIns="0" rIns="0" bIns="0" rtlCol="0" anchor="ctr"/>
          <a:lstStyle/>
          <a:p>
            <a:pPr indent="0" marL="0">
              <a:lnSpc>
                <a:spcPts val="1800"/>
              </a:lnSpc>
              <a:buNone/>
            </a:pPr>
            <a:r>
              <a:rPr lang="en-US" sz="1300" dirty="0">
                <a:solidFill>
                  <a:srgbClr val="000000"/>
                </a:solidFill>
                <a:latin typeface="Calibri" pitchFamily="34" charset="0"/>
                <a:ea typeface="Calibri" pitchFamily="34" charset="-122"/>
                <a:cs typeface="Calibri" pitchFamily="34" charset="-120"/>
              </a:rPr>
              <a:t>A written procedure another person could follow to rebuild your object without ever seeing your model.</a:t>
            </a:r>
            <a:endParaRPr lang="en-US" sz="1300" dirty="0"/>
          </a:p>
        </p:txBody>
      </p:sp>
      <p:sp>
        <p:nvSpPr>
          <p:cNvPr id="21" name="Shape 19"/>
          <p:cNvSpPr/>
          <p:nvPr/>
        </p:nvSpPr>
        <p:spPr>
          <a:xfrm>
            <a:off x="662940" y="5600700"/>
            <a:ext cx="10972800" cy="640080"/>
          </a:xfrm>
          <a:prstGeom prst="rect">
            <a:avLst/>
          </a:prstGeom>
          <a:solidFill>
            <a:srgbClr val="FF4D8D"/>
          </a:solidFill>
          <a:ln w="6350">
            <a:solidFill>
              <a:srgbClr val="FF4D8D"/>
            </a:solidFill>
            <a:prstDash val="solid"/>
          </a:ln>
        </p:spPr>
      </p:sp>
      <p:sp>
        <p:nvSpPr>
          <p:cNvPr id="22" name="Shape 20"/>
          <p:cNvSpPr/>
          <p:nvPr/>
        </p:nvSpPr>
        <p:spPr>
          <a:xfrm>
            <a:off x="594360" y="5532120"/>
            <a:ext cx="10972800" cy="640080"/>
          </a:xfrm>
          <a:prstGeom prst="rect">
            <a:avLst/>
          </a:prstGeom>
          <a:solidFill>
            <a:srgbClr val="FFE500"/>
          </a:solidFill>
          <a:ln w="34925">
            <a:solidFill>
              <a:srgbClr val="000000"/>
            </a:solidFill>
            <a:prstDash val="solid"/>
          </a:ln>
        </p:spPr>
      </p:sp>
      <p:sp>
        <p:nvSpPr>
          <p:cNvPr id="23" name="Text 21"/>
          <p:cNvSpPr/>
          <p:nvPr/>
        </p:nvSpPr>
        <p:spPr>
          <a:xfrm>
            <a:off x="914400" y="5678424"/>
            <a:ext cx="10515600" cy="36576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BOTH ON ONE 17" × 11" SHEET, IN YOUR VISUAL IDENTITY.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REQUIREMENTS</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Counting these earns a C. The rest is judgement.</a:t>
            </a:r>
            <a:endParaRPr lang="en-US" sz="1350" dirty="0"/>
          </a:p>
        </p:txBody>
      </p:sp>
      <p:sp>
        <p:nvSpPr>
          <p:cNvPr id="5" name="Shape 3"/>
          <p:cNvSpPr/>
          <p:nvPr/>
        </p:nvSpPr>
        <p:spPr>
          <a:xfrm>
            <a:off x="662940" y="1851660"/>
            <a:ext cx="1051560" cy="603504"/>
          </a:xfrm>
          <a:prstGeom prst="rect">
            <a:avLst/>
          </a:prstGeom>
          <a:solidFill>
            <a:srgbClr val="000000"/>
          </a:solidFill>
          <a:ln w="6350">
            <a:solidFill>
              <a:srgbClr val="000000"/>
            </a:solidFill>
            <a:prstDash val="solid"/>
          </a:ln>
        </p:spPr>
      </p:sp>
      <p:sp>
        <p:nvSpPr>
          <p:cNvPr id="6" name="Shape 4"/>
          <p:cNvSpPr/>
          <p:nvPr/>
        </p:nvSpPr>
        <p:spPr>
          <a:xfrm>
            <a:off x="594360" y="1783080"/>
            <a:ext cx="1051560" cy="603504"/>
          </a:xfrm>
          <a:prstGeom prst="rect">
            <a:avLst/>
          </a:prstGeom>
          <a:solidFill>
            <a:srgbClr val="C6F035"/>
          </a:solidFill>
          <a:ln w="34925">
            <a:solidFill>
              <a:srgbClr val="000000"/>
            </a:solidFill>
            <a:prstDash val="solid"/>
          </a:ln>
        </p:spPr>
      </p:sp>
      <p:sp>
        <p:nvSpPr>
          <p:cNvPr id="7" name="Text 5"/>
          <p:cNvSpPr/>
          <p:nvPr/>
        </p:nvSpPr>
        <p:spPr>
          <a:xfrm>
            <a:off x="594360" y="1920240"/>
            <a:ext cx="105156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5+</a:t>
            </a:r>
            <a:endParaRPr lang="en-US" sz="1700" dirty="0"/>
          </a:p>
        </p:txBody>
      </p:sp>
      <p:sp>
        <p:nvSpPr>
          <p:cNvPr id="8" name="Text 6"/>
          <p:cNvSpPr/>
          <p:nvPr/>
        </p:nvSpPr>
        <p:spPr>
          <a:xfrm>
            <a:off x="1965960" y="1929384"/>
            <a:ext cx="96012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Boolean operations</a:t>
            </a:r>
            <a:endParaRPr lang="en-US" sz="1500" dirty="0"/>
          </a:p>
        </p:txBody>
      </p:sp>
      <p:sp>
        <p:nvSpPr>
          <p:cNvPr id="9" name="Shape 7"/>
          <p:cNvSpPr/>
          <p:nvPr/>
        </p:nvSpPr>
        <p:spPr>
          <a:xfrm>
            <a:off x="662940" y="2610612"/>
            <a:ext cx="1051560" cy="603504"/>
          </a:xfrm>
          <a:prstGeom prst="rect">
            <a:avLst/>
          </a:prstGeom>
          <a:solidFill>
            <a:srgbClr val="000000"/>
          </a:solidFill>
          <a:ln w="6350">
            <a:solidFill>
              <a:srgbClr val="000000"/>
            </a:solidFill>
            <a:prstDash val="solid"/>
          </a:ln>
        </p:spPr>
      </p:sp>
      <p:sp>
        <p:nvSpPr>
          <p:cNvPr id="10" name="Shape 8"/>
          <p:cNvSpPr/>
          <p:nvPr/>
        </p:nvSpPr>
        <p:spPr>
          <a:xfrm>
            <a:off x="594360" y="2542032"/>
            <a:ext cx="1051560" cy="603504"/>
          </a:xfrm>
          <a:prstGeom prst="rect">
            <a:avLst/>
          </a:prstGeom>
          <a:solidFill>
            <a:srgbClr val="C6F035"/>
          </a:solidFill>
          <a:ln w="34925">
            <a:solidFill>
              <a:srgbClr val="000000"/>
            </a:solidFill>
            <a:prstDash val="solid"/>
          </a:ln>
        </p:spPr>
      </p:sp>
      <p:sp>
        <p:nvSpPr>
          <p:cNvPr id="11" name="Text 9"/>
          <p:cNvSpPr/>
          <p:nvPr/>
        </p:nvSpPr>
        <p:spPr>
          <a:xfrm>
            <a:off x="594360" y="2679192"/>
            <a:ext cx="105156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4+</a:t>
            </a:r>
            <a:endParaRPr lang="en-US" sz="1700" dirty="0"/>
          </a:p>
        </p:txBody>
      </p:sp>
      <p:sp>
        <p:nvSpPr>
          <p:cNvPr id="12" name="Text 10"/>
          <p:cNvSpPr/>
          <p:nvPr/>
        </p:nvSpPr>
        <p:spPr>
          <a:xfrm>
            <a:off x="1965960" y="2688336"/>
            <a:ext cx="96012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distinct primitive types</a:t>
            </a:r>
            <a:endParaRPr lang="en-US" sz="1500" dirty="0"/>
          </a:p>
        </p:txBody>
      </p:sp>
      <p:sp>
        <p:nvSpPr>
          <p:cNvPr id="13" name="Shape 11"/>
          <p:cNvSpPr/>
          <p:nvPr/>
        </p:nvSpPr>
        <p:spPr>
          <a:xfrm>
            <a:off x="662940" y="3369564"/>
            <a:ext cx="1051560" cy="603504"/>
          </a:xfrm>
          <a:prstGeom prst="rect">
            <a:avLst/>
          </a:prstGeom>
          <a:solidFill>
            <a:srgbClr val="000000"/>
          </a:solidFill>
          <a:ln w="6350">
            <a:solidFill>
              <a:srgbClr val="000000"/>
            </a:solidFill>
            <a:prstDash val="solid"/>
          </a:ln>
        </p:spPr>
      </p:sp>
      <p:sp>
        <p:nvSpPr>
          <p:cNvPr id="14" name="Shape 12"/>
          <p:cNvSpPr/>
          <p:nvPr/>
        </p:nvSpPr>
        <p:spPr>
          <a:xfrm>
            <a:off x="594360" y="3300984"/>
            <a:ext cx="1051560" cy="603504"/>
          </a:xfrm>
          <a:prstGeom prst="rect">
            <a:avLst/>
          </a:prstGeom>
          <a:solidFill>
            <a:srgbClr val="C6F035"/>
          </a:solidFill>
          <a:ln w="34925">
            <a:solidFill>
              <a:srgbClr val="000000"/>
            </a:solidFill>
            <a:prstDash val="solid"/>
          </a:ln>
        </p:spPr>
      </p:sp>
      <p:sp>
        <p:nvSpPr>
          <p:cNvPr id="15" name="Text 13"/>
          <p:cNvSpPr/>
          <p:nvPr/>
        </p:nvSpPr>
        <p:spPr>
          <a:xfrm>
            <a:off x="594360" y="3438144"/>
            <a:ext cx="105156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2+</a:t>
            </a:r>
            <a:endParaRPr lang="en-US" sz="1700" dirty="0"/>
          </a:p>
        </p:txBody>
      </p:sp>
      <p:sp>
        <p:nvSpPr>
          <p:cNvPr id="16" name="Text 14"/>
          <p:cNvSpPr/>
          <p:nvPr/>
        </p:nvSpPr>
        <p:spPr>
          <a:xfrm>
            <a:off x="1965960" y="3447288"/>
            <a:ext cx="96012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translations</a:t>
            </a:r>
            <a:endParaRPr lang="en-US" sz="1500" dirty="0"/>
          </a:p>
        </p:txBody>
      </p:sp>
      <p:sp>
        <p:nvSpPr>
          <p:cNvPr id="17" name="Shape 15"/>
          <p:cNvSpPr/>
          <p:nvPr/>
        </p:nvSpPr>
        <p:spPr>
          <a:xfrm>
            <a:off x="662940" y="4128516"/>
            <a:ext cx="1051560" cy="603504"/>
          </a:xfrm>
          <a:prstGeom prst="rect">
            <a:avLst/>
          </a:prstGeom>
          <a:solidFill>
            <a:srgbClr val="000000"/>
          </a:solidFill>
          <a:ln w="6350">
            <a:solidFill>
              <a:srgbClr val="000000"/>
            </a:solidFill>
            <a:prstDash val="solid"/>
          </a:ln>
        </p:spPr>
      </p:sp>
      <p:sp>
        <p:nvSpPr>
          <p:cNvPr id="18" name="Shape 16"/>
          <p:cNvSpPr/>
          <p:nvPr/>
        </p:nvSpPr>
        <p:spPr>
          <a:xfrm>
            <a:off x="594360" y="4059936"/>
            <a:ext cx="1051560" cy="603504"/>
          </a:xfrm>
          <a:prstGeom prst="rect">
            <a:avLst/>
          </a:prstGeom>
          <a:solidFill>
            <a:srgbClr val="C6F035"/>
          </a:solidFill>
          <a:ln w="34925">
            <a:solidFill>
              <a:srgbClr val="000000"/>
            </a:solidFill>
            <a:prstDash val="solid"/>
          </a:ln>
        </p:spPr>
      </p:sp>
      <p:sp>
        <p:nvSpPr>
          <p:cNvPr id="19" name="Text 17"/>
          <p:cNvSpPr/>
          <p:nvPr/>
        </p:nvSpPr>
        <p:spPr>
          <a:xfrm>
            <a:off x="594360" y="4197096"/>
            <a:ext cx="105156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1+</a:t>
            </a:r>
            <a:endParaRPr lang="en-US" sz="1700" dirty="0"/>
          </a:p>
        </p:txBody>
      </p:sp>
      <p:sp>
        <p:nvSpPr>
          <p:cNvPr id="20" name="Text 18"/>
          <p:cNvSpPr/>
          <p:nvPr/>
        </p:nvSpPr>
        <p:spPr>
          <a:xfrm>
            <a:off x="1965960" y="4206240"/>
            <a:ext cx="96012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rotation</a:t>
            </a:r>
            <a:endParaRPr lang="en-US" sz="1500" dirty="0"/>
          </a:p>
        </p:txBody>
      </p:sp>
      <p:sp>
        <p:nvSpPr>
          <p:cNvPr id="21" name="Shape 19"/>
          <p:cNvSpPr/>
          <p:nvPr/>
        </p:nvSpPr>
        <p:spPr>
          <a:xfrm>
            <a:off x="662940" y="4887468"/>
            <a:ext cx="1051560" cy="603504"/>
          </a:xfrm>
          <a:prstGeom prst="rect">
            <a:avLst/>
          </a:prstGeom>
          <a:solidFill>
            <a:srgbClr val="000000"/>
          </a:solidFill>
          <a:ln w="6350">
            <a:solidFill>
              <a:srgbClr val="000000"/>
            </a:solidFill>
            <a:prstDash val="solid"/>
          </a:ln>
        </p:spPr>
      </p:sp>
      <p:sp>
        <p:nvSpPr>
          <p:cNvPr id="22" name="Shape 20"/>
          <p:cNvSpPr/>
          <p:nvPr/>
        </p:nvSpPr>
        <p:spPr>
          <a:xfrm>
            <a:off x="594360" y="4818888"/>
            <a:ext cx="1051560" cy="603504"/>
          </a:xfrm>
          <a:prstGeom prst="rect">
            <a:avLst/>
          </a:prstGeom>
          <a:solidFill>
            <a:srgbClr val="00D9E1"/>
          </a:solidFill>
          <a:ln w="34925">
            <a:solidFill>
              <a:srgbClr val="000000"/>
            </a:solidFill>
            <a:prstDash val="solid"/>
          </a:ln>
        </p:spPr>
      </p:sp>
      <p:sp>
        <p:nvSpPr>
          <p:cNvPr id="23" name="Text 21"/>
          <p:cNvSpPr/>
          <p:nvPr/>
        </p:nvSpPr>
        <p:spPr>
          <a:xfrm>
            <a:off x="594360" y="4956048"/>
            <a:ext cx="1051560" cy="365760"/>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1</a:t>
            </a:r>
            <a:endParaRPr lang="en-US" sz="1700" dirty="0"/>
          </a:p>
        </p:txBody>
      </p:sp>
      <p:sp>
        <p:nvSpPr>
          <p:cNvPr id="24" name="Text 22"/>
          <p:cNvSpPr/>
          <p:nvPr/>
        </p:nvSpPr>
        <p:spPr>
          <a:xfrm>
            <a:off x="1965960" y="4965192"/>
            <a:ext cx="96012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precedent analysis — 2–3 sentences on why the massing reads as a sequence</a:t>
            </a:r>
            <a:endParaRPr lang="en-US" sz="1500" dirty="0"/>
          </a:p>
        </p:txBody>
      </p:sp>
      <p:sp>
        <p:nvSpPr>
          <p:cNvPr id="25" name="Shape 23"/>
          <p:cNvSpPr/>
          <p:nvPr/>
        </p:nvSpPr>
        <p:spPr>
          <a:xfrm>
            <a:off x="662940" y="5692140"/>
            <a:ext cx="10972800" cy="658368"/>
          </a:xfrm>
          <a:prstGeom prst="rect">
            <a:avLst/>
          </a:prstGeom>
          <a:solidFill>
            <a:srgbClr val="000000"/>
          </a:solidFill>
          <a:ln w="6350">
            <a:solidFill>
              <a:srgbClr val="000000"/>
            </a:solidFill>
            <a:prstDash val="solid"/>
          </a:ln>
        </p:spPr>
      </p:sp>
      <p:sp>
        <p:nvSpPr>
          <p:cNvPr id="26" name="Shape 24"/>
          <p:cNvSpPr/>
          <p:nvPr/>
        </p:nvSpPr>
        <p:spPr>
          <a:xfrm>
            <a:off x="594360" y="5623560"/>
            <a:ext cx="10972800" cy="658368"/>
          </a:xfrm>
          <a:prstGeom prst="rect">
            <a:avLst/>
          </a:prstGeom>
          <a:solidFill>
            <a:srgbClr val="FF4D8D"/>
          </a:solidFill>
          <a:ln w="34925">
            <a:solidFill>
              <a:srgbClr val="000000"/>
            </a:solidFill>
            <a:prstDash val="solid"/>
          </a:ln>
        </p:spPr>
      </p:sp>
      <p:sp>
        <p:nvSpPr>
          <p:cNvPr id="27" name="Text 25"/>
          <p:cNvSpPr/>
          <p:nvPr/>
        </p:nvSpPr>
        <p:spPr>
          <a:xfrm>
            <a:off x="914400" y="5788152"/>
            <a:ext cx="10515600" cy="36576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Operation history intact and demonstrable.  No imported or downloaded models.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THE NOTATION</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Write the procedure as pseudocode. Formal enough to be unambiguous, plain enough to read aloud.</a:t>
            </a:r>
            <a:endParaRPr lang="en-US" sz="1350" dirty="0"/>
          </a:p>
        </p:txBody>
      </p:sp>
      <p:sp>
        <p:nvSpPr>
          <p:cNvPr id="5" name="Shape 3"/>
          <p:cNvSpPr/>
          <p:nvPr/>
        </p:nvSpPr>
        <p:spPr>
          <a:xfrm>
            <a:off x="457200" y="1851660"/>
            <a:ext cx="3429000" cy="2286000"/>
          </a:xfrm>
          <a:prstGeom prst="rect">
            <a:avLst/>
          </a:prstGeom>
          <a:solidFill>
            <a:srgbClr val="000000"/>
          </a:solidFill>
          <a:ln w="6350">
            <a:solidFill>
              <a:srgbClr val="000000"/>
            </a:solidFill>
            <a:prstDash val="solid"/>
          </a:ln>
        </p:spPr>
      </p:sp>
      <p:sp>
        <p:nvSpPr>
          <p:cNvPr id="6" name="Shape 4"/>
          <p:cNvSpPr/>
          <p:nvPr/>
        </p:nvSpPr>
        <p:spPr>
          <a:xfrm>
            <a:off x="388620" y="1783080"/>
            <a:ext cx="3429000" cy="2286000"/>
          </a:xfrm>
          <a:prstGeom prst="rect">
            <a:avLst/>
          </a:prstGeom>
          <a:solidFill>
            <a:srgbClr val="FFFDF7"/>
          </a:solidFill>
          <a:ln w="34925">
            <a:solidFill>
              <a:srgbClr val="000000"/>
            </a:solidFill>
            <a:prstDash val="solid"/>
          </a:ln>
        </p:spPr>
      </p:sp>
      <p:sp>
        <p:nvSpPr>
          <p:cNvPr id="7" name="Shape 5"/>
          <p:cNvSpPr/>
          <p:nvPr/>
        </p:nvSpPr>
        <p:spPr>
          <a:xfrm>
            <a:off x="388620" y="1783080"/>
            <a:ext cx="3429000" cy="502920"/>
          </a:xfrm>
          <a:prstGeom prst="rect">
            <a:avLst/>
          </a:prstGeom>
          <a:solidFill>
            <a:srgbClr val="00D9E1"/>
          </a:solidFill>
          <a:ln w="34925">
            <a:solidFill>
              <a:srgbClr val="000000"/>
            </a:solidFill>
            <a:prstDash val="solid"/>
          </a:ln>
        </p:spPr>
      </p:sp>
      <p:sp>
        <p:nvSpPr>
          <p:cNvPr id="8" name="Text 6"/>
          <p:cNvSpPr/>
          <p:nvPr/>
        </p:nvSpPr>
        <p:spPr>
          <a:xfrm>
            <a:off x="644652" y="1874520"/>
            <a:ext cx="2916936" cy="329184"/>
          </a:xfrm>
          <a:prstGeom prst="rect">
            <a:avLst/>
          </a:prstGeom>
          <a:noFill/>
          <a:ln/>
        </p:spPr>
        <p:txBody>
          <a:bodyPr wrap="square" lIns="0" tIns="0" rIns="0" bIns="0" rtlCol="0" anchor="ctr"/>
          <a:lstStyle/>
          <a:p>
            <a:pPr indent="0" marL="0">
              <a:buNone/>
            </a:pPr>
            <a:r>
              <a:rPr lang="en-US" sz="1250" b="1" spc="80" kern="0" dirty="0">
                <a:solidFill>
                  <a:srgbClr val="000000"/>
                </a:solidFill>
                <a:latin typeface="Arial" pitchFamily="34" charset="0"/>
                <a:ea typeface="Arial" pitchFamily="34" charset="-122"/>
                <a:cs typeface="Arial" pitchFamily="34" charset="-120"/>
              </a:rPr>
              <a:t>PRIMITIVES</a:t>
            </a:r>
            <a:endParaRPr lang="en-US" sz="1250" dirty="0"/>
          </a:p>
        </p:txBody>
      </p:sp>
      <p:sp>
        <p:nvSpPr>
          <p:cNvPr id="9" name="Text 7"/>
          <p:cNvSpPr/>
          <p:nvPr/>
        </p:nvSpPr>
        <p:spPr>
          <a:xfrm>
            <a:off x="644652" y="2441448"/>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box(x, y, z)</a:t>
            </a:r>
            <a:endParaRPr lang="en-US" sz="1200" dirty="0"/>
          </a:p>
        </p:txBody>
      </p:sp>
      <p:sp>
        <p:nvSpPr>
          <p:cNvPr id="10" name="Text 8"/>
          <p:cNvSpPr/>
          <p:nvPr/>
        </p:nvSpPr>
        <p:spPr>
          <a:xfrm>
            <a:off x="644652" y="2825496"/>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cylinder(r, h)</a:t>
            </a:r>
            <a:endParaRPr lang="en-US" sz="1200" dirty="0"/>
          </a:p>
        </p:txBody>
      </p:sp>
      <p:sp>
        <p:nvSpPr>
          <p:cNvPr id="11" name="Text 9"/>
          <p:cNvSpPr/>
          <p:nvPr/>
        </p:nvSpPr>
        <p:spPr>
          <a:xfrm>
            <a:off x="644652" y="3209544"/>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sphere(r)</a:t>
            </a:r>
            <a:endParaRPr lang="en-US" sz="1200" dirty="0"/>
          </a:p>
        </p:txBody>
      </p:sp>
      <p:sp>
        <p:nvSpPr>
          <p:cNvPr id="12" name="Text 10"/>
          <p:cNvSpPr/>
          <p:nvPr/>
        </p:nvSpPr>
        <p:spPr>
          <a:xfrm>
            <a:off x="644652" y="3593592"/>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cone(r, h)</a:t>
            </a:r>
            <a:endParaRPr lang="en-US" sz="1200" dirty="0"/>
          </a:p>
        </p:txBody>
      </p:sp>
      <p:sp>
        <p:nvSpPr>
          <p:cNvPr id="13" name="Shape 11"/>
          <p:cNvSpPr/>
          <p:nvPr/>
        </p:nvSpPr>
        <p:spPr>
          <a:xfrm>
            <a:off x="4434840" y="1851660"/>
            <a:ext cx="3429000" cy="2286000"/>
          </a:xfrm>
          <a:prstGeom prst="rect">
            <a:avLst/>
          </a:prstGeom>
          <a:solidFill>
            <a:srgbClr val="000000"/>
          </a:solidFill>
          <a:ln w="6350">
            <a:solidFill>
              <a:srgbClr val="000000"/>
            </a:solidFill>
            <a:prstDash val="solid"/>
          </a:ln>
        </p:spPr>
      </p:sp>
      <p:sp>
        <p:nvSpPr>
          <p:cNvPr id="14" name="Shape 12"/>
          <p:cNvSpPr/>
          <p:nvPr/>
        </p:nvSpPr>
        <p:spPr>
          <a:xfrm>
            <a:off x="4366260" y="1783080"/>
            <a:ext cx="3429000" cy="2286000"/>
          </a:xfrm>
          <a:prstGeom prst="rect">
            <a:avLst/>
          </a:prstGeom>
          <a:solidFill>
            <a:srgbClr val="FFFDF7"/>
          </a:solidFill>
          <a:ln w="34925">
            <a:solidFill>
              <a:srgbClr val="000000"/>
            </a:solidFill>
            <a:prstDash val="solid"/>
          </a:ln>
        </p:spPr>
      </p:sp>
      <p:sp>
        <p:nvSpPr>
          <p:cNvPr id="15" name="Shape 13"/>
          <p:cNvSpPr/>
          <p:nvPr/>
        </p:nvSpPr>
        <p:spPr>
          <a:xfrm>
            <a:off x="4366260" y="1783080"/>
            <a:ext cx="3429000" cy="502920"/>
          </a:xfrm>
          <a:prstGeom prst="rect">
            <a:avLst/>
          </a:prstGeom>
          <a:solidFill>
            <a:srgbClr val="C6F035"/>
          </a:solidFill>
          <a:ln w="34925">
            <a:solidFill>
              <a:srgbClr val="000000"/>
            </a:solidFill>
            <a:prstDash val="solid"/>
          </a:ln>
        </p:spPr>
      </p:sp>
      <p:sp>
        <p:nvSpPr>
          <p:cNvPr id="16" name="Text 14"/>
          <p:cNvSpPr/>
          <p:nvPr/>
        </p:nvSpPr>
        <p:spPr>
          <a:xfrm>
            <a:off x="4622292" y="1874520"/>
            <a:ext cx="2916936" cy="329184"/>
          </a:xfrm>
          <a:prstGeom prst="rect">
            <a:avLst/>
          </a:prstGeom>
          <a:noFill/>
          <a:ln/>
        </p:spPr>
        <p:txBody>
          <a:bodyPr wrap="square" lIns="0" tIns="0" rIns="0" bIns="0" rtlCol="0" anchor="ctr"/>
          <a:lstStyle/>
          <a:p>
            <a:pPr indent="0" marL="0">
              <a:buNone/>
            </a:pPr>
            <a:r>
              <a:rPr lang="en-US" sz="1250" b="1" spc="80" kern="0" dirty="0">
                <a:solidFill>
                  <a:srgbClr val="000000"/>
                </a:solidFill>
                <a:latin typeface="Arial" pitchFamily="34" charset="0"/>
                <a:ea typeface="Arial" pitchFamily="34" charset="-122"/>
                <a:cs typeface="Arial" pitchFamily="34" charset="-120"/>
              </a:rPr>
              <a:t>TRANSFORMS</a:t>
            </a:r>
            <a:endParaRPr lang="en-US" sz="1250" dirty="0"/>
          </a:p>
        </p:txBody>
      </p:sp>
      <p:sp>
        <p:nvSpPr>
          <p:cNvPr id="17" name="Text 15"/>
          <p:cNvSpPr/>
          <p:nvPr/>
        </p:nvSpPr>
        <p:spPr>
          <a:xfrm>
            <a:off x="4622292" y="2441448"/>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move(s, x, y, z)</a:t>
            </a:r>
            <a:endParaRPr lang="en-US" sz="1200" dirty="0"/>
          </a:p>
        </p:txBody>
      </p:sp>
      <p:sp>
        <p:nvSpPr>
          <p:cNvPr id="18" name="Text 16"/>
          <p:cNvSpPr/>
          <p:nvPr/>
        </p:nvSpPr>
        <p:spPr>
          <a:xfrm>
            <a:off x="4622292" y="2825496"/>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rotate(s, axis, deg)</a:t>
            </a:r>
            <a:endParaRPr lang="en-US" sz="1200" dirty="0"/>
          </a:p>
        </p:txBody>
      </p:sp>
      <p:sp>
        <p:nvSpPr>
          <p:cNvPr id="19" name="Text 17"/>
          <p:cNvSpPr/>
          <p:nvPr/>
        </p:nvSpPr>
        <p:spPr>
          <a:xfrm>
            <a:off x="4622292" y="3209544"/>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scale(s, factor)</a:t>
            </a:r>
            <a:endParaRPr lang="en-US" sz="1200" dirty="0"/>
          </a:p>
        </p:txBody>
      </p:sp>
      <p:sp>
        <p:nvSpPr>
          <p:cNvPr id="20" name="Shape 18"/>
          <p:cNvSpPr/>
          <p:nvPr/>
        </p:nvSpPr>
        <p:spPr>
          <a:xfrm>
            <a:off x="8412480" y="1851660"/>
            <a:ext cx="3429000" cy="2286000"/>
          </a:xfrm>
          <a:prstGeom prst="rect">
            <a:avLst/>
          </a:prstGeom>
          <a:solidFill>
            <a:srgbClr val="000000"/>
          </a:solidFill>
          <a:ln w="6350">
            <a:solidFill>
              <a:srgbClr val="000000"/>
            </a:solidFill>
            <a:prstDash val="solid"/>
          </a:ln>
        </p:spPr>
      </p:sp>
      <p:sp>
        <p:nvSpPr>
          <p:cNvPr id="21" name="Shape 19"/>
          <p:cNvSpPr/>
          <p:nvPr/>
        </p:nvSpPr>
        <p:spPr>
          <a:xfrm>
            <a:off x="8343900" y="1783080"/>
            <a:ext cx="3429000" cy="2286000"/>
          </a:xfrm>
          <a:prstGeom prst="rect">
            <a:avLst/>
          </a:prstGeom>
          <a:solidFill>
            <a:srgbClr val="FFFDF7"/>
          </a:solidFill>
          <a:ln w="34925">
            <a:solidFill>
              <a:srgbClr val="000000"/>
            </a:solidFill>
            <a:prstDash val="solid"/>
          </a:ln>
        </p:spPr>
      </p:sp>
      <p:sp>
        <p:nvSpPr>
          <p:cNvPr id="22" name="Shape 20"/>
          <p:cNvSpPr/>
          <p:nvPr/>
        </p:nvSpPr>
        <p:spPr>
          <a:xfrm>
            <a:off x="8343900" y="1783080"/>
            <a:ext cx="3429000" cy="502920"/>
          </a:xfrm>
          <a:prstGeom prst="rect">
            <a:avLst/>
          </a:prstGeom>
          <a:solidFill>
            <a:srgbClr val="FF4D8D"/>
          </a:solidFill>
          <a:ln w="34925">
            <a:solidFill>
              <a:srgbClr val="000000"/>
            </a:solidFill>
            <a:prstDash val="solid"/>
          </a:ln>
        </p:spPr>
      </p:sp>
      <p:sp>
        <p:nvSpPr>
          <p:cNvPr id="23" name="Text 21"/>
          <p:cNvSpPr/>
          <p:nvPr/>
        </p:nvSpPr>
        <p:spPr>
          <a:xfrm>
            <a:off x="8599932" y="1874520"/>
            <a:ext cx="2916936" cy="329184"/>
          </a:xfrm>
          <a:prstGeom prst="rect">
            <a:avLst/>
          </a:prstGeom>
          <a:noFill/>
          <a:ln/>
        </p:spPr>
        <p:txBody>
          <a:bodyPr wrap="square" lIns="0" tIns="0" rIns="0" bIns="0" rtlCol="0" anchor="ctr"/>
          <a:lstStyle/>
          <a:p>
            <a:pPr indent="0" marL="0">
              <a:buNone/>
            </a:pPr>
            <a:r>
              <a:rPr lang="en-US" sz="1250" b="1" spc="80" kern="0" dirty="0">
                <a:solidFill>
                  <a:srgbClr val="000000"/>
                </a:solidFill>
                <a:latin typeface="Arial" pitchFamily="34" charset="0"/>
                <a:ea typeface="Arial" pitchFamily="34" charset="-122"/>
                <a:cs typeface="Arial" pitchFamily="34" charset="-120"/>
              </a:rPr>
              <a:t>BOOLEANS</a:t>
            </a:r>
            <a:endParaRPr lang="en-US" sz="1250" dirty="0"/>
          </a:p>
        </p:txBody>
      </p:sp>
      <p:sp>
        <p:nvSpPr>
          <p:cNvPr id="24" name="Text 22"/>
          <p:cNvSpPr/>
          <p:nvPr/>
        </p:nvSpPr>
        <p:spPr>
          <a:xfrm>
            <a:off x="8599932" y="2441448"/>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union(a, b)</a:t>
            </a:r>
            <a:endParaRPr lang="en-US" sz="1200" dirty="0"/>
          </a:p>
        </p:txBody>
      </p:sp>
      <p:sp>
        <p:nvSpPr>
          <p:cNvPr id="25" name="Text 23"/>
          <p:cNvSpPr/>
          <p:nvPr/>
        </p:nvSpPr>
        <p:spPr>
          <a:xfrm>
            <a:off x="8599932" y="2825496"/>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subtract(a, b)</a:t>
            </a:r>
            <a:endParaRPr lang="en-US" sz="1200" dirty="0"/>
          </a:p>
        </p:txBody>
      </p:sp>
      <p:sp>
        <p:nvSpPr>
          <p:cNvPr id="26" name="Text 24"/>
          <p:cNvSpPr/>
          <p:nvPr/>
        </p:nvSpPr>
        <p:spPr>
          <a:xfrm>
            <a:off x="8599932" y="3209544"/>
            <a:ext cx="2971800" cy="310896"/>
          </a:xfrm>
          <a:prstGeom prst="rect">
            <a:avLst/>
          </a:prstGeom>
          <a:noFill/>
          <a:ln/>
        </p:spPr>
        <p:txBody>
          <a:bodyPr wrap="square" lIns="0" tIns="0" rIns="0" bIns="0" rtlCol="0" anchor="ctr"/>
          <a:lstStyle/>
          <a:p>
            <a:pPr indent="0" marL="0">
              <a:buNone/>
            </a:pPr>
            <a:r>
              <a:rPr lang="en-US" sz="1200" dirty="0">
                <a:solidFill>
                  <a:srgbClr val="000000"/>
                </a:solidFill>
                <a:latin typeface="Courier New" pitchFamily="34" charset="0"/>
                <a:ea typeface="Courier New" pitchFamily="34" charset="-122"/>
                <a:cs typeface="Courier New" pitchFamily="34" charset="-120"/>
              </a:rPr>
              <a:t>intersect(a, b)</a:t>
            </a:r>
            <a:endParaRPr lang="en-US" sz="1200" dirty="0"/>
          </a:p>
        </p:txBody>
      </p:sp>
      <p:sp>
        <p:nvSpPr>
          <p:cNvPr id="27" name="Shape 25"/>
          <p:cNvSpPr/>
          <p:nvPr/>
        </p:nvSpPr>
        <p:spPr>
          <a:xfrm>
            <a:off x="662940" y="4411980"/>
            <a:ext cx="10972800" cy="1600200"/>
          </a:xfrm>
          <a:prstGeom prst="rect">
            <a:avLst/>
          </a:prstGeom>
          <a:solidFill>
            <a:srgbClr val="000000"/>
          </a:solidFill>
          <a:ln w="6350">
            <a:solidFill>
              <a:srgbClr val="000000"/>
            </a:solidFill>
            <a:prstDash val="solid"/>
          </a:ln>
        </p:spPr>
      </p:sp>
      <p:sp>
        <p:nvSpPr>
          <p:cNvPr id="28" name="Shape 26"/>
          <p:cNvSpPr/>
          <p:nvPr/>
        </p:nvSpPr>
        <p:spPr>
          <a:xfrm>
            <a:off x="594360" y="4343400"/>
            <a:ext cx="10972800" cy="1600200"/>
          </a:xfrm>
          <a:prstGeom prst="rect">
            <a:avLst/>
          </a:prstGeom>
          <a:solidFill>
            <a:srgbClr val="FFE500"/>
          </a:solidFill>
          <a:ln w="34925">
            <a:solidFill>
              <a:srgbClr val="000000"/>
            </a:solidFill>
            <a:prstDash val="solid"/>
          </a:ln>
        </p:spPr>
      </p:sp>
      <p:sp>
        <p:nvSpPr>
          <p:cNvPr id="29" name="Text 27"/>
          <p:cNvSpPr/>
          <p:nvPr/>
        </p:nvSpPr>
        <p:spPr>
          <a:xfrm>
            <a:off x="914400" y="4498848"/>
            <a:ext cx="4572000" cy="310896"/>
          </a:xfrm>
          <a:prstGeom prst="rect">
            <a:avLst/>
          </a:prstGeom>
          <a:noFill/>
          <a:ln/>
        </p:spPr>
        <p:txBody>
          <a:bodyPr wrap="square" lIns="0" tIns="0" rIns="0" bIns="0" rtlCol="0" anchor="ctr"/>
          <a:lstStyle/>
          <a:p>
            <a:pPr indent="0" marL="0">
              <a:buNone/>
            </a:pPr>
            <a:r>
              <a:rPr lang="en-US" sz="1300" b="1" spc="80" kern="0" dirty="0">
                <a:solidFill>
                  <a:srgbClr val="000000"/>
                </a:solidFill>
                <a:latin typeface="Arial" pitchFamily="34" charset="0"/>
                <a:ea typeface="Arial" pitchFamily="34" charset="-122"/>
                <a:cs typeface="Arial" pitchFamily="34" charset="-120"/>
              </a:rPr>
              <a:t>THREE RULES</a:t>
            </a:r>
            <a:endParaRPr lang="en-US" sz="1300" dirty="0"/>
          </a:p>
        </p:txBody>
      </p:sp>
      <p:sp>
        <p:nvSpPr>
          <p:cNvPr id="30" name="Shape 28"/>
          <p:cNvSpPr/>
          <p:nvPr/>
        </p:nvSpPr>
        <p:spPr>
          <a:xfrm>
            <a:off x="914400" y="4864608"/>
            <a:ext cx="10332720" cy="0"/>
          </a:xfrm>
          <a:prstGeom prst="line">
            <a:avLst/>
          </a:prstGeom>
          <a:noFill/>
          <a:ln w="25400">
            <a:solidFill>
              <a:srgbClr val="000000"/>
            </a:solidFill>
            <a:prstDash val="solid"/>
          </a:ln>
        </p:spPr>
      </p:sp>
      <p:sp>
        <p:nvSpPr>
          <p:cNvPr id="31" name="Shape 29"/>
          <p:cNvSpPr/>
          <p:nvPr/>
        </p:nvSpPr>
        <p:spPr>
          <a:xfrm>
            <a:off x="914400" y="5047488"/>
            <a:ext cx="100584" cy="100584"/>
          </a:xfrm>
          <a:prstGeom prst="rect">
            <a:avLst/>
          </a:prstGeom>
          <a:solidFill>
            <a:srgbClr val="000000"/>
          </a:solidFill>
          <a:ln/>
        </p:spPr>
      </p:sp>
      <p:sp>
        <p:nvSpPr>
          <p:cNvPr id="32" name="Text 30"/>
          <p:cNvSpPr/>
          <p:nvPr/>
        </p:nvSpPr>
        <p:spPr>
          <a:xfrm>
            <a:off x="1161288" y="4974336"/>
            <a:ext cx="10241280" cy="27432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Every shape is created centred on the origin (0, 0, 0). Move it from there.</a:t>
            </a:r>
            <a:endParaRPr lang="en-US" sz="1250" dirty="0"/>
          </a:p>
        </p:txBody>
      </p:sp>
      <p:sp>
        <p:nvSpPr>
          <p:cNvPr id="33" name="Shape 31"/>
          <p:cNvSpPr/>
          <p:nvPr/>
        </p:nvSpPr>
        <p:spPr>
          <a:xfrm>
            <a:off x="914400" y="5330952"/>
            <a:ext cx="100584" cy="100584"/>
          </a:xfrm>
          <a:prstGeom prst="rect">
            <a:avLst/>
          </a:prstGeom>
          <a:solidFill>
            <a:srgbClr val="000000"/>
          </a:solidFill>
          <a:ln/>
        </p:spPr>
      </p:sp>
      <p:sp>
        <p:nvSpPr>
          <p:cNvPr id="34" name="Text 32"/>
          <p:cNvSpPr/>
          <p:nvPr/>
        </p:nvSpPr>
        <p:spPr>
          <a:xfrm>
            <a:off x="1161288" y="5257800"/>
            <a:ext cx="10241280" cy="27432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Units are abstract. No millimetres, no metres — 3 units, half the width.</a:t>
            </a:r>
            <a:endParaRPr lang="en-US" sz="1250" dirty="0"/>
          </a:p>
        </p:txBody>
      </p:sp>
      <p:sp>
        <p:nvSpPr>
          <p:cNvPr id="35" name="Shape 33"/>
          <p:cNvSpPr/>
          <p:nvPr/>
        </p:nvSpPr>
        <p:spPr>
          <a:xfrm>
            <a:off x="914400" y="5614416"/>
            <a:ext cx="100584" cy="100584"/>
          </a:xfrm>
          <a:prstGeom prst="rect">
            <a:avLst/>
          </a:prstGeom>
          <a:solidFill>
            <a:srgbClr val="000000"/>
          </a:solidFill>
          <a:ln/>
        </p:spPr>
      </p:sp>
      <p:sp>
        <p:nvSpPr>
          <p:cNvPr id="36" name="Text 34"/>
          <p:cNvSpPr/>
          <p:nvPr/>
        </p:nvSpPr>
        <p:spPr>
          <a:xfrm>
            <a:off x="1161288" y="5541264"/>
            <a:ext cx="10241280" cy="27432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Every step assigns a name, so the order of a subtraction is never in doubt.</a:t>
            </a:r>
            <a:endParaRPr lang="en-US" sz="1250" dirty="0"/>
          </a:p>
        </p:txBody>
      </p:sp>
      <p:sp>
        <p:nvSpPr>
          <p:cNvPr id="37" name="Text 35"/>
          <p:cNvSpPr/>
          <p:nvPr/>
        </p:nvSpPr>
        <p:spPr>
          <a:xfrm>
            <a:off x="594360" y="6144768"/>
            <a:ext cx="10515600" cy="292608"/>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This is real: OpenSCAD is a working language built on exactly these operations.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FFFDF7"/>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FFFDF7"/>
                </a:solidFill>
                <a:latin typeface="Arial" pitchFamily="34" charset="0"/>
                <a:ea typeface="Arial" pitchFamily="34" charset="-122"/>
                <a:cs typeface="Arial" pitchFamily="34" charset="-120"/>
              </a:rPr>
              <a:t>WORKED EXAMPLE</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B8B8B8"/>
                </a:solidFill>
                <a:latin typeface="Calibri" pitchFamily="34" charset="0"/>
                <a:ea typeface="Calibri" pitchFamily="34" charset="-122"/>
                <a:cs typeface="Calibri" pitchFamily="34" charset="-120"/>
              </a:rPr>
              <a:t>Four operations. Read it, then draw what it makes.</a:t>
            </a:r>
            <a:endParaRPr lang="en-US" sz="1350" dirty="0"/>
          </a:p>
        </p:txBody>
      </p:sp>
      <p:sp>
        <p:nvSpPr>
          <p:cNvPr id="5" name="Shape 3"/>
          <p:cNvSpPr/>
          <p:nvPr/>
        </p:nvSpPr>
        <p:spPr>
          <a:xfrm>
            <a:off x="662940" y="1897380"/>
            <a:ext cx="5577840" cy="3977640"/>
          </a:xfrm>
          <a:prstGeom prst="rect">
            <a:avLst/>
          </a:prstGeom>
          <a:solidFill>
            <a:srgbClr val="00D9E1"/>
          </a:solidFill>
          <a:ln w="6350">
            <a:solidFill>
              <a:srgbClr val="00D9E1"/>
            </a:solidFill>
            <a:prstDash val="solid"/>
          </a:ln>
        </p:spPr>
      </p:sp>
      <p:sp>
        <p:nvSpPr>
          <p:cNvPr id="6" name="Shape 4"/>
          <p:cNvSpPr/>
          <p:nvPr/>
        </p:nvSpPr>
        <p:spPr>
          <a:xfrm>
            <a:off x="594360" y="1828800"/>
            <a:ext cx="5577840" cy="3977640"/>
          </a:xfrm>
          <a:prstGeom prst="rect">
            <a:avLst/>
          </a:prstGeom>
          <a:solidFill>
            <a:srgbClr val="FFFDF7"/>
          </a:solidFill>
          <a:ln w="34925">
            <a:solidFill>
              <a:srgbClr val="000000"/>
            </a:solidFill>
            <a:prstDash val="solid"/>
          </a:ln>
        </p:spPr>
      </p:sp>
      <p:sp>
        <p:nvSpPr>
          <p:cNvPr id="7" name="Shape 5"/>
          <p:cNvSpPr/>
          <p:nvPr/>
        </p:nvSpPr>
        <p:spPr>
          <a:xfrm>
            <a:off x="594360" y="1828800"/>
            <a:ext cx="5577840" cy="457200"/>
          </a:xfrm>
          <a:prstGeom prst="rect">
            <a:avLst/>
          </a:prstGeom>
          <a:solidFill>
            <a:srgbClr val="FFE500"/>
          </a:solidFill>
          <a:ln w="34925">
            <a:solidFill>
              <a:srgbClr val="000000"/>
            </a:solidFill>
            <a:prstDash val="solid"/>
          </a:ln>
        </p:spPr>
      </p:sp>
      <p:sp>
        <p:nvSpPr>
          <p:cNvPr id="8" name="Text 6"/>
          <p:cNvSpPr/>
          <p:nvPr/>
        </p:nvSpPr>
        <p:spPr>
          <a:xfrm>
            <a:off x="868680" y="1901952"/>
            <a:ext cx="3657600" cy="292608"/>
          </a:xfrm>
          <a:prstGeom prst="rect">
            <a:avLst/>
          </a:prstGeom>
          <a:noFill/>
          <a:ln/>
        </p:spPr>
        <p:txBody>
          <a:bodyPr wrap="square" lIns="0" tIns="0" rIns="0" bIns="0" rtlCol="0" anchor="ctr"/>
          <a:lstStyle/>
          <a:p>
            <a:pPr indent="0" marL="0">
              <a:buNone/>
            </a:pPr>
            <a:r>
              <a:rPr lang="en-US" sz="1100" b="1" spc="120" kern="0" dirty="0">
                <a:solidFill>
                  <a:srgbClr val="000000"/>
                </a:solidFill>
                <a:latin typeface="Arial" pitchFamily="34" charset="0"/>
                <a:ea typeface="Arial" pitchFamily="34" charset="-122"/>
                <a:cs typeface="Arial" pitchFamily="34" charset="-120"/>
              </a:rPr>
              <a:t>PROCEDURE</a:t>
            </a:r>
            <a:endParaRPr lang="en-US" sz="1100" dirty="0"/>
          </a:p>
        </p:txBody>
      </p:sp>
      <p:sp>
        <p:nvSpPr>
          <p:cNvPr id="9" name="Text 7"/>
          <p:cNvSpPr/>
          <p:nvPr/>
        </p:nvSpPr>
        <p:spPr>
          <a:xfrm>
            <a:off x="868680" y="2468880"/>
            <a:ext cx="5029200" cy="3108960"/>
          </a:xfrm>
          <a:prstGeom prst="rect">
            <a:avLst/>
          </a:prstGeom>
          <a:noFill/>
          <a:ln/>
        </p:spPr>
        <p:txBody>
          <a:bodyPr wrap="square" lIns="0" tIns="0" rIns="0" bIns="0" rtlCol="0" anchor="ctr"/>
          <a:lstStyle/>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base   = box(6, 4, 3)</a:t>
            </a: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tower  = box(2, 2, 6)</a:t>
            </a: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tower  = move(tower, 2, 0, 3)</a:t>
            </a: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void   = cylinder(r=1, h=5)</a:t>
            </a: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void   = move(void, -1.5, 0, 0)</a:t>
            </a:r>
            <a:endParaRPr lang="en-US" sz="1300" dirty="0"/>
          </a:p>
          <a:p>
            <a:pPr indent="0" marL="0">
              <a:lnSpc>
                <a:spcPts val="2300"/>
              </a:lnSpc>
              <a:buNone/>
            </a:pP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mass   = union(base, tower)</a:t>
            </a:r>
            <a:endParaRPr lang="en-US" sz="1300" dirty="0"/>
          </a:p>
          <a:p>
            <a:pPr indent="0" marL="0">
              <a:lnSpc>
                <a:spcPts val="2300"/>
              </a:lnSpc>
              <a:buNone/>
            </a:pPr>
            <a:r>
              <a:rPr lang="en-US" sz="1300" dirty="0">
                <a:solidFill>
                  <a:srgbClr val="000000"/>
                </a:solidFill>
                <a:latin typeface="Courier New" pitchFamily="34" charset="0"/>
                <a:ea typeface="Courier New" pitchFamily="34" charset="-122"/>
                <a:cs typeface="Courier New" pitchFamily="34" charset="-120"/>
              </a:rPr>
              <a:t>result = subtract(mass, void)</a:t>
            </a:r>
            <a:endParaRPr lang="en-US" sz="1300" dirty="0"/>
          </a:p>
        </p:txBody>
      </p:sp>
      <p:sp>
        <p:nvSpPr>
          <p:cNvPr id="10" name="Shape 8"/>
          <p:cNvSpPr/>
          <p:nvPr/>
        </p:nvSpPr>
        <p:spPr>
          <a:xfrm>
            <a:off x="6515100" y="1897380"/>
            <a:ext cx="5120640" cy="3977640"/>
          </a:xfrm>
          <a:prstGeom prst="rect">
            <a:avLst/>
          </a:prstGeom>
          <a:solidFill>
            <a:srgbClr val="FFFDF7"/>
          </a:solidFill>
          <a:ln w="6350">
            <a:solidFill>
              <a:srgbClr val="FFFDF7"/>
            </a:solidFill>
            <a:prstDash val="solid"/>
          </a:ln>
        </p:spPr>
      </p:sp>
      <p:sp>
        <p:nvSpPr>
          <p:cNvPr id="11" name="Shape 9"/>
          <p:cNvSpPr/>
          <p:nvPr/>
        </p:nvSpPr>
        <p:spPr>
          <a:xfrm>
            <a:off x="6446520" y="1828800"/>
            <a:ext cx="5120640" cy="3977640"/>
          </a:xfrm>
          <a:prstGeom prst="rect">
            <a:avLst/>
          </a:prstGeom>
          <a:solidFill>
            <a:srgbClr val="C6F035"/>
          </a:solidFill>
          <a:ln w="34925">
            <a:solidFill>
              <a:srgbClr val="000000"/>
            </a:solidFill>
            <a:prstDash val="solid"/>
          </a:ln>
        </p:spPr>
      </p:sp>
      <p:sp>
        <p:nvSpPr>
          <p:cNvPr id="12" name="Text 10"/>
          <p:cNvSpPr/>
          <p:nvPr/>
        </p:nvSpPr>
        <p:spPr>
          <a:xfrm>
            <a:off x="6766560" y="2048256"/>
            <a:ext cx="4572000" cy="310896"/>
          </a:xfrm>
          <a:prstGeom prst="rect">
            <a:avLst/>
          </a:prstGeom>
          <a:noFill/>
          <a:ln/>
        </p:spPr>
        <p:txBody>
          <a:bodyPr wrap="square" lIns="0" tIns="0" rIns="0" bIns="0" rtlCol="0" anchor="ctr"/>
          <a:lstStyle/>
          <a:p>
            <a:pPr indent="0" marL="0">
              <a:buNone/>
            </a:pPr>
            <a:r>
              <a:rPr lang="en-US" sz="1250" b="1" spc="80" kern="0" dirty="0">
                <a:solidFill>
                  <a:srgbClr val="000000"/>
                </a:solidFill>
                <a:latin typeface="Arial" pitchFamily="34" charset="0"/>
                <a:ea typeface="Arial" pitchFamily="34" charset="-122"/>
                <a:cs typeface="Arial" pitchFamily="34" charset="-120"/>
              </a:rPr>
              <a:t>WHAT THIS FIXES</a:t>
            </a:r>
            <a:endParaRPr lang="en-US" sz="1250" dirty="0"/>
          </a:p>
        </p:txBody>
      </p:sp>
      <p:sp>
        <p:nvSpPr>
          <p:cNvPr id="13" name="Shape 11"/>
          <p:cNvSpPr/>
          <p:nvPr/>
        </p:nvSpPr>
        <p:spPr>
          <a:xfrm>
            <a:off x="6766560" y="2432304"/>
            <a:ext cx="4709160" cy="0"/>
          </a:xfrm>
          <a:prstGeom prst="line">
            <a:avLst/>
          </a:prstGeom>
          <a:noFill/>
          <a:ln w="25400">
            <a:solidFill>
              <a:srgbClr val="000000"/>
            </a:solidFill>
            <a:prstDash val="solid"/>
          </a:ln>
        </p:spPr>
      </p:sp>
      <p:sp>
        <p:nvSpPr>
          <p:cNvPr id="14" name="Text 12"/>
          <p:cNvSpPr/>
          <p:nvPr/>
        </p:nvSpPr>
        <p:spPr>
          <a:xfrm>
            <a:off x="6766560" y="2560320"/>
            <a:ext cx="4709160" cy="274320"/>
          </a:xfrm>
          <a:prstGeom prst="rect">
            <a:avLst/>
          </a:prstGeom>
          <a:noFill/>
          <a:ln/>
        </p:spPr>
        <p:txBody>
          <a:bodyPr wrap="square" lIns="0" tIns="0" rIns="0" bIns="0" rtlCol="0" anchor="ctr"/>
          <a:lstStyle/>
          <a:p>
            <a:pPr indent="0" marL="0">
              <a:buNone/>
            </a:pPr>
            <a:r>
              <a:rPr lang="en-US" sz="1150" b="1" spc="60" kern="0" dirty="0">
                <a:solidFill>
                  <a:srgbClr val="000000"/>
                </a:solidFill>
                <a:latin typeface="Arial" pitchFamily="34" charset="0"/>
                <a:ea typeface="Arial" pitchFamily="34" charset="-122"/>
                <a:cs typeface="Arial" pitchFamily="34" charset="-120"/>
              </a:rPr>
              <a:t>ORDER</a:t>
            </a:r>
            <a:endParaRPr lang="en-US" sz="1150" dirty="0"/>
          </a:p>
        </p:txBody>
      </p:sp>
      <p:sp>
        <p:nvSpPr>
          <p:cNvPr id="15" name="Text 13"/>
          <p:cNvSpPr/>
          <p:nvPr/>
        </p:nvSpPr>
        <p:spPr>
          <a:xfrm>
            <a:off x="6766560" y="2798064"/>
            <a:ext cx="4709160" cy="420624"/>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Calibri" pitchFamily="34" charset="0"/>
                <a:ea typeface="Calibri" pitchFamily="34" charset="-122"/>
                <a:cs typeface="Calibri" pitchFamily="34" charset="-120"/>
              </a:rPr>
              <a:t>subtract(mass, void) can only mean one thing.</a:t>
            </a:r>
            <a:endParaRPr lang="en-US" sz="1150" dirty="0"/>
          </a:p>
        </p:txBody>
      </p:sp>
      <p:sp>
        <p:nvSpPr>
          <p:cNvPr id="16" name="Text 14"/>
          <p:cNvSpPr/>
          <p:nvPr/>
        </p:nvSpPr>
        <p:spPr>
          <a:xfrm>
            <a:off x="6766560" y="3282696"/>
            <a:ext cx="4709160" cy="274320"/>
          </a:xfrm>
          <a:prstGeom prst="rect">
            <a:avLst/>
          </a:prstGeom>
          <a:noFill/>
          <a:ln/>
        </p:spPr>
        <p:txBody>
          <a:bodyPr wrap="square" lIns="0" tIns="0" rIns="0" bIns="0" rtlCol="0" anchor="ctr"/>
          <a:lstStyle/>
          <a:p>
            <a:pPr indent="0" marL="0">
              <a:buNone/>
            </a:pPr>
            <a:r>
              <a:rPr lang="en-US" sz="1150" b="1" spc="60" kern="0" dirty="0">
                <a:solidFill>
                  <a:srgbClr val="000000"/>
                </a:solidFill>
                <a:latin typeface="Arial" pitchFamily="34" charset="0"/>
                <a:ea typeface="Arial" pitchFamily="34" charset="-122"/>
                <a:cs typeface="Arial" pitchFamily="34" charset="-120"/>
              </a:rPr>
              <a:t>POSITION</a:t>
            </a:r>
            <a:endParaRPr lang="en-US" sz="1150" dirty="0"/>
          </a:p>
        </p:txBody>
      </p:sp>
      <p:sp>
        <p:nvSpPr>
          <p:cNvPr id="17" name="Text 15"/>
          <p:cNvSpPr/>
          <p:nvPr/>
        </p:nvSpPr>
        <p:spPr>
          <a:xfrm>
            <a:off x="6766560" y="3520440"/>
            <a:ext cx="4709160" cy="420624"/>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Calibri" pitchFamily="34" charset="0"/>
                <a:ea typeface="Calibri" pitchFamily="34" charset="-122"/>
                <a:cs typeface="Calibri" pitchFamily="34" charset="-120"/>
              </a:rPr>
              <a:t>Every shape starts at the origin, so a move is the whole story.</a:t>
            </a:r>
            <a:endParaRPr lang="en-US" sz="1150" dirty="0"/>
          </a:p>
        </p:txBody>
      </p:sp>
      <p:sp>
        <p:nvSpPr>
          <p:cNvPr id="18" name="Text 16"/>
          <p:cNvSpPr/>
          <p:nvPr/>
        </p:nvSpPr>
        <p:spPr>
          <a:xfrm>
            <a:off x="6766560" y="4005072"/>
            <a:ext cx="4709160" cy="274320"/>
          </a:xfrm>
          <a:prstGeom prst="rect">
            <a:avLst/>
          </a:prstGeom>
          <a:noFill/>
          <a:ln/>
        </p:spPr>
        <p:txBody>
          <a:bodyPr wrap="square" lIns="0" tIns="0" rIns="0" bIns="0" rtlCol="0" anchor="ctr"/>
          <a:lstStyle/>
          <a:p>
            <a:pPr indent="0" marL="0">
              <a:buNone/>
            </a:pPr>
            <a:r>
              <a:rPr lang="en-US" sz="1150" b="1" spc="60" kern="0" dirty="0">
                <a:solidFill>
                  <a:srgbClr val="000000"/>
                </a:solidFill>
                <a:latin typeface="Arial" pitchFamily="34" charset="0"/>
                <a:ea typeface="Arial" pitchFamily="34" charset="-122"/>
                <a:cs typeface="Arial" pitchFamily="34" charset="-120"/>
              </a:rPr>
              <a:t>REUSE</a:t>
            </a:r>
            <a:endParaRPr lang="en-US" sz="1150" dirty="0"/>
          </a:p>
        </p:txBody>
      </p:sp>
      <p:sp>
        <p:nvSpPr>
          <p:cNvPr id="19" name="Text 17"/>
          <p:cNvSpPr/>
          <p:nvPr/>
        </p:nvSpPr>
        <p:spPr>
          <a:xfrm>
            <a:off x="6766560" y="4242816"/>
            <a:ext cx="4709160" cy="420624"/>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Calibri" pitchFamily="34" charset="0"/>
                <a:ea typeface="Calibri" pitchFamily="34" charset="-122"/>
                <a:cs typeface="Calibri" pitchFamily="34" charset="-120"/>
              </a:rPr>
              <a:t>A named step can be referred to later — mass is used, not rebuilt.</a:t>
            </a:r>
            <a:endParaRPr lang="en-US" sz="1150" dirty="0"/>
          </a:p>
        </p:txBody>
      </p:sp>
      <p:sp>
        <p:nvSpPr>
          <p:cNvPr id="20" name="Text 18"/>
          <p:cNvSpPr/>
          <p:nvPr/>
        </p:nvSpPr>
        <p:spPr>
          <a:xfrm>
            <a:off x="6766560" y="4727448"/>
            <a:ext cx="4709160" cy="274320"/>
          </a:xfrm>
          <a:prstGeom prst="rect">
            <a:avLst/>
          </a:prstGeom>
          <a:noFill/>
          <a:ln/>
        </p:spPr>
        <p:txBody>
          <a:bodyPr wrap="square" lIns="0" tIns="0" rIns="0" bIns="0" rtlCol="0" anchor="ctr"/>
          <a:lstStyle/>
          <a:p>
            <a:pPr indent="0" marL="0">
              <a:buNone/>
            </a:pPr>
            <a:r>
              <a:rPr lang="en-US" sz="1150" b="1" spc="60" kern="0" dirty="0">
                <a:solidFill>
                  <a:srgbClr val="000000"/>
                </a:solidFill>
                <a:latin typeface="Arial" pitchFamily="34" charset="0"/>
                <a:ea typeface="Arial" pitchFamily="34" charset="-122"/>
                <a:cs typeface="Arial" pitchFamily="34" charset="-120"/>
              </a:rPr>
              <a:t>READING</a:t>
            </a:r>
            <a:endParaRPr lang="en-US" sz="1150" dirty="0"/>
          </a:p>
        </p:txBody>
      </p:sp>
      <p:sp>
        <p:nvSpPr>
          <p:cNvPr id="21" name="Text 19"/>
          <p:cNvSpPr/>
          <p:nvPr/>
        </p:nvSpPr>
        <p:spPr>
          <a:xfrm>
            <a:off x="6766560" y="4965192"/>
            <a:ext cx="4709160" cy="420624"/>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Calibri" pitchFamily="34" charset="0"/>
                <a:ea typeface="Calibri" pitchFamily="34" charset="-122"/>
                <a:cs typeface="Calibri" pitchFamily="34" charset="-120"/>
              </a:rPr>
              <a:t>Anyone can execute it. That is the test at Class 5.</a:t>
            </a:r>
            <a:endParaRPr lang="en-US" sz="1150" dirty="0"/>
          </a:p>
        </p:txBody>
      </p:sp>
      <p:sp>
        <p:nvSpPr>
          <p:cNvPr id="22" name="Shape 20"/>
          <p:cNvSpPr/>
          <p:nvPr/>
        </p:nvSpPr>
        <p:spPr>
          <a:xfrm>
            <a:off x="662940" y="5600700"/>
            <a:ext cx="10972800" cy="685800"/>
          </a:xfrm>
          <a:prstGeom prst="rect">
            <a:avLst/>
          </a:prstGeom>
          <a:solidFill>
            <a:srgbClr val="FFE500"/>
          </a:solidFill>
          <a:ln w="6350">
            <a:solidFill>
              <a:srgbClr val="FFE500"/>
            </a:solidFill>
            <a:prstDash val="solid"/>
          </a:ln>
        </p:spPr>
      </p:sp>
      <p:sp>
        <p:nvSpPr>
          <p:cNvPr id="23" name="Shape 21"/>
          <p:cNvSpPr/>
          <p:nvPr/>
        </p:nvSpPr>
        <p:spPr>
          <a:xfrm>
            <a:off x="594360" y="5532120"/>
            <a:ext cx="10972800" cy="685800"/>
          </a:xfrm>
          <a:prstGeom prst="rect">
            <a:avLst/>
          </a:prstGeom>
          <a:solidFill>
            <a:srgbClr val="FF4D8D"/>
          </a:solidFill>
          <a:ln w="34925">
            <a:solidFill>
              <a:srgbClr val="000000"/>
            </a:solidFill>
            <a:prstDash val="solid"/>
          </a:ln>
        </p:spPr>
      </p:sp>
      <p:sp>
        <p:nvSpPr>
          <p:cNvPr id="24" name="Text 22"/>
          <p:cNvSpPr/>
          <p:nvPr/>
        </p:nvSpPr>
        <p:spPr>
          <a:xfrm>
            <a:off x="914400" y="5705856"/>
            <a:ext cx="10515600" cy="384048"/>
          </a:xfrm>
          <a:prstGeom prst="rect">
            <a:avLst/>
          </a:prstGeom>
          <a:noFill/>
          <a:ln/>
        </p:spPr>
        <p:txBody>
          <a:bodyPr wrap="square" lIns="0" tIns="0" rIns="0" bIns="0" rtlCol="0" anchor="ctr"/>
          <a:lstStyle/>
          <a:p>
            <a:pPr indent="0" marL="0">
              <a:buNone/>
            </a:pPr>
            <a:r>
              <a:rPr lang="en-US" sz="1350" dirty="0">
                <a:solidFill>
                  <a:srgbClr val="000000"/>
                </a:solidFill>
                <a:latin typeface="Calibri" pitchFamily="34" charset="0"/>
                <a:ea typeface="Calibri" pitchFamily="34" charset="-122"/>
                <a:cs typeface="Calibri" pitchFamily="34" charset="-120"/>
              </a:rPr>
              <a:t>Your sheet carries BOTH: the axonometric sequence, and the procedure that produces it.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FFFDF7"/>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FFFDF7"/>
                </a:solidFill>
                <a:latin typeface="Arial" pitchFamily="34" charset="0"/>
                <a:ea typeface="Arial" pitchFamily="34" charset="-122"/>
                <a:cs typeface="Arial" pitchFamily="34" charset="-120"/>
              </a:rPr>
              <a:t>CHOOSING YOUR OBJECT</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B8B8B8"/>
                </a:solidFill>
                <a:latin typeface="Calibri" pitchFamily="34" charset="0"/>
                <a:ea typeface="Calibri" pitchFamily="34" charset="-122"/>
                <a:cs typeface="Calibri" pitchFamily="34" charset="-120"/>
              </a:rPr>
              <a:t>Pick badly and the rest of the assignment is impossible.</a:t>
            </a:r>
            <a:endParaRPr lang="en-US" sz="1350" dirty="0"/>
          </a:p>
        </p:txBody>
      </p:sp>
      <p:sp>
        <p:nvSpPr>
          <p:cNvPr id="5" name="Shape 3"/>
          <p:cNvSpPr/>
          <p:nvPr/>
        </p:nvSpPr>
        <p:spPr>
          <a:xfrm>
            <a:off x="662940" y="1897380"/>
            <a:ext cx="3429000" cy="1737360"/>
          </a:xfrm>
          <a:prstGeom prst="rect">
            <a:avLst/>
          </a:prstGeom>
          <a:solidFill>
            <a:srgbClr val="FFFDF7"/>
          </a:solidFill>
          <a:ln w="6350">
            <a:solidFill>
              <a:srgbClr val="FFFDF7"/>
            </a:solidFill>
            <a:prstDash val="solid"/>
          </a:ln>
        </p:spPr>
      </p:sp>
      <p:sp>
        <p:nvSpPr>
          <p:cNvPr id="6" name="Shape 4"/>
          <p:cNvSpPr/>
          <p:nvPr/>
        </p:nvSpPr>
        <p:spPr>
          <a:xfrm>
            <a:off x="594360" y="1828800"/>
            <a:ext cx="3429000" cy="1737360"/>
          </a:xfrm>
          <a:prstGeom prst="rect">
            <a:avLst/>
          </a:prstGeom>
          <a:solidFill>
            <a:srgbClr val="C6F035"/>
          </a:solidFill>
          <a:ln w="34925">
            <a:solidFill>
              <a:srgbClr val="000000"/>
            </a:solidFill>
            <a:prstDash val="solid"/>
          </a:ln>
        </p:spPr>
      </p:sp>
      <p:sp>
        <p:nvSpPr>
          <p:cNvPr id="7" name="Text 5"/>
          <p:cNvSpPr/>
          <p:nvPr/>
        </p:nvSpPr>
        <p:spPr>
          <a:xfrm>
            <a:off x="868680" y="2029968"/>
            <a:ext cx="2880360" cy="640080"/>
          </a:xfrm>
          <a:prstGeom prst="rect">
            <a:avLst/>
          </a:prstGeom>
          <a:noFill/>
          <a:ln/>
        </p:spPr>
        <p:txBody>
          <a:bodyPr wrap="square" lIns="0" tIns="0" rIns="0" bIns="0" rtlCol="0" anchor="ctr"/>
          <a:lstStyle/>
          <a:p>
            <a:pPr indent="0" marL="0">
              <a:lnSpc>
                <a:spcPts val="1900"/>
              </a:lnSpc>
              <a:buNone/>
            </a:pPr>
            <a:r>
              <a:rPr lang="en-US" sz="1400" b="1" spc="-20" kern="0" dirty="0">
                <a:solidFill>
                  <a:srgbClr val="000000"/>
                </a:solidFill>
                <a:latin typeface="Arial" pitchFamily="34" charset="0"/>
                <a:ea typeface="Arial" pitchFamily="34" charset="-122"/>
                <a:cs typeface="Arial" pitchFamily="34" charset="-120"/>
              </a:rPr>
              <a:t>ORTHOGONAL MASSING</a:t>
            </a:r>
            <a:endParaRPr lang="en-US" sz="1400" dirty="0"/>
          </a:p>
        </p:txBody>
      </p:sp>
      <p:sp>
        <p:nvSpPr>
          <p:cNvPr id="8" name="Shape 6"/>
          <p:cNvSpPr/>
          <p:nvPr/>
        </p:nvSpPr>
        <p:spPr>
          <a:xfrm>
            <a:off x="868680" y="2706624"/>
            <a:ext cx="2880360" cy="0"/>
          </a:xfrm>
          <a:prstGeom prst="line">
            <a:avLst/>
          </a:prstGeom>
          <a:noFill/>
          <a:ln w="25400">
            <a:solidFill>
              <a:srgbClr val="000000"/>
            </a:solidFill>
            <a:prstDash val="solid"/>
          </a:ln>
        </p:spPr>
      </p:sp>
      <p:sp>
        <p:nvSpPr>
          <p:cNvPr id="9" name="Text 7"/>
          <p:cNvSpPr/>
          <p:nvPr/>
        </p:nvSpPr>
        <p:spPr>
          <a:xfrm>
            <a:off x="868680" y="2834640"/>
            <a:ext cx="2880360" cy="640080"/>
          </a:xfrm>
          <a:prstGeom prst="rect">
            <a:avLst/>
          </a:prstGeom>
          <a:noFill/>
          <a:ln/>
        </p:spPr>
        <p:txBody>
          <a:bodyPr wrap="square" lIns="0" tIns="0" rIns="0" bIns="0" rtlCol="0" anchor="ctr"/>
          <a:lstStyle/>
          <a:p>
            <a:pPr indent="0" marL="0">
              <a:lnSpc>
                <a:spcPts val="1600"/>
              </a:lnSpc>
              <a:buNone/>
            </a:pPr>
            <a:r>
              <a:rPr lang="en-US" sz="1200" dirty="0">
                <a:solidFill>
                  <a:srgbClr val="000000"/>
                </a:solidFill>
                <a:latin typeface="Calibri" pitchFamily="34" charset="0"/>
                <a:ea typeface="Calibri" pitchFamily="34" charset="-122"/>
                <a:cs typeface="Calibri" pitchFamily="34" charset="-120"/>
              </a:rPr>
              <a:t>Boxes, slabs, stacked volumes. Right angles.</a:t>
            </a:r>
            <a:endParaRPr lang="en-US" sz="1200" dirty="0"/>
          </a:p>
        </p:txBody>
      </p:sp>
      <p:sp>
        <p:nvSpPr>
          <p:cNvPr id="10" name="Shape 8"/>
          <p:cNvSpPr/>
          <p:nvPr/>
        </p:nvSpPr>
        <p:spPr>
          <a:xfrm>
            <a:off x="4366260" y="1897380"/>
            <a:ext cx="3429000" cy="1737360"/>
          </a:xfrm>
          <a:prstGeom prst="rect">
            <a:avLst/>
          </a:prstGeom>
          <a:solidFill>
            <a:srgbClr val="FFFDF7"/>
          </a:solidFill>
          <a:ln w="6350">
            <a:solidFill>
              <a:srgbClr val="FFFDF7"/>
            </a:solidFill>
            <a:prstDash val="solid"/>
          </a:ln>
        </p:spPr>
      </p:sp>
      <p:sp>
        <p:nvSpPr>
          <p:cNvPr id="11" name="Shape 9"/>
          <p:cNvSpPr/>
          <p:nvPr/>
        </p:nvSpPr>
        <p:spPr>
          <a:xfrm>
            <a:off x="4297680" y="1828800"/>
            <a:ext cx="3429000" cy="1737360"/>
          </a:xfrm>
          <a:prstGeom prst="rect">
            <a:avLst/>
          </a:prstGeom>
          <a:solidFill>
            <a:srgbClr val="FF4D8D"/>
          </a:solidFill>
          <a:ln w="34925">
            <a:solidFill>
              <a:srgbClr val="000000"/>
            </a:solidFill>
            <a:prstDash val="solid"/>
          </a:ln>
        </p:spPr>
      </p:sp>
      <p:sp>
        <p:nvSpPr>
          <p:cNvPr id="12" name="Text 10"/>
          <p:cNvSpPr/>
          <p:nvPr/>
        </p:nvSpPr>
        <p:spPr>
          <a:xfrm>
            <a:off x="4572000" y="2029968"/>
            <a:ext cx="2880360" cy="640080"/>
          </a:xfrm>
          <a:prstGeom prst="rect">
            <a:avLst/>
          </a:prstGeom>
          <a:noFill/>
          <a:ln/>
        </p:spPr>
        <p:txBody>
          <a:bodyPr wrap="square" lIns="0" tIns="0" rIns="0" bIns="0" rtlCol="0" anchor="ctr"/>
          <a:lstStyle/>
          <a:p>
            <a:pPr indent="0" marL="0">
              <a:lnSpc>
                <a:spcPts val="1900"/>
              </a:lnSpc>
              <a:buNone/>
            </a:pPr>
            <a:r>
              <a:rPr lang="en-US" sz="1400" b="1" spc="-20" kern="0" dirty="0">
                <a:solidFill>
                  <a:srgbClr val="000000"/>
                </a:solidFill>
                <a:latin typeface="Arial" pitchFamily="34" charset="0"/>
                <a:ea typeface="Arial" pitchFamily="34" charset="-122"/>
                <a:cs typeface="Arial" pitchFamily="34" charset="-120"/>
              </a:rPr>
              <a:t>NO COMPLEX CURVES</a:t>
            </a:r>
            <a:endParaRPr lang="en-US" sz="1400" dirty="0"/>
          </a:p>
        </p:txBody>
      </p:sp>
      <p:sp>
        <p:nvSpPr>
          <p:cNvPr id="13" name="Shape 11"/>
          <p:cNvSpPr/>
          <p:nvPr/>
        </p:nvSpPr>
        <p:spPr>
          <a:xfrm>
            <a:off x="4572000" y="2706624"/>
            <a:ext cx="2880360" cy="0"/>
          </a:xfrm>
          <a:prstGeom prst="line">
            <a:avLst/>
          </a:prstGeom>
          <a:noFill/>
          <a:ln w="25400">
            <a:solidFill>
              <a:srgbClr val="000000"/>
            </a:solidFill>
            <a:prstDash val="solid"/>
          </a:ln>
        </p:spPr>
      </p:sp>
      <p:sp>
        <p:nvSpPr>
          <p:cNvPr id="14" name="Text 12"/>
          <p:cNvSpPr/>
          <p:nvPr/>
        </p:nvSpPr>
        <p:spPr>
          <a:xfrm>
            <a:off x="4572000" y="2834640"/>
            <a:ext cx="2880360" cy="640080"/>
          </a:xfrm>
          <a:prstGeom prst="rect">
            <a:avLst/>
          </a:prstGeom>
          <a:noFill/>
          <a:ln/>
        </p:spPr>
        <p:txBody>
          <a:bodyPr wrap="square" lIns="0" tIns="0" rIns="0" bIns="0" rtlCol="0" anchor="ctr"/>
          <a:lstStyle/>
          <a:p>
            <a:pPr indent="0" marL="0">
              <a:lnSpc>
                <a:spcPts val="1600"/>
              </a:lnSpc>
              <a:buNone/>
            </a:pPr>
            <a:r>
              <a:rPr lang="en-US" sz="1200" dirty="0">
                <a:solidFill>
                  <a:srgbClr val="000000"/>
                </a:solidFill>
                <a:latin typeface="Calibri" pitchFamily="34" charset="0"/>
                <a:ea typeface="Calibri" pitchFamily="34" charset="-122"/>
                <a:cs typeface="Calibri" pitchFamily="34" charset="-120"/>
              </a:rPr>
              <a:t>If you cannot get there with primitives, it is the wrong building.</a:t>
            </a:r>
            <a:endParaRPr lang="en-US" sz="1200" dirty="0"/>
          </a:p>
        </p:txBody>
      </p:sp>
      <p:sp>
        <p:nvSpPr>
          <p:cNvPr id="15" name="Shape 13"/>
          <p:cNvSpPr/>
          <p:nvPr/>
        </p:nvSpPr>
        <p:spPr>
          <a:xfrm>
            <a:off x="8069580" y="1897380"/>
            <a:ext cx="3429000" cy="1737360"/>
          </a:xfrm>
          <a:prstGeom prst="rect">
            <a:avLst/>
          </a:prstGeom>
          <a:solidFill>
            <a:srgbClr val="FFFDF7"/>
          </a:solidFill>
          <a:ln w="6350">
            <a:solidFill>
              <a:srgbClr val="FFFDF7"/>
            </a:solidFill>
            <a:prstDash val="solid"/>
          </a:ln>
        </p:spPr>
      </p:sp>
      <p:sp>
        <p:nvSpPr>
          <p:cNvPr id="16" name="Shape 14"/>
          <p:cNvSpPr/>
          <p:nvPr/>
        </p:nvSpPr>
        <p:spPr>
          <a:xfrm>
            <a:off x="8001000" y="1828800"/>
            <a:ext cx="3429000" cy="1737360"/>
          </a:xfrm>
          <a:prstGeom prst="rect">
            <a:avLst/>
          </a:prstGeom>
          <a:solidFill>
            <a:srgbClr val="00D9E1"/>
          </a:solidFill>
          <a:ln w="34925">
            <a:solidFill>
              <a:srgbClr val="000000"/>
            </a:solidFill>
            <a:prstDash val="solid"/>
          </a:ln>
        </p:spPr>
      </p:sp>
      <p:sp>
        <p:nvSpPr>
          <p:cNvPr id="17" name="Text 15"/>
          <p:cNvSpPr/>
          <p:nvPr/>
        </p:nvSpPr>
        <p:spPr>
          <a:xfrm>
            <a:off x="8275320" y="2029968"/>
            <a:ext cx="2880360" cy="640080"/>
          </a:xfrm>
          <a:prstGeom prst="rect">
            <a:avLst/>
          </a:prstGeom>
          <a:noFill/>
          <a:ln/>
        </p:spPr>
        <p:txBody>
          <a:bodyPr wrap="square" lIns="0" tIns="0" rIns="0" bIns="0" rtlCol="0" anchor="ctr"/>
          <a:lstStyle/>
          <a:p>
            <a:pPr indent="0" marL="0">
              <a:lnSpc>
                <a:spcPts val="1900"/>
              </a:lnSpc>
              <a:buNone/>
            </a:pPr>
            <a:r>
              <a:rPr lang="en-US" sz="1400" b="1" spc="-20" kern="0" dirty="0">
                <a:solidFill>
                  <a:srgbClr val="000000"/>
                </a:solidFill>
                <a:latin typeface="Arial" pitchFamily="34" charset="0"/>
                <a:ea typeface="Arial" pitchFamily="34" charset="-122"/>
                <a:cs typeface="Arial" pitchFamily="34" charset="-120"/>
              </a:rPr>
              <a:t>5–10 CLEAR MOVES</a:t>
            </a:r>
            <a:endParaRPr lang="en-US" sz="1400" dirty="0"/>
          </a:p>
        </p:txBody>
      </p:sp>
      <p:sp>
        <p:nvSpPr>
          <p:cNvPr id="18" name="Shape 16"/>
          <p:cNvSpPr/>
          <p:nvPr/>
        </p:nvSpPr>
        <p:spPr>
          <a:xfrm>
            <a:off x="8275320" y="2706624"/>
            <a:ext cx="2880360" cy="0"/>
          </a:xfrm>
          <a:prstGeom prst="line">
            <a:avLst/>
          </a:prstGeom>
          <a:noFill/>
          <a:ln w="25400">
            <a:solidFill>
              <a:srgbClr val="000000"/>
            </a:solidFill>
            <a:prstDash val="solid"/>
          </a:ln>
        </p:spPr>
      </p:sp>
      <p:sp>
        <p:nvSpPr>
          <p:cNvPr id="19" name="Text 17"/>
          <p:cNvSpPr/>
          <p:nvPr/>
        </p:nvSpPr>
        <p:spPr>
          <a:xfrm>
            <a:off x="8275320" y="2834640"/>
            <a:ext cx="2880360" cy="640080"/>
          </a:xfrm>
          <a:prstGeom prst="rect">
            <a:avLst/>
          </a:prstGeom>
          <a:noFill/>
          <a:ln/>
        </p:spPr>
        <p:txBody>
          <a:bodyPr wrap="square" lIns="0" tIns="0" rIns="0" bIns="0" rtlCol="0" anchor="ctr"/>
          <a:lstStyle/>
          <a:p>
            <a:pPr indent="0" marL="0">
              <a:lnSpc>
                <a:spcPts val="1600"/>
              </a:lnSpc>
              <a:buNone/>
            </a:pPr>
            <a:r>
              <a:rPr lang="en-US" sz="1200" dirty="0">
                <a:solidFill>
                  <a:srgbClr val="000000"/>
                </a:solidFill>
                <a:latin typeface="Calibri" pitchFamily="34" charset="0"/>
                <a:ea typeface="Calibri" pitchFamily="34" charset="-122"/>
                <a:cs typeface="Calibri" pitchFamily="34" charset="-120"/>
              </a:rPr>
              <a:t>Too simple is boring. Too complex will not resolve in five Booleans.</a:t>
            </a:r>
            <a:endParaRPr lang="en-US" sz="1200" dirty="0"/>
          </a:p>
        </p:txBody>
      </p:sp>
      <p:sp>
        <p:nvSpPr>
          <p:cNvPr id="20" name="Shape 18"/>
          <p:cNvSpPr/>
          <p:nvPr/>
        </p:nvSpPr>
        <p:spPr>
          <a:xfrm>
            <a:off x="662940" y="4091940"/>
            <a:ext cx="10972800" cy="1783080"/>
          </a:xfrm>
          <a:prstGeom prst="rect">
            <a:avLst/>
          </a:prstGeom>
          <a:solidFill>
            <a:srgbClr val="FFFDF7"/>
          </a:solidFill>
          <a:ln w="6350">
            <a:solidFill>
              <a:srgbClr val="FFFDF7"/>
            </a:solidFill>
            <a:prstDash val="solid"/>
          </a:ln>
        </p:spPr>
      </p:sp>
      <p:sp>
        <p:nvSpPr>
          <p:cNvPr id="21" name="Shape 19"/>
          <p:cNvSpPr/>
          <p:nvPr/>
        </p:nvSpPr>
        <p:spPr>
          <a:xfrm>
            <a:off x="594360" y="4023360"/>
            <a:ext cx="10972800" cy="1783080"/>
          </a:xfrm>
          <a:prstGeom prst="rect">
            <a:avLst/>
          </a:prstGeom>
          <a:solidFill>
            <a:srgbClr val="EDEDE6"/>
          </a:solidFill>
          <a:ln w="34925">
            <a:solidFill>
              <a:srgbClr val="000000"/>
            </a:solidFill>
            <a:prstDash val="solid"/>
          </a:ln>
        </p:spPr>
      </p:sp>
      <p:sp>
        <p:nvSpPr>
          <p:cNvPr id="22" name="Shape 20"/>
          <p:cNvSpPr/>
          <p:nvPr/>
        </p:nvSpPr>
        <p:spPr>
          <a:xfrm>
            <a:off x="594360" y="4023360"/>
            <a:ext cx="10972800" cy="1783080"/>
          </a:xfrm>
          <a:prstGeom prst="line">
            <a:avLst/>
          </a:prstGeom>
          <a:noFill/>
          <a:ln w="15875">
            <a:solidFill>
              <a:srgbClr val="C9C9C0"/>
            </a:solidFill>
            <a:prstDash val="solid"/>
          </a:ln>
        </p:spPr>
      </p:sp>
      <p:sp>
        <p:nvSpPr>
          <p:cNvPr id="23" name="Shape 21"/>
          <p:cNvSpPr/>
          <p:nvPr/>
        </p:nvSpPr>
        <p:spPr>
          <a:xfrm>
            <a:off x="594360" y="5806440"/>
            <a:ext cx="10972800" cy="-1783080"/>
          </a:xfrm>
          <a:prstGeom prst="line">
            <a:avLst/>
          </a:prstGeom>
          <a:noFill/>
          <a:ln w="15875">
            <a:solidFill>
              <a:srgbClr val="C9C9C0"/>
            </a:solidFill>
            <a:prstDash val="solid"/>
          </a:ln>
        </p:spPr>
      </p:sp>
      <p:sp>
        <p:nvSpPr>
          <p:cNvPr id="24" name="Shape 22"/>
          <p:cNvSpPr/>
          <p:nvPr/>
        </p:nvSpPr>
        <p:spPr>
          <a:xfrm>
            <a:off x="5029200" y="4695444"/>
            <a:ext cx="2103120" cy="438912"/>
          </a:xfrm>
          <a:prstGeom prst="rect">
            <a:avLst/>
          </a:prstGeom>
          <a:solidFill>
            <a:srgbClr val="FFFDF7"/>
          </a:solidFill>
          <a:ln w="25400">
            <a:solidFill>
              <a:srgbClr val="000000"/>
            </a:solidFill>
            <a:prstDash val="solid"/>
          </a:ln>
        </p:spPr>
      </p:sp>
      <p:sp>
        <p:nvSpPr>
          <p:cNvPr id="25" name="Text 23"/>
          <p:cNvSpPr/>
          <p:nvPr/>
        </p:nvSpPr>
        <p:spPr>
          <a:xfrm>
            <a:off x="5029200" y="4768596"/>
            <a:ext cx="2103120" cy="292608"/>
          </a:xfrm>
          <a:prstGeom prst="rect">
            <a:avLst/>
          </a:prstGeom>
          <a:noFill/>
          <a:ln/>
        </p:spPr>
        <p:txBody>
          <a:bodyPr wrap="square" lIns="0" tIns="0" rIns="0" bIns="0" rtlCol="0" anchor="ctr"/>
          <a:lstStyle/>
          <a:p>
            <a:pPr algn="ctr" indent="0" marL="0">
              <a:buNone/>
            </a:pPr>
            <a:r>
              <a:rPr lang="en-US" sz="900" b="1" spc="60" kern="0" dirty="0">
                <a:solidFill>
                  <a:srgbClr val="000000"/>
                </a:solidFill>
                <a:latin typeface="Arial" pitchFamily="34" charset="0"/>
                <a:ea typeface="Arial" pitchFamily="34" charset="-122"/>
                <a:cs typeface="Arial" pitchFamily="34" charset="-120"/>
              </a:rPr>
              <a:t>APPROVED OBJECT LIST</a:t>
            </a:r>
            <a:endParaRPr lang="en-US" sz="900" dirty="0"/>
          </a:p>
        </p:txBody>
      </p:sp>
      <p:sp>
        <p:nvSpPr>
          <p:cNvPr id="26" name="Text 24"/>
          <p:cNvSpPr/>
          <p:nvPr/>
        </p:nvSpPr>
        <p:spPr>
          <a:xfrm>
            <a:off x="594360" y="5879592"/>
            <a:ext cx="10972800" cy="237744"/>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Add: 6–8 buildings that work. Students may propose others for approval.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WHAT HAPPENS TO THIS WORK</a:t>
            </a:r>
            <a:endParaRPr lang="en-US" sz="3300" dirty="0"/>
          </a:p>
        </p:txBody>
      </p:sp>
      <p:sp>
        <p:nvSpPr>
          <p:cNvPr id="4" name="Text 2"/>
          <p:cNvSpPr/>
          <p:nvPr/>
        </p:nvSpPr>
        <p:spPr>
          <a:xfrm>
            <a:off x="594360" y="1261872"/>
            <a:ext cx="10972800" cy="310896"/>
          </a:xfrm>
          <a:prstGeom prst="rect">
            <a:avLst/>
          </a:prstGeom>
          <a:noFill/>
          <a:ln/>
        </p:spPr>
        <p:txBody>
          <a:bodyPr wrap="square" lIns="0" tIns="0" rIns="0" bIns="0" rtlCol="0" anchor="ctr"/>
          <a:lstStyle/>
          <a:p>
            <a:pPr indent="0" marL="0">
              <a:buNone/>
            </a:pPr>
            <a:r>
              <a:rPr lang="en-US" sz="1350" dirty="0">
                <a:solidFill>
                  <a:srgbClr val="6B6B6B"/>
                </a:solidFill>
                <a:latin typeface="Calibri" pitchFamily="34" charset="0"/>
                <a:ea typeface="Calibri" pitchFamily="34" charset="-122"/>
                <a:cs typeface="Calibri" pitchFamily="34" charset="-120"/>
              </a:rPr>
              <a:t>Three things, and they are not all at once.</a:t>
            </a:r>
            <a:endParaRPr lang="en-US" sz="1350" dirty="0"/>
          </a:p>
        </p:txBody>
      </p:sp>
      <p:sp>
        <p:nvSpPr>
          <p:cNvPr id="5" name="Shape 3"/>
          <p:cNvSpPr/>
          <p:nvPr/>
        </p:nvSpPr>
        <p:spPr>
          <a:xfrm>
            <a:off x="662940" y="1897380"/>
            <a:ext cx="1371600" cy="1051560"/>
          </a:xfrm>
          <a:prstGeom prst="rect">
            <a:avLst/>
          </a:prstGeom>
          <a:solidFill>
            <a:srgbClr val="000000"/>
          </a:solidFill>
          <a:ln w="6350">
            <a:solidFill>
              <a:srgbClr val="000000"/>
            </a:solidFill>
            <a:prstDash val="solid"/>
          </a:ln>
        </p:spPr>
      </p:sp>
      <p:sp>
        <p:nvSpPr>
          <p:cNvPr id="6" name="Shape 4"/>
          <p:cNvSpPr/>
          <p:nvPr/>
        </p:nvSpPr>
        <p:spPr>
          <a:xfrm>
            <a:off x="594360" y="1828800"/>
            <a:ext cx="1371600" cy="1051560"/>
          </a:xfrm>
          <a:prstGeom prst="rect">
            <a:avLst/>
          </a:prstGeom>
          <a:solidFill>
            <a:srgbClr val="00D9E1"/>
          </a:solidFill>
          <a:ln w="34925">
            <a:solidFill>
              <a:srgbClr val="000000"/>
            </a:solidFill>
            <a:prstDash val="solid"/>
          </a:ln>
        </p:spPr>
      </p:sp>
      <p:sp>
        <p:nvSpPr>
          <p:cNvPr id="7" name="Text 5"/>
          <p:cNvSpPr/>
          <p:nvPr/>
        </p:nvSpPr>
        <p:spPr>
          <a:xfrm>
            <a:off x="594360" y="2048256"/>
            <a:ext cx="1371600"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CLASS 4</a:t>
            </a:r>
            <a:endParaRPr lang="en-US" sz="1400" dirty="0"/>
          </a:p>
        </p:txBody>
      </p:sp>
      <p:sp>
        <p:nvSpPr>
          <p:cNvPr id="8" name="Text 6"/>
          <p:cNvSpPr/>
          <p:nvPr/>
        </p:nvSpPr>
        <p:spPr>
          <a:xfrm>
            <a:off x="594360" y="2377440"/>
            <a:ext cx="1371600" cy="2743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SEP 15</a:t>
            </a:r>
            <a:endParaRPr lang="en-US" sz="1150" dirty="0"/>
          </a:p>
        </p:txBody>
      </p:sp>
      <p:sp>
        <p:nvSpPr>
          <p:cNvPr id="9" name="Shape 7"/>
          <p:cNvSpPr/>
          <p:nvPr/>
        </p:nvSpPr>
        <p:spPr>
          <a:xfrm>
            <a:off x="2308860" y="1897380"/>
            <a:ext cx="9326880" cy="1051560"/>
          </a:xfrm>
          <a:prstGeom prst="rect">
            <a:avLst/>
          </a:prstGeom>
          <a:solidFill>
            <a:srgbClr val="000000"/>
          </a:solidFill>
          <a:ln w="6350">
            <a:solidFill>
              <a:srgbClr val="000000"/>
            </a:solidFill>
            <a:prstDash val="solid"/>
          </a:ln>
        </p:spPr>
      </p:sp>
      <p:sp>
        <p:nvSpPr>
          <p:cNvPr id="10" name="Shape 8"/>
          <p:cNvSpPr/>
          <p:nvPr/>
        </p:nvSpPr>
        <p:spPr>
          <a:xfrm>
            <a:off x="2240280" y="1828800"/>
            <a:ext cx="9326880" cy="1051560"/>
          </a:xfrm>
          <a:prstGeom prst="rect">
            <a:avLst/>
          </a:prstGeom>
          <a:solidFill>
            <a:srgbClr val="FFFDF7"/>
          </a:solidFill>
          <a:ln w="34925">
            <a:solidFill>
              <a:srgbClr val="000000"/>
            </a:solidFill>
            <a:prstDash val="solid"/>
          </a:ln>
        </p:spPr>
      </p:sp>
      <p:sp>
        <p:nvSpPr>
          <p:cNvPr id="11" name="Text 9"/>
          <p:cNvSpPr/>
          <p:nvPr/>
        </p:nvSpPr>
        <p:spPr>
          <a:xfrm>
            <a:off x="2514600" y="2048256"/>
            <a:ext cx="8595360" cy="658368"/>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Sheet due — diagram and instructions.</a:t>
            </a:r>
            <a:endParaRPr lang="en-US" sz="1350" dirty="0"/>
          </a:p>
        </p:txBody>
      </p:sp>
      <p:sp>
        <p:nvSpPr>
          <p:cNvPr id="12" name="Shape 10"/>
          <p:cNvSpPr/>
          <p:nvPr/>
        </p:nvSpPr>
        <p:spPr>
          <a:xfrm rot="10800000">
            <a:off x="1097280" y="2916936"/>
            <a:ext cx="365760" cy="310896"/>
          </a:xfrm>
          <a:prstGeom prst="triangle">
            <a:avLst/>
          </a:prstGeom>
          <a:solidFill>
            <a:srgbClr val="000000"/>
          </a:solidFill>
          <a:ln w="19050">
            <a:solidFill>
              <a:srgbClr val="000000"/>
            </a:solidFill>
            <a:prstDash val="solid"/>
          </a:ln>
        </p:spPr>
      </p:sp>
      <p:sp>
        <p:nvSpPr>
          <p:cNvPr id="13" name="Shape 11"/>
          <p:cNvSpPr/>
          <p:nvPr/>
        </p:nvSpPr>
        <p:spPr>
          <a:xfrm>
            <a:off x="662940" y="3195828"/>
            <a:ext cx="1371600" cy="1051560"/>
          </a:xfrm>
          <a:prstGeom prst="rect">
            <a:avLst/>
          </a:prstGeom>
          <a:solidFill>
            <a:srgbClr val="000000"/>
          </a:solidFill>
          <a:ln w="6350">
            <a:solidFill>
              <a:srgbClr val="000000"/>
            </a:solidFill>
            <a:prstDash val="solid"/>
          </a:ln>
        </p:spPr>
      </p:sp>
      <p:sp>
        <p:nvSpPr>
          <p:cNvPr id="14" name="Shape 12"/>
          <p:cNvSpPr/>
          <p:nvPr/>
        </p:nvSpPr>
        <p:spPr>
          <a:xfrm>
            <a:off x="594360" y="3127248"/>
            <a:ext cx="1371600" cy="1051560"/>
          </a:xfrm>
          <a:prstGeom prst="rect">
            <a:avLst/>
          </a:prstGeom>
          <a:solidFill>
            <a:srgbClr val="C6F035"/>
          </a:solidFill>
          <a:ln w="34925">
            <a:solidFill>
              <a:srgbClr val="000000"/>
            </a:solidFill>
            <a:prstDash val="solid"/>
          </a:ln>
        </p:spPr>
      </p:sp>
      <p:sp>
        <p:nvSpPr>
          <p:cNvPr id="15" name="Text 13"/>
          <p:cNvSpPr/>
          <p:nvPr/>
        </p:nvSpPr>
        <p:spPr>
          <a:xfrm>
            <a:off x="594360" y="3346704"/>
            <a:ext cx="1371600"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CLASS 5</a:t>
            </a:r>
            <a:endParaRPr lang="en-US" sz="1400" dirty="0"/>
          </a:p>
        </p:txBody>
      </p:sp>
      <p:sp>
        <p:nvSpPr>
          <p:cNvPr id="16" name="Text 14"/>
          <p:cNvSpPr/>
          <p:nvPr/>
        </p:nvSpPr>
        <p:spPr>
          <a:xfrm>
            <a:off x="594360" y="3675888"/>
            <a:ext cx="1371600" cy="2743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SEP 22</a:t>
            </a:r>
            <a:endParaRPr lang="en-US" sz="1150" dirty="0"/>
          </a:p>
        </p:txBody>
      </p:sp>
      <p:sp>
        <p:nvSpPr>
          <p:cNvPr id="17" name="Shape 15"/>
          <p:cNvSpPr/>
          <p:nvPr/>
        </p:nvSpPr>
        <p:spPr>
          <a:xfrm>
            <a:off x="2308860" y="3195828"/>
            <a:ext cx="9326880" cy="1051560"/>
          </a:xfrm>
          <a:prstGeom prst="rect">
            <a:avLst/>
          </a:prstGeom>
          <a:solidFill>
            <a:srgbClr val="000000"/>
          </a:solidFill>
          <a:ln w="6350">
            <a:solidFill>
              <a:srgbClr val="000000"/>
            </a:solidFill>
            <a:prstDash val="solid"/>
          </a:ln>
        </p:spPr>
      </p:sp>
      <p:sp>
        <p:nvSpPr>
          <p:cNvPr id="18" name="Shape 16"/>
          <p:cNvSpPr/>
          <p:nvPr/>
        </p:nvSpPr>
        <p:spPr>
          <a:xfrm>
            <a:off x="2240280" y="3127248"/>
            <a:ext cx="9326880" cy="1051560"/>
          </a:xfrm>
          <a:prstGeom prst="rect">
            <a:avLst/>
          </a:prstGeom>
          <a:solidFill>
            <a:srgbClr val="FFFDF7"/>
          </a:solidFill>
          <a:ln w="34925">
            <a:solidFill>
              <a:srgbClr val="000000"/>
            </a:solidFill>
            <a:prstDash val="solid"/>
          </a:ln>
        </p:spPr>
      </p:sp>
      <p:sp>
        <p:nvSpPr>
          <p:cNvPr id="19" name="Text 17"/>
          <p:cNvSpPr/>
          <p:nvPr/>
        </p:nvSpPr>
        <p:spPr>
          <a:xfrm>
            <a:off x="2514600" y="3346704"/>
            <a:ext cx="8595360" cy="658368"/>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Instructions exchanged. You build a classmate's object from their written procedure alone. The gap between the two results is the finding.</a:t>
            </a:r>
            <a:endParaRPr lang="en-US" sz="1350" dirty="0"/>
          </a:p>
        </p:txBody>
      </p:sp>
      <p:sp>
        <p:nvSpPr>
          <p:cNvPr id="20" name="Shape 18"/>
          <p:cNvSpPr/>
          <p:nvPr/>
        </p:nvSpPr>
        <p:spPr>
          <a:xfrm rot="10800000">
            <a:off x="1097280" y="4215384"/>
            <a:ext cx="365760" cy="310896"/>
          </a:xfrm>
          <a:prstGeom prst="triangle">
            <a:avLst/>
          </a:prstGeom>
          <a:solidFill>
            <a:srgbClr val="000000"/>
          </a:solidFill>
          <a:ln w="19050">
            <a:solidFill>
              <a:srgbClr val="000000"/>
            </a:solidFill>
            <a:prstDash val="solid"/>
          </a:ln>
        </p:spPr>
      </p:sp>
      <p:sp>
        <p:nvSpPr>
          <p:cNvPr id="21" name="Shape 19"/>
          <p:cNvSpPr/>
          <p:nvPr/>
        </p:nvSpPr>
        <p:spPr>
          <a:xfrm>
            <a:off x="662940" y="4494276"/>
            <a:ext cx="1371600" cy="1051560"/>
          </a:xfrm>
          <a:prstGeom prst="rect">
            <a:avLst/>
          </a:prstGeom>
          <a:solidFill>
            <a:srgbClr val="000000"/>
          </a:solidFill>
          <a:ln w="6350">
            <a:solidFill>
              <a:srgbClr val="000000"/>
            </a:solidFill>
            <a:prstDash val="solid"/>
          </a:ln>
        </p:spPr>
      </p:sp>
      <p:sp>
        <p:nvSpPr>
          <p:cNvPr id="22" name="Shape 20"/>
          <p:cNvSpPr/>
          <p:nvPr/>
        </p:nvSpPr>
        <p:spPr>
          <a:xfrm>
            <a:off x="594360" y="4425696"/>
            <a:ext cx="1371600" cy="1051560"/>
          </a:xfrm>
          <a:prstGeom prst="rect">
            <a:avLst/>
          </a:prstGeom>
          <a:solidFill>
            <a:srgbClr val="FF4D8D"/>
          </a:solidFill>
          <a:ln w="34925">
            <a:solidFill>
              <a:srgbClr val="000000"/>
            </a:solidFill>
            <a:prstDash val="solid"/>
          </a:ln>
        </p:spPr>
      </p:sp>
      <p:sp>
        <p:nvSpPr>
          <p:cNvPr id="23" name="Text 21"/>
          <p:cNvSpPr/>
          <p:nvPr/>
        </p:nvSpPr>
        <p:spPr>
          <a:xfrm>
            <a:off x="594360" y="4645152"/>
            <a:ext cx="1371600"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CLASS 8</a:t>
            </a:r>
            <a:endParaRPr lang="en-US" sz="1400" dirty="0"/>
          </a:p>
        </p:txBody>
      </p:sp>
      <p:sp>
        <p:nvSpPr>
          <p:cNvPr id="24" name="Text 22"/>
          <p:cNvSpPr/>
          <p:nvPr/>
        </p:nvSpPr>
        <p:spPr>
          <a:xfrm>
            <a:off x="594360" y="4974336"/>
            <a:ext cx="1371600" cy="2743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OCT 13</a:t>
            </a:r>
            <a:endParaRPr lang="en-US" sz="1150" dirty="0"/>
          </a:p>
        </p:txBody>
      </p:sp>
      <p:sp>
        <p:nvSpPr>
          <p:cNvPr id="25" name="Shape 23"/>
          <p:cNvSpPr/>
          <p:nvPr/>
        </p:nvSpPr>
        <p:spPr>
          <a:xfrm>
            <a:off x="2308860" y="4494276"/>
            <a:ext cx="9326880" cy="1051560"/>
          </a:xfrm>
          <a:prstGeom prst="rect">
            <a:avLst/>
          </a:prstGeom>
          <a:solidFill>
            <a:srgbClr val="000000"/>
          </a:solidFill>
          <a:ln w="6350">
            <a:solidFill>
              <a:srgbClr val="000000"/>
            </a:solidFill>
            <a:prstDash val="solid"/>
          </a:ln>
        </p:spPr>
      </p:sp>
      <p:sp>
        <p:nvSpPr>
          <p:cNvPr id="26" name="Shape 24"/>
          <p:cNvSpPr/>
          <p:nvPr/>
        </p:nvSpPr>
        <p:spPr>
          <a:xfrm>
            <a:off x="2240280" y="4425696"/>
            <a:ext cx="9326880" cy="1051560"/>
          </a:xfrm>
          <a:prstGeom prst="rect">
            <a:avLst/>
          </a:prstGeom>
          <a:solidFill>
            <a:srgbClr val="FFFDF7"/>
          </a:solidFill>
          <a:ln w="34925">
            <a:solidFill>
              <a:srgbClr val="000000"/>
            </a:solidFill>
            <a:prstDash val="solid"/>
          </a:ln>
        </p:spPr>
      </p:sp>
      <p:sp>
        <p:nvSpPr>
          <p:cNvPr id="27" name="Text 25"/>
          <p:cNvSpPr/>
          <p:nvPr/>
        </p:nvSpPr>
        <p:spPr>
          <a:xfrm>
            <a:off x="2514600" y="4645152"/>
            <a:ext cx="8595360" cy="658368"/>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Your object, 3D printed at small scale, presented at the Midterm. No supports — orientation is your only lever.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6F035"/>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NOW — BUILD IT</a:t>
            </a:r>
            <a:endParaRPr lang="en-US" sz="3300" dirty="0"/>
          </a:p>
        </p:txBody>
      </p:sp>
      <p:sp>
        <p:nvSpPr>
          <p:cNvPr id="4" name="Text 2"/>
          <p:cNvSpPr/>
          <p:nvPr/>
        </p:nvSpPr>
        <p:spPr>
          <a:xfrm>
            <a:off x="594360" y="1691640"/>
            <a:ext cx="10515600" cy="365760"/>
          </a:xfrm>
          <a:prstGeom prst="rect">
            <a:avLst/>
          </a:prstGeom>
          <a:noFill/>
          <a:ln/>
        </p:spPr>
        <p:txBody>
          <a:bodyPr wrap="square" lIns="0" tIns="0" rIns="0" bIns="0" rtlCol="0" anchor="ctr"/>
          <a:lstStyle/>
          <a:p>
            <a:pPr indent="0" marL="0">
              <a:buNone/>
            </a:pPr>
            <a:r>
              <a:rPr lang="en-US" sz="1600" dirty="0">
                <a:solidFill>
                  <a:srgbClr val="000000"/>
                </a:solidFill>
                <a:latin typeface="Calibri" pitchFamily="34" charset="0"/>
                <a:ea typeface="Calibri" pitchFamily="34" charset="-122"/>
                <a:cs typeface="Calibri" pitchFamily="34" charset="-120"/>
              </a:rPr>
              <a:t>Rest of the session: start your operation tree with help in the room.</a:t>
            </a:r>
            <a:endParaRPr lang="en-US" sz="1600" dirty="0"/>
          </a:p>
        </p:txBody>
      </p:sp>
      <p:sp>
        <p:nvSpPr>
          <p:cNvPr id="5" name="Shape 3"/>
          <p:cNvSpPr/>
          <p:nvPr/>
        </p:nvSpPr>
        <p:spPr>
          <a:xfrm>
            <a:off x="662940" y="2446020"/>
            <a:ext cx="640080" cy="640080"/>
          </a:xfrm>
          <a:prstGeom prst="rect">
            <a:avLst/>
          </a:prstGeom>
          <a:solidFill>
            <a:srgbClr val="000000"/>
          </a:solidFill>
          <a:ln w="6350">
            <a:solidFill>
              <a:srgbClr val="000000"/>
            </a:solidFill>
            <a:prstDash val="solid"/>
          </a:ln>
        </p:spPr>
      </p:sp>
      <p:sp>
        <p:nvSpPr>
          <p:cNvPr id="6" name="Shape 4"/>
          <p:cNvSpPr/>
          <p:nvPr/>
        </p:nvSpPr>
        <p:spPr>
          <a:xfrm>
            <a:off x="594360" y="2377440"/>
            <a:ext cx="640080" cy="640080"/>
          </a:xfrm>
          <a:prstGeom prst="rect">
            <a:avLst/>
          </a:prstGeom>
          <a:solidFill>
            <a:srgbClr val="FFFDF7"/>
          </a:solidFill>
          <a:ln w="34925">
            <a:solidFill>
              <a:srgbClr val="000000"/>
            </a:solidFill>
            <a:prstDash val="solid"/>
          </a:ln>
        </p:spPr>
      </p:sp>
      <p:sp>
        <p:nvSpPr>
          <p:cNvPr id="7" name="Text 5"/>
          <p:cNvSpPr/>
          <p:nvPr/>
        </p:nvSpPr>
        <p:spPr>
          <a:xfrm>
            <a:off x="594360" y="2505456"/>
            <a:ext cx="640080" cy="384048"/>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1577340" y="2446020"/>
            <a:ext cx="10058400" cy="640080"/>
          </a:xfrm>
          <a:prstGeom prst="rect">
            <a:avLst/>
          </a:prstGeom>
          <a:solidFill>
            <a:srgbClr val="000000"/>
          </a:solidFill>
          <a:ln w="6350">
            <a:solidFill>
              <a:srgbClr val="000000"/>
            </a:solidFill>
            <a:prstDash val="solid"/>
          </a:ln>
        </p:spPr>
      </p:sp>
      <p:sp>
        <p:nvSpPr>
          <p:cNvPr id="9" name="Shape 7"/>
          <p:cNvSpPr/>
          <p:nvPr/>
        </p:nvSpPr>
        <p:spPr>
          <a:xfrm>
            <a:off x="1508760" y="2377440"/>
            <a:ext cx="10058400" cy="640080"/>
          </a:xfrm>
          <a:prstGeom prst="rect">
            <a:avLst/>
          </a:prstGeom>
          <a:solidFill>
            <a:srgbClr val="FFFDF7"/>
          </a:solidFill>
          <a:ln w="34925">
            <a:solidFill>
              <a:srgbClr val="000000"/>
            </a:solidFill>
            <a:prstDash val="solid"/>
          </a:ln>
        </p:spPr>
      </p:sp>
      <p:sp>
        <p:nvSpPr>
          <p:cNvPr id="10" name="Text 8"/>
          <p:cNvSpPr/>
          <p:nvPr/>
        </p:nvSpPr>
        <p:spPr>
          <a:xfrm>
            <a:off x="1783080" y="2551176"/>
            <a:ext cx="91440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Object chosen and approved</a:t>
            </a:r>
            <a:endParaRPr lang="en-US" sz="1500" dirty="0"/>
          </a:p>
        </p:txBody>
      </p:sp>
      <p:sp>
        <p:nvSpPr>
          <p:cNvPr id="11" name="Shape 9"/>
          <p:cNvSpPr/>
          <p:nvPr/>
        </p:nvSpPr>
        <p:spPr>
          <a:xfrm>
            <a:off x="662940" y="3268980"/>
            <a:ext cx="640080" cy="640080"/>
          </a:xfrm>
          <a:prstGeom prst="rect">
            <a:avLst/>
          </a:prstGeom>
          <a:solidFill>
            <a:srgbClr val="000000"/>
          </a:solidFill>
          <a:ln w="6350">
            <a:solidFill>
              <a:srgbClr val="000000"/>
            </a:solidFill>
            <a:prstDash val="solid"/>
          </a:ln>
        </p:spPr>
      </p:sp>
      <p:sp>
        <p:nvSpPr>
          <p:cNvPr id="12" name="Shape 10"/>
          <p:cNvSpPr/>
          <p:nvPr/>
        </p:nvSpPr>
        <p:spPr>
          <a:xfrm>
            <a:off x="594360" y="3200400"/>
            <a:ext cx="640080" cy="640080"/>
          </a:xfrm>
          <a:prstGeom prst="rect">
            <a:avLst/>
          </a:prstGeom>
          <a:solidFill>
            <a:srgbClr val="FFFDF7"/>
          </a:solidFill>
          <a:ln w="34925">
            <a:solidFill>
              <a:srgbClr val="000000"/>
            </a:solidFill>
            <a:prstDash val="solid"/>
          </a:ln>
        </p:spPr>
      </p:sp>
      <p:sp>
        <p:nvSpPr>
          <p:cNvPr id="13" name="Text 11"/>
          <p:cNvSpPr/>
          <p:nvPr/>
        </p:nvSpPr>
        <p:spPr>
          <a:xfrm>
            <a:off x="594360" y="3328416"/>
            <a:ext cx="640080" cy="384048"/>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1577340" y="3268980"/>
            <a:ext cx="10058400" cy="640080"/>
          </a:xfrm>
          <a:prstGeom prst="rect">
            <a:avLst/>
          </a:prstGeom>
          <a:solidFill>
            <a:srgbClr val="000000"/>
          </a:solidFill>
          <a:ln w="6350">
            <a:solidFill>
              <a:srgbClr val="000000"/>
            </a:solidFill>
            <a:prstDash val="solid"/>
          </a:ln>
        </p:spPr>
      </p:sp>
      <p:sp>
        <p:nvSpPr>
          <p:cNvPr id="15" name="Shape 13"/>
          <p:cNvSpPr/>
          <p:nvPr/>
        </p:nvSpPr>
        <p:spPr>
          <a:xfrm>
            <a:off x="1508760" y="3200400"/>
            <a:ext cx="10058400" cy="640080"/>
          </a:xfrm>
          <a:prstGeom prst="rect">
            <a:avLst/>
          </a:prstGeom>
          <a:solidFill>
            <a:srgbClr val="FFFDF7"/>
          </a:solidFill>
          <a:ln w="34925">
            <a:solidFill>
              <a:srgbClr val="000000"/>
            </a:solidFill>
            <a:prstDash val="solid"/>
          </a:ln>
        </p:spPr>
      </p:sp>
      <p:sp>
        <p:nvSpPr>
          <p:cNvPr id="16" name="Text 14"/>
          <p:cNvSpPr/>
          <p:nvPr/>
        </p:nvSpPr>
        <p:spPr>
          <a:xfrm>
            <a:off x="1783080" y="3374136"/>
            <a:ext cx="91440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First three primitives placed</a:t>
            </a:r>
            <a:endParaRPr lang="en-US" sz="1500" dirty="0"/>
          </a:p>
        </p:txBody>
      </p:sp>
      <p:sp>
        <p:nvSpPr>
          <p:cNvPr id="17" name="Shape 15"/>
          <p:cNvSpPr/>
          <p:nvPr/>
        </p:nvSpPr>
        <p:spPr>
          <a:xfrm>
            <a:off x="662940" y="4091940"/>
            <a:ext cx="640080" cy="640080"/>
          </a:xfrm>
          <a:prstGeom prst="rect">
            <a:avLst/>
          </a:prstGeom>
          <a:solidFill>
            <a:srgbClr val="000000"/>
          </a:solidFill>
          <a:ln w="6350">
            <a:solidFill>
              <a:srgbClr val="000000"/>
            </a:solidFill>
            <a:prstDash val="solid"/>
          </a:ln>
        </p:spPr>
      </p:sp>
      <p:sp>
        <p:nvSpPr>
          <p:cNvPr id="18" name="Shape 16"/>
          <p:cNvSpPr/>
          <p:nvPr/>
        </p:nvSpPr>
        <p:spPr>
          <a:xfrm>
            <a:off x="594360" y="4023360"/>
            <a:ext cx="640080" cy="640080"/>
          </a:xfrm>
          <a:prstGeom prst="rect">
            <a:avLst/>
          </a:prstGeom>
          <a:solidFill>
            <a:srgbClr val="FFFDF7"/>
          </a:solidFill>
          <a:ln w="34925">
            <a:solidFill>
              <a:srgbClr val="000000"/>
            </a:solidFill>
            <a:prstDash val="solid"/>
          </a:ln>
        </p:spPr>
      </p:sp>
      <p:sp>
        <p:nvSpPr>
          <p:cNvPr id="19" name="Text 17"/>
          <p:cNvSpPr/>
          <p:nvPr/>
        </p:nvSpPr>
        <p:spPr>
          <a:xfrm>
            <a:off x="594360" y="4151376"/>
            <a:ext cx="640080" cy="384048"/>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1577340" y="4091940"/>
            <a:ext cx="10058400" cy="640080"/>
          </a:xfrm>
          <a:prstGeom prst="rect">
            <a:avLst/>
          </a:prstGeom>
          <a:solidFill>
            <a:srgbClr val="000000"/>
          </a:solidFill>
          <a:ln w="6350">
            <a:solidFill>
              <a:srgbClr val="000000"/>
            </a:solidFill>
            <a:prstDash val="solid"/>
          </a:ln>
        </p:spPr>
      </p:sp>
      <p:sp>
        <p:nvSpPr>
          <p:cNvPr id="21" name="Shape 19"/>
          <p:cNvSpPr/>
          <p:nvPr/>
        </p:nvSpPr>
        <p:spPr>
          <a:xfrm>
            <a:off x="1508760" y="4023360"/>
            <a:ext cx="10058400" cy="640080"/>
          </a:xfrm>
          <a:prstGeom prst="rect">
            <a:avLst/>
          </a:prstGeom>
          <a:solidFill>
            <a:srgbClr val="FFFDF7"/>
          </a:solidFill>
          <a:ln w="34925">
            <a:solidFill>
              <a:srgbClr val="000000"/>
            </a:solidFill>
            <a:prstDash val="solid"/>
          </a:ln>
        </p:spPr>
      </p:sp>
      <p:sp>
        <p:nvSpPr>
          <p:cNvPr id="22" name="Text 20"/>
          <p:cNvSpPr/>
          <p:nvPr/>
        </p:nvSpPr>
        <p:spPr>
          <a:xfrm>
            <a:off x="1783080" y="4197096"/>
            <a:ext cx="91440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At least one Boolean working</a:t>
            </a:r>
            <a:endParaRPr lang="en-US" sz="1500" dirty="0"/>
          </a:p>
        </p:txBody>
      </p:sp>
      <p:sp>
        <p:nvSpPr>
          <p:cNvPr id="23" name="Shape 21"/>
          <p:cNvSpPr/>
          <p:nvPr/>
        </p:nvSpPr>
        <p:spPr>
          <a:xfrm>
            <a:off x="662940" y="4914900"/>
            <a:ext cx="640080" cy="640080"/>
          </a:xfrm>
          <a:prstGeom prst="rect">
            <a:avLst/>
          </a:prstGeom>
          <a:solidFill>
            <a:srgbClr val="000000"/>
          </a:solidFill>
          <a:ln w="6350">
            <a:solidFill>
              <a:srgbClr val="000000"/>
            </a:solidFill>
            <a:prstDash val="solid"/>
          </a:ln>
        </p:spPr>
      </p:sp>
      <p:sp>
        <p:nvSpPr>
          <p:cNvPr id="24" name="Shape 22"/>
          <p:cNvSpPr/>
          <p:nvPr/>
        </p:nvSpPr>
        <p:spPr>
          <a:xfrm>
            <a:off x="594360" y="4846320"/>
            <a:ext cx="640080" cy="640080"/>
          </a:xfrm>
          <a:prstGeom prst="rect">
            <a:avLst/>
          </a:prstGeom>
          <a:solidFill>
            <a:srgbClr val="FFFDF7"/>
          </a:solidFill>
          <a:ln w="34925">
            <a:solidFill>
              <a:srgbClr val="000000"/>
            </a:solidFill>
            <a:prstDash val="solid"/>
          </a:ln>
        </p:spPr>
      </p:sp>
      <p:sp>
        <p:nvSpPr>
          <p:cNvPr id="25" name="Text 23"/>
          <p:cNvSpPr/>
          <p:nvPr/>
        </p:nvSpPr>
        <p:spPr>
          <a:xfrm>
            <a:off x="594360" y="4974336"/>
            <a:ext cx="640080" cy="384048"/>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26" name="Shape 24"/>
          <p:cNvSpPr/>
          <p:nvPr/>
        </p:nvSpPr>
        <p:spPr>
          <a:xfrm>
            <a:off x="1577340" y="4914900"/>
            <a:ext cx="10058400" cy="640080"/>
          </a:xfrm>
          <a:prstGeom prst="rect">
            <a:avLst/>
          </a:prstGeom>
          <a:solidFill>
            <a:srgbClr val="000000"/>
          </a:solidFill>
          <a:ln w="6350">
            <a:solidFill>
              <a:srgbClr val="000000"/>
            </a:solidFill>
            <a:prstDash val="solid"/>
          </a:ln>
        </p:spPr>
      </p:sp>
      <p:sp>
        <p:nvSpPr>
          <p:cNvPr id="27" name="Shape 25"/>
          <p:cNvSpPr/>
          <p:nvPr/>
        </p:nvSpPr>
        <p:spPr>
          <a:xfrm>
            <a:off x="1508760" y="4846320"/>
            <a:ext cx="10058400" cy="640080"/>
          </a:xfrm>
          <a:prstGeom prst="rect">
            <a:avLst/>
          </a:prstGeom>
          <a:solidFill>
            <a:srgbClr val="FFFDF7"/>
          </a:solidFill>
          <a:ln w="34925">
            <a:solidFill>
              <a:srgbClr val="000000"/>
            </a:solidFill>
            <a:prstDash val="solid"/>
          </a:ln>
        </p:spPr>
      </p:sp>
      <p:sp>
        <p:nvSpPr>
          <p:cNvPr id="28" name="Text 26"/>
          <p:cNvSpPr/>
          <p:nvPr/>
        </p:nvSpPr>
        <p:spPr>
          <a:xfrm>
            <a:off x="1783080" y="5020056"/>
            <a:ext cx="9144000" cy="365760"/>
          </a:xfrm>
          <a:prstGeom prst="rect">
            <a:avLst/>
          </a:prstGeom>
          <a:noFill/>
          <a:ln/>
        </p:spPr>
        <p:txBody>
          <a:bodyPr wrap="square" lIns="0" tIns="0" rIns="0" bIns="0" rtlCol="0" anchor="ctr"/>
          <a:lstStyle/>
          <a:p>
            <a:pPr indent="0" marL="0">
              <a:buNone/>
            </a:pPr>
            <a:r>
              <a:rPr lang="en-US" sz="1500" dirty="0">
                <a:solidFill>
                  <a:srgbClr val="000000"/>
                </a:solidFill>
                <a:latin typeface="Calibri" pitchFamily="34" charset="0"/>
                <a:ea typeface="Calibri" pitchFamily="34" charset="-122"/>
                <a:cs typeface="Calibri" pitchFamily="34" charset="-120"/>
              </a:rPr>
              <a:t>Operation history intact — nothing collapsed to a mesh</a:t>
            </a:r>
            <a:endParaRPr lang="en-US" sz="1500" dirty="0"/>
          </a:p>
        </p:txBody>
      </p:sp>
      <p:sp>
        <p:nvSpPr>
          <p:cNvPr id="29" name="Shape 27"/>
          <p:cNvSpPr/>
          <p:nvPr/>
        </p:nvSpPr>
        <p:spPr>
          <a:xfrm>
            <a:off x="662940" y="5783580"/>
            <a:ext cx="6400800" cy="640080"/>
          </a:xfrm>
          <a:prstGeom prst="rect">
            <a:avLst/>
          </a:prstGeom>
          <a:solidFill>
            <a:srgbClr val="000000"/>
          </a:solidFill>
          <a:ln w="6350">
            <a:solidFill>
              <a:srgbClr val="000000"/>
            </a:solidFill>
            <a:prstDash val="solid"/>
          </a:ln>
        </p:spPr>
      </p:sp>
      <p:sp>
        <p:nvSpPr>
          <p:cNvPr id="30" name="Shape 28"/>
          <p:cNvSpPr/>
          <p:nvPr/>
        </p:nvSpPr>
        <p:spPr>
          <a:xfrm>
            <a:off x="594360" y="5715000"/>
            <a:ext cx="6400800" cy="640080"/>
          </a:xfrm>
          <a:prstGeom prst="rect">
            <a:avLst/>
          </a:prstGeom>
          <a:solidFill>
            <a:srgbClr val="000000"/>
          </a:solidFill>
          <a:ln w="34925">
            <a:solidFill>
              <a:srgbClr val="000000"/>
            </a:solidFill>
            <a:prstDash val="solid"/>
          </a:ln>
        </p:spPr>
      </p:sp>
      <p:sp>
        <p:nvSpPr>
          <p:cNvPr id="31" name="Text 29"/>
          <p:cNvSpPr/>
          <p:nvPr/>
        </p:nvSpPr>
        <p:spPr>
          <a:xfrm>
            <a:off x="594360" y="5879592"/>
            <a:ext cx="6400800" cy="365760"/>
          </a:xfrm>
          <a:prstGeom prst="rect">
            <a:avLst/>
          </a:prstGeom>
          <a:noFill/>
          <a:ln/>
        </p:spPr>
        <p:txBody>
          <a:bodyPr wrap="square" lIns="0" tIns="0" rIns="0" bIns="0" rtlCol="0" anchor="ctr"/>
          <a:lstStyle/>
          <a:p>
            <a:pPr algn="ctr" indent="0" marL="0">
              <a:buNone/>
            </a:pPr>
            <a:r>
              <a:rPr lang="en-US" sz="1500" b="1" spc="60" kern="0" dirty="0">
                <a:solidFill>
                  <a:srgbClr val="C6F035"/>
                </a:solidFill>
                <a:latin typeface="Arial" pitchFamily="34" charset="0"/>
                <a:ea typeface="Arial" pitchFamily="34" charset="-122"/>
                <a:cs typeface="Arial" pitchFamily="34" charset="-120"/>
              </a:rPr>
              <a:t>LEAVE WITH A WORKING TREE.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594360" y="566928"/>
            <a:ext cx="10972800" cy="0"/>
          </a:xfrm>
          <a:prstGeom prst="line">
            <a:avLst/>
          </a:prstGeom>
          <a:noFill/>
          <a:ln w="50800">
            <a:solidFill>
              <a:srgbClr val="000000"/>
            </a:solidFill>
            <a:prstDash val="solid"/>
          </a:ln>
        </p:spPr>
      </p:sp>
      <p:sp>
        <p:nvSpPr>
          <p:cNvPr id="3" name="Text 1"/>
          <p:cNvSpPr/>
          <p:nvPr/>
        </p:nvSpPr>
        <p:spPr>
          <a:xfrm>
            <a:off x="594360" y="676656"/>
            <a:ext cx="10972800" cy="566928"/>
          </a:xfrm>
          <a:prstGeom prst="rect">
            <a:avLst/>
          </a:prstGeom>
          <a:noFill/>
          <a:ln/>
        </p:spPr>
        <p:txBody>
          <a:bodyPr wrap="square" lIns="0" tIns="0" rIns="0" bIns="0" rtlCol="0" anchor="ctr"/>
          <a:lstStyle/>
          <a:p>
            <a:pPr indent="0" marL="0">
              <a:buNone/>
            </a:pPr>
            <a:r>
              <a:rPr lang="en-US" sz="3300" b="1" spc="-60" kern="0" dirty="0">
                <a:solidFill>
                  <a:srgbClr val="000000"/>
                </a:solidFill>
                <a:latin typeface="Arial" pitchFamily="34" charset="0"/>
                <a:ea typeface="Arial" pitchFamily="34" charset="-122"/>
                <a:cs typeface="Arial" pitchFamily="34" charset="-120"/>
              </a:rPr>
              <a:t>BEFORE NEXT CLASS</a:t>
            </a:r>
            <a:endParaRPr lang="en-US" sz="3300" dirty="0"/>
          </a:p>
        </p:txBody>
      </p:sp>
      <p:sp>
        <p:nvSpPr>
          <p:cNvPr id="4" name="Shape 2"/>
          <p:cNvSpPr/>
          <p:nvPr/>
        </p:nvSpPr>
        <p:spPr>
          <a:xfrm>
            <a:off x="662940" y="1851660"/>
            <a:ext cx="1508760" cy="804672"/>
          </a:xfrm>
          <a:prstGeom prst="rect">
            <a:avLst/>
          </a:prstGeom>
          <a:solidFill>
            <a:srgbClr val="000000"/>
          </a:solidFill>
          <a:ln w="6350">
            <a:solidFill>
              <a:srgbClr val="000000"/>
            </a:solidFill>
            <a:prstDash val="solid"/>
          </a:ln>
        </p:spPr>
      </p:sp>
      <p:sp>
        <p:nvSpPr>
          <p:cNvPr id="5" name="Shape 3"/>
          <p:cNvSpPr/>
          <p:nvPr/>
        </p:nvSpPr>
        <p:spPr>
          <a:xfrm>
            <a:off x="594360" y="1783080"/>
            <a:ext cx="1508760" cy="804672"/>
          </a:xfrm>
          <a:prstGeom prst="rect">
            <a:avLst/>
          </a:prstGeom>
          <a:solidFill>
            <a:srgbClr val="00D9E1"/>
          </a:solidFill>
          <a:ln w="34925">
            <a:solidFill>
              <a:srgbClr val="000000"/>
            </a:solidFill>
            <a:prstDash val="solid"/>
          </a:ln>
        </p:spPr>
      </p:sp>
      <p:sp>
        <p:nvSpPr>
          <p:cNvPr id="6" name="Text 4"/>
          <p:cNvSpPr/>
          <p:nvPr/>
        </p:nvSpPr>
        <p:spPr>
          <a:xfrm>
            <a:off x="594360" y="2029968"/>
            <a:ext cx="1508760" cy="329184"/>
          </a:xfrm>
          <a:prstGeom prst="rect">
            <a:avLst/>
          </a:prstGeom>
          <a:noFill/>
          <a:ln/>
        </p:spPr>
        <p:txBody>
          <a:bodyPr wrap="square" lIns="0" tIns="0" rIns="0" bIns="0" rtlCol="0" anchor="ctr"/>
          <a:lstStyle/>
          <a:p>
            <a:pPr algn="ctr" indent="0" marL="0">
              <a:buNone/>
            </a:pPr>
            <a:r>
              <a:rPr lang="en-US" sz="1400" b="1" spc="80" kern="0" dirty="0">
                <a:solidFill>
                  <a:srgbClr val="000000"/>
                </a:solidFill>
                <a:latin typeface="Arial" pitchFamily="34" charset="0"/>
                <a:ea typeface="Arial" pitchFamily="34" charset="-122"/>
                <a:cs typeface="Arial" pitchFamily="34" charset="-120"/>
              </a:rPr>
              <a:t>WATCH</a:t>
            </a:r>
            <a:endParaRPr lang="en-US" sz="1400" dirty="0"/>
          </a:p>
        </p:txBody>
      </p:sp>
      <p:sp>
        <p:nvSpPr>
          <p:cNvPr id="7" name="Shape 5"/>
          <p:cNvSpPr/>
          <p:nvPr/>
        </p:nvSpPr>
        <p:spPr>
          <a:xfrm>
            <a:off x="2446020" y="1851660"/>
            <a:ext cx="9189720" cy="804672"/>
          </a:xfrm>
          <a:prstGeom prst="rect">
            <a:avLst/>
          </a:prstGeom>
          <a:solidFill>
            <a:srgbClr val="000000"/>
          </a:solidFill>
          <a:ln w="6350">
            <a:solidFill>
              <a:srgbClr val="000000"/>
            </a:solidFill>
            <a:prstDash val="solid"/>
          </a:ln>
        </p:spPr>
      </p:sp>
      <p:sp>
        <p:nvSpPr>
          <p:cNvPr id="8" name="Shape 6"/>
          <p:cNvSpPr/>
          <p:nvPr/>
        </p:nvSpPr>
        <p:spPr>
          <a:xfrm>
            <a:off x="2377440" y="1783080"/>
            <a:ext cx="9189720" cy="804672"/>
          </a:xfrm>
          <a:prstGeom prst="rect">
            <a:avLst/>
          </a:prstGeom>
          <a:solidFill>
            <a:srgbClr val="FFFDF7"/>
          </a:solidFill>
          <a:ln w="34925">
            <a:solidFill>
              <a:srgbClr val="000000"/>
            </a:solidFill>
            <a:prstDash val="solid"/>
          </a:ln>
        </p:spPr>
      </p:sp>
      <p:sp>
        <p:nvSpPr>
          <p:cNvPr id="9" name="Text 7"/>
          <p:cNvSpPr/>
          <p:nvPr/>
        </p:nvSpPr>
        <p:spPr>
          <a:xfrm>
            <a:off x="2651760" y="1911096"/>
            <a:ext cx="8595360" cy="603504"/>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Tutorial 0.2 — 3D printing. Manifold geometry, orientation, supports, layer height, slicing. Sent tonight.</a:t>
            </a:r>
            <a:endParaRPr lang="en-US" sz="1350" dirty="0"/>
          </a:p>
        </p:txBody>
      </p:sp>
      <p:sp>
        <p:nvSpPr>
          <p:cNvPr id="10" name="Shape 8"/>
          <p:cNvSpPr/>
          <p:nvPr/>
        </p:nvSpPr>
        <p:spPr>
          <a:xfrm>
            <a:off x="662940" y="2912364"/>
            <a:ext cx="1508760" cy="804672"/>
          </a:xfrm>
          <a:prstGeom prst="rect">
            <a:avLst/>
          </a:prstGeom>
          <a:solidFill>
            <a:srgbClr val="000000"/>
          </a:solidFill>
          <a:ln w="6350">
            <a:solidFill>
              <a:srgbClr val="000000"/>
            </a:solidFill>
            <a:prstDash val="solid"/>
          </a:ln>
        </p:spPr>
      </p:sp>
      <p:sp>
        <p:nvSpPr>
          <p:cNvPr id="11" name="Shape 9"/>
          <p:cNvSpPr/>
          <p:nvPr/>
        </p:nvSpPr>
        <p:spPr>
          <a:xfrm>
            <a:off x="594360" y="2843784"/>
            <a:ext cx="1508760" cy="804672"/>
          </a:xfrm>
          <a:prstGeom prst="rect">
            <a:avLst/>
          </a:prstGeom>
          <a:solidFill>
            <a:srgbClr val="FF4D8D"/>
          </a:solidFill>
          <a:ln w="34925">
            <a:solidFill>
              <a:srgbClr val="000000"/>
            </a:solidFill>
            <a:prstDash val="solid"/>
          </a:ln>
        </p:spPr>
      </p:sp>
      <p:sp>
        <p:nvSpPr>
          <p:cNvPr id="12" name="Text 10"/>
          <p:cNvSpPr/>
          <p:nvPr/>
        </p:nvSpPr>
        <p:spPr>
          <a:xfrm>
            <a:off x="594360" y="3090672"/>
            <a:ext cx="1508760" cy="329184"/>
          </a:xfrm>
          <a:prstGeom prst="rect">
            <a:avLst/>
          </a:prstGeom>
          <a:noFill/>
          <a:ln/>
        </p:spPr>
        <p:txBody>
          <a:bodyPr wrap="square" lIns="0" tIns="0" rIns="0" bIns="0" rtlCol="0" anchor="ctr"/>
          <a:lstStyle/>
          <a:p>
            <a:pPr algn="ctr" indent="0" marL="0">
              <a:buNone/>
            </a:pPr>
            <a:r>
              <a:rPr lang="en-US" sz="1400" b="1" spc="80" kern="0" dirty="0">
                <a:solidFill>
                  <a:srgbClr val="000000"/>
                </a:solidFill>
                <a:latin typeface="Arial" pitchFamily="34" charset="0"/>
                <a:ea typeface="Arial" pitchFamily="34" charset="-122"/>
                <a:cs typeface="Arial" pitchFamily="34" charset="-120"/>
              </a:rPr>
              <a:t>CHECK</a:t>
            </a:r>
            <a:endParaRPr lang="en-US" sz="1400" dirty="0"/>
          </a:p>
        </p:txBody>
      </p:sp>
      <p:sp>
        <p:nvSpPr>
          <p:cNvPr id="13" name="Shape 11"/>
          <p:cNvSpPr/>
          <p:nvPr/>
        </p:nvSpPr>
        <p:spPr>
          <a:xfrm>
            <a:off x="2446020" y="2912364"/>
            <a:ext cx="9189720" cy="804672"/>
          </a:xfrm>
          <a:prstGeom prst="rect">
            <a:avLst/>
          </a:prstGeom>
          <a:solidFill>
            <a:srgbClr val="000000"/>
          </a:solidFill>
          <a:ln w="6350">
            <a:solidFill>
              <a:srgbClr val="000000"/>
            </a:solidFill>
            <a:prstDash val="solid"/>
          </a:ln>
        </p:spPr>
      </p:sp>
      <p:sp>
        <p:nvSpPr>
          <p:cNvPr id="14" name="Shape 12"/>
          <p:cNvSpPr/>
          <p:nvPr/>
        </p:nvSpPr>
        <p:spPr>
          <a:xfrm>
            <a:off x="2377440" y="2843784"/>
            <a:ext cx="9189720" cy="804672"/>
          </a:xfrm>
          <a:prstGeom prst="rect">
            <a:avLst/>
          </a:prstGeom>
          <a:solidFill>
            <a:srgbClr val="FFFDF7"/>
          </a:solidFill>
          <a:ln w="34925">
            <a:solidFill>
              <a:srgbClr val="000000"/>
            </a:solidFill>
            <a:prstDash val="solid"/>
          </a:ln>
        </p:spPr>
      </p:sp>
      <p:sp>
        <p:nvSpPr>
          <p:cNvPr id="15" name="Text 13"/>
          <p:cNvSpPr/>
          <p:nvPr/>
        </p:nvSpPr>
        <p:spPr>
          <a:xfrm>
            <a:off x="2651760" y="2971800"/>
            <a:ext cx="8595360" cy="603504"/>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FabLab Safety Orientation must be complete by the end of today. Without it you cannot use any machine.</a:t>
            </a:r>
            <a:endParaRPr lang="en-US" sz="1350" dirty="0"/>
          </a:p>
        </p:txBody>
      </p:sp>
      <p:sp>
        <p:nvSpPr>
          <p:cNvPr id="16" name="Shape 14"/>
          <p:cNvSpPr/>
          <p:nvPr/>
        </p:nvSpPr>
        <p:spPr>
          <a:xfrm>
            <a:off x="662940" y="3973068"/>
            <a:ext cx="1508760" cy="804672"/>
          </a:xfrm>
          <a:prstGeom prst="rect">
            <a:avLst/>
          </a:prstGeom>
          <a:solidFill>
            <a:srgbClr val="000000"/>
          </a:solidFill>
          <a:ln w="6350">
            <a:solidFill>
              <a:srgbClr val="000000"/>
            </a:solidFill>
            <a:prstDash val="solid"/>
          </a:ln>
        </p:spPr>
      </p:sp>
      <p:sp>
        <p:nvSpPr>
          <p:cNvPr id="17" name="Shape 15"/>
          <p:cNvSpPr/>
          <p:nvPr/>
        </p:nvSpPr>
        <p:spPr>
          <a:xfrm>
            <a:off x="594360" y="3904488"/>
            <a:ext cx="1508760" cy="804672"/>
          </a:xfrm>
          <a:prstGeom prst="rect">
            <a:avLst/>
          </a:prstGeom>
          <a:solidFill>
            <a:srgbClr val="C6F035"/>
          </a:solidFill>
          <a:ln w="34925">
            <a:solidFill>
              <a:srgbClr val="000000"/>
            </a:solidFill>
            <a:prstDash val="solid"/>
          </a:ln>
        </p:spPr>
      </p:sp>
      <p:sp>
        <p:nvSpPr>
          <p:cNvPr id="18" name="Text 16"/>
          <p:cNvSpPr/>
          <p:nvPr/>
        </p:nvSpPr>
        <p:spPr>
          <a:xfrm>
            <a:off x="594360" y="4151376"/>
            <a:ext cx="1508760" cy="329184"/>
          </a:xfrm>
          <a:prstGeom prst="rect">
            <a:avLst/>
          </a:prstGeom>
          <a:noFill/>
          <a:ln/>
        </p:spPr>
        <p:txBody>
          <a:bodyPr wrap="square" lIns="0" tIns="0" rIns="0" bIns="0" rtlCol="0" anchor="ctr"/>
          <a:lstStyle/>
          <a:p>
            <a:pPr algn="ctr" indent="0" marL="0">
              <a:buNone/>
            </a:pPr>
            <a:r>
              <a:rPr lang="en-US" sz="1400" b="1" spc="80" kern="0" dirty="0">
                <a:solidFill>
                  <a:srgbClr val="000000"/>
                </a:solidFill>
                <a:latin typeface="Arial" pitchFamily="34" charset="0"/>
                <a:ea typeface="Arial" pitchFamily="34" charset="-122"/>
                <a:cs typeface="Arial" pitchFamily="34" charset="-120"/>
              </a:rPr>
              <a:t>BUILD</a:t>
            </a:r>
            <a:endParaRPr lang="en-US" sz="1400" dirty="0"/>
          </a:p>
        </p:txBody>
      </p:sp>
      <p:sp>
        <p:nvSpPr>
          <p:cNvPr id="19" name="Shape 17"/>
          <p:cNvSpPr/>
          <p:nvPr/>
        </p:nvSpPr>
        <p:spPr>
          <a:xfrm>
            <a:off x="2446020" y="3973068"/>
            <a:ext cx="9189720" cy="804672"/>
          </a:xfrm>
          <a:prstGeom prst="rect">
            <a:avLst/>
          </a:prstGeom>
          <a:solidFill>
            <a:srgbClr val="000000"/>
          </a:solidFill>
          <a:ln w="6350">
            <a:solidFill>
              <a:srgbClr val="000000"/>
            </a:solidFill>
            <a:prstDash val="solid"/>
          </a:ln>
        </p:spPr>
      </p:sp>
      <p:sp>
        <p:nvSpPr>
          <p:cNvPr id="20" name="Shape 18"/>
          <p:cNvSpPr/>
          <p:nvPr/>
        </p:nvSpPr>
        <p:spPr>
          <a:xfrm>
            <a:off x="2377440" y="3904488"/>
            <a:ext cx="9189720" cy="804672"/>
          </a:xfrm>
          <a:prstGeom prst="rect">
            <a:avLst/>
          </a:prstGeom>
          <a:solidFill>
            <a:srgbClr val="FFFDF7"/>
          </a:solidFill>
          <a:ln w="34925">
            <a:solidFill>
              <a:srgbClr val="000000"/>
            </a:solidFill>
            <a:prstDash val="solid"/>
          </a:ln>
        </p:spPr>
      </p:sp>
      <p:sp>
        <p:nvSpPr>
          <p:cNvPr id="21" name="Text 19"/>
          <p:cNvSpPr/>
          <p:nvPr/>
        </p:nvSpPr>
        <p:spPr>
          <a:xfrm>
            <a:off x="2651760" y="4032504"/>
            <a:ext cx="8595360" cy="603504"/>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Keep going on 0.1. Bring your tree next week — we prepare prints in class.</a:t>
            </a:r>
            <a:endParaRPr lang="en-US" sz="1350" dirty="0"/>
          </a:p>
        </p:txBody>
      </p:sp>
      <p:sp>
        <p:nvSpPr>
          <p:cNvPr id="22" name="Shape 20"/>
          <p:cNvSpPr/>
          <p:nvPr/>
        </p:nvSpPr>
        <p:spPr>
          <a:xfrm>
            <a:off x="662940" y="5033772"/>
            <a:ext cx="1508760" cy="804672"/>
          </a:xfrm>
          <a:prstGeom prst="rect">
            <a:avLst/>
          </a:prstGeom>
          <a:solidFill>
            <a:srgbClr val="000000"/>
          </a:solidFill>
          <a:ln w="6350">
            <a:solidFill>
              <a:srgbClr val="000000"/>
            </a:solidFill>
            <a:prstDash val="solid"/>
          </a:ln>
        </p:spPr>
      </p:sp>
      <p:sp>
        <p:nvSpPr>
          <p:cNvPr id="23" name="Shape 21"/>
          <p:cNvSpPr/>
          <p:nvPr/>
        </p:nvSpPr>
        <p:spPr>
          <a:xfrm>
            <a:off x="594360" y="4965192"/>
            <a:ext cx="1508760" cy="804672"/>
          </a:xfrm>
          <a:prstGeom prst="rect">
            <a:avLst/>
          </a:prstGeom>
          <a:solidFill>
            <a:srgbClr val="FFE500"/>
          </a:solidFill>
          <a:ln w="34925">
            <a:solidFill>
              <a:srgbClr val="000000"/>
            </a:solidFill>
            <a:prstDash val="solid"/>
          </a:ln>
        </p:spPr>
      </p:sp>
      <p:sp>
        <p:nvSpPr>
          <p:cNvPr id="24" name="Text 22"/>
          <p:cNvSpPr/>
          <p:nvPr/>
        </p:nvSpPr>
        <p:spPr>
          <a:xfrm>
            <a:off x="594360" y="5212080"/>
            <a:ext cx="1508760" cy="329184"/>
          </a:xfrm>
          <a:prstGeom prst="rect">
            <a:avLst/>
          </a:prstGeom>
          <a:noFill/>
          <a:ln/>
        </p:spPr>
        <p:txBody>
          <a:bodyPr wrap="square" lIns="0" tIns="0" rIns="0" bIns="0" rtlCol="0" anchor="ctr"/>
          <a:lstStyle/>
          <a:p>
            <a:pPr algn="ctr" indent="0" marL="0">
              <a:buNone/>
            </a:pPr>
            <a:r>
              <a:rPr lang="en-US" sz="1400" b="1" spc="80" kern="0" dirty="0">
                <a:solidFill>
                  <a:srgbClr val="000000"/>
                </a:solidFill>
                <a:latin typeface="Arial" pitchFamily="34" charset="0"/>
                <a:ea typeface="Arial" pitchFamily="34" charset="-122"/>
                <a:cs typeface="Arial" pitchFamily="34" charset="-120"/>
              </a:rPr>
              <a:t>WRITE</a:t>
            </a:r>
            <a:endParaRPr lang="en-US" sz="1400" dirty="0"/>
          </a:p>
        </p:txBody>
      </p:sp>
      <p:sp>
        <p:nvSpPr>
          <p:cNvPr id="25" name="Shape 23"/>
          <p:cNvSpPr/>
          <p:nvPr/>
        </p:nvSpPr>
        <p:spPr>
          <a:xfrm>
            <a:off x="2446020" y="5033772"/>
            <a:ext cx="9189720" cy="804672"/>
          </a:xfrm>
          <a:prstGeom prst="rect">
            <a:avLst/>
          </a:prstGeom>
          <a:solidFill>
            <a:srgbClr val="000000"/>
          </a:solidFill>
          <a:ln w="6350">
            <a:solidFill>
              <a:srgbClr val="000000"/>
            </a:solidFill>
            <a:prstDash val="solid"/>
          </a:ln>
        </p:spPr>
      </p:sp>
      <p:sp>
        <p:nvSpPr>
          <p:cNvPr id="26" name="Shape 24"/>
          <p:cNvSpPr/>
          <p:nvPr/>
        </p:nvSpPr>
        <p:spPr>
          <a:xfrm>
            <a:off x="2377440" y="4965192"/>
            <a:ext cx="9189720" cy="804672"/>
          </a:xfrm>
          <a:prstGeom prst="rect">
            <a:avLst/>
          </a:prstGeom>
          <a:solidFill>
            <a:srgbClr val="FFFDF7"/>
          </a:solidFill>
          <a:ln w="34925">
            <a:solidFill>
              <a:srgbClr val="000000"/>
            </a:solidFill>
            <a:prstDash val="solid"/>
          </a:ln>
        </p:spPr>
      </p:sp>
      <p:sp>
        <p:nvSpPr>
          <p:cNvPr id="27" name="Text 25"/>
          <p:cNvSpPr/>
          <p:nvPr/>
        </p:nvSpPr>
        <p:spPr>
          <a:xfrm>
            <a:off x="2651760" y="5093208"/>
            <a:ext cx="8595360" cy="603504"/>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Calibri" pitchFamily="34" charset="0"/>
                <a:ea typeface="Calibri" pitchFamily="34" charset="-122"/>
                <a:cs typeface="Calibri" pitchFamily="34" charset="-120"/>
              </a:rPr>
              <a:t>Draft your instructions. Read them aloud to someone who has not seen the model.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 3133 — Class 2</dc:title>
  <dc:subject>PptxGenJS Presentation</dc:subject>
  <dc:creator>Luis Pacheco Alcala</dc:creator>
  <cp:lastModifiedBy>Luis Pacheco Alcala</cp:lastModifiedBy>
  <cp:revision>1</cp:revision>
  <dcterms:created xsi:type="dcterms:W3CDTF">2026-08-21T18:09:49Z</dcterms:created>
  <dcterms:modified xsi:type="dcterms:W3CDTF">2026-08-21T18:09:49Z</dcterms:modified>
</cp:coreProperties>
</file>