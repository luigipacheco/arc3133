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2" r:id="rId22"/>
    <p:sldId id="270" r:id="rId20"/>
    <p:sldId id="269" r:id="rId18"/>
    <p:sldId id="271" r:id="rId2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yUirlVXDhOCT2dciHMPp0LoOR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customschemas.google.com/relationships/presentationmetadata" Target="metadata"/><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Short front section, then prepare prints with help in the room.\nEveryone should leave with a sliced file in the queue, or a clear reason why not.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fact is the one everything else hangs off. Say it, then use it three times today.\nSecond fact matters for their 0.1 print — a thin tower printed upright snaps at the layer line.</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a broken Boolean live: leave a face open, run it through the slicer, show the nonsense it produces.\nThen show the repair. This is the single most useful five minutes of the session.\nName the check tool in whichever environment they're using — 3D Print Toolbox in Blender, Check/ShowEdges in Rhino.</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stacked-rectangle drawing is the honest explanation — each layer is offset from the one below, and past about half a layer width there is nothing holding the edge up.\n45° is a rule of thumb, not physics. Bridging across a gap behaves differently from a slope.\nAsk them to find the worst overhang in their own model before they leave.</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Print these four letters beforehand and pass them around — the H bridge sags slightly, the T arms curl, the i dot is a blob on the bed. Nothing communicates it faster.</a:t>
            </a:r>
            <a:br>
              <a:rPr lang="en-US"/>
            </a:br>
            <a:r>
              <a:rPr lang="en-US"/>
              <a:t>Then: everyone find the H, V, T and i in their own model. Whoever has an i has a problem to solve today.</a:t>
            </a:r>
            <a:br>
              <a:rPr lang="en-US"/>
            </a:br>
            <a:r>
              <a:rPr lang="en-US"/>
              <a:t>This test comes from García Cuevas and Pugliese, Advanced 3D Printing with Grasshopper.</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ban is pedagogical, not arbitrary — with supports off, orientation is the only variable, which is the fastest way to learn what it does.\nAnd revising the geometry to make it printable is a legitimate outcome. Say that clearly or they will panic.\nOrientation diagram is a required part of the 0.1 sheet: chosen orientation, the overhangs it produces, why it beat the alternative.</a:t>
            </a:r>
            <a:endParaRPr/>
          </a:p>
        </p:txBody>
      </p:sp>
      <p:sp>
        <p:nvSpPr>
          <p:cNvPr id="202" name="Google Shape;2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Slice something live and step through the preview layer by layer. Show the first layer, a mid layer, and the top.\nThe Module 2 connection is worth flagging out loud — they will meet contouring again in six weeks and this is the same operation.\nShow the time estimate and the material estimate. That is what makes the production plan real later.</a:t>
            </a:r>
            <a:endParaRPr/>
          </a:p>
        </p:txBody>
      </p:sp>
      <p:sp>
        <p:nvSpPr>
          <p:cNvPr id="238" name="Google Shape;23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Resist tuning. They will want to change everything; almost all of it makes the print worse or longer.\nWalls versus infill is the useful one — students always crank infill to 100% and wonder why it takes nine hours.</a:t>
            </a:r>
            <a:endParaRPr/>
          </a:p>
        </p:txBody>
      </p:sp>
      <p:sp>
        <p:nvSpPr>
          <p:cNvPr id="282" name="Google Shape;2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site model example is the one that lands. A block of massing models is twenty boxes — laser them from chipboard in one pass, stack and glue. Printed, that is days of machine time for a worse object.</a:t>
            </a:r>
            <a:br>
              <a:rPr lang="en-US"/>
            </a:br>
            <a:r>
              <a:rPr lang="en-US"/>
              <a:t>This matters in Module 2 versus Module 3: 2.2 is cut because sections are flat; 3.2 is printed because a vault panel is doubly curved and has no flat description.</a:t>
            </a:r>
            <a:br>
              <a:rPr lang="en-US"/>
            </a:br>
            <a:r>
              <a:rPr lang="en-US"/>
              <a:t>Ask them which their 0.1 object would be if it were not a required print. Most would be cut.</a:t>
            </a:r>
            <a:endParaRPr/>
          </a:p>
        </p:txBody>
      </p:sp>
      <p:sp>
        <p:nvSpPr>
          <p:cNvPr id="318" name="Google Shape;31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Replace the bottom bar with the actual FabLab procedure before you teach this.\nBe specific about file naming — it is the difference between a print they can find and one they cannot.</a:t>
            </a:r>
            <a:endParaRPr/>
          </a:p>
        </p:txBody>
      </p:sp>
      <p:sp>
        <p:nvSpPr>
          <p:cNvPr id="361" name="Google Shape;3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Pass around real failed prints for as many of these as you have — a photo does not communicate a delamination or a support scar.</a:t>
            </a:r>
            <a:br>
              <a:rPr lang="en-US"/>
            </a:br>
            <a:r>
              <a:rPr lang="en-US"/>
              <a:t>Stringing is worth a beat: the cause is travel moves, which is the same ordering problem as the plotter demo in Class 6. Same lesson, different machine.</a:t>
            </a:r>
            <a:br>
              <a:rPr lang="en-US"/>
            </a:br>
            <a:r>
              <a:rPr lang="en-US"/>
              <a:t>Tell them to keep their failures. A print that failed and was correctly diagnosed is worth more in the booklet than one that worked by luck.</a:t>
            </a:r>
            <a:endParaRPr/>
          </a:p>
        </p:txBody>
      </p:sp>
      <p:sp>
        <p:nvSpPr>
          <p:cNvPr id="388" name="Google Shape;3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the assessment basis plainly. A rough print with a good orientation argument passes. A pretty print they cannot explain does not.\nNo credit for 0.1 without the print — repeat that.</a:t>
            </a:r>
            <a:endParaRPr/>
          </a:p>
        </p:txBody>
      </p:sp>
      <p:sp>
        <p:nvSpPr>
          <p:cNvPr id="495" name="Google Shape;4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Circulate. The two things to catch: non-manifold geometry, and models scaled wrong so print time is absurd.\nAnyone who cannot get a printable orientation should revise geometry today, not next week.</a:t>
            </a:r>
            <a:endParaRPr/>
          </a:p>
        </p:txBody>
      </p:sp>
      <p:sp>
        <p:nvSpPr>
          <p:cNvPr id="525" name="Google Shape;5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 is due next class — make sure nobody thinks the print buys them an extension on the sheet.\nModule 1 starts next week, so the pace picks up.</a:t>
            </a:r>
            <a:endParaRPr/>
          </a:p>
        </p:txBody>
      </p:sp>
      <p:sp>
        <p:nvSpPr>
          <p:cNvPr id="566" name="Google Shape;5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D8D"/>
        </a:solidFill>
      </p:bgPr>
    </p:bg>
    <p:spTree>
      <p:nvGrpSpPr>
        <p:cNvPr id="15" name="Shape 15"/>
        <p:cNvGrpSpPr/>
        <p:nvPr/>
      </p:nvGrpSpPr>
      <p:grpSpPr>
        <a:xfrm>
          <a:off x="0" y="0"/>
          <a:ext cx="0" cy="0"/>
          <a:chOff x="0" y="0"/>
          <a:chExt cx="0" cy="0"/>
        </a:xfrm>
      </p:grpSpPr>
      <p:sp>
        <p:nvSpPr>
          <p:cNvPr id="16" name="Google Shape;16;p1"/>
          <p:cNvSpPr/>
          <p:nvPr/>
        </p:nvSpPr>
        <p:spPr>
          <a:xfrm>
            <a:off x="594360" y="1051560"/>
            <a:ext cx="10972800" cy="256032"/>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94360" y="1481328"/>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CLASS 03  /  SEP 8</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662940" y="2125980"/>
            <a:ext cx="10149840" cy="18288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594360" y="2057400"/>
            <a:ext cx="10149840" cy="18288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005840" y="2395728"/>
            <a:ext cx="93268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800"/>
              <a:buFont typeface="Arial"/>
              <a:buNone/>
            </a:pPr>
            <a:r>
              <a:rPr b="1" i="0" lang="en-US" sz="4800" u="none" cap="none" strike="noStrike">
                <a:solidFill>
                  <a:srgbClr val="000000"/>
                </a:solidFill>
                <a:latin typeface="Arial"/>
                <a:ea typeface="Arial"/>
                <a:cs typeface="Arial"/>
                <a:sym typeface="Arial"/>
              </a:rPr>
              <a:t>3D PRINTING</a:t>
            </a:r>
            <a:endParaRPr b="0" i="0" sz="4800" u="none" cap="none" strike="noStrike">
              <a:solidFill>
                <a:schemeClr val="dk1"/>
              </a:solidFill>
              <a:latin typeface="Calibri"/>
              <a:ea typeface="Calibri"/>
              <a:cs typeface="Calibri"/>
              <a:sym typeface="Calibri"/>
            </a:endParaRPr>
          </a:p>
        </p:txBody>
      </p:sp>
      <p:sp>
        <p:nvSpPr>
          <p:cNvPr id="21" name="Google Shape;21;p1"/>
          <p:cNvSpPr/>
          <p:nvPr/>
        </p:nvSpPr>
        <p:spPr>
          <a:xfrm>
            <a:off x="662940" y="4229100"/>
            <a:ext cx="8778240"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594360" y="4160520"/>
            <a:ext cx="8778240" cy="566928"/>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868680" y="4279392"/>
            <a:ext cx="8412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GEOMETRY THAT SURVIVES CONTACT WITH A MACHINE</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594360" y="5870448"/>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MOSTLY A WORKING SESSION  /  BRING YOUR MODEL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29" name="Shape 29"/>
        <p:cNvGrpSpPr/>
        <p:nvPr/>
      </p:nvGrpSpPr>
      <p:grpSpPr>
        <a:xfrm>
          <a:off x="0" y="0"/>
          <a:ext cx="0" cy="0"/>
          <a:chOff x="0" y="0"/>
          <a:chExt cx="0" cy="0"/>
        </a:xfrm>
      </p:grpSpPr>
      <p:cxnSp>
        <p:nvCxnSpPr>
          <p:cNvPr id="30" name="Google Shape;30;p2"/>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1" name="Google Shape;31;p2"/>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WHAT THE MACHINE DOES</a:t>
            </a:r>
            <a:endParaRPr b="0" i="0" sz="3300" u="none" cap="none" strike="noStrike">
              <a:solidFill>
                <a:schemeClr val="dk1"/>
              </a:solidFill>
              <a:latin typeface="Calibri"/>
              <a:ea typeface="Calibri"/>
              <a:cs typeface="Calibri"/>
              <a:sym typeface="Calibri"/>
            </a:endParaRPr>
          </a:p>
        </p:txBody>
      </p:sp>
      <p:sp>
        <p:nvSpPr>
          <p:cNvPr id="32" name="Google Shape;32;p2"/>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One thing, repeatedly. Everything else follows from this.</a:t>
            </a:r>
            <a:endParaRPr b="0" i="0" sz="1350" u="none" cap="none" strike="noStrike">
              <a:solidFill>
                <a:schemeClr val="dk1"/>
              </a:solidFill>
              <a:latin typeface="Calibri"/>
              <a:ea typeface="Calibri"/>
              <a:cs typeface="Calibri"/>
              <a:sym typeface="Calibri"/>
            </a:endParaRPr>
          </a:p>
        </p:txBody>
      </p:sp>
      <p:sp>
        <p:nvSpPr>
          <p:cNvPr id="33" name="Google Shape;33;p2"/>
          <p:cNvSpPr/>
          <p:nvPr/>
        </p:nvSpPr>
        <p:spPr>
          <a:xfrm>
            <a:off x="662940" y="1851660"/>
            <a:ext cx="4206240" cy="36576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94360" y="1783080"/>
            <a:ext cx="4206240" cy="36576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868680" y="1965960"/>
            <a:ext cx="36576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A NOZZLE DRAWS ONE FLAT LAYER,</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THE BED DROPS, IT DRAWS THE NEXT.</a:t>
            </a:r>
            <a:endParaRPr b="0" i="0" sz="1200" u="none" cap="none" strike="noStrike">
              <a:solidFill>
                <a:schemeClr val="dk1"/>
              </a:solidFill>
              <a:latin typeface="Calibri"/>
              <a:ea typeface="Calibri"/>
              <a:cs typeface="Calibri"/>
              <a:sym typeface="Calibri"/>
            </a:endParaRPr>
          </a:p>
        </p:txBody>
      </p:sp>
      <p:sp>
        <p:nvSpPr>
          <p:cNvPr id="36" name="Google Shape;36;p2"/>
          <p:cNvSpPr/>
          <p:nvPr/>
        </p:nvSpPr>
        <p:spPr>
          <a:xfrm>
            <a:off x="1645920" y="4690872"/>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645920" y="4489704"/>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645920" y="4288536"/>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645920" y="4087368"/>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645920" y="3886200"/>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645920" y="3685032"/>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645920" y="3483864"/>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645920" y="3282696"/>
            <a:ext cx="1737360" cy="201168"/>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645920" y="3081528"/>
            <a:ext cx="1737360" cy="201168"/>
          </a:xfrm>
          <a:prstGeom prst="rect">
            <a:avLst/>
          </a:prstGeom>
          <a:solidFill>
            <a:srgbClr val="00D9E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2377440" y="2788920"/>
            <a:ext cx="274320" cy="256032"/>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2788920" y="2788920"/>
            <a:ext cx="1097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b="0" i="1" lang="en-US" sz="1000" u="none" cap="none" strike="noStrike">
                <a:solidFill>
                  <a:srgbClr val="6B6B6B"/>
                </a:solidFill>
                <a:latin typeface="Calibri"/>
                <a:ea typeface="Calibri"/>
                <a:cs typeface="Calibri"/>
                <a:sym typeface="Calibri"/>
              </a:rPr>
              <a:t>nozzle</a:t>
            </a:r>
            <a:endParaRPr b="0" i="0" sz="1000" u="none" cap="none" strike="noStrike">
              <a:solidFill>
                <a:schemeClr val="dk1"/>
              </a:solidFill>
              <a:latin typeface="Calibri"/>
              <a:ea typeface="Calibri"/>
              <a:cs typeface="Calibri"/>
              <a:sym typeface="Calibri"/>
            </a:endParaRPr>
          </a:p>
        </p:txBody>
      </p:sp>
      <p:sp>
        <p:nvSpPr>
          <p:cNvPr id="47" name="Google Shape;47;p2"/>
          <p:cNvSpPr/>
          <p:nvPr/>
        </p:nvSpPr>
        <p:spPr>
          <a:xfrm>
            <a:off x="1371600" y="4892040"/>
            <a:ext cx="2286000" cy="109728"/>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749040" y="4846320"/>
            <a:ext cx="731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b="0" i="1" lang="en-US" sz="1000" u="none" cap="none" strike="noStrike">
                <a:solidFill>
                  <a:srgbClr val="6B6B6B"/>
                </a:solidFill>
                <a:latin typeface="Calibri"/>
                <a:ea typeface="Calibri"/>
                <a:cs typeface="Calibri"/>
                <a:sym typeface="Calibri"/>
              </a:rPr>
              <a:t>bed</a:t>
            </a:r>
            <a:endParaRPr b="0" i="0" sz="1000" u="none" cap="none" strike="noStrike">
              <a:solidFill>
                <a:schemeClr val="dk1"/>
              </a:solidFill>
              <a:latin typeface="Calibri"/>
              <a:ea typeface="Calibri"/>
              <a:cs typeface="Calibri"/>
              <a:sym typeface="Calibri"/>
            </a:endParaRPr>
          </a:p>
        </p:txBody>
      </p:sp>
      <p:sp>
        <p:nvSpPr>
          <p:cNvPr id="49" name="Google Shape;49;p2"/>
          <p:cNvSpPr/>
          <p:nvPr/>
        </p:nvSpPr>
        <p:spPr>
          <a:xfrm>
            <a:off x="5280660" y="1851660"/>
            <a:ext cx="6355080" cy="107899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212080" y="1783080"/>
            <a:ext cx="6355080" cy="1078992"/>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532120" y="1947672"/>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IT BUILDS UPWARD, NEVER SIDEWAYS</a:t>
            </a:r>
            <a:endParaRPr b="0" i="0" sz="1300" u="none" cap="none" strike="noStrike">
              <a:solidFill>
                <a:schemeClr val="dk1"/>
              </a:solidFill>
              <a:latin typeface="Calibri"/>
              <a:ea typeface="Calibri"/>
              <a:cs typeface="Calibri"/>
              <a:sym typeface="Calibri"/>
            </a:endParaRPr>
          </a:p>
        </p:txBody>
      </p:sp>
      <p:sp>
        <p:nvSpPr>
          <p:cNvPr id="52" name="Google Shape;52;p2"/>
          <p:cNvSpPr/>
          <p:nvPr/>
        </p:nvSpPr>
        <p:spPr>
          <a:xfrm>
            <a:off x="5532120" y="2295144"/>
            <a:ext cx="5943600"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Material can only be placed on material that is already there.</a:t>
            </a:r>
            <a:endParaRPr b="0" i="0" sz="1250" u="none" cap="none" strike="noStrike">
              <a:solidFill>
                <a:schemeClr val="dk1"/>
              </a:solidFill>
              <a:latin typeface="Calibri"/>
              <a:ea typeface="Calibri"/>
              <a:cs typeface="Calibri"/>
              <a:sym typeface="Calibri"/>
            </a:endParaRPr>
          </a:p>
        </p:txBody>
      </p:sp>
      <p:sp>
        <p:nvSpPr>
          <p:cNvPr id="53" name="Google Shape;53;p2"/>
          <p:cNvSpPr/>
          <p:nvPr/>
        </p:nvSpPr>
        <p:spPr>
          <a:xfrm>
            <a:off x="5280660" y="3113532"/>
            <a:ext cx="6355080" cy="107899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212080" y="3044952"/>
            <a:ext cx="6355080" cy="107899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532120" y="3209544"/>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LAYERS ARE THE WEAK DIRECTION</a:t>
            </a:r>
            <a:endParaRPr b="0" i="0" sz="1300" u="none" cap="none" strike="noStrike">
              <a:solidFill>
                <a:schemeClr val="dk1"/>
              </a:solidFill>
              <a:latin typeface="Calibri"/>
              <a:ea typeface="Calibri"/>
              <a:cs typeface="Calibri"/>
              <a:sym typeface="Calibri"/>
            </a:endParaRPr>
          </a:p>
        </p:txBody>
      </p:sp>
      <p:sp>
        <p:nvSpPr>
          <p:cNvPr id="56" name="Google Shape;56;p2"/>
          <p:cNvSpPr/>
          <p:nvPr/>
        </p:nvSpPr>
        <p:spPr>
          <a:xfrm>
            <a:off x="5532120" y="3557016"/>
            <a:ext cx="5943600"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A print snaps between layers long before it snaps across one.</a:t>
            </a:r>
            <a:endParaRPr b="0" i="0" sz="1250" u="none" cap="none" strike="noStrike">
              <a:solidFill>
                <a:schemeClr val="dk1"/>
              </a:solidFill>
              <a:latin typeface="Calibri"/>
              <a:ea typeface="Calibri"/>
              <a:cs typeface="Calibri"/>
              <a:sym typeface="Calibri"/>
            </a:endParaRPr>
          </a:p>
        </p:txBody>
      </p:sp>
      <p:sp>
        <p:nvSpPr>
          <p:cNvPr id="57" name="Google Shape;57;p2"/>
          <p:cNvSpPr/>
          <p:nvPr/>
        </p:nvSpPr>
        <p:spPr>
          <a:xfrm>
            <a:off x="5280660" y="4375404"/>
            <a:ext cx="6355080" cy="1078992"/>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212080" y="4306824"/>
            <a:ext cx="6355080" cy="1078992"/>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532120" y="4471416"/>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EVERY DECISION IS A TIME COST</a:t>
            </a:r>
            <a:endParaRPr b="0" i="0" sz="1300" u="none" cap="none" strike="noStrike">
              <a:solidFill>
                <a:schemeClr val="dk1"/>
              </a:solidFill>
              <a:latin typeface="Calibri"/>
              <a:ea typeface="Calibri"/>
              <a:cs typeface="Calibri"/>
              <a:sym typeface="Calibri"/>
            </a:endParaRPr>
          </a:p>
        </p:txBody>
      </p:sp>
      <p:sp>
        <p:nvSpPr>
          <p:cNvPr id="60" name="Google Shape;60;p2"/>
          <p:cNvSpPr/>
          <p:nvPr/>
        </p:nvSpPr>
        <p:spPr>
          <a:xfrm>
            <a:off x="5532120" y="4818888"/>
            <a:ext cx="5943600"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Finer layers, more material, more supports — all of it is hours on a shared machine.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5" name="Shape 65"/>
        <p:cNvGrpSpPr/>
        <p:nvPr/>
      </p:nvGrpSpPr>
      <p:grpSpPr>
        <a:xfrm>
          <a:off x="0" y="0"/>
          <a:ext cx="0" cy="0"/>
          <a:chOff x="0" y="0"/>
          <a:chExt cx="0" cy="0"/>
        </a:xfrm>
      </p:grpSpPr>
      <p:cxnSp>
        <p:nvCxnSpPr>
          <p:cNvPr id="66" name="Google Shape;66;p3"/>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67" name="Google Shape;67;p3"/>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MANIFOLD OR IT DOES NOT PRINT</a:t>
            </a:r>
            <a:endParaRPr b="0" i="0" sz="3300" u="none" cap="none" strike="noStrike">
              <a:solidFill>
                <a:schemeClr val="dk1"/>
              </a:solidFill>
              <a:latin typeface="Calibri"/>
              <a:ea typeface="Calibri"/>
              <a:cs typeface="Calibri"/>
              <a:sym typeface="Calibri"/>
            </a:endParaRPr>
          </a:p>
        </p:txBody>
      </p:sp>
      <p:sp>
        <p:nvSpPr>
          <p:cNvPr id="68" name="Google Shape;68;p3"/>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A model can look perfect on screen and be meaningless to a slicer.</a:t>
            </a:r>
            <a:endParaRPr b="0" i="0" sz="1350" u="none" cap="none" strike="noStrike">
              <a:solidFill>
                <a:schemeClr val="dk1"/>
              </a:solidFill>
              <a:latin typeface="Calibri"/>
              <a:ea typeface="Calibri"/>
              <a:cs typeface="Calibri"/>
              <a:sym typeface="Calibri"/>
            </a:endParaRPr>
          </a:p>
        </p:txBody>
      </p:sp>
      <p:sp>
        <p:nvSpPr>
          <p:cNvPr id="69" name="Google Shape;69;p3"/>
          <p:cNvSpPr/>
          <p:nvPr/>
        </p:nvSpPr>
        <p:spPr>
          <a:xfrm>
            <a:off x="457200" y="1851660"/>
            <a:ext cx="3429000" cy="3200400"/>
          </a:xfrm>
          <a:prstGeom prst="rect">
            <a:avLst/>
          </a:prstGeom>
          <a:solidFill>
            <a:srgbClr val="C6F035"/>
          </a:solidFill>
          <a:ln cap="flat" cmpd="sng" w="9525">
            <a:solidFill>
              <a:srgbClr val="C6F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88620" y="1783080"/>
            <a:ext cx="3429000" cy="3200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388620" y="1783080"/>
            <a:ext cx="3429000" cy="53035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644652" y="189280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WATERTIGHT</a:t>
            </a:r>
            <a:endParaRPr b="0" i="0" sz="1250" u="none" cap="none" strike="noStrike">
              <a:solidFill>
                <a:schemeClr val="dk1"/>
              </a:solidFill>
              <a:latin typeface="Calibri"/>
              <a:ea typeface="Calibri"/>
              <a:cs typeface="Calibri"/>
              <a:sym typeface="Calibri"/>
            </a:endParaRPr>
          </a:p>
        </p:txBody>
      </p:sp>
      <p:sp>
        <p:nvSpPr>
          <p:cNvPr id="73" name="Google Shape;73;p3"/>
          <p:cNvSpPr/>
          <p:nvPr/>
        </p:nvSpPr>
        <p:spPr>
          <a:xfrm>
            <a:off x="644652" y="2496312"/>
            <a:ext cx="2916936" cy="118872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536192" y="2706624"/>
            <a:ext cx="1133856" cy="768096"/>
          </a:xfrm>
          <a:prstGeom prst="rect">
            <a:avLst/>
          </a:prstGeom>
          <a:solidFill>
            <a:srgbClr val="C6F03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44652" y="3831336"/>
            <a:ext cx="2916936"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 gaps. Every edge is shared by exactly two faces. If water could leak out, it is not a solid.</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4434840" y="1851660"/>
            <a:ext cx="3429000" cy="320040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4366260" y="1783080"/>
            <a:ext cx="3429000" cy="3200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4366260" y="1783080"/>
            <a:ext cx="3429000" cy="530352"/>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4622292" y="189280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NO SELF-INTERSECTION</a:t>
            </a:r>
            <a:endParaRPr b="0" i="0" sz="1250" u="none" cap="none" strike="noStrike">
              <a:solidFill>
                <a:schemeClr val="dk1"/>
              </a:solidFill>
              <a:latin typeface="Calibri"/>
              <a:ea typeface="Calibri"/>
              <a:cs typeface="Calibri"/>
              <a:sym typeface="Calibri"/>
            </a:endParaRPr>
          </a:p>
        </p:txBody>
      </p:sp>
      <p:sp>
        <p:nvSpPr>
          <p:cNvPr id="80" name="Google Shape;80;p3"/>
          <p:cNvSpPr/>
          <p:nvPr/>
        </p:nvSpPr>
        <p:spPr>
          <a:xfrm>
            <a:off x="4622292" y="2496312"/>
            <a:ext cx="2916936" cy="118872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367528" y="2761488"/>
            <a:ext cx="868680" cy="658368"/>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5916168" y="2962656"/>
            <a:ext cx="868680" cy="658368"/>
          </a:xfrm>
          <a:prstGeom prst="rect">
            <a:avLst/>
          </a:prstGeom>
          <a:solidFill>
            <a:srgbClr val="FF4D8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4622292" y="3831336"/>
            <a:ext cx="2916936"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 shape that passes through itself has no unambiguous inside. The slicer cannot decide what to fill.</a:t>
            </a:r>
            <a:endParaRPr b="0" i="0" sz="1200" u="none" cap="none" strike="noStrike">
              <a:solidFill>
                <a:schemeClr val="dk1"/>
              </a:solidFill>
              <a:latin typeface="Calibri"/>
              <a:ea typeface="Calibri"/>
              <a:cs typeface="Calibri"/>
              <a:sym typeface="Calibri"/>
            </a:endParaRPr>
          </a:p>
        </p:txBody>
      </p:sp>
      <p:sp>
        <p:nvSpPr>
          <p:cNvPr id="84" name="Google Shape;84;p3"/>
          <p:cNvSpPr/>
          <p:nvPr/>
        </p:nvSpPr>
        <p:spPr>
          <a:xfrm>
            <a:off x="8412480" y="1851660"/>
            <a:ext cx="3429000" cy="3200400"/>
          </a:xfrm>
          <a:prstGeom prst="rect">
            <a:avLst/>
          </a:prstGeom>
          <a:solidFill>
            <a:srgbClr val="00D9E1"/>
          </a:solidFill>
          <a:ln cap="flat" cmpd="sng" w="9525">
            <a:solidFill>
              <a:srgbClr val="00D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343900" y="1783080"/>
            <a:ext cx="3429000" cy="3200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8343900" y="1783080"/>
            <a:ext cx="3429000" cy="530352"/>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8599932" y="189280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NORMALS OUTWARD</a:t>
            </a:r>
            <a:endParaRPr b="0" i="0" sz="1250" u="none" cap="none" strike="noStrike">
              <a:solidFill>
                <a:schemeClr val="dk1"/>
              </a:solidFill>
              <a:latin typeface="Calibri"/>
              <a:ea typeface="Calibri"/>
              <a:cs typeface="Calibri"/>
              <a:sym typeface="Calibri"/>
            </a:endParaRPr>
          </a:p>
        </p:txBody>
      </p:sp>
      <p:sp>
        <p:nvSpPr>
          <p:cNvPr id="88" name="Google Shape;88;p3"/>
          <p:cNvSpPr/>
          <p:nvPr/>
        </p:nvSpPr>
        <p:spPr>
          <a:xfrm>
            <a:off x="8599932" y="2496312"/>
            <a:ext cx="2916936" cy="118872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9491472" y="2706624"/>
            <a:ext cx="1133856" cy="768096"/>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rot="5400000">
            <a:off x="10680192" y="2907792"/>
            <a:ext cx="310896" cy="365760"/>
          </a:xfrm>
          <a:prstGeom prst="triangle">
            <a:avLst>
              <a:gd fmla="val 50000" name="adj"/>
            </a:avLst>
          </a:prstGeom>
          <a:solidFill>
            <a:srgbClr val="00D9E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rot="-5400000">
            <a:off x="10206565" y="2889524"/>
            <a:ext cx="310800" cy="365700"/>
          </a:xfrm>
          <a:prstGeom prst="triangle">
            <a:avLst>
              <a:gd fmla="val 50000" name="adj"/>
            </a:avLst>
          </a:prstGeom>
          <a:solidFill>
            <a:srgbClr val="FF4D8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599932" y="3831336"/>
            <a:ext cx="2916936"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Every face has a front and a back. A flipped face tells the slicer that outside is inside.</a:t>
            </a:r>
            <a:endParaRPr b="0" i="0" sz="1200" u="none" cap="none" strike="noStrike">
              <a:solidFill>
                <a:schemeClr val="dk1"/>
              </a:solidFill>
              <a:latin typeface="Calibri"/>
              <a:ea typeface="Calibri"/>
              <a:cs typeface="Calibri"/>
              <a:sym typeface="Calibri"/>
            </a:endParaRPr>
          </a:p>
        </p:txBody>
      </p:sp>
      <p:sp>
        <p:nvSpPr>
          <p:cNvPr id="93" name="Google Shape;93;p3"/>
          <p:cNvSpPr/>
          <p:nvPr/>
        </p:nvSpPr>
        <p:spPr>
          <a:xfrm>
            <a:off x="662940" y="5280660"/>
            <a:ext cx="10972800" cy="73152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94360" y="5212080"/>
            <a:ext cx="10972800" cy="73152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914400" y="5394960"/>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CHECK BEFORE YOU SLICE. A BOOLEAN THAT LEFT AN OPEN EDGE IS THE MOST COMMON CAUSE OF A FAILED FILE.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100" name="Shape 100"/>
        <p:cNvGrpSpPr/>
        <p:nvPr/>
      </p:nvGrpSpPr>
      <p:grpSpPr>
        <a:xfrm>
          <a:off x="0" y="0"/>
          <a:ext cx="0" cy="0"/>
          <a:chOff x="0" y="0"/>
          <a:chExt cx="0" cy="0"/>
        </a:xfrm>
      </p:grpSpPr>
      <p:cxnSp>
        <p:nvCxnSpPr>
          <p:cNvPr id="101" name="Google Shape;101;p4"/>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102" name="Google Shape;102;p4"/>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OVERHANGS</a:t>
            </a:r>
            <a:endParaRPr b="0" i="0" sz="3300" u="none" cap="none" strike="noStrike">
              <a:solidFill>
                <a:schemeClr val="dk1"/>
              </a:solidFill>
              <a:latin typeface="Calibri"/>
              <a:ea typeface="Calibri"/>
              <a:cs typeface="Calibri"/>
              <a:sym typeface="Calibri"/>
            </a:endParaRPr>
          </a:p>
        </p:txBody>
      </p:sp>
      <p:sp>
        <p:nvSpPr>
          <p:cNvPr id="103" name="Google Shape;103;p4"/>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Each layer needs something under it. How much is the whole question.</a:t>
            </a:r>
            <a:endParaRPr b="0" i="0" sz="1350" u="none" cap="none" strike="noStrike">
              <a:solidFill>
                <a:schemeClr val="dk1"/>
              </a:solidFill>
              <a:latin typeface="Calibri"/>
              <a:ea typeface="Calibri"/>
              <a:cs typeface="Calibri"/>
              <a:sym typeface="Calibri"/>
            </a:endParaRPr>
          </a:p>
        </p:txBody>
      </p:sp>
      <p:sp>
        <p:nvSpPr>
          <p:cNvPr id="104" name="Google Shape;104;p4"/>
          <p:cNvSpPr/>
          <p:nvPr/>
        </p:nvSpPr>
        <p:spPr>
          <a:xfrm>
            <a:off x="457200" y="1805940"/>
            <a:ext cx="3429000" cy="32461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388620" y="1737360"/>
            <a:ext cx="3429000" cy="32461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388620" y="1737360"/>
            <a:ext cx="3429000" cy="50292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644652" y="1828800"/>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VERTICAL</a:t>
            </a:r>
            <a:endParaRPr b="0" i="0" sz="1300" u="none" cap="none" strike="noStrike">
              <a:solidFill>
                <a:schemeClr val="dk1"/>
              </a:solidFill>
              <a:latin typeface="Calibri"/>
              <a:ea typeface="Calibri"/>
              <a:cs typeface="Calibri"/>
              <a:sym typeface="Calibri"/>
            </a:endParaRPr>
          </a:p>
        </p:txBody>
      </p:sp>
      <p:sp>
        <p:nvSpPr>
          <p:cNvPr id="108" name="Google Shape;108;p4"/>
          <p:cNvSpPr/>
          <p:nvPr/>
        </p:nvSpPr>
        <p:spPr>
          <a:xfrm>
            <a:off x="644652" y="2395728"/>
            <a:ext cx="2916936" cy="169164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736092" y="3995928"/>
            <a:ext cx="2734056" cy="82296"/>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147572" y="3822192"/>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1147572" y="3648456"/>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1147572" y="3474720"/>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147572" y="3300984"/>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147572" y="3127248"/>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147572" y="2953512"/>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147572" y="2779776"/>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147572" y="2606040"/>
            <a:ext cx="777240" cy="173736"/>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44652" y="4224528"/>
            <a:ext cx="2916936"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Every layer sits fully on the one below. Perfect.</a:t>
            </a:r>
            <a:endParaRPr b="0" i="0" sz="1200" u="none" cap="none" strike="noStrike">
              <a:solidFill>
                <a:schemeClr val="dk1"/>
              </a:solidFill>
              <a:latin typeface="Calibri"/>
              <a:ea typeface="Calibri"/>
              <a:cs typeface="Calibri"/>
              <a:sym typeface="Calibri"/>
            </a:endParaRPr>
          </a:p>
        </p:txBody>
      </p:sp>
      <p:sp>
        <p:nvSpPr>
          <p:cNvPr id="119" name="Google Shape;119;p4"/>
          <p:cNvSpPr/>
          <p:nvPr/>
        </p:nvSpPr>
        <p:spPr>
          <a:xfrm>
            <a:off x="4434840" y="1805940"/>
            <a:ext cx="3429000" cy="32461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366260" y="1737360"/>
            <a:ext cx="3429000" cy="32461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366260" y="1737360"/>
            <a:ext cx="3429000" cy="50292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4622292" y="1828800"/>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45°</a:t>
            </a:r>
            <a:endParaRPr b="0" i="0" sz="1300" u="none" cap="none" strike="noStrike">
              <a:solidFill>
                <a:schemeClr val="dk1"/>
              </a:solidFill>
              <a:latin typeface="Calibri"/>
              <a:ea typeface="Calibri"/>
              <a:cs typeface="Calibri"/>
              <a:sym typeface="Calibri"/>
            </a:endParaRPr>
          </a:p>
        </p:txBody>
      </p:sp>
      <p:sp>
        <p:nvSpPr>
          <p:cNvPr id="123" name="Google Shape;123;p4"/>
          <p:cNvSpPr/>
          <p:nvPr/>
        </p:nvSpPr>
        <p:spPr>
          <a:xfrm>
            <a:off x="4622292" y="2395728"/>
            <a:ext cx="2916936" cy="169164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4713732" y="3995928"/>
            <a:ext cx="2734056" cy="82296"/>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5125212" y="3822192"/>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5207508" y="3648456"/>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289804" y="3474720"/>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5372100" y="3300984"/>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5454396" y="3127248"/>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5536692" y="2953512"/>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5618988" y="2779776"/>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5701284" y="2606040"/>
            <a:ext cx="777240" cy="173736"/>
          </a:xfrm>
          <a:prstGeom prst="rect">
            <a:avLst/>
          </a:prstGeom>
          <a:solidFill>
            <a:srgbClr val="FFE500"/>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4622292" y="4224528"/>
            <a:ext cx="2916936"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Half of each layer is supported. This is about the limit.</a:t>
            </a:r>
            <a:endParaRPr b="0" i="0" sz="1200" u="none" cap="none" strike="noStrike">
              <a:solidFill>
                <a:schemeClr val="dk1"/>
              </a:solidFill>
              <a:latin typeface="Calibri"/>
              <a:ea typeface="Calibri"/>
              <a:cs typeface="Calibri"/>
              <a:sym typeface="Calibri"/>
            </a:endParaRPr>
          </a:p>
        </p:txBody>
      </p:sp>
      <p:sp>
        <p:nvSpPr>
          <p:cNvPr id="134" name="Google Shape;134;p4"/>
          <p:cNvSpPr/>
          <p:nvPr/>
        </p:nvSpPr>
        <p:spPr>
          <a:xfrm>
            <a:off x="8412480" y="1805940"/>
            <a:ext cx="3429000" cy="32461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8343900" y="1737360"/>
            <a:ext cx="3429000" cy="32461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8343900" y="1737360"/>
            <a:ext cx="3429000" cy="50292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8599932" y="1828800"/>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STEEP</a:t>
            </a:r>
            <a:endParaRPr b="0" i="0" sz="1300" u="none" cap="none" strike="noStrike">
              <a:solidFill>
                <a:schemeClr val="dk1"/>
              </a:solidFill>
              <a:latin typeface="Calibri"/>
              <a:ea typeface="Calibri"/>
              <a:cs typeface="Calibri"/>
              <a:sym typeface="Calibri"/>
            </a:endParaRPr>
          </a:p>
        </p:txBody>
      </p:sp>
      <p:sp>
        <p:nvSpPr>
          <p:cNvPr id="138" name="Google Shape;138;p4"/>
          <p:cNvSpPr/>
          <p:nvPr/>
        </p:nvSpPr>
        <p:spPr>
          <a:xfrm>
            <a:off x="8599932" y="2395728"/>
            <a:ext cx="2916936" cy="169164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691372" y="3995928"/>
            <a:ext cx="2734056" cy="82296"/>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9102852" y="3822192"/>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9276588" y="3648456"/>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9450324" y="3474720"/>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9624060" y="3300984"/>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9797796" y="3127248"/>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9971532" y="2953512"/>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10145268" y="2779776"/>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10319004" y="2606040"/>
            <a:ext cx="777240" cy="173736"/>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8599932" y="4224528"/>
            <a:ext cx="2916936" cy="64008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Most of the layer hangs in air. It will droop or fail.</a:t>
            </a:r>
            <a:endParaRPr b="0" i="0" sz="1200" u="none" cap="none" strike="noStrike">
              <a:solidFill>
                <a:schemeClr val="dk1"/>
              </a:solidFill>
              <a:latin typeface="Calibri"/>
              <a:ea typeface="Calibri"/>
              <a:cs typeface="Calibri"/>
              <a:sym typeface="Calibri"/>
            </a:endParaRPr>
          </a:p>
        </p:txBody>
      </p:sp>
      <p:sp>
        <p:nvSpPr>
          <p:cNvPr id="149" name="Google Shape;149;p4"/>
          <p:cNvSpPr/>
          <p:nvPr/>
        </p:nvSpPr>
        <p:spPr>
          <a:xfrm>
            <a:off x="662940" y="5326380"/>
            <a:ext cx="1097280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594360" y="5257800"/>
            <a:ext cx="10972800" cy="73152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914400" y="5440680"/>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THE 45° RULE: BEYOND ABOUT 45° FROM VERTICAL, A SURFACE NEEDS SUPPORT — OR A DIFFERENT ORIENTATION.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6" name="Shape 156"/>
        <p:cNvGrpSpPr/>
        <p:nvPr/>
      </p:nvGrpSpPr>
      <p:grpSpPr>
        <a:xfrm>
          <a:off x="0" y="0"/>
          <a:ext cx="0" cy="0"/>
          <a:chOff x="0" y="0"/>
          <a:chExt cx="0" cy="0"/>
        </a:xfrm>
      </p:grpSpPr>
      <p:cxnSp>
        <p:nvCxnSpPr>
          <p:cNvPr id="157" name="Google Shape;157;p5"/>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158" name="Google Shape;158;p5"/>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THE LETTER TEST</a:t>
            </a:r>
            <a:endParaRPr b="0" i="0" sz="3300" u="none" cap="none" strike="noStrike">
              <a:solidFill>
                <a:schemeClr val="dk1"/>
              </a:solidFill>
              <a:latin typeface="Calibri"/>
              <a:ea typeface="Calibri"/>
              <a:cs typeface="Calibri"/>
              <a:sym typeface="Calibri"/>
            </a:endParaRPr>
          </a:p>
        </p:txBody>
      </p:sp>
      <p:sp>
        <p:nvSpPr>
          <p:cNvPr id="159" name="Google Shape;159;p5"/>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Four letters, four printing conditions. Find yours in your own model.</a:t>
            </a:r>
            <a:endParaRPr b="0" i="0" sz="1350" u="none" cap="none" strike="noStrike">
              <a:solidFill>
                <a:schemeClr val="dk1"/>
              </a:solidFill>
              <a:latin typeface="Calibri"/>
              <a:ea typeface="Calibri"/>
              <a:cs typeface="Calibri"/>
              <a:sym typeface="Calibri"/>
            </a:endParaRPr>
          </a:p>
        </p:txBody>
      </p:sp>
      <p:sp>
        <p:nvSpPr>
          <p:cNvPr id="160" name="Google Shape;160;p5"/>
          <p:cNvSpPr/>
          <p:nvPr/>
        </p:nvSpPr>
        <p:spPr>
          <a:xfrm>
            <a:off x="178308" y="1851660"/>
            <a:ext cx="2697480" cy="3703320"/>
          </a:xfrm>
          <a:prstGeom prst="rect">
            <a:avLst/>
          </a:prstGeom>
          <a:solidFill>
            <a:srgbClr val="C6F035"/>
          </a:solidFill>
          <a:ln cap="flat" cmpd="sng" w="9525">
            <a:solidFill>
              <a:srgbClr val="C6F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109728"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310896"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420624"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310896"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H</a:t>
            </a:r>
            <a:endParaRPr b="0" i="0" sz="7600" u="none" cap="none" strike="noStrike">
              <a:solidFill>
                <a:schemeClr val="dk1"/>
              </a:solidFill>
              <a:latin typeface="Calibri"/>
              <a:ea typeface="Calibri"/>
              <a:cs typeface="Calibri"/>
              <a:sym typeface="Calibri"/>
            </a:endParaRPr>
          </a:p>
        </p:txBody>
      </p:sp>
      <p:sp>
        <p:nvSpPr>
          <p:cNvPr id="165" name="Google Shape;165;p5"/>
          <p:cNvSpPr/>
          <p:nvPr/>
        </p:nvSpPr>
        <p:spPr>
          <a:xfrm>
            <a:off x="310896" y="3721608"/>
            <a:ext cx="2295144" cy="438912"/>
          </a:xfrm>
          <a:prstGeom prst="rect">
            <a:avLst/>
          </a:prstGeom>
          <a:solidFill>
            <a:srgbClr val="C6F03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310896"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PRINTS FINE</a:t>
            </a:r>
            <a:endParaRPr b="0" i="0" sz="1050" u="none" cap="none" strike="noStrike">
              <a:solidFill>
                <a:schemeClr val="dk1"/>
              </a:solidFill>
              <a:latin typeface="Calibri"/>
              <a:ea typeface="Calibri"/>
              <a:cs typeface="Calibri"/>
              <a:sym typeface="Calibri"/>
            </a:endParaRPr>
          </a:p>
        </p:txBody>
      </p:sp>
      <p:sp>
        <p:nvSpPr>
          <p:cNvPr id="167" name="Google Shape;167;p5"/>
          <p:cNvSpPr/>
          <p:nvPr/>
        </p:nvSpPr>
        <p:spPr>
          <a:xfrm>
            <a:off x="310896"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BRIDGE</a:t>
            </a:r>
            <a:endParaRPr b="0" i="0" sz="1300" u="none" cap="none" strike="noStrike">
              <a:solidFill>
                <a:schemeClr val="dk1"/>
              </a:solidFill>
              <a:latin typeface="Calibri"/>
              <a:ea typeface="Calibri"/>
              <a:cs typeface="Calibri"/>
              <a:sym typeface="Calibri"/>
            </a:endParaRPr>
          </a:p>
        </p:txBody>
      </p:sp>
      <p:sp>
        <p:nvSpPr>
          <p:cNvPr id="168" name="Google Shape;168;p5"/>
          <p:cNvSpPr/>
          <p:nvPr/>
        </p:nvSpPr>
        <p:spPr>
          <a:xfrm>
            <a:off x="310896"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The crossbar spans between two legs that are already there. Anchored at both ends, so it can stretch across.</a:t>
            </a:r>
            <a:endParaRPr b="0" i="0" sz="1150" u="none" cap="none" strike="noStrike">
              <a:solidFill>
                <a:schemeClr val="dk1"/>
              </a:solidFill>
              <a:latin typeface="Calibri"/>
              <a:ea typeface="Calibri"/>
              <a:cs typeface="Calibri"/>
              <a:sym typeface="Calibri"/>
            </a:endParaRPr>
          </a:p>
        </p:txBody>
      </p:sp>
      <p:sp>
        <p:nvSpPr>
          <p:cNvPr id="169" name="Google Shape;169;p5"/>
          <p:cNvSpPr/>
          <p:nvPr/>
        </p:nvSpPr>
        <p:spPr>
          <a:xfrm>
            <a:off x="3259836" y="1851660"/>
            <a:ext cx="2697480" cy="3703320"/>
          </a:xfrm>
          <a:prstGeom prst="rect">
            <a:avLst/>
          </a:prstGeom>
          <a:solidFill>
            <a:srgbClr val="FFE500"/>
          </a:solidFill>
          <a:ln cap="flat" cmpd="sng" w="9525">
            <a:solidFill>
              <a:srgbClr val="FFE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3191256"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3392424"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3502152"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3392424"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V</a:t>
            </a:r>
            <a:endParaRPr b="0" i="0" sz="7600" u="none" cap="none" strike="noStrike">
              <a:solidFill>
                <a:schemeClr val="dk1"/>
              </a:solidFill>
              <a:latin typeface="Calibri"/>
              <a:ea typeface="Calibri"/>
              <a:cs typeface="Calibri"/>
              <a:sym typeface="Calibri"/>
            </a:endParaRPr>
          </a:p>
        </p:txBody>
      </p:sp>
      <p:sp>
        <p:nvSpPr>
          <p:cNvPr id="174" name="Google Shape;174;p5"/>
          <p:cNvSpPr/>
          <p:nvPr/>
        </p:nvSpPr>
        <p:spPr>
          <a:xfrm>
            <a:off x="3392424" y="3721608"/>
            <a:ext cx="2295144" cy="438912"/>
          </a:xfrm>
          <a:prstGeom prst="rect">
            <a:avLst/>
          </a:prstGeom>
          <a:solidFill>
            <a:srgbClr val="FFE5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3392424"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FINE TO 45°</a:t>
            </a:r>
            <a:endParaRPr b="0" i="0" sz="1050" u="none" cap="none" strike="noStrike">
              <a:solidFill>
                <a:schemeClr val="dk1"/>
              </a:solidFill>
              <a:latin typeface="Calibri"/>
              <a:ea typeface="Calibri"/>
              <a:cs typeface="Calibri"/>
              <a:sym typeface="Calibri"/>
            </a:endParaRPr>
          </a:p>
        </p:txBody>
      </p:sp>
      <p:sp>
        <p:nvSpPr>
          <p:cNvPr id="176" name="Google Shape;176;p5"/>
          <p:cNvSpPr/>
          <p:nvPr/>
        </p:nvSpPr>
        <p:spPr>
          <a:xfrm>
            <a:off x="3392424"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SLOPE</a:t>
            </a:r>
            <a:endParaRPr b="0" i="0" sz="1300" u="none" cap="none" strike="noStrike">
              <a:solidFill>
                <a:schemeClr val="dk1"/>
              </a:solidFill>
              <a:latin typeface="Calibri"/>
              <a:ea typeface="Calibri"/>
              <a:cs typeface="Calibri"/>
              <a:sym typeface="Calibri"/>
            </a:endParaRPr>
          </a:p>
        </p:txBody>
      </p:sp>
      <p:sp>
        <p:nvSpPr>
          <p:cNvPr id="177" name="Google Shape;177;p5"/>
          <p:cNvSpPr/>
          <p:nvPr/>
        </p:nvSpPr>
        <p:spPr>
          <a:xfrm>
            <a:off x="3392424"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Each layer steps outward a little. Gentle is fine; past about 45° from vertical it starts to droop.</a:t>
            </a:r>
            <a:endParaRPr b="0" i="0" sz="1150" u="none" cap="none" strike="noStrike">
              <a:solidFill>
                <a:schemeClr val="dk1"/>
              </a:solidFill>
              <a:latin typeface="Calibri"/>
              <a:ea typeface="Calibri"/>
              <a:cs typeface="Calibri"/>
              <a:sym typeface="Calibri"/>
            </a:endParaRPr>
          </a:p>
        </p:txBody>
      </p:sp>
      <p:sp>
        <p:nvSpPr>
          <p:cNvPr id="178" name="Google Shape;178;p5"/>
          <p:cNvSpPr/>
          <p:nvPr/>
        </p:nvSpPr>
        <p:spPr>
          <a:xfrm>
            <a:off x="6341364" y="1851660"/>
            <a:ext cx="2697480" cy="370332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6272784"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6473952"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6583680"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6473952"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T</a:t>
            </a:r>
            <a:endParaRPr b="0" i="0" sz="7600" u="none" cap="none" strike="noStrike">
              <a:solidFill>
                <a:schemeClr val="dk1"/>
              </a:solidFill>
              <a:latin typeface="Calibri"/>
              <a:ea typeface="Calibri"/>
              <a:cs typeface="Calibri"/>
              <a:sym typeface="Calibri"/>
            </a:endParaRPr>
          </a:p>
        </p:txBody>
      </p:sp>
      <p:sp>
        <p:nvSpPr>
          <p:cNvPr id="183" name="Google Shape;183;p5"/>
          <p:cNvSpPr/>
          <p:nvPr/>
        </p:nvSpPr>
        <p:spPr>
          <a:xfrm>
            <a:off x="6473952" y="3721608"/>
            <a:ext cx="2295144" cy="438912"/>
          </a:xfrm>
          <a:prstGeom prst="rect">
            <a:avLst/>
          </a:prstGeom>
          <a:solidFill>
            <a:srgbClr val="FF4D8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6473952"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DROOPS</a:t>
            </a:r>
            <a:endParaRPr b="0" i="0" sz="1050" u="none" cap="none" strike="noStrike">
              <a:solidFill>
                <a:schemeClr val="dk1"/>
              </a:solidFill>
              <a:latin typeface="Calibri"/>
              <a:ea typeface="Calibri"/>
              <a:cs typeface="Calibri"/>
              <a:sym typeface="Calibri"/>
            </a:endParaRPr>
          </a:p>
        </p:txBody>
      </p:sp>
      <p:sp>
        <p:nvSpPr>
          <p:cNvPr id="185" name="Google Shape;185;p5"/>
          <p:cNvSpPr/>
          <p:nvPr/>
        </p:nvSpPr>
        <p:spPr>
          <a:xfrm>
            <a:off x="6473952"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CANTILEVER</a:t>
            </a:r>
            <a:endParaRPr b="0" i="0" sz="1300" u="none" cap="none" strike="noStrike">
              <a:solidFill>
                <a:schemeClr val="dk1"/>
              </a:solidFill>
              <a:latin typeface="Calibri"/>
              <a:ea typeface="Calibri"/>
              <a:cs typeface="Calibri"/>
              <a:sym typeface="Calibri"/>
            </a:endParaRPr>
          </a:p>
        </p:txBody>
      </p:sp>
      <p:sp>
        <p:nvSpPr>
          <p:cNvPr id="186" name="Google Shape;186;p5"/>
          <p:cNvSpPr/>
          <p:nvPr/>
        </p:nvSpPr>
        <p:spPr>
          <a:xfrm>
            <a:off x="6473952"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The arms start in mid-air and are anchored at one end only. Nothing to stretch to.</a:t>
            </a:r>
            <a:endParaRPr b="0" i="0" sz="1150" u="none" cap="none" strike="noStrike">
              <a:solidFill>
                <a:schemeClr val="dk1"/>
              </a:solidFill>
              <a:latin typeface="Calibri"/>
              <a:ea typeface="Calibri"/>
              <a:cs typeface="Calibri"/>
              <a:sym typeface="Calibri"/>
            </a:endParaRPr>
          </a:p>
        </p:txBody>
      </p:sp>
      <p:sp>
        <p:nvSpPr>
          <p:cNvPr id="187" name="Google Shape;187;p5"/>
          <p:cNvSpPr/>
          <p:nvPr/>
        </p:nvSpPr>
        <p:spPr>
          <a:xfrm>
            <a:off x="9422892" y="1851660"/>
            <a:ext cx="2697480" cy="370332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9354312" y="1783080"/>
            <a:ext cx="2697480" cy="37033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9555480" y="1984248"/>
            <a:ext cx="2295144"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9665208" y="3465576"/>
            <a:ext cx="2075688"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9555480" y="2075688"/>
            <a:ext cx="229514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7600"/>
              <a:buFont typeface="Arial"/>
              <a:buNone/>
            </a:pPr>
            <a:r>
              <a:rPr b="1" i="0" lang="en-US" sz="7600" u="none" cap="none" strike="noStrike">
                <a:solidFill>
                  <a:srgbClr val="000000"/>
                </a:solidFill>
                <a:latin typeface="Arial"/>
                <a:ea typeface="Arial"/>
                <a:cs typeface="Arial"/>
                <a:sym typeface="Arial"/>
              </a:rPr>
              <a:t>i</a:t>
            </a:r>
            <a:endParaRPr b="0" i="0" sz="7600" u="none" cap="none" strike="noStrike">
              <a:solidFill>
                <a:schemeClr val="dk1"/>
              </a:solidFill>
              <a:latin typeface="Calibri"/>
              <a:ea typeface="Calibri"/>
              <a:cs typeface="Calibri"/>
              <a:sym typeface="Calibri"/>
            </a:endParaRPr>
          </a:p>
        </p:txBody>
      </p:sp>
      <p:sp>
        <p:nvSpPr>
          <p:cNvPr id="192" name="Google Shape;192;p5"/>
          <p:cNvSpPr/>
          <p:nvPr/>
        </p:nvSpPr>
        <p:spPr>
          <a:xfrm>
            <a:off x="9555480" y="3721608"/>
            <a:ext cx="2295144" cy="438912"/>
          </a:xfrm>
          <a:prstGeom prst="rect">
            <a:avLst/>
          </a:prstGeom>
          <a:solidFill>
            <a:srgbClr val="FF4D8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9555480" y="3822192"/>
            <a:ext cx="2295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i="0" lang="en-US" sz="1050" u="none" cap="none" strike="noStrike">
                <a:solidFill>
                  <a:srgbClr val="000000"/>
                </a:solidFill>
                <a:latin typeface="Arial"/>
                <a:ea typeface="Arial"/>
                <a:cs typeface="Arial"/>
                <a:sym typeface="Arial"/>
              </a:rPr>
              <a:t>IMPOSSIBLE</a:t>
            </a:r>
            <a:endParaRPr b="0" i="0" sz="1050" u="none" cap="none" strike="noStrike">
              <a:solidFill>
                <a:schemeClr val="dk1"/>
              </a:solidFill>
              <a:latin typeface="Calibri"/>
              <a:ea typeface="Calibri"/>
              <a:cs typeface="Calibri"/>
              <a:sym typeface="Calibri"/>
            </a:endParaRPr>
          </a:p>
        </p:txBody>
      </p:sp>
      <p:sp>
        <p:nvSpPr>
          <p:cNvPr id="194" name="Google Shape;194;p5"/>
          <p:cNvSpPr/>
          <p:nvPr/>
        </p:nvSpPr>
        <p:spPr>
          <a:xfrm>
            <a:off x="9555480" y="4251960"/>
            <a:ext cx="22951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ISLAND</a:t>
            </a:r>
            <a:endParaRPr b="0" i="0" sz="1300" u="none" cap="none" strike="noStrike">
              <a:solidFill>
                <a:schemeClr val="dk1"/>
              </a:solidFill>
              <a:latin typeface="Calibri"/>
              <a:ea typeface="Calibri"/>
              <a:cs typeface="Calibri"/>
              <a:sym typeface="Calibri"/>
            </a:endParaRPr>
          </a:p>
        </p:txBody>
      </p:sp>
      <p:sp>
        <p:nvSpPr>
          <p:cNvPr id="195" name="Google Shape;195;p5"/>
          <p:cNvSpPr/>
          <p:nvPr/>
        </p:nvSpPr>
        <p:spPr>
          <a:xfrm>
            <a:off x="9555480" y="4581144"/>
            <a:ext cx="2295144" cy="7772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Calibri"/>
              <a:buNone/>
            </a:pPr>
            <a:r>
              <a:rPr b="0" i="0" lang="en-US" sz="1150" u="none" cap="none" strike="noStrike">
                <a:solidFill>
                  <a:srgbClr val="000000"/>
                </a:solidFill>
                <a:latin typeface="Calibri"/>
                <a:ea typeface="Calibri"/>
                <a:cs typeface="Calibri"/>
                <a:sym typeface="Calibri"/>
              </a:rPr>
              <a:t>The dot begins with nothing underneath it at all. There is no version of this without support.</a:t>
            </a:r>
            <a:endParaRPr b="0" i="0" sz="1150" u="none" cap="none" strike="noStrike">
              <a:solidFill>
                <a:schemeClr val="dk1"/>
              </a:solidFill>
              <a:latin typeface="Calibri"/>
              <a:ea typeface="Calibri"/>
              <a:cs typeface="Calibri"/>
              <a:sym typeface="Calibri"/>
            </a:endParaRPr>
          </a:p>
        </p:txBody>
      </p:sp>
      <p:sp>
        <p:nvSpPr>
          <p:cNvPr id="196" name="Google Shape;196;p5"/>
          <p:cNvSpPr/>
          <p:nvPr/>
        </p:nvSpPr>
        <p:spPr>
          <a:xfrm>
            <a:off x="662940" y="5783580"/>
            <a:ext cx="10972800" cy="658368"/>
          </a:xfrm>
          <a:prstGeom prst="rect">
            <a:avLst/>
          </a:prstGeom>
          <a:solidFill>
            <a:srgbClr val="FFFDF7"/>
          </a:solidFill>
          <a:ln cap="flat" cmpd="sng" w="9525">
            <a:solidFill>
              <a:srgbClr val="FFFD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594360" y="5715000"/>
            <a:ext cx="10972800" cy="658368"/>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914400" y="5879592"/>
            <a:ext cx="10607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A BRIDGE IS ANCHORED AT BOTH ENDS. A CANTILEVER IS NOT. AN ISLAND IS ANCHORED TO NOTHING. THAT IS THE WHOLE DIFFERENCE.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3" name="Shape 203"/>
        <p:cNvGrpSpPr/>
        <p:nvPr/>
      </p:nvGrpSpPr>
      <p:grpSpPr>
        <a:xfrm>
          <a:off x="0" y="0"/>
          <a:ext cx="0" cy="0"/>
          <a:chOff x="0" y="0"/>
          <a:chExt cx="0" cy="0"/>
        </a:xfrm>
      </p:grpSpPr>
      <p:cxnSp>
        <p:nvCxnSpPr>
          <p:cNvPr id="204" name="Google Shape;204;p6"/>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205" name="Google Shape;205;p6"/>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ORIENTATION IS YOUR ONLY LEVER</a:t>
            </a:r>
            <a:endParaRPr b="0" i="0" sz="3300" u="none" cap="none" strike="noStrike">
              <a:solidFill>
                <a:schemeClr val="dk1"/>
              </a:solidFill>
              <a:latin typeface="Calibri"/>
              <a:ea typeface="Calibri"/>
              <a:cs typeface="Calibri"/>
              <a:sym typeface="Calibri"/>
            </a:endParaRPr>
          </a:p>
        </p:txBody>
      </p:sp>
      <p:sp>
        <p:nvSpPr>
          <p:cNvPr id="206" name="Google Shape;206;p6"/>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Same geometry. Two ways to place it. Very different prints.</a:t>
            </a:r>
            <a:endParaRPr b="0" i="0" sz="1350" u="none" cap="none" strike="noStrike">
              <a:solidFill>
                <a:schemeClr val="dk1"/>
              </a:solidFill>
              <a:latin typeface="Calibri"/>
              <a:ea typeface="Calibri"/>
              <a:cs typeface="Calibri"/>
              <a:sym typeface="Calibri"/>
            </a:endParaRPr>
          </a:p>
        </p:txBody>
      </p:sp>
      <p:sp>
        <p:nvSpPr>
          <p:cNvPr id="207" name="Google Shape;207;p6"/>
          <p:cNvSpPr/>
          <p:nvPr/>
        </p:nvSpPr>
        <p:spPr>
          <a:xfrm>
            <a:off x="662940" y="1851660"/>
            <a:ext cx="5349240" cy="342900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594360" y="1783080"/>
            <a:ext cx="5349240" cy="34290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594360" y="1783080"/>
            <a:ext cx="5349240" cy="530352"/>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868680" y="1892808"/>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AS MODELLED</a:t>
            </a:r>
            <a:endParaRPr b="0" i="0" sz="1300" u="none" cap="none" strike="noStrike">
              <a:solidFill>
                <a:schemeClr val="dk1"/>
              </a:solidFill>
              <a:latin typeface="Calibri"/>
              <a:ea typeface="Calibri"/>
              <a:cs typeface="Calibri"/>
              <a:sym typeface="Calibri"/>
            </a:endParaRPr>
          </a:p>
        </p:txBody>
      </p:sp>
      <p:sp>
        <p:nvSpPr>
          <p:cNvPr id="211" name="Google Shape;211;p6"/>
          <p:cNvSpPr/>
          <p:nvPr/>
        </p:nvSpPr>
        <p:spPr>
          <a:xfrm>
            <a:off x="868680" y="2468880"/>
            <a:ext cx="4800600"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1005840" y="3959352"/>
            <a:ext cx="4526280"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2240280" y="2971800"/>
            <a:ext cx="502920" cy="987552"/>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2743200" y="2971800"/>
            <a:ext cx="1188720" cy="384048"/>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6"/>
          <p:cNvCxnSpPr/>
          <p:nvPr/>
        </p:nvCxnSpPr>
        <p:spPr>
          <a:xfrm>
            <a:off x="2880360"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6" name="Google Shape;216;p6"/>
          <p:cNvCxnSpPr/>
          <p:nvPr/>
        </p:nvCxnSpPr>
        <p:spPr>
          <a:xfrm>
            <a:off x="3099816"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7" name="Google Shape;217;p6"/>
          <p:cNvCxnSpPr/>
          <p:nvPr/>
        </p:nvCxnSpPr>
        <p:spPr>
          <a:xfrm>
            <a:off x="3319272"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8" name="Google Shape;218;p6"/>
          <p:cNvCxnSpPr/>
          <p:nvPr/>
        </p:nvCxnSpPr>
        <p:spPr>
          <a:xfrm>
            <a:off x="3538728" y="3355848"/>
            <a:ext cx="0" cy="603504"/>
          </a:xfrm>
          <a:prstGeom prst="straightConnector1">
            <a:avLst/>
          </a:prstGeom>
          <a:noFill/>
          <a:ln cap="flat" cmpd="sng" w="19050">
            <a:solidFill>
              <a:srgbClr val="FF4D8D"/>
            </a:solidFill>
            <a:prstDash val="solid"/>
            <a:round/>
            <a:headEnd len="sm" w="sm" type="none"/>
            <a:tailEnd len="sm" w="sm" type="none"/>
          </a:ln>
        </p:spPr>
      </p:cxnSp>
      <p:cxnSp>
        <p:nvCxnSpPr>
          <p:cNvPr id="219" name="Google Shape;219;p6"/>
          <p:cNvCxnSpPr/>
          <p:nvPr/>
        </p:nvCxnSpPr>
        <p:spPr>
          <a:xfrm>
            <a:off x="3758184" y="3355848"/>
            <a:ext cx="0" cy="603504"/>
          </a:xfrm>
          <a:prstGeom prst="straightConnector1">
            <a:avLst/>
          </a:prstGeom>
          <a:noFill/>
          <a:ln cap="flat" cmpd="sng" w="19050">
            <a:solidFill>
              <a:srgbClr val="FF4D8D"/>
            </a:solidFill>
            <a:prstDash val="solid"/>
            <a:round/>
            <a:headEnd len="sm" w="sm" type="none"/>
            <a:tailEnd len="sm" w="sm" type="none"/>
          </a:ln>
        </p:spPr>
      </p:cxnSp>
      <p:sp>
        <p:nvSpPr>
          <p:cNvPr id="220" name="Google Shape;220;p6"/>
          <p:cNvSpPr/>
          <p:nvPr/>
        </p:nvSpPr>
        <p:spPr>
          <a:xfrm>
            <a:off x="4069080" y="3529584"/>
            <a:ext cx="10058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8D"/>
              </a:buClr>
              <a:buSzPts val="1000"/>
              <a:buFont typeface="Calibri"/>
              <a:buNone/>
            </a:pPr>
            <a:r>
              <a:rPr b="0" i="1" lang="en-US" sz="1000" u="none" cap="none" strike="noStrike">
                <a:solidFill>
                  <a:srgbClr val="FF4D8D"/>
                </a:solidFill>
                <a:latin typeface="Calibri"/>
                <a:ea typeface="Calibri"/>
                <a:cs typeface="Calibri"/>
                <a:sym typeface="Calibri"/>
              </a:rPr>
              <a:t>support</a:t>
            </a:r>
            <a:endParaRPr b="0" i="0" sz="1000" u="none" cap="none" strike="noStrike">
              <a:solidFill>
                <a:schemeClr val="dk1"/>
              </a:solidFill>
              <a:latin typeface="Calibri"/>
              <a:ea typeface="Calibri"/>
              <a:cs typeface="Calibri"/>
              <a:sym typeface="Calibri"/>
            </a:endParaRPr>
          </a:p>
        </p:txBody>
      </p:sp>
      <p:cxnSp>
        <p:nvCxnSpPr>
          <p:cNvPr id="221" name="Google Shape;221;p6"/>
          <p:cNvCxnSpPr/>
          <p:nvPr/>
        </p:nvCxnSpPr>
        <p:spPr>
          <a:xfrm rot="10800000">
            <a:off x="3611880" y="3648456"/>
            <a:ext cx="384048" cy="0"/>
          </a:xfrm>
          <a:prstGeom prst="straightConnector1">
            <a:avLst/>
          </a:prstGeom>
          <a:noFill/>
          <a:ln cap="flat" cmpd="sng" w="15875">
            <a:solidFill>
              <a:srgbClr val="FF4D8D"/>
            </a:solidFill>
            <a:prstDash val="solid"/>
            <a:round/>
            <a:headEnd len="sm" w="sm" type="none"/>
            <a:tailEnd len="sm" w="sm" type="none"/>
          </a:ln>
        </p:spPr>
      </p:cxnSp>
      <p:sp>
        <p:nvSpPr>
          <p:cNvPr id="222" name="Google Shape;222;p6"/>
          <p:cNvSpPr/>
          <p:nvPr/>
        </p:nvSpPr>
        <p:spPr>
          <a:xfrm>
            <a:off x="868680" y="4206240"/>
            <a:ext cx="48006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Overhang under the arm. Needs support, which costs material, time, and a scarred surface where it is removed.</a:t>
            </a:r>
            <a:endParaRPr b="0" i="0" sz="1250" u="none" cap="none" strike="noStrike">
              <a:solidFill>
                <a:schemeClr val="dk1"/>
              </a:solidFill>
              <a:latin typeface="Calibri"/>
              <a:ea typeface="Calibri"/>
              <a:cs typeface="Calibri"/>
              <a:sym typeface="Calibri"/>
            </a:endParaRPr>
          </a:p>
        </p:txBody>
      </p:sp>
      <p:sp>
        <p:nvSpPr>
          <p:cNvPr id="223" name="Google Shape;223;p6"/>
          <p:cNvSpPr/>
          <p:nvPr/>
        </p:nvSpPr>
        <p:spPr>
          <a:xfrm>
            <a:off x="6286500" y="1851660"/>
            <a:ext cx="5349240" cy="3429000"/>
          </a:xfrm>
          <a:prstGeom prst="rect">
            <a:avLst/>
          </a:prstGeom>
          <a:solidFill>
            <a:srgbClr val="C6F035"/>
          </a:solidFill>
          <a:ln cap="flat" cmpd="sng" w="9525">
            <a:solidFill>
              <a:srgbClr val="C6F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6217920" y="1783080"/>
            <a:ext cx="5349240" cy="34290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6217920" y="1783080"/>
            <a:ext cx="5349240" cy="530352"/>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6492240" y="1892808"/>
            <a:ext cx="4800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ROTATED</a:t>
            </a:r>
            <a:endParaRPr b="0" i="0" sz="1300" u="none" cap="none" strike="noStrike">
              <a:solidFill>
                <a:schemeClr val="dk1"/>
              </a:solidFill>
              <a:latin typeface="Calibri"/>
              <a:ea typeface="Calibri"/>
              <a:cs typeface="Calibri"/>
              <a:sym typeface="Calibri"/>
            </a:endParaRPr>
          </a:p>
        </p:txBody>
      </p:sp>
      <p:sp>
        <p:nvSpPr>
          <p:cNvPr id="227" name="Google Shape;227;p6"/>
          <p:cNvSpPr/>
          <p:nvPr/>
        </p:nvSpPr>
        <p:spPr>
          <a:xfrm>
            <a:off x="6492240" y="2468880"/>
            <a:ext cx="4800600" cy="1600200"/>
          </a:xfrm>
          <a:prstGeom prst="rect">
            <a:avLst/>
          </a:prstGeom>
          <a:solidFill>
            <a:srgbClr val="F4F4EE"/>
          </a:solidFill>
          <a:ln cap="flat" cmpd="sng" w="19050">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6629400" y="3959352"/>
            <a:ext cx="4526280" cy="914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7863840" y="3575304"/>
            <a:ext cx="1691640" cy="384048"/>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7863840" y="2971800"/>
            <a:ext cx="502920" cy="603504"/>
          </a:xfrm>
          <a:prstGeom prst="rect">
            <a:avLst/>
          </a:prstGeom>
          <a:solidFill>
            <a:srgbClr val="FFFDF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6492240" y="4206240"/>
            <a:ext cx="48006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The same arm now sits on the bed. No support, faster, cleaner face — and stronger, because the load is not across a layer line.</a:t>
            </a:r>
            <a:endParaRPr b="0" i="0" sz="1250" u="none" cap="none" strike="noStrike">
              <a:solidFill>
                <a:schemeClr val="dk1"/>
              </a:solidFill>
              <a:latin typeface="Calibri"/>
              <a:ea typeface="Calibri"/>
              <a:cs typeface="Calibri"/>
              <a:sym typeface="Calibri"/>
            </a:endParaRPr>
          </a:p>
        </p:txBody>
      </p:sp>
      <p:sp>
        <p:nvSpPr>
          <p:cNvPr id="232" name="Google Shape;232;p6"/>
          <p:cNvSpPr/>
          <p:nvPr/>
        </p:nvSpPr>
        <p:spPr>
          <a:xfrm>
            <a:off x="662940" y="5509260"/>
            <a:ext cx="10972800" cy="713232"/>
          </a:xfrm>
          <a:prstGeom prst="rect">
            <a:avLst/>
          </a:prstGeom>
          <a:solidFill>
            <a:srgbClr val="00D9E1"/>
          </a:solidFill>
          <a:ln cap="flat" cmpd="sng" w="9525">
            <a:solidFill>
              <a:srgbClr val="00D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594360" y="5440680"/>
            <a:ext cx="10972800" cy="713232"/>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914400" y="5614416"/>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NO SUPPORTS ARE PERMITTED ON THE 0.1 PRINT. IF IT CANNOT PRINT UNSUPPORTED IN ANY ORIENTATION, CHANGE THE GEOMETRY.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239" name="Shape 239"/>
        <p:cNvGrpSpPr/>
        <p:nvPr/>
      </p:nvGrpSpPr>
      <p:grpSpPr>
        <a:xfrm>
          <a:off x="0" y="0"/>
          <a:ext cx="0" cy="0"/>
          <a:chOff x="0" y="0"/>
          <a:chExt cx="0" cy="0"/>
        </a:xfrm>
      </p:grpSpPr>
      <p:cxnSp>
        <p:nvCxnSpPr>
          <p:cNvPr id="240" name="Google Shape;240;p7"/>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241" name="Google Shape;241;p7"/>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WHAT THE SLICER DOES</a:t>
            </a:r>
            <a:endParaRPr b="0" i="0" sz="3300" u="none" cap="none" strike="noStrike">
              <a:solidFill>
                <a:schemeClr val="dk1"/>
              </a:solidFill>
              <a:latin typeface="Calibri"/>
              <a:ea typeface="Calibri"/>
              <a:cs typeface="Calibri"/>
              <a:sym typeface="Calibri"/>
            </a:endParaRPr>
          </a:p>
        </p:txBody>
      </p:sp>
      <p:sp>
        <p:nvSpPr>
          <p:cNvPr id="242" name="Google Shape;242;p7"/>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Turns a solid into a list of moves. This is the same idea as Module 2.</a:t>
            </a:r>
            <a:endParaRPr b="0" i="0" sz="1350" u="none" cap="none" strike="noStrike">
              <a:solidFill>
                <a:schemeClr val="dk1"/>
              </a:solidFill>
              <a:latin typeface="Calibri"/>
              <a:ea typeface="Calibri"/>
              <a:cs typeface="Calibri"/>
              <a:sym typeface="Calibri"/>
            </a:endParaRPr>
          </a:p>
        </p:txBody>
      </p:sp>
      <p:sp>
        <p:nvSpPr>
          <p:cNvPr id="243" name="Google Shape;243;p7"/>
          <p:cNvSpPr/>
          <p:nvPr/>
        </p:nvSpPr>
        <p:spPr>
          <a:xfrm>
            <a:off x="662940" y="176022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594360" y="1691640"/>
            <a:ext cx="731520" cy="73152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594360" y="189280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01</a:t>
            </a:r>
            <a:endParaRPr b="0" i="0" sz="1600" u="none" cap="none" strike="noStrike">
              <a:solidFill>
                <a:schemeClr val="dk1"/>
              </a:solidFill>
              <a:latin typeface="Calibri"/>
              <a:ea typeface="Calibri"/>
              <a:cs typeface="Calibri"/>
              <a:sym typeface="Calibri"/>
            </a:endParaRPr>
          </a:p>
        </p:txBody>
      </p:sp>
      <p:sp>
        <p:nvSpPr>
          <p:cNvPr id="246" name="Google Shape;246;p7"/>
          <p:cNvSpPr/>
          <p:nvPr/>
        </p:nvSpPr>
        <p:spPr>
          <a:xfrm>
            <a:off x="1668780" y="176022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1600200" y="169164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1874520" y="178308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CUT INTO LAYERS</a:t>
            </a:r>
            <a:endParaRPr b="0" i="0" sz="1250" u="none" cap="none" strike="noStrike">
              <a:solidFill>
                <a:schemeClr val="dk1"/>
              </a:solidFill>
              <a:latin typeface="Calibri"/>
              <a:ea typeface="Calibri"/>
              <a:cs typeface="Calibri"/>
              <a:sym typeface="Calibri"/>
            </a:endParaRPr>
          </a:p>
        </p:txBody>
      </p:sp>
      <p:sp>
        <p:nvSpPr>
          <p:cNvPr id="249" name="Google Shape;249;p7"/>
          <p:cNvSpPr/>
          <p:nvPr/>
        </p:nvSpPr>
        <p:spPr>
          <a:xfrm>
            <a:off x="1874520" y="207568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The solid is intersected by a stack of horizontal planes.</a:t>
            </a:r>
            <a:endParaRPr b="0" i="0" sz="1200" u="none" cap="none" strike="noStrike">
              <a:solidFill>
                <a:schemeClr val="dk1"/>
              </a:solidFill>
              <a:latin typeface="Calibri"/>
              <a:ea typeface="Calibri"/>
              <a:cs typeface="Calibri"/>
              <a:sym typeface="Calibri"/>
            </a:endParaRPr>
          </a:p>
        </p:txBody>
      </p:sp>
      <p:sp>
        <p:nvSpPr>
          <p:cNvPr id="250" name="Google Shape;250;p7"/>
          <p:cNvSpPr/>
          <p:nvPr/>
        </p:nvSpPr>
        <p:spPr>
          <a:xfrm>
            <a:off x="662940" y="262890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594360" y="2560320"/>
            <a:ext cx="731520" cy="73152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594360" y="276148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02</a:t>
            </a:r>
            <a:endParaRPr b="0" i="0" sz="1600" u="none" cap="none" strike="noStrike">
              <a:solidFill>
                <a:schemeClr val="dk1"/>
              </a:solidFill>
              <a:latin typeface="Calibri"/>
              <a:ea typeface="Calibri"/>
              <a:cs typeface="Calibri"/>
              <a:sym typeface="Calibri"/>
            </a:endParaRPr>
          </a:p>
        </p:txBody>
      </p:sp>
      <p:sp>
        <p:nvSpPr>
          <p:cNvPr id="253" name="Google Shape;253;p7"/>
          <p:cNvSpPr/>
          <p:nvPr/>
        </p:nvSpPr>
        <p:spPr>
          <a:xfrm>
            <a:off x="1668780" y="262890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1600200" y="256032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1874520" y="265176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OUTLINE EACH LAYER</a:t>
            </a:r>
            <a:endParaRPr b="0" i="0" sz="1250" u="none" cap="none" strike="noStrike">
              <a:solidFill>
                <a:schemeClr val="dk1"/>
              </a:solidFill>
              <a:latin typeface="Calibri"/>
              <a:ea typeface="Calibri"/>
              <a:cs typeface="Calibri"/>
              <a:sym typeface="Calibri"/>
            </a:endParaRPr>
          </a:p>
        </p:txBody>
      </p:sp>
      <p:sp>
        <p:nvSpPr>
          <p:cNvPr id="256" name="Google Shape;256;p7"/>
          <p:cNvSpPr/>
          <p:nvPr/>
        </p:nvSpPr>
        <p:spPr>
          <a:xfrm>
            <a:off x="1874520" y="294436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Each intersection becomes a closed curve — the perimeter.</a:t>
            </a:r>
            <a:endParaRPr b="0" i="0" sz="1200" u="none" cap="none" strike="noStrike">
              <a:solidFill>
                <a:schemeClr val="dk1"/>
              </a:solidFill>
              <a:latin typeface="Calibri"/>
              <a:ea typeface="Calibri"/>
              <a:cs typeface="Calibri"/>
              <a:sym typeface="Calibri"/>
            </a:endParaRPr>
          </a:p>
        </p:txBody>
      </p:sp>
      <p:sp>
        <p:nvSpPr>
          <p:cNvPr id="257" name="Google Shape;257;p7"/>
          <p:cNvSpPr/>
          <p:nvPr/>
        </p:nvSpPr>
        <p:spPr>
          <a:xfrm>
            <a:off x="662940" y="349758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594360" y="3429000"/>
            <a:ext cx="731520" cy="73152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594360" y="363016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03</a:t>
            </a:r>
            <a:endParaRPr b="0" i="0" sz="1600" u="none" cap="none" strike="noStrike">
              <a:solidFill>
                <a:schemeClr val="dk1"/>
              </a:solidFill>
              <a:latin typeface="Calibri"/>
              <a:ea typeface="Calibri"/>
              <a:cs typeface="Calibri"/>
              <a:sym typeface="Calibri"/>
            </a:endParaRPr>
          </a:p>
        </p:txBody>
      </p:sp>
      <p:sp>
        <p:nvSpPr>
          <p:cNvPr id="260" name="Google Shape;260;p7"/>
          <p:cNvSpPr/>
          <p:nvPr/>
        </p:nvSpPr>
        <p:spPr>
          <a:xfrm>
            <a:off x="1668780" y="349758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1600200" y="342900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1874520" y="352044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FILL THE INSIDE</a:t>
            </a:r>
            <a:endParaRPr b="0" i="0" sz="1250" u="none" cap="none" strike="noStrike">
              <a:solidFill>
                <a:schemeClr val="dk1"/>
              </a:solidFill>
              <a:latin typeface="Calibri"/>
              <a:ea typeface="Calibri"/>
              <a:cs typeface="Calibri"/>
              <a:sym typeface="Calibri"/>
            </a:endParaRPr>
          </a:p>
        </p:txBody>
      </p:sp>
      <p:sp>
        <p:nvSpPr>
          <p:cNvPr id="263" name="Google Shape;263;p7"/>
          <p:cNvSpPr/>
          <p:nvPr/>
        </p:nvSpPr>
        <p:spPr>
          <a:xfrm>
            <a:off x="1874520" y="381304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Infill pattern and density. Usually 10–20%, not solid.</a:t>
            </a:r>
            <a:endParaRPr b="0" i="0" sz="1200" u="none" cap="none" strike="noStrike">
              <a:solidFill>
                <a:schemeClr val="dk1"/>
              </a:solidFill>
              <a:latin typeface="Calibri"/>
              <a:ea typeface="Calibri"/>
              <a:cs typeface="Calibri"/>
              <a:sym typeface="Calibri"/>
            </a:endParaRPr>
          </a:p>
        </p:txBody>
      </p:sp>
      <p:sp>
        <p:nvSpPr>
          <p:cNvPr id="264" name="Google Shape;264;p7"/>
          <p:cNvSpPr/>
          <p:nvPr/>
        </p:nvSpPr>
        <p:spPr>
          <a:xfrm>
            <a:off x="662940" y="4366260"/>
            <a:ext cx="73152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594360" y="4297680"/>
            <a:ext cx="731520" cy="73152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594360" y="4498848"/>
            <a:ext cx="731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04</a:t>
            </a:r>
            <a:endParaRPr b="0" i="0" sz="1600" u="none" cap="none" strike="noStrike">
              <a:solidFill>
                <a:schemeClr val="dk1"/>
              </a:solidFill>
              <a:latin typeface="Calibri"/>
              <a:ea typeface="Calibri"/>
              <a:cs typeface="Calibri"/>
              <a:sym typeface="Calibri"/>
            </a:endParaRPr>
          </a:p>
        </p:txBody>
      </p:sp>
      <p:sp>
        <p:nvSpPr>
          <p:cNvPr id="267" name="Google Shape;267;p7"/>
          <p:cNvSpPr/>
          <p:nvPr/>
        </p:nvSpPr>
        <p:spPr>
          <a:xfrm>
            <a:off x="1668780" y="4366260"/>
            <a:ext cx="6766560" cy="73152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1600200" y="4297680"/>
            <a:ext cx="6766560" cy="731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1874520" y="438912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ORDER THE MOVES</a:t>
            </a:r>
            <a:endParaRPr b="0" i="0" sz="1250" u="none" cap="none" strike="noStrike">
              <a:solidFill>
                <a:schemeClr val="dk1"/>
              </a:solidFill>
              <a:latin typeface="Calibri"/>
              <a:ea typeface="Calibri"/>
              <a:cs typeface="Calibri"/>
              <a:sym typeface="Calibri"/>
            </a:endParaRPr>
          </a:p>
        </p:txBody>
      </p:sp>
      <p:sp>
        <p:nvSpPr>
          <p:cNvPr id="270" name="Google Shape;270;p7"/>
          <p:cNvSpPr/>
          <p:nvPr/>
        </p:nvSpPr>
        <p:spPr>
          <a:xfrm>
            <a:off x="1874520" y="4681728"/>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Perimeters, infill, travel. Written out as G-code.</a:t>
            </a:r>
            <a:endParaRPr b="0" i="0" sz="1200" u="none" cap="none" strike="noStrike">
              <a:solidFill>
                <a:schemeClr val="dk1"/>
              </a:solidFill>
              <a:latin typeface="Calibri"/>
              <a:ea typeface="Calibri"/>
              <a:cs typeface="Calibri"/>
              <a:sym typeface="Calibri"/>
            </a:endParaRPr>
          </a:p>
        </p:txBody>
      </p:sp>
      <p:sp>
        <p:nvSpPr>
          <p:cNvPr id="271" name="Google Shape;271;p7"/>
          <p:cNvSpPr/>
          <p:nvPr/>
        </p:nvSpPr>
        <p:spPr>
          <a:xfrm>
            <a:off x="8709660" y="1760220"/>
            <a:ext cx="2926080" cy="33375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8641080" y="1691640"/>
            <a:ext cx="2926080" cy="333756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8915400" y="1901952"/>
            <a:ext cx="24231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SOUND FAMILIAR?</a:t>
            </a:r>
            <a:endParaRPr b="0" i="0" sz="1250" u="none" cap="none" strike="noStrike">
              <a:solidFill>
                <a:schemeClr val="dk1"/>
              </a:solidFill>
              <a:latin typeface="Calibri"/>
              <a:ea typeface="Calibri"/>
              <a:cs typeface="Calibri"/>
              <a:sym typeface="Calibri"/>
            </a:endParaRPr>
          </a:p>
        </p:txBody>
      </p:sp>
      <p:cxnSp>
        <p:nvCxnSpPr>
          <p:cNvPr id="274" name="Google Shape;274;p7"/>
          <p:cNvCxnSpPr/>
          <p:nvPr/>
        </p:nvCxnSpPr>
        <p:spPr>
          <a:xfrm>
            <a:off x="8915400" y="2286000"/>
            <a:ext cx="2423160" cy="0"/>
          </a:xfrm>
          <a:prstGeom prst="straightConnector1">
            <a:avLst/>
          </a:prstGeom>
          <a:noFill/>
          <a:ln cap="flat" cmpd="sng" w="25400">
            <a:solidFill>
              <a:srgbClr val="000000"/>
            </a:solidFill>
            <a:prstDash val="solid"/>
            <a:round/>
            <a:headEnd len="sm" w="sm" type="none"/>
            <a:tailEnd len="sm" w="sm" type="none"/>
          </a:ln>
        </p:spPr>
      </p:cxnSp>
      <p:sp>
        <p:nvSpPr>
          <p:cNvPr id="275" name="Google Shape;275;p7"/>
          <p:cNvSpPr/>
          <p:nvPr/>
        </p:nvSpPr>
        <p:spPr>
          <a:xfrm>
            <a:off x="8915400" y="2450592"/>
            <a:ext cx="2423160" cy="237744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Intersect a solid with a stack of planes. Keep the profiles. Order them.</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That is Module 2 — and it is what a slicer has been doing all along.</a:t>
            </a:r>
            <a:endParaRPr b="0" i="0" sz="1200" u="none" cap="none" strike="noStrike">
              <a:solidFill>
                <a:schemeClr val="dk1"/>
              </a:solidFill>
              <a:latin typeface="Calibri"/>
              <a:ea typeface="Calibri"/>
              <a:cs typeface="Calibri"/>
              <a:sym typeface="Calibri"/>
            </a:endParaRPr>
          </a:p>
        </p:txBody>
      </p:sp>
      <p:sp>
        <p:nvSpPr>
          <p:cNvPr id="276" name="Google Shape;276;p7"/>
          <p:cNvSpPr/>
          <p:nvPr/>
        </p:nvSpPr>
        <p:spPr>
          <a:xfrm>
            <a:off x="662940" y="5326380"/>
            <a:ext cx="10972800" cy="9144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94360" y="5257800"/>
            <a:ext cx="10972800" cy="91440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914400" y="5468112"/>
            <a:ext cx="10607040" cy="54864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b="0" i="0" lang="en-US" sz="1350" u="none" cap="none" strike="noStrike">
                <a:solidFill>
                  <a:srgbClr val="000000"/>
                </a:solidFill>
                <a:latin typeface="Calibri"/>
                <a:ea typeface="Calibri"/>
                <a:cs typeface="Calibri"/>
                <a:sym typeface="Calibri"/>
              </a:rPr>
              <a:t>LIVE NOW — we slice one object together and read the preview: layer count, print time, material, where the supports would go.</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3" name="Shape 283"/>
        <p:cNvGrpSpPr/>
        <p:nvPr/>
      </p:nvGrpSpPr>
      <p:grpSpPr>
        <a:xfrm>
          <a:off x="0" y="0"/>
          <a:ext cx="0" cy="0"/>
          <a:chOff x="0" y="0"/>
          <a:chExt cx="0" cy="0"/>
        </a:xfrm>
      </p:grpSpPr>
      <p:cxnSp>
        <p:nvCxnSpPr>
          <p:cNvPr id="284" name="Google Shape;284;p8"/>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285" name="Google Shape;285;p8"/>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i="0" lang="en-US" sz="3300" u="none" cap="none" strike="noStrike">
                <a:solidFill>
                  <a:srgbClr val="FFFDF7"/>
                </a:solidFill>
                <a:latin typeface="Arial"/>
                <a:ea typeface="Arial"/>
                <a:cs typeface="Arial"/>
                <a:sym typeface="Arial"/>
              </a:rPr>
              <a:t>FOUR SETTINGS</a:t>
            </a:r>
            <a:endParaRPr b="0" i="0" sz="3300" u="none" cap="none" strike="noStrike">
              <a:solidFill>
                <a:schemeClr val="dk1"/>
              </a:solidFill>
              <a:latin typeface="Calibri"/>
              <a:ea typeface="Calibri"/>
              <a:cs typeface="Calibri"/>
              <a:sym typeface="Calibri"/>
            </a:endParaRPr>
          </a:p>
        </p:txBody>
      </p:sp>
      <p:sp>
        <p:nvSpPr>
          <p:cNvPr id="286" name="Google Shape;286;p8"/>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b="0" i="0" lang="en-US" sz="1350" u="none" cap="none" strike="noStrike">
                <a:solidFill>
                  <a:srgbClr val="B8B8B8"/>
                </a:solidFill>
                <a:latin typeface="Calibri"/>
                <a:ea typeface="Calibri"/>
                <a:cs typeface="Calibri"/>
                <a:sym typeface="Calibri"/>
              </a:rPr>
              <a:t>Everything else can stay at default for this print.</a:t>
            </a:r>
            <a:endParaRPr b="0" i="0" sz="1350" u="none" cap="none" strike="noStrike">
              <a:solidFill>
                <a:schemeClr val="dk1"/>
              </a:solidFill>
              <a:latin typeface="Calibri"/>
              <a:ea typeface="Calibri"/>
              <a:cs typeface="Calibri"/>
              <a:sym typeface="Calibri"/>
            </a:endParaRPr>
          </a:p>
        </p:txBody>
      </p:sp>
      <p:sp>
        <p:nvSpPr>
          <p:cNvPr id="287" name="Google Shape;287;p8"/>
          <p:cNvSpPr/>
          <p:nvPr/>
        </p:nvSpPr>
        <p:spPr>
          <a:xfrm>
            <a:off x="662940" y="1851660"/>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594360" y="1783080"/>
            <a:ext cx="3017520" cy="82296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822960" y="2029968"/>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LAYER HEIGHT</a:t>
            </a:r>
            <a:endParaRPr b="0" i="0" sz="1250" u="none" cap="none" strike="noStrike">
              <a:solidFill>
                <a:schemeClr val="dk1"/>
              </a:solidFill>
              <a:latin typeface="Calibri"/>
              <a:ea typeface="Calibri"/>
              <a:cs typeface="Calibri"/>
              <a:sym typeface="Calibri"/>
            </a:endParaRPr>
          </a:p>
        </p:txBody>
      </p:sp>
      <p:sp>
        <p:nvSpPr>
          <p:cNvPr id="290" name="Google Shape;290;p8"/>
          <p:cNvSpPr/>
          <p:nvPr/>
        </p:nvSpPr>
        <p:spPr>
          <a:xfrm>
            <a:off x="3954780" y="1851660"/>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3886200" y="1783080"/>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3886200" y="2029968"/>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0.2–0.3 mm</a:t>
            </a:r>
            <a:endParaRPr b="0" i="0" sz="1300" u="none" cap="none" strike="noStrike">
              <a:solidFill>
                <a:schemeClr val="dk1"/>
              </a:solidFill>
              <a:latin typeface="Calibri"/>
              <a:ea typeface="Calibri"/>
              <a:cs typeface="Calibri"/>
              <a:sym typeface="Calibri"/>
            </a:endParaRPr>
          </a:p>
        </p:txBody>
      </p:sp>
      <p:sp>
        <p:nvSpPr>
          <p:cNvPr id="293" name="Google Shape;293;p8"/>
          <p:cNvSpPr/>
          <p:nvPr/>
        </p:nvSpPr>
        <p:spPr>
          <a:xfrm>
            <a:off x="6080760" y="2039112"/>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Finer looks better </a:t>
            </a:r>
            <a:r>
              <a:rPr b="0" i="0" lang="en-US" sz="1300" u="none" cap="none" strike="noStrike">
                <a:solidFill>
                  <a:srgbClr val="FFFDF7"/>
                </a:solidFill>
                <a:latin typeface="Calibri"/>
                <a:ea typeface="Calibri"/>
                <a:cs typeface="Calibri"/>
                <a:sym typeface="Calibri"/>
              </a:rPr>
              <a:t>and </a:t>
            </a:r>
            <a:r>
              <a:rPr b="0" i="0" lang="en-US" sz="1300" u="none" cap="none" strike="noStrike">
                <a:solidFill>
                  <a:srgbClr val="FFFDF7"/>
                </a:solidFill>
                <a:latin typeface="Calibri"/>
                <a:ea typeface="Calibri"/>
                <a:cs typeface="Calibri"/>
                <a:sym typeface="Calibri"/>
              </a:rPr>
              <a:t>takes proportionally longer. </a:t>
            </a:r>
            <a:r>
              <a:rPr b="0" i="0" lang="en-US" sz="1300" u="none" cap="none" strike="noStrike">
                <a:solidFill>
                  <a:srgbClr val="FFFDF7"/>
                </a:solidFill>
                <a:latin typeface="Calibri"/>
                <a:ea typeface="Calibri"/>
                <a:cs typeface="Calibri"/>
                <a:sym typeface="Calibri"/>
              </a:rPr>
              <a:t>Draft is fine for 0.1.</a:t>
            </a:r>
            <a:endParaRPr b="0" i="0" sz="1300" u="none" cap="none" strike="noStrike">
              <a:solidFill>
                <a:schemeClr val="dk1"/>
              </a:solidFill>
              <a:latin typeface="Calibri"/>
              <a:ea typeface="Calibri"/>
              <a:cs typeface="Calibri"/>
              <a:sym typeface="Calibri"/>
            </a:endParaRPr>
          </a:p>
        </p:txBody>
      </p:sp>
      <p:sp>
        <p:nvSpPr>
          <p:cNvPr id="294" name="Google Shape;294;p8"/>
          <p:cNvSpPr/>
          <p:nvPr/>
        </p:nvSpPr>
        <p:spPr>
          <a:xfrm>
            <a:off x="662940" y="2894076"/>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594360" y="2825496"/>
            <a:ext cx="3017520" cy="82296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822960" y="3072384"/>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INFILL</a:t>
            </a:r>
            <a:endParaRPr b="0" i="0" sz="1250" u="none" cap="none" strike="noStrike">
              <a:solidFill>
                <a:schemeClr val="dk1"/>
              </a:solidFill>
              <a:latin typeface="Calibri"/>
              <a:ea typeface="Calibri"/>
              <a:cs typeface="Calibri"/>
              <a:sym typeface="Calibri"/>
            </a:endParaRPr>
          </a:p>
        </p:txBody>
      </p:sp>
      <p:sp>
        <p:nvSpPr>
          <p:cNvPr id="297" name="Google Shape;297;p8"/>
          <p:cNvSpPr/>
          <p:nvPr/>
        </p:nvSpPr>
        <p:spPr>
          <a:xfrm>
            <a:off x="3954780" y="2894076"/>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3886200" y="2825496"/>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3886200" y="3072384"/>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10–</a:t>
            </a:r>
            <a:r>
              <a:rPr b="1" lang="en-US" sz="1300">
                <a:latin typeface="Courier New"/>
                <a:ea typeface="Courier New"/>
                <a:cs typeface="Courier New"/>
                <a:sym typeface="Courier New"/>
              </a:rPr>
              <a:t>40</a:t>
            </a:r>
            <a:r>
              <a:rPr b="1" i="0" lang="en-US" sz="1300" u="none" cap="none" strike="noStrike">
                <a:solidFill>
                  <a:srgbClr val="000000"/>
                </a:solidFill>
                <a:latin typeface="Courier New"/>
                <a:ea typeface="Courier New"/>
                <a:cs typeface="Courier New"/>
                <a:sym typeface="Courier New"/>
              </a:rPr>
              <a:t>%</a:t>
            </a:r>
            <a:endParaRPr b="0" i="0" sz="1300" u="none" cap="none" strike="noStrike">
              <a:solidFill>
                <a:schemeClr val="dk1"/>
              </a:solidFill>
              <a:latin typeface="Calibri"/>
              <a:ea typeface="Calibri"/>
              <a:cs typeface="Calibri"/>
              <a:sym typeface="Calibri"/>
            </a:endParaRPr>
          </a:p>
        </p:txBody>
      </p:sp>
      <p:sp>
        <p:nvSpPr>
          <p:cNvPr id="300" name="Google Shape;300;p8"/>
          <p:cNvSpPr/>
          <p:nvPr/>
        </p:nvSpPr>
        <p:spPr>
          <a:xfrm>
            <a:off x="6080760" y="3081528"/>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Prints are hollow with a lattice inside. Solid is almost never needed.</a:t>
            </a:r>
            <a:endParaRPr b="0" i="0" sz="1300" u="none" cap="none" strike="noStrike">
              <a:solidFill>
                <a:schemeClr val="dk1"/>
              </a:solidFill>
              <a:latin typeface="Calibri"/>
              <a:ea typeface="Calibri"/>
              <a:cs typeface="Calibri"/>
              <a:sym typeface="Calibri"/>
            </a:endParaRPr>
          </a:p>
        </p:txBody>
      </p:sp>
      <p:sp>
        <p:nvSpPr>
          <p:cNvPr id="301" name="Google Shape;301;p8"/>
          <p:cNvSpPr/>
          <p:nvPr/>
        </p:nvSpPr>
        <p:spPr>
          <a:xfrm>
            <a:off x="662940" y="3936492"/>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594360" y="3867912"/>
            <a:ext cx="3017520" cy="82296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822960" y="4114800"/>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WALLS / PERIMETERS</a:t>
            </a:r>
            <a:endParaRPr b="0" i="0" sz="1250" u="none" cap="none" strike="noStrike">
              <a:solidFill>
                <a:schemeClr val="dk1"/>
              </a:solidFill>
              <a:latin typeface="Calibri"/>
              <a:ea typeface="Calibri"/>
              <a:cs typeface="Calibri"/>
              <a:sym typeface="Calibri"/>
            </a:endParaRPr>
          </a:p>
        </p:txBody>
      </p:sp>
      <p:sp>
        <p:nvSpPr>
          <p:cNvPr id="304" name="Google Shape;304;p8"/>
          <p:cNvSpPr/>
          <p:nvPr/>
        </p:nvSpPr>
        <p:spPr>
          <a:xfrm>
            <a:off x="3954780" y="3936492"/>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3886200" y="3867912"/>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3886200" y="4114800"/>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2–3</a:t>
            </a:r>
            <a:endParaRPr b="0" i="0" sz="1300" u="none" cap="none" strike="noStrike">
              <a:solidFill>
                <a:schemeClr val="dk1"/>
              </a:solidFill>
              <a:latin typeface="Calibri"/>
              <a:ea typeface="Calibri"/>
              <a:cs typeface="Calibri"/>
              <a:sym typeface="Calibri"/>
            </a:endParaRPr>
          </a:p>
        </p:txBody>
      </p:sp>
      <p:sp>
        <p:nvSpPr>
          <p:cNvPr id="307" name="Google Shape;307;p8"/>
          <p:cNvSpPr/>
          <p:nvPr/>
        </p:nvSpPr>
        <p:spPr>
          <a:xfrm>
            <a:off x="6080760" y="4123944"/>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This, not infill, is what makes a print feel solid.</a:t>
            </a:r>
            <a:endParaRPr b="0" i="0" sz="1300" u="none" cap="none" strike="noStrike">
              <a:solidFill>
                <a:schemeClr val="dk1"/>
              </a:solidFill>
              <a:latin typeface="Calibri"/>
              <a:ea typeface="Calibri"/>
              <a:cs typeface="Calibri"/>
              <a:sym typeface="Calibri"/>
            </a:endParaRPr>
          </a:p>
        </p:txBody>
      </p:sp>
      <p:sp>
        <p:nvSpPr>
          <p:cNvPr id="308" name="Google Shape;308;p8"/>
          <p:cNvSpPr/>
          <p:nvPr/>
        </p:nvSpPr>
        <p:spPr>
          <a:xfrm>
            <a:off x="662940" y="4978908"/>
            <a:ext cx="301752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594360" y="4910328"/>
            <a:ext cx="3017520" cy="82296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822960" y="5157216"/>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SUPPORTS</a:t>
            </a:r>
            <a:endParaRPr b="0" i="0" sz="1250" u="none" cap="none" strike="noStrike">
              <a:solidFill>
                <a:schemeClr val="dk1"/>
              </a:solidFill>
              <a:latin typeface="Calibri"/>
              <a:ea typeface="Calibri"/>
              <a:cs typeface="Calibri"/>
              <a:sym typeface="Calibri"/>
            </a:endParaRPr>
          </a:p>
        </p:txBody>
      </p:sp>
      <p:sp>
        <p:nvSpPr>
          <p:cNvPr id="311" name="Google Shape;311;p8"/>
          <p:cNvSpPr/>
          <p:nvPr/>
        </p:nvSpPr>
        <p:spPr>
          <a:xfrm>
            <a:off x="3954780" y="4978908"/>
            <a:ext cx="1828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3886200" y="4910328"/>
            <a:ext cx="1828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3886200" y="5157216"/>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Courier New"/>
              <a:buNone/>
            </a:pPr>
            <a:r>
              <a:rPr b="1" i="0" lang="en-US" sz="1300" u="none" cap="none" strike="noStrike">
                <a:solidFill>
                  <a:srgbClr val="000000"/>
                </a:solidFill>
                <a:latin typeface="Courier New"/>
                <a:ea typeface="Courier New"/>
                <a:cs typeface="Courier New"/>
                <a:sym typeface="Courier New"/>
              </a:rPr>
              <a:t>OFF</a:t>
            </a:r>
            <a:endParaRPr b="0" i="0" sz="1300" u="none" cap="none" strike="noStrike">
              <a:solidFill>
                <a:schemeClr val="dk1"/>
              </a:solidFill>
              <a:latin typeface="Calibri"/>
              <a:ea typeface="Calibri"/>
              <a:cs typeface="Calibri"/>
              <a:sym typeface="Calibri"/>
            </a:endParaRPr>
          </a:p>
        </p:txBody>
      </p:sp>
      <p:sp>
        <p:nvSpPr>
          <p:cNvPr id="314" name="Google Shape;314;p8"/>
          <p:cNvSpPr/>
          <p:nvPr/>
        </p:nvSpPr>
        <p:spPr>
          <a:xfrm>
            <a:off x="6080760" y="5166360"/>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00"/>
              <a:buFont typeface="Calibri"/>
              <a:buNone/>
            </a:pPr>
            <a:r>
              <a:rPr b="0" i="0" lang="en-US" sz="1300" u="none" cap="none" strike="noStrike">
                <a:solidFill>
                  <a:srgbClr val="FFFDF7"/>
                </a:solidFill>
                <a:latin typeface="Calibri"/>
                <a:ea typeface="Calibri"/>
                <a:cs typeface="Calibri"/>
                <a:sym typeface="Calibri"/>
              </a:rPr>
              <a:t>Not permitted for 0.1. Solve it with orientation.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319" name="Shape 319"/>
        <p:cNvGrpSpPr/>
        <p:nvPr/>
      </p:nvGrpSpPr>
      <p:grpSpPr>
        <a:xfrm>
          <a:off x="0" y="0"/>
          <a:ext cx="0" cy="0"/>
          <a:chOff x="0" y="0"/>
          <a:chExt cx="0" cy="0"/>
        </a:xfrm>
      </p:grpSpPr>
      <p:cxnSp>
        <p:nvCxnSpPr>
          <p:cNvPr id="320" name="Google Shape;320;p9"/>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21" name="Google Shape;321;p9"/>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PRINT IT OR CUT IT</a:t>
            </a:r>
            <a:endParaRPr b="0" i="0" sz="3300" u="none" cap="none" strike="noStrike">
              <a:solidFill>
                <a:schemeClr val="dk1"/>
              </a:solidFill>
              <a:latin typeface="Calibri"/>
              <a:ea typeface="Calibri"/>
              <a:cs typeface="Calibri"/>
              <a:sym typeface="Calibri"/>
            </a:endParaRPr>
          </a:p>
        </p:txBody>
      </p:sp>
      <p:sp>
        <p:nvSpPr>
          <p:cNvPr id="322" name="Google Shape;322;p9"/>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Printing is not the default. It is the expensive option.</a:t>
            </a:r>
            <a:endParaRPr b="0" i="0" sz="1350" u="none" cap="none" strike="noStrike">
              <a:solidFill>
                <a:schemeClr val="dk1"/>
              </a:solidFill>
              <a:latin typeface="Calibri"/>
              <a:ea typeface="Calibri"/>
              <a:cs typeface="Calibri"/>
              <a:sym typeface="Calibri"/>
            </a:endParaRPr>
          </a:p>
        </p:txBody>
      </p:sp>
      <p:sp>
        <p:nvSpPr>
          <p:cNvPr id="323" name="Google Shape;323;p9"/>
          <p:cNvSpPr/>
          <p:nvPr/>
        </p:nvSpPr>
        <p:spPr>
          <a:xfrm>
            <a:off x="662940" y="1805940"/>
            <a:ext cx="5349240" cy="35204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594360" y="1737360"/>
            <a:ext cx="5349240" cy="35204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594360" y="1737360"/>
            <a:ext cx="5349240" cy="566928"/>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868680" y="1847088"/>
            <a:ext cx="4800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CUT IT</a:t>
            </a:r>
            <a:endParaRPr b="0" i="0" sz="1600" u="none" cap="none" strike="noStrike">
              <a:solidFill>
                <a:schemeClr val="dk1"/>
              </a:solidFill>
              <a:latin typeface="Calibri"/>
              <a:ea typeface="Calibri"/>
              <a:cs typeface="Calibri"/>
              <a:sym typeface="Calibri"/>
            </a:endParaRPr>
          </a:p>
        </p:txBody>
      </p:sp>
      <p:sp>
        <p:nvSpPr>
          <p:cNvPr id="327" name="Google Shape;327;p9"/>
          <p:cNvSpPr/>
          <p:nvPr/>
        </p:nvSpPr>
        <p:spPr>
          <a:xfrm>
            <a:off x="914400" y="2578608"/>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1216152" y="2487168"/>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Prismatic — one profile, extruded</a:t>
            </a:r>
            <a:endParaRPr b="0" i="0" sz="1300" u="none" cap="none" strike="noStrike">
              <a:solidFill>
                <a:schemeClr val="dk1"/>
              </a:solidFill>
              <a:latin typeface="Calibri"/>
              <a:ea typeface="Calibri"/>
              <a:cs typeface="Calibri"/>
              <a:sym typeface="Calibri"/>
            </a:endParaRPr>
          </a:p>
        </p:txBody>
      </p:sp>
      <p:sp>
        <p:nvSpPr>
          <p:cNvPr id="329" name="Google Shape;329;p9"/>
          <p:cNvSpPr/>
          <p:nvPr/>
        </p:nvSpPr>
        <p:spPr>
          <a:xfrm>
            <a:off x="914400" y="3017520"/>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1216152" y="2926080"/>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Flat, or made of flat pieces</a:t>
            </a:r>
            <a:endParaRPr b="0" i="0" sz="1300" u="none" cap="none" strike="noStrike">
              <a:solidFill>
                <a:schemeClr val="dk1"/>
              </a:solidFill>
              <a:latin typeface="Calibri"/>
              <a:ea typeface="Calibri"/>
              <a:cs typeface="Calibri"/>
              <a:sym typeface="Calibri"/>
            </a:endParaRPr>
          </a:p>
        </p:txBody>
      </p:sp>
      <p:sp>
        <p:nvSpPr>
          <p:cNvPr id="331" name="Google Shape;331;p9"/>
          <p:cNvSpPr/>
          <p:nvPr/>
        </p:nvSpPr>
        <p:spPr>
          <a:xfrm>
            <a:off x="914400" y="3456432"/>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1216152" y="3364992"/>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Repeated many times</a:t>
            </a:r>
            <a:endParaRPr b="0" i="0" sz="1300" u="none" cap="none" strike="noStrike">
              <a:solidFill>
                <a:schemeClr val="dk1"/>
              </a:solidFill>
              <a:latin typeface="Calibri"/>
              <a:ea typeface="Calibri"/>
              <a:cs typeface="Calibri"/>
              <a:sym typeface="Calibri"/>
            </a:endParaRPr>
          </a:p>
        </p:txBody>
      </p:sp>
      <p:sp>
        <p:nvSpPr>
          <p:cNvPr id="333" name="Google Shape;333;p9"/>
          <p:cNvSpPr/>
          <p:nvPr/>
        </p:nvSpPr>
        <p:spPr>
          <a:xfrm>
            <a:off x="914400" y="3895344"/>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1216152" y="3803904"/>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Larger than your hand</a:t>
            </a:r>
            <a:endParaRPr b="0" i="0" sz="1300" u="none" cap="none" strike="noStrike">
              <a:solidFill>
                <a:schemeClr val="dk1"/>
              </a:solidFill>
              <a:latin typeface="Calibri"/>
              <a:ea typeface="Calibri"/>
              <a:cs typeface="Calibri"/>
              <a:sym typeface="Calibri"/>
            </a:endParaRPr>
          </a:p>
        </p:txBody>
      </p:sp>
      <p:sp>
        <p:nvSpPr>
          <p:cNvPr id="335" name="Google Shape;335;p9"/>
          <p:cNvSpPr/>
          <p:nvPr/>
        </p:nvSpPr>
        <p:spPr>
          <a:xfrm>
            <a:off x="914400" y="4334256"/>
            <a:ext cx="109728" cy="109728"/>
          </a:xfrm>
          <a:prstGeom prst="rect">
            <a:avLst/>
          </a:prstGeom>
          <a:solidFill>
            <a:srgbClr val="C6F035"/>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1216152" y="4242816"/>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Site model massing: stacked chipboard</a:t>
            </a:r>
            <a:endParaRPr b="0" i="0" sz="1300" u="none" cap="none" strike="noStrike">
              <a:solidFill>
                <a:schemeClr val="dk1"/>
              </a:solidFill>
              <a:latin typeface="Calibri"/>
              <a:ea typeface="Calibri"/>
              <a:cs typeface="Calibri"/>
              <a:sym typeface="Calibri"/>
            </a:endParaRPr>
          </a:p>
        </p:txBody>
      </p:sp>
      <p:sp>
        <p:nvSpPr>
          <p:cNvPr id="337" name="Google Shape;337;p9"/>
          <p:cNvSpPr/>
          <p:nvPr/>
        </p:nvSpPr>
        <p:spPr>
          <a:xfrm>
            <a:off x="914400" y="4681728"/>
            <a:ext cx="4709160" cy="384048"/>
          </a:xfrm>
          <a:prstGeom prst="rect">
            <a:avLst/>
          </a:prstGeom>
          <a:solidFill>
            <a:srgbClr val="C6F035"/>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1005840" y="4764024"/>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Minutes per sheet. Twenty buildings at once.</a:t>
            </a:r>
            <a:endParaRPr b="0" i="0" sz="1100" u="none" cap="none" strike="noStrike">
              <a:solidFill>
                <a:schemeClr val="dk1"/>
              </a:solidFill>
              <a:latin typeface="Calibri"/>
              <a:ea typeface="Calibri"/>
              <a:cs typeface="Calibri"/>
              <a:sym typeface="Calibri"/>
            </a:endParaRPr>
          </a:p>
        </p:txBody>
      </p:sp>
      <p:sp>
        <p:nvSpPr>
          <p:cNvPr id="339" name="Google Shape;339;p9"/>
          <p:cNvSpPr/>
          <p:nvPr/>
        </p:nvSpPr>
        <p:spPr>
          <a:xfrm>
            <a:off x="6286500" y="1805940"/>
            <a:ext cx="5349240" cy="35204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6217920" y="1737360"/>
            <a:ext cx="5349240" cy="35204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6217920" y="1737360"/>
            <a:ext cx="5349240" cy="566928"/>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6492240" y="1847088"/>
            <a:ext cx="4800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PRINT IT</a:t>
            </a:r>
            <a:endParaRPr b="0" i="0" sz="1600" u="none" cap="none" strike="noStrike">
              <a:solidFill>
                <a:schemeClr val="dk1"/>
              </a:solidFill>
              <a:latin typeface="Calibri"/>
              <a:ea typeface="Calibri"/>
              <a:cs typeface="Calibri"/>
              <a:sym typeface="Calibri"/>
            </a:endParaRPr>
          </a:p>
        </p:txBody>
      </p:sp>
      <p:sp>
        <p:nvSpPr>
          <p:cNvPr id="343" name="Google Shape;343;p9"/>
          <p:cNvSpPr/>
          <p:nvPr/>
        </p:nvSpPr>
        <p:spPr>
          <a:xfrm>
            <a:off x="6537960" y="2578608"/>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6839712" y="2487168"/>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Doubly curved — a vault, a shell</a:t>
            </a:r>
            <a:endParaRPr b="0" i="0" sz="1300" u="none" cap="none" strike="noStrike">
              <a:solidFill>
                <a:schemeClr val="dk1"/>
              </a:solidFill>
              <a:latin typeface="Calibri"/>
              <a:ea typeface="Calibri"/>
              <a:cs typeface="Calibri"/>
              <a:sym typeface="Calibri"/>
            </a:endParaRPr>
          </a:p>
        </p:txBody>
      </p:sp>
      <p:sp>
        <p:nvSpPr>
          <p:cNvPr id="345" name="Google Shape;345;p9"/>
          <p:cNvSpPr/>
          <p:nvPr/>
        </p:nvSpPr>
        <p:spPr>
          <a:xfrm>
            <a:off x="6537960" y="3017520"/>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6839712" y="2926080"/>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Undercuts a blade cannot reach</a:t>
            </a:r>
            <a:endParaRPr b="0" i="0" sz="1300" u="none" cap="none" strike="noStrike">
              <a:solidFill>
                <a:schemeClr val="dk1"/>
              </a:solidFill>
              <a:latin typeface="Calibri"/>
              <a:ea typeface="Calibri"/>
              <a:cs typeface="Calibri"/>
              <a:sym typeface="Calibri"/>
            </a:endParaRPr>
          </a:p>
        </p:txBody>
      </p:sp>
      <p:sp>
        <p:nvSpPr>
          <p:cNvPr id="347" name="Google Shape;347;p9"/>
          <p:cNvSpPr/>
          <p:nvPr/>
        </p:nvSpPr>
        <p:spPr>
          <a:xfrm>
            <a:off x="6537960" y="3456432"/>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6839712" y="3364992"/>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Detail in all three axes at once</a:t>
            </a:r>
            <a:endParaRPr b="0" i="0" sz="1300" u="none" cap="none" strike="noStrike">
              <a:solidFill>
                <a:schemeClr val="dk1"/>
              </a:solidFill>
              <a:latin typeface="Calibri"/>
              <a:ea typeface="Calibri"/>
              <a:cs typeface="Calibri"/>
              <a:sym typeface="Calibri"/>
            </a:endParaRPr>
          </a:p>
        </p:txBody>
      </p:sp>
      <p:sp>
        <p:nvSpPr>
          <p:cNvPr id="349" name="Google Shape;349;p9"/>
          <p:cNvSpPr/>
          <p:nvPr/>
        </p:nvSpPr>
        <p:spPr>
          <a:xfrm>
            <a:off x="6537960" y="3895344"/>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6839712" y="3803904"/>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Small and intricate</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6537960" y="4334256"/>
            <a:ext cx="109728" cy="109728"/>
          </a:xfrm>
          <a:prstGeom prst="rect">
            <a:avLst/>
          </a:prstGeom>
          <a:solidFill>
            <a:srgbClr val="FF4D8D"/>
          </a:solidFill>
          <a:ln cap="flat" cmpd="sng" w="158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6839712" y="4242816"/>
            <a:ext cx="4434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One-off with no flat description</a:t>
            </a:r>
            <a:endParaRPr b="0" i="0" sz="1300" u="none" cap="none" strike="noStrike">
              <a:solidFill>
                <a:schemeClr val="dk1"/>
              </a:solidFill>
              <a:latin typeface="Calibri"/>
              <a:ea typeface="Calibri"/>
              <a:cs typeface="Calibri"/>
              <a:sym typeface="Calibri"/>
            </a:endParaRPr>
          </a:p>
        </p:txBody>
      </p:sp>
      <p:sp>
        <p:nvSpPr>
          <p:cNvPr id="353" name="Google Shape;353;p9"/>
          <p:cNvSpPr/>
          <p:nvPr/>
        </p:nvSpPr>
        <p:spPr>
          <a:xfrm>
            <a:off x="6537960" y="4681728"/>
            <a:ext cx="4709160" cy="384048"/>
          </a:xfrm>
          <a:prstGeom prst="rect">
            <a:avLst/>
          </a:prstGeom>
          <a:solidFill>
            <a:srgbClr val="FF4D8D"/>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9"/>
          <p:cNvSpPr/>
          <p:nvPr/>
        </p:nvSpPr>
        <p:spPr>
          <a:xfrm>
            <a:off x="6629400" y="4764024"/>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Hours per object. One at a time.</a:t>
            </a:r>
            <a:endParaRPr b="0" i="0" sz="1100" u="none" cap="none" strike="noStrike">
              <a:solidFill>
                <a:schemeClr val="dk1"/>
              </a:solidFill>
              <a:latin typeface="Calibri"/>
              <a:ea typeface="Calibri"/>
              <a:cs typeface="Calibri"/>
              <a:sym typeface="Calibri"/>
            </a:endParaRPr>
          </a:p>
        </p:txBody>
      </p:sp>
      <p:sp>
        <p:nvSpPr>
          <p:cNvPr id="355" name="Google Shape;355;p9"/>
          <p:cNvSpPr/>
          <p:nvPr/>
        </p:nvSpPr>
        <p:spPr>
          <a:xfrm>
            <a:off x="662940" y="5509260"/>
            <a:ext cx="1097280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594360" y="5440680"/>
            <a:ext cx="10972800" cy="77724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914400" y="5632704"/>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THE TEST: can the object be described as a stack of flat profiles, or one profile extruded? Then cut it. A simple box printed is a box you waited six hours for.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00"/>
        </a:solidFill>
      </p:bgPr>
    </p:bg>
    <p:spTree>
      <p:nvGrpSpPr>
        <p:cNvPr id="362" name="Shape 362"/>
        <p:cNvGrpSpPr/>
        <p:nvPr/>
      </p:nvGrpSpPr>
      <p:grpSpPr>
        <a:xfrm>
          <a:off x="0" y="0"/>
          <a:ext cx="0" cy="0"/>
          <a:chOff x="0" y="0"/>
          <a:chExt cx="0" cy="0"/>
        </a:xfrm>
      </p:grpSpPr>
      <p:cxnSp>
        <p:nvCxnSpPr>
          <p:cNvPr id="363" name="Google Shape;363;p10"/>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64" name="Google Shape;364;p10"/>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FABLAB — HOW THIS WORKS HERE</a:t>
            </a:r>
            <a:endParaRPr b="0" i="0" sz="3300" u="none" cap="none" strike="noStrike">
              <a:solidFill>
                <a:schemeClr val="dk1"/>
              </a:solidFill>
              <a:latin typeface="Calibri"/>
              <a:ea typeface="Calibri"/>
              <a:cs typeface="Calibri"/>
              <a:sym typeface="Calibri"/>
            </a:endParaRPr>
          </a:p>
        </p:txBody>
      </p:sp>
      <p:sp>
        <p:nvSpPr>
          <p:cNvPr id="365" name="Google Shape;365;p10"/>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Machines are shared. The rules exist so everyone gets a print.</a:t>
            </a:r>
            <a:endParaRPr b="0" i="0" sz="1350" u="none" cap="none" strike="noStrike">
              <a:solidFill>
                <a:schemeClr val="dk1"/>
              </a:solidFill>
              <a:latin typeface="Calibri"/>
              <a:ea typeface="Calibri"/>
              <a:cs typeface="Calibri"/>
              <a:sym typeface="Calibri"/>
            </a:endParaRPr>
          </a:p>
        </p:txBody>
      </p:sp>
      <p:sp>
        <p:nvSpPr>
          <p:cNvPr id="366" name="Google Shape;366;p10"/>
          <p:cNvSpPr/>
          <p:nvPr/>
        </p:nvSpPr>
        <p:spPr>
          <a:xfrm>
            <a:off x="662940" y="1805940"/>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p:nvPr/>
        </p:nvSpPr>
        <p:spPr>
          <a:xfrm>
            <a:off x="594360" y="1737360"/>
            <a:ext cx="10972800" cy="82296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0"/>
          <p:cNvSpPr/>
          <p:nvPr/>
        </p:nvSpPr>
        <p:spPr>
          <a:xfrm>
            <a:off x="914400" y="1847088"/>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ORIENTATION COMPLETE</a:t>
            </a:r>
            <a:endParaRPr b="0" i="0" sz="1250" u="none" cap="none" strike="noStrike">
              <a:solidFill>
                <a:schemeClr val="dk1"/>
              </a:solidFill>
              <a:latin typeface="Calibri"/>
              <a:ea typeface="Calibri"/>
              <a:cs typeface="Calibri"/>
              <a:sym typeface="Calibri"/>
            </a:endParaRPr>
          </a:p>
        </p:txBody>
      </p:sp>
      <p:sp>
        <p:nvSpPr>
          <p:cNvPr id="369" name="Google Shape;369;p10"/>
          <p:cNvSpPr/>
          <p:nvPr/>
        </p:nvSpPr>
        <p:spPr>
          <a:xfrm>
            <a:off x="914400" y="2157984"/>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No Safety Orientation, no machine access. This was due at the end of Class 2.</a:t>
            </a:r>
            <a:endParaRPr b="0" i="0" sz="1250" u="none" cap="none" strike="noStrike">
              <a:solidFill>
                <a:schemeClr val="dk1"/>
              </a:solidFill>
              <a:latin typeface="Calibri"/>
              <a:ea typeface="Calibri"/>
              <a:cs typeface="Calibri"/>
              <a:sym typeface="Calibri"/>
            </a:endParaRPr>
          </a:p>
        </p:txBody>
      </p:sp>
      <p:sp>
        <p:nvSpPr>
          <p:cNvPr id="370" name="Google Shape;370;p10"/>
          <p:cNvSpPr/>
          <p:nvPr/>
        </p:nvSpPr>
        <p:spPr>
          <a:xfrm>
            <a:off x="662940" y="2848356"/>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p:nvPr/>
        </p:nvSpPr>
        <p:spPr>
          <a:xfrm>
            <a:off x="594360" y="2779776"/>
            <a:ext cx="10972800" cy="82296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
          <p:cNvSpPr/>
          <p:nvPr/>
        </p:nvSpPr>
        <p:spPr>
          <a:xfrm>
            <a:off x="914400" y="2889504"/>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NEVER TOUCH THE HOT END</a:t>
            </a:r>
            <a:endParaRPr b="0" i="0" sz="1250" u="none" cap="none" strike="noStrike">
              <a:solidFill>
                <a:schemeClr val="dk1"/>
              </a:solidFill>
              <a:latin typeface="Calibri"/>
              <a:ea typeface="Calibri"/>
              <a:cs typeface="Calibri"/>
              <a:sym typeface="Calibri"/>
            </a:endParaRPr>
          </a:p>
        </p:txBody>
      </p:sp>
      <p:sp>
        <p:nvSpPr>
          <p:cNvPr id="373" name="Google Shape;373;p10"/>
          <p:cNvSpPr/>
          <p:nvPr/>
        </p:nvSpPr>
        <p:spPr>
          <a:xfrm>
            <a:off x="914400" y="3200400"/>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The nozzle runs around 200–250°C and does not look hot. The bed is hot too.</a:t>
            </a:r>
            <a:endParaRPr b="0" i="0" sz="1250" u="none" cap="none" strike="noStrike">
              <a:solidFill>
                <a:schemeClr val="dk1"/>
              </a:solidFill>
              <a:latin typeface="Calibri"/>
              <a:ea typeface="Calibri"/>
              <a:cs typeface="Calibri"/>
              <a:sym typeface="Calibri"/>
            </a:endParaRPr>
          </a:p>
        </p:txBody>
      </p:sp>
      <p:sp>
        <p:nvSpPr>
          <p:cNvPr id="374" name="Google Shape;374;p10"/>
          <p:cNvSpPr/>
          <p:nvPr/>
        </p:nvSpPr>
        <p:spPr>
          <a:xfrm>
            <a:off x="662940" y="3890772"/>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p:nvPr/>
        </p:nvSpPr>
        <p:spPr>
          <a:xfrm>
            <a:off x="594360" y="3822192"/>
            <a:ext cx="10972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p:nvPr/>
        </p:nvSpPr>
        <p:spPr>
          <a:xfrm>
            <a:off x="914400" y="3931920"/>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DO NOT RESTART SOMEONE'S PRINT</a:t>
            </a:r>
            <a:endParaRPr b="0" i="0" sz="1250" u="none" cap="none" strike="noStrike">
              <a:solidFill>
                <a:schemeClr val="dk1"/>
              </a:solidFill>
              <a:latin typeface="Calibri"/>
              <a:ea typeface="Calibri"/>
              <a:cs typeface="Calibri"/>
              <a:sym typeface="Calibri"/>
            </a:endParaRPr>
          </a:p>
        </p:txBody>
      </p:sp>
      <p:sp>
        <p:nvSpPr>
          <p:cNvPr id="377" name="Google Shape;377;p10"/>
          <p:cNvSpPr/>
          <p:nvPr/>
        </p:nvSpPr>
        <p:spPr>
          <a:xfrm>
            <a:off x="914400" y="4242816"/>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If a job looks like it is failing, tell staff. Do not intervene.</a:t>
            </a:r>
            <a:endParaRPr b="0" i="0" sz="1250" u="none" cap="none" strike="noStrike">
              <a:solidFill>
                <a:schemeClr val="dk1"/>
              </a:solidFill>
              <a:latin typeface="Calibri"/>
              <a:ea typeface="Calibri"/>
              <a:cs typeface="Calibri"/>
              <a:sym typeface="Calibri"/>
            </a:endParaRPr>
          </a:p>
        </p:txBody>
      </p:sp>
      <p:sp>
        <p:nvSpPr>
          <p:cNvPr id="378" name="Google Shape;378;p10"/>
          <p:cNvSpPr/>
          <p:nvPr/>
        </p:nvSpPr>
        <p:spPr>
          <a:xfrm>
            <a:off x="662940" y="4933188"/>
            <a:ext cx="10972800" cy="8229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p:nvPr/>
        </p:nvSpPr>
        <p:spPr>
          <a:xfrm>
            <a:off x="594360" y="4864608"/>
            <a:ext cx="1097280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a:off x="914400" y="4974336"/>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i="0" lang="en-US" sz="1250" u="none" cap="none" strike="noStrike">
                <a:solidFill>
                  <a:srgbClr val="000000"/>
                </a:solidFill>
                <a:latin typeface="Arial"/>
                <a:ea typeface="Arial"/>
                <a:cs typeface="Arial"/>
                <a:sym typeface="Arial"/>
              </a:rPr>
              <a:t>QUEUE IS FIRST COME</a:t>
            </a:r>
            <a:endParaRPr b="0" i="0" sz="1250" u="none" cap="none" strike="noStrike">
              <a:solidFill>
                <a:schemeClr val="dk1"/>
              </a:solidFill>
              <a:latin typeface="Calibri"/>
              <a:ea typeface="Calibri"/>
              <a:cs typeface="Calibri"/>
              <a:sym typeface="Calibri"/>
            </a:endParaRPr>
          </a:p>
        </p:txBody>
      </p:sp>
      <p:sp>
        <p:nvSpPr>
          <p:cNvPr id="381" name="Google Shape;381;p10"/>
          <p:cNvSpPr/>
          <p:nvPr/>
        </p:nvSpPr>
        <p:spPr>
          <a:xfrm>
            <a:off x="914400" y="5285232"/>
            <a:ext cx="10515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b="0" i="0" lang="en-US" sz="1250" u="none" cap="none" strike="noStrike">
                <a:solidFill>
                  <a:srgbClr val="000000"/>
                </a:solidFill>
                <a:latin typeface="Calibri"/>
                <a:ea typeface="Calibri"/>
                <a:cs typeface="Calibri"/>
                <a:sym typeface="Calibri"/>
              </a:rPr>
              <a:t>A print that finishes at 3am still finishes. One that starts at the deadline does not.</a:t>
            </a:r>
            <a:endParaRPr b="0" i="0" sz="1250" u="none" cap="none" strike="noStrike">
              <a:solidFill>
                <a:schemeClr val="dk1"/>
              </a:solidFill>
              <a:latin typeface="Calibri"/>
              <a:ea typeface="Calibri"/>
              <a:cs typeface="Calibri"/>
              <a:sym typeface="Calibri"/>
            </a:endParaRPr>
          </a:p>
        </p:txBody>
      </p:sp>
      <p:sp>
        <p:nvSpPr>
          <p:cNvPr id="382" name="Google Shape;382;p10"/>
          <p:cNvSpPr/>
          <p:nvPr/>
        </p:nvSpPr>
        <p:spPr>
          <a:xfrm>
            <a:off x="662940" y="5920740"/>
            <a:ext cx="10972800" cy="5486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0"/>
          <p:cNvSpPr/>
          <p:nvPr/>
        </p:nvSpPr>
        <p:spPr>
          <a:xfrm>
            <a:off x="594360" y="5852160"/>
            <a:ext cx="10972800" cy="548640"/>
          </a:xfrm>
          <a:prstGeom prst="rect">
            <a:avLst/>
          </a:prstGeom>
          <a:solidFill>
            <a:srgbClr val="0000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0"/>
          <p:cNvSpPr/>
          <p:nvPr/>
        </p:nvSpPr>
        <p:spPr>
          <a:xfrm>
            <a:off x="914400" y="5961888"/>
            <a:ext cx="10515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E500"/>
              </a:buClr>
              <a:buSzPts val="1100"/>
              <a:buFont typeface="Courier New"/>
              <a:buNone/>
            </a:pPr>
            <a:r>
              <a:rPr b="0" i="0" lang="en-US" sz="1100" u="none" cap="none" strike="noStrike">
                <a:solidFill>
                  <a:srgbClr val="FFE500"/>
                </a:solidFill>
                <a:latin typeface="Courier New"/>
                <a:ea typeface="Courier New"/>
                <a:cs typeface="Courier New"/>
                <a:sym typeface="Courier New"/>
              </a:rPr>
              <a:t>`[CONFIRM WITH DIEGO: BOOKING METHOD, FILE NAMING, PICK-UP, MATERIAL ALLOCATION]`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389" name="Shape 389"/>
        <p:cNvGrpSpPr/>
        <p:nvPr/>
      </p:nvGrpSpPr>
      <p:grpSpPr>
        <a:xfrm>
          <a:off x="0" y="0"/>
          <a:ext cx="0" cy="0"/>
          <a:chOff x="0" y="0"/>
          <a:chExt cx="0" cy="0"/>
        </a:xfrm>
      </p:grpSpPr>
      <p:cxnSp>
        <p:nvCxnSpPr>
          <p:cNvPr id="390" name="Google Shape;390;p11"/>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91" name="Google Shape;391;p11"/>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SIX WAYS IT GOES WRONG</a:t>
            </a:r>
            <a:endParaRPr b="0" i="0" sz="3300" u="none" cap="none" strike="noStrike">
              <a:solidFill>
                <a:schemeClr val="dk1"/>
              </a:solidFill>
              <a:latin typeface="Calibri"/>
              <a:ea typeface="Calibri"/>
              <a:cs typeface="Calibri"/>
              <a:sym typeface="Calibri"/>
            </a:endParaRPr>
          </a:p>
        </p:txBody>
      </p:sp>
      <p:sp>
        <p:nvSpPr>
          <p:cNvPr id="392" name="Google Shape;392;p11"/>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b="0" i="0" lang="en-US" sz="1350" u="none" cap="none" strike="noStrike">
                <a:solidFill>
                  <a:srgbClr val="6B6B6B"/>
                </a:solidFill>
                <a:latin typeface="Calibri"/>
                <a:ea typeface="Calibri"/>
                <a:cs typeface="Calibri"/>
                <a:sym typeface="Calibri"/>
              </a:rPr>
              <a:t>Learn to name the failure. Naming it is most of the diagnosis.</a:t>
            </a:r>
            <a:endParaRPr b="0" i="0" sz="1350" u="none" cap="none" strike="noStrike">
              <a:solidFill>
                <a:schemeClr val="dk1"/>
              </a:solidFill>
              <a:latin typeface="Calibri"/>
              <a:ea typeface="Calibri"/>
              <a:cs typeface="Calibri"/>
              <a:sym typeface="Calibri"/>
            </a:endParaRPr>
          </a:p>
        </p:txBody>
      </p:sp>
      <p:sp>
        <p:nvSpPr>
          <p:cNvPr id="393" name="Google Shape;393;p11"/>
          <p:cNvSpPr/>
          <p:nvPr/>
        </p:nvSpPr>
        <p:spPr>
          <a:xfrm>
            <a:off x="662940" y="1732788"/>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594360" y="1664208"/>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594360" y="1664208"/>
            <a:ext cx="3383280" cy="402336"/>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795528" y="1719072"/>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WARPING</a:t>
            </a:r>
            <a:endParaRPr b="0" i="0" sz="1150" u="none" cap="none" strike="noStrike">
              <a:solidFill>
                <a:schemeClr val="dk1"/>
              </a:solidFill>
              <a:latin typeface="Calibri"/>
              <a:ea typeface="Calibri"/>
              <a:cs typeface="Calibri"/>
              <a:sym typeface="Calibri"/>
            </a:endParaRPr>
          </a:p>
        </p:txBody>
      </p:sp>
      <p:sp>
        <p:nvSpPr>
          <p:cNvPr id="397" name="Google Shape;397;p11"/>
          <p:cNvSpPr/>
          <p:nvPr/>
        </p:nvSpPr>
        <p:spPr>
          <a:xfrm>
            <a:off x="795528" y="2194560"/>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868680" y="2971800"/>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1069848" y="2660904"/>
            <a:ext cx="502920" cy="310896"/>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 name="Google Shape;400;p11"/>
          <p:cNvCxnSpPr/>
          <p:nvPr/>
        </p:nvCxnSpPr>
        <p:spPr>
          <a:xfrm rot="10800000">
            <a:off x="923544" y="2843784"/>
            <a:ext cx="146304" cy="128016"/>
          </a:xfrm>
          <a:prstGeom prst="straightConnector1">
            <a:avLst/>
          </a:prstGeom>
          <a:noFill/>
          <a:ln cap="flat" cmpd="sng" w="25400">
            <a:solidFill>
              <a:srgbClr val="FF4D8D"/>
            </a:solidFill>
            <a:prstDash val="solid"/>
            <a:round/>
            <a:headEnd len="sm" w="sm" type="none"/>
            <a:tailEnd len="sm" w="sm" type="none"/>
          </a:ln>
        </p:spPr>
      </p:cxnSp>
      <p:cxnSp>
        <p:nvCxnSpPr>
          <p:cNvPr id="401" name="Google Shape;401;p11"/>
          <p:cNvCxnSpPr/>
          <p:nvPr/>
        </p:nvCxnSpPr>
        <p:spPr>
          <a:xfrm flipH="1" rot="10800000">
            <a:off x="1572768" y="2843784"/>
            <a:ext cx="146304" cy="128016"/>
          </a:xfrm>
          <a:prstGeom prst="straightConnector1">
            <a:avLst/>
          </a:prstGeom>
          <a:noFill/>
          <a:ln cap="flat" cmpd="sng" w="25400">
            <a:solidFill>
              <a:srgbClr val="FF4D8D"/>
            </a:solidFill>
            <a:prstDash val="solid"/>
            <a:round/>
            <a:headEnd len="sm" w="sm" type="none"/>
            <a:tailEnd len="sm" w="sm" type="none"/>
          </a:ln>
        </p:spPr>
      </p:cxnSp>
      <p:sp>
        <p:nvSpPr>
          <p:cNvPr id="402" name="Google Shape;402;p11"/>
          <p:cNvSpPr/>
          <p:nvPr/>
        </p:nvSpPr>
        <p:spPr>
          <a:xfrm>
            <a:off x="1984248" y="2176272"/>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Corners lift off the bed and the base curves.</a:t>
            </a:r>
            <a:endParaRPr b="0" i="0" sz="1050" u="none" cap="none" strike="noStrike">
              <a:solidFill>
                <a:schemeClr val="dk1"/>
              </a:solidFill>
              <a:latin typeface="Calibri"/>
              <a:ea typeface="Calibri"/>
              <a:cs typeface="Calibri"/>
              <a:sym typeface="Calibri"/>
            </a:endParaRPr>
          </a:p>
        </p:txBody>
      </p:sp>
      <p:sp>
        <p:nvSpPr>
          <p:cNvPr id="403" name="Google Shape;403;p11"/>
          <p:cNvSpPr/>
          <p:nvPr/>
        </p:nvSpPr>
        <p:spPr>
          <a:xfrm>
            <a:off x="1984248" y="2688336"/>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04" name="Google Shape;404;p11"/>
          <p:cNvSpPr/>
          <p:nvPr/>
        </p:nvSpPr>
        <p:spPr>
          <a:xfrm>
            <a:off x="1984248" y="2852928"/>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Cooling shrinkage beats bed adhesion.</a:t>
            </a:r>
            <a:endParaRPr b="0" i="0" sz="1000" u="none" cap="none" strike="noStrike">
              <a:solidFill>
                <a:schemeClr val="dk1"/>
              </a:solidFill>
              <a:latin typeface="Calibri"/>
              <a:ea typeface="Calibri"/>
              <a:cs typeface="Calibri"/>
              <a:sym typeface="Calibri"/>
            </a:endParaRPr>
          </a:p>
        </p:txBody>
      </p:sp>
      <p:sp>
        <p:nvSpPr>
          <p:cNvPr id="405" name="Google Shape;405;p11"/>
          <p:cNvSpPr/>
          <p:nvPr/>
        </p:nvSpPr>
        <p:spPr>
          <a:xfrm>
            <a:off x="1984248" y="3200400"/>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06" name="Google Shape;406;p11"/>
          <p:cNvSpPr/>
          <p:nvPr/>
        </p:nvSpPr>
        <p:spPr>
          <a:xfrm>
            <a:off x="1984248" y="3364992"/>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Clean bed, add a brim, keep drafts off it.</a:t>
            </a:r>
            <a:endParaRPr b="0" i="0" sz="1000" u="none" cap="none" strike="noStrike">
              <a:solidFill>
                <a:schemeClr val="dk1"/>
              </a:solidFill>
              <a:latin typeface="Calibri"/>
              <a:ea typeface="Calibri"/>
              <a:cs typeface="Calibri"/>
              <a:sym typeface="Calibri"/>
            </a:endParaRPr>
          </a:p>
        </p:txBody>
      </p:sp>
      <p:sp>
        <p:nvSpPr>
          <p:cNvPr id="407" name="Google Shape;407;p11"/>
          <p:cNvSpPr/>
          <p:nvPr/>
        </p:nvSpPr>
        <p:spPr>
          <a:xfrm>
            <a:off x="4457700" y="1732788"/>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4389120" y="1664208"/>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4389120" y="1664208"/>
            <a:ext cx="3383280" cy="402336"/>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4590288" y="1719072"/>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ELEPHANT'S FOOT</a:t>
            </a:r>
            <a:endParaRPr b="0" i="0" sz="1150" u="none" cap="none" strike="noStrike">
              <a:solidFill>
                <a:schemeClr val="dk1"/>
              </a:solidFill>
              <a:latin typeface="Calibri"/>
              <a:ea typeface="Calibri"/>
              <a:cs typeface="Calibri"/>
              <a:sym typeface="Calibri"/>
            </a:endParaRPr>
          </a:p>
        </p:txBody>
      </p:sp>
      <p:sp>
        <p:nvSpPr>
          <p:cNvPr id="411" name="Google Shape;411;p11"/>
          <p:cNvSpPr/>
          <p:nvPr/>
        </p:nvSpPr>
        <p:spPr>
          <a:xfrm>
            <a:off x="4590288" y="2194560"/>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4663440" y="2971800"/>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4919472" y="2587752"/>
            <a:ext cx="402336" cy="310896"/>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4828032" y="2880360"/>
            <a:ext cx="585216" cy="91440"/>
          </a:xfrm>
          <a:prstGeom prst="rect">
            <a:avLst/>
          </a:prstGeom>
          <a:solidFill>
            <a:srgbClr val="FFE500"/>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p:nvPr/>
        </p:nvSpPr>
        <p:spPr>
          <a:xfrm>
            <a:off x="5779008" y="2176272"/>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The bottom few layers bulge out wider than the rest.</a:t>
            </a:r>
            <a:endParaRPr b="0" i="0" sz="1050" u="none" cap="none" strike="noStrike">
              <a:solidFill>
                <a:schemeClr val="dk1"/>
              </a:solidFill>
              <a:latin typeface="Calibri"/>
              <a:ea typeface="Calibri"/>
              <a:cs typeface="Calibri"/>
              <a:sym typeface="Calibri"/>
            </a:endParaRPr>
          </a:p>
        </p:txBody>
      </p:sp>
      <p:sp>
        <p:nvSpPr>
          <p:cNvPr id="416" name="Google Shape;416;p11"/>
          <p:cNvSpPr/>
          <p:nvPr/>
        </p:nvSpPr>
        <p:spPr>
          <a:xfrm>
            <a:off x="5779008" y="2688336"/>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17" name="Google Shape;417;p11"/>
          <p:cNvSpPr/>
          <p:nvPr/>
        </p:nvSpPr>
        <p:spPr>
          <a:xfrm>
            <a:off x="5779008" y="2852928"/>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Nozzle too close, or bed too hot.</a:t>
            </a:r>
            <a:endParaRPr b="0" i="0" sz="1000" u="none" cap="none" strike="noStrike">
              <a:solidFill>
                <a:schemeClr val="dk1"/>
              </a:solidFill>
              <a:latin typeface="Calibri"/>
              <a:ea typeface="Calibri"/>
              <a:cs typeface="Calibri"/>
              <a:sym typeface="Calibri"/>
            </a:endParaRPr>
          </a:p>
        </p:txBody>
      </p:sp>
      <p:sp>
        <p:nvSpPr>
          <p:cNvPr id="418" name="Google Shape;418;p11"/>
          <p:cNvSpPr/>
          <p:nvPr/>
        </p:nvSpPr>
        <p:spPr>
          <a:xfrm>
            <a:off x="5779008" y="3200400"/>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19" name="Google Shape;419;p11"/>
          <p:cNvSpPr/>
          <p:nvPr/>
        </p:nvSpPr>
        <p:spPr>
          <a:xfrm>
            <a:off x="5779008" y="3364992"/>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Slicer setting — or chamfer the base yourself.</a:t>
            </a:r>
            <a:endParaRPr b="0" i="0" sz="1000" u="none" cap="none" strike="noStrike">
              <a:solidFill>
                <a:schemeClr val="dk1"/>
              </a:solidFill>
              <a:latin typeface="Calibri"/>
              <a:ea typeface="Calibri"/>
              <a:cs typeface="Calibri"/>
              <a:sym typeface="Calibri"/>
            </a:endParaRPr>
          </a:p>
        </p:txBody>
      </p:sp>
      <p:sp>
        <p:nvSpPr>
          <p:cNvPr id="420" name="Google Shape;420;p11"/>
          <p:cNvSpPr/>
          <p:nvPr/>
        </p:nvSpPr>
        <p:spPr>
          <a:xfrm>
            <a:off x="8252460" y="1732788"/>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a:off x="8183880" y="1664208"/>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a:off x="8183880" y="1664208"/>
            <a:ext cx="3383280" cy="402336"/>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1"/>
          <p:cNvSpPr/>
          <p:nvPr/>
        </p:nvSpPr>
        <p:spPr>
          <a:xfrm>
            <a:off x="8385048" y="1719072"/>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STRINGING</a:t>
            </a:r>
            <a:endParaRPr b="0" i="0" sz="1150" u="none" cap="none" strike="noStrike">
              <a:solidFill>
                <a:schemeClr val="dk1"/>
              </a:solidFill>
              <a:latin typeface="Calibri"/>
              <a:ea typeface="Calibri"/>
              <a:cs typeface="Calibri"/>
              <a:sym typeface="Calibri"/>
            </a:endParaRPr>
          </a:p>
        </p:txBody>
      </p:sp>
      <p:sp>
        <p:nvSpPr>
          <p:cNvPr id="424" name="Google Shape;424;p11"/>
          <p:cNvSpPr/>
          <p:nvPr/>
        </p:nvSpPr>
        <p:spPr>
          <a:xfrm>
            <a:off x="8385048" y="2194560"/>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458200" y="2971800"/>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531352" y="2606040"/>
            <a:ext cx="256032" cy="365760"/>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1"/>
          <p:cNvSpPr/>
          <p:nvPr/>
        </p:nvSpPr>
        <p:spPr>
          <a:xfrm>
            <a:off x="9043416" y="2606040"/>
            <a:ext cx="256032" cy="365760"/>
          </a:xfrm>
          <a:prstGeom prst="rect">
            <a:avLst/>
          </a:prstGeom>
          <a:solidFill>
            <a:srgbClr val="FFFDF7"/>
          </a:solidFill>
          <a:ln cap="flat" cmpd="sng" w="222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8" name="Google Shape;428;p11"/>
          <p:cNvCxnSpPr/>
          <p:nvPr/>
        </p:nvCxnSpPr>
        <p:spPr>
          <a:xfrm>
            <a:off x="8787384" y="2670048"/>
            <a:ext cx="256032" cy="18288"/>
          </a:xfrm>
          <a:prstGeom prst="straightConnector1">
            <a:avLst/>
          </a:prstGeom>
          <a:noFill/>
          <a:ln cap="flat" cmpd="sng" w="15875">
            <a:solidFill>
              <a:srgbClr val="00D9E1"/>
            </a:solidFill>
            <a:prstDash val="solid"/>
            <a:round/>
            <a:headEnd len="sm" w="sm" type="none"/>
            <a:tailEnd len="sm" w="sm" type="none"/>
          </a:ln>
        </p:spPr>
      </p:cxnSp>
      <p:cxnSp>
        <p:nvCxnSpPr>
          <p:cNvPr id="429" name="Google Shape;429;p11"/>
          <p:cNvCxnSpPr/>
          <p:nvPr/>
        </p:nvCxnSpPr>
        <p:spPr>
          <a:xfrm>
            <a:off x="8787384" y="2752344"/>
            <a:ext cx="256032" cy="18288"/>
          </a:xfrm>
          <a:prstGeom prst="straightConnector1">
            <a:avLst/>
          </a:prstGeom>
          <a:noFill/>
          <a:ln cap="flat" cmpd="sng" w="15875">
            <a:solidFill>
              <a:srgbClr val="00D9E1"/>
            </a:solidFill>
            <a:prstDash val="solid"/>
            <a:round/>
            <a:headEnd len="sm" w="sm" type="none"/>
            <a:tailEnd len="sm" w="sm" type="none"/>
          </a:ln>
        </p:spPr>
      </p:cxnSp>
      <p:cxnSp>
        <p:nvCxnSpPr>
          <p:cNvPr id="430" name="Google Shape;430;p11"/>
          <p:cNvCxnSpPr/>
          <p:nvPr/>
        </p:nvCxnSpPr>
        <p:spPr>
          <a:xfrm>
            <a:off x="8787384" y="2834640"/>
            <a:ext cx="256032" cy="18288"/>
          </a:xfrm>
          <a:prstGeom prst="straightConnector1">
            <a:avLst/>
          </a:prstGeom>
          <a:noFill/>
          <a:ln cap="flat" cmpd="sng" w="15875">
            <a:solidFill>
              <a:srgbClr val="00D9E1"/>
            </a:solidFill>
            <a:prstDash val="solid"/>
            <a:round/>
            <a:headEnd len="sm" w="sm" type="none"/>
            <a:tailEnd len="sm" w="sm" type="none"/>
          </a:ln>
        </p:spPr>
      </p:cxnSp>
      <p:sp>
        <p:nvSpPr>
          <p:cNvPr id="431" name="Google Shape;431;p11"/>
          <p:cNvSpPr/>
          <p:nvPr/>
        </p:nvSpPr>
        <p:spPr>
          <a:xfrm>
            <a:off x="9573768" y="2176272"/>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Fine hairs between separate parts of the print.</a:t>
            </a:r>
            <a:endParaRPr b="0" i="0" sz="1050" u="none" cap="none" strike="noStrike">
              <a:solidFill>
                <a:schemeClr val="dk1"/>
              </a:solidFill>
              <a:latin typeface="Calibri"/>
              <a:ea typeface="Calibri"/>
              <a:cs typeface="Calibri"/>
              <a:sym typeface="Calibri"/>
            </a:endParaRPr>
          </a:p>
        </p:txBody>
      </p:sp>
      <p:sp>
        <p:nvSpPr>
          <p:cNvPr id="432" name="Google Shape;432;p11"/>
          <p:cNvSpPr/>
          <p:nvPr/>
        </p:nvSpPr>
        <p:spPr>
          <a:xfrm>
            <a:off x="9573768" y="2688336"/>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33" name="Google Shape;433;p11"/>
          <p:cNvSpPr/>
          <p:nvPr/>
        </p:nvSpPr>
        <p:spPr>
          <a:xfrm>
            <a:off x="9573768" y="2852928"/>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The nozzle oozes while travelling.</a:t>
            </a:r>
            <a:endParaRPr b="0" i="0" sz="1000" u="none" cap="none" strike="noStrike">
              <a:solidFill>
                <a:schemeClr val="dk1"/>
              </a:solidFill>
              <a:latin typeface="Calibri"/>
              <a:ea typeface="Calibri"/>
              <a:cs typeface="Calibri"/>
              <a:sym typeface="Calibri"/>
            </a:endParaRPr>
          </a:p>
        </p:txBody>
      </p:sp>
      <p:sp>
        <p:nvSpPr>
          <p:cNvPr id="434" name="Google Shape;434;p11"/>
          <p:cNvSpPr/>
          <p:nvPr/>
        </p:nvSpPr>
        <p:spPr>
          <a:xfrm>
            <a:off x="9573768" y="3200400"/>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35" name="Google Shape;435;p11"/>
          <p:cNvSpPr/>
          <p:nvPr/>
        </p:nvSpPr>
        <p:spPr>
          <a:xfrm>
            <a:off x="9573768" y="3364992"/>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Retraction on. Fewer travel moves — ordering again.</a:t>
            </a:r>
            <a:endParaRPr b="0" i="0" sz="1000" u="none" cap="none" strike="noStrike">
              <a:solidFill>
                <a:schemeClr val="dk1"/>
              </a:solidFill>
              <a:latin typeface="Calibri"/>
              <a:ea typeface="Calibri"/>
              <a:cs typeface="Calibri"/>
              <a:sym typeface="Calibri"/>
            </a:endParaRPr>
          </a:p>
        </p:txBody>
      </p:sp>
      <p:sp>
        <p:nvSpPr>
          <p:cNvPr id="436" name="Google Shape;436;p11"/>
          <p:cNvSpPr/>
          <p:nvPr/>
        </p:nvSpPr>
        <p:spPr>
          <a:xfrm>
            <a:off x="662940" y="4174236"/>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594360" y="4105656"/>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594360" y="4105656"/>
            <a:ext cx="3383280" cy="402336"/>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795528" y="4160520"/>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LAYER SEPARATION</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795528" y="4636008"/>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68680" y="5413248"/>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1124712" y="5230368"/>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p:nvPr/>
        </p:nvSpPr>
        <p:spPr>
          <a:xfrm>
            <a:off x="1124712" y="5138928"/>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1124712" y="5047488"/>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1124712" y="4892040"/>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1124712" y="4800600"/>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1124712" y="4709160"/>
            <a:ext cx="402336" cy="91440"/>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 name="Google Shape;448;p11"/>
          <p:cNvCxnSpPr/>
          <p:nvPr/>
        </p:nvCxnSpPr>
        <p:spPr>
          <a:xfrm>
            <a:off x="1069848" y="5084064"/>
            <a:ext cx="512064" cy="0"/>
          </a:xfrm>
          <a:prstGeom prst="straightConnector1">
            <a:avLst/>
          </a:prstGeom>
          <a:noFill/>
          <a:ln cap="flat" cmpd="sng" w="28575">
            <a:solidFill>
              <a:srgbClr val="FF4D8D"/>
            </a:solidFill>
            <a:prstDash val="solid"/>
            <a:round/>
            <a:headEnd len="sm" w="sm" type="none"/>
            <a:tailEnd len="sm" w="sm" type="none"/>
          </a:ln>
        </p:spPr>
      </p:cxnSp>
      <p:sp>
        <p:nvSpPr>
          <p:cNvPr id="449" name="Google Shape;449;p11"/>
          <p:cNvSpPr/>
          <p:nvPr/>
        </p:nvSpPr>
        <p:spPr>
          <a:xfrm>
            <a:off x="1984248" y="4617720"/>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The print splits cleanly along a layer line.</a:t>
            </a:r>
            <a:endParaRPr b="0" i="0" sz="1050" u="none" cap="none" strike="noStrike">
              <a:solidFill>
                <a:schemeClr val="dk1"/>
              </a:solidFill>
              <a:latin typeface="Calibri"/>
              <a:ea typeface="Calibri"/>
              <a:cs typeface="Calibri"/>
              <a:sym typeface="Calibri"/>
            </a:endParaRPr>
          </a:p>
        </p:txBody>
      </p:sp>
      <p:sp>
        <p:nvSpPr>
          <p:cNvPr id="450" name="Google Shape;450;p11"/>
          <p:cNvSpPr/>
          <p:nvPr/>
        </p:nvSpPr>
        <p:spPr>
          <a:xfrm>
            <a:off x="1984248" y="5129784"/>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51" name="Google Shape;451;p11"/>
          <p:cNvSpPr/>
          <p:nvPr/>
        </p:nvSpPr>
        <p:spPr>
          <a:xfrm>
            <a:off x="1984248" y="5294376"/>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Weak bond, or the load runs across layers.</a:t>
            </a:r>
            <a:endParaRPr b="0" i="0" sz="1000" u="none" cap="none" strike="noStrike">
              <a:solidFill>
                <a:schemeClr val="dk1"/>
              </a:solidFill>
              <a:latin typeface="Calibri"/>
              <a:ea typeface="Calibri"/>
              <a:cs typeface="Calibri"/>
              <a:sym typeface="Calibri"/>
            </a:endParaRPr>
          </a:p>
        </p:txBody>
      </p:sp>
      <p:sp>
        <p:nvSpPr>
          <p:cNvPr id="452" name="Google Shape;452;p11"/>
          <p:cNvSpPr/>
          <p:nvPr/>
        </p:nvSpPr>
        <p:spPr>
          <a:xfrm>
            <a:off x="1984248" y="5641848"/>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53" name="Google Shape;453;p11"/>
          <p:cNvSpPr/>
          <p:nvPr/>
        </p:nvSpPr>
        <p:spPr>
          <a:xfrm>
            <a:off x="1984248" y="5806440"/>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Reorient so stress runs along layers, not across.</a:t>
            </a:r>
            <a:endParaRPr b="0" i="0" sz="1000" u="none" cap="none" strike="noStrike">
              <a:solidFill>
                <a:schemeClr val="dk1"/>
              </a:solidFill>
              <a:latin typeface="Calibri"/>
              <a:ea typeface="Calibri"/>
              <a:cs typeface="Calibri"/>
              <a:sym typeface="Calibri"/>
            </a:endParaRPr>
          </a:p>
        </p:txBody>
      </p:sp>
      <p:sp>
        <p:nvSpPr>
          <p:cNvPr id="454" name="Google Shape;454;p11"/>
          <p:cNvSpPr/>
          <p:nvPr/>
        </p:nvSpPr>
        <p:spPr>
          <a:xfrm>
            <a:off x="4457700" y="4174236"/>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4389120" y="4105656"/>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a:off x="4389120" y="4105656"/>
            <a:ext cx="3383280" cy="402336"/>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a:off x="4590288" y="4160520"/>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DROOP</a:t>
            </a:r>
            <a:endParaRPr b="0" i="0" sz="1150" u="none" cap="none" strike="noStrike">
              <a:solidFill>
                <a:schemeClr val="dk1"/>
              </a:solidFill>
              <a:latin typeface="Calibri"/>
              <a:ea typeface="Calibri"/>
              <a:cs typeface="Calibri"/>
              <a:sym typeface="Calibri"/>
            </a:endParaRPr>
          </a:p>
        </p:txBody>
      </p:sp>
      <p:sp>
        <p:nvSpPr>
          <p:cNvPr id="458" name="Google Shape;458;p11"/>
          <p:cNvSpPr/>
          <p:nvPr/>
        </p:nvSpPr>
        <p:spPr>
          <a:xfrm>
            <a:off x="4590288" y="4636008"/>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4663440" y="5413248"/>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4791456" y="5312664"/>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4791456" y="5212080"/>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a:off x="4791456" y="5111496"/>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1"/>
          <p:cNvSpPr/>
          <p:nvPr/>
        </p:nvSpPr>
        <p:spPr>
          <a:xfrm>
            <a:off x="4791456" y="5010912"/>
            <a:ext cx="274320" cy="100584"/>
          </a:xfrm>
          <a:prstGeom prst="rect">
            <a:avLst/>
          </a:prstGeom>
          <a:solidFill>
            <a:srgbClr val="FFFD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a:off x="5047488" y="5010912"/>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a:off x="5148072" y="5074920"/>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5248656" y="5138928"/>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5349240" y="5202936"/>
            <a:ext cx="146304" cy="91440"/>
          </a:xfrm>
          <a:prstGeom prst="rect">
            <a:avLst/>
          </a:prstGeom>
          <a:solidFill>
            <a:srgbClr val="FFE5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5779008" y="4617720"/>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An overhang sags into the space below it.</a:t>
            </a:r>
            <a:endParaRPr b="0" i="0" sz="1050" u="none" cap="none" strike="noStrike">
              <a:solidFill>
                <a:schemeClr val="dk1"/>
              </a:solidFill>
              <a:latin typeface="Calibri"/>
              <a:ea typeface="Calibri"/>
              <a:cs typeface="Calibri"/>
              <a:sym typeface="Calibri"/>
            </a:endParaRPr>
          </a:p>
        </p:txBody>
      </p:sp>
      <p:sp>
        <p:nvSpPr>
          <p:cNvPr id="469" name="Google Shape;469;p11"/>
          <p:cNvSpPr/>
          <p:nvPr/>
        </p:nvSpPr>
        <p:spPr>
          <a:xfrm>
            <a:off x="5779008" y="5129784"/>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70" name="Google Shape;470;p11"/>
          <p:cNvSpPr/>
          <p:nvPr/>
        </p:nvSpPr>
        <p:spPr>
          <a:xfrm>
            <a:off x="5779008" y="5294376"/>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Nothing underneath to build on.</a:t>
            </a:r>
            <a:endParaRPr b="0" i="0" sz="1000" u="none" cap="none" strike="noStrike">
              <a:solidFill>
                <a:schemeClr val="dk1"/>
              </a:solidFill>
              <a:latin typeface="Calibri"/>
              <a:ea typeface="Calibri"/>
              <a:cs typeface="Calibri"/>
              <a:sym typeface="Calibri"/>
            </a:endParaRPr>
          </a:p>
        </p:txBody>
      </p:sp>
      <p:sp>
        <p:nvSpPr>
          <p:cNvPr id="471" name="Google Shape;471;p11"/>
          <p:cNvSpPr/>
          <p:nvPr/>
        </p:nvSpPr>
        <p:spPr>
          <a:xfrm>
            <a:off x="5779008" y="5641848"/>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72" name="Google Shape;472;p11"/>
          <p:cNvSpPr/>
          <p:nvPr/>
        </p:nvSpPr>
        <p:spPr>
          <a:xfrm>
            <a:off x="5779008" y="5806440"/>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Orientation. If that fails, change the geometry.</a:t>
            </a:r>
            <a:endParaRPr b="0" i="0" sz="1000" u="none" cap="none" strike="noStrike">
              <a:solidFill>
                <a:schemeClr val="dk1"/>
              </a:solidFill>
              <a:latin typeface="Calibri"/>
              <a:ea typeface="Calibri"/>
              <a:cs typeface="Calibri"/>
              <a:sym typeface="Calibri"/>
            </a:endParaRPr>
          </a:p>
        </p:txBody>
      </p:sp>
      <p:sp>
        <p:nvSpPr>
          <p:cNvPr id="473" name="Google Shape;473;p11"/>
          <p:cNvSpPr/>
          <p:nvPr/>
        </p:nvSpPr>
        <p:spPr>
          <a:xfrm>
            <a:off x="8252460" y="4174236"/>
            <a:ext cx="3383280" cy="2148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8183880" y="4105656"/>
            <a:ext cx="3383280" cy="214884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8183880" y="4105656"/>
            <a:ext cx="3383280" cy="402336"/>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8385048" y="4160520"/>
            <a:ext cx="29809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SPAGHETTI</a:t>
            </a:r>
            <a:endParaRPr b="0" i="0" sz="1150" u="none" cap="none" strike="noStrike">
              <a:solidFill>
                <a:schemeClr val="dk1"/>
              </a:solidFill>
              <a:latin typeface="Calibri"/>
              <a:ea typeface="Calibri"/>
              <a:cs typeface="Calibri"/>
              <a:sym typeface="Calibri"/>
            </a:endParaRPr>
          </a:p>
        </p:txBody>
      </p:sp>
      <p:sp>
        <p:nvSpPr>
          <p:cNvPr id="477" name="Google Shape;477;p11"/>
          <p:cNvSpPr/>
          <p:nvPr/>
        </p:nvSpPr>
        <p:spPr>
          <a:xfrm>
            <a:off x="8385048" y="4636008"/>
            <a:ext cx="1051560" cy="868680"/>
          </a:xfrm>
          <a:prstGeom prst="rect">
            <a:avLst/>
          </a:prstGeom>
          <a:solidFill>
            <a:srgbClr val="F4F4EE"/>
          </a:solidFill>
          <a:ln cap="flat" cmpd="sng" w="15875">
            <a:solidFill>
              <a:srgbClr val="C9C9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a:off x="8458200" y="5413248"/>
            <a:ext cx="905256" cy="54864"/>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9" name="Google Shape;479;p11"/>
          <p:cNvCxnSpPr/>
          <p:nvPr/>
        </p:nvCxnSpPr>
        <p:spPr>
          <a:xfrm>
            <a:off x="8567928" y="4745736"/>
            <a:ext cx="201168" cy="164592"/>
          </a:xfrm>
          <a:prstGeom prst="straightConnector1">
            <a:avLst/>
          </a:prstGeom>
          <a:noFill/>
          <a:ln cap="flat" cmpd="sng" w="19050">
            <a:solidFill>
              <a:srgbClr val="FF4D8D"/>
            </a:solidFill>
            <a:prstDash val="solid"/>
            <a:round/>
            <a:headEnd len="sm" w="sm" type="none"/>
            <a:tailEnd len="sm" w="sm" type="none"/>
          </a:ln>
        </p:spPr>
      </p:cxnSp>
      <p:cxnSp>
        <p:nvCxnSpPr>
          <p:cNvPr id="480" name="Google Shape;480;p11"/>
          <p:cNvCxnSpPr/>
          <p:nvPr/>
        </p:nvCxnSpPr>
        <p:spPr>
          <a:xfrm flipH="1">
            <a:off x="8641080" y="4910328"/>
            <a:ext cx="128016" cy="182880"/>
          </a:xfrm>
          <a:prstGeom prst="straightConnector1">
            <a:avLst/>
          </a:prstGeom>
          <a:noFill/>
          <a:ln cap="flat" cmpd="sng" w="19050">
            <a:solidFill>
              <a:srgbClr val="FF4D8D"/>
            </a:solidFill>
            <a:prstDash val="solid"/>
            <a:round/>
            <a:headEnd len="sm" w="sm" type="none"/>
            <a:tailEnd len="sm" w="sm" type="none"/>
          </a:ln>
        </p:spPr>
      </p:cxnSp>
      <p:cxnSp>
        <p:nvCxnSpPr>
          <p:cNvPr id="481" name="Google Shape;481;p11"/>
          <p:cNvCxnSpPr/>
          <p:nvPr/>
        </p:nvCxnSpPr>
        <p:spPr>
          <a:xfrm flipH="1" rot="10800000">
            <a:off x="8641080" y="4818888"/>
            <a:ext cx="310896" cy="274320"/>
          </a:xfrm>
          <a:prstGeom prst="straightConnector1">
            <a:avLst/>
          </a:prstGeom>
          <a:noFill/>
          <a:ln cap="flat" cmpd="sng" w="19050">
            <a:solidFill>
              <a:srgbClr val="FF4D8D"/>
            </a:solidFill>
            <a:prstDash val="solid"/>
            <a:round/>
            <a:headEnd len="sm" w="sm" type="none"/>
            <a:tailEnd len="sm" w="sm" type="none"/>
          </a:ln>
        </p:spPr>
      </p:cxnSp>
      <p:cxnSp>
        <p:nvCxnSpPr>
          <p:cNvPr id="482" name="Google Shape;482;p11"/>
          <p:cNvCxnSpPr/>
          <p:nvPr/>
        </p:nvCxnSpPr>
        <p:spPr>
          <a:xfrm flipH="1">
            <a:off x="8705088" y="4818888"/>
            <a:ext cx="246888" cy="384048"/>
          </a:xfrm>
          <a:prstGeom prst="straightConnector1">
            <a:avLst/>
          </a:prstGeom>
          <a:noFill/>
          <a:ln cap="flat" cmpd="sng" w="19050">
            <a:solidFill>
              <a:srgbClr val="FF4D8D"/>
            </a:solidFill>
            <a:prstDash val="solid"/>
            <a:round/>
            <a:headEnd len="sm" w="sm" type="none"/>
            <a:tailEnd len="sm" w="sm" type="none"/>
          </a:ln>
        </p:spPr>
      </p:cxnSp>
      <p:cxnSp>
        <p:nvCxnSpPr>
          <p:cNvPr id="483" name="Google Shape;483;p11"/>
          <p:cNvCxnSpPr/>
          <p:nvPr/>
        </p:nvCxnSpPr>
        <p:spPr>
          <a:xfrm flipH="1" rot="10800000">
            <a:off x="8705088" y="5020056"/>
            <a:ext cx="393192" cy="182880"/>
          </a:xfrm>
          <a:prstGeom prst="straightConnector1">
            <a:avLst/>
          </a:prstGeom>
          <a:noFill/>
          <a:ln cap="flat" cmpd="sng" w="19050">
            <a:solidFill>
              <a:srgbClr val="FF4D8D"/>
            </a:solidFill>
            <a:prstDash val="solid"/>
            <a:round/>
            <a:headEnd len="sm" w="sm" type="none"/>
            <a:tailEnd len="sm" w="sm" type="none"/>
          </a:ln>
        </p:spPr>
      </p:cxnSp>
      <p:cxnSp>
        <p:nvCxnSpPr>
          <p:cNvPr id="484" name="Google Shape;484;p11"/>
          <p:cNvCxnSpPr/>
          <p:nvPr/>
        </p:nvCxnSpPr>
        <p:spPr>
          <a:xfrm flipH="1">
            <a:off x="8842248" y="5020056"/>
            <a:ext cx="256032" cy="274320"/>
          </a:xfrm>
          <a:prstGeom prst="straightConnector1">
            <a:avLst/>
          </a:prstGeom>
          <a:noFill/>
          <a:ln cap="flat" cmpd="sng" w="19050">
            <a:solidFill>
              <a:srgbClr val="FF4D8D"/>
            </a:solidFill>
            <a:prstDash val="solid"/>
            <a:round/>
            <a:headEnd len="sm" w="sm" type="none"/>
            <a:tailEnd len="sm" w="sm" type="none"/>
          </a:ln>
        </p:spPr>
      </p:cxnSp>
      <p:cxnSp>
        <p:nvCxnSpPr>
          <p:cNvPr id="485" name="Google Shape;485;p11"/>
          <p:cNvCxnSpPr/>
          <p:nvPr/>
        </p:nvCxnSpPr>
        <p:spPr>
          <a:xfrm flipH="1" rot="10800000">
            <a:off x="8842248" y="4892040"/>
            <a:ext cx="365760" cy="402336"/>
          </a:xfrm>
          <a:prstGeom prst="straightConnector1">
            <a:avLst/>
          </a:prstGeom>
          <a:noFill/>
          <a:ln cap="flat" cmpd="sng" w="19050">
            <a:solidFill>
              <a:srgbClr val="FF4D8D"/>
            </a:solidFill>
            <a:prstDash val="solid"/>
            <a:round/>
            <a:headEnd len="sm" w="sm" type="none"/>
            <a:tailEnd len="sm" w="sm" type="none"/>
          </a:ln>
        </p:spPr>
      </p:cxnSp>
      <p:cxnSp>
        <p:nvCxnSpPr>
          <p:cNvPr id="486" name="Google Shape;486;p11"/>
          <p:cNvCxnSpPr/>
          <p:nvPr/>
        </p:nvCxnSpPr>
        <p:spPr>
          <a:xfrm flipH="1">
            <a:off x="8659368" y="4892040"/>
            <a:ext cx="548640" cy="246888"/>
          </a:xfrm>
          <a:prstGeom prst="straightConnector1">
            <a:avLst/>
          </a:prstGeom>
          <a:noFill/>
          <a:ln cap="flat" cmpd="sng" w="19050">
            <a:solidFill>
              <a:srgbClr val="FF4D8D"/>
            </a:solidFill>
            <a:prstDash val="solid"/>
            <a:round/>
            <a:headEnd len="sm" w="sm" type="none"/>
            <a:tailEnd len="sm" w="sm" type="none"/>
          </a:ln>
        </p:spPr>
      </p:cxnSp>
      <p:sp>
        <p:nvSpPr>
          <p:cNvPr id="487" name="Google Shape;487;p11"/>
          <p:cNvSpPr/>
          <p:nvPr/>
        </p:nvSpPr>
        <p:spPr>
          <a:xfrm>
            <a:off x="9573768" y="4617720"/>
            <a:ext cx="1792224"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The nozzle draws in mid-air. A nest of filament.</a:t>
            </a:r>
            <a:endParaRPr b="0" i="0" sz="1050" u="none" cap="none" strike="noStrike">
              <a:solidFill>
                <a:schemeClr val="dk1"/>
              </a:solidFill>
              <a:latin typeface="Calibri"/>
              <a:ea typeface="Calibri"/>
              <a:cs typeface="Calibri"/>
              <a:sym typeface="Calibri"/>
            </a:endParaRPr>
          </a:p>
        </p:txBody>
      </p:sp>
      <p:sp>
        <p:nvSpPr>
          <p:cNvPr id="488" name="Google Shape;488;p11"/>
          <p:cNvSpPr/>
          <p:nvPr/>
        </p:nvSpPr>
        <p:spPr>
          <a:xfrm>
            <a:off x="9573768" y="5129784"/>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CAUSE</a:t>
            </a:r>
            <a:endParaRPr b="0" i="0" sz="750" u="none" cap="none" strike="noStrike">
              <a:solidFill>
                <a:schemeClr val="dk1"/>
              </a:solidFill>
              <a:latin typeface="Calibri"/>
              <a:ea typeface="Calibri"/>
              <a:cs typeface="Calibri"/>
              <a:sym typeface="Calibri"/>
            </a:endParaRPr>
          </a:p>
        </p:txBody>
      </p:sp>
      <p:sp>
        <p:nvSpPr>
          <p:cNvPr id="489" name="Google Shape;489;p11"/>
          <p:cNvSpPr/>
          <p:nvPr/>
        </p:nvSpPr>
        <p:spPr>
          <a:xfrm>
            <a:off x="9573768" y="5294376"/>
            <a:ext cx="1792224" cy="31089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The part came off the bed part-way through.</a:t>
            </a:r>
            <a:endParaRPr b="0" i="0" sz="1000" u="none" cap="none" strike="noStrike">
              <a:solidFill>
                <a:schemeClr val="dk1"/>
              </a:solidFill>
              <a:latin typeface="Calibri"/>
              <a:ea typeface="Calibri"/>
              <a:cs typeface="Calibri"/>
              <a:sym typeface="Calibri"/>
            </a:endParaRPr>
          </a:p>
        </p:txBody>
      </p:sp>
      <p:sp>
        <p:nvSpPr>
          <p:cNvPr id="490" name="Google Shape;490;p11"/>
          <p:cNvSpPr/>
          <p:nvPr/>
        </p:nvSpPr>
        <p:spPr>
          <a:xfrm>
            <a:off x="9573768" y="5641848"/>
            <a:ext cx="179222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Arial"/>
              <a:buNone/>
            </a:pPr>
            <a:r>
              <a:rPr b="1" i="0" lang="en-US" sz="750" u="none" cap="none" strike="noStrike">
                <a:solidFill>
                  <a:srgbClr val="6B6B6B"/>
                </a:solidFill>
                <a:latin typeface="Arial"/>
                <a:ea typeface="Arial"/>
                <a:cs typeface="Arial"/>
                <a:sym typeface="Arial"/>
              </a:rPr>
              <a:t>FIX</a:t>
            </a:r>
            <a:endParaRPr b="0" i="0" sz="750" u="none" cap="none" strike="noStrike">
              <a:solidFill>
                <a:schemeClr val="dk1"/>
              </a:solidFill>
              <a:latin typeface="Calibri"/>
              <a:ea typeface="Calibri"/>
              <a:cs typeface="Calibri"/>
              <a:sym typeface="Calibri"/>
            </a:endParaRPr>
          </a:p>
        </p:txBody>
      </p:sp>
      <p:sp>
        <p:nvSpPr>
          <p:cNvPr id="491" name="Google Shape;491;p11"/>
          <p:cNvSpPr/>
          <p:nvPr/>
        </p:nvSpPr>
        <p:spPr>
          <a:xfrm>
            <a:off x="9573768" y="5806440"/>
            <a:ext cx="1792224" cy="3657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Adhesion. Check the first layer before walking away.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96" name="Shape 496"/>
        <p:cNvGrpSpPr/>
        <p:nvPr/>
      </p:nvGrpSpPr>
      <p:grpSpPr>
        <a:xfrm>
          <a:off x="0" y="0"/>
          <a:ext cx="0" cy="0"/>
          <a:chOff x="0" y="0"/>
          <a:chExt cx="0" cy="0"/>
        </a:xfrm>
      </p:grpSpPr>
      <p:sp>
        <p:nvSpPr>
          <p:cNvPr id="497" name="Google Shape;497;p12"/>
          <p:cNvSpPr/>
          <p:nvPr/>
        </p:nvSpPr>
        <p:spPr>
          <a:xfrm>
            <a:off x="662940" y="635508"/>
            <a:ext cx="1737360" cy="38404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594360" y="566928"/>
            <a:ext cx="1737360" cy="384048"/>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2"/>
          <p:cNvSpPr/>
          <p:nvPr/>
        </p:nvSpPr>
        <p:spPr>
          <a:xfrm>
            <a:off x="594360" y="630936"/>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FOR 0.1</a:t>
            </a:r>
            <a:endParaRPr b="0" i="0" sz="1100" u="none" cap="none" strike="noStrike">
              <a:solidFill>
                <a:schemeClr val="dk1"/>
              </a:solidFill>
              <a:latin typeface="Calibri"/>
              <a:ea typeface="Calibri"/>
              <a:cs typeface="Calibri"/>
              <a:sym typeface="Calibri"/>
            </a:endParaRPr>
          </a:p>
        </p:txBody>
      </p:sp>
      <p:sp>
        <p:nvSpPr>
          <p:cNvPr id="500" name="Google Shape;500;p12"/>
          <p:cNvSpPr/>
          <p:nvPr/>
        </p:nvSpPr>
        <p:spPr>
          <a:xfrm>
            <a:off x="594360" y="1152144"/>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200"/>
              <a:buFont typeface="Arial"/>
              <a:buNone/>
            </a:pPr>
            <a:r>
              <a:rPr b="1" i="0" lang="en-US" sz="3200" u="none" cap="none" strike="noStrike">
                <a:solidFill>
                  <a:srgbClr val="FFFDF7"/>
                </a:solidFill>
                <a:latin typeface="Arial"/>
                <a:ea typeface="Arial"/>
                <a:cs typeface="Arial"/>
                <a:sym typeface="Arial"/>
              </a:rPr>
              <a:t>YOUR PRINT</a:t>
            </a:r>
            <a:endParaRPr b="0" i="0" sz="3200" u="none" cap="none" strike="noStrike">
              <a:solidFill>
                <a:schemeClr val="dk1"/>
              </a:solidFill>
              <a:latin typeface="Calibri"/>
              <a:ea typeface="Calibri"/>
              <a:cs typeface="Calibri"/>
              <a:sym typeface="Calibri"/>
            </a:endParaRPr>
          </a:p>
        </p:txBody>
      </p:sp>
      <p:cxnSp>
        <p:nvCxnSpPr>
          <p:cNvPr id="501" name="Google Shape;501;p12"/>
          <p:cNvCxnSpPr/>
          <p:nvPr/>
        </p:nvCxnSpPr>
        <p:spPr>
          <a:xfrm>
            <a:off x="594360" y="1810512"/>
            <a:ext cx="10972800" cy="0"/>
          </a:xfrm>
          <a:prstGeom prst="straightConnector1">
            <a:avLst/>
          </a:prstGeom>
          <a:noFill/>
          <a:ln cap="flat" cmpd="sng" w="50800">
            <a:solidFill>
              <a:srgbClr val="FFFDF7"/>
            </a:solidFill>
            <a:prstDash val="solid"/>
            <a:round/>
            <a:headEnd len="sm" w="sm" type="none"/>
            <a:tailEnd len="sm" w="sm" type="none"/>
          </a:ln>
        </p:spPr>
      </p:cxnSp>
      <p:sp>
        <p:nvSpPr>
          <p:cNvPr id="502" name="Google Shape;502;p12"/>
          <p:cNvSpPr/>
          <p:nvPr/>
        </p:nvSpPr>
        <p:spPr>
          <a:xfrm>
            <a:off x="594360" y="1929384"/>
            <a:ext cx="10972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9E1"/>
              </a:buClr>
              <a:buSzPts val="1300"/>
              <a:buFont typeface="Arial"/>
              <a:buNone/>
            </a:pPr>
            <a:r>
              <a:rPr b="1" i="0" lang="en-US" sz="1300" u="none" cap="none" strike="noStrike">
                <a:solidFill>
                  <a:srgbClr val="00D9E1"/>
                </a:solidFill>
                <a:latin typeface="Arial"/>
                <a:ea typeface="Arial"/>
                <a:cs typeface="Arial"/>
                <a:sym typeface="Arial"/>
              </a:rPr>
              <a:t>PRESENTED AT THE MIDTERM — CLASS 8, OCT 13</a:t>
            </a:r>
            <a:endParaRPr b="0" i="0" sz="1300" u="none" cap="none" strike="noStrike">
              <a:solidFill>
                <a:schemeClr val="dk1"/>
              </a:solidFill>
              <a:latin typeface="Calibri"/>
              <a:ea typeface="Calibri"/>
              <a:cs typeface="Calibri"/>
              <a:sym typeface="Calibri"/>
            </a:endParaRPr>
          </a:p>
        </p:txBody>
      </p:sp>
      <p:sp>
        <p:nvSpPr>
          <p:cNvPr id="503" name="Google Shape;503;p12"/>
          <p:cNvSpPr/>
          <p:nvPr/>
        </p:nvSpPr>
        <p:spPr>
          <a:xfrm>
            <a:off x="662940" y="258318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2"/>
          <p:cNvSpPr/>
          <p:nvPr/>
        </p:nvSpPr>
        <p:spPr>
          <a:xfrm>
            <a:off x="594360" y="2514600"/>
            <a:ext cx="2377440" cy="640080"/>
          </a:xfrm>
          <a:prstGeom prst="rect">
            <a:avLst/>
          </a:prstGeom>
          <a:solidFill>
            <a:srgbClr val="C6F035"/>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2"/>
          <p:cNvSpPr/>
          <p:nvPr/>
        </p:nvSpPr>
        <p:spPr>
          <a:xfrm>
            <a:off x="594360" y="267919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60 mm</a:t>
            </a:r>
            <a:endParaRPr b="0" i="0" sz="1350" u="none" cap="none" strike="noStrike">
              <a:solidFill>
                <a:schemeClr val="dk1"/>
              </a:solidFill>
              <a:latin typeface="Calibri"/>
              <a:ea typeface="Calibri"/>
              <a:cs typeface="Calibri"/>
              <a:sym typeface="Calibri"/>
            </a:endParaRPr>
          </a:p>
        </p:txBody>
      </p:sp>
      <p:sp>
        <p:nvSpPr>
          <p:cNvPr id="506" name="Google Shape;506;p12"/>
          <p:cNvSpPr/>
          <p:nvPr/>
        </p:nvSpPr>
        <p:spPr>
          <a:xfrm>
            <a:off x="3291840" y="268833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maximum bounding box</a:t>
            </a:r>
            <a:endParaRPr b="0" i="0" sz="1400" u="none" cap="none" strike="noStrike">
              <a:solidFill>
                <a:schemeClr val="dk1"/>
              </a:solidFill>
              <a:latin typeface="Calibri"/>
              <a:ea typeface="Calibri"/>
              <a:cs typeface="Calibri"/>
              <a:sym typeface="Calibri"/>
            </a:endParaRPr>
          </a:p>
        </p:txBody>
      </p:sp>
      <p:sp>
        <p:nvSpPr>
          <p:cNvPr id="507" name="Google Shape;507;p12"/>
          <p:cNvSpPr/>
          <p:nvPr/>
        </p:nvSpPr>
        <p:spPr>
          <a:xfrm>
            <a:off x="662940" y="340614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2"/>
          <p:cNvSpPr/>
          <p:nvPr/>
        </p:nvSpPr>
        <p:spPr>
          <a:xfrm>
            <a:off x="594360" y="3337560"/>
            <a:ext cx="2377440" cy="640080"/>
          </a:xfrm>
          <a:prstGeom prst="rect">
            <a:avLst/>
          </a:prstGeom>
          <a:solidFill>
            <a:srgbClr val="FF4D8D"/>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2"/>
          <p:cNvSpPr/>
          <p:nvPr/>
        </p:nvSpPr>
        <p:spPr>
          <a:xfrm>
            <a:off x="594360" y="350215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NO SUPPORTS</a:t>
            </a:r>
            <a:endParaRPr b="0" i="0" sz="1350" u="none" cap="none" strike="noStrike">
              <a:solidFill>
                <a:schemeClr val="dk1"/>
              </a:solidFill>
              <a:latin typeface="Calibri"/>
              <a:ea typeface="Calibri"/>
              <a:cs typeface="Calibri"/>
              <a:sym typeface="Calibri"/>
            </a:endParaRPr>
          </a:p>
        </p:txBody>
      </p:sp>
      <p:sp>
        <p:nvSpPr>
          <p:cNvPr id="510" name="Google Shape;510;p12"/>
          <p:cNvSpPr/>
          <p:nvPr/>
        </p:nvSpPr>
        <p:spPr>
          <a:xfrm>
            <a:off x="3291840" y="351129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orientation is the only lever</a:t>
            </a:r>
            <a:endParaRPr b="0" i="0" sz="1400" u="none" cap="none" strike="noStrike">
              <a:solidFill>
                <a:schemeClr val="dk1"/>
              </a:solidFill>
              <a:latin typeface="Calibri"/>
              <a:ea typeface="Calibri"/>
              <a:cs typeface="Calibri"/>
              <a:sym typeface="Calibri"/>
            </a:endParaRPr>
          </a:p>
        </p:txBody>
      </p:sp>
      <p:sp>
        <p:nvSpPr>
          <p:cNvPr id="511" name="Google Shape;511;p12"/>
          <p:cNvSpPr/>
          <p:nvPr/>
        </p:nvSpPr>
        <p:spPr>
          <a:xfrm>
            <a:off x="662940" y="422910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2"/>
          <p:cNvSpPr/>
          <p:nvPr/>
        </p:nvSpPr>
        <p:spPr>
          <a:xfrm>
            <a:off x="594360" y="4160520"/>
            <a:ext cx="2377440" cy="640080"/>
          </a:xfrm>
          <a:prstGeom prst="rect">
            <a:avLst/>
          </a:prstGeom>
          <a:solidFill>
            <a:srgbClr val="FFE5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2"/>
          <p:cNvSpPr/>
          <p:nvPr/>
        </p:nvSpPr>
        <p:spPr>
          <a:xfrm>
            <a:off x="594360" y="432511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DRAFT</a:t>
            </a:r>
            <a:endParaRPr b="0" i="0" sz="1350" u="none" cap="none" strike="noStrike">
              <a:solidFill>
                <a:schemeClr val="dk1"/>
              </a:solidFill>
              <a:latin typeface="Calibri"/>
              <a:ea typeface="Calibri"/>
              <a:cs typeface="Calibri"/>
              <a:sym typeface="Calibri"/>
            </a:endParaRPr>
          </a:p>
        </p:txBody>
      </p:sp>
      <p:sp>
        <p:nvSpPr>
          <p:cNvPr id="514" name="Google Shape;514;p12"/>
          <p:cNvSpPr/>
          <p:nvPr/>
        </p:nvSpPr>
        <p:spPr>
          <a:xfrm>
            <a:off x="3291840" y="433425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layer height — this is a test, not a showpiece</a:t>
            </a:r>
            <a:endParaRPr b="0" i="0" sz="1400" u="none" cap="none" strike="noStrike">
              <a:solidFill>
                <a:schemeClr val="dk1"/>
              </a:solidFill>
              <a:latin typeface="Calibri"/>
              <a:ea typeface="Calibri"/>
              <a:cs typeface="Calibri"/>
              <a:sym typeface="Calibri"/>
            </a:endParaRPr>
          </a:p>
        </p:txBody>
      </p:sp>
      <p:sp>
        <p:nvSpPr>
          <p:cNvPr id="515" name="Google Shape;515;p12"/>
          <p:cNvSpPr/>
          <p:nvPr/>
        </p:nvSpPr>
        <p:spPr>
          <a:xfrm>
            <a:off x="662940" y="5052060"/>
            <a:ext cx="2377440" cy="64008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2"/>
          <p:cNvSpPr/>
          <p:nvPr/>
        </p:nvSpPr>
        <p:spPr>
          <a:xfrm>
            <a:off x="594360" y="4983480"/>
            <a:ext cx="2377440" cy="640080"/>
          </a:xfrm>
          <a:prstGeom prst="rect">
            <a:avLst/>
          </a:prstGeom>
          <a:solidFill>
            <a:srgbClr val="00D9E1"/>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2"/>
          <p:cNvSpPr/>
          <p:nvPr/>
        </p:nvSpPr>
        <p:spPr>
          <a:xfrm>
            <a:off x="594360" y="5148072"/>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1 DIAGRAM</a:t>
            </a:r>
            <a:endParaRPr b="0" i="0" sz="1350" u="none" cap="none" strike="noStrike">
              <a:solidFill>
                <a:schemeClr val="dk1"/>
              </a:solidFill>
              <a:latin typeface="Calibri"/>
              <a:ea typeface="Calibri"/>
              <a:cs typeface="Calibri"/>
              <a:sym typeface="Calibri"/>
            </a:endParaRPr>
          </a:p>
        </p:txBody>
      </p:sp>
      <p:sp>
        <p:nvSpPr>
          <p:cNvPr id="518" name="Google Shape;518;p12"/>
          <p:cNvSpPr/>
          <p:nvPr/>
        </p:nvSpPr>
        <p:spPr>
          <a:xfrm>
            <a:off x="3291840" y="515721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00"/>
              <a:buFont typeface="Calibri"/>
              <a:buNone/>
            </a:pPr>
            <a:r>
              <a:rPr b="0" i="0" lang="en-US" sz="1400" u="none" cap="none" strike="noStrike">
                <a:solidFill>
                  <a:srgbClr val="FFFDF7"/>
                </a:solidFill>
                <a:latin typeface="Calibri"/>
                <a:ea typeface="Calibri"/>
                <a:cs typeface="Calibri"/>
                <a:sym typeface="Calibri"/>
              </a:rPr>
              <a:t>chosen orientation, the overhangs it produces, why not the alternative</a:t>
            </a:r>
            <a:endParaRPr b="0" i="0" sz="1400" u="none" cap="none" strike="noStrike">
              <a:solidFill>
                <a:schemeClr val="dk1"/>
              </a:solidFill>
              <a:latin typeface="Calibri"/>
              <a:ea typeface="Calibri"/>
              <a:cs typeface="Calibri"/>
              <a:sym typeface="Calibri"/>
            </a:endParaRPr>
          </a:p>
        </p:txBody>
      </p:sp>
      <p:sp>
        <p:nvSpPr>
          <p:cNvPr id="519" name="Google Shape;519;p12"/>
          <p:cNvSpPr/>
          <p:nvPr/>
        </p:nvSpPr>
        <p:spPr>
          <a:xfrm>
            <a:off x="662940" y="5920740"/>
            <a:ext cx="10972800" cy="594360"/>
          </a:xfrm>
          <a:prstGeom prst="rect">
            <a:avLst/>
          </a:prstGeom>
          <a:solidFill>
            <a:srgbClr val="FF4D8D"/>
          </a:solidFill>
          <a:ln cap="flat" cmpd="sng" w="9525">
            <a:solidFill>
              <a:srgbClr val="FF4D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2"/>
          <p:cNvSpPr/>
          <p:nvPr/>
        </p:nvSpPr>
        <p:spPr>
          <a:xfrm>
            <a:off x="594360" y="5852160"/>
            <a:ext cx="10972800" cy="594360"/>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2"/>
          <p:cNvSpPr/>
          <p:nvPr/>
        </p:nvSpPr>
        <p:spPr>
          <a:xfrm>
            <a:off x="914400" y="5971032"/>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Assessed on printability and on your reasoning. Not on craft — that is 3.2's job.</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F035"/>
        </a:solidFill>
      </p:bgPr>
    </p:bg>
    <p:spTree>
      <p:nvGrpSpPr>
        <p:cNvPr id="526" name="Shape 526"/>
        <p:cNvGrpSpPr/>
        <p:nvPr/>
      </p:nvGrpSpPr>
      <p:grpSpPr>
        <a:xfrm>
          <a:off x="0" y="0"/>
          <a:ext cx="0" cy="0"/>
          <a:chOff x="0" y="0"/>
          <a:chExt cx="0" cy="0"/>
        </a:xfrm>
      </p:grpSpPr>
      <p:cxnSp>
        <p:nvCxnSpPr>
          <p:cNvPr id="527" name="Google Shape;527;p13"/>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528" name="Google Shape;528;p13"/>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NOW — PREPARE YOUR PRINT</a:t>
            </a:r>
            <a:endParaRPr b="0" i="0" sz="3300" u="none" cap="none" strike="noStrike">
              <a:solidFill>
                <a:schemeClr val="dk1"/>
              </a:solidFill>
              <a:latin typeface="Calibri"/>
              <a:ea typeface="Calibri"/>
              <a:cs typeface="Calibri"/>
              <a:sym typeface="Calibri"/>
            </a:endParaRPr>
          </a:p>
        </p:txBody>
      </p:sp>
      <p:sp>
        <p:nvSpPr>
          <p:cNvPr id="529" name="Google Shape;529;p13"/>
          <p:cNvSpPr/>
          <p:nvPr/>
        </p:nvSpPr>
        <p:spPr>
          <a:xfrm>
            <a:off x="594360" y="16916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Rest of the session: get a sliced file into the queue with help in the room.</a:t>
            </a:r>
            <a:endParaRPr b="0" i="0" sz="1600" u="none" cap="none" strike="noStrike">
              <a:solidFill>
                <a:schemeClr val="dk1"/>
              </a:solidFill>
              <a:latin typeface="Calibri"/>
              <a:ea typeface="Calibri"/>
              <a:cs typeface="Calibri"/>
              <a:sym typeface="Calibri"/>
            </a:endParaRPr>
          </a:p>
        </p:txBody>
      </p:sp>
      <p:sp>
        <p:nvSpPr>
          <p:cNvPr id="530" name="Google Shape;530;p13"/>
          <p:cNvSpPr/>
          <p:nvPr/>
        </p:nvSpPr>
        <p:spPr>
          <a:xfrm>
            <a:off x="662940" y="2400300"/>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3"/>
          <p:cNvSpPr/>
          <p:nvPr/>
        </p:nvSpPr>
        <p:spPr>
          <a:xfrm>
            <a:off x="594360" y="2331720"/>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594360" y="2432304"/>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33" name="Google Shape;533;p13"/>
          <p:cNvSpPr/>
          <p:nvPr/>
        </p:nvSpPr>
        <p:spPr>
          <a:xfrm>
            <a:off x="1559052" y="2400300"/>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3"/>
          <p:cNvSpPr/>
          <p:nvPr/>
        </p:nvSpPr>
        <p:spPr>
          <a:xfrm>
            <a:off x="1490472" y="2331720"/>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3"/>
          <p:cNvSpPr/>
          <p:nvPr/>
        </p:nvSpPr>
        <p:spPr>
          <a:xfrm>
            <a:off x="1764792" y="2468880"/>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Model checked — manifold, watertight, normals consistent</a:t>
            </a:r>
            <a:endParaRPr b="0" i="0" sz="1450" u="none" cap="none" strike="noStrike">
              <a:solidFill>
                <a:schemeClr val="dk1"/>
              </a:solidFill>
              <a:latin typeface="Calibri"/>
              <a:ea typeface="Calibri"/>
              <a:cs typeface="Calibri"/>
              <a:sym typeface="Calibri"/>
            </a:endParaRPr>
          </a:p>
        </p:txBody>
      </p:sp>
      <p:sp>
        <p:nvSpPr>
          <p:cNvPr id="536" name="Google Shape;536;p13"/>
          <p:cNvSpPr/>
          <p:nvPr/>
        </p:nvSpPr>
        <p:spPr>
          <a:xfrm>
            <a:off x="662940" y="3113532"/>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594360" y="3044952"/>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3"/>
          <p:cNvSpPr/>
          <p:nvPr/>
        </p:nvSpPr>
        <p:spPr>
          <a:xfrm>
            <a:off x="594360" y="3145536"/>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39" name="Google Shape;539;p13"/>
          <p:cNvSpPr/>
          <p:nvPr/>
        </p:nvSpPr>
        <p:spPr>
          <a:xfrm>
            <a:off x="1559052" y="3113532"/>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3"/>
          <p:cNvSpPr/>
          <p:nvPr/>
        </p:nvSpPr>
        <p:spPr>
          <a:xfrm>
            <a:off x="1490472" y="3044952"/>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3"/>
          <p:cNvSpPr/>
          <p:nvPr/>
        </p:nvSpPr>
        <p:spPr>
          <a:xfrm>
            <a:off x="1764792" y="3182112"/>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Scaled to fit within 60 mm</a:t>
            </a:r>
            <a:endParaRPr b="0" i="0" sz="1450" u="none" cap="none" strike="noStrike">
              <a:solidFill>
                <a:schemeClr val="dk1"/>
              </a:solidFill>
              <a:latin typeface="Calibri"/>
              <a:ea typeface="Calibri"/>
              <a:cs typeface="Calibri"/>
              <a:sym typeface="Calibri"/>
            </a:endParaRPr>
          </a:p>
        </p:txBody>
      </p:sp>
      <p:sp>
        <p:nvSpPr>
          <p:cNvPr id="542" name="Google Shape;542;p13"/>
          <p:cNvSpPr/>
          <p:nvPr/>
        </p:nvSpPr>
        <p:spPr>
          <a:xfrm>
            <a:off x="662940" y="3826764"/>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3"/>
          <p:cNvSpPr/>
          <p:nvPr/>
        </p:nvSpPr>
        <p:spPr>
          <a:xfrm>
            <a:off x="594360" y="3758184"/>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3"/>
          <p:cNvSpPr/>
          <p:nvPr/>
        </p:nvSpPr>
        <p:spPr>
          <a:xfrm>
            <a:off x="594360" y="3858768"/>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45" name="Google Shape;545;p13"/>
          <p:cNvSpPr/>
          <p:nvPr/>
        </p:nvSpPr>
        <p:spPr>
          <a:xfrm>
            <a:off x="1559052" y="3826764"/>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3"/>
          <p:cNvSpPr/>
          <p:nvPr/>
        </p:nvSpPr>
        <p:spPr>
          <a:xfrm>
            <a:off x="1490472" y="3758184"/>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3"/>
          <p:cNvSpPr/>
          <p:nvPr/>
        </p:nvSpPr>
        <p:spPr>
          <a:xfrm>
            <a:off x="1764792" y="3895344"/>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Orientation chosen and justified — no overhang past ~45°</a:t>
            </a:r>
            <a:endParaRPr b="0" i="0" sz="1450" u="none" cap="none" strike="noStrike">
              <a:solidFill>
                <a:schemeClr val="dk1"/>
              </a:solidFill>
              <a:latin typeface="Calibri"/>
              <a:ea typeface="Calibri"/>
              <a:cs typeface="Calibri"/>
              <a:sym typeface="Calibri"/>
            </a:endParaRPr>
          </a:p>
        </p:txBody>
      </p:sp>
      <p:sp>
        <p:nvSpPr>
          <p:cNvPr id="548" name="Google Shape;548;p13"/>
          <p:cNvSpPr/>
          <p:nvPr/>
        </p:nvSpPr>
        <p:spPr>
          <a:xfrm>
            <a:off x="662940" y="4539996"/>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3"/>
          <p:cNvSpPr/>
          <p:nvPr/>
        </p:nvSpPr>
        <p:spPr>
          <a:xfrm>
            <a:off x="594360" y="4471416"/>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3"/>
          <p:cNvSpPr/>
          <p:nvPr/>
        </p:nvSpPr>
        <p:spPr>
          <a:xfrm>
            <a:off x="594360" y="4572000"/>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51" name="Google Shape;551;p13"/>
          <p:cNvSpPr/>
          <p:nvPr/>
        </p:nvSpPr>
        <p:spPr>
          <a:xfrm>
            <a:off x="1559052" y="4539996"/>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3"/>
          <p:cNvSpPr/>
          <p:nvPr/>
        </p:nvSpPr>
        <p:spPr>
          <a:xfrm>
            <a:off x="1490472" y="4471416"/>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3"/>
          <p:cNvSpPr/>
          <p:nvPr/>
        </p:nvSpPr>
        <p:spPr>
          <a:xfrm>
            <a:off x="1764792" y="4608576"/>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Sliced. Print time and material noted.</a:t>
            </a:r>
            <a:endParaRPr b="0" i="0" sz="1450" u="none" cap="none" strike="noStrike">
              <a:solidFill>
                <a:schemeClr val="dk1"/>
              </a:solidFill>
              <a:latin typeface="Calibri"/>
              <a:ea typeface="Calibri"/>
              <a:cs typeface="Calibri"/>
              <a:sym typeface="Calibri"/>
            </a:endParaRPr>
          </a:p>
        </p:txBody>
      </p:sp>
      <p:sp>
        <p:nvSpPr>
          <p:cNvPr id="554" name="Google Shape;554;p13"/>
          <p:cNvSpPr/>
          <p:nvPr/>
        </p:nvSpPr>
        <p:spPr>
          <a:xfrm>
            <a:off x="662940" y="5253228"/>
            <a:ext cx="621792"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3"/>
          <p:cNvSpPr/>
          <p:nvPr/>
        </p:nvSpPr>
        <p:spPr>
          <a:xfrm>
            <a:off x="594360" y="5184648"/>
            <a:ext cx="621792"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3"/>
          <p:cNvSpPr/>
          <p:nvPr/>
        </p:nvSpPr>
        <p:spPr>
          <a:xfrm>
            <a:off x="594360" y="5285232"/>
            <a:ext cx="62179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t>
            </a:r>
            <a:endParaRPr b="0" i="0" sz="1700" u="none" cap="none" strike="noStrike">
              <a:solidFill>
                <a:schemeClr val="dk1"/>
              </a:solidFill>
              <a:latin typeface="Calibri"/>
              <a:ea typeface="Calibri"/>
              <a:cs typeface="Calibri"/>
              <a:sym typeface="Calibri"/>
            </a:endParaRPr>
          </a:p>
        </p:txBody>
      </p:sp>
      <p:sp>
        <p:nvSpPr>
          <p:cNvPr id="557" name="Google Shape;557;p13"/>
          <p:cNvSpPr/>
          <p:nvPr/>
        </p:nvSpPr>
        <p:spPr>
          <a:xfrm>
            <a:off x="1559052" y="5253228"/>
            <a:ext cx="10076688"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3"/>
          <p:cNvSpPr/>
          <p:nvPr/>
        </p:nvSpPr>
        <p:spPr>
          <a:xfrm>
            <a:off x="1490472" y="5184648"/>
            <a:ext cx="10076688" cy="566928"/>
          </a:xfrm>
          <a:prstGeom prst="rect">
            <a:avLst/>
          </a:prstGeom>
          <a:solidFill>
            <a:srgbClr val="FFFDF7"/>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3"/>
          <p:cNvSpPr/>
          <p:nvPr/>
        </p:nvSpPr>
        <p:spPr>
          <a:xfrm>
            <a:off x="1764792" y="5321808"/>
            <a:ext cx="9326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Calibri"/>
              <a:buNone/>
            </a:pPr>
            <a:r>
              <a:rPr b="0" i="0" lang="en-US" sz="1450" u="none" cap="none" strike="noStrike">
                <a:solidFill>
                  <a:srgbClr val="000000"/>
                </a:solidFill>
                <a:latin typeface="Calibri"/>
                <a:ea typeface="Calibri"/>
                <a:cs typeface="Calibri"/>
                <a:sym typeface="Calibri"/>
              </a:rPr>
              <a:t>File named and submitted to the queue</a:t>
            </a:r>
            <a:endParaRPr b="0" i="0" sz="1450" u="none" cap="none" strike="noStrike">
              <a:solidFill>
                <a:schemeClr val="dk1"/>
              </a:solidFill>
              <a:latin typeface="Calibri"/>
              <a:ea typeface="Calibri"/>
              <a:cs typeface="Calibri"/>
              <a:sym typeface="Calibri"/>
            </a:endParaRPr>
          </a:p>
        </p:txBody>
      </p:sp>
      <p:sp>
        <p:nvSpPr>
          <p:cNvPr id="560" name="Google Shape;560;p13"/>
          <p:cNvSpPr/>
          <p:nvPr/>
        </p:nvSpPr>
        <p:spPr>
          <a:xfrm>
            <a:off x="662940" y="6057900"/>
            <a:ext cx="6949440"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3"/>
          <p:cNvSpPr/>
          <p:nvPr/>
        </p:nvSpPr>
        <p:spPr>
          <a:xfrm>
            <a:off x="594360" y="5989320"/>
            <a:ext cx="6949440" cy="566928"/>
          </a:xfrm>
          <a:prstGeom prst="rect">
            <a:avLst/>
          </a:prstGeom>
          <a:solidFill>
            <a:srgbClr val="000000"/>
          </a:solidFill>
          <a:ln cap="flat" cmpd="sng" w="349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3"/>
          <p:cNvSpPr/>
          <p:nvPr/>
        </p:nvSpPr>
        <p:spPr>
          <a:xfrm>
            <a:off x="594360" y="6126480"/>
            <a:ext cx="6949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F035"/>
              </a:buClr>
              <a:buSzPts val="1400"/>
              <a:buFont typeface="Arial"/>
              <a:buNone/>
            </a:pPr>
            <a:r>
              <a:rPr b="1" i="0" lang="en-US" sz="1400" u="none" cap="none" strike="noStrike">
                <a:solidFill>
                  <a:srgbClr val="C6F035"/>
                </a:solidFill>
                <a:latin typeface="Arial"/>
                <a:ea typeface="Arial"/>
                <a:cs typeface="Arial"/>
                <a:sym typeface="Arial"/>
              </a:rPr>
              <a:t>LEAVE WITH A FILE IN THE QUEUE.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567" name="Shape 567"/>
        <p:cNvGrpSpPr/>
        <p:nvPr/>
      </p:nvGrpSpPr>
      <p:grpSpPr>
        <a:xfrm>
          <a:off x="0" y="0"/>
          <a:ext cx="0" cy="0"/>
          <a:chOff x="0" y="0"/>
          <a:chExt cx="0" cy="0"/>
        </a:xfrm>
      </p:grpSpPr>
      <p:sp>
        <p:nvSpPr>
          <p:cNvPr id="568" name="Rectangle 567"/>
          <p:cNvSpPr/>
          <p:nvPr/>
        </p:nvSpPr>
        <p:spPr>
          <a:xfrm>
            <a:off x="594360" y="566928"/>
            <a:ext cx="10972800" cy="0"/>
          </a:xfrm>
          <a:prstGeom prst="rect">
            <a:avLst/>
          </a:prstGeom>
          <a:noFill/>
          <a:ln w="508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TextBox 568"/>
          <p:cNvSpPr txBox="1"/>
          <p:nvPr/>
        </p:nvSpPr>
        <p:spPr>
          <a:xfrm>
            <a:off x="594360" y="676656"/>
            <a:ext cx="10972800" cy="566928"/>
          </a:xfrm>
          <a:prstGeom prst="rect">
            <a:avLst/>
          </a:prstGeom>
          <a:noFill/>
        </p:spPr>
        <p:txBody>
          <a:bodyPr wrap="square" lIns="0" rIns="0" tIns="0" bIns="0" anchor="t">
            <a:spAutoFit/>
          </a:bodyPr>
          <a:lstStyle/>
          <a:p>
            <a:pPr algn="l"/>
            <a:r>
              <a:rPr sz="3300" b="1">
                <a:solidFill>
                  <a:srgbClr val="000000"/>
                </a:solidFill>
                <a:latin typeface="Arial"/>
              </a:rPr>
              <a:t>BEFORE NEXT CLASS</a:t>
            </a:r>
          </a:p>
        </p:txBody>
      </p:sp>
      <p:sp>
        <p:nvSpPr>
          <p:cNvPr id="570" name="Rectangle 569"/>
          <p:cNvSpPr/>
          <p:nvPr/>
        </p:nvSpPr>
        <p:spPr>
          <a:xfrm>
            <a:off x="662940" y="1851660"/>
            <a:ext cx="150876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1" name="Rectangle 570"/>
          <p:cNvSpPr/>
          <p:nvPr/>
        </p:nvSpPr>
        <p:spPr>
          <a:xfrm>
            <a:off x="594360" y="1783080"/>
            <a:ext cx="1508760" cy="804672"/>
          </a:xfrm>
          <a:prstGeom prst="rect">
            <a:avLst/>
          </a:prstGeom>
          <a:solidFill>
            <a:srgbClr val="00D9E1"/>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2" name="TextBox 571"/>
          <p:cNvSpPr txBox="1"/>
          <p:nvPr/>
        </p:nvSpPr>
        <p:spPr>
          <a:xfrm>
            <a:off x="594360" y="2084831"/>
            <a:ext cx="1508760" cy="274320"/>
          </a:xfrm>
          <a:prstGeom prst="rect">
            <a:avLst/>
          </a:prstGeom>
          <a:noFill/>
        </p:spPr>
        <p:txBody>
          <a:bodyPr wrap="square" lIns="0" rIns="0" tIns="0" bIns="0" anchor="t">
            <a:spAutoFit/>
          </a:bodyPr>
          <a:lstStyle/>
          <a:p>
            <a:pPr algn="ctr"/>
            <a:r>
              <a:rPr sz="1400" b="1">
                <a:solidFill>
                  <a:srgbClr val="000000"/>
                </a:solidFill>
                <a:latin typeface="Arial"/>
              </a:rPr>
              <a:t>WATCH</a:t>
            </a:r>
          </a:p>
        </p:txBody>
      </p:sp>
      <p:sp>
        <p:nvSpPr>
          <p:cNvPr id="573" name="Rectangle 572"/>
          <p:cNvSpPr/>
          <p:nvPr/>
        </p:nvSpPr>
        <p:spPr>
          <a:xfrm>
            <a:off x="2446020" y="1851660"/>
            <a:ext cx="918972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4" name="Rectangle 573"/>
          <p:cNvSpPr/>
          <p:nvPr/>
        </p:nvSpPr>
        <p:spPr>
          <a:xfrm>
            <a:off x="2377440" y="1783080"/>
            <a:ext cx="9189720" cy="804672"/>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5" name="TextBox 574"/>
          <p:cNvSpPr txBox="1"/>
          <p:nvPr/>
        </p:nvSpPr>
        <p:spPr>
          <a:xfrm>
            <a:off x="2651760" y="1901952"/>
            <a:ext cx="8641080" cy="566928"/>
          </a:xfrm>
          <a:prstGeom prst="rect">
            <a:avLst/>
          </a:prstGeom>
          <a:noFill/>
        </p:spPr>
        <p:txBody>
          <a:bodyPr wrap="square" lIns="0" rIns="0" tIns="0" bIns="0" anchor="t">
            <a:spAutoFit/>
          </a:bodyPr>
          <a:lstStyle/>
          <a:p>
            <a:pPr algn="l">
              <a:lnSpc>
                <a:spcPct val="120000"/>
              </a:lnSpc>
            </a:pPr>
            <a:r>
              <a:rPr sz="1350">
                <a:solidFill>
                  <a:srgbClr val="000000"/>
                </a:solidFill>
                <a:latin typeface="Calibri"/>
              </a:rPr>
              <a:t>Tutorial 1.1 — points, lists, loops and conditionals. Cartesian, radial, hexagonal, along a curve. Sent tonight.</a:t>
            </a:r>
          </a:p>
        </p:txBody>
      </p:sp>
      <p:sp>
        <p:nvSpPr>
          <p:cNvPr id="576" name="Rectangle 575"/>
          <p:cNvSpPr/>
          <p:nvPr/>
        </p:nvSpPr>
        <p:spPr>
          <a:xfrm>
            <a:off x="662940" y="2912364"/>
            <a:ext cx="150876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7" name="Rectangle 576"/>
          <p:cNvSpPr/>
          <p:nvPr/>
        </p:nvSpPr>
        <p:spPr>
          <a:xfrm>
            <a:off x="594360" y="2843784"/>
            <a:ext cx="1508760" cy="804672"/>
          </a:xfrm>
          <a:prstGeom prst="rect">
            <a:avLst/>
          </a:prstGeom>
          <a:solidFill>
            <a:srgbClr val="C6F035"/>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8" name="TextBox 577"/>
          <p:cNvSpPr txBox="1"/>
          <p:nvPr/>
        </p:nvSpPr>
        <p:spPr>
          <a:xfrm>
            <a:off x="594360" y="3145536"/>
            <a:ext cx="1508760" cy="274320"/>
          </a:xfrm>
          <a:prstGeom prst="rect">
            <a:avLst/>
          </a:prstGeom>
          <a:noFill/>
        </p:spPr>
        <p:txBody>
          <a:bodyPr wrap="square" lIns="0" rIns="0" tIns="0" bIns="0" anchor="t">
            <a:spAutoFit/>
          </a:bodyPr>
          <a:lstStyle/>
          <a:p>
            <a:pPr algn="ctr"/>
            <a:r>
              <a:rPr sz="1400" b="1">
                <a:solidFill>
                  <a:srgbClr val="000000"/>
                </a:solidFill>
                <a:latin typeface="Arial"/>
              </a:rPr>
              <a:t>BRING</a:t>
            </a:r>
          </a:p>
        </p:txBody>
      </p:sp>
      <p:sp>
        <p:nvSpPr>
          <p:cNvPr id="579" name="Rectangle 578"/>
          <p:cNvSpPr/>
          <p:nvPr/>
        </p:nvSpPr>
        <p:spPr>
          <a:xfrm>
            <a:off x="2446020" y="2912364"/>
            <a:ext cx="918972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0" name="Rectangle 579"/>
          <p:cNvSpPr/>
          <p:nvPr/>
        </p:nvSpPr>
        <p:spPr>
          <a:xfrm>
            <a:off x="2377440" y="2843784"/>
            <a:ext cx="9189720" cy="804672"/>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1" name="TextBox 580"/>
          <p:cNvSpPr txBox="1"/>
          <p:nvPr/>
        </p:nvSpPr>
        <p:spPr>
          <a:xfrm>
            <a:off x="2651760" y="2962656"/>
            <a:ext cx="8641080" cy="566928"/>
          </a:xfrm>
          <a:prstGeom prst="rect">
            <a:avLst/>
          </a:prstGeom>
          <a:noFill/>
        </p:spPr>
        <p:txBody>
          <a:bodyPr wrap="square" lIns="0" rIns="0" tIns="0" bIns="0" anchor="t">
            <a:spAutoFit/>
          </a:bodyPr>
          <a:lstStyle/>
          <a:p>
            <a:pPr algn="l">
              <a:lnSpc>
                <a:spcPct val="120000"/>
              </a:lnSpc>
            </a:pPr>
            <a:r>
              <a:rPr sz="1350">
                <a:solidFill>
                  <a:srgbClr val="000000"/>
                </a:solidFill>
                <a:latin typeface="Calibri"/>
              </a:rPr>
              <a:t>Your tiled façade precedent — flat-on image, the repeated part outlined, dimensions. We design your tile from it next class.</a:t>
            </a:r>
          </a:p>
        </p:txBody>
      </p:sp>
      <p:sp>
        <p:nvSpPr>
          <p:cNvPr id="582" name="Rectangle 581"/>
          <p:cNvSpPr/>
          <p:nvPr/>
        </p:nvSpPr>
        <p:spPr>
          <a:xfrm>
            <a:off x="662940" y="3973068"/>
            <a:ext cx="150876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3" name="Rectangle 582"/>
          <p:cNvSpPr/>
          <p:nvPr/>
        </p:nvSpPr>
        <p:spPr>
          <a:xfrm>
            <a:off x="594360" y="3904487"/>
            <a:ext cx="1508760" cy="804672"/>
          </a:xfrm>
          <a:prstGeom prst="rect">
            <a:avLst/>
          </a:prstGeom>
          <a:solidFill>
            <a:srgbClr val="FF4D8D"/>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4" name="TextBox 583"/>
          <p:cNvSpPr txBox="1"/>
          <p:nvPr/>
        </p:nvSpPr>
        <p:spPr>
          <a:xfrm>
            <a:off x="594360" y="4206240"/>
            <a:ext cx="1508760" cy="274320"/>
          </a:xfrm>
          <a:prstGeom prst="rect">
            <a:avLst/>
          </a:prstGeom>
          <a:noFill/>
        </p:spPr>
        <p:txBody>
          <a:bodyPr wrap="square" lIns="0" rIns="0" tIns="0" bIns="0" anchor="t">
            <a:spAutoFit/>
          </a:bodyPr>
          <a:lstStyle/>
          <a:p>
            <a:pPr algn="ctr"/>
            <a:r>
              <a:rPr sz="1400" b="1">
                <a:solidFill>
                  <a:srgbClr val="000000"/>
                </a:solidFill>
                <a:latin typeface="Arial"/>
              </a:rPr>
              <a:t>FINISH</a:t>
            </a:r>
          </a:p>
        </p:txBody>
      </p:sp>
      <p:sp>
        <p:nvSpPr>
          <p:cNvPr id="585" name="Rectangle 584"/>
          <p:cNvSpPr/>
          <p:nvPr/>
        </p:nvSpPr>
        <p:spPr>
          <a:xfrm>
            <a:off x="2446020" y="3973068"/>
            <a:ext cx="918972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6" name="Rectangle 585"/>
          <p:cNvSpPr/>
          <p:nvPr/>
        </p:nvSpPr>
        <p:spPr>
          <a:xfrm>
            <a:off x="2377440" y="3904487"/>
            <a:ext cx="9189720" cy="804672"/>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7" name="TextBox 586"/>
          <p:cNvSpPr txBox="1"/>
          <p:nvPr/>
        </p:nvSpPr>
        <p:spPr>
          <a:xfrm>
            <a:off x="2651760" y="4023359"/>
            <a:ext cx="8641080" cy="566928"/>
          </a:xfrm>
          <a:prstGeom prst="rect">
            <a:avLst/>
          </a:prstGeom>
          <a:noFill/>
        </p:spPr>
        <p:txBody>
          <a:bodyPr wrap="square" lIns="0" rIns="0" tIns="0" bIns="0" anchor="t">
            <a:spAutoFit/>
          </a:bodyPr>
          <a:lstStyle/>
          <a:p>
            <a:pPr algn="l">
              <a:lnSpc>
                <a:spcPct val="120000"/>
              </a:lnSpc>
            </a:pPr>
            <a:r>
              <a:rPr sz="1350">
                <a:solidFill>
                  <a:srgbClr val="000000"/>
                </a:solidFill>
                <a:latin typeface="Calibri"/>
              </a:rPr>
              <a:t>0.1 is due next class: the axonometric sequence, the written procedure, the precedent analysis.</a:t>
            </a:r>
          </a:p>
        </p:txBody>
      </p:sp>
      <p:sp>
        <p:nvSpPr>
          <p:cNvPr id="588" name="Rectangle 587"/>
          <p:cNvSpPr/>
          <p:nvPr/>
        </p:nvSpPr>
        <p:spPr>
          <a:xfrm>
            <a:off x="662940" y="5033772"/>
            <a:ext cx="150876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9" name="Rectangle 588"/>
          <p:cNvSpPr/>
          <p:nvPr/>
        </p:nvSpPr>
        <p:spPr>
          <a:xfrm>
            <a:off x="594360" y="4965192"/>
            <a:ext cx="1508760" cy="804672"/>
          </a:xfrm>
          <a:prstGeom prst="rect">
            <a:avLst/>
          </a:prstGeom>
          <a:solidFill>
            <a:srgbClr val="FFE500"/>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0" name="TextBox 589"/>
          <p:cNvSpPr txBox="1"/>
          <p:nvPr/>
        </p:nvSpPr>
        <p:spPr>
          <a:xfrm>
            <a:off x="594360" y="5266944"/>
            <a:ext cx="1508760" cy="274320"/>
          </a:xfrm>
          <a:prstGeom prst="rect">
            <a:avLst/>
          </a:prstGeom>
          <a:noFill/>
        </p:spPr>
        <p:txBody>
          <a:bodyPr wrap="square" lIns="0" rIns="0" tIns="0" bIns="0" anchor="t">
            <a:spAutoFit/>
          </a:bodyPr>
          <a:lstStyle/>
          <a:p>
            <a:pPr algn="ctr"/>
            <a:r>
              <a:rPr sz="1400" b="1">
                <a:solidFill>
                  <a:srgbClr val="000000"/>
                </a:solidFill>
                <a:latin typeface="Arial"/>
              </a:rPr>
              <a:t>CHECK</a:t>
            </a:r>
          </a:p>
        </p:txBody>
      </p:sp>
      <p:sp>
        <p:nvSpPr>
          <p:cNvPr id="591" name="Rectangle 590"/>
          <p:cNvSpPr/>
          <p:nvPr/>
        </p:nvSpPr>
        <p:spPr>
          <a:xfrm>
            <a:off x="2446020" y="5033772"/>
            <a:ext cx="9189720" cy="80467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2" name="Rectangle 591"/>
          <p:cNvSpPr/>
          <p:nvPr/>
        </p:nvSpPr>
        <p:spPr>
          <a:xfrm>
            <a:off x="2377440" y="4965192"/>
            <a:ext cx="9189720" cy="804672"/>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3" name="TextBox 592"/>
          <p:cNvSpPr txBox="1"/>
          <p:nvPr/>
        </p:nvSpPr>
        <p:spPr>
          <a:xfrm>
            <a:off x="2651760" y="5084064"/>
            <a:ext cx="8641080" cy="566928"/>
          </a:xfrm>
          <a:prstGeom prst="rect">
            <a:avLst/>
          </a:prstGeom>
          <a:noFill/>
        </p:spPr>
        <p:txBody>
          <a:bodyPr wrap="square" lIns="0" rIns="0" tIns="0" bIns="0" anchor="t">
            <a:spAutoFit/>
          </a:bodyPr>
          <a:lstStyle/>
          <a:p>
            <a:pPr algn="l">
              <a:lnSpc>
                <a:spcPct val="120000"/>
              </a:lnSpc>
            </a:pPr>
            <a:r>
              <a:rPr sz="1350">
                <a:solidFill>
                  <a:srgbClr val="000000"/>
                </a:solidFill>
                <a:latin typeface="Calibri"/>
              </a:rPr>
              <a:t>Your print is in the queue. It is presented at the Midterm, not next week — but the file has to exist.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94360" y="566928"/>
            <a:ext cx="10972800" cy="0"/>
          </a:xfrm>
          <a:prstGeom prst="rect">
            <a:avLst/>
          </a:prstGeom>
          <a:noFill/>
          <a:ln w="50800">
            <a:solidFill>
              <a:srgbClr val="FFFD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76656"/>
            <a:ext cx="10972800" cy="566928"/>
          </a:xfrm>
          <a:prstGeom prst="rect">
            <a:avLst/>
          </a:prstGeom>
          <a:noFill/>
        </p:spPr>
        <p:txBody>
          <a:bodyPr wrap="square" lIns="0" rIns="0" tIns="0" bIns="0" anchor="t">
            <a:spAutoFit/>
          </a:bodyPr>
          <a:lstStyle/>
          <a:p>
            <a:pPr algn="l"/>
            <a:r>
              <a:rPr sz="3300" b="1">
                <a:solidFill>
                  <a:srgbClr val="FFFDF7"/>
                </a:solidFill>
                <a:latin typeface="Arial"/>
              </a:rPr>
              <a:t>ARRAYS BEGIN HERE</a:t>
            </a:r>
          </a:p>
        </p:txBody>
      </p:sp>
      <p:sp>
        <p:nvSpPr>
          <p:cNvPr id="4" name="TextBox 3"/>
          <p:cNvSpPr txBox="1"/>
          <p:nvPr/>
        </p:nvSpPr>
        <p:spPr>
          <a:xfrm>
            <a:off x="594360" y="1261872"/>
            <a:ext cx="10972800" cy="310896"/>
          </a:xfrm>
          <a:prstGeom prst="rect">
            <a:avLst/>
          </a:prstGeom>
          <a:noFill/>
        </p:spPr>
        <p:txBody>
          <a:bodyPr wrap="square" lIns="0" rIns="0" tIns="0" bIns="0" anchor="t">
            <a:spAutoFit/>
          </a:bodyPr>
          <a:lstStyle/>
          <a:p>
            <a:pPr algn="l"/>
            <a:r>
              <a:rPr sz="1350">
                <a:solidFill>
                  <a:srgbClr val="B4B4AC"/>
                </a:solidFill>
                <a:latin typeface="Calibri"/>
              </a:rPr>
              <a:t>The second half of today, and the whole of next week. Same lesson as the slicer.</a:t>
            </a:r>
          </a:p>
        </p:txBody>
      </p:sp>
      <p:sp>
        <p:nvSpPr>
          <p:cNvPr id="5" name="Rectangle 4"/>
          <p:cNvSpPr/>
          <p:nvPr/>
        </p:nvSpPr>
        <p:spPr>
          <a:xfrm>
            <a:off x="662940" y="1943100"/>
            <a:ext cx="5669280" cy="301752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94360" y="1874519"/>
            <a:ext cx="5669280" cy="301752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4360" y="1874519"/>
            <a:ext cx="5669280" cy="502920"/>
          </a:xfrm>
          <a:prstGeom prst="rect">
            <a:avLst/>
          </a:prstGeom>
          <a:solidFill>
            <a:srgbClr val="C6F035"/>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60" y="1874519"/>
            <a:ext cx="5212080" cy="502920"/>
          </a:xfrm>
          <a:prstGeom prst="rect">
            <a:avLst/>
          </a:prstGeom>
          <a:noFill/>
        </p:spPr>
        <p:txBody>
          <a:bodyPr wrap="square" lIns="0" rIns="0" tIns="0" bIns="0" anchor="ctr">
            <a:spAutoFit/>
          </a:bodyPr>
          <a:lstStyle/>
          <a:p>
            <a:pPr algn="l"/>
            <a:r>
              <a:rPr sz="1587" b="1">
                <a:solidFill>
                  <a:srgbClr val="000000"/>
                </a:solidFill>
                <a:latin typeface="Arial"/>
              </a:rPr>
              <a:t>A SLICER MAKES A LIST</a:t>
            </a:r>
          </a:p>
        </p:txBody>
      </p:sp>
      <p:sp>
        <p:nvSpPr>
          <p:cNvPr id="9" name="TextBox 8"/>
          <p:cNvSpPr txBox="1"/>
          <p:nvPr/>
        </p:nvSpPr>
        <p:spPr>
          <a:xfrm>
            <a:off x="914400" y="2560320"/>
            <a:ext cx="5029200" cy="2103120"/>
          </a:xfrm>
          <a:prstGeom prst="rect">
            <a:avLst/>
          </a:prstGeom>
          <a:noFill/>
        </p:spPr>
        <p:txBody>
          <a:bodyPr wrap="square" lIns="0" rIns="0" tIns="0" bIns="0" anchor="t">
            <a:spAutoFit/>
          </a:bodyPr>
          <a:lstStyle/>
          <a:p>
            <a:pPr algn="l">
              <a:lnSpc>
                <a:spcPct val="130000"/>
              </a:lnSpc>
            </a:pPr>
            <a:r>
              <a:rPr sz="1400">
                <a:solidFill>
                  <a:srgbClr val="000000"/>
                </a:solidFill>
                <a:latin typeface="Calibri"/>
              </a:rPr>
              <a:t>You just watched a solid become a stack of profiles, ordered, then written out as moves.</a:t>
            </a:r>
          </a:p>
          <a:p>
            <a:pPr algn="l">
              <a:lnSpc>
                <a:spcPct val="130000"/>
              </a:lnSpc>
            </a:pPr>
            <a:r>
              <a:rPr sz="700">
                <a:solidFill>
                  <a:srgbClr val="000000"/>
                </a:solidFill>
                <a:latin typeface="Calibri"/>
              </a:rPr>
              <a:t> </a:t>
            </a:r>
          </a:p>
          <a:p>
            <a:pPr algn="l">
              <a:lnSpc>
                <a:spcPct val="130000"/>
              </a:lnSpc>
            </a:pPr>
            <a:r>
              <a:rPr sz="1400">
                <a:solidFill>
                  <a:srgbClr val="000000"/>
                </a:solidFill>
                <a:latin typeface="Calibri"/>
              </a:rPr>
              <a:t>A list of positions, computed by a rule, executed in order. That is an array, and it is the whole of Module 1.</a:t>
            </a:r>
          </a:p>
        </p:txBody>
      </p:sp>
      <p:sp>
        <p:nvSpPr>
          <p:cNvPr id="10" name="Rectangle 9"/>
          <p:cNvSpPr/>
          <p:nvPr/>
        </p:nvSpPr>
        <p:spPr>
          <a:xfrm>
            <a:off x="6606540" y="1943100"/>
            <a:ext cx="5029200" cy="301752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537960" y="1874519"/>
            <a:ext cx="5029200" cy="301752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37960" y="1874519"/>
            <a:ext cx="5029200" cy="502920"/>
          </a:xfrm>
          <a:prstGeom prst="rect">
            <a:avLst/>
          </a:prstGeom>
          <a:solidFill>
            <a:srgbClr val="00D9E1"/>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766560" y="1874519"/>
            <a:ext cx="4572000" cy="502920"/>
          </a:xfrm>
          <a:prstGeom prst="rect">
            <a:avLst/>
          </a:prstGeom>
          <a:noFill/>
        </p:spPr>
        <p:txBody>
          <a:bodyPr wrap="square" lIns="0" rIns="0" tIns="0" bIns="0" anchor="ctr">
            <a:spAutoFit/>
          </a:bodyPr>
          <a:lstStyle/>
          <a:p>
            <a:pPr algn="l"/>
            <a:r>
              <a:rPr sz="1587" b="1">
                <a:solidFill>
                  <a:srgbClr val="000000"/>
                </a:solidFill>
                <a:latin typeface="Arial"/>
              </a:rPr>
              <a:t>INDEX  →  POSITION</a:t>
            </a:r>
          </a:p>
        </p:txBody>
      </p:sp>
      <p:sp>
        <p:nvSpPr>
          <p:cNvPr id="14" name="TextBox 13"/>
          <p:cNvSpPr txBox="1"/>
          <p:nvPr/>
        </p:nvSpPr>
        <p:spPr>
          <a:xfrm>
            <a:off x="6858000" y="2606040"/>
            <a:ext cx="4434840" cy="2103120"/>
          </a:xfrm>
          <a:prstGeom prst="rect">
            <a:avLst/>
          </a:prstGeom>
          <a:noFill/>
        </p:spPr>
        <p:txBody>
          <a:bodyPr wrap="square" lIns="0" rIns="0" tIns="0" bIns="0" anchor="t">
            <a:spAutoFit/>
          </a:bodyPr>
          <a:lstStyle/>
          <a:p>
            <a:pPr algn="l">
              <a:lnSpc>
                <a:spcPct val="135000"/>
              </a:lnSpc>
            </a:pPr>
            <a:r>
              <a:rPr sz="1300">
                <a:solidFill>
                  <a:srgbClr val="000000"/>
                </a:solidFill>
                <a:latin typeface="Courier New"/>
              </a:rPr>
              <a:t>i = 0   →   p = start</a:t>
            </a:r>
          </a:p>
          <a:p>
            <a:pPr algn="l">
              <a:lnSpc>
                <a:spcPct val="135000"/>
              </a:lnSpc>
            </a:pPr>
            <a:r>
              <a:rPr sz="1300">
                <a:solidFill>
                  <a:srgbClr val="000000"/>
                </a:solidFill>
                <a:latin typeface="Courier New"/>
              </a:rPr>
              <a:t>i = 1   →   p = start + step</a:t>
            </a:r>
          </a:p>
          <a:p>
            <a:pPr algn="l">
              <a:lnSpc>
                <a:spcPct val="135000"/>
              </a:lnSpc>
            </a:pPr>
            <a:r>
              <a:rPr sz="1300">
                <a:solidFill>
                  <a:srgbClr val="000000"/>
                </a:solidFill>
                <a:latin typeface="Courier New"/>
              </a:rPr>
              <a:t>i = 2   →   p = start + 2 × step</a:t>
            </a:r>
          </a:p>
          <a:p>
            <a:pPr algn="l">
              <a:lnSpc>
                <a:spcPct val="135000"/>
              </a:lnSpc>
            </a:pPr>
            <a:r>
              <a:rPr sz="800">
                <a:solidFill>
                  <a:srgbClr val="000000"/>
                </a:solidFill>
                <a:latin typeface="Courier New"/>
              </a:rPr>
              <a:t> </a:t>
            </a:r>
          </a:p>
          <a:p>
            <a:pPr algn="l">
              <a:lnSpc>
                <a:spcPct val="135000"/>
              </a:lnSpc>
            </a:pPr>
            <a:r>
              <a:rPr sz="1300" b="1">
                <a:solidFill>
                  <a:srgbClr val="000000"/>
                </a:solidFill>
                <a:latin typeface="Courier New"/>
              </a:rPr>
              <a:t>p[i] = start + i × step</a:t>
            </a:r>
          </a:p>
        </p:txBody>
      </p:sp>
      <p:sp>
        <p:nvSpPr>
          <p:cNvPr id="15" name="Rectangle 14"/>
          <p:cNvSpPr/>
          <p:nvPr/>
        </p:nvSpPr>
        <p:spPr>
          <a:xfrm>
            <a:off x="662940" y="5280660"/>
            <a:ext cx="10972800" cy="64008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4360" y="5212080"/>
            <a:ext cx="10972800" cy="640080"/>
          </a:xfrm>
          <a:prstGeom prst="rect">
            <a:avLst/>
          </a:prstGeom>
          <a:solidFill>
            <a:srgbClr val="FFE500"/>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212080"/>
            <a:ext cx="10607040" cy="640080"/>
          </a:xfrm>
          <a:prstGeom prst="rect">
            <a:avLst/>
          </a:prstGeom>
          <a:noFill/>
        </p:spPr>
        <p:txBody>
          <a:bodyPr wrap="square" lIns="0" rIns="0" tIns="0" bIns="0" anchor="ctr">
            <a:spAutoFit/>
          </a:bodyPr>
          <a:lstStyle/>
          <a:p>
            <a:pPr algn="ctr"/>
            <a:r>
              <a:rPr sz="1250" b="1">
                <a:solidFill>
                  <a:srgbClr val="000000"/>
                </a:solidFill>
                <a:latin typeface="Arial"/>
              </a:rPr>
              <a:t>AN ARRAY IS NOT A COMMAND THAT DUPLICATES THINGS. IT IS A LIST YOU COMPUTE, THEN PLACE GEOMETRY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ectangle 1"/>
          <p:cNvSpPr/>
          <p:nvPr/>
        </p:nvSpPr>
        <p:spPr>
          <a:xfrm>
            <a:off x="594360" y="566928"/>
            <a:ext cx="10972800" cy="0"/>
          </a:xfrm>
          <a:prstGeom prst="rect">
            <a:avLst/>
          </a:prstGeom>
          <a:noFill/>
          <a:ln w="508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76656"/>
            <a:ext cx="10972800" cy="566928"/>
          </a:xfrm>
          <a:prstGeom prst="rect">
            <a:avLst/>
          </a:prstGeom>
          <a:noFill/>
        </p:spPr>
        <p:txBody>
          <a:bodyPr wrap="square" lIns="0" rIns="0" tIns="0" bIns="0" anchor="t">
            <a:spAutoFit/>
          </a:bodyPr>
          <a:lstStyle/>
          <a:p>
            <a:pPr algn="l"/>
            <a:r>
              <a:rPr sz="3300" b="1">
                <a:solidFill>
                  <a:srgbClr val="000000"/>
                </a:solidFill>
                <a:latin typeface="Arial"/>
              </a:rPr>
              <a:t>FOUR WAYS TO GENERATE THE LIST</a:t>
            </a:r>
          </a:p>
        </p:txBody>
      </p:sp>
      <p:sp>
        <p:nvSpPr>
          <p:cNvPr id="4" name="TextBox 3"/>
          <p:cNvSpPr txBox="1"/>
          <p:nvPr/>
        </p:nvSpPr>
        <p:spPr>
          <a:xfrm>
            <a:off x="594360" y="1261872"/>
            <a:ext cx="10972800" cy="310896"/>
          </a:xfrm>
          <a:prstGeom prst="rect">
            <a:avLst/>
          </a:prstGeom>
          <a:noFill/>
        </p:spPr>
        <p:txBody>
          <a:bodyPr wrap="square" lIns="0" rIns="0" tIns="0" bIns="0" anchor="t">
            <a:spAutoFit/>
          </a:bodyPr>
          <a:lstStyle/>
          <a:p>
            <a:pPr algn="l"/>
            <a:r>
              <a:rPr sz="1350">
                <a:solidFill>
                  <a:srgbClr val="6B6B6B"/>
                </a:solidFill>
                <a:latin typeface="Calibri"/>
              </a:rPr>
              <a:t>Named today so you can recognize them in a building. Built next week.</a:t>
            </a:r>
          </a:p>
        </p:txBody>
      </p:sp>
      <p:sp>
        <p:nvSpPr>
          <p:cNvPr id="5" name="Rectangle 4"/>
          <p:cNvSpPr/>
          <p:nvPr/>
        </p:nvSpPr>
        <p:spPr>
          <a:xfrm>
            <a:off x="662940" y="1851660"/>
            <a:ext cx="2606040" cy="292608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94360" y="1783080"/>
            <a:ext cx="2606040" cy="292608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4360" y="1783080"/>
            <a:ext cx="2606040" cy="502920"/>
          </a:xfrm>
          <a:prstGeom prst="rect">
            <a:avLst/>
          </a:prstGeom>
          <a:solidFill>
            <a:srgbClr val="00D9E1"/>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60"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CARTESIAN</a:t>
            </a:r>
          </a:p>
        </p:txBody>
      </p:sp>
      <p:sp>
        <p:nvSpPr>
          <p:cNvPr id="9" name="TextBox 8"/>
          <p:cNvSpPr txBox="1"/>
          <p:nvPr/>
        </p:nvSpPr>
        <p:spPr>
          <a:xfrm>
            <a:off x="795528" y="4160520"/>
            <a:ext cx="2203704" cy="365760"/>
          </a:xfrm>
          <a:prstGeom prst="rect">
            <a:avLst/>
          </a:prstGeom>
          <a:noFill/>
        </p:spPr>
        <p:txBody>
          <a:bodyPr wrap="square" lIns="0" rIns="0" tIns="0" bIns="0" anchor="ctr">
            <a:spAutoFit/>
          </a:bodyPr>
          <a:lstStyle/>
          <a:p>
            <a:pPr algn="l"/>
            <a:r>
              <a:rPr sz="1050">
                <a:solidFill>
                  <a:srgbClr val="000000"/>
                </a:solidFill>
                <a:latin typeface="Courier New"/>
              </a:rPr>
              <a:t>two counters, i and j</a:t>
            </a:r>
          </a:p>
        </p:txBody>
      </p:sp>
      <p:sp>
        <p:nvSpPr>
          <p:cNvPr id="10" name="Rectangle 9"/>
          <p:cNvSpPr/>
          <p:nvPr/>
        </p:nvSpPr>
        <p:spPr>
          <a:xfrm>
            <a:off x="3451860" y="1851660"/>
            <a:ext cx="2606040" cy="292608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83279" y="1783080"/>
            <a:ext cx="2606040" cy="292608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83279" y="1783080"/>
            <a:ext cx="2606040" cy="502920"/>
          </a:xfrm>
          <a:prstGeom prst="rect">
            <a:avLst/>
          </a:prstGeom>
          <a:solidFill>
            <a:srgbClr val="FF4D8D"/>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611879"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RADIAL</a:t>
            </a:r>
          </a:p>
        </p:txBody>
      </p:sp>
      <p:sp>
        <p:nvSpPr>
          <p:cNvPr id="14" name="TextBox 13"/>
          <p:cNvSpPr txBox="1"/>
          <p:nvPr/>
        </p:nvSpPr>
        <p:spPr>
          <a:xfrm>
            <a:off x="3584448" y="4160520"/>
            <a:ext cx="2203704" cy="365760"/>
          </a:xfrm>
          <a:prstGeom prst="rect">
            <a:avLst/>
          </a:prstGeom>
          <a:noFill/>
        </p:spPr>
        <p:txBody>
          <a:bodyPr wrap="square" lIns="0" rIns="0" tIns="0" bIns="0" anchor="ctr">
            <a:spAutoFit/>
          </a:bodyPr>
          <a:lstStyle/>
          <a:p>
            <a:pPr algn="l"/>
            <a:r>
              <a:rPr sz="1050">
                <a:solidFill>
                  <a:srgbClr val="000000"/>
                </a:solidFill>
                <a:latin typeface="Courier New"/>
              </a:rPr>
              <a:t>angle and radius</a:t>
            </a:r>
          </a:p>
        </p:txBody>
      </p:sp>
      <p:sp>
        <p:nvSpPr>
          <p:cNvPr id="15" name="Rectangle 14"/>
          <p:cNvSpPr/>
          <p:nvPr/>
        </p:nvSpPr>
        <p:spPr>
          <a:xfrm>
            <a:off x="6240780" y="1851660"/>
            <a:ext cx="2606040" cy="292608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83080"/>
            <a:ext cx="2606040" cy="292608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72200" y="1783080"/>
            <a:ext cx="2606040" cy="502920"/>
          </a:xfrm>
          <a:prstGeom prst="rect">
            <a:avLst/>
          </a:prstGeom>
          <a:solidFill>
            <a:srgbClr val="C6F035"/>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HEXAGONAL</a:t>
            </a:r>
          </a:p>
        </p:txBody>
      </p:sp>
      <p:sp>
        <p:nvSpPr>
          <p:cNvPr id="19" name="TextBox 18"/>
          <p:cNvSpPr txBox="1"/>
          <p:nvPr/>
        </p:nvSpPr>
        <p:spPr>
          <a:xfrm>
            <a:off x="6373368" y="4160520"/>
            <a:ext cx="2203704" cy="365760"/>
          </a:xfrm>
          <a:prstGeom prst="rect">
            <a:avLst/>
          </a:prstGeom>
          <a:noFill/>
        </p:spPr>
        <p:txBody>
          <a:bodyPr wrap="square" lIns="0" rIns="0" tIns="0" bIns="0" anchor="ctr">
            <a:spAutoFit/>
          </a:bodyPr>
          <a:lstStyle/>
          <a:p>
            <a:pPr algn="l"/>
            <a:r>
              <a:rPr sz="1050">
                <a:solidFill>
                  <a:srgbClr val="000000"/>
                </a:solidFill>
                <a:latin typeface="Courier New"/>
              </a:rPr>
              <a:t>odd rows offset by dx/2</a:t>
            </a:r>
          </a:p>
        </p:txBody>
      </p:sp>
      <p:sp>
        <p:nvSpPr>
          <p:cNvPr id="20" name="Rectangle 19"/>
          <p:cNvSpPr/>
          <p:nvPr/>
        </p:nvSpPr>
        <p:spPr>
          <a:xfrm>
            <a:off x="9029700" y="1851660"/>
            <a:ext cx="2606040" cy="292608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961120" y="1783080"/>
            <a:ext cx="2606040" cy="292608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61120" y="1783080"/>
            <a:ext cx="2606040" cy="502920"/>
          </a:xfrm>
          <a:prstGeom prst="rect">
            <a:avLst/>
          </a:prstGeom>
          <a:solidFill>
            <a:srgbClr val="FFE500"/>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89720"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ON CURVE</a:t>
            </a:r>
          </a:p>
        </p:txBody>
      </p:sp>
      <p:sp>
        <p:nvSpPr>
          <p:cNvPr id="24" name="TextBox 23"/>
          <p:cNvSpPr txBox="1"/>
          <p:nvPr/>
        </p:nvSpPr>
        <p:spPr>
          <a:xfrm>
            <a:off x="9162288" y="4160520"/>
            <a:ext cx="2203704" cy="365760"/>
          </a:xfrm>
          <a:prstGeom prst="rect">
            <a:avLst/>
          </a:prstGeom>
          <a:noFill/>
        </p:spPr>
        <p:txBody>
          <a:bodyPr wrap="square" lIns="0" rIns="0" tIns="0" bIns="0" anchor="ctr">
            <a:spAutoFit/>
          </a:bodyPr>
          <a:lstStyle/>
          <a:p>
            <a:pPr algn="l"/>
            <a:r>
              <a:rPr sz="1050">
                <a:solidFill>
                  <a:srgbClr val="000000"/>
                </a:solidFill>
                <a:latin typeface="Courier New"/>
              </a:rPr>
              <a:t>sampled at t = i/n</a:t>
            </a:r>
          </a:p>
        </p:txBody>
      </p:sp>
      <p:sp>
        <p:nvSpPr>
          <p:cNvPr id="25" name="Oval 24"/>
          <p:cNvSpPr/>
          <p:nvPr/>
        </p:nvSpPr>
        <p:spPr>
          <a:xfrm>
            <a:off x="1110996"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110996"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10996"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110996"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403604"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403604"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403604"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403604"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696212"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696212"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1696212"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696212"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988819"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988819"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988819"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988819"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2281427"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281427"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2281427"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281427"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2574036"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2574036"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2574036"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2574036"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5019141" y="32543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018397" y="327707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5016168" y="329970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5012465" y="332213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5007301" y="33442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5000701" y="336604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4992691" y="338732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4983307" y="340803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4972589" y="342808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960582" y="344739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4947337" y="34658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4932912" y="348345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4917369" y="35000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4900773" y="351559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4883197" y="35300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4864714" y="354326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4845405" y="355526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4825352" y="356598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4804641" y="357537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Oval 67"/>
          <p:cNvSpPr/>
          <p:nvPr/>
        </p:nvSpPr>
        <p:spPr>
          <a:xfrm>
            <a:off x="4783360" y="35833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4761601" y="35899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4739458" y="359514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4717023" y="35988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4694395" y="36010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4671669" y="360182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4648943" y="36010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4626315" y="35988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4603881" y="359514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4581737" y="35899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4559978" y="35833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4538697" y="357537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4517986" y="356598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4497933" y="355526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478624" y="354326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4460142" y="35300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4442565" y="351559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4425969" y="35000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4410426" y="348345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4396001" y="34658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4382757" y="344739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4370750" y="342808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4360031" y="340803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4350647" y="338732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4342637" y="336604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4336037" y="33442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4330874" y="332213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4327170" y="329970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4324941" y="327707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4324197" y="32543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Oval 97"/>
          <p:cNvSpPr/>
          <p:nvPr/>
        </p:nvSpPr>
        <p:spPr>
          <a:xfrm>
            <a:off x="4324941" y="323162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4327170" y="320899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Oval 99"/>
          <p:cNvSpPr/>
          <p:nvPr/>
        </p:nvSpPr>
        <p:spPr>
          <a:xfrm>
            <a:off x="4330874" y="31865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4336037" y="31644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Oval 101"/>
          <p:cNvSpPr/>
          <p:nvPr/>
        </p:nvSpPr>
        <p:spPr>
          <a:xfrm>
            <a:off x="4342637" y="314265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Oval 102"/>
          <p:cNvSpPr/>
          <p:nvPr/>
        </p:nvSpPr>
        <p:spPr>
          <a:xfrm>
            <a:off x="4350647" y="31213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Oval 103"/>
          <p:cNvSpPr/>
          <p:nvPr/>
        </p:nvSpPr>
        <p:spPr>
          <a:xfrm>
            <a:off x="4360031" y="310066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4370750" y="308061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Oval 105"/>
          <p:cNvSpPr/>
          <p:nvPr/>
        </p:nvSpPr>
        <p:spPr>
          <a:xfrm>
            <a:off x="4382757" y="306130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4396001" y="30428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Oval 107"/>
          <p:cNvSpPr/>
          <p:nvPr/>
        </p:nvSpPr>
        <p:spPr>
          <a:xfrm>
            <a:off x="4410426" y="302524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4425969" y="30086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Oval 109"/>
          <p:cNvSpPr/>
          <p:nvPr/>
        </p:nvSpPr>
        <p:spPr>
          <a:xfrm>
            <a:off x="4442565" y="299310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Oval 110"/>
          <p:cNvSpPr/>
          <p:nvPr/>
        </p:nvSpPr>
        <p:spPr>
          <a:xfrm>
            <a:off x="4460142" y="29786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Oval 111"/>
          <p:cNvSpPr/>
          <p:nvPr/>
        </p:nvSpPr>
        <p:spPr>
          <a:xfrm>
            <a:off x="4478624" y="29654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4497933" y="295343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Oval 113"/>
          <p:cNvSpPr/>
          <p:nvPr/>
        </p:nvSpPr>
        <p:spPr>
          <a:xfrm>
            <a:off x="4517986" y="294271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Oval 114"/>
          <p:cNvSpPr/>
          <p:nvPr/>
        </p:nvSpPr>
        <p:spPr>
          <a:xfrm>
            <a:off x="4538697" y="293332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Oval 115"/>
          <p:cNvSpPr/>
          <p:nvPr/>
        </p:nvSpPr>
        <p:spPr>
          <a:xfrm>
            <a:off x="4559978" y="29253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4581737" y="29187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Oval 117"/>
          <p:cNvSpPr/>
          <p:nvPr/>
        </p:nvSpPr>
        <p:spPr>
          <a:xfrm>
            <a:off x="4603881" y="291355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Oval 118"/>
          <p:cNvSpPr/>
          <p:nvPr/>
        </p:nvSpPr>
        <p:spPr>
          <a:xfrm>
            <a:off x="4626315" y="29098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Oval 119"/>
          <p:cNvSpPr/>
          <p:nvPr/>
        </p:nvSpPr>
        <p:spPr>
          <a:xfrm>
            <a:off x="4648943" y="290762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Oval 120"/>
          <p:cNvSpPr/>
          <p:nvPr/>
        </p:nvSpPr>
        <p:spPr>
          <a:xfrm>
            <a:off x="4671669" y="29068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Oval 121"/>
          <p:cNvSpPr/>
          <p:nvPr/>
        </p:nvSpPr>
        <p:spPr>
          <a:xfrm>
            <a:off x="4694395" y="290762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Oval 122"/>
          <p:cNvSpPr/>
          <p:nvPr/>
        </p:nvSpPr>
        <p:spPr>
          <a:xfrm>
            <a:off x="4717023" y="29098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Oval 123"/>
          <p:cNvSpPr/>
          <p:nvPr/>
        </p:nvSpPr>
        <p:spPr>
          <a:xfrm>
            <a:off x="4739458" y="291355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Oval 124"/>
          <p:cNvSpPr/>
          <p:nvPr/>
        </p:nvSpPr>
        <p:spPr>
          <a:xfrm>
            <a:off x="4761601" y="29187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Oval 125"/>
          <p:cNvSpPr/>
          <p:nvPr/>
        </p:nvSpPr>
        <p:spPr>
          <a:xfrm>
            <a:off x="4783360" y="29253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Oval 126"/>
          <p:cNvSpPr/>
          <p:nvPr/>
        </p:nvSpPr>
        <p:spPr>
          <a:xfrm>
            <a:off x="4804641" y="293332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Oval 127"/>
          <p:cNvSpPr/>
          <p:nvPr/>
        </p:nvSpPr>
        <p:spPr>
          <a:xfrm>
            <a:off x="4825352" y="294271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Oval 128"/>
          <p:cNvSpPr/>
          <p:nvPr/>
        </p:nvSpPr>
        <p:spPr>
          <a:xfrm>
            <a:off x="4845405" y="295343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Oval 129"/>
          <p:cNvSpPr/>
          <p:nvPr/>
        </p:nvSpPr>
        <p:spPr>
          <a:xfrm>
            <a:off x="4864714" y="29654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Oval 130"/>
          <p:cNvSpPr/>
          <p:nvPr/>
        </p:nvSpPr>
        <p:spPr>
          <a:xfrm>
            <a:off x="4883197" y="29786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Oval 131"/>
          <p:cNvSpPr/>
          <p:nvPr/>
        </p:nvSpPr>
        <p:spPr>
          <a:xfrm>
            <a:off x="4900773" y="299310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Oval 132"/>
          <p:cNvSpPr/>
          <p:nvPr/>
        </p:nvSpPr>
        <p:spPr>
          <a:xfrm>
            <a:off x="4917369" y="30086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Oval 133"/>
          <p:cNvSpPr/>
          <p:nvPr/>
        </p:nvSpPr>
        <p:spPr>
          <a:xfrm>
            <a:off x="4932912" y="302524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Oval 134"/>
          <p:cNvSpPr/>
          <p:nvPr/>
        </p:nvSpPr>
        <p:spPr>
          <a:xfrm>
            <a:off x="4947337" y="30428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Oval 135"/>
          <p:cNvSpPr/>
          <p:nvPr/>
        </p:nvSpPr>
        <p:spPr>
          <a:xfrm>
            <a:off x="4960582" y="306130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Oval 136"/>
          <p:cNvSpPr/>
          <p:nvPr/>
        </p:nvSpPr>
        <p:spPr>
          <a:xfrm>
            <a:off x="4972589" y="308061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Oval 137"/>
          <p:cNvSpPr/>
          <p:nvPr/>
        </p:nvSpPr>
        <p:spPr>
          <a:xfrm>
            <a:off x="4983307" y="310066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Oval 138"/>
          <p:cNvSpPr/>
          <p:nvPr/>
        </p:nvSpPr>
        <p:spPr>
          <a:xfrm>
            <a:off x="4992691" y="31213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Oval 139"/>
          <p:cNvSpPr/>
          <p:nvPr/>
        </p:nvSpPr>
        <p:spPr>
          <a:xfrm>
            <a:off x="5000701" y="314265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Oval 140"/>
          <p:cNvSpPr/>
          <p:nvPr/>
        </p:nvSpPr>
        <p:spPr>
          <a:xfrm>
            <a:off x="5007301" y="31644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Oval 141"/>
          <p:cNvSpPr/>
          <p:nvPr/>
        </p:nvSpPr>
        <p:spPr>
          <a:xfrm>
            <a:off x="5012465" y="31865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Oval 142"/>
          <p:cNvSpPr/>
          <p:nvPr/>
        </p:nvSpPr>
        <p:spPr>
          <a:xfrm>
            <a:off x="5016168" y="320899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Oval 143"/>
          <p:cNvSpPr/>
          <p:nvPr/>
        </p:nvSpPr>
        <p:spPr>
          <a:xfrm>
            <a:off x="5018397" y="323162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5293461" y="32543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Oval 145"/>
          <p:cNvSpPr/>
          <p:nvPr/>
        </p:nvSpPr>
        <p:spPr>
          <a:xfrm>
            <a:off x="5292130" y="329501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Oval 146"/>
          <p:cNvSpPr/>
          <p:nvPr/>
        </p:nvSpPr>
        <p:spPr>
          <a:xfrm>
            <a:off x="5288142" y="333550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Oval 147"/>
          <p:cNvSpPr/>
          <p:nvPr/>
        </p:nvSpPr>
        <p:spPr>
          <a:xfrm>
            <a:off x="5281514" y="337565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Oval 148"/>
          <p:cNvSpPr/>
          <p:nvPr/>
        </p:nvSpPr>
        <p:spPr>
          <a:xfrm>
            <a:off x="5272274" y="34152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Oval 149"/>
          <p:cNvSpPr/>
          <p:nvPr/>
        </p:nvSpPr>
        <p:spPr>
          <a:xfrm>
            <a:off x="5260463" y="345421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Oval 150"/>
          <p:cNvSpPr/>
          <p:nvPr/>
        </p:nvSpPr>
        <p:spPr>
          <a:xfrm>
            <a:off x="5246130" y="349229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Oval 151"/>
          <p:cNvSpPr/>
          <p:nvPr/>
        </p:nvSpPr>
        <p:spPr>
          <a:xfrm>
            <a:off x="5229337" y="35293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Oval 152"/>
          <p:cNvSpPr/>
          <p:nvPr/>
        </p:nvSpPr>
        <p:spPr>
          <a:xfrm>
            <a:off x="5210157" y="356524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Oval 153"/>
          <p:cNvSpPr/>
          <p:nvPr/>
        </p:nvSpPr>
        <p:spPr>
          <a:xfrm>
            <a:off x="5188670" y="359979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Oval 154"/>
          <p:cNvSpPr/>
          <p:nvPr/>
        </p:nvSpPr>
        <p:spPr>
          <a:xfrm>
            <a:off x="5164970" y="363287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Oval 155"/>
          <p:cNvSpPr/>
          <p:nvPr/>
        </p:nvSpPr>
        <p:spPr>
          <a:xfrm>
            <a:off x="5139157" y="366432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Oval 156"/>
          <p:cNvSpPr/>
          <p:nvPr/>
        </p:nvSpPr>
        <p:spPr>
          <a:xfrm>
            <a:off x="5111342" y="36940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Oval 157"/>
          <p:cNvSpPr/>
          <p:nvPr/>
        </p:nvSpPr>
        <p:spPr>
          <a:xfrm>
            <a:off x="5081645" y="37218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Oval 158"/>
          <p:cNvSpPr/>
          <p:nvPr/>
        </p:nvSpPr>
        <p:spPr>
          <a:xfrm>
            <a:off x="5050192" y="37476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Oval 159"/>
          <p:cNvSpPr/>
          <p:nvPr/>
        </p:nvSpPr>
        <p:spPr>
          <a:xfrm>
            <a:off x="5017118" y="37713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4982565" y="37928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Oval 161"/>
          <p:cNvSpPr/>
          <p:nvPr/>
        </p:nvSpPr>
        <p:spPr>
          <a:xfrm>
            <a:off x="4946681" y="38120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Oval 162"/>
          <p:cNvSpPr/>
          <p:nvPr/>
        </p:nvSpPr>
        <p:spPr>
          <a:xfrm>
            <a:off x="4909619" y="382881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Oval 163"/>
          <p:cNvSpPr/>
          <p:nvPr/>
        </p:nvSpPr>
        <p:spPr>
          <a:xfrm>
            <a:off x="4871538" y="384314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Oval 164"/>
          <p:cNvSpPr/>
          <p:nvPr/>
        </p:nvSpPr>
        <p:spPr>
          <a:xfrm>
            <a:off x="4832601" y="385495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Oval 165"/>
          <p:cNvSpPr/>
          <p:nvPr/>
        </p:nvSpPr>
        <p:spPr>
          <a:xfrm>
            <a:off x="4792975" y="386419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Oval 166"/>
          <p:cNvSpPr/>
          <p:nvPr/>
        </p:nvSpPr>
        <p:spPr>
          <a:xfrm>
            <a:off x="4752829" y="38708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Oval 167"/>
          <p:cNvSpPr/>
          <p:nvPr/>
        </p:nvSpPr>
        <p:spPr>
          <a:xfrm>
            <a:off x="4712336" y="387481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Oval 168"/>
          <p:cNvSpPr/>
          <p:nvPr/>
        </p:nvSpPr>
        <p:spPr>
          <a:xfrm>
            <a:off x="4671669" y="387614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Oval 169"/>
          <p:cNvSpPr/>
          <p:nvPr/>
        </p:nvSpPr>
        <p:spPr>
          <a:xfrm>
            <a:off x="4631002" y="387481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Oval 170"/>
          <p:cNvSpPr/>
          <p:nvPr/>
        </p:nvSpPr>
        <p:spPr>
          <a:xfrm>
            <a:off x="4590509" y="38708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Oval 171"/>
          <p:cNvSpPr/>
          <p:nvPr/>
        </p:nvSpPr>
        <p:spPr>
          <a:xfrm>
            <a:off x="4550363" y="386419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Oval 172"/>
          <p:cNvSpPr/>
          <p:nvPr/>
        </p:nvSpPr>
        <p:spPr>
          <a:xfrm>
            <a:off x="4510737" y="385495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Oval 173"/>
          <p:cNvSpPr/>
          <p:nvPr/>
        </p:nvSpPr>
        <p:spPr>
          <a:xfrm>
            <a:off x="4471801" y="384314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Oval 174"/>
          <p:cNvSpPr/>
          <p:nvPr/>
        </p:nvSpPr>
        <p:spPr>
          <a:xfrm>
            <a:off x="4433720" y="382881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Oval 175"/>
          <p:cNvSpPr/>
          <p:nvPr/>
        </p:nvSpPr>
        <p:spPr>
          <a:xfrm>
            <a:off x="4396658" y="38120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Oval 176"/>
          <p:cNvSpPr/>
          <p:nvPr/>
        </p:nvSpPr>
        <p:spPr>
          <a:xfrm>
            <a:off x="4360773" y="37928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Oval 177"/>
          <p:cNvSpPr/>
          <p:nvPr/>
        </p:nvSpPr>
        <p:spPr>
          <a:xfrm>
            <a:off x="4326220" y="37713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Oval 178"/>
          <p:cNvSpPr/>
          <p:nvPr/>
        </p:nvSpPr>
        <p:spPr>
          <a:xfrm>
            <a:off x="4293146" y="37476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Oval 179"/>
          <p:cNvSpPr/>
          <p:nvPr/>
        </p:nvSpPr>
        <p:spPr>
          <a:xfrm>
            <a:off x="4261693" y="37218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Oval 180"/>
          <p:cNvSpPr/>
          <p:nvPr/>
        </p:nvSpPr>
        <p:spPr>
          <a:xfrm>
            <a:off x="4231996" y="36940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Oval 181"/>
          <p:cNvSpPr/>
          <p:nvPr/>
        </p:nvSpPr>
        <p:spPr>
          <a:xfrm>
            <a:off x="4204181" y="366432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Oval 182"/>
          <p:cNvSpPr/>
          <p:nvPr/>
        </p:nvSpPr>
        <p:spPr>
          <a:xfrm>
            <a:off x="4178368" y="363287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Oval 183"/>
          <p:cNvSpPr/>
          <p:nvPr/>
        </p:nvSpPr>
        <p:spPr>
          <a:xfrm>
            <a:off x="4154668" y="359979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Oval 184"/>
          <p:cNvSpPr/>
          <p:nvPr/>
        </p:nvSpPr>
        <p:spPr>
          <a:xfrm>
            <a:off x="4133181" y="356524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Oval 185"/>
          <p:cNvSpPr/>
          <p:nvPr/>
        </p:nvSpPr>
        <p:spPr>
          <a:xfrm>
            <a:off x="4114001" y="35293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Oval 186"/>
          <p:cNvSpPr/>
          <p:nvPr/>
        </p:nvSpPr>
        <p:spPr>
          <a:xfrm>
            <a:off x="4097208" y="349229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Oval 187"/>
          <p:cNvSpPr/>
          <p:nvPr/>
        </p:nvSpPr>
        <p:spPr>
          <a:xfrm>
            <a:off x="4082876" y="345421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Oval 188"/>
          <p:cNvSpPr/>
          <p:nvPr/>
        </p:nvSpPr>
        <p:spPr>
          <a:xfrm>
            <a:off x="4071064" y="34152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Oval 189"/>
          <p:cNvSpPr/>
          <p:nvPr/>
        </p:nvSpPr>
        <p:spPr>
          <a:xfrm>
            <a:off x="4061825" y="337565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Oval 190"/>
          <p:cNvSpPr/>
          <p:nvPr/>
        </p:nvSpPr>
        <p:spPr>
          <a:xfrm>
            <a:off x="4055197" y="333550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Oval 191"/>
          <p:cNvSpPr/>
          <p:nvPr/>
        </p:nvSpPr>
        <p:spPr>
          <a:xfrm>
            <a:off x="4051208" y="329501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Oval 192"/>
          <p:cNvSpPr/>
          <p:nvPr/>
        </p:nvSpPr>
        <p:spPr>
          <a:xfrm>
            <a:off x="4049877" y="32543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Oval 193"/>
          <p:cNvSpPr/>
          <p:nvPr/>
        </p:nvSpPr>
        <p:spPr>
          <a:xfrm>
            <a:off x="4051208" y="321368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Oval 194"/>
          <p:cNvSpPr/>
          <p:nvPr/>
        </p:nvSpPr>
        <p:spPr>
          <a:xfrm>
            <a:off x="4055197" y="317318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Oval 195"/>
          <p:cNvSpPr/>
          <p:nvPr/>
        </p:nvSpPr>
        <p:spPr>
          <a:xfrm>
            <a:off x="4061825" y="313304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Oval 196"/>
          <p:cNvSpPr/>
          <p:nvPr/>
        </p:nvSpPr>
        <p:spPr>
          <a:xfrm>
            <a:off x="4071064" y="30934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Oval 197"/>
          <p:cNvSpPr/>
          <p:nvPr/>
        </p:nvSpPr>
        <p:spPr>
          <a:xfrm>
            <a:off x="4082876" y="30544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Oval 198"/>
          <p:cNvSpPr/>
          <p:nvPr/>
        </p:nvSpPr>
        <p:spPr>
          <a:xfrm>
            <a:off x="4097208" y="301640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Oval 199"/>
          <p:cNvSpPr/>
          <p:nvPr/>
        </p:nvSpPr>
        <p:spPr>
          <a:xfrm>
            <a:off x="4114001" y="297933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Oval 200"/>
          <p:cNvSpPr/>
          <p:nvPr/>
        </p:nvSpPr>
        <p:spPr>
          <a:xfrm>
            <a:off x="4133181" y="294345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Oval 201"/>
          <p:cNvSpPr/>
          <p:nvPr/>
        </p:nvSpPr>
        <p:spPr>
          <a:xfrm>
            <a:off x="4154668" y="290890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Oval 202"/>
          <p:cNvSpPr/>
          <p:nvPr/>
        </p:nvSpPr>
        <p:spPr>
          <a:xfrm>
            <a:off x="4178368" y="287582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Oval 203"/>
          <p:cNvSpPr/>
          <p:nvPr/>
        </p:nvSpPr>
        <p:spPr>
          <a:xfrm>
            <a:off x="4204181" y="284437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Oval 204"/>
          <p:cNvSpPr/>
          <p:nvPr/>
        </p:nvSpPr>
        <p:spPr>
          <a:xfrm>
            <a:off x="4231996" y="281467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Oval 205"/>
          <p:cNvSpPr/>
          <p:nvPr/>
        </p:nvSpPr>
        <p:spPr>
          <a:xfrm>
            <a:off x="4261693" y="27868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Oval 206"/>
          <p:cNvSpPr/>
          <p:nvPr/>
        </p:nvSpPr>
        <p:spPr>
          <a:xfrm>
            <a:off x="4293146" y="27610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Oval 207"/>
          <p:cNvSpPr/>
          <p:nvPr/>
        </p:nvSpPr>
        <p:spPr>
          <a:xfrm>
            <a:off x="4326220" y="27373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Oval 208"/>
          <p:cNvSpPr/>
          <p:nvPr/>
        </p:nvSpPr>
        <p:spPr>
          <a:xfrm>
            <a:off x="4360773" y="27158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Oval 209"/>
          <p:cNvSpPr/>
          <p:nvPr/>
        </p:nvSpPr>
        <p:spPr>
          <a:xfrm>
            <a:off x="4396658" y="26966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Oval 210"/>
          <p:cNvSpPr/>
          <p:nvPr/>
        </p:nvSpPr>
        <p:spPr>
          <a:xfrm>
            <a:off x="4433720" y="267988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Oval 211"/>
          <p:cNvSpPr/>
          <p:nvPr/>
        </p:nvSpPr>
        <p:spPr>
          <a:xfrm>
            <a:off x="4471801" y="266555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Oval 212"/>
          <p:cNvSpPr/>
          <p:nvPr/>
        </p:nvSpPr>
        <p:spPr>
          <a:xfrm>
            <a:off x="4510737" y="265374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Oval 213"/>
          <p:cNvSpPr/>
          <p:nvPr/>
        </p:nvSpPr>
        <p:spPr>
          <a:xfrm>
            <a:off x="4550363" y="26445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Oval 214"/>
          <p:cNvSpPr/>
          <p:nvPr/>
        </p:nvSpPr>
        <p:spPr>
          <a:xfrm>
            <a:off x="4590509" y="26378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Oval 215"/>
          <p:cNvSpPr/>
          <p:nvPr/>
        </p:nvSpPr>
        <p:spPr>
          <a:xfrm>
            <a:off x="4631002" y="263388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Oval 216"/>
          <p:cNvSpPr/>
          <p:nvPr/>
        </p:nvSpPr>
        <p:spPr>
          <a:xfrm>
            <a:off x="4671669" y="263255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Oval 217"/>
          <p:cNvSpPr/>
          <p:nvPr/>
        </p:nvSpPr>
        <p:spPr>
          <a:xfrm>
            <a:off x="4712336" y="263388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Oval 218"/>
          <p:cNvSpPr/>
          <p:nvPr/>
        </p:nvSpPr>
        <p:spPr>
          <a:xfrm>
            <a:off x="4752829" y="263787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Oval 219"/>
          <p:cNvSpPr/>
          <p:nvPr/>
        </p:nvSpPr>
        <p:spPr>
          <a:xfrm>
            <a:off x="4792975" y="26445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Oval 220"/>
          <p:cNvSpPr/>
          <p:nvPr/>
        </p:nvSpPr>
        <p:spPr>
          <a:xfrm>
            <a:off x="4832601" y="265374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Oval 221"/>
          <p:cNvSpPr/>
          <p:nvPr/>
        </p:nvSpPr>
        <p:spPr>
          <a:xfrm>
            <a:off x="4871538" y="266555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Oval 222"/>
          <p:cNvSpPr/>
          <p:nvPr/>
        </p:nvSpPr>
        <p:spPr>
          <a:xfrm>
            <a:off x="4909619" y="267988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Oval 223"/>
          <p:cNvSpPr/>
          <p:nvPr/>
        </p:nvSpPr>
        <p:spPr>
          <a:xfrm>
            <a:off x="4946681" y="26966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5" name="Oval 224"/>
          <p:cNvSpPr/>
          <p:nvPr/>
        </p:nvSpPr>
        <p:spPr>
          <a:xfrm>
            <a:off x="4982565" y="27158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Oval 225"/>
          <p:cNvSpPr/>
          <p:nvPr/>
        </p:nvSpPr>
        <p:spPr>
          <a:xfrm>
            <a:off x="5017118" y="27373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7" name="Oval 226"/>
          <p:cNvSpPr/>
          <p:nvPr/>
        </p:nvSpPr>
        <p:spPr>
          <a:xfrm>
            <a:off x="5050192" y="27610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Oval 227"/>
          <p:cNvSpPr/>
          <p:nvPr/>
        </p:nvSpPr>
        <p:spPr>
          <a:xfrm>
            <a:off x="5081645" y="27868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Oval 228"/>
          <p:cNvSpPr/>
          <p:nvPr/>
        </p:nvSpPr>
        <p:spPr>
          <a:xfrm>
            <a:off x="5111342" y="281467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Oval 229"/>
          <p:cNvSpPr/>
          <p:nvPr/>
        </p:nvSpPr>
        <p:spPr>
          <a:xfrm>
            <a:off x="5139157" y="284437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Oval 230"/>
          <p:cNvSpPr/>
          <p:nvPr/>
        </p:nvSpPr>
        <p:spPr>
          <a:xfrm>
            <a:off x="5164970" y="287582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Oval 231"/>
          <p:cNvSpPr/>
          <p:nvPr/>
        </p:nvSpPr>
        <p:spPr>
          <a:xfrm>
            <a:off x="5188670" y="290890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Oval 232"/>
          <p:cNvSpPr/>
          <p:nvPr/>
        </p:nvSpPr>
        <p:spPr>
          <a:xfrm>
            <a:off x="5210157" y="294345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Oval 233"/>
          <p:cNvSpPr/>
          <p:nvPr/>
        </p:nvSpPr>
        <p:spPr>
          <a:xfrm>
            <a:off x="5229337" y="297933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Oval 234"/>
          <p:cNvSpPr/>
          <p:nvPr/>
        </p:nvSpPr>
        <p:spPr>
          <a:xfrm>
            <a:off x="5246130" y="301640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Oval 235"/>
          <p:cNvSpPr/>
          <p:nvPr/>
        </p:nvSpPr>
        <p:spPr>
          <a:xfrm>
            <a:off x="5260463" y="305448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Oval 236"/>
          <p:cNvSpPr/>
          <p:nvPr/>
        </p:nvSpPr>
        <p:spPr>
          <a:xfrm>
            <a:off x="5272274" y="309341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Oval 237"/>
          <p:cNvSpPr/>
          <p:nvPr/>
        </p:nvSpPr>
        <p:spPr>
          <a:xfrm>
            <a:off x="5281514" y="313304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Oval 238"/>
          <p:cNvSpPr/>
          <p:nvPr/>
        </p:nvSpPr>
        <p:spPr>
          <a:xfrm>
            <a:off x="5288142" y="317318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Oval 239"/>
          <p:cNvSpPr/>
          <p:nvPr/>
        </p:nvSpPr>
        <p:spPr>
          <a:xfrm>
            <a:off x="5292130" y="321368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1" name="Oval 240"/>
          <p:cNvSpPr/>
          <p:nvPr/>
        </p:nvSpPr>
        <p:spPr>
          <a:xfrm>
            <a:off x="5567781" y="32543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Oval 241"/>
          <p:cNvSpPr/>
          <p:nvPr/>
        </p:nvSpPr>
        <p:spPr>
          <a:xfrm>
            <a:off x="5565862" y="331295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Oval 242"/>
          <p:cNvSpPr/>
          <p:nvPr/>
        </p:nvSpPr>
        <p:spPr>
          <a:xfrm>
            <a:off x="5560115" y="337131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Oval 243"/>
          <p:cNvSpPr/>
          <p:nvPr/>
        </p:nvSpPr>
        <p:spPr>
          <a:xfrm>
            <a:off x="5550563" y="342917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Oval 244"/>
          <p:cNvSpPr/>
          <p:nvPr/>
        </p:nvSpPr>
        <p:spPr>
          <a:xfrm>
            <a:off x="5537247" y="348628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Oval 245"/>
          <p:cNvSpPr/>
          <p:nvPr/>
        </p:nvSpPr>
        <p:spPr>
          <a:xfrm>
            <a:off x="5520225" y="354239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Oval 246"/>
          <p:cNvSpPr/>
          <p:nvPr/>
        </p:nvSpPr>
        <p:spPr>
          <a:xfrm>
            <a:off x="5499569" y="359727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Oval 247"/>
          <p:cNvSpPr/>
          <p:nvPr/>
        </p:nvSpPr>
        <p:spPr>
          <a:xfrm>
            <a:off x="5475368" y="365068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Oval 248"/>
          <p:cNvSpPr/>
          <p:nvPr/>
        </p:nvSpPr>
        <p:spPr>
          <a:xfrm>
            <a:off x="5447725" y="37024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Oval 249"/>
          <p:cNvSpPr/>
          <p:nvPr/>
        </p:nvSpPr>
        <p:spPr>
          <a:xfrm>
            <a:off x="5416759" y="375220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Oval 250"/>
          <p:cNvSpPr/>
          <p:nvPr/>
        </p:nvSpPr>
        <p:spPr>
          <a:xfrm>
            <a:off x="5382603" y="379986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Oval 251"/>
          <p:cNvSpPr/>
          <p:nvPr/>
        </p:nvSpPr>
        <p:spPr>
          <a:xfrm>
            <a:off x="5345402" y="384519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Oval 252"/>
          <p:cNvSpPr/>
          <p:nvPr/>
        </p:nvSpPr>
        <p:spPr>
          <a:xfrm>
            <a:off x="5305316" y="388799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Oval 253"/>
          <p:cNvSpPr/>
          <p:nvPr/>
        </p:nvSpPr>
        <p:spPr>
          <a:xfrm>
            <a:off x="5262517" y="392808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Oval 254"/>
          <p:cNvSpPr/>
          <p:nvPr/>
        </p:nvSpPr>
        <p:spPr>
          <a:xfrm>
            <a:off x="5217188" y="396528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Oval 255"/>
          <p:cNvSpPr/>
          <p:nvPr/>
        </p:nvSpPr>
        <p:spPr>
          <a:xfrm>
            <a:off x="5169522" y="399943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Oval 256"/>
          <p:cNvSpPr/>
          <p:nvPr/>
        </p:nvSpPr>
        <p:spPr>
          <a:xfrm>
            <a:off x="5119725" y="40304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Oval 257"/>
          <p:cNvSpPr/>
          <p:nvPr/>
        </p:nvSpPr>
        <p:spPr>
          <a:xfrm>
            <a:off x="5068009" y="40580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Oval 258"/>
          <p:cNvSpPr/>
          <p:nvPr/>
        </p:nvSpPr>
        <p:spPr>
          <a:xfrm>
            <a:off x="5014596" y="40822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Oval 259"/>
          <p:cNvSpPr/>
          <p:nvPr/>
        </p:nvSpPr>
        <p:spPr>
          <a:xfrm>
            <a:off x="4959715" y="41029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Oval 260"/>
          <p:cNvSpPr/>
          <p:nvPr/>
        </p:nvSpPr>
        <p:spPr>
          <a:xfrm>
            <a:off x="4903600" y="411992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Oval 261"/>
          <p:cNvSpPr/>
          <p:nvPr/>
        </p:nvSpPr>
        <p:spPr>
          <a:xfrm>
            <a:off x="4846492" y="413324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Oval 262"/>
          <p:cNvSpPr/>
          <p:nvPr/>
        </p:nvSpPr>
        <p:spPr>
          <a:xfrm>
            <a:off x="4788635" y="414279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Oval 263"/>
          <p:cNvSpPr/>
          <p:nvPr/>
        </p:nvSpPr>
        <p:spPr>
          <a:xfrm>
            <a:off x="4730278" y="414854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Oval 264"/>
          <p:cNvSpPr/>
          <p:nvPr/>
        </p:nvSpPr>
        <p:spPr>
          <a:xfrm>
            <a:off x="4671669" y="415046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Oval 265"/>
          <p:cNvSpPr/>
          <p:nvPr/>
        </p:nvSpPr>
        <p:spPr>
          <a:xfrm>
            <a:off x="4613061" y="414854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Oval 266"/>
          <p:cNvSpPr/>
          <p:nvPr/>
        </p:nvSpPr>
        <p:spPr>
          <a:xfrm>
            <a:off x="4554703" y="414279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Oval 267"/>
          <p:cNvSpPr/>
          <p:nvPr/>
        </p:nvSpPr>
        <p:spPr>
          <a:xfrm>
            <a:off x="4496846" y="413324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Oval 268"/>
          <p:cNvSpPr/>
          <p:nvPr/>
        </p:nvSpPr>
        <p:spPr>
          <a:xfrm>
            <a:off x="4439738" y="411992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Oval 269"/>
          <p:cNvSpPr/>
          <p:nvPr/>
        </p:nvSpPr>
        <p:spPr>
          <a:xfrm>
            <a:off x="4383623" y="41029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Oval 270"/>
          <p:cNvSpPr/>
          <p:nvPr/>
        </p:nvSpPr>
        <p:spPr>
          <a:xfrm>
            <a:off x="4328742" y="40822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Oval 271"/>
          <p:cNvSpPr/>
          <p:nvPr/>
        </p:nvSpPr>
        <p:spPr>
          <a:xfrm>
            <a:off x="4275329" y="405804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3" name="Oval 272"/>
          <p:cNvSpPr/>
          <p:nvPr/>
        </p:nvSpPr>
        <p:spPr>
          <a:xfrm>
            <a:off x="4223613" y="40304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Oval 273"/>
          <p:cNvSpPr/>
          <p:nvPr/>
        </p:nvSpPr>
        <p:spPr>
          <a:xfrm>
            <a:off x="4173816" y="399943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Oval 274"/>
          <p:cNvSpPr/>
          <p:nvPr/>
        </p:nvSpPr>
        <p:spPr>
          <a:xfrm>
            <a:off x="4126151" y="396528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Oval 275"/>
          <p:cNvSpPr/>
          <p:nvPr/>
        </p:nvSpPr>
        <p:spPr>
          <a:xfrm>
            <a:off x="4080821" y="392808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7" name="Oval 276"/>
          <p:cNvSpPr/>
          <p:nvPr/>
        </p:nvSpPr>
        <p:spPr>
          <a:xfrm>
            <a:off x="4038022" y="388799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Oval 277"/>
          <p:cNvSpPr/>
          <p:nvPr/>
        </p:nvSpPr>
        <p:spPr>
          <a:xfrm>
            <a:off x="3997936" y="384519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9" name="Oval 278"/>
          <p:cNvSpPr/>
          <p:nvPr/>
        </p:nvSpPr>
        <p:spPr>
          <a:xfrm>
            <a:off x="3960736" y="379986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Oval 279"/>
          <p:cNvSpPr/>
          <p:nvPr/>
        </p:nvSpPr>
        <p:spPr>
          <a:xfrm>
            <a:off x="3926579" y="375220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1" name="Oval 280"/>
          <p:cNvSpPr/>
          <p:nvPr/>
        </p:nvSpPr>
        <p:spPr>
          <a:xfrm>
            <a:off x="3895613" y="370240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Oval 281"/>
          <p:cNvSpPr/>
          <p:nvPr/>
        </p:nvSpPr>
        <p:spPr>
          <a:xfrm>
            <a:off x="3867971" y="365068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3" name="Oval 282"/>
          <p:cNvSpPr/>
          <p:nvPr/>
        </p:nvSpPr>
        <p:spPr>
          <a:xfrm>
            <a:off x="3843770" y="359727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Oval 283"/>
          <p:cNvSpPr/>
          <p:nvPr/>
        </p:nvSpPr>
        <p:spPr>
          <a:xfrm>
            <a:off x="3823114" y="354239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5" name="Oval 284"/>
          <p:cNvSpPr/>
          <p:nvPr/>
        </p:nvSpPr>
        <p:spPr>
          <a:xfrm>
            <a:off x="3806091" y="348628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Oval 285"/>
          <p:cNvSpPr/>
          <p:nvPr/>
        </p:nvSpPr>
        <p:spPr>
          <a:xfrm>
            <a:off x="3792776" y="342917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7" name="Oval 286"/>
          <p:cNvSpPr/>
          <p:nvPr/>
        </p:nvSpPr>
        <p:spPr>
          <a:xfrm>
            <a:off x="3783223" y="3371315"/>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Oval 287"/>
          <p:cNvSpPr/>
          <p:nvPr/>
        </p:nvSpPr>
        <p:spPr>
          <a:xfrm>
            <a:off x="3777476" y="331295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9" name="Oval 288"/>
          <p:cNvSpPr/>
          <p:nvPr/>
        </p:nvSpPr>
        <p:spPr>
          <a:xfrm>
            <a:off x="3775557" y="325434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Oval 289"/>
          <p:cNvSpPr/>
          <p:nvPr/>
        </p:nvSpPr>
        <p:spPr>
          <a:xfrm>
            <a:off x="3777476" y="319574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1" name="Oval 290"/>
          <p:cNvSpPr/>
          <p:nvPr/>
        </p:nvSpPr>
        <p:spPr>
          <a:xfrm>
            <a:off x="3783223" y="313738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Oval 291"/>
          <p:cNvSpPr/>
          <p:nvPr/>
        </p:nvSpPr>
        <p:spPr>
          <a:xfrm>
            <a:off x="3792776" y="307952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3" name="Oval 292"/>
          <p:cNvSpPr/>
          <p:nvPr/>
        </p:nvSpPr>
        <p:spPr>
          <a:xfrm>
            <a:off x="3806091" y="302241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Oval 293"/>
          <p:cNvSpPr/>
          <p:nvPr/>
        </p:nvSpPr>
        <p:spPr>
          <a:xfrm>
            <a:off x="3823114" y="296630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5" name="Oval 294"/>
          <p:cNvSpPr/>
          <p:nvPr/>
        </p:nvSpPr>
        <p:spPr>
          <a:xfrm>
            <a:off x="3843770" y="29114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Oval 295"/>
          <p:cNvSpPr/>
          <p:nvPr/>
        </p:nvSpPr>
        <p:spPr>
          <a:xfrm>
            <a:off x="3867971" y="285800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Oval 296"/>
          <p:cNvSpPr/>
          <p:nvPr/>
        </p:nvSpPr>
        <p:spPr>
          <a:xfrm>
            <a:off x="3895613" y="280629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Oval 297"/>
          <p:cNvSpPr/>
          <p:nvPr/>
        </p:nvSpPr>
        <p:spPr>
          <a:xfrm>
            <a:off x="3926579" y="275649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Oval 298"/>
          <p:cNvSpPr/>
          <p:nvPr/>
        </p:nvSpPr>
        <p:spPr>
          <a:xfrm>
            <a:off x="3960736" y="270883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Oval 299"/>
          <p:cNvSpPr/>
          <p:nvPr/>
        </p:nvSpPr>
        <p:spPr>
          <a:xfrm>
            <a:off x="3997936" y="266350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Oval 300"/>
          <p:cNvSpPr/>
          <p:nvPr/>
        </p:nvSpPr>
        <p:spPr>
          <a:xfrm>
            <a:off x="4038022" y="262070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Oval 301"/>
          <p:cNvSpPr/>
          <p:nvPr/>
        </p:nvSpPr>
        <p:spPr>
          <a:xfrm>
            <a:off x="4080821" y="258061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3" name="Oval 302"/>
          <p:cNvSpPr/>
          <p:nvPr/>
        </p:nvSpPr>
        <p:spPr>
          <a:xfrm>
            <a:off x="4126151" y="254341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Oval 303"/>
          <p:cNvSpPr/>
          <p:nvPr/>
        </p:nvSpPr>
        <p:spPr>
          <a:xfrm>
            <a:off x="4173816" y="250925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5" name="Oval 304"/>
          <p:cNvSpPr/>
          <p:nvPr/>
        </p:nvSpPr>
        <p:spPr>
          <a:xfrm>
            <a:off x="4223613" y="247829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Oval 305"/>
          <p:cNvSpPr/>
          <p:nvPr/>
        </p:nvSpPr>
        <p:spPr>
          <a:xfrm>
            <a:off x="4275329" y="245065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Oval 306"/>
          <p:cNvSpPr/>
          <p:nvPr/>
        </p:nvSpPr>
        <p:spPr>
          <a:xfrm>
            <a:off x="4328742" y="24264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Oval 307"/>
          <p:cNvSpPr/>
          <p:nvPr/>
        </p:nvSpPr>
        <p:spPr>
          <a:xfrm>
            <a:off x="4383623" y="240579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Oval 308"/>
          <p:cNvSpPr/>
          <p:nvPr/>
        </p:nvSpPr>
        <p:spPr>
          <a:xfrm>
            <a:off x="4439738" y="238877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Oval 309"/>
          <p:cNvSpPr/>
          <p:nvPr/>
        </p:nvSpPr>
        <p:spPr>
          <a:xfrm>
            <a:off x="4496846" y="237545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Oval 310"/>
          <p:cNvSpPr/>
          <p:nvPr/>
        </p:nvSpPr>
        <p:spPr>
          <a:xfrm>
            <a:off x="4554703" y="236590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Oval 311"/>
          <p:cNvSpPr/>
          <p:nvPr/>
        </p:nvSpPr>
        <p:spPr>
          <a:xfrm>
            <a:off x="4613061" y="236015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Oval 312"/>
          <p:cNvSpPr/>
          <p:nvPr/>
        </p:nvSpPr>
        <p:spPr>
          <a:xfrm>
            <a:off x="4671669" y="2358237"/>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Oval 313"/>
          <p:cNvSpPr/>
          <p:nvPr/>
        </p:nvSpPr>
        <p:spPr>
          <a:xfrm>
            <a:off x="4730278" y="236015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5" name="Oval 314"/>
          <p:cNvSpPr/>
          <p:nvPr/>
        </p:nvSpPr>
        <p:spPr>
          <a:xfrm>
            <a:off x="4788635" y="236590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Oval 315"/>
          <p:cNvSpPr/>
          <p:nvPr/>
        </p:nvSpPr>
        <p:spPr>
          <a:xfrm>
            <a:off x="4846492" y="237545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7" name="Oval 316"/>
          <p:cNvSpPr/>
          <p:nvPr/>
        </p:nvSpPr>
        <p:spPr>
          <a:xfrm>
            <a:off x="4903600" y="238877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Oval 317"/>
          <p:cNvSpPr/>
          <p:nvPr/>
        </p:nvSpPr>
        <p:spPr>
          <a:xfrm>
            <a:off x="4959715" y="2405794"/>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9" name="Oval 318"/>
          <p:cNvSpPr/>
          <p:nvPr/>
        </p:nvSpPr>
        <p:spPr>
          <a:xfrm>
            <a:off x="5014596" y="2426450"/>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Oval 319"/>
          <p:cNvSpPr/>
          <p:nvPr/>
        </p:nvSpPr>
        <p:spPr>
          <a:xfrm>
            <a:off x="5068009" y="245065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Oval 320"/>
          <p:cNvSpPr/>
          <p:nvPr/>
        </p:nvSpPr>
        <p:spPr>
          <a:xfrm>
            <a:off x="5119725" y="247829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Oval 321"/>
          <p:cNvSpPr/>
          <p:nvPr/>
        </p:nvSpPr>
        <p:spPr>
          <a:xfrm>
            <a:off x="5169522" y="250925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Oval 322"/>
          <p:cNvSpPr/>
          <p:nvPr/>
        </p:nvSpPr>
        <p:spPr>
          <a:xfrm>
            <a:off x="5217188" y="254341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Oval 323"/>
          <p:cNvSpPr/>
          <p:nvPr/>
        </p:nvSpPr>
        <p:spPr>
          <a:xfrm>
            <a:off x="5262517" y="258061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Oval 324"/>
          <p:cNvSpPr/>
          <p:nvPr/>
        </p:nvSpPr>
        <p:spPr>
          <a:xfrm>
            <a:off x="5305316" y="262070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Oval 325"/>
          <p:cNvSpPr/>
          <p:nvPr/>
        </p:nvSpPr>
        <p:spPr>
          <a:xfrm>
            <a:off x="5345402" y="266350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Oval 326"/>
          <p:cNvSpPr/>
          <p:nvPr/>
        </p:nvSpPr>
        <p:spPr>
          <a:xfrm>
            <a:off x="5382603" y="270883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Oval 327"/>
          <p:cNvSpPr/>
          <p:nvPr/>
        </p:nvSpPr>
        <p:spPr>
          <a:xfrm>
            <a:off x="5416759" y="275649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9" name="Oval 328"/>
          <p:cNvSpPr/>
          <p:nvPr/>
        </p:nvSpPr>
        <p:spPr>
          <a:xfrm>
            <a:off x="5447725" y="280629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Oval 329"/>
          <p:cNvSpPr/>
          <p:nvPr/>
        </p:nvSpPr>
        <p:spPr>
          <a:xfrm>
            <a:off x="5475368" y="2858009"/>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1" name="Oval 330"/>
          <p:cNvSpPr/>
          <p:nvPr/>
        </p:nvSpPr>
        <p:spPr>
          <a:xfrm>
            <a:off x="5499569" y="2911422"/>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Oval 331"/>
          <p:cNvSpPr/>
          <p:nvPr/>
        </p:nvSpPr>
        <p:spPr>
          <a:xfrm>
            <a:off x="5520225" y="296630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3" name="Oval 332"/>
          <p:cNvSpPr/>
          <p:nvPr/>
        </p:nvSpPr>
        <p:spPr>
          <a:xfrm>
            <a:off x="5537247" y="3022418"/>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Oval 333"/>
          <p:cNvSpPr/>
          <p:nvPr/>
        </p:nvSpPr>
        <p:spPr>
          <a:xfrm>
            <a:off x="5550563" y="3079526"/>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5" name="Oval 334"/>
          <p:cNvSpPr/>
          <p:nvPr/>
        </p:nvSpPr>
        <p:spPr>
          <a:xfrm>
            <a:off x="5560115" y="3137383"/>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Oval 335"/>
          <p:cNvSpPr/>
          <p:nvPr/>
        </p:nvSpPr>
        <p:spPr>
          <a:xfrm>
            <a:off x="5565862" y="3195741"/>
            <a:ext cx="20116" cy="20116"/>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7" name="Oval 336"/>
          <p:cNvSpPr/>
          <p:nvPr/>
        </p:nvSpPr>
        <p:spPr>
          <a:xfrm>
            <a:off x="4636007" y="2871216"/>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Oval 337"/>
          <p:cNvSpPr/>
          <p:nvPr/>
        </p:nvSpPr>
        <p:spPr>
          <a:xfrm>
            <a:off x="4809743" y="291776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9" name="Oval 338"/>
          <p:cNvSpPr/>
          <p:nvPr/>
        </p:nvSpPr>
        <p:spPr>
          <a:xfrm>
            <a:off x="4936927" y="304495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Oval 339"/>
          <p:cNvSpPr/>
          <p:nvPr/>
        </p:nvSpPr>
        <p:spPr>
          <a:xfrm>
            <a:off x="4983479" y="321868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1" name="Oval 340"/>
          <p:cNvSpPr/>
          <p:nvPr/>
        </p:nvSpPr>
        <p:spPr>
          <a:xfrm>
            <a:off x="4936927" y="3392424"/>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Oval 341"/>
          <p:cNvSpPr/>
          <p:nvPr/>
        </p:nvSpPr>
        <p:spPr>
          <a:xfrm>
            <a:off x="4809743" y="3519607"/>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Oval 342"/>
          <p:cNvSpPr/>
          <p:nvPr/>
        </p:nvSpPr>
        <p:spPr>
          <a:xfrm>
            <a:off x="4636007" y="3566160"/>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Oval 343"/>
          <p:cNvSpPr/>
          <p:nvPr/>
        </p:nvSpPr>
        <p:spPr>
          <a:xfrm>
            <a:off x="4462272" y="3519607"/>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Oval 344"/>
          <p:cNvSpPr/>
          <p:nvPr/>
        </p:nvSpPr>
        <p:spPr>
          <a:xfrm>
            <a:off x="4335088" y="3392424"/>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Oval 345"/>
          <p:cNvSpPr/>
          <p:nvPr/>
        </p:nvSpPr>
        <p:spPr>
          <a:xfrm>
            <a:off x="4288536" y="321868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Oval 346"/>
          <p:cNvSpPr/>
          <p:nvPr/>
        </p:nvSpPr>
        <p:spPr>
          <a:xfrm>
            <a:off x="4335088" y="304495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Oval 347"/>
          <p:cNvSpPr/>
          <p:nvPr/>
        </p:nvSpPr>
        <p:spPr>
          <a:xfrm>
            <a:off x="4462271" y="291776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Oval 348"/>
          <p:cNvSpPr/>
          <p:nvPr/>
        </p:nvSpPr>
        <p:spPr>
          <a:xfrm>
            <a:off x="4636007" y="2596896"/>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Oval 349"/>
          <p:cNvSpPr/>
          <p:nvPr/>
        </p:nvSpPr>
        <p:spPr>
          <a:xfrm>
            <a:off x="4946903" y="2680200"/>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Oval 350"/>
          <p:cNvSpPr/>
          <p:nvPr/>
        </p:nvSpPr>
        <p:spPr>
          <a:xfrm>
            <a:off x="5174495" y="290779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Oval 351"/>
          <p:cNvSpPr/>
          <p:nvPr/>
        </p:nvSpPr>
        <p:spPr>
          <a:xfrm>
            <a:off x="5257799" y="321868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Oval 352"/>
          <p:cNvSpPr/>
          <p:nvPr/>
        </p:nvSpPr>
        <p:spPr>
          <a:xfrm>
            <a:off x="5174495" y="3529584"/>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Oval 353"/>
          <p:cNvSpPr/>
          <p:nvPr/>
        </p:nvSpPr>
        <p:spPr>
          <a:xfrm>
            <a:off x="4946903" y="3757175"/>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Oval 354"/>
          <p:cNvSpPr/>
          <p:nvPr/>
        </p:nvSpPr>
        <p:spPr>
          <a:xfrm>
            <a:off x="4636007" y="3840480"/>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Oval 355"/>
          <p:cNvSpPr/>
          <p:nvPr/>
        </p:nvSpPr>
        <p:spPr>
          <a:xfrm>
            <a:off x="4325112" y="3757175"/>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Oval 356"/>
          <p:cNvSpPr/>
          <p:nvPr/>
        </p:nvSpPr>
        <p:spPr>
          <a:xfrm>
            <a:off x="4097520" y="3529584"/>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Oval 357"/>
          <p:cNvSpPr/>
          <p:nvPr/>
        </p:nvSpPr>
        <p:spPr>
          <a:xfrm>
            <a:off x="4014215" y="321868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9" name="Oval 358"/>
          <p:cNvSpPr/>
          <p:nvPr/>
        </p:nvSpPr>
        <p:spPr>
          <a:xfrm>
            <a:off x="4097520" y="290779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Oval 359"/>
          <p:cNvSpPr/>
          <p:nvPr/>
        </p:nvSpPr>
        <p:spPr>
          <a:xfrm>
            <a:off x="4325112" y="2680200"/>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Oval 360"/>
          <p:cNvSpPr/>
          <p:nvPr/>
        </p:nvSpPr>
        <p:spPr>
          <a:xfrm>
            <a:off x="4636007" y="2322576"/>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Oval 361"/>
          <p:cNvSpPr/>
          <p:nvPr/>
        </p:nvSpPr>
        <p:spPr>
          <a:xfrm>
            <a:off x="5084064" y="244263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Oval 362"/>
          <p:cNvSpPr/>
          <p:nvPr/>
        </p:nvSpPr>
        <p:spPr>
          <a:xfrm>
            <a:off x="5412063" y="277063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Oval 363"/>
          <p:cNvSpPr/>
          <p:nvPr/>
        </p:nvSpPr>
        <p:spPr>
          <a:xfrm>
            <a:off x="5532120" y="321868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Oval 364"/>
          <p:cNvSpPr/>
          <p:nvPr/>
        </p:nvSpPr>
        <p:spPr>
          <a:xfrm>
            <a:off x="5412063" y="3666744"/>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Oval 365"/>
          <p:cNvSpPr/>
          <p:nvPr/>
        </p:nvSpPr>
        <p:spPr>
          <a:xfrm>
            <a:off x="5084064" y="3994743"/>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Oval 366"/>
          <p:cNvSpPr/>
          <p:nvPr/>
        </p:nvSpPr>
        <p:spPr>
          <a:xfrm>
            <a:off x="4636007" y="4114800"/>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Oval 367"/>
          <p:cNvSpPr/>
          <p:nvPr/>
        </p:nvSpPr>
        <p:spPr>
          <a:xfrm>
            <a:off x="4187951" y="3994743"/>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Oval 368"/>
          <p:cNvSpPr/>
          <p:nvPr/>
        </p:nvSpPr>
        <p:spPr>
          <a:xfrm>
            <a:off x="3859952" y="3666744"/>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Oval 369"/>
          <p:cNvSpPr/>
          <p:nvPr/>
        </p:nvSpPr>
        <p:spPr>
          <a:xfrm>
            <a:off x="3739895" y="3218688"/>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Oval 370"/>
          <p:cNvSpPr/>
          <p:nvPr/>
        </p:nvSpPr>
        <p:spPr>
          <a:xfrm>
            <a:off x="3859952" y="277063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Oval 371"/>
          <p:cNvSpPr/>
          <p:nvPr/>
        </p:nvSpPr>
        <p:spPr>
          <a:xfrm>
            <a:off x="4187951" y="2442632"/>
            <a:ext cx="91440" cy="91440"/>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Oval 372"/>
          <p:cNvSpPr/>
          <p:nvPr/>
        </p:nvSpPr>
        <p:spPr>
          <a:xfrm>
            <a:off x="4613147" y="3195828"/>
            <a:ext cx="137160" cy="137160"/>
          </a:xfrm>
          <a:prstGeom prst="ellipse">
            <a:avLst/>
          </a:prstGeom>
          <a:solidFill>
            <a:srgbClr val="FF4D8D"/>
          </a:solidFill>
          <a:ln w="6350">
            <a:solidFill>
              <a:srgbClr val="FF4D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Oval 373"/>
          <p:cNvSpPr/>
          <p:nvPr/>
        </p:nvSpPr>
        <p:spPr>
          <a:xfrm>
            <a:off x="6597396"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Oval 374"/>
          <p:cNvSpPr/>
          <p:nvPr/>
        </p:nvSpPr>
        <p:spPr>
          <a:xfrm>
            <a:off x="6890004"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Oval 375"/>
          <p:cNvSpPr/>
          <p:nvPr/>
        </p:nvSpPr>
        <p:spPr>
          <a:xfrm>
            <a:off x="7182612"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Oval 376"/>
          <p:cNvSpPr/>
          <p:nvPr/>
        </p:nvSpPr>
        <p:spPr>
          <a:xfrm>
            <a:off x="7475220"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Oval 377"/>
          <p:cNvSpPr/>
          <p:nvPr/>
        </p:nvSpPr>
        <p:spPr>
          <a:xfrm>
            <a:off x="7767827"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Oval 378"/>
          <p:cNvSpPr/>
          <p:nvPr/>
        </p:nvSpPr>
        <p:spPr>
          <a:xfrm>
            <a:off x="8060436" y="2601468"/>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Oval 379"/>
          <p:cNvSpPr/>
          <p:nvPr/>
        </p:nvSpPr>
        <p:spPr>
          <a:xfrm>
            <a:off x="6743700"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Oval 380"/>
          <p:cNvSpPr/>
          <p:nvPr/>
        </p:nvSpPr>
        <p:spPr>
          <a:xfrm>
            <a:off x="7036308"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Oval 381"/>
          <p:cNvSpPr/>
          <p:nvPr/>
        </p:nvSpPr>
        <p:spPr>
          <a:xfrm>
            <a:off x="7328916"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Oval 382"/>
          <p:cNvSpPr/>
          <p:nvPr/>
        </p:nvSpPr>
        <p:spPr>
          <a:xfrm>
            <a:off x="7621524"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Oval 383"/>
          <p:cNvSpPr/>
          <p:nvPr/>
        </p:nvSpPr>
        <p:spPr>
          <a:xfrm>
            <a:off x="7914131" y="2894075"/>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Oval 384"/>
          <p:cNvSpPr/>
          <p:nvPr/>
        </p:nvSpPr>
        <p:spPr>
          <a:xfrm>
            <a:off x="6597396"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Oval 385"/>
          <p:cNvSpPr/>
          <p:nvPr/>
        </p:nvSpPr>
        <p:spPr>
          <a:xfrm>
            <a:off x="6890004"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Oval 386"/>
          <p:cNvSpPr/>
          <p:nvPr/>
        </p:nvSpPr>
        <p:spPr>
          <a:xfrm>
            <a:off x="7182612"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Oval 387"/>
          <p:cNvSpPr/>
          <p:nvPr/>
        </p:nvSpPr>
        <p:spPr>
          <a:xfrm>
            <a:off x="7475220"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9" name="Oval 388"/>
          <p:cNvSpPr/>
          <p:nvPr/>
        </p:nvSpPr>
        <p:spPr>
          <a:xfrm>
            <a:off x="7767827"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Oval 389"/>
          <p:cNvSpPr/>
          <p:nvPr/>
        </p:nvSpPr>
        <p:spPr>
          <a:xfrm>
            <a:off x="8060436" y="3186684"/>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Oval 390"/>
          <p:cNvSpPr/>
          <p:nvPr/>
        </p:nvSpPr>
        <p:spPr>
          <a:xfrm>
            <a:off x="6743700"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Oval 391"/>
          <p:cNvSpPr/>
          <p:nvPr/>
        </p:nvSpPr>
        <p:spPr>
          <a:xfrm>
            <a:off x="7036308"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3" name="Oval 392"/>
          <p:cNvSpPr/>
          <p:nvPr/>
        </p:nvSpPr>
        <p:spPr>
          <a:xfrm>
            <a:off x="7328916"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Oval 393"/>
          <p:cNvSpPr/>
          <p:nvPr/>
        </p:nvSpPr>
        <p:spPr>
          <a:xfrm>
            <a:off x="7621524"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5" name="Oval 394"/>
          <p:cNvSpPr/>
          <p:nvPr/>
        </p:nvSpPr>
        <p:spPr>
          <a:xfrm>
            <a:off x="7914131" y="3479291"/>
            <a:ext cx="100584" cy="100584"/>
          </a:xfrm>
          <a:prstGeom prst="ellipse">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Oval 395"/>
          <p:cNvSpPr/>
          <p:nvPr/>
        </p:nvSpPr>
        <p:spPr>
          <a:xfrm>
            <a:off x="9240926" y="364479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Oval 396"/>
          <p:cNvSpPr/>
          <p:nvPr/>
        </p:nvSpPr>
        <p:spPr>
          <a:xfrm>
            <a:off x="9275022" y="360975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Oval 397"/>
          <p:cNvSpPr/>
          <p:nvPr/>
        </p:nvSpPr>
        <p:spPr>
          <a:xfrm>
            <a:off x="9309118" y="357481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Oval 398"/>
          <p:cNvSpPr/>
          <p:nvPr/>
        </p:nvSpPr>
        <p:spPr>
          <a:xfrm>
            <a:off x="9343215" y="354007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Oval 399"/>
          <p:cNvSpPr/>
          <p:nvPr/>
        </p:nvSpPr>
        <p:spPr>
          <a:xfrm>
            <a:off x="9377311" y="350563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Oval 400"/>
          <p:cNvSpPr/>
          <p:nvPr/>
        </p:nvSpPr>
        <p:spPr>
          <a:xfrm>
            <a:off x="9411407" y="347158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Oval 401"/>
          <p:cNvSpPr/>
          <p:nvPr/>
        </p:nvSpPr>
        <p:spPr>
          <a:xfrm>
            <a:off x="9445504" y="343802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Oval 402"/>
          <p:cNvSpPr/>
          <p:nvPr/>
        </p:nvSpPr>
        <p:spPr>
          <a:xfrm>
            <a:off x="9479600" y="340504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Oval 403"/>
          <p:cNvSpPr/>
          <p:nvPr/>
        </p:nvSpPr>
        <p:spPr>
          <a:xfrm>
            <a:off x="9513696" y="337275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Oval 404"/>
          <p:cNvSpPr/>
          <p:nvPr/>
        </p:nvSpPr>
        <p:spPr>
          <a:xfrm>
            <a:off x="9547792" y="334122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Oval 405"/>
          <p:cNvSpPr/>
          <p:nvPr/>
        </p:nvSpPr>
        <p:spPr>
          <a:xfrm>
            <a:off x="9581889" y="3310567"/>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Oval 406"/>
          <p:cNvSpPr/>
          <p:nvPr/>
        </p:nvSpPr>
        <p:spPr>
          <a:xfrm>
            <a:off x="9615985" y="328085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Oval 407"/>
          <p:cNvSpPr/>
          <p:nvPr/>
        </p:nvSpPr>
        <p:spPr>
          <a:xfrm>
            <a:off x="9650081" y="325216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Oval 408"/>
          <p:cNvSpPr/>
          <p:nvPr/>
        </p:nvSpPr>
        <p:spPr>
          <a:xfrm>
            <a:off x="9684177" y="322459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0" name="Oval 409"/>
          <p:cNvSpPr/>
          <p:nvPr/>
        </p:nvSpPr>
        <p:spPr>
          <a:xfrm>
            <a:off x="9718274" y="319821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1" name="Oval 410"/>
          <p:cNvSpPr/>
          <p:nvPr/>
        </p:nvSpPr>
        <p:spPr>
          <a:xfrm>
            <a:off x="9752370" y="317310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2" name="Oval 411"/>
          <p:cNvSpPr/>
          <p:nvPr/>
        </p:nvSpPr>
        <p:spPr>
          <a:xfrm>
            <a:off x="9786466" y="314932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3" name="Oval 412"/>
          <p:cNvSpPr/>
          <p:nvPr/>
        </p:nvSpPr>
        <p:spPr>
          <a:xfrm>
            <a:off x="9820563" y="312695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4" name="Oval 413"/>
          <p:cNvSpPr/>
          <p:nvPr/>
        </p:nvSpPr>
        <p:spPr>
          <a:xfrm>
            <a:off x="9854659" y="3106054"/>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5" name="Oval 414"/>
          <p:cNvSpPr/>
          <p:nvPr/>
        </p:nvSpPr>
        <p:spPr>
          <a:xfrm>
            <a:off x="9888755" y="3086677"/>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6" name="Oval 415"/>
          <p:cNvSpPr/>
          <p:nvPr/>
        </p:nvSpPr>
        <p:spPr>
          <a:xfrm>
            <a:off x="9922851" y="306888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7" name="Oval 416"/>
          <p:cNvSpPr/>
          <p:nvPr/>
        </p:nvSpPr>
        <p:spPr>
          <a:xfrm>
            <a:off x="9956948" y="305272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8" name="Oval 417"/>
          <p:cNvSpPr/>
          <p:nvPr/>
        </p:nvSpPr>
        <p:spPr>
          <a:xfrm>
            <a:off x="9991044" y="303823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9" name="Oval 418"/>
          <p:cNvSpPr/>
          <p:nvPr/>
        </p:nvSpPr>
        <p:spPr>
          <a:xfrm>
            <a:off x="10025140" y="3025471"/>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0" name="Oval 419"/>
          <p:cNvSpPr/>
          <p:nvPr/>
        </p:nvSpPr>
        <p:spPr>
          <a:xfrm>
            <a:off x="10059236" y="301446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1" name="Oval 420"/>
          <p:cNvSpPr/>
          <p:nvPr/>
        </p:nvSpPr>
        <p:spPr>
          <a:xfrm>
            <a:off x="10093333" y="300524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2" name="Oval 421"/>
          <p:cNvSpPr/>
          <p:nvPr/>
        </p:nvSpPr>
        <p:spPr>
          <a:xfrm>
            <a:off x="10127429" y="299783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3" name="Oval 422"/>
          <p:cNvSpPr/>
          <p:nvPr/>
        </p:nvSpPr>
        <p:spPr>
          <a:xfrm>
            <a:off x="10161525" y="2992255"/>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4" name="Oval 423"/>
          <p:cNvSpPr/>
          <p:nvPr/>
        </p:nvSpPr>
        <p:spPr>
          <a:xfrm>
            <a:off x="10195621" y="298852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5" name="Oval 424"/>
          <p:cNvSpPr/>
          <p:nvPr/>
        </p:nvSpPr>
        <p:spPr>
          <a:xfrm>
            <a:off x="10229718" y="2986663"/>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6" name="Oval 425"/>
          <p:cNvSpPr/>
          <p:nvPr/>
        </p:nvSpPr>
        <p:spPr>
          <a:xfrm>
            <a:off x="10263814" y="2986663"/>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7" name="Oval 426"/>
          <p:cNvSpPr/>
          <p:nvPr/>
        </p:nvSpPr>
        <p:spPr>
          <a:xfrm>
            <a:off x="10297910" y="298852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8" name="Oval 427"/>
          <p:cNvSpPr/>
          <p:nvPr/>
        </p:nvSpPr>
        <p:spPr>
          <a:xfrm>
            <a:off x="10332007" y="2992255"/>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9" name="Oval 428"/>
          <p:cNvSpPr/>
          <p:nvPr/>
        </p:nvSpPr>
        <p:spPr>
          <a:xfrm>
            <a:off x="10366103" y="299783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0" name="Oval 429"/>
          <p:cNvSpPr/>
          <p:nvPr/>
        </p:nvSpPr>
        <p:spPr>
          <a:xfrm>
            <a:off x="10400199" y="300524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1" name="Oval 430"/>
          <p:cNvSpPr/>
          <p:nvPr/>
        </p:nvSpPr>
        <p:spPr>
          <a:xfrm>
            <a:off x="10434295" y="301446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2" name="Oval 431"/>
          <p:cNvSpPr/>
          <p:nvPr/>
        </p:nvSpPr>
        <p:spPr>
          <a:xfrm>
            <a:off x="10468392" y="3025471"/>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3" name="Oval 432"/>
          <p:cNvSpPr/>
          <p:nvPr/>
        </p:nvSpPr>
        <p:spPr>
          <a:xfrm>
            <a:off x="10502488" y="303823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4" name="Oval 433"/>
          <p:cNvSpPr/>
          <p:nvPr/>
        </p:nvSpPr>
        <p:spPr>
          <a:xfrm>
            <a:off x="10536584" y="305272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5" name="Oval 434"/>
          <p:cNvSpPr/>
          <p:nvPr/>
        </p:nvSpPr>
        <p:spPr>
          <a:xfrm>
            <a:off x="10570680" y="306888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6" name="Oval 435"/>
          <p:cNvSpPr/>
          <p:nvPr/>
        </p:nvSpPr>
        <p:spPr>
          <a:xfrm>
            <a:off x="10604777" y="3086677"/>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7" name="Oval 436"/>
          <p:cNvSpPr/>
          <p:nvPr/>
        </p:nvSpPr>
        <p:spPr>
          <a:xfrm>
            <a:off x="10638873" y="3106054"/>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8" name="Oval 437"/>
          <p:cNvSpPr/>
          <p:nvPr/>
        </p:nvSpPr>
        <p:spPr>
          <a:xfrm>
            <a:off x="10672969" y="312695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9" name="Oval 438"/>
          <p:cNvSpPr/>
          <p:nvPr/>
        </p:nvSpPr>
        <p:spPr>
          <a:xfrm>
            <a:off x="10707066" y="314932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0" name="Oval 439"/>
          <p:cNvSpPr/>
          <p:nvPr/>
        </p:nvSpPr>
        <p:spPr>
          <a:xfrm>
            <a:off x="10741162" y="317310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1" name="Oval 440"/>
          <p:cNvSpPr/>
          <p:nvPr/>
        </p:nvSpPr>
        <p:spPr>
          <a:xfrm>
            <a:off x="10775258" y="319821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2" name="Oval 441"/>
          <p:cNvSpPr/>
          <p:nvPr/>
        </p:nvSpPr>
        <p:spPr>
          <a:xfrm>
            <a:off x="10809354" y="322459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3" name="Oval 442"/>
          <p:cNvSpPr/>
          <p:nvPr/>
        </p:nvSpPr>
        <p:spPr>
          <a:xfrm>
            <a:off x="10843451" y="325216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4" name="Oval 443"/>
          <p:cNvSpPr/>
          <p:nvPr/>
        </p:nvSpPr>
        <p:spPr>
          <a:xfrm>
            <a:off x="10877547" y="328085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5" name="Oval 444"/>
          <p:cNvSpPr/>
          <p:nvPr/>
        </p:nvSpPr>
        <p:spPr>
          <a:xfrm>
            <a:off x="10911643" y="3310567"/>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6" name="Oval 445"/>
          <p:cNvSpPr/>
          <p:nvPr/>
        </p:nvSpPr>
        <p:spPr>
          <a:xfrm>
            <a:off x="10945739" y="3341229"/>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7" name="Oval 446"/>
          <p:cNvSpPr/>
          <p:nvPr/>
        </p:nvSpPr>
        <p:spPr>
          <a:xfrm>
            <a:off x="10979836" y="3372752"/>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8" name="Oval 447"/>
          <p:cNvSpPr/>
          <p:nvPr/>
        </p:nvSpPr>
        <p:spPr>
          <a:xfrm>
            <a:off x="11013932" y="340504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9" name="Oval 448"/>
          <p:cNvSpPr/>
          <p:nvPr/>
        </p:nvSpPr>
        <p:spPr>
          <a:xfrm>
            <a:off x="11048028" y="343802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0" name="Oval 449"/>
          <p:cNvSpPr/>
          <p:nvPr/>
        </p:nvSpPr>
        <p:spPr>
          <a:xfrm>
            <a:off x="11082125" y="347158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1" name="Oval 450"/>
          <p:cNvSpPr/>
          <p:nvPr/>
        </p:nvSpPr>
        <p:spPr>
          <a:xfrm>
            <a:off x="11116221" y="3505630"/>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2" name="Oval 451"/>
          <p:cNvSpPr/>
          <p:nvPr/>
        </p:nvSpPr>
        <p:spPr>
          <a:xfrm>
            <a:off x="11150317" y="3540076"/>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3" name="Oval 452"/>
          <p:cNvSpPr/>
          <p:nvPr/>
        </p:nvSpPr>
        <p:spPr>
          <a:xfrm>
            <a:off x="11184413" y="357481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4" name="Oval 453"/>
          <p:cNvSpPr/>
          <p:nvPr/>
        </p:nvSpPr>
        <p:spPr>
          <a:xfrm>
            <a:off x="11218510" y="360975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5" name="Oval 454"/>
          <p:cNvSpPr/>
          <p:nvPr/>
        </p:nvSpPr>
        <p:spPr>
          <a:xfrm>
            <a:off x="11252606" y="3644798"/>
            <a:ext cx="25603" cy="25603"/>
          </a:xfrm>
          <a:prstGeom prst="ellipse">
            <a:avLst/>
          </a:prstGeom>
          <a:solidFill>
            <a:srgbClr val="B4B4AC"/>
          </a:solidFill>
          <a:ln w="6350">
            <a:solidFill>
              <a:srgbClr val="B4B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6" name="Oval 455"/>
          <p:cNvSpPr/>
          <p:nvPr/>
        </p:nvSpPr>
        <p:spPr>
          <a:xfrm>
            <a:off x="9201150" y="3605022"/>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7" name="Oval 456"/>
          <p:cNvSpPr/>
          <p:nvPr/>
        </p:nvSpPr>
        <p:spPr>
          <a:xfrm>
            <a:off x="9452610" y="3353075"/>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8" name="Oval 457"/>
          <p:cNvSpPr/>
          <p:nvPr/>
        </p:nvSpPr>
        <p:spPr>
          <a:xfrm>
            <a:off x="9704070" y="3139485"/>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9" name="Oval 458"/>
          <p:cNvSpPr/>
          <p:nvPr/>
        </p:nvSpPr>
        <p:spPr>
          <a:xfrm>
            <a:off x="9955530" y="2996769"/>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0" name="Oval 459"/>
          <p:cNvSpPr/>
          <p:nvPr/>
        </p:nvSpPr>
        <p:spPr>
          <a:xfrm>
            <a:off x="10206990" y="2946654"/>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1" name="Oval 460"/>
          <p:cNvSpPr/>
          <p:nvPr/>
        </p:nvSpPr>
        <p:spPr>
          <a:xfrm>
            <a:off x="10458450" y="2996769"/>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2" name="Oval 461"/>
          <p:cNvSpPr/>
          <p:nvPr/>
        </p:nvSpPr>
        <p:spPr>
          <a:xfrm>
            <a:off x="10709910" y="3139485"/>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3" name="Oval 462"/>
          <p:cNvSpPr/>
          <p:nvPr/>
        </p:nvSpPr>
        <p:spPr>
          <a:xfrm>
            <a:off x="10961370" y="3353075"/>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4" name="Oval 463"/>
          <p:cNvSpPr/>
          <p:nvPr/>
        </p:nvSpPr>
        <p:spPr>
          <a:xfrm>
            <a:off x="11212830" y="3605022"/>
            <a:ext cx="105156" cy="105156"/>
          </a:xfrm>
          <a:prstGeom prst="ellipse">
            <a:avLst/>
          </a:prstGeom>
          <a:solidFill>
            <a:srgbClr val="FFE500"/>
          </a:solidFill>
          <a:ln w="6350">
            <a:solidFill>
              <a:srgbClr val="FFE5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Rectangle 464"/>
          <p:cNvSpPr/>
          <p:nvPr/>
        </p:nvSpPr>
        <p:spPr>
          <a:xfrm>
            <a:off x="662940" y="5052060"/>
            <a:ext cx="10972800" cy="658368"/>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6" name="Rectangle 465"/>
          <p:cNvSpPr/>
          <p:nvPr/>
        </p:nvSpPr>
        <p:spPr>
          <a:xfrm>
            <a:off x="594360" y="4983480"/>
            <a:ext cx="10972800" cy="658368"/>
          </a:xfrm>
          <a:prstGeom prst="rect">
            <a:avLst/>
          </a:prstGeom>
          <a:solidFill>
            <a:srgbClr val="00D9E1"/>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7" name="TextBox 466"/>
          <p:cNvSpPr txBox="1"/>
          <p:nvPr/>
        </p:nvSpPr>
        <p:spPr>
          <a:xfrm>
            <a:off x="914400" y="4983480"/>
            <a:ext cx="10332720" cy="658368"/>
          </a:xfrm>
          <a:prstGeom prst="rect">
            <a:avLst/>
          </a:prstGeom>
          <a:noFill/>
        </p:spPr>
        <p:txBody>
          <a:bodyPr wrap="square" lIns="0" rIns="0" tIns="0" bIns="0" anchor="ctr">
            <a:spAutoFit/>
          </a:bodyPr>
          <a:lstStyle/>
          <a:p>
            <a:pPr algn="l"/>
            <a:r>
              <a:rPr sz="1250" b="1">
                <a:solidFill>
                  <a:srgbClr val="000000"/>
                </a:solidFill>
                <a:latin typeface="Arial"/>
              </a:rPr>
              <a:t>Every one of these is the same operation — move, repeated, with the amount driven by a counter. Only the rule for the counter changes.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ectangle 1"/>
          <p:cNvSpPr/>
          <p:nvPr/>
        </p:nvSpPr>
        <p:spPr>
          <a:xfrm>
            <a:off x="594360" y="566928"/>
            <a:ext cx="10972800" cy="0"/>
          </a:xfrm>
          <a:prstGeom prst="rect">
            <a:avLst/>
          </a:prstGeom>
          <a:noFill/>
          <a:ln w="508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76656"/>
            <a:ext cx="10972800" cy="566928"/>
          </a:xfrm>
          <a:prstGeom prst="rect">
            <a:avLst/>
          </a:prstGeom>
          <a:noFill/>
        </p:spPr>
        <p:txBody>
          <a:bodyPr wrap="square" lIns="0" rIns="0" tIns="0" bIns="0" anchor="t">
            <a:spAutoFit/>
          </a:bodyPr>
          <a:lstStyle/>
          <a:p>
            <a:pPr algn="l"/>
            <a:r>
              <a:rPr sz="3300" b="1">
                <a:solidFill>
                  <a:srgbClr val="000000"/>
                </a:solidFill>
                <a:latin typeface="Arial"/>
              </a:rPr>
              <a:t>FIND A TILED FAÇADE</a:t>
            </a:r>
          </a:p>
        </p:txBody>
      </p:sp>
      <p:sp>
        <p:nvSpPr>
          <p:cNvPr id="4" name="TextBox 3"/>
          <p:cNvSpPr txBox="1"/>
          <p:nvPr/>
        </p:nvSpPr>
        <p:spPr>
          <a:xfrm>
            <a:off x="594360" y="1261872"/>
            <a:ext cx="10972800" cy="310896"/>
          </a:xfrm>
          <a:prstGeom prst="rect">
            <a:avLst/>
          </a:prstGeom>
          <a:noFill/>
        </p:spPr>
        <p:txBody>
          <a:bodyPr wrap="square" lIns="0" rIns="0" tIns="0" bIns="0" anchor="t">
            <a:spAutoFit/>
          </a:bodyPr>
          <a:lstStyle/>
          <a:p>
            <a:pPr algn="l"/>
            <a:r>
              <a:rPr sz="1350">
                <a:solidFill>
                  <a:srgbClr val="6B6B6B"/>
                </a:solidFill>
                <a:latin typeface="Calibri"/>
              </a:rPr>
              <a:t>Due next class, before anything is modeled. Look at what the building is made of, not at the building.</a:t>
            </a:r>
          </a:p>
        </p:txBody>
      </p:sp>
      <p:sp>
        <p:nvSpPr>
          <p:cNvPr id="5" name="Rectangle 4"/>
          <p:cNvSpPr/>
          <p:nvPr/>
        </p:nvSpPr>
        <p:spPr>
          <a:xfrm>
            <a:off x="662940" y="1851660"/>
            <a:ext cx="2606040" cy="251460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94360" y="1783080"/>
            <a:ext cx="2606040" cy="251460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4360" y="1783080"/>
            <a:ext cx="2606040" cy="502920"/>
          </a:xfrm>
          <a:prstGeom prst="rect">
            <a:avLst/>
          </a:prstGeom>
          <a:solidFill>
            <a:srgbClr val="00D9E1"/>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60"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WHAT COUNTS</a:t>
            </a:r>
          </a:p>
        </p:txBody>
      </p:sp>
      <p:sp>
        <p:nvSpPr>
          <p:cNvPr id="9" name="TextBox 8"/>
          <p:cNvSpPr txBox="1"/>
          <p:nvPr/>
        </p:nvSpPr>
        <p:spPr>
          <a:xfrm>
            <a:off x="822960" y="2487168"/>
            <a:ext cx="2148840" cy="1691640"/>
          </a:xfrm>
          <a:prstGeom prst="rect">
            <a:avLst/>
          </a:prstGeom>
          <a:noFill/>
        </p:spPr>
        <p:txBody>
          <a:bodyPr wrap="square" lIns="0" rIns="0" tIns="0" bIns="0" anchor="t">
            <a:spAutoFit/>
          </a:bodyPr>
          <a:lstStyle/>
          <a:p>
            <a:pPr algn="l">
              <a:lnSpc>
                <a:spcPct val="130000"/>
              </a:lnSpc>
            </a:pPr>
            <a:r>
              <a:rPr sz="1250">
                <a:solidFill>
                  <a:srgbClr val="000000"/>
                </a:solidFill>
                <a:latin typeface="Calibri"/>
              </a:rPr>
              <a:t>A façade made of one repeated part — a panel, a brick, a shingle, a cast block, a perforated plate. Look at it the way you look at a brick wall and see the brick.</a:t>
            </a:r>
          </a:p>
        </p:txBody>
      </p:sp>
      <p:sp>
        <p:nvSpPr>
          <p:cNvPr id="10" name="Rectangle 9"/>
          <p:cNvSpPr/>
          <p:nvPr/>
        </p:nvSpPr>
        <p:spPr>
          <a:xfrm>
            <a:off x="3451860" y="1851660"/>
            <a:ext cx="2606040" cy="251460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83279" y="1783080"/>
            <a:ext cx="2606040" cy="251460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83279" y="1783080"/>
            <a:ext cx="2606040" cy="502920"/>
          </a:xfrm>
          <a:prstGeom prst="rect">
            <a:avLst/>
          </a:prstGeom>
          <a:solidFill>
            <a:srgbClr val="FF4D8D"/>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611879"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WHAT DOESN'T</a:t>
            </a:r>
          </a:p>
        </p:txBody>
      </p:sp>
      <p:sp>
        <p:nvSpPr>
          <p:cNvPr id="14" name="TextBox 13"/>
          <p:cNvSpPr txBox="1"/>
          <p:nvPr/>
        </p:nvSpPr>
        <p:spPr>
          <a:xfrm>
            <a:off x="3611879" y="2487168"/>
            <a:ext cx="2148840" cy="1691640"/>
          </a:xfrm>
          <a:prstGeom prst="rect">
            <a:avLst/>
          </a:prstGeom>
          <a:noFill/>
        </p:spPr>
        <p:txBody>
          <a:bodyPr wrap="square" lIns="0" rIns="0" tIns="0" bIns="0" anchor="t">
            <a:spAutoFit/>
          </a:bodyPr>
          <a:lstStyle/>
          <a:p>
            <a:pPr algn="l">
              <a:lnSpc>
                <a:spcPct val="130000"/>
              </a:lnSpc>
            </a:pPr>
            <a:r>
              <a:rPr sz="1250">
                <a:solidFill>
                  <a:srgbClr val="000000"/>
                </a:solidFill>
                <a:latin typeface="Calibri"/>
              </a:rPr>
              <a:t>A curtain wall of plain glass. A one-off sculptural surface. Anything where you cannot point at the part and say: this, again and again.</a:t>
            </a:r>
          </a:p>
        </p:txBody>
      </p:sp>
      <p:sp>
        <p:nvSpPr>
          <p:cNvPr id="15" name="Rectangle 14"/>
          <p:cNvSpPr/>
          <p:nvPr/>
        </p:nvSpPr>
        <p:spPr>
          <a:xfrm>
            <a:off x="6240780" y="1851660"/>
            <a:ext cx="2606040" cy="251460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83080"/>
            <a:ext cx="2606040" cy="251460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72200" y="1783080"/>
            <a:ext cx="2606040" cy="502920"/>
          </a:xfrm>
          <a:prstGeom prst="rect">
            <a:avLst/>
          </a:prstGeom>
          <a:solidFill>
            <a:srgbClr val="FFE500"/>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BRING</a:t>
            </a:r>
          </a:p>
        </p:txBody>
      </p:sp>
      <p:sp>
        <p:nvSpPr>
          <p:cNvPr id="19" name="TextBox 18"/>
          <p:cNvSpPr txBox="1"/>
          <p:nvPr/>
        </p:nvSpPr>
        <p:spPr>
          <a:xfrm>
            <a:off x="6400800" y="2487168"/>
            <a:ext cx="2148840" cy="1691640"/>
          </a:xfrm>
          <a:prstGeom prst="rect">
            <a:avLst/>
          </a:prstGeom>
          <a:noFill/>
        </p:spPr>
        <p:txBody>
          <a:bodyPr wrap="square" lIns="0" rIns="0" tIns="0" bIns="0" anchor="t">
            <a:spAutoFit/>
          </a:bodyPr>
          <a:lstStyle/>
          <a:p>
            <a:pPr algn="l">
              <a:lnSpc>
                <a:spcPct val="130000"/>
              </a:lnSpc>
            </a:pPr>
            <a:r>
              <a:rPr sz="1250">
                <a:solidFill>
                  <a:srgbClr val="000000"/>
                </a:solidFill>
                <a:latin typeface="Calibri"/>
              </a:rPr>
              <a:t>A flat-on elevation photograph or drawing. The repeated part outlined on it. Its width, height and depth in millimetres.</a:t>
            </a:r>
          </a:p>
        </p:txBody>
      </p:sp>
      <p:sp>
        <p:nvSpPr>
          <p:cNvPr id="20" name="Rectangle 19"/>
          <p:cNvSpPr/>
          <p:nvPr/>
        </p:nvSpPr>
        <p:spPr>
          <a:xfrm>
            <a:off x="9029700" y="1851660"/>
            <a:ext cx="2606040" cy="251460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961120" y="1783080"/>
            <a:ext cx="2606040" cy="2514600"/>
          </a:xfrm>
          <a:prstGeom prst="rect">
            <a:avLst/>
          </a:prstGeom>
          <a:solidFill>
            <a:srgbClr val="FFFDF7"/>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61120" y="1783080"/>
            <a:ext cx="2606040" cy="502920"/>
          </a:xfrm>
          <a:prstGeom prst="rect">
            <a:avLst/>
          </a:prstGeom>
          <a:solidFill>
            <a:srgbClr val="C6F035"/>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89720" y="1783080"/>
            <a:ext cx="2148840" cy="502920"/>
          </a:xfrm>
          <a:prstGeom prst="rect">
            <a:avLst/>
          </a:prstGeom>
          <a:noFill/>
        </p:spPr>
        <p:txBody>
          <a:bodyPr wrap="square" lIns="0" rIns="0" tIns="0" bIns="0" anchor="ctr">
            <a:spAutoFit/>
          </a:bodyPr>
          <a:lstStyle/>
          <a:p>
            <a:pPr algn="l"/>
            <a:r>
              <a:rPr sz="1450" b="1">
                <a:solidFill>
                  <a:srgbClr val="000000"/>
                </a:solidFill>
                <a:latin typeface="Arial"/>
              </a:rPr>
              <a:t>BE READY TO SAY</a:t>
            </a:r>
          </a:p>
        </p:txBody>
      </p:sp>
      <p:sp>
        <p:nvSpPr>
          <p:cNvPr id="24" name="TextBox 23"/>
          <p:cNvSpPr txBox="1"/>
          <p:nvPr/>
        </p:nvSpPr>
        <p:spPr>
          <a:xfrm>
            <a:off x="9189720" y="2487168"/>
            <a:ext cx="2148840" cy="1691640"/>
          </a:xfrm>
          <a:prstGeom prst="rect">
            <a:avLst/>
          </a:prstGeom>
          <a:noFill/>
        </p:spPr>
        <p:txBody>
          <a:bodyPr wrap="square" lIns="0" rIns="0" tIns="0" bIns="0" anchor="t">
            <a:spAutoFit/>
          </a:bodyPr>
          <a:lstStyle/>
          <a:p>
            <a:pPr algn="l">
              <a:lnSpc>
                <a:spcPct val="130000"/>
              </a:lnSpc>
            </a:pPr>
            <a:r>
              <a:rPr sz="1250">
                <a:solidFill>
                  <a:srgbClr val="000000"/>
                </a:solidFill>
                <a:latin typeface="Calibri"/>
              </a:rPr>
              <a:t>What the part is. What rule places the copies — stacked, offset, rotated, coursed.</a:t>
            </a:r>
          </a:p>
        </p:txBody>
      </p:sp>
      <p:sp>
        <p:nvSpPr>
          <p:cNvPr id="25" name="Rectangle 24"/>
          <p:cNvSpPr/>
          <p:nvPr/>
        </p:nvSpPr>
        <p:spPr>
          <a:xfrm>
            <a:off x="662940" y="4686300"/>
            <a:ext cx="10972800" cy="621792"/>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94360" y="4617720"/>
            <a:ext cx="10972800" cy="621792"/>
          </a:xfrm>
          <a:prstGeom prst="rect">
            <a:avLst/>
          </a:prstGeom>
          <a:solidFill>
            <a:srgbClr val="000000"/>
          </a:solidFill>
          <a:ln w="349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4617720"/>
            <a:ext cx="10607040" cy="621792"/>
          </a:xfrm>
          <a:prstGeom prst="rect">
            <a:avLst/>
          </a:prstGeom>
          <a:noFill/>
        </p:spPr>
        <p:txBody>
          <a:bodyPr wrap="square" lIns="0" rIns="0" tIns="0" bIns="0" anchor="ctr">
            <a:spAutoFit/>
          </a:bodyPr>
          <a:lstStyle/>
          <a:p>
            <a:pPr algn="ctr"/>
            <a:r>
              <a:rPr sz="1250" b="1">
                <a:solidFill>
                  <a:srgbClr val="00D9E1"/>
                </a:solidFill>
                <a:latin typeface="Arial"/>
              </a:rPr>
              <a:t>YOU ARE NOT TRACING IT. NEXT WEEK YOU DESIGN YOUR OWN TILE, DRIVEN BY THIS BUILDING.</a:t>
            </a:r>
          </a:p>
        </p:txBody>
      </p:sp>
      <p:sp>
        <p:nvSpPr>
          <p:cNvPr id="28" name="TextBox 27"/>
          <p:cNvSpPr txBox="1"/>
          <p:nvPr/>
        </p:nvSpPr>
        <p:spPr>
          <a:xfrm>
            <a:off x="594360" y="5440680"/>
            <a:ext cx="10972800" cy="365760"/>
          </a:xfrm>
          <a:prstGeom prst="rect">
            <a:avLst/>
          </a:prstGeom>
          <a:noFill/>
        </p:spPr>
        <p:txBody>
          <a:bodyPr wrap="square" lIns="0" rIns="0" tIns="0" bIns="0" anchor="t">
            <a:spAutoFit/>
          </a:bodyPr>
          <a:lstStyle/>
          <a:p>
            <a:pPr algn="l"/>
            <a:r>
              <a:rPr sz="1350">
                <a:solidFill>
                  <a:srgbClr val="6B6B6B"/>
                </a:solidFill>
                <a:latin typeface="Calibri"/>
              </a:rPr>
              <a:t>A short approved list goes out tonight. Propose your own for approval if it is not on it.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2026-08-21T19:26:32Z</dcterms:created>
  <dc:creator>Luis Pacheco Alcala</dc:creator>
</cp:coreProperties>
</file>