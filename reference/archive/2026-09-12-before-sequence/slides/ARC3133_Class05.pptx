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CLASS 05  /  SEP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MODULE 1 — FIELDS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ATTRACTORS + 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95259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DISTANCE DRIVES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0.2 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1.2 ISSUED TODAY  /  1.1 DUE NEXT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AN ATTRACTOR IS A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For every point: how far is it from something? Use that number to drive a property.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566928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66928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66928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THE WHOLE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000000"/>
                </a:solidFill>
                <a:latin typeface="Courier New"/>
              </a:rPr>
              <a:t>for each point p: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000000"/>
                </a:solidFill>
                <a:latin typeface="Courier New"/>
              </a:rPr>
              <a:t>    d = distance(p, attractor)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000000"/>
                </a:solidFill>
                <a:latin typeface="Courier New"/>
              </a:rPr>
              <a:t>    size = f(d)</a:t>
            </a:r>
          </a:p>
          <a:p>
            <a:pPr algn="l">
              <a:lnSpc>
                <a:spcPct val="135000"/>
              </a:lnSpc>
            </a:pPr>
            <a:r>
              <a:rPr sz="8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350">
                <a:solidFill>
                  <a:srgbClr val="000000"/>
                </a:solidFill>
                <a:latin typeface="Courier New"/>
              </a:rPr>
              <a:t>That is it. Everything else</a:t>
            </a:r>
          </a:p>
          <a:p>
            <a:pPr algn="l">
              <a:lnSpc>
                <a:spcPct val="135000"/>
              </a:lnSpc>
            </a:pPr>
            <a:r>
              <a:rPr sz="1350">
                <a:solidFill>
                  <a:srgbClr val="000000"/>
                </a:solidFill>
                <a:latin typeface="Courier New"/>
              </a:rPr>
              <a:t>is a choice of 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6540" y="1943100"/>
            <a:ext cx="502920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37960" y="1874519"/>
            <a:ext cx="502920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37960" y="1874519"/>
            <a:ext cx="502920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66560" y="187451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TWO NUMBERS, SAME 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606040"/>
            <a:ext cx="4480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INDEX told you where in the sequence.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DISTANCE tells you how far from something.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Both are just numbers driving a property — that is the only idea in this module.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28066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212080"/>
            <a:ext cx="10972800" cy="6400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LAST WEEK YOU BUILT THE POSITIONS. THIS WEEK YOU MEASURE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THREE 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Same maths. What changes is what you measure the distance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SINGLE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distance(p, 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3692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25112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25112" y="1783080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53712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MULTIPLE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43434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min over all attractors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4444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55864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55864" y="178308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84464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CURVE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43434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distance to nearest curve point</a:t>
            </a:r>
          </a:p>
        </p:txBody>
      </p:sp>
      <p:sp>
        <p:nvSpPr>
          <p:cNvPr id="20" name="Oval 19"/>
          <p:cNvSpPr/>
          <p:nvPr/>
        </p:nvSpPr>
        <p:spPr>
          <a:xfrm>
            <a:off x="1076706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76706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076706" y="293293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076706" y="3152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076706" y="3371850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076706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076706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387602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387602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378708" y="2924044"/>
            <a:ext cx="58935" cy="5893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373857" y="3138649"/>
            <a:ext cx="68637" cy="6863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376803" y="3361051"/>
            <a:ext cx="62744" cy="627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1386771" y="3590475"/>
            <a:ext cx="42809" cy="4280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387602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698498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681978" y="2696962"/>
            <a:ext cx="74187" cy="7418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666896" y="2901336"/>
            <a:ext cx="104350" cy="1043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659912" y="3113808"/>
            <a:ext cx="118319" cy="11831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664209" y="3337561"/>
            <a:ext cx="109724" cy="10972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677693" y="3570501"/>
            <a:ext cx="82757" cy="8275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696184" y="3808448"/>
            <a:ext cx="45775" cy="4577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2001204" y="2485836"/>
            <a:ext cx="57527" cy="5752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978408" y="2682496"/>
            <a:ext cx="103119" cy="10311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957924" y="2881468"/>
            <a:ext cx="144086" cy="14408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946026" y="3089026"/>
            <a:ext cx="167882" cy="16788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953677" y="3316133"/>
            <a:ext cx="152581" cy="1525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972960" y="3554872"/>
            <a:ext cx="114015" cy="11401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1995400" y="3796768"/>
            <a:ext cx="69135" cy="6913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2307949" y="2481685"/>
            <a:ext cx="65829" cy="6582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2283371" y="2676563"/>
            <a:ext cx="114984" cy="1149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2258797" y="2871445"/>
            <a:ext cx="164133" cy="16413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2234294" y="3066398"/>
            <a:ext cx="213139" cy="21313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2252655" y="3304215"/>
            <a:ext cx="176417" cy="17641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2277227" y="3548243"/>
            <a:ext cx="127272" cy="1272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2301804" y="3792276"/>
            <a:ext cx="78118" cy="7811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2622545" y="2485385"/>
            <a:ext cx="58428" cy="584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2599571" y="2681867"/>
            <a:ext cx="104377" cy="10437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2578738" y="2880490"/>
            <a:ext cx="146043" cy="14604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2566366" y="3087574"/>
            <a:ext cx="170786" cy="17078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2574362" y="3315026"/>
            <a:ext cx="154794" cy="15479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2594057" y="3554177"/>
            <a:ext cx="115405" cy="11540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2616706" y="3796282"/>
            <a:ext cx="70107" cy="7010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2942082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2924553" y="2695953"/>
            <a:ext cx="76205" cy="7620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2909202" y="2900058"/>
            <a:ext cx="106907" cy="10690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2902036" y="3112348"/>
            <a:ext cx="121239" cy="12123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2906450" y="3336218"/>
            <a:ext cx="112410" cy="11241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2920203" y="3569427"/>
            <a:ext cx="84904" cy="849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2938926" y="3807606"/>
            <a:ext cx="47459" cy="4745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3252978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3252978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3242712" y="2922672"/>
            <a:ext cx="61679" cy="6167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3237771" y="3137187"/>
            <a:ext cx="71561" cy="7156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3240774" y="3359646"/>
            <a:ext cx="65555" cy="6555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3250902" y="3589230"/>
            <a:ext cx="45298" cy="4529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3252978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3563874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63874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3563874" y="293293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3563874" y="3152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3563874" y="3371850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3563874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3563874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2290572" y="3140964"/>
            <a:ext cx="118872" cy="11887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4774907" y="2461475"/>
            <a:ext cx="106249" cy="10624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4765604" y="2671628"/>
            <a:ext cx="124855" cy="12485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4768937" y="2894417"/>
            <a:ext cx="118188" cy="11818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4782664" y="3127600"/>
            <a:ext cx="90735" cy="9073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4801192" y="3365584"/>
            <a:ext cx="53679" cy="5367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4807458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4807458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5070547" y="2446219"/>
            <a:ext cx="136761" cy="13676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5053855" y="2648983"/>
            <a:ext cx="170145" cy="17014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5060840" y="2875424"/>
            <a:ext cx="156175" cy="15617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5081163" y="3115203"/>
            <a:ext cx="115528" cy="1155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5103327" y="3356823"/>
            <a:ext cx="71200" cy="712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5118354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5118354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5379391" y="2444167"/>
            <a:ext cx="140864" cy="14086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5359854" y="2644086"/>
            <a:ext cx="179938" cy="17993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5368686" y="2872374"/>
            <a:ext cx="162275" cy="16227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5390538" y="3113682"/>
            <a:ext cx="118570" cy="11857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5413232" y="3355832"/>
            <a:ext cx="73183" cy="7318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5429250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5429250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5703363" y="2457243"/>
            <a:ext cx="114713" cy="11471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5692879" y="2666215"/>
            <a:ext cx="135681" cy="1356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5696709" y="2889501"/>
            <a:ext cx="128021" cy="12802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5711760" y="3124008"/>
            <a:ext cx="97919" cy="9791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5731230" y="3362934"/>
            <a:ext cx="58978" cy="5897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5740146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5740146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6033605" y="2476589"/>
            <a:ext cx="76021" cy="7602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6026879" y="2689319"/>
            <a:ext cx="89472" cy="894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6029208" y="2911104"/>
            <a:ext cx="84815" cy="8481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6039675" y="3141027"/>
            <a:ext cx="63881" cy="638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6033076" y="3353884"/>
            <a:ext cx="77078" cy="7707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6028639" y="3568903"/>
            <a:ext cx="85953" cy="8595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6033076" y="3792796"/>
            <a:ext cx="77078" cy="7707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6361938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6361005" y="2712549"/>
            <a:ext cx="43013" cy="4301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6359093" y="2930093"/>
            <a:ext cx="46836" cy="468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6339371" y="3129827"/>
            <a:ext cx="86281" cy="862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6323241" y="3333153"/>
            <a:ext cx="118541" cy="11854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6316218" y="3545586"/>
            <a:ext cx="132588" cy="13258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6323241" y="3772065"/>
            <a:ext cx="118541" cy="11854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6672834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6672834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6662818" y="2922922"/>
            <a:ext cx="61179" cy="6117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6640198" y="3119758"/>
            <a:ext cx="106419" cy="10641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6618346" y="3317362"/>
            <a:ext cx="150123" cy="15012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6603796" y="3522268"/>
            <a:ext cx="179222" cy="17922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Oval 131"/>
          <p:cNvSpPr/>
          <p:nvPr/>
        </p:nvSpPr>
        <p:spPr>
          <a:xfrm>
            <a:off x="6618346" y="3756274"/>
            <a:ext cx="150123" cy="15012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6983730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6983730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Oval 134"/>
          <p:cNvSpPr/>
          <p:nvPr/>
        </p:nvSpPr>
        <p:spPr>
          <a:xfrm>
            <a:off x="6973942" y="2923150"/>
            <a:ext cx="60723" cy="6072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Oval 135"/>
          <p:cNvSpPr/>
          <p:nvPr/>
        </p:nvSpPr>
        <p:spPr>
          <a:xfrm>
            <a:off x="6951430" y="3120094"/>
            <a:ext cx="105747" cy="10574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6929861" y="3317981"/>
            <a:ext cx="148885" cy="14888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Oval 137"/>
          <p:cNvSpPr/>
          <p:nvPr/>
        </p:nvSpPr>
        <p:spPr>
          <a:xfrm>
            <a:off x="6916064" y="3523640"/>
            <a:ext cx="176479" cy="17647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Oval 138"/>
          <p:cNvSpPr/>
          <p:nvPr/>
        </p:nvSpPr>
        <p:spPr>
          <a:xfrm>
            <a:off x="6929861" y="3756893"/>
            <a:ext cx="148885" cy="14888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Oval 139"/>
          <p:cNvSpPr/>
          <p:nvPr/>
        </p:nvSpPr>
        <p:spPr>
          <a:xfrm>
            <a:off x="7294626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Oval 140"/>
          <p:cNvSpPr/>
          <p:nvPr/>
        </p:nvSpPr>
        <p:spPr>
          <a:xfrm>
            <a:off x="7294626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Oval 141"/>
          <p:cNvSpPr/>
          <p:nvPr/>
        </p:nvSpPr>
        <p:spPr>
          <a:xfrm>
            <a:off x="7292401" y="2930713"/>
            <a:ext cx="45597" cy="4559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Oval 142"/>
          <p:cNvSpPr/>
          <p:nvPr/>
        </p:nvSpPr>
        <p:spPr>
          <a:xfrm>
            <a:off x="7272888" y="3130656"/>
            <a:ext cx="84623" cy="8462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Oval 143"/>
          <p:cNvSpPr/>
          <p:nvPr/>
        </p:nvSpPr>
        <p:spPr>
          <a:xfrm>
            <a:off x="7257074" y="3334298"/>
            <a:ext cx="116251" cy="11625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Oval 144"/>
          <p:cNvSpPr/>
          <p:nvPr/>
        </p:nvSpPr>
        <p:spPr>
          <a:xfrm>
            <a:off x="7250277" y="3546957"/>
            <a:ext cx="129844" cy="1298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Oval 145"/>
          <p:cNvSpPr/>
          <p:nvPr/>
        </p:nvSpPr>
        <p:spPr>
          <a:xfrm>
            <a:off x="7257074" y="3773210"/>
            <a:ext cx="116251" cy="11625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Oval 146"/>
          <p:cNvSpPr/>
          <p:nvPr/>
        </p:nvSpPr>
        <p:spPr>
          <a:xfrm>
            <a:off x="5271516" y="2729484"/>
            <a:ext cx="118872" cy="11887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Oval 147"/>
          <p:cNvSpPr/>
          <p:nvPr/>
        </p:nvSpPr>
        <p:spPr>
          <a:xfrm>
            <a:off x="6780276" y="3552444"/>
            <a:ext cx="118872" cy="11887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Oval 148"/>
          <p:cNvSpPr/>
          <p:nvPr/>
        </p:nvSpPr>
        <p:spPr>
          <a:xfrm>
            <a:off x="8545068" y="323240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Oval 149"/>
          <p:cNvSpPr/>
          <p:nvPr/>
        </p:nvSpPr>
        <p:spPr>
          <a:xfrm>
            <a:off x="8583499" y="320660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8621930" y="318085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Oval 151"/>
          <p:cNvSpPr/>
          <p:nvPr/>
        </p:nvSpPr>
        <p:spPr>
          <a:xfrm>
            <a:off x="8660361" y="315520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8698793" y="312972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Oval 153"/>
          <p:cNvSpPr/>
          <p:nvPr/>
        </p:nvSpPr>
        <p:spPr>
          <a:xfrm>
            <a:off x="8737224" y="310445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8775655" y="307944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Oval 155"/>
          <p:cNvSpPr/>
          <p:nvPr/>
        </p:nvSpPr>
        <p:spPr>
          <a:xfrm>
            <a:off x="8814087" y="305476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8852518" y="303044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Oval 157"/>
          <p:cNvSpPr/>
          <p:nvPr/>
        </p:nvSpPr>
        <p:spPr>
          <a:xfrm>
            <a:off x="8890949" y="300653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Oval 158"/>
          <p:cNvSpPr/>
          <p:nvPr/>
        </p:nvSpPr>
        <p:spPr>
          <a:xfrm>
            <a:off x="8929381" y="2983106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Oval 159"/>
          <p:cNvSpPr/>
          <p:nvPr/>
        </p:nvSpPr>
        <p:spPr>
          <a:xfrm>
            <a:off x="8967812" y="296018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9006243" y="293783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Oval 161"/>
          <p:cNvSpPr/>
          <p:nvPr/>
        </p:nvSpPr>
        <p:spPr>
          <a:xfrm>
            <a:off x="9044674" y="2916095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Oval 162"/>
          <p:cNvSpPr/>
          <p:nvPr/>
        </p:nvSpPr>
        <p:spPr>
          <a:xfrm>
            <a:off x="9083106" y="289500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Oval 163"/>
          <p:cNvSpPr/>
          <p:nvPr/>
        </p:nvSpPr>
        <p:spPr>
          <a:xfrm>
            <a:off x="9121537" y="287462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9159968" y="285497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Oval 165"/>
          <p:cNvSpPr/>
          <p:nvPr/>
        </p:nvSpPr>
        <p:spPr>
          <a:xfrm>
            <a:off x="9198400" y="283611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Oval 166"/>
          <p:cNvSpPr/>
          <p:nvPr/>
        </p:nvSpPr>
        <p:spPr>
          <a:xfrm>
            <a:off x="9236831" y="281807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Oval 167"/>
          <p:cNvSpPr/>
          <p:nvPr/>
        </p:nvSpPr>
        <p:spPr>
          <a:xfrm>
            <a:off x="9275262" y="280088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9313694" y="2784601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Oval 169"/>
          <p:cNvSpPr/>
          <p:nvPr/>
        </p:nvSpPr>
        <p:spPr>
          <a:xfrm>
            <a:off x="9352125" y="276924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Oval 170"/>
          <p:cNvSpPr/>
          <p:nvPr/>
        </p:nvSpPr>
        <p:spPr>
          <a:xfrm>
            <a:off x="9390556" y="275484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Oval 171"/>
          <p:cNvSpPr/>
          <p:nvPr/>
        </p:nvSpPr>
        <p:spPr>
          <a:xfrm>
            <a:off x="9428988" y="274142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9467419" y="272903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Oval 173"/>
          <p:cNvSpPr/>
          <p:nvPr/>
        </p:nvSpPr>
        <p:spPr>
          <a:xfrm>
            <a:off x="9505850" y="271768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Oval 174"/>
          <p:cNvSpPr/>
          <p:nvPr/>
        </p:nvSpPr>
        <p:spPr>
          <a:xfrm>
            <a:off x="9544281" y="270740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Oval 175"/>
          <p:cNvSpPr/>
          <p:nvPr/>
        </p:nvSpPr>
        <p:spPr>
          <a:xfrm>
            <a:off x="9582713" y="269820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Oval 176"/>
          <p:cNvSpPr/>
          <p:nvPr/>
        </p:nvSpPr>
        <p:spPr>
          <a:xfrm>
            <a:off x="9621144" y="269012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Oval 177"/>
          <p:cNvSpPr/>
          <p:nvPr/>
        </p:nvSpPr>
        <p:spPr>
          <a:xfrm>
            <a:off x="9659575" y="268315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Oval 178"/>
          <p:cNvSpPr/>
          <p:nvPr/>
        </p:nvSpPr>
        <p:spPr>
          <a:xfrm>
            <a:off x="9698007" y="267733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Oval 179"/>
          <p:cNvSpPr/>
          <p:nvPr/>
        </p:nvSpPr>
        <p:spPr>
          <a:xfrm>
            <a:off x="9736438" y="267265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Oval 180"/>
          <p:cNvSpPr/>
          <p:nvPr/>
        </p:nvSpPr>
        <p:spPr>
          <a:xfrm>
            <a:off x="9774869" y="266914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Oval 181"/>
          <p:cNvSpPr/>
          <p:nvPr/>
        </p:nvSpPr>
        <p:spPr>
          <a:xfrm>
            <a:off x="9813301" y="266679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Oval 182"/>
          <p:cNvSpPr/>
          <p:nvPr/>
        </p:nvSpPr>
        <p:spPr>
          <a:xfrm>
            <a:off x="9851732" y="266562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Oval 183"/>
          <p:cNvSpPr/>
          <p:nvPr/>
        </p:nvSpPr>
        <p:spPr>
          <a:xfrm>
            <a:off x="9890163" y="266562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Oval 184"/>
          <p:cNvSpPr/>
          <p:nvPr/>
        </p:nvSpPr>
        <p:spPr>
          <a:xfrm>
            <a:off x="9928594" y="266679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Oval 185"/>
          <p:cNvSpPr/>
          <p:nvPr/>
        </p:nvSpPr>
        <p:spPr>
          <a:xfrm>
            <a:off x="9967026" y="266914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Oval 186"/>
          <p:cNvSpPr/>
          <p:nvPr/>
        </p:nvSpPr>
        <p:spPr>
          <a:xfrm>
            <a:off x="10005457" y="267265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Oval 187"/>
          <p:cNvSpPr/>
          <p:nvPr/>
        </p:nvSpPr>
        <p:spPr>
          <a:xfrm>
            <a:off x="10043888" y="267733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Oval 188"/>
          <p:cNvSpPr/>
          <p:nvPr/>
        </p:nvSpPr>
        <p:spPr>
          <a:xfrm>
            <a:off x="10082320" y="268315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Oval 189"/>
          <p:cNvSpPr/>
          <p:nvPr/>
        </p:nvSpPr>
        <p:spPr>
          <a:xfrm>
            <a:off x="10120751" y="269012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Oval 190"/>
          <p:cNvSpPr/>
          <p:nvPr/>
        </p:nvSpPr>
        <p:spPr>
          <a:xfrm>
            <a:off x="10159182" y="269820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Oval 191"/>
          <p:cNvSpPr/>
          <p:nvPr/>
        </p:nvSpPr>
        <p:spPr>
          <a:xfrm>
            <a:off x="10197614" y="270740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Oval 192"/>
          <p:cNvSpPr/>
          <p:nvPr/>
        </p:nvSpPr>
        <p:spPr>
          <a:xfrm>
            <a:off x="10236045" y="271768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Oval 193"/>
          <p:cNvSpPr/>
          <p:nvPr/>
        </p:nvSpPr>
        <p:spPr>
          <a:xfrm>
            <a:off x="10274476" y="272903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Oval 194"/>
          <p:cNvSpPr/>
          <p:nvPr/>
        </p:nvSpPr>
        <p:spPr>
          <a:xfrm>
            <a:off x="10312908" y="274142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Oval 195"/>
          <p:cNvSpPr/>
          <p:nvPr/>
        </p:nvSpPr>
        <p:spPr>
          <a:xfrm>
            <a:off x="10351339" y="275484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Oval 196"/>
          <p:cNvSpPr/>
          <p:nvPr/>
        </p:nvSpPr>
        <p:spPr>
          <a:xfrm>
            <a:off x="10389770" y="276924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Oval 197"/>
          <p:cNvSpPr/>
          <p:nvPr/>
        </p:nvSpPr>
        <p:spPr>
          <a:xfrm>
            <a:off x="10428201" y="2784601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Oval 198"/>
          <p:cNvSpPr/>
          <p:nvPr/>
        </p:nvSpPr>
        <p:spPr>
          <a:xfrm>
            <a:off x="10466633" y="280088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Oval 199"/>
          <p:cNvSpPr/>
          <p:nvPr/>
        </p:nvSpPr>
        <p:spPr>
          <a:xfrm>
            <a:off x="10505064" y="281807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Oval 200"/>
          <p:cNvSpPr/>
          <p:nvPr/>
        </p:nvSpPr>
        <p:spPr>
          <a:xfrm>
            <a:off x="10543495" y="283611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Oval 201"/>
          <p:cNvSpPr/>
          <p:nvPr/>
        </p:nvSpPr>
        <p:spPr>
          <a:xfrm>
            <a:off x="10581927" y="285497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Oval 202"/>
          <p:cNvSpPr/>
          <p:nvPr/>
        </p:nvSpPr>
        <p:spPr>
          <a:xfrm>
            <a:off x="10620358" y="287462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Oval 203"/>
          <p:cNvSpPr/>
          <p:nvPr/>
        </p:nvSpPr>
        <p:spPr>
          <a:xfrm>
            <a:off x="10658789" y="289500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Oval 204"/>
          <p:cNvSpPr/>
          <p:nvPr/>
        </p:nvSpPr>
        <p:spPr>
          <a:xfrm>
            <a:off x="10697221" y="2916095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Oval 205"/>
          <p:cNvSpPr/>
          <p:nvPr/>
        </p:nvSpPr>
        <p:spPr>
          <a:xfrm>
            <a:off x="10735652" y="293783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Oval 206"/>
          <p:cNvSpPr/>
          <p:nvPr/>
        </p:nvSpPr>
        <p:spPr>
          <a:xfrm>
            <a:off x="10774083" y="296018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Oval 207"/>
          <p:cNvSpPr/>
          <p:nvPr/>
        </p:nvSpPr>
        <p:spPr>
          <a:xfrm>
            <a:off x="10812514" y="2983106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Oval 208"/>
          <p:cNvSpPr/>
          <p:nvPr/>
        </p:nvSpPr>
        <p:spPr>
          <a:xfrm>
            <a:off x="10850946" y="300653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Oval 209"/>
          <p:cNvSpPr/>
          <p:nvPr/>
        </p:nvSpPr>
        <p:spPr>
          <a:xfrm>
            <a:off x="10889377" y="303044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Oval 210"/>
          <p:cNvSpPr/>
          <p:nvPr/>
        </p:nvSpPr>
        <p:spPr>
          <a:xfrm>
            <a:off x="10927808" y="305476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Oval 211"/>
          <p:cNvSpPr/>
          <p:nvPr/>
        </p:nvSpPr>
        <p:spPr>
          <a:xfrm>
            <a:off x="10966240" y="307944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Oval 212"/>
          <p:cNvSpPr/>
          <p:nvPr/>
        </p:nvSpPr>
        <p:spPr>
          <a:xfrm>
            <a:off x="11004671" y="310445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Oval 213"/>
          <p:cNvSpPr/>
          <p:nvPr/>
        </p:nvSpPr>
        <p:spPr>
          <a:xfrm>
            <a:off x="11043102" y="312972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Oval 214"/>
          <p:cNvSpPr/>
          <p:nvPr/>
        </p:nvSpPr>
        <p:spPr>
          <a:xfrm>
            <a:off x="11081534" y="315520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Oval 215"/>
          <p:cNvSpPr/>
          <p:nvPr/>
        </p:nvSpPr>
        <p:spPr>
          <a:xfrm>
            <a:off x="11119965" y="318085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Oval 216"/>
          <p:cNvSpPr/>
          <p:nvPr/>
        </p:nvSpPr>
        <p:spPr>
          <a:xfrm>
            <a:off x="11158396" y="320660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Oval 217"/>
          <p:cNvSpPr/>
          <p:nvPr/>
        </p:nvSpPr>
        <p:spPr>
          <a:xfrm>
            <a:off x="11196828" y="323240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Oval 218"/>
          <p:cNvSpPr/>
          <p:nvPr/>
        </p:nvSpPr>
        <p:spPr>
          <a:xfrm>
            <a:off x="8538210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Oval 219"/>
          <p:cNvSpPr/>
          <p:nvPr/>
        </p:nvSpPr>
        <p:spPr>
          <a:xfrm>
            <a:off x="8524768" y="2700040"/>
            <a:ext cx="68031" cy="6803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Oval 220"/>
          <p:cNvSpPr/>
          <p:nvPr/>
        </p:nvSpPr>
        <p:spPr>
          <a:xfrm>
            <a:off x="8496239" y="2890967"/>
            <a:ext cx="125089" cy="12508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Oval 221"/>
          <p:cNvSpPr/>
          <p:nvPr/>
        </p:nvSpPr>
        <p:spPr>
          <a:xfrm>
            <a:off x="8467709" y="3081893"/>
            <a:ext cx="182148" cy="182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Oval 222"/>
          <p:cNvSpPr/>
          <p:nvPr/>
        </p:nvSpPr>
        <p:spPr>
          <a:xfrm>
            <a:off x="8477219" y="3310859"/>
            <a:ext cx="163128" cy="1631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Oval 223"/>
          <p:cNvSpPr/>
          <p:nvPr/>
        </p:nvSpPr>
        <p:spPr>
          <a:xfrm>
            <a:off x="8505748" y="3558844"/>
            <a:ext cx="106070" cy="10607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Oval 224"/>
          <p:cNvSpPr/>
          <p:nvPr/>
        </p:nvSpPr>
        <p:spPr>
          <a:xfrm>
            <a:off x="8534278" y="3806830"/>
            <a:ext cx="49011" cy="4901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Oval 225"/>
          <p:cNvSpPr/>
          <p:nvPr/>
        </p:nvSpPr>
        <p:spPr>
          <a:xfrm>
            <a:off x="8837657" y="2482577"/>
            <a:ext cx="64045" cy="6404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Oval 226"/>
          <p:cNvSpPr/>
          <p:nvPr/>
        </p:nvSpPr>
        <p:spPr>
          <a:xfrm>
            <a:off x="8809128" y="2673504"/>
            <a:ext cx="121103" cy="12110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Oval 227"/>
          <p:cNvSpPr/>
          <p:nvPr/>
        </p:nvSpPr>
        <p:spPr>
          <a:xfrm>
            <a:off x="8780598" y="2864430"/>
            <a:ext cx="178162" cy="17816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Oval 228"/>
          <p:cNvSpPr/>
          <p:nvPr/>
        </p:nvSpPr>
        <p:spPr>
          <a:xfrm>
            <a:off x="8786122" y="3089410"/>
            <a:ext cx="167115" cy="16711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Oval 229"/>
          <p:cNvSpPr/>
          <p:nvPr/>
        </p:nvSpPr>
        <p:spPr>
          <a:xfrm>
            <a:off x="8814651" y="3337395"/>
            <a:ext cx="110056" cy="11005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Oval 230"/>
          <p:cNvSpPr/>
          <p:nvPr/>
        </p:nvSpPr>
        <p:spPr>
          <a:xfrm>
            <a:off x="8843180" y="3585380"/>
            <a:ext cx="52998" cy="5299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Oval 231"/>
          <p:cNvSpPr/>
          <p:nvPr/>
        </p:nvSpPr>
        <p:spPr>
          <a:xfrm>
            <a:off x="8849106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Oval 232"/>
          <p:cNvSpPr/>
          <p:nvPr/>
        </p:nvSpPr>
        <p:spPr>
          <a:xfrm>
            <a:off x="9125576" y="2459600"/>
            <a:ext cx="109998" cy="10999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Oval 233"/>
          <p:cNvSpPr/>
          <p:nvPr/>
        </p:nvSpPr>
        <p:spPr>
          <a:xfrm>
            <a:off x="9097047" y="2650527"/>
            <a:ext cx="167056" cy="16705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Oval 234"/>
          <p:cNvSpPr/>
          <p:nvPr/>
        </p:nvSpPr>
        <p:spPr>
          <a:xfrm>
            <a:off x="9091465" y="2864401"/>
            <a:ext cx="178220" cy="1782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Oval 235"/>
          <p:cNvSpPr/>
          <p:nvPr/>
        </p:nvSpPr>
        <p:spPr>
          <a:xfrm>
            <a:off x="9119995" y="3112387"/>
            <a:ext cx="121161" cy="12116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Oval 236"/>
          <p:cNvSpPr/>
          <p:nvPr/>
        </p:nvSpPr>
        <p:spPr>
          <a:xfrm>
            <a:off x="9148524" y="3360372"/>
            <a:ext cx="64103" cy="6410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Oval 237"/>
          <p:cNvSpPr/>
          <p:nvPr/>
        </p:nvSpPr>
        <p:spPr>
          <a:xfrm>
            <a:off x="9160002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Oval 238"/>
          <p:cNvSpPr/>
          <p:nvPr/>
        </p:nvSpPr>
        <p:spPr>
          <a:xfrm>
            <a:off x="9160002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Oval 239"/>
          <p:cNvSpPr/>
          <p:nvPr/>
        </p:nvSpPr>
        <p:spPr>
          <a:xfrm>
            <a:off x="9420137" y="2443265"/>
            <a:ext cx="142668" cy="14266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Oval 240"/>
          <p:cNvSpPr/>
          <p:nvPr/>
        </p:nvSpPr>
        <p:spPr>
          <a:xfrm>
            <a:off x="9391608" y="2634192"/>
            <a:ext cx="199727" cy="19972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Oval 241"/>
          <p:cNvSpPr/>
          <p:nvPr/>
        </p:nvSpPr>
        <p:spPr>
          <a:xfrm>
            <a:off x="9418696" y="2880736"/>
            <a:ext cx="145550" cy="1455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Oval 242"/>
          <p:cNvSpPr/>
          <p:nvPr/>
        </p:nvSpPr>
        <p:spPr>
          <a:xfrm>
            <a:off x="9447226" y="3128722"/>
            <a:ext cx="88491" cy="8849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Oval 243"/>
          <p:cNvSpPr/>
          <p:nvPr/>
        </p:nvSpPr>
        <p:spPr>
          <a:xfrm>
            <a:off x="9470898" y="3371850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Oval 244"/>
          <p:cNvSpPr/>
          <p:nvPr/>
        </p:nvSpPr>
        <p:spPr>
          <a:xfrm>
            <a:off x="9470898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Oval 245"/>
          <p:cNvSpPr/>
          <p:nvPr/>
        </p:nvSpPr>
        <p:spPr>
          <a:xfrm>
            <a:off x="9470898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Oval 246"/>
          <p:cNvSpPr/>
          <p:nvPr/>
        </p:nvSpPr>
        <p:spPr>
          <a:xfrm>
            <a:off x="9723530" y="2435762"/>
            <a:ext cx="157674" cy="15767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Oval 247"/>
          <p:cNvSpPr/>
          <p:nvPr/>
        </p:nvSpPr>
        <p:spPr>
          <a:xfrm>
            <a:off x="9708566" y="2640254"/>
            <a:ext cx="187603" cy="18760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Oval 248"/>
          <p:cNvSpPr/>
          <p:nvPr/>
        </p:nvSpPr>
        <p:spPr>
          <a:xfrm>
            <a:off x="9737095" y="2888239"/>
            <a:ext cx="130544" cy="1305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Oval 249"/>
          <p:cNvSpPr/>
          <p:nvPr/>
        </p:nvSpPr>
        <p:spPr>
          <a:xfrm>
            <a:off x="9765624" y="3136224"/>
            <a:ext cx="73486" cy="7348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Oval 250"/>
          <p:cNvSpPr/>
          <p:nvPr/>
        </p:nvSpPr>
        <p:spPr>
          <a:xfrm>
            <a:off x="9781794" y="3371850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Oval 251"/>
          <p:cNvSpPr/>
          <p:nvPr/>
        </p:nvSpPr>
        <p:spPr>
          <a:xfrm>
            <a:off x="9781794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Oval 252"/>
          <p:cNvSpPr/>
          <p:nvPr/>
        </p:nvSpPr>
        <p:spPr>
          <a:xfrm>
            <a:off x="9781794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Oval 253"/>
          <p:cNvSpPr/>
          <p:nvPr/>
        </p:nvSpPr>
        <p:spPr>
          <a:xfrm>
            <a:off x="10036763" y="2438099"/>
            <a:ext cx="153001" cy="15300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Oval 254"/>
          <p:cNvSpPr/>
          <p:nvPr/>
        </p:nvSpPr>
        <p:spPr>
          <a:xfrm>
            <a:off x="10017125" y="2637917"/>
            <a:ext cx="192276" cy="19227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Oval 255"/>
          <p:cNvSpPr/>
          <p:nvPr/>
        </p:nvSpPr>
        <p:spPr>
          <a:xfrm>
            <a:off x="10045655" y="2885903"/>
            <a:ext cx="135217" cy="13521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Oval 256"/>
          <p:cNvSpPr/>
          <p:nvPr/>
        </p:nvSpPr>
        <p:spPr>
          <a:xfrm>
            <a:off x="10074184" y="3133888"/>
            <a:ext cx="78159" cy="7815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Oval 257"/>
          <p:cNvSpPr/>
          <p:nvPr/>
        </p:nvSpPr>
        <p:spPr>
          <a:xfrm>
            <a:off x="10092690" y="3371850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Oval 258"/>
          <p:cNvSpPr/>
          <p:nvPr/>
        </p:nvSpPr>
        <p:spPr>
          <a:xfrm>
            <a:off x="10092690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Oval 259"/>
          <p:cNvSpPr/>
          <p:nvPr/>
        </p:nvSpPr>
        <p:spPr>
          <a:xfrm>
            <a:off x="10092690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Oval 260"/>
          <p:cNvSpPr/>
          <p:nvPr/>
        </p:nvSpPr>
        <p:spPr>
          <a:xfrm>
            <a:off x="10359521" y="2449961"/>
            <a:ext cx="129277" cy="12927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Oval 261"/>
          <p:cNvSpPr/>
          <p:nvPr/>
        </p:nvSpPr>
        <p:spPr>
          <a:xfrm>
            <a:off x="10330992" y="2640888"/>
            <a:ext cx="186335" cy="18633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Oval 262"/>
          <p:cNvSpPr/>
          <p:nvPr/>
        </p:nvSpPr>
        <p:spPr>
          <a:xfrm>
            <a:off x="10344689" y="2874041"/>
            <a:ext cx="158941" cy="15894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Oval 263"/>
          <p:cNvSpPr/>
          <p:nvPr/>
        </p:nvSpPr>
        <p:spPr>
          <a:xfrm>
            <a:off x="10373218" y="3122026"/>
            <a:ext cx="101882" cy="10188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Oval 264"/>
          <p:cNvSpPr/>
          <p:nvPr/>
        </p:nvSpPr>
        <p:spPr>
          <a:xfrm>
            <a:off x="10401747" y="3370011"/>
            <a:ext cx="44824" cy="4482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Oval 265"/>
          <p:cNvSpPr/>
          <p:nvPr/>
        </p:nvSpPr>
        <p:spPr>
          <a:xfrm>
            <a:off x="10403586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Oval 266"/>
          <p:cNvSpPr/>
          <p:nvPr/>
        </p:nvSpPr>
        <p:spPr>
          <a:xfrm>
            <a:off x="10403586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Oval 267"/>
          <p:cNvSpPr/>
          <p:nvPr/>
        </p:nvSpPr>
        <p:spPr>
          <a:xfrm>
            <a:off x="10690213" y="2469757"/>
            <a:ext cx="89684" cy="896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Oval 268"/>
          <p:cNvSpPr/>
          <p:nvPr/>
        </p:nvSpPr>
        <p:spPr>
          <a:xfrm>
            <a:off x="10661684" y="2660684"/>
            <a:ext cx="146743" cy="14674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Oval 269"/>
          <p:cNvSpPr/>
          <p:nvPr/>
        </p:nvSpPr>
        <p:spPr>
          <a:xfrm>
            <a:off x="10635788" y="2854244"/>
            <a:ext cx="198534" cy="19853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Oval 270"/>
          <p:cNvSpPr/>
          <p:nvPr/>
        </p:nvSpPr>
        <p:spPr>
          <a:xfrm>
            <a:off x="10664318" y="3102230"/>
            <a:ext cx="141475" cy="14147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Oval 271"/>
          <p:cNvSpPr/>
          <p:nvPr/>
        </p:nvSpPr>
        <p:spPr>
          <a:xfrm>
            <a:off x="10692847" y="3350215"/>
            <a:ext cx="84417" cy="8441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Oval 272"/>
          <p:cNvSpPr/>
          <p:nvPr/>
        </p:nvSpPr>
        <p:spPr>
          <a:xfrm>
            <a:off x="10714482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Oval 273"/>
          <p:cNvSpPr/>
          <p:nvPr/>
        </p:nvSpPr>
        <p:spPr>
          <a:xfrm>
            <a:off x="10714482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Oval 274"/>
          <p:cNvSpPr/>
          <p:nvPr/>
        </p:nvSpPr>
        <p:spPr>
          <a:xfrm>
            <a:off x="11025378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Oval 275"/>
          <p:cNvSpPr/>
          <p:nvPr/>
        </p:nvSpPr>
        <p:spPr>
          <a:xfrm>
            <a:off x="10997655" y="2685759"/>
            <a:ext cx="96592" cy="965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Oval 276"/>
          <p:cNvSpPr/>
          <p:nvPr/>
        </p:nvSpPr>
        <p:spPr>
          <a:xfrm>
            <a:off x="10969126" y="2876686"/>
            <a:ext cx="153650" cy="1536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Oval 277"/>
          <p:cNvSpPr/>
          <p:nvPr/>
        </p:nvSpPr>
        <p:spPr>
          <a:xfrm>
            <a:off x="10950138" y="3077154"/>
            <a:ext cx="191626" cy="19162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Oval 278"/>
          <p:cNvSpPr/>
          <p:nvPr/>
        </p:nvSpPr>
        <p:spPr>
          <a:xfrm>
            <a:off x="10978667" y="3325139"/>
            <a:ext cx="134568" cy="13456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Oval 279"/>
          <p:cNvSpPr/>
          <p:nvPr/>
        </p:nvSpPr>
        <p:spPr>
          <a:xfrm>
            <a:off x="11007197" y="3573125"/>
            <a:ext cx="77509" cy="7750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1" name="Oval 280"/>
          <p:cNvSpPr/>
          <p:nvPr/>
        </p:nvSpPr>
        <p:spPr>
          <a:xfrm>
            <a:off x="11025378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Rectangle 281"/>
          <p:cNvSpPr/>
          <p:nvPr/>
        </p:nvSpPr>
        <p:spPr>
          <a:xfrm>
            <a:off x="662940" y="532638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Rectangle 282"/>
          <p:cNvSpPr/>
          <p:nvPr/>
        </p:nvSpPr>
        <p:spPr>
          <a:xfrm>
            <a:off x="594360" y="5257800"/>
            <a:ext cx="10972800" cy="65836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TextBox 283"/>
          <p:cNvSpPr txBox="1"/>
          <p:nvPr/>
        </p:nvSpPr>
        <p:spPr>
          <a:xfrm>
            <a:off x="914400" y="525780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Whatever you measure to, the output is the same thing: one number per point. The attractor is not an object — it is a question you ask of every 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FALLOFF IS THE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f is your decision. It is where the graphic quality actually comes from.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26060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26060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26060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505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v = d</a:t>
            </a:r>
          </a:p>
        </p:txBody>
      </p:sp>
      <p:sp>
        <p:nvSpPr>
          <p:cNvPr id="10" name="Oval 9"/>
          <p:cNvSpPr/>
          <p:nvPr/>
        </p:nvSpPr>
        <p:spPr>
          <a:xfrm>
            <a:off x="861822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42289" y="288264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022756" y="291007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03223" y="293751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183690" y="296494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264158" y="299237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344625" y="301980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425092" y="304723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505559" y="307467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586026" y="310210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666494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746961" y="315696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827428" y="318439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907895" y="321183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988362" y="323926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2068830" y="32666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2149297" y="329412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2229764" y="332155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2310231" y="334899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2390698" y="337642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2471166" y="340385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2551633" y="343128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2632100" y="345871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2712567" y="348615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2793034" y="351358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2873502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50392" y="3675887"/>
            <a:ext cx="2103120" cy="0"/>
          </a:xfrm>
          <a:prstGeom prst="rect">
            <a:avLst/>
          </a:prstGeom>
          <a:noFill/>
          <a:ln w="1270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7947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distance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16052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Even change all the way across.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51860" y="1851660"/>
            <a:ext cx="26060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3383279" y="1783080"/>
            <a:ext cx="26060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3383279" y="1783080"/>
            <a:ext cx="26060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611879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INVERSE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84448" y="24505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v = 1 / d</a:t>
            </a:r>
          </a:p>
        </p:txBody>
      </p:sp>
      <p:sp>
        <p:nvSpPr>
          <p:cNvPr id="44" name="Oval 43"/>
          <p:cNvSpPr/>
          <p:nvPr/>
        </p:nvSpPr>
        <p:spPr>
          <a:xfrm>
            <a:off x="3650741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3731209" y="298794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3811676" y="3077635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3892143" y="3142293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3972610" y="319111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4053078" y="322928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4133545" y="325994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4214012" y="328511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4294479" y="330615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4374946" y="332398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4455414" y="333930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4535881" y="335260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4616348" y="3364261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4696815" y="337455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4777282" y="338372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4857750" y="339192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4938217" y="339931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5018684" y="3406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099151" y="341210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5179618" y="341766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5260086" y="342277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5340553" y="342747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5421020" y="343181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5501487" y="343582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5581954" y="343956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5662422" y="344304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639311" y="3675887"/>
            <a:ext cx="2103120" cy="0"/>
          </a:xfrm>
          <a:prstGeom prst="rect">
            <a:avLst/>
          </a:prstGeom>
          <a:noFill/>
          <a:ln w="1270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11879" y="37947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distance 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11879" y="416052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Sharp near the attractor, flat far off.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0780" y="1851660"/>
            <a:ext cx="26060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6172200" y="1783080"/>
            <a:ext cx="26060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6172200" y="1783080"/>
            <a:ext cx="26060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6400800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SMOOTH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73368" y="24505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eased</a:t>
            </a:r>
          </a:p>
        </p:txBody>
      </p:sp>
      <p:sp>
        <p:nvSpPr>
          <p:cNvPr id="78" name="Oval 77"/>
          <p:cNvSpPr/>
          <p:nvPr/>
        </p:nvSpPr>
        <p:spPr>
          <a:xfrm>
            <a:off x="6439662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6520129" y="285841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6600596" y="286767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6681063" y="288247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761530" y="2902265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6841998" y="292653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6922465" y="295475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7002932" y="298640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7083399" y="302094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163866" y="305785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7244334" y="3096615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7324801" y="313668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7405268" y="317755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7485735" y="321867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7566202" y="325953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7646670" y="329961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7727137" y="333836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7807604" y="337528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7888071" y="3409823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7968538" y="344146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8049006" y="346969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8129473" y="349396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8209940" y="351375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8290407" y="352854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8370874" y="353780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8451342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6428232" y="3675887"/>
            <a:ext cx="2103120" cy="0"/>
          </a:xfrm>
          <a:prstGeom prst="rect">
            <a:avLst/>
          </a:prstGeom>
          <a:noFill/>
          <a:ln w="1270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0" y="37947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distance →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0" y="416052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Soft at both ends. Usually the best-looking.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029700" y="1851660"/>
            <a:ext cx="26060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8961120" y="1783080"/>
            <a:ext cx="26060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8961120" y="1783080"/>
            <a:ext cx="260604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9189720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THRESHOLD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62288" y="24505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on / off at a cut</a:t>
            </a:r>
          </a:p>
        </p:txBody>
      </p:sp>
      <p:sp>
        <p:nvSpPr>
          <p:cNvPr id="112" name="Oval 111"/>
          <p:cNvSpPr/>
          <p:nvPr/>
        </p:nvSpPr>
        <p:spPr>
          <a:xfrm>
            <a:off x="9228582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9309049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9389516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9469983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9550450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9630918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9711385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9791852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9872319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9952786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10033254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10113721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10194188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10274655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10355122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10435590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10516057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10596524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10676991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10757458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Oval 131"/>
          <p:cNvSpPr/>
          <p:nvPr/>
        </p:nvSpPr>
        <p:spPr>
          <a:xfrm>
            <a:off x="10837926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10918393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10998860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Oval 134"/>
          <p:cNvSpPr/>
          <p:nvPr/>
        </p:nvSpPr>
        <p:spPr>
          <a:xfrm>
            <a:off x="11079327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Oval 135"/>
          <p:cNvSpPr/>
          <p:nvPr/>
        </p:nvSpPr>
        <p:spPr>
          <a:xfrm>
            <a:off x="11159794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11240262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9217152" y="3675887"/>
            <a:ext cx="2103120" cy="0"/>
          </a:xfrm>
          <a:prstGeom prst="rect">
            <a:avLst/>
          </a:prstGeom>
          <a:noFill/>
          <a:ln w="1270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189720" y="37947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distance →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189720" y="416052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No gradient at all. Two populations.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62940" y="532638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594360" y="5257800"/>
            <a:ext cx="10972800" cy="65836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914400" y="525780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Two students with the same attractor and different falloff produce completely different images. This is a design decision, not a setting.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FIELD IS AN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Build it in 2D and look at it before you attach a single tile.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260604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01   DISTANCE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2446020"/>
            <a:ext cx="260604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377440"/>
            <a:ext cx="2606040" cy="1371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Every point on the plane gets a number: how far to the attractor.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186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83279" y="1828800"/>
            <a:ext cx="260604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83279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02   FALLOFF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1860" y="2446020"/>
            <a:ext cx="260604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83279" y="2377440"/>
            <a:ext cx="2606040" cy="1371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11879" y="237744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That number is bent by f. Now it is a gradient you can see.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078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1828800"/>
            <a:ext cx="2606040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72200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03   REMAP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0780" y="2446020"/>
            <a:ext cx="260604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72200" y="2377440"/>
            <a:ext cx="2606040" cy="1371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0" y="237744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The gradient is pushed into the range your property needs.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2970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961120" y="1828800"/>
            <a:ext cx="2606040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961120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04   TILE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9700" y="2446020"/>
            <a:ext cx="260604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61120" y="2377440"/>
            <a:ext cx="2606040" cy="1371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89720" y="237744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Only now does geometry appear. The field was already finished.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069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4B4AC"/>
                </a:solidFill>
                <a:latin typeface="Arial"/>
              </a:rPr>
              <a:t>THE FIELD, READ AS A GREY VALUE ACROSS THE PLANE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370832"/>
            <a:ext cx="1219200" cy="457200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813560" y="4370832"/>
            <a:ext cx="1219200" cy="457200"/>
          </a:xfrm>
          <a:prstGeom prst="rect">
            <a:avLst/>
          </a:prstGeom>
          <a:solidFill>
            <a:srgbClr val="E8E8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032760" y="4370832"/>
            <a:ext cx="1219200" cy="457200"/>
          </a:xfrm>
          <a:prstGeom prst="rect">
            <a:avLst/>
          </a:prstGeom>
          <a:solidFill>
            <a:srgbClr val="CFCFC6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51959" y="4370832"/>
            <a:ext cx="1219200" cy="457200"/>
          </a:xfrm>
          <a:prstGeom prst="rect">
            <a:avLst/>
          </a:prstGeom>
          <a:solidFill>
            <a:srgbClr val="B4B4A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471159" y="4370832"/>
            <a:ext cx="1219200" cy="457200"/>
          </a:xfrm>
          <a:prstGeom prst="rect">
            <a:avLst/>
          </a:prstGeom>
          <a:solidFill>
            <a:srgbClr val="96969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690359" y="4370832"/>
            <a:ext cx="1219200" cy="457200"/>
          </a:xfrm>
          <a:prstGeom prst="rect">
            <a:avLst/>
          </a:prstGeom>
          <a:solidFill>
            <a:srgbClr val="75757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909559" y="4370832"/>
            <a:ext cx="1219200" cy="457200"/>
          </a:xfrm>
          <a:prstGeom prst="rect">
            <a:avLst/>
          </a:prstGeom>
          <a:solidFill>
            <a:srgbClr val="5252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128760" y="4370832"/>
            <a:ext cx="1219200" cy="457200"/>
          </a:xfrm>
          <a:prstGeom prst="rect">
            <a:avLst/>
          </a:prstGeom>
          <a:solidFill>
            <a:srgbClr val="32323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0347960" y="4370832"/>
            <a:ext cx="1219200" cy="457200"/>
          </a:xfrm>
          <a:prstGeom prst="rect">
            <a:avLst/>
          </a:prstGeom>
          <a:solidFill>
            <a:srgbClr val="1C1C1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62940" y="5207508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94360" y="5138928"/>
            <a:ext cx="10972800" cy="62179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5138928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IF THE GREY IMAGE IS NOT ALREADY A GOOD DRAWING, THE TILE WILL NOT SAVE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1.2 requires one field submitted this way — on its own, as an image, with its falloff named.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Distance comes out in model units. Your property needs a specific range. Remap is the bridge.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48640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48640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48640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THE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000000"/>
                </a:solidFill>
                <a:latin typeface="Courier New"/>
              </a:rPr>
              <a:t>t   = (d − dmin) / (dmax − dmin)</a:t>
            </a:r>
          </a:p>
          <a:p>
            <a:pPr algn="l">
              <a:lnSpc>
                <a:spcPct val="140000"/>
              </a:lnSpc>
            </a:pPr>
            <a:r>
              <a:rPr sz="1350">
                <a:solidFill>
                  <a:srgbClr val="000000"/>
                </a:solidFill>
                <a:latin typeface="Courier New"/>
              </a:rPr>
              <a:t>out = outmin + t × (outmax − outmin)</a:t>
            </a:r>
          </a:p>
          <a:p>
            <a:pPr algn="l">
              <a:lnSpc>
                <a:spcPct val="140000"/>
              </a:lnSpc>
            </a:pPr>
            <a:r>
              <a:rPr sz="8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350">
                <a:solidFill>
                  <a:srgbClr val="000000"/>
                </a:solidFill>
                <a:latin typeface="Courier New"/>
              </a:rPr>
              <a:t>d    0 … 8.4 units</a:t>
            </a:r>
          </a:p>
          <a:p>
            <a:pPr algn="l">
              <a:lnSpc>
                <a:spcPct val="140000"/>
              </a:lnSpc>
            </a:pPr>
            <a:r>
              <a:rPr sz="1350">
                <a:solidFill>
                  <a:srgbClr val="000000"/>
                </a:solidFill>
                <a:latin typeface="Courier New"/>
              </a:rPr>
              <a:t>out  0.1 … 1.0 radius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69380" y="1851660"/>
            <a:ext cx="516636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516636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0" y="1783080"/>
            <a:ext cx="516636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SUBTRACT. DIVIDE. MULTIPLY. ADD.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6177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Nothing here is new. It is the arithmetic from Week 2, applied to a distance instead of a coordinate.</a:t>
            </a:r>
          </a:p>
          <a:p>
            <a:pPr algn="l">
              <a:lnSpc>
                <a:spcPct val="130000"/>
              </a:lnSpc>
            </a:pPr>
            <a:r>
              <a:rPr sz="7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Get the ranges wrong and everything is the same size, or one element swallows the sheet.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23494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166360"/>
            <a:ext cx="10972800" cy="65836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1.2 REQUIRES YOUR REMAP RANGES DOCUMENTED ON THE SHEET — INPUT RANGE IN, OUTPUT RANGE 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TWO ATTRACTORS, THREE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With more than one attractor each point has a list of distances. How you reduce it is a design choice.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35204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5204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MIN</a:t>
            </a:r>
          </a:p>
        </p:txBody>
      </p:sp>
      <p:sp>
        <p:nvSpPr>
          <p:cNvPr id="9" name="Oval 8"/>
          <p:cNvSpPr/>
          <p:nvPr/>
        </p:nvSpPr>
        <p:spPr>
          <a:xfrm>
            <a:off x="955727" y="2464487"/>
            <a:ext cx="100225" cy="1002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51266" y="2674910"/>
            <a:ext cx="109147" cy="10914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47643" y="2886171"/>
            <a:ext cx="116393" cy="11639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47417" y="3100829"/>
            <a:ext cx="116844" cy="1168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50800" y="3319096"/>
            <a:ext cx="110079" cy="11007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55267" y="3538447"/>
            <a:ext cx="101145" cy="10114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59268" y="3757332"/>
            <a:ext cx="93142" cy="9314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62499" y="3975447"/>
            <a:ext cx="86681" cy="866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244783" y="2460935"/>
            <a:ext cx="107329" cy="10732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236988" y="2668024"/>
            <a:ext cx="122918" cy="12291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227984" y="2873904"/>
            <a:ext cx="140927" cy="14092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227265" y="3088069"/>
            <a:ext cx="142365" cy="14236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236019" y="3311707"/>
            <a:ext cx="124856" cy="12485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244072" y="3534644"/>
            <a:ext cx="108751" cy="10875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249807" y="3755263"/>
            <a:ext cx="97281" cy="972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253890" y="3974230"/>
            <a:ext cx="89115" cy="8911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535385" y="2458929"/>
            <a:ext cx="111341" cy="11134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524487" y="2662915"/>
            <a:ext cx="133136" cy="1331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503254" y="2856566"/>
            <a:ext cx="175602" cy="17560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499887" y="3068083"/>
            <a:ext cx="182336" cy="1823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522892" y="3305972"/>
            <a:ext cx="136326" cy="13632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534489" y="3532453"/>
            <a:ext cx="113132" cy="11313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541375" y="3754223"/>
            <a:ext cx="99361" cy="9936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1545928" y="3973660"/>
            <a:ext cx="90254" cy="9025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828960" y="2459896"/>
            <a:ext cx="109406" cy="10940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819720" y="2665540"/>
            <a:ext cx="127887" cy="12788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806701" y="2867405"/>
            <a:ext cx="153925" cy="1539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805435" y="3081023"/>
            <a:ext cx="156456" cy="15645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818481" y="3308953"/>
            <a:ext cx="130365" cy="13036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828158" y="3533514"/>
            <a:ext cx="111011" cy="11101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834473" y="3754713"/>
            <a:ext cx="98381" cy="983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837825" y="3972949"/>
            <a:ext cx="91677" cy="9167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2124763" y="2463091"/>
            <a:ext cx="103017" cy="10301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2119220" y="2672432"/>
            <a:ext cx="114103" cy="11410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2114220" y="2882316"/>
            <a:ext cx="124103" cy="12410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2113888" y="3096868"/>
            <a:ext cx="124767" cy="12476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2118607" y="3316471"/>
            <a:ext cx="115329" cy="11532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2124214" y="3536962"/>
            <a:ext cx="104114" cy="10411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2125361" y="3752993"/>
            <a:ext cx="101820" cy="1018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2125575" y="3968091"/>
            <a:ext cx="101392" cy="1013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2421062" y="2466782"/>
            <a:ext cx="95635" cy="9563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2417947" y="2678551"/>
            <a:ext cx="101864" cy="10186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2415714" y="2891202"/>
            <a:ext cx="106330" cy="10633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2415584" y="3105956"/>
            <a:ext cx="106590" cy="10659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2417645" y="3322901"/>
            <a:ext cx="102468" cy="10246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2413565" y="3533705"/>
            <a:ext cx="110628" cy="1106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2410343" y="3745367"/>
            <a:ext cx="117073" cy="11707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2410838" y="3960746"/>
            <a:ext cx="116083" cy="11608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2716968" y="2470080"/>
            <a:ext cx="89038" cy="8903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2715149" y="2683145"/>
            <a:ext cx="92676" cy="9267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2713991" y="2896871"/>
            <a:ext cx="94992" cy="949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2712537" y="3110301"/>
            <a:ext cx="97900" cy="97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2706672" y="3319320"/>
            <a:ext cx="109630" cy="10963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2698469" y="3526001"/>
            <a:ext cx="126037" cy="12603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2689929" y="3732345"/>
            <a:ext cx="143116" cy="14311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2691503" y="3948803"/>
            <a:ext cx="139968" cy="13996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3012296" y="2472800"/>
            <a:ext cx="83598" cy="8359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3011171" y="2686559"/>
            <a:ext cx="85849" cy="8584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3008724" y="2898996"/>
            <a:ext cx="90742" cy="9074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3004060" y="3109216"/>
            <a:ext cx="100070" cy="10007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2996968" y="3317008"/>
            <a:ext cx="114254" cy="11425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2984919" y="3519843"/>
            <a:ext cx="138353" cy="13835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2960795" y="3710603"/>
            <a:ext cx="186601" cy="18660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2968192" y="3932884"/>
            <a:ext cx="171807" cy="17180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3307106" y="2475002"/>
            <a:ext cx="79195" cy="7919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3304795" y="2687575"/>
            <a:ext cx="83817" cy="8381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3301607" y="2899271"/>
            <a:ext cx="90193" cy="9019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3297180" y="3109728"/>
            <a:ext cx="99046" cy="9904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290699" y="3318131"/>
            <a:ext cx="112009" cy="11200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3280752" y="3523068"/>
            <a:ext cx="131902" cy="13190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3267793" y="3724993"/>
            <a:ext cx="157821" cy="15782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3270557" y="3942641"/>
            <a:ext cx="152293" cy="15229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3600222" y="2475510"/>
            <a:ext cx="78179" cy="7817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3598045" y="2688217"/>
            <a:ext cx="82532" cy="8253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3595258" y="2900314"/>
            <a:ext cx="88106" cy="8810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3591630" y="3111570"/>
            <a:ext cx="95363" cy="9536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3586919" y="3321743"/>
            <a:ext cx="104784" cy="1047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3581282" y="3530990"/>
            <a:ext cx="116059" cy="11605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3576759" y="3741351"/>
            <a:ext cx="125105" cy="12510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3577486" y="3956962"/>
            <a:ext cx="123650" cy="1236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1591055" y="3008376"/>
            <a:ext cx="109728" cy="109728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3054096" y="3831336"/>
            <a:ext cx="109728" cy="109728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822960" y="43891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nearest one wins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93692" y="1851660"/>
            <a:ext cx="35204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4325112" y="1783080"/>
            <a:ext cx="35204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4325112" y="1783080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4553712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MAX</a:t>
            </a:r>
          </a:p>
        </p:txBody>
      </p:sp>
      <p:sp>
        <p:nvSpPr>
          <p:cNvPr id="96" name="Oval 95"/>
          <p:cNvSpPr/>
          <p:nvPr/>
        </p:nvSpPr>
        <p:spPr>
          <a:xfrm>
            <a:off x="4692811" y="2470819"/>
            <a:ext cx="87560" cy="875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4691704" y="2684596"/>
            <a:ext cx="89775" cy="8977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4690620" y="2898396"/>
            <a:ext cx="91943" cy="9194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4689617" y="3112277"/>
            <a:ext cx="93949" cy="9394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4688769" y="3326313"/>
            <a:ext cx="95644" cy="956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4688158" y="3540586"/>
            <a:ext cx="96866" cy="9686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4687854" y="3755166"/>
            <a:ext cx="97475" cy="9747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4687895" y="3970091"/>
            <a:ext cx="97393" cy="9739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4984120" y="2469520"/>
            <a:ext cx="90158" cy="9015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4982749" y="2683033"/>
            <a:ext cx="92900" cy="929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4981366" y="2896534"/>
            <a:ext cx="95667" cy="9566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4980044" y="3110096"/>
            <a:ext cx="98311" cy="9831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4978891" y="3323827"/>
            <a:ext cx="100616" cy="10061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4978037" y="3537857"/>
            <a:ext cx="102324" cy="10232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4977604" y="3752308"/>
            <a:ext cx="103191" cy="10319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4977662" y="3967250"/>
            <a:ext cx="103074" cy="10307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5275382" y="2468174"/>
            <a:ext cx="92850" cy="928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5273686" y="2681362"/>
            <a:ext cx="96242" cy="9624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5271910" y="2894470"/>
            <a:ext cx="99794" cy="9979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5270142" y="3107586"/>
            <a:ext cx="103330" cy="10333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5268533" y="3320861"/>
            <a:ext cx="106549" cy="10654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5267293" y="3534505"/>
            <a:ext cx="109028" cy="1090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5266647" y="3748743"/>
            <a:ext cx="110321" cy="11032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5266735" y="3963715"/>
            <a:ext cx="110144" cy="1101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5566647" y="2466831"/>
            <a:ext cx="95537" cy="9553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5564564" y="2679632"/>
            <a:ext cx="99702" cy="9970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5562287" y="2892239"/>
            <a:ext cx="104256" cy="10425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5559899" y="3104735"/>
            <a:ext cx="109033" cy="10903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5557593" y="3317313"/>
            <a:ext cx="113644" cy="1136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5555711" y="3530315"/>
            <a:ext cx="117409" cy="11740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5554685" y="3744173"/>
            <a:ext cx="119460" cy="1194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5556086" y="3960458"/>
            <a:ext cx="116659" cy="11665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5857994" y="2465570"/>
            <a:ext cx="98059" cy="9805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5855482" y="2677942"/>
            <a:ext cx="103083" cy="10308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5852599" y="2889943"/>
            <a:ext cx="108848" cy="1088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5849378" y="3101606"/>
            <a:ext cx="115290" cy="11529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Oval 131"/>
          <p:cNvSpPr/>
          <p:nvPr/>
        </p:nvSpPr>
        <p:spPr>
          <a:xfrm>
            <a:off x="5846009" y="3313121"/>
            <a:ext cx="122028" cy="1220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5843000" y="3524996"/>
            <a:ext cx="128046" cy="12804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5845444" y="3742324"/>
            <a:ext cx="123159" cy="12315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Oval 134"/>
          <p:cNvSpPr/>
          <p:nvPr/>
        </p:nvSpPr>
        <p:spPr>
          <a:xfrm>
            <a:off x="5850017" y="3961781"/>
            <a:ext cx="114013" cy="11401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Oval 135"/>
          <p:cNvSpPr/>
          <p:nvPr/>
        </p:nvSpPr>
        <p:spPr>
          <a:xfrm>
            <a:off x="6149532" y="2464500"/>
            <a:ext cx="100199" cy="10019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6146595" y="2676447"/>
            <a:ext cx="106072" cy="1060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Oval 137"/>
          <p:cNvSpPr/>
          <p:nvPr/>
        </p:nvSpPr>
        <p:spPr>
          <a:xfrm>
            <a:off x="6143060" y="2887796"/>
            <a:ext cx="113142" cy="11314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Oval 138"/>
          <p:cNvSpPr/>
          <p:nvPr/>
        </p:nvSpPr>
        <p:spPr>
          <a:xfrm>
            <a:off x="6138822" y="3098442"/>
            <a:ext cx="121619" cy="12161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Oval 139"/>
          <p:cNvSpPr/>
          <p:nvPr/>
        </p:nvSpPr>
        <p:spPr>
          <a:xfrm>
            <a:off x="6133909" y="3308413"/>
            <a:ext cx="131444" cy="1314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Oval 140"/>
          <p:cNvSpPr/>
          <p:nvPr/>
        </p:nvSpPr>
        <p:spPr>
          <a:xfrm>
            <a:off x="6137142" y="3526530"/>
            <a:ext cx="124979" cy="12497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Oval 141"/>
          <p:cNvSpPr/>
          <p:nvPr/>
        </p:nvSpPr>
        <p:spPr>
          <a:xfrm>
            <a:off x="6141023" y="3745295"/>
            <a:ext cx="117217" cy="11721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Oval 142"/>
          <p:cNvSpPr/>
          <p:nvPr/>
        </p:nvSpPr>
        <p:spPr>
          <a:xfrm>
            <a:off x="6144583" y="3963739"/>
            <a:ext cx="110097" cy="11009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Oval 143"/>
          <p:cNvSpPr/>
          <p:nvPr/>
        </p:nvSpPr>
        <p:spPr>
          <a:xfrm>
            <a:off x="6441385" y="2463745"/>
            <a:ext cx="101708" cy="10170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Oval 144"/>
          <p:cNvSpPr/>
          <p:nvPr/>
        </p:nvSpPr>
        <p:spPr>
          <a:xfrm>
            <a:off x="6438112" y="2675356"/>
            <a:ext cx="108254" cy="10825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Oval 145"/>
          <p:cNvSpPr/>
          <p:nvPr/>
        </p:nvSpPr>
        <p:spPr>
          <a:xfrm>
            <a:off x="6434015" y="2886143"/>
            <a:ext cx="116449" cy="11644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Oval 146"/>
          <p:cNvSpPr/>
          <p:nvPr/>
        </p:nvSpPr>
        <p:spPr>
          <a:xfrm>
            <a:off x="6430486" y="3097498"/>
            <a:ext cx="123507" cy="12350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Oval 147"/>
          <p:cNvSpPr/>
          <p:nvPr/>
        </p:nvSpPr>
        <p:spPr>
          <a:xfrm>
            <a:off x="6431809" y="3313705"/>
            <a:ext cx="120860" cy="1208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Oval 148"/>
          <p:cNvSpPr/>
          <p:nvPr/>
        </p:nvSpPr>
        <p:spPr>
          <a:xfrm>
            <a:off x="6434083" y="3530863"/>
            <a:ext cx="116313" cy="11631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Oval 149"/>
          <p:cNvSpPr/>
          <p:nvPr/>
        </p:nvSpPr>
        <p:spPr>
          <a:xfrm>
            <a:off x="6436748" y="3748412"/>
            <a:ext cx="110983" cy="11098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6439415" y="3965963"/>
            <a:ext cx="105648" cy="1056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Oval 151"/>
          <p:cNvSpPr/>
          <p:nvPr/>
        </p:nvSpPr>
        <p:spPr>
          <a:xfrm>
            <a:off x="6733665" y="2463417"/>
            <a:ext cx="102365" cy="10236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6730234" y="2674870"/>
            <a:ext cx="109226" cy="10922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Oval 153"/>
          <p:cNvSpPr/>
          <p:nvPr/>
        </p:nvSpPr>
        <p:spPr>
          <a:xfrm>
            <a:off x="6728183" y="2887703"/>
            <a:ext cx="113329" cy="11332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6728135" y="3102539"/>
            <a:ext cx="113424" cy="11342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Oval 155"/>
          <p:cNvSpPr/>
          <p:nvPr/>
        </p:nvSpPr>
        <p:spPr>
          <a:xfrm>
            <a:off x="6728949" y="3318237"/>
            <a:ext cx="111797" cy="11179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6730424" y="3534596"/>
            <a:ext cx="108846" cy="10884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Oval 157"/>
          <p:cNvSpPr/>
          <p:nvPr/>
        </p:nvSpPr>
        <p:spPr>
          <a:xfrm>
            <a:off x="6732276" y="3751332"/>
            <a:ext cx="105142" cy="10514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Oval 158"/>
          <p:cNvSpPr/>
          <p:nvPr/>
        </p:nvSpPr>
        <p:spPr>
          <a:xfrm>
            <a:off x="6734256" y="3968196"/>
            <a:ext cx="101182" cy="10118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Oval 159"/>
          <p:cNvSpPr/>
          <p:nvPr/>
        </p:nvSpPr>
        <p:spPr>
          <a:xfrm>
            <a:off x="7026424" y="2463568"/>
            <a:ext cx="102063" cy="10206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7025256" y="2677284"/>
            <a:ext cx="104399" cy="10439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Oval 161"/>
          <p:cNvSpPr/>
          <p:nvPr/>
        </p:nvSpPr>
        <p:spPr>
          <a:xfrm>
            <a:off x="7024665" y="2891577"/>
            <a:ext cx="105580" cy="10558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Oval 162"/>
          <p:cNvSpPr/>
          <p:nvPr/>
        </p:nvSpPr>
        <p:spPr>
          <a:xfrm>
            <a:off x="7024634" y="3106430"/>
            <a:ext cx="105642" cy="10564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Oval 163"/>
          <p:cNvSpPr/>
          <p:nvPr/>
        </p:nvSpPr>
        <p:spPr>
          <a:xfrm>
            <a:off x="7025169" y="3321849"/>
            <a:ext cx="104573" cy="10457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7026172" y="3537736"/>
            <a:ext cx="102567" cy="10256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Oval 165"/>
          <p:cNvSpPr/>
          <p:nvPr/>
        </p:nvSpPr>
        <p:spPr>
          <a:xfrm>
            <a:off x="7027489" y="3753937"/>
            <a:ext cx="99932" cy="9993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Oval 166"/>
          <p:cNvSpPr/>
          <p:nvPr/>
        </p:nvSpPr>
        <p:spPr>
          <a:xfrm>
            <a:off x="7028967" y="3970299"/>
            <a:ext cx="96976" cy="9697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Oval 167"/>
          <p:cNvSpPr/>
          <p:nvPr/>
        </p:nvSpPr>
        <p:spPr>
          <a:xfrm>
            <a:off x="7321505" y="2466041"/>
            <a:ext cx="97117" cy="9711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7320764" y="2680184"/>
            <a:ext cx="98598" cy="9859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Oval 169"/>
          <p:cNvSpPr/>
          <p:nvPr/>
        </p:nvSpPr>
        <p:spPr>
          <a:xfrm>
            <a:off x="7320355" y="2894659"/>
            <a:ext cx="99417" cy="9941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Oval 170"/>
          <p:cNvSpPr/>
          <p:nvPr/>
        </p:nvSpPr>
        <p:spPr>
          <a:xfrm>
            <a:off x="7320334" y="3109522"/>
            <a:ext cx="99459" cy="9945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Oval 171"/>
          <p:cNvSpPr/>
          <p:nvPr/>
        </p:nvSpPr>
        <p:spPr>
          <a:xfrm>
            <a:off x="7320704" y="3324776"/>
            <a:ext cx="98719" cy="9871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7321413" y="3540369"/>
            <a:ext cx="97301" cy="9730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Oval 173"/>
          <p:cNvSpPr/>
          <p:nvPr/>
        </p:nvSpPr>
        <p:spPr>
          <a:xfrm>
            <a:off x="7322374" y="3756214"/>
            <a:ext cx="95378" cy="9537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Oval 174"/>
          <p:cNvSpPr/>
          <p:nvPr/>
        </p:nvSpPr>
        <p:spPr>
          <a:xfrm>
            <a:off x="7323492" y="3972216"/>
            <a:ext cx="93143" cy="9314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Oval 175"/>
          <p:cNvSpPr/>
          <p:nvPr/>
        </p:nvSpPr>
        <p:spPr>
          <a:xfrm>
            <a:off x="5321808" y="3008376"/>
            <a:ext cx="109728" cy="109728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Oval 176"/>
          <p:cNvSpPr/>
          <p:nvPr/>
        </p:nvSpPr>
        <p:spPr>
          <a:xfrm>
            <a:off x="6784848" y="3831336"/>
            <a:ext cx="109728" cy="109728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4553712" y="43891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farthest one wins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124444" y="1851660"/>
            <a:ext cx="35204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8055864" y="1783080"/>
            <a:ext cx="35204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Rectangle 180"/>
          <p:cNvSpPr/>
          <p:nvPr/>
        </p:nvSpPr>
        <p:spPr>
          <a:xfrm>
            <a:off x="8055864" y="178308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8284464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MULTIPLY</a:t>
            </a:r>
          </a:p>
        </p:txBody>
      </p:sp>
      <p:sp>
        <p:nvSpPr>
          <p:cNvPr id="183" name="Oval 182"/>
          <p:cNvSpPr/>
          <p:nvPr/>
        </p:nvSpPr>
        <p:spPr>
          <a:xfrm>
            <a:off x="8429851" y="2477107"/>
            <a:ext cx="74985" cy="7498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Oval 183"/>
          <p:cNvSpPr/>
          <p:nvPr/>
        </p:nvSpPr>
        <p:spPr>
          <a:xfrm>
            <a:off x="8425912" y="2688052"/>
            <a:ext cx="82863" cy="8286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Oval 184"/>
          <p:cNvSpPr/>
          <p:nvPr/>
        </p:nvSpPr>
        <p:spPr>
          <a:xfrm>
            <a:off x="8422199" y="2899223"/>
            <a:ext cx="90288" cy="9028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Oval 185"/>
          <p:cNvSpPr/>
          <p:nvPr/>
        </p:nvSpPr>
        <p:spPr>
          <a:xfrm>
            <a:off x="8421039" y="3112947"/>
            <a:ext cx="92608" cy="9260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Oval 186"/>
          <p:cNvSpPr/>
          <p:nvPr/>
        </p:nvSpPr>
        <p:spPr>
          <a:xfrm>
            <a:off x="8422930" y="3329722"/>
            <a:ext cx="88826" cy="8882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Oval 187"/>
          <p:cNvSpPr/>
          <p:nvPr/>
        </p:nvSpPr>
        <p:spPr>
          <a:xfrm>
            <a:off x="8425883" y="3547559"/>
            <a:ext cx="82921" cy="8292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Oval 188"/>
          <p:cNvSpPr/>
          <p:nvPr/>
        </p:nvSpPr>
        <p:spPr>
          <a:xfrm>
            <a:off x="8428676" y="3765236"/>
            <a:ext cx="77334" cy="7733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Oval 189"/>
          <p:cNvSpPr/>
          <p:nvPr/>
        </p:nvSpPr>
        <p:spPr>
          <a:xfrm>
            <a:off x="8431069" y="3982513"/>
            <a:ext cx="72549" cy="7254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Oval 190"/>
          <p:cNvSpPr/>
          <p:nvPr/>
        </p:nvSpPr>
        <p:spPr>
          <a:xfrm>
            <a:off x="8719000" y="2473648"/>
            <a:ext cx="81903" cy="8190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Oval 191"/>
          <p:cNvSpPr/>
          <p:nvPr/>
        </p:nvSpPr>
        <p:spPr>
          <a:xfrm>
            <a:off x="8711714" y="2681246"/>
            <a:ext cx="96474" cy="9647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Oval 192"/>
          <p:cNvSpPr/>
          <p:nvPr/>
        </p:nvSpPr>
        <p:spPr>
          <a:xfrm>
            <a:off x="8702195" y="2886611"/>
            <a:ext cx="115512" cy="1155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Oval 193"/>
          <p:cNvSpPr/>
          <p:nvPr/>
        </p:nvSpPr>
        <p:spPr>
          <a:xfrm>
            <a:off x="8699943" y="3099243"/>
            <a:ext cx="120016" cy="12001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Oval 194"/>
          <p:cNvSpPr/>
          <p:nvPr/>
        </p:nvSpPr>
        <p:spPr>
          <a:xfrm>
            <a:off x="8706820" y="3321004"/>
            <a:ext cx="106262" cy="10626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Oval 195"/>
          <p:cNvSpPr/>
          <p:nvPr/>
        </p:nvSpPr>
        <p:spPr>
          <a:xfrm>
            <a:off x="8713056" y="3542124"/>
            <a:ext cx="93790" cy="9379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Oval 196"/>
          <p:cNvSpPr/>
          <p:nvPr/>
        </p:nvSpPr>
        <p:spPr>
          <a:xfrm>
            <a:off x="8717529" y="3761481"/>
            <a:ext cx="84844" cy="848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Oval 197"/>
          <p:cNvSpPr/>
          <p:nvPr/>
        </p:nvSpPr>
        <p:spPr>
          <a:xfrm>
            <a:off x="8720911" y="3979747"/>
            <a:ext cx="78081" cy="780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Oval 198"/>
          <p:cNvSpPr/>
          <p:nvPr/>
        </p:nvSpPr>
        <p:spPr>
          <a:xfrm>
            <a:off x="9008931" y="2470971"/>
            <a:ext cx="87257" cy="8725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Oval 199"/>
          <p:cNvSpPr/>
          <p:nvPr/>
        </p:nvSpPr>
        <p:spPr>
          <a:xfrm>
            <a:off x="8998076" y="2675000"/>
            <a:ext cx="108966" cy="10896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Oval 200"/>
          <p:cNvSpPr/>
          <p:nvPr/>
        </p:nvSpPr>
        <p:spPr>
          <a:xfrm>
            <a:off x="8974032" y="2865840"/>
            <a:ext cx="157055" cy="15705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Oval 201"/>
          <p:cNvSpPr/>
          <p:nvPr/>
        </p:nvSpPr>
        <p:spPr>
          <a:xfrm>
            <a:off x="8968200" y="3074892"/>
            <a:ext cx="168719" cy="16871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Oval 202"/>
          <p:cNvSpPr/>
          <p:nvPr/>
        </p:nvSpPr>
        <p:spPr>
          <a:xfrm>
            <a:off x="8990805" y="3312381"/>
            <a:ext cx="123509" cy="12350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Oval 203"/>
          <p:cNvSpPr/>
          <p:nvPr/>
        </p:nvSpPr>
        <p:spPr>
          <a:xfrm>
            <a:off x="9000568" y="3537028"/>
            <a:ext cx="103982" cy="10398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Oval 204"/>
          <p:cNvSpPr/>
          <p:nvPr/>
        </p:nvSpPr>
        <p:spPr>
          <a:xfrm>
            <a:off x="9006352" y="3757696"/>
            <a:ext cx="92414" cy="9241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Oval 205"/>
          <p:cNvSpPr/>
          <p:nvPr/>
        </p:nvSpPr>
        <p:spPr>
          <a:xfrm>
            <a:off x="9010555" y="3976783"/>
            <a:ext cx="84008" cy="8400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Oval 206"/>
          <p:cNvSpPr/>
          <p:nvPr/>
        </p:nvSpPr>
        <p:spPr>
          <a:xfrm>
            <a:off x="9301068" y="2470500"/>
            <a:ext cx="88199" cy="8819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Oval 207"/>
          <p:cNvSpPr/>
          <p:nvPr/>
        </p:nvSpPr>
        <p:spPr>
          <a:xfrm>
            <a:off x="9291153" y="2675469"/>
            <a:ext cx="108029" cy="10802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Oval 208"/>
          <p:cNvSpPr/>
          <p:nvPr/>
        </p:nvSpPr>
        <p:spPr>
          <a:xfrm>
            <a:off x="9275873" y="2875073"/>
            <a:ext cx="138589" cy="13858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Oval 209"/>
          <p:cNvSpPr/>
          <p:nvPr/>
        </p:nvSpPr>
        <p:spPr>
          <a:xfrm>
            <a:off x="9271884" y="3085968"/>
            <a:ext cx="146566" cy="14656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Oval 210"/>
          <p:cNvSpPr/>
          <p:nvPr/>
        </p:nvSpPr>
        <p:spPr>
          <a:xfrm>
            <a:off x="9282527" y="3311495"/>
            <a:ext cx="125281" cy="1252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Oval 211"/>
          <p:cNvSpPr/>
          <p:nvPr/>
        </p:nvSpPr>
        <p:spPr>
          <a:xfrm>
            <a:off x="9290188" y="3534040"/>
            <a:ext cx="109959" cy="10995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Oval 212"/>
          <p:cNvSpPr/>
          <p:nvPr/>
        </p:nvSpPr>
        <p:spPr>
          <a:xfrm>
            <a:off x="9295568" y="3754304"/>
            <a:ext cx="99198" cy="9919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Oval 213"/>
          <p:cNvSpPr/>
          <p:nvPr/>
        </p:nvSpPr>
        <p:spPr>
          <a:xfrm>
            <a:off x="9300050" y="3973670"/>
            <a:ext cx="90235" cy="9023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Oval 214"/>
          <p:cNvSpPr/>
          <p:nvPr/>
        </p:nvSpPr>
        <p:spPr>
          <a:xfrm>
            <a:off x="9595098" y="2471922"/>
            <a:ext cx="85354" cy="8535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Oval 215"/>
          <p:cNvSpPr/>
          <p:nvPr/>
        </p:nvSpPr>
        <p:spPr>
          <a:xfrm>
            <a:off x="9588196" y="2679904"/>
            <a:ext cx="99159" cy="9915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Oval 216"/>
          <p:cNvSpPr/>
          <p:nvPr/>
        </p:nvSpPr>
        <p:spPr>
          <a:xfrm>
            <a:off x="9580694" y="2887286"/>
            <a:ext cx="114163" cy="11416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Oval 217"/>
          <p:cNvSpPr/>
          <p:nvPr/>
        </p:nvSpPr>
        <p:spPr>
          <a:xfrm>
            <a:off x="9577044" y="3098520"/>
            <a:ext cx="121463" cy="12146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Oval 218"/>
          <p:cNvSpPr/>
          <p:nvPr/>
        </p:nvSpPr>
        <p:spPr>
          <a:xfrm>
            <a:off x="9578376" y="3314736"/>
            <a:ext cx="118798" cy="11879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Oval 219"/>
          <p:cNvSpPr/>
          <p:nvPr/>
        </p:nvSpPr>
        <p:spPr>
          <a:xfrm>
            <a:off x="9581316" y="3532560"/>
            <a:ext cx="112918" cy="11291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Oval 220"/>
          <p:cNvSpPr/>
          <p:nvPr/>
        </p:nvSpPr>
        <p:spPr>
          <a:xfrm>
            <a:off x="9584781" y="3750909"/>
            <a:ext cx="105989" cy="10598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Oval 221"/>
          <p:cNvSpPr/>
          <p:nvPr/>
        </p:nvSpPr>
        <p:spPr>
          <a:xfrm>
            <a:off x="9589047" y="3970059"/>
            <a:ext cx="97457" cy="9745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Oval 222"/>
          <p:cNvSpPr/>
          <p:nvPr/>
        </p:nvSpPr>
        <p:spPr>
          <a:xfrm>
            <a:off x="9889771" y="2473987"/>
            <a:ext cx="81224" cy="8122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Oval 223"/>
          <p:cNvSpPr/>
          <p:nvPr/>
        </p:nvSpPr>
        <p:spPr>
          <a:xfrm>
            <a:off x="9884834" y="2683934"/>
            <a:ext cx="91099" cy="9109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Oval 224"/>
          <p:cNvSpPr/>
          <p:nvPr/>
        </p:nvSpPr>
        <p:spPr>
          <a:xfrm>
            <a:off x="9879679" y="2893663"/>
            <a:ext cx="101408" cy="10140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Oval 225"/>
          <p:cNvSpPr/>
          <p:nvPr/>
        </p:nvSpPr>
        <p:spPr>
          <a:xfrm>
            <a:off x="9875639" y="3104507"/>
            <a:ext cx="109488" cy="10948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Oval 226"/>
          <p:cNvSpPr/>
          <p:nvPr/>
        </p:nvSpPr>
        <p:spPr>
          <a:xfrm>
            <a:off x="9873218" y="3316970"/>
            <a:ext cx="114331" cy="11433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Oval 227"/>
          <p:cNvSpPr/>
          <p:nvPr/>
        </p:nvSpPr>
        <p:spPr>
          <a:xfrm>
            <a:off x="9871958" y="3530594"/>
            <a:ext cx="116851" cy="11685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Oval 228"/>
          <p:cNvSpPr/>
          <p:nvPr/>
        </p:nvSpPr>
        <p:spPr>
          <a:xfrm>
            <a:off x="9872488" y="3746008"/>
            <a:ext cx="115791" cy="11579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Oval 229"/>
          <p:cNvSpPr/>
          <p:nvPr/>
        </p:nvSpPr>
        <p:spPr>
          <a:xfrm>
            <a:off x="9876486" y="3964890"/>
            <a:ext cx="107795" cy="10779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Oval 230"/>
          <p:cNvSpPr/>
          <p:nvPr/>
        </p:nvSpPr>
        <p:spPr>
          <a:xfrm>
            <a:off x="10184440" y="2476048"/>
            <a:ext cx="77102" cy="7710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Oval 231"/>
          <p:cNvSpPr/>
          <p:nvPr/>
        </p:nvSpPr>
        <p:spPr>
          <a:xfrm>
            <a:off x="10180606" y="2687098"/>
            <a:ext cx="84771" cy="8477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Oval 232"/>
          <p:cNvSpPr/>
          <p:nvPr/>
        </p:nvSpPr>
        <p:spPr>
          <a:xfrm>
            <a:off x="10176336" y="2897712"/>
            <a:ext cx="93310" cy="9331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Oval 233"/>
          <p:cNvSpPr/>
          <p:nvPr/>
        </p:nvSpPr>
        <p:spPr>
          <a:xfrm>
            <a:off x="10171886" y="3108146"/>
            <a:ext cx="102210" cy="10221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Oval 234"/>
          <p:cNvSpPr/>
          <p:nvPr/>
        </p:nvSpPr>
        <p:spPr>
          <a:xfrm>
            <a:off x="10167057" y="3318201"/>
            <a:ext cx="111868" cy="11186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Oval 235"/>
          <p:cNvSpPr/>
          <p:nvPr/>
        </p:nvSpPr>
        <p:spPr>
          <a:xfrm>
            <a:off x="10161103" y="3527131"/>
            <a:ext cx="123776" cy="12377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Oval 236"/>
          <p:cNvSpPr/>
          <p:nvPr/>
        </p:nvSpPr>
        <p:spPr>
          <a:xfrm>
            <a:off x="10155435" y="3736347"/>
            <a:ext cx="135113" cy="13511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Oval 237"/>
          <p:cNvSpPr/>
          <p:nvPr/>
        </p:nvSpPr>
        <p:spPr>
          <a:xfrm>
            <a:off x="10159949" y="3955745"/>
            <a:ext cx="126085" cy="12608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Oval 238"/>
          <p:cNvSpPr/>
          <p:nvPr/>
        </p:nvSpPr>
        <p:spPr>
          <a:xfrm>
            <a:off x="10478969" y="2477969"/>
            <a:ext cx="73261" cy="7326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Oval 239"/>
          <p:cNvSpPr/>
          <p:nvPr/>
        </p:nvSpPr>
        <p:spPr>
          <a:xfrm>
            <a:off x="10475871" y="2689755"/>
            <a:ext cx="79456" cy="7945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Oval 240"/>
          <p:cNvSpPr/>
          <p:nvPr/>
        </p:nvSpPr>
        <p:spPr>
          <a:xfrm>
            <a:off x="10472198" y="2900966"/>
            <a:ext cx="86802" cy="8680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Oval 241"/>
          <p:cNvSpPr/>
          <p:nvPr/>
        </p:nvSpPr>
        <p:spPr>
          <a:xfrm>
            <a:off x="10467755" y="3111407"/>
            <a:ext cx="95689" cy="9568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Oval 242"/>
          <p:cNvSpPr/>
          <p:nvPr/>
        </p:nvSpPr>
        <p:spPr>
          <a:xfrm>
            <a:off x="10461742" y="3320278"/>
            <a:ext cx="107715" cy="10771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Oval 243"/>
          <p:cNvSpPr/>
          <p:nvPr/>
        </p:nvSpPr>
        <p:spPr>
          <a:xfrm>
            <a:off x="10451586" y="3525006"/>
            <a:ext cx="128027" cy="12802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Oval 244"/>
          <p:cNvSpPr/>
          <p:nvPr/>
        </p:nvSpPr>
        <p:spPr>
          <a:xfrm>
            <a:off x="10427865" y="3716169"/>
            <a:ext cx="175468" cy="17546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Oval 245"/>
          <p:cNvSpPr/>
          <p:nvPr/>
        </p:nvSpPr>
        <p:spPr>
          <a:xfrm>
            <a:off x="10438445" y="3941633"/>
            <a:ext cx="154308" cy="15430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Oval 246"/>
          <p:cNvSpPr/>
          <p:nvPr/>
        </p:nvSpPr>
        <p:spPr>
          <a:xfrm>
            <a:off x="10773359" y="2479751"/>
            <a:ext cx="69697" cy="6969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Oval 247"/>
          <p:cNvSpPr/>
          <p:nvPr/>
        </p:nvSpPr>
        <p:spPr>
          <a:xfrm>
            <a:off x="10770875" y="2692151"/>
            <a:ext cx="74665" cy="7466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Oval 248"/>
          <p:cNvSpPr/>
          <p:nvPr/>
        </p:nvSpPr>
        <p:spPr>
          <a:xfrm>
            <a:off x="10767859" y="2904019"/>
            <a:ext cx="80697" cy="8069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Oval 249"/>
          <p:cNvSpPr/>
          <p:nvPr/>
        </p:nvSpPr>
        <p:spPr>
          <a:xfrm>
            <a:off x="10764062" y="3115106"/>
            <a:ext cx="88290" cy="8829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Oval 250"/>
          <p:cNvSpPr/>
          <p:nvPr/>
        </p:nvSpPr>
        <p:spPr>
          <a:xfrm>
            <a:off x="10758847" y="3324775"/>
            <a:ext cx="98720" cy="98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Oval 251"/>
          <p:cNvSpPr/>
          <p:nvPr/>
        </p:nvSpPr>
        <p:spPr>
          <a:xfrm>
            <a:off x="10750772" y="3531584"/>
            <a:ext cx="114871" cy="11487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Oval 252"/>
          <p:cNvSpPr/>
          <p:nvPr/>
        </p:nvSpPr>
        <p:spPr>
          <a:xfrm>
            <a:off x="10739415" y="3735111"/>
            <a:ext cx="137585" cy="13758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Oval 253"/>
          <p:cNvSpPr/>
          <p:nvPr/>
        </p:nvSpPr>
        <p:spPr>
          <a:xfrm>
            <a:off x="10744077" y="3954657"/>
            <a:ext cx="128261" cy="12826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Oval 254"/>
          <p:cNvSpPr/>
          <p:nvPr/>
        </p:nvSpPr>
        <p:spPr>
          <a:xfrm>
            <a:off x="11067609" y="2481393"/>
            <a:ext cx="66412" cy="6641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Oval 255"/>
          <p:cNvSpPr/>
          <p:nvPr/>
        </p:nvSpPr>
        <p:spPr>
          <a:xfrm>
            <a:off x="11065681" y="2694349"/>
            <a:ext cx="70269" cy="7026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Oval 256"/>
          <p:cNvSpPr/>
          <p:nvPr/>
        </p:nvSpPr>
        <p:spPr>
          <a:xfrm>
            <a:off x="11063377" y="2906929"/>
            <a:ext cx="74877" cy="7487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Oval 257"/>
          <p:cNvSpPr/>
          <p:nvPr/>
        </p:nvSpPr>
        <p:spPr>
          <a:xfrm>
            <a:off x="11060585" y="3119021"/>
            <a:ext cx="80460" cy="804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Oval 258"/>
          <p:cNvSpPr/>
          <p:nvPr/>
        </p:nvSpPr>
        <p:spPr>
          <a:xfrm>
            <a:off x="11057157" y="3330477"/>
            <a:ext cx="87317" cy="8731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Oval 259"/>
          <p:cNvSpPr/>
          <p:nvPr/>
        </p:nvSpPr>
        <p:spPr>
          <a:xfrm>
            <a:off x="11053193" y="3541397"/>
            <a:ext cx="95244" cy="952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Oval 260"/>
          <p:cNvSpPr/>
          <p:nvPr/>
        </p:nvSpPr>
        <p:spPr>
          <a:xfrm>
            <a:off x="11050350" y="3753438"/>
            <a:ext cx="100930" cy="10093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Oval 261"/>
          <p:cNvSpPr/>
          <p:nvPr/>
        </p:nvSpPr>
        <p:spPr>
          <a:xfrm>
            <a:off x="11052149" y="3970121"/>
            <a:ext cx="97333" cy="9733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Oval 262"/>
          <p:cNvSpPr/>
          <p:nvPr/>
        </p:nvSpPr>
        <p:spPr>
          <a:xfrm>
            <a:off x="9052560" y="3008376"/>
            <a:ext cx="109728" cy="109728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Oval 263"/>
          <p:cNvSpPr/>
          <p:nvPr/>
        </p:nvSpPr>
        <p:spPr>
          <a:xfrm>
            <a:off x="10515600" y="3831336"/>
            <a:ext cx="109728" cy="109728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TextBox 264"/>
          <p:cNvSpPr txBox="1"/>
          <p:nvPr/>
        </p:nvSpPr>
        <p:spPr>
          <a:xfrm>
            <a:off x="8284464" y="438912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both, multiplied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62940" y="532638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Rectangle 266"/>
          <p:cNvSpPr/>
          <p:nvPr/>
        </p:nvSpPr>
        <p:spPr>
          <a:xfrm>
            <a:off x="594360" y="5257800"/>
            <a:ext cx="10972800" cy="65836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TextBox 267"/>
          <p:cNvSpPr txBox="1"/>
          <p:nvPr/>
        </p:nvSpPr>
        <p:spPr>
          <a:xfrm>
            <a:off x="914400" y="525780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Same two attractors in all three. Only the reduction changed — territories, a single central blob, or two peaks with a pinch between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UNDERNEATH, IT IS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Points, distances, sizes. Three lists, same length, same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237744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9568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249174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423160"/>
            <a:ext cx="2377440" cy="457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231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p₀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" y="304038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2971800"/>
            <a:ext cx="2377440" cy="457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71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p₁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58902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520440"/>
            <a:ext cx="2377440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5204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5204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p₂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" y="413766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94360" y="4069080"/>
            <a:ext cx="2377440" cy="457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0690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p₃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" y="468630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94360" y="4617720"/>
            <a:ext cx="2377440" cy="457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46177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617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p₄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68980" y="189738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200400" y="1828800"/>
            <a:ext cx="237744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200400" y="19568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DISTANCES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68980" y="249174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200400" y="2423160"/>
            <a:ext cx="2377440" cy="457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383280" y="24231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24231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2.1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8980" y="304038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200400" y="2971800"/>
            <a:ext cx="2377440" cy="457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383280" y="29718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[1]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2971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0.4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68980" y="358902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3200400" y="3520440"/>
            <a:ext cx="2377440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383280" y="35204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[2]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9080" y="35204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5.8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68980" y="413766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3200400" y="4069080"/>
            <a:ext cx="2377440" cy="457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383280" y="40690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[3]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9080" y="40690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3.2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68980" y="468630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200400" y="4617720"/>
            <a:ext cx="2377440" cy="457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383280" y="46177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[4]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69080" y="4617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1.0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75020" y="189738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06440" y="1828800"/>
            <a:ext cx="2377440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806440" y="19568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SIZES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5020" y="249174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806440" y="2423160"/>
            <a:ext cx="2377440" cy="457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989320" y="24231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[0]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24231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0.42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75020" y="304038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806440" y="2971800"/>
            <a:ext cx="2377440" cy="457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989320" y="29718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[1]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0" y="2971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0.95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5020" y="358902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5806440" y="3520440"/>
            <a:ext cx="2377440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5989320" y="35204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[2]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0" y="35204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0.10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75020" y="413766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806440" y="4069080"/>
            <a:ext cx="2377440" cy="457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989320" y="40690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[3]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75120" y="40690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0.28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75020" y="4686300"/>
            <a:ext cx="23774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5806440" y="4617720"/>
            <a:ext cx="2377440" cy="457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5989320" y="46177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>
                <a:solidFill>
                  <a:srgbClr val="6B6B6B"/>
                </a:solidFill>
                <a:latin typeface="Courier New"/>
              </a:rPr>
              <a:t>[4]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5120" y="4617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ourier New"/>
              </a:rPr>
              <a:t>0.71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81059" y="1897380"/>
            <a:ext cx="3154680" cy="34290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8412480" y="1828800"/>
            <a:ext cx="3154680" cy="34290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8412480" y="1828800"/>
            <a:ext cx="315468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8641080" y="182880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PARALLEL LISTS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41080" y="2514600"/>
            <a:ext cx="269748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Item [2] in every list describes the same element.</a:t>
            </a:r>
          </a:p>
          <a:p>
            <a:pPr algn="l">
              <a:lnSpc>
                <a:spcPct val="125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Break that correspondence — by sorting or culling one of them — and the sizes attach to the wrong points.</a:t>
            </a:r>
          </a:p>
          <a:p>
            <a:pPr algn="l">
              <a:lnSpc>
                <a:spcPct val="125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That is what “managing lists” means, and it is next week's whole subject.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2940" y="5692140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594360" y="5623560"/>
            <a:ext cx="10972800" cy="62179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914400" y="5623560"/>
            <a:ext cx="103327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When a field looks scrambled, it is almost always a broken correspondence — not a broken formula.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SITE IS ALSO A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A real place, imported, is a few hundred thousand points. You already know what to do with 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77724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777240" cy="8686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1625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97380"/>
            <a:ext cx="992124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828800"/>
            <a:ext cx="9921240" cy="868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947672"/>
            <a:ext cx="9372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PICK THE 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286000"/>
            <a:ext cx="9372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Somewhere you know. Google 3D Tiles, streamed into Blender.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" y="2903220"/>
            <a:ext cx="77724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2834640"/>
            <a:ext cx="777240" cy="8686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60" y="316839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14499" y="2903220"/>
            <a:ext cx="992124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645919" y="2834640"/>
            <a:ext cx="9921240" cy="868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920240" y="2953512"/>
            <a:ext cx="9372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IMPORT THE 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291840"/>
            <a:ext cx="9372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Photorealistic mesh, georeferenced. Set the origin and the scale before anything else.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" y="3909060"/>
            <a:ext cx="77724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94360" y="3840480"/>
            <a:ext cx="777240" cy="8686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417423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14499" y="3909060"/>
            <a:ext cx="992124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645919" y="3840480"/>
            <a:ext cx="9921240" cy="868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920240" y="3959352"/>
            <a:ext cx="9372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SAMPLE TO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297680"/>
            <a:ext cx="9372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Distribute points on the surface, or take the vertices. Now it is a point cloud.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" y="4914900"/>
            <a:ext cx="77724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94360" y="4846320"/>
            <a:ext cx="777240" cy="86868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518007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14499" y="4914900"/>
            <a:ext cx="992124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645919" y="4846320"/>
            <a:ext cx="9921240" cy="868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920240" y="4965192"/>
            <a:ext cx="9372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DECIMATE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303520"/>
            <a:ext cx="9372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Calibri"/>
              </a:rPr>
              <a:t>Half a million points will not survive an instanced module. Cut it down and state both counts.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" y="6012180"/>
            <a:ext cx="10972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94360" y="5943600"/>
            <a:ext cx="1097280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THE DIFFERENCE FROM LAST WEEK: YOU DID NOT PLACE THESE POINTS. YOU RECEIVED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A DIAGRAM MAKES A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A render shows you the site. A diagram argues something about it. 1.2 wants the second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39496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39496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394960" cy="502920"/>
          </a:xfrm>
          <a:prstGeom prst="rect">
            <a:avLst/>
          </a:prstGeom>
          <a:solidFill>
            <a:srgbClr val="B4B4AC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A PICTURE OF A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4754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Shows what is there.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Reads the same from any angle.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Could be of anywhere.</a:t>
            </a:r>
          </a:p>
          <a:p>
            <a:pPr algn="l">
              <a:lnSpc>
                <a:spcPct val="135000"/>
              </a:lnSpc>
            </a:pPr>
            <a:r>
              <a:rPr sz="7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Nothing has been measured, so nothing can be wrong — and nothing can be argued with.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0780" y="1851660"/>
            <a:ext cx="539496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39496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39496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A DIAGRAM OF A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754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Shows one thing, measured.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Suppresses everything else on purpose.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Could only be of this place.</a:t>
            </a:r>
          </a:p>
          <a:p>
            <a:pPr algn="l">
              <a:lnSpc>
                <a:spcPct val="135000"/>
              </a:lnSpc>
            </a:pPr>
            <a:r>
              <a:rPr sz="7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Someone can look at it and disagree. That is the test.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189220"/>
            <a:ext cx="10972800" cy="12344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120640"/>
            <a:ext cx="10972800" cy="12344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5285232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THREE THINGS YOUR SHEET HAS TO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Calibri"/>
              </a:rPr>
              <a:t>WHAT YOU MEASURED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715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Calibri"/>
              </a:rPr>
              <a:t>WHERE THE ATTRACTOR SITS, AND WHY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715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Calibri"/>
              </a:rPr>
              <a:t>WHAT VARIES, AND OVER WHAT RANGE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WHAT COUNTS AS SITE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Your choice of subject. Not your choice whether to defend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2606040" cy="23317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2606040" cy="23317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26060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ACCESS + MOVEMENT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Entrances, desire lines, stops, crossings, parking. Distance from how people actually arrive.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1860" y="1897380"/>
            <a:ext cx="2606040" cy="23317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383279" y="1828800"/>
            <a:ext cx="2606040" cy="23317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83279" y="1828800"/>
            <a:ext cx="26060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11879" y="18288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51460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Sun and shade, prevailing wind, noise sources, canopy, water, elevation and flood 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0780" y="1897380"/>
            <a:ext cx="2606040" cy="23317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828800"/>
            <a:ext cx="2606040" cy="23317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72200" y="1828800"/>
            <a:ext cx="260604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PROGRAM +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What each mass does. Density, frontage, vacancy, opening hours, where people stop rather than pass.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9700" y="1897380"/>
            <a:ext cx="2606040" cy="23317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961120" y="1828800"/>
            <a:ext cx="2606040" cy="23317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961120" y="1828800"/>
            <a:ext cx="26060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89720" y="18288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EDGE +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51460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Property lines, setbacks, thresholds, walls, the seam where one condition becomes another.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" y="4549140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94360" y="4480560"/>
            <a:ext cx="10972800" cy="62179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4480560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PICK ONE AND GO DEEP. FOUR SHALLOW LAYERS IS A MAP, NOT A DIAGRAM.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49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B4B4AC"/>
                </a:solidFill>
                <a:latin typeface="Calibri"/>
              </a:rPr>
              <a:t>The attractor is where your claim lives. “The field intensifies toward the north entrance” is a claim. “I put a point there because it looked good” is not — and it is visible in the drawing either way.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WHEN TWO LISTS MEET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4 points, 2 attractors. How do they pair up? The software decides — unless you decide.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LONGEST LIST</a:t>
            </a:r>
          </a:p>
        </p:txBody>
      </p:sp>
      <p:sp>
        <p:nvSpPr>
          <p:cNvPr id="9" name="Oval 8"/>
          <p:cNvSpPr/>
          <p:nvPr/>
        </p:nvSpPr>
        <p:spPr>
          <a:xfrm>
            <a:off x="1069848" y="2532888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069848" y="2862072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69848" y="3191256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069848" y="3520440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401568" y="2715768"/>
            <a:ext cx="146304" cy="146304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3401568" y="3374135"/>
            <a:ext cx="146304" cy="146304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3977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Calibri"/>
              </a:rPr>
              <a:t>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977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Calibri"/>
              </a:rPr>
              <a:t>ATTRACTORS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4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9028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>
                <a:solidFill>
                  <a:srgbClr val="000000"/>
                </a:solidFill>
                <a:latin typeface="Calibri"/>
              </a:rPr>
              <a:t>The short list repeats its last item.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3692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25112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325112" y="1783080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53712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SHORTEST LIST</a:t>
            </a:r>
          </a:p>
        </p:txBody>
      </p:sp>
      <p:sp>
        <p:nvSpPr>
          <p:cNvPr id="23" name="Oval 22"/>
          <p:cNvSpPr/>
          <p:nvPr/>
        </p:nvSpPr>
        <p:spPr>
          <a:xfrm>
            <a:off x="4800600" y="2532888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4800600" y="2862072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800600" y="3191256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800600" y="3520440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132320" y="2715768"/>
            <a:ext cx="146304" cy="146304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132320" y="3374135"/>
            <a:ext cx="146304" cy="146304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53712" y="3977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Calibri"/>
              </a:rPr>
              <a:t>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3977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Calibri"/>
              </a:rPr>
              <a:t>ATTRACTORS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2976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2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59028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>
                <a:solidFill>
                  <a:srgbClr val="000000"/>
                </a:solidFill>
                <a:latin typeface="Calibri"/>
              </a:rPr>
              <a:t>Stops when the short list runs out.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4444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055864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055864" y="178308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84464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CROSS REFERENCE</a:t>
            </a:r>
          </a:p>
        </p:txBody>
      </p:sp>
      <p:sp>
        <p:nvSpPr>
          <p:cNvPr id="37" name="Oval 36"/>
          <p:cNvSpPr/>
          <p:nvPr/>
        </p:nvSpPr>
        <p:spPr>
          <a:xfrm>
            <a:off x="8531352" y="2532888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531352" y="2862072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8531352" y="3191256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8531352" y="3520440"/>
            <a:ext cx="146304" cy="1463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0863072" y="2715768"/>
            <a:ext cx="146304" cy="146304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863072" y="3374135"/>
            <a:ext cx="146304" cy="146304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84464" y="3977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Calibri"/>
              </a:rPr>
              <a:t>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96144" y="3977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Calibri"/>
              </a:rPr>
              <a:t>ATTRACTORS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4464" y="42976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8 results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4464" y="459028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>
                <a:solidFill>
                  <a:srgbClr val="000000"/>
                </a:solidFill>
                <a:latin typeface="Calibri"/>
              </a:rPr>
              <a:t>Every point against every attractor.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" y="523494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94360" y="5166360"/>
            <a:ext cx="10972800" cy="65836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14400" y="516636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This is why your two-attractor field went wrong. Longest List is the default, and the default is a decision someone else made for you.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GRAFT, FLATTEN,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Three operations that change list structure rather than list contents.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GRAFT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5059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000000"/>
                </a:solidFill>
                <a:latin typeface="Courier New"/>
              </a:rPr>
              <a:t>one list  →  one branch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Each item becomes its own branch, so the next operation treats them separately instead of pairing them off.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3692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25112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83080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53712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FLATTEN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45059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000000"/>
                </a:solidFill>
                <a:latin typeface="Courier New"/>
              </a:rPr>
              <a:t>many branches  →  one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88036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The opposite. Useful at the end — destructive in the middle, because it throws away the structure you built.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4444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55864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55864" y="178308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84464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WRAP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45059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000000"/>
                </a:solidFill>
                <a:latin typeface="Courier New"/>
              </a:rPr>
              <a:t>index past the end  →  back to the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88036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i mod n. An index of 6 in a list of 4 becomes 2. Cheap repetition, and the source of a lot of accidental patterns.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523494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5166360"/>
            <a:ext cx="10972800" cy="65836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Structure is not content. Every one of these leaves the numbers alone and changes only who is grouped with whom.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2940" y="635508"/>
            <a:ext cx="2194560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2194560" cy="38404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ISSUED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521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DF7"/>
                </a:solidFill>
                <a:latin typeface="Arial"/>
              </a:rPr>
              <a:t>1.2 — POINT: SITE ANALYSIS FIELDS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10512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9384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E500"/>
                </a:solidFill>
                <a:latin typeface="Arial"/>
              </a:rPr>
              <a:t>STUDY A REVIEWED CLASS 6 — SEP 29  ·  DUE CLASS 8 — OCT 13, WITH THE MIDTERM   /   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DF7"/>
                </a:solidFill>
                <a:latin typeface="Calibri"/>
              </a:rPr>
              <a:t>An attractor turns distance into a value you can draw with. Study A builds that instrument on a flat plane, where you can see exactly what it does. Study B points it at a real site and uses it to diagram something you found there.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" y="3680460"/>
            <a:ext cx="5394960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5394960" cy="4114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371703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STUDY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" y="4183380"/>
            <a:ext cx="5394960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4114800"/>
            <a:ext cx="5394960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27939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THE INSTRUMENT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Attractors on a flat field, driving your 1.1 tile. The field shown as an image before it drives anything.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0780" y="3680460"/>
            <a:ext cx="5394960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72200" y="3611880"/>
            <a:ext cx="5394960" cy="4114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72200" y="371703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STUDY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0780" y="4183380"/>
            <a:ext cx="5394960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72200" y="4114800"/>
            <a:ext cx="5394960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46520" y="427939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THE 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66344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A site of your choosing, imported as a point field, diagrammed with attractors anchored in what you found there.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5920740"/>
            <a:ext cx="10972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5852160"/>
            <a:ext cx="1097280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8521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STUDY A IS PINNED UP IN TWO WEEKS. IT IS NOT A DRAFT OF STUDY B — IT IS HOW YOU LEARN THE TOOL.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Counting these earns a C. The rest is judgement.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05939"/>
            <a:ext cx="137160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37360"/>
            <a:ext cx="1371600" cy="43891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85623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37360"/>
            <a:ext cx="9281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>
                <a:solidFill>
                  <a:srgbClr val="000000"/>
                </a:solidFill>
                <a:latin typeface="Calibri"/>
              </a:rPr>
              <a:t>attractor types across the set: single point, multiple points, curve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" y="2331720"/>
            <a:ext cx="137160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2263139"/>
            <a:ext cx="1371600" cy="43891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238201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63139"/>
            <a:ext cx="9281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>
                <a:solidFill>
                  <a:srgbClr val="000000"/>
                </a:solidFill>
                <a:latin typeface="Calibri"/>
              </a:rPr>
              <a:t>field shown on its own as a 2D image, before it drives geometry, falloff named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" y="2857500"/>
            <a:ext cx="137160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94360" y="2788920"/>
            <a:ext cx="1371600" cy="43891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290779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3+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788920"/>
            <a:ext cx="9281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>
                <a:solidFill>
                  <a:srgbClr val="000000"/>
                </a:solidFill>
                <a:latin typeface="Calibri"/>
              </a:rPr>
              <a:t>distinct parameters driven by distance — scale, rotation, density, height, colour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383280"/>
            <a:ext cx="137160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314700"/>
            <a:ext cx="1371600" cy="43891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4335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1+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314700"/>
            <a:ext cx="9281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>
                <a:solidFill>
                  <a:srgbClr val="000000"/>
                </a:solidFill>
                <a:latin typeface="Calibri"/>
              </a:rPr>
              <a:t>explicit remap, with input and output ranges stated on the sheet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" y="3909060"/>
            <a:ext cx="137160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94360" y="3840480"/>
            <a:ext cx="1371600" cy="43891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4360" y="39593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840480"/>
            <a:ext cx="9281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>
                <a:solidFill>
                  <a:srgbClr val="000000"/>
                </a:solidFill>
                <a:latin typeface="Calibri"/>
              </a:rPr>
              <a:t>site imported and reduced to a point field — counts stated before and after, scale and origin declared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" y="4434840"/>
            <a:ext cx="137160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94360" y="4366260"/>
            <a:ext cx="1371600" cy="43891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44851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366260"/>
            <a:ext cx="9281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>
                <a:solidFill>
                  <a:srgbClr val="000000"/>
                </a:solidFill>
                <a:latin typeface="Calibri"/>
              </a:rPr>
              <a:t>site condition measured and named — access, environment, use, or edge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4960620"/>
            <a:ext cx="137160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4892040"/>
            <a:ext cx="1371600" cy="43891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0109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1+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892040"/>
            <a:ext cx="9281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>
                <a:solidFill>
                  <a:srgbClr val="000000"/>
                </a:solidFill>
                <a:latin typeface="Calibri"/>
              </a:rPr>
              <a:t>attractor whose position is argued from that condition, in one written sentence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" y="5486400"/>
            <a:ext cx="137160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94360" y="5417820"/>
            <a:ext cx="1371600" cy="43891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55366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417820"/>
            <a:ext cx="9281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>
                <a:solidFill>
                  <a:srgbClr val="000000"/>
                </a:solidFill>
                <a:latin typeface="Calibri"/>
              </a:rPr>
              <a:t>sheets minimum, covering both studies, in your visual 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" y="6149340"/>
            <a:ext cx="10972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94360" y="6080760"/>
            <a:ext cx="10972800" cy="5669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14400" y="60807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Falloff built, not called from a preset. The imported site is expected — a preset attractor plugin is not.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F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NOW — 1.1 CLINIC, THEN YOUR FIRST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alibri"/>
              </a:rPr>
              <a:t>1.1 is due next class. Bring your problems to the front, then start Study 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35458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9051" y="235458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0472" y="228600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64792" y="2286000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Tile modeled, and three arrays running — which three, and why those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6781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051" y="306781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490472" y="299923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64792" y="2999232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One attractor working on a 1.1 array, any falloff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8104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9051" y="378104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490472" y="371246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4792" y="3712464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field looked at on its own, as a flat image, before the tile is attached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9427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2569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085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9051" y="449427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90472" y="442569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64792" y="4425696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Remap ranges written down, ready to put on the sheet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0750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3892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9051" y="520750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490472" y="513892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64792" y="5138928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A site named for Study B — and one sentence on what you want to find out about 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6012180"/>
            <a:ext cx="82296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943600"/>
            <a:ext cx="822960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6F035"/>
                </a:solidFill>
                <a:latin typeface="Arial"/>
              </a:rPr>
              <a:t>THREE DIFFERENT SCALES IS NOT THREE PARAMETERS.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BEFORE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FINISH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1901952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1.1 is due next class. Two sheets minimum, in your visual identity — precedent, tile, and three arrays.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INSTALL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The Google 3D Tiles importer in Blender, and get one tile of your site to load. Do this before the studio session, not during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904487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WRITE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77440" y="3904487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51760" y="4023359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One sentence: what you want your site diagram to show. If you cannot write it, you do not have a diagram yet.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BRING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084064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Study A running, even badly. Next class is a clinic and it is worth more with something on screen.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