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yUirlVXDhOCT2dciHMPp0LoOR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Short front section, then prepare prints with help in the room.\nEveryone should leave with a sliced file in the queue, or a clear reason why not.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fact is the one everything else hangs off. Say it, then use it three times today.\nSecond fact matters for their 0.1 print — a thin tower printed upright snaps at the layer line.</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a broken Boolean live: leave a face open, run it through the slicer, show the nonsense it produces.\nThen show the repair. This is the single most useful five minutes of the session.\nName the check tool in whichever environment they're using — 3D Print Toolbox in Blender, Check/ShowEdges in Rhino.</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stacked-rectangle drawing is the honest explanation — each layer is offset from the one below, and past about half a layer width there is nothing holding the edge up.\n45° is a rule of thumb, not physics. Bridging across a gap behaves differently from a slope.\nAsk them to find the worst overhang in their own model before they leave.</a:t>
            </a:r>
            <a:endParaRPr/>
          </a:p>
        </p:txBody>
      </p:sp>
      <p:sp>
        <p:nvSpPr>
          <p:cNvPr id="99" name="Google Shape;9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Print these four letters beforehand and pass them around — the H bridge sags slightly, the T arms curl, the i dot is a blob on the bed. Nothing communicates it faster.</a:t>
            </a:r>
            <a:br>
              <a:rPr lang="en-US"/>
            </a:br>
            <a:r>
              <a:rPr lang="en-US"/>
              <a:t>Then: everyone find the H, V, T and i in their own model. Whoever has an i has a problem to solve today.</a:t>
            </a:r>
            <a:br>
              <a:rPr lang="en-US"/>
            </a:br>
            <a:r>
              <a:rPr lang="en-US"/>
              <a:t>This test comes from García Cuevas and Pugliese, Advanced 3D Printing with Grasshopper.</a:t>
            </a:r>
            <a:endParaRPr/>
          </a:p>
        </p:txBody>
      </p:sp>
      <p:sp>
        <p:nvSpPr>
          <p:cNvPr id="155" name="Google Shape;15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ban is pedagogical, not arbitrary — with supports off, orientation is the only variable, which is the fastest way to learn what it does.\nAnd revising the geometry to make it printable is a legitimate outcome. Say that clearly or they will panic.\nOrientation diagram is a required part of the 0.1 sheet: chosen orientation, the overhangs it produces, why it beat the alternative.</a:t>
            </a:r>
            <a:endParaRPr/>
          </a:p>
        </p:txBody>
      </p:sp>
      <p:sp>
        <p:nvSpPr>
          <p:cNvPr id="202" name="Google Shape;20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Slice something live and step through the preview layer by layer. Show the first layer, a mid layer, and the top.\nThe Module 2 connection is worth flagging out loud — they will meet contouring again in six weeks and this is the same operation.\nShow the time estimate and the material estimate. That is what makes the production plan real later.</a:t>
            </a:r>
            <a:endParaRPr/>
          </a:p>
        </p:txBody>
      </p:sp>
      <p:sp>
        <p:nvSpPr>
          <p:cNvPr id="238" name="Google Shape;23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Resist tuning. They will want to change everything; almost all of it makes the print worse or longer.\nWalls versus infill is the useful one — students always crank infill to 100% and wonder why it takes nine hours.</a:t>
            </a:r>
            <a:endParaRPr/>
          </a:p>
        </p:txBody>
      </p:sp>
      <p:sp>
        <p:nvSpPr>
          <p:cNvPr id="282" name="Google Shape;28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site model example is the one that lands. A block of massing models is twenty boxes — laser them from chipboard in one pass, stack and glue. Printed, that is days of machine time for a worse object.</a:t>
            </a:r>
            <a:br>
              <a:rPr lang="en-US"/>
            </a:br>
            <a:r>
              <a:rPr lang="en-US"/>
              <a:t>This matters in Module 2 versus Module 3: 2.2 is cut because sections are flat; 3.2 is printed because a vault panel is doubly curved and has no flat description.</a:t>
            </a:r>
            <a:br>
              <a:rPr lang="en-US"/>
            </a:br>
            <a:r>
              <a:rPr lang="en-US"/>
              <a:t>Ask them which their 0.1 object would be if it were not a required print. Most would be cut.</a:t>
            </a:r>
            <a:endParaRPr/>
          </a:p>
        </p:txBody>
      </p:sp>
      <p:sp>
        <p:nvSpPr>
          <p:cNvPr id="318" name="Google Shape;31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Replace the bottom bar with the actual FabLab procedure before you teach this.\nBe specific about file naming — it is the difference between a print they can find and one they cannot.</a:t>
            </a:r>
            <a:endParaRPr/>
          </a:p>
        </p:txBody>
      </p:sp>
      <p:sp>
        <p:nvSpPr>
          <p:cNvPr id="361" name="Google Shape;36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Pass around real failed prints for as many of these as you have — a photo does not communicate a delamination or a support scar.</a:t>
            </a:r>
            <a:br>
              <a:rPr lang="en-US"/>
            </a:br>
            <a:r>
              <a:rPr lang="en-US"/>
              <a:t>Stringing is worth a beat: the cause is travel moves, which is the same ordering problem as the plotter demo in Class 6. Same lesson, different machine.</a:t>
            </a:r>
            <a:br>
              <a:rPr lang="en-US"/>
            </a:br>
            <a:r>
              <a:rPr lang="en-US"/>
              <a:t>Tell them to keep their failures. A print that failed and was correctly diagnosed is worth more in the booklet than one that worked by luck.</a:t>
            </a:r>
            <a:endParaRPr/>
          </a:p>
        </p:txBody>
      </p:sp>
      <p:sp>
        <p:nvSpPr>
          <p:cNvPr id="388" name="Google Shape;38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the assessment basis plainly. A rough print with a good orientation argument passes. A pretty print they cannot explain does not.\nNo credit for 0.1 without the print — repeat that.</a:t>
            </a:r>
            <a:endParaRPr/>
          </a:p>
        </p:txBody>
      </p:sp>
      <p:sp>
        <p:nvSpPr>
          <p:cNvPr id="495" name="Google Shape;49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Circulate. The two things to catch: non-manifold geometry, and models scaled wrong so print time is absurd.\nAnyone who cannot get a printable orientation should revise geometry today, not next week.</a:t>
            </a:r>
            <a:endParaRPr/>
          </a:p>
        </p:txBody>
      </p:sp>
      <p:sp>
        <p:nvSpPr>
          <p:cNvPr id="525" name="Google Shape;52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 is due next class — make sure nobody thinks the print buys them an extension on the sheet.\nModule 1 starts next week, so the pace picks up.</a:t>
            </a:r>
            <a:endParaRPr/>
          </a:p>
        </p:txBody>
      </p:sp>
      <p:sp>
        <p:nvSpPr>
          <p:cNvPr id="566" name="Google Shape;56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D8D"/>
        </a:solidFill>
      </p:bgPr>
    </p:bg>
    <p:spTree>
      <p:nvGrpSpPr>
        <p:cNvPr id="15" name="Shape 15"/>
        <p:cNvGrpSpPr/>
        <p:nvPr/>
      </p:nvGrpSpPr>
      <p:grpSpPr>
        <a:xfrm>
          <a:off x="0" y="0"/>
          <a:ext cx="0" cy="0"/>
          <a:chOff x="0" y="0"/>
          <a:chExt cx="0" cy="0"/>
        </a:xfrm>
      </p:grpSpPr>
      <p:sp>
        <p:nvSpPr>
          <p:cNvPr id="16" name="Google Shape;16;p1"/>
          <p:cNvSpPr/>
          <p:nvPr/>
        </p:nvSpPr>
        <p:spPr>
          <a:xfrm>
            <a:off x="594360" y="1051560"/>
            <a:ext cx="10972800" cy="256032"/>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94360" y="1481328"/>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CLASS 03  /  SEP 8</a:t>
            </a:r>
            <a:endParaRPr b="0" i="0" sz="1800" u="none" cap="none" strike="noStrike">
              <a:solidFill>
                <a:schemeClr val="dk1"/>
              </a:solidFill>
              <a:latin typeface="Calibri"/>
              <a:ea typeface="Calibri"/>
              <a:cs typeface="Calibri"/>
              <a:sym typeface="Calibri"/>
            </a:endParaRPr>
          </a:p>
        </p:txBody>
      </p:sp>
      <p:sp>
        <p:nvSpPr>
          <p:cNvPr id="18" name="Google Shape;18;p1"/>
          <p:cNvSpPr/>
          <p:nvPr/>
        </p:nvSpPr>
        <p:spPr>
          <a:xfrm>
            <a:off x="662940" y="2125980"/>
            <a:ext cx="10149840" cy="18288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594360" y="2057400"/>
            <a:ext cx="10149840" cy="18288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1005840" y="2395728"/>
            <a:ext cx="932688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4800"/>
              <a:buFont typeface="Arial"/>
              <a:buNone/>
            </a:pPr>
            <a:r>
              <a:rPr b="1" i="0" lang="en-US" sz="4800" u="none" cap="none" strike="noStrike">
                <a:solidFill>
                  <a:srgbClr val="000000"/>
                </a:solidFill>
                <a:latin typeface="Arial"/>
                <a:ea typeface="Arial"/>
                <a:cs typeface="Arial"/>
                <a:sym typeface="Arial"/>
              </a:rPr>
              <a:t>3D PRINTING</a:t>
            </a:r>
            <a:endParaRPr b="0" i="0" sz="4800" u="none" cap="none" strike="noStrike">
              <a:solidFill>
                <a:schemeClr val="dk1"/>
              </a:solidFill>
              <a:latin typeface="Calibri"/>
              <a:ea typeface="Calibri"/>
              <a:cs typeface="Calibri"/>
              <a:sym typeface="Calibri"/>
            </a:endParaRPr>
          </a:p>
        </p:txBody>
      </p:sp>
      <p:sp>
        <p:nvSpPr>
          <p:cNvPr id="21" name="Google Shape;21;p1"/>
          <p:cNvSpPr/>
          <p:nvPr/>
        </p:nvSpPr>
        <p:spPr>
          <a:xfrm>
            <a:off x="662940" y="4229100"/>
            <a:ext cx="8778240"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594360" y="4160520"/>
            <a:ext cx="8778240" cy="566928"/>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868680" y="4279392"/>
            <a:ext cx="8412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GEOMETRY THAT SURVIVES CONTACT WITH A MACHINE</a:t>
            </a:r>
            <a:endParaRPr b="0" i="0" sz="1300" u="none" cap="none" strike="noStrike">
              <a:solidFill>
                <a:schemeClr val="dk1"/>
              </a:solidFill>
              <a:latin typeface="Calibri"/>
              <a:ea typeface="Calibri"/>
              <a:cs typeface="Calibri"/>
              <a:sym typeface="Calibri"/>
            </a:endParaRPr>
          </a:p>
        </p:txBody>
      </p:sp>
      <p:sp>
        <p:nvSpPr>
          <p:cNvPr id="24" name="Google Shape;24;p1"/>
          <p:cNvSpPr/>
          <p:nvPr/>
        </p:nvSpPr>
        <p:spPr>
          <a:xfrm>
            <a:off x="594360" y="5870448"/>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MOSTLY A WORKING SESSION  /  BRING YOUR MODEL</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29" name="Shape 29"/>
        <p:cNvGrpSpPr/>
        <p:nvPr/>
      </p:nvGrpSpPr>
      <p:grpSpPr>
        <a:xfrm>
          <a:off x="0" y="0"/>
          <a:ext cx="0" cy="0"/>
          <a:chOff x="0" y="0"/>
          <a:chExt cx="0" cy="0"/>
        </a:xfrm>
      </p:grpSpPr>
      <p:cxnSp>
        <p:nvCxnSpPr>
          <p:cNvPr id="30" name="Google Shape;30;p2"/>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31" name="Google Shape;31;p2"/>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WHAT THE MACHINE DOES</a:t>
            </a:r>
            <a:endParaRPr b="0" i="0" sz="3300" u="none" cap="none" strike="noStrike">
              <a:solidFill>
                <a:schemeClr val="dk1"/>
              </a:solidFill>
              <a:latin typeface="Calibri"/>
              <a:ea typeface="Calibri"/>
              <a:cs typeface="Calibri"/>
              <a:sym typeface="Calibri"/>
            </a:endParaRPr>
          </a:p>
        </p:txBody>
      </p:sp>
      <p:sp>
        <p:nvSpPr>
          <p:cNvPr id="32" name="Google Shape;32;p2"/>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b="0" i="0" lang="en-US" sz="1350" u="none" cap="none" strike="noStrike">
                <a:solidFill>
                  <a:srgbClr val="6B6B6B"/>
                </a:solidFill>
                <a:latin typeface="Calibri"/>
                <a:ea typeface="Calibri"/>
                <a:cs typeface="Calibri"/>
                <a:sym typeface="Calibri"/>
              </a:rPr>
              <a:t>One thing, repeatedly. Everything else follows from this.</a:t>
            </a:r>
            <a:endParaRPr b="0" i="0" sz="1350" u="none" cap="none" strike="noStrike">
              <a:solidFill>
                <a:schemeClr val="dk1"/>
              </a:solidFill>
              <a:latin typeface="Calibri"/>
              <a:ea typeface="Calibri"/>
              <a:cs typeface="Calibri"/>
              <a:sym typeface="Calibri"/>
            </a:endParaRPr>
          </a:p>
        </p:txBody>
      </p:sp>
      <p:sp>
        <p:nvSpPr>
          <p:cNvPr id="33" name="Google Shape;33;p2"/>
          <p:cNvSpPr/>
          <p:nvPr/>
        </p:nvSpPr>
        <p:spPr>
          <a:xfrm>
            <a:off x="662940" y="1851660"/>
            <a:ext cx="4206240" cy="36576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94360" y="1783080"/>
            <a:ext cx="4206240" cy="36576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868680" y="1965960"/>
            <a:ext cx="36576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A NOZZLE DRAWS ONE FLAT LAYER,</a:t>
            </a:r>
            <a:endParaRPr b="0" i="0" sz="12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THE BED DROPS, IT DRAWS THE NEXT.</a:t>
            </a:r>
            <a:endParaRPr b="0" i="0" sz="1200" u="none" cap="none" strike="noStrike">
              <a:solidFill>
                <a:schemeClr val="dk1"/>
              </a:solidFill>
              <a:latin typeface="Calibri"/>
              <a:ea typeface="Calibri"/>
              <a:cs typeface="Calibri"/>
              <a:sym typeface="Calibri"/>
            </a:endParaRPr>
          </a:p>
        </p:txBody>
      </p:sp>
      <p:sp>
        <p:nvSpPr>
          <p:cNvPr id="36" name="Google Shape;36;p2"/>
          <p:cNvSpPr/>
          <p:nvPr/>
        </p:nvSpPr>
        <p:spPr>
          <a:xfrm>
            <a:off x="1645920" y="4690872"/>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1645920" y="4489704"/>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1645920" y="4288536"/>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645920" y="4087368"/>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645920" y="3886200"/>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645920" y="3685032"/>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1645920" y="3483864"/>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1645920" y="3282696"/>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645920" y="3081528"/>
            <a:ext cx="1737360" cy="201168"/>
          </a:xfrm>
          <a:prstGeom prst="rect">
            <a:avLst/>
          </a:prstGeom>
          <a:solidFill>
            <a:srgbClr val="00D9E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2377440" y="2788920"/>
            <a:ext cx="274320" cy="256032"/>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2788920" y="2788920"/>
            <a:ext cx="1097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b="0" i="1" lang="en-US" sz="1000" u="none" cap="none" strike="noStrike">
                <a:solidFill>
                  <a:srgbClr val="6B6B6B"/>
                </a:solidFill>
                <a:latin typeface="Calibri"/>
                <a:ea typeface="Calibri"/>
                <a:cs typeface="Calibri"/>
                <a:sym typeface="Calibri"/>
              </a:rPr>
              <a:t>nozzle</a:t>
            </a:r>
            <a:endParaRPr b="0" i="0" sz="1000" u="none" cap="none" strike="noStrike">
              <a:solidFill>
                <a:schemeClr val="dk1"/>
              </a:solidFill>
              <a:latin typeface="Calibri"/>
              <a:ea typeface="Calibri"/>
              <a:cs typeface="Calibri"/>
              <a:sym typeface="Calibri"/>
            </a:endParaRPr>
          </a:p>
        </p:txBody>
      </p:sp>
      <p:sp>
        <p:nvSpPr>
          <p:cNvPr id="47" name="Google Shape;47;p2"/>
          <p:cNvSpPr/>
          <p:nvPr/>
        </p:nvSpPr>
        <p:spPr>
          <a:xfrm>
            <a:off x="1371600" y="4892040"/>
            <a:ext cx="2286000" cy="109728"/>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749040" y="4846320"/>
            <a:ext cx="731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b="0" i="1" lang="en-US" sz="1000" u="none" cap="none" strike="noStrike">
                <a:solidFill>
                  <a:srgbClr val="6B6B6B"/>
                </a:solidFill>
                <a:latin typeface="Calibri"/>
                <a:ea typeface="Calibri"/>
                <a:cs typeface="Calibri"/>
                <a:sym typeface="Calibri"/>
              </a:rPr>
              <a:t>bed</a:t>
            </a:r>
            <a:endParaRPr b="0" i="0" sz="1000" u="none" cap="none" strike="noStrike">
              <a:solidFill>
                <a:schemeClr val="dk1"/>
              </a:solidFill>
              <a:latin typeface="Calibri"/>
              <a:ea typeface="Calibri"/>
              <a:cs typeface="Calibri"/>
              <a:sym typeface="Calibri"/>
            </a:endParaRPr>
          </a:p>
        </p:txBody>
      </p:sp>
      <p:sp>
        <p:nvSpPr>
          <p:cNvPr id="49" name="Google Shape;49;p2"/>
          <p:cNvSpPr/>
          <p:nvPr/>
        </p:nvSpPr>
        <p:spPr>
          <a:xfrm>
            <a:off x="5280660" y="1851660"/>
            <a:ext cx="6355080" cy="107899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5212080" y="1783080"/>
            <a:ext cx="6355080" cy="1078992"/>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5532120" y="1947672"/>
            <a:ext cx="5943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IT BUILDS UPWARD, NEVER SIDEWAYS</a:t>
            </a:r>
            <a:endParaRPr b="0" i="0" sz="1300" u="none" cap="none" strike="noStrike">
              <a:solidFill>
                <a:schemeClr val="dk1"/>
              </a:solidFill>
              <a:latin typeface="Calibri"/>
              <a:ea typeface="Calibri"/>
              <a:cs typeface="Calibri"/>
              <a:sym typeface="Calibri"/>
            </a:endParaRPr>
          </a:p>
        </p:txBody>
      </p:sp>
      <p:sp>
        <p:nvSpPr>
          <p:cNvPr id="52" name="Google Shape;52;p2"/>
          <p:cNvSpPr/>
          <p:nvPr/>
        </p:nvSpPr>
        <p:spPr>
          <a:xfrm>
            <a:off x="5532120" y="2295144"/>
            <a:ext cx="5943600" cy="4572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Material can only be placed on material that is already there.</a:t>
            </a:r>
            <a:endParaRPr b="0" i="0" sz="1250" u="none" cap="none" strike="noStrike">
              <a:solidFill>
                <a:schemeClr val="dk1"/>
              </a:solidFill>
              <a:latin typeface="Calibri"/>
              <a:ea typeface="Calibri"/>
              <a:cs typeface="Calibri"/>
              <a:sym typeface="Calibri"/>
            </a:endParaRPr>
          </a:p>
        </p:txBody>
      </p:sp>
      <p:sp>
        <p:nvSpPr>
          <p:cNvPr id="53" name="Google Shape;53;p2"/>
          <p:cNvSpPr/>
          <p:nvPr/>
        </p:nvSpPr>
        <p:spPr>
          <a:xfrm>
            <a:off x="5280660" y="3113532"/>
            <a:ext cx="6355080" cy="107899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5212080" y="3044952"/>
            <a:ext cx="6355080" cy="1078992"/>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5532120" y="3209544"/>
            <a:ext cx="5943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LAYERS ARE THE WEAK DIRECTION</a:t>
            </a:r>
            <a:endParaRPr b="0" i="0" sz="1300" u="none" cap="none" strike="noStrike">
              <a:solidFill>
                <a:schemeClr val="dk1"/>
              </a:solidFill>
              <a:latin typeface="Calibri"/>
              <a:ea typeface="Calibri"/>
              <a:cs typeface="Calibri"/>
              <a:sym typeface="Calibri"/>
            </a:endParaRPr>
          </a:p>
        </p:txBody>
      </p:sp>
      <p:sp>
        <p:nvSpPr>
          <p:cNvPr id="56" name="Google Shape;56;p2"/>
          <p:cNvSpPr/>
          <p:nvPr/>
        </p:nvSpPr>
        <p:spPr>
          <a:xfrm>
            <a:off x="5532120" y="3557016"/>
            <a:ext cx="5943600" cy="4572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A print snaps between layers long before it snaps across one.</a:t>
            </a:r>
            <a:endParaRPr b="0" i="0" sz="1250" u="none" cap="none" strike="noStrike">
              <a:solidFill>
                <a:schemeClr val="dk1"/>
              </a:solidFill>
              <a:latin typeface="Calibri"/>
              <a:ea typeface="Calibri"/>
              <a:cs typeface="Calibri"/>
              <a:sym typeface="Calibri"/>
            </a:endParaRPr>
          </a:p>
        </p:txBody>
      </p:sp>
      <p:sp>
        <p:nvSpPr>
          <p:cNvPr id="57" name="Google Shape;57;p2"/>
          <p:cNvSpPr/>
          <p:nvPr/>
        </p:nvSpPr>
        <p:spPr>
          <a:xfrm>
            <a:off x="5280660" y="4375404"/>
            <a:ext cx="6355080" cy="107899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5212080" y="4306824"/>
            <a:ext cx="6355080" cy="1078992"/>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532120" y="4471416"/>
            <a:ext cx="5943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EVERY DECISION IS A TIME COST</a:t>
            </a:r>
            <a:endParaRPr b="0" i="0" sz="1300" u="none" cap="none" strike="noStrike">
              <a:solidFill>
                <a:schemeClr val="dk1"/>
              </a:solidFill>
              <a:latin typeface="Calibri"/>
              <a:ea typeface="Calibri"/>
              <a:cs typeface="Calibri"/>
              <a:sym typeface="Calibri"/>
            </a:endParaRPr>
          </a:p>
        </p:txBody>
      </p:sp>
      <p:sp>
        <p:nvSpPr>
          <p:cNvPr id="60" name="Google Shape;60;p2"/>
          <p:cNvSpPr/>
          <p:nvPr/>
        </p:nvSpPr>
        <p:spPr>
          <a:xfrm>
            <a:off x="5532120" y="4818888"/>
            <a:ext cx="5943600" cy="4572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Finer layers, more material, more supports — all of it is hours on a shared machine.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5" name="Shape 65"/>
        <p:cNvGrpSpPr/>
        <p:nvPr/>
      </p:nvGrpSpPr>
      <p:grpSpPr>
        <a:xfrm>
          <a:off x="0" y="0"/>
          <a:ext cx="0" cy="0"/>
          <a:chOff x="0" y="0"/>
          <a:chExt cx="0" cy="0"/>
        </a:xfrm>
      </p:grpSpPr>
      <p:cxnSp>
        <p:nvCxnSpPr>
          <p:cNvPr id="66" name="Google Shape;66;p3"/>
          <p:cNvCxnSpPr/>
          <p:nvPr/>
        </p:nvCxnSpPr>
        <p:spPr>
          <a:xfrm>
            <a:off x="594360" y="566928"/>
            <a:ext cx="10972800" cy="0"/>
          </a:xfrm>
          <a:prstGeom prst="straightConnector1">
            <a:avLst/>
          </a:prstGeom>
          <a:noFill/>
          <a:ln cap="flat" cmpd="sng" w="50800">
            <a:solidFill>
              <a:srgbClr val="FFFDF7"/>
            </a:solidFill>
            <a:prstDash val="solid"/>
            <a:round/>
            <a:headEnd len="sm" w="sm" type="none"/>
            <a:tailEnd len="sm" w="sm" type="none"/>
          </a:ln>
        </p:spPr>
      </p:cxnSp>
      <p:sp>
        <p:nvSpPr>
          <p:cNvPr id="67" name="Google Shape;67;p3"/>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300"/>
              <a:buFont typeface="Arial"/>
              <a:buNone/>
            </a:pPr>
            <a:r>
              <a:rPr b="1" i="0" lang="en-US" sz="3300" u="none" cap="none" strike="noStrike">
                <a:solidFill>
                  <a:srgbClr val="FFFDF7"/>
                </a:solidFill>
                <a:latin typeface="Arial"/>
                <a:ea typeface="Arial"/>
                <a:cs typeface="Arial"/>
                <a:sym typeface="Arial"/>
              </a:rPr>
              <a:t>MANIFOLD OR IT DOES NOT PRINT</a:t>
            </a:r>
            <a:endParaRPr b="0" i="0" sz="3300" u="none" cap="none" strike="noStrike">
              <a:solidFill>
                <a:schemeClr val="dk1"/>
              </a:solidFill>
              <a:latin typeface="Calibri"/>
              <a:ea typeface="Calibri"/>
              <a:cs typeface="Calibri"/>
              <a:sym typeface="Calibri"/>
            </a:endParaRPr>
          </a:p>
        </p:txBody>
      </p:sp>
      <p:sp>
        <p:nvSpPr>
          <p:cNvPr id="68" name="Google Shape;68;p3"/>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350"/>
              <a:buFont typeface="Calibri"/>
              <a:buNone/>
            </a:pPr>
            <a:r>
              <a:rPr b="0" i="0" lang="en-US" sz="1350" u="none" cap="none" strike="noStrike">
                <a:solidFill>
                  <a:srgbClr val="B8B8B8"/>
                </a:solidFill>
                <a:latin typeface="Calibri"/>
                <a:ea typeface="Calibri"/>
                <a:cs typeface="Calibri"/>
                <a:sym typeface="Calibri"/>
              </a:rPr>
              <a:t>A model can look perfect on screen and be meaningless to a slicer.</a:t>
            </a:r>
            <a:endParaRPr b="0" i="0" sz="1350" u="none" cap="none" strike="noStrike">
              <a:solidFill>
                <a:schemeClr val="dk1"/>
              </a:solidFill>
              <a:latin typeface="Calibri"/>
              <a:ea typeface="Calibri"/>
              <a:cs typeface="Calibri"/>
              <a:sym typeface="Calibri"/>
            </a:endParaRPr>
          </a:p>
        </p:txBody>
      </p:sp>
      <p:sp>
        <p:nvSpPr>
          <p:cNvPr id="69" name="Google Shape;69;p3"/>
          <p:cNvSpPr/>
          <p:nvPr/>
        </p:nvSpPr>
        <p:spPr>
          <a:xfrm>
            <a:off x="457200" y="1851660"/>
            <a:ext cx="3429000" cy="3200400"/>
          </a:xfrm>
          <a:prstGeom prst="rect">
            <a:avLst/>
          </a:prstGeom>
          <a:solidFill>
            <a:srgbClr val="C6F035"/>
          </a:solidFill>
          <a:ln cap="flat" cmpd="sng" w="9525">
            <a:solidFill>
              <a:srgbClr val="C6F0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388620" y="1783080"/>
            <a:ext cx="3429000" cy="32004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388620" y="1783080"/>
            <a:ext cx="3429000" cy="530352"/>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644652" y="1892808"/>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WATERTIGHT</a:t>
            </a:r>
            <a:endParaRPr b="0" i="0" sz="1250" u="none" cap="none" strike="noStrike">
              <a:solidFill>
                <a:schemeClr val="dk1"/>
              </a:solidFill>
              <a:latin typeface="Calibri"/>
              <a:ea typeface="Calibri"/>
              <a:cs typeface="Calibri"/>
              <a:sym typeface="Calibri"/>
            </a:endParaRPr>
          </a:p>
        </p:txBody>
      </p:sp>
      <p:sp>
        <p:nvSpPr>
          <p:cNvPr id="73" name="Google Shape;73;p3"/>
          <p:cNvSpPr/>
          <p:nvPr/>
        </p:nvSpPr>
        <p:spPr>
          <a:xfrm>
            <a:off x="644652" y="2496312"/>
            <a:ext cx="2916936" cy="118872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1536192" y="2706624"/>
            <a:ext cx="1133856" cy="768096"/>
          </a:xfrm>
          <a:prstGeom prst="rect">
            <a:avLst/>
          </a:prstGeom>
          <a:solidFill>
            <a:srgbClr val="C6F035"/>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644652" y="3831336"/>
            <a:ext cx="2916936"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No gaps. Every edge is shared by exactly two faces. If water could leak out, it is not a solid.</a:t>
            </a:r>
            <a:endParaRPr b="0" i="0" sz="1200" u="none" cap="none" strike="noStrike">
              <a:solidFill>
                <a:schemeClr val="dk1"/>
              </a:solidFill>
              <a:latin typeface="Calibri"/>
              <a:ea typeface="Calibri"/>
              <a:cs typeface="Calibri"/>
              <a:sym typeface="Calibri"/>
            </a:endParaRPr>
          </a:p>
        </p:txBody>
      </p:sp>
      <p:sp>
        <p:nvSpPr>
          <p:cNvPr id="76" name="Google Shape;76;p3"/>
          <p:cNvSpPr/>
          <p:nvPr/>
        </p:nvSpPr>
        <p:spPr>
          <a:xfrm>
            <a:off x="4434840" y="1851660"/>
            <a:ext cx="3429000" cy="3200400"/>
          </a:xfrm>
          <a:prstGeom prst="rect">
            <a:avLst/>
          </a:prstGeom>
          <a:solidFill>
            <a:srgbClr val="FF4D8D"/>
          </a:solidFill>
          <a:ln cap="flat" cmpd="sng" w="9525">
            <a:solidFill>
              <a:srgbClr val="FF4D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4366260" y="1783080"/>
            <a:ext cx="3429000" cy="32004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4366260" y="1783080"/>
            <a:ext cx="3429000" cy="530352"/>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4622292" y="1892808"/>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NO SELF-INTERSECTION</a:t>
            </a:r>
            <a:endParaRPr b="0" i="0" sz="1250" u="none" cap="none" strike="noStrike">
              <a:solidFill>
                <a:schemeClr val="dk1"/>
              </a:solidFill>
              <a:latin typeface="Calibri"/>
              <a:ea typeface="Calibri"/>
              <a:cs typeface="Calibri"/>
              <a:sym typeface="Calibri"/>
            </a:endParaRPr>
          </a:p>
        </p:txBody>
      </p:sp>
      <p:sp>
        <p:nvSpPr>
          <p:cNvPr id="80" name="Google Shape;80;p3"/>
          <p:cNvSpPr/>
          <p:nvPr/>
        </p:nvSpPr>
        <p:spPr>
          <a:xfrm>
            <a:off x="4622292" y="2496312"/>
            <a:ext cx="2916936" cy="118872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5367528" y="2761488"/>
            <a:ext cx="868680" cy="658368"/>
          </a:xfrm>
          <a:prstGeom prst="rect">
            <a:avLst/>
          </a:prstGeom>
          <a:solidFill>
            <a:srgbClr val="FFFD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5916168" y="2962656"/>
            <a:ext cx="868680" cy="658368"/>
          </a:xfrm>
          <a:prstGeom prst="rect">
            <a:avLst/>
          </a:prstGeom>
          <a:solidFill>
            <a:srgbClr val="FF4D8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4622292" y="3831336"/>
            <a:ext cx="2916936"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A shape that passes through itself has no unambiguous inside. The slicer cannot decide what to fill.</a:t>
            </a:r>
            <a:endParaRPr b="0" i="0" sz="1200" u="none" cap="none" strike="noStrike">
              <a:solidFill>
                <a:schemeClr val="dk1"/>
              </a:solidFill>
              <a:latin typeface="Calibri"/>
              <a:ea typeface="Calibri"/>
              <a:cs typeface="Calibri"/>
              <a:sym typeface="Calibri"/>
            </a:endParaRPr>
          </a:p>
        </p:txBody>
      </p:sp>
      <p:sp>
        <p:nvSpPr>
          <p:cNvPr id="84" name="Google Shape;84;p3"/>
          <p:cNvSpPr/>
          <p:nvPr/>
        </p:nvSpPr>
        <p:spPr>
          <a:xfrm>
            <a:off x="8412480" y="1851660"/>
            <a:ext cx="3429000" cy="3200400"/>
          </a:xfrm>
          <a:prstGeom prst="rect">
            <a:avLst/>
          </a:prstGeom>
          <a:solidFill>
            <a:srgbClr val="00D9E1"/>
          </a:solidFill>
          <a:ln cap="flat" cmpd="sng" w="9525">
            <a:solidFill>
              <a:srgbClr val="00D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8343900" y="1783080"/>
            <a:ext cx="3429000" cy="32004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8343900" y="1783080"/>
            <a:ext cx="3429000" cy="530352"/>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8599932" y="1892808"/>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NORMALS OUTWARD</a:t>
            </a:r>
            <a:endParaRPr b="0" i="0" sz="1250" u="none" cap="none" strike="noStrike">
              <a:solidFill>
                <a:schemeClr val="dk1"/>
              </a:solidFill>
              <a:latin typeface="Calibri"/>
              <a:ea typeface="Calibri"/>
              <a:cs typeface="Calibri"/>
              <a:sym typeface="Calibri"/>
            </a:endParaRPr>
          </a:p>
        </p:txBody>
      </p:sp>
      <p:sp>
        <p:nvSpPr>
          <p:cNvPr id="88" name="Google Shape;88;p3"/>
          <p:cNvSpPr/>
          <p:nvPr/>
        </p:nvSpPr>
        <p:spPr>
          <a:xfrm>
            <a:off x="8599932" y="2496312"/>
            <a:ext cx="2916936" cy="118872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9491472" y="2706624"/>
            <a:ext cx="1133856" cy="768096"/>
          </a:xfrm>
          <a:prstGeom prst="rect">
            <a:avLst/>
          </a:prstGeom>
          <a:solidFill>
            <a:srgbClr val="FFFD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rot="5400000">
            <a:off x="10680192" y="2907792"/>
            <a:ext cx="310896" cy="365760"/>
          </a:xfrm>
          <a:prstGeom prst="triangle">
            <a:avLst>
              <a:gd fmla="val 50000" name="adj"/>
            </a:avLst>
          </a:prstGeom>
          <a:solidFill>
            <a:srgbClr val="00D9E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rot="-5400000">
            <a:off x="10206565" y="2889524"/>
            <a:ext cx="310800" cy="365700"/>
          </a:xfrm>
          <a:prstGeom prst="triangle">
            <a:avLst>
              <a:gd fmla="val 50000" name="adj"/>
            </a:avLst>
          </a:prstGeom>
          <a:solidFill>
            <a:srgbClr val="FF4D8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8599932" y="3831336"/>
            <a:ext cx="2916936"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Every face has a front and a back. A flipped face tells the slicer that outside is inside.</a:t>
            </a:r>
            <a:endParaRPr b="0" i="0" sz="1200" u="none" cap="none" strike="noStrike">
              <a:solidFill>
                <a:schemeClr val="dk1"/>
              </a:solidFill>
              <a:latin typeface="Calibri"/>
              <a:ea typeface="Calibri"/>
              <a:cs typeface="Calibri"/>
              <a:sym typeface="Calibri"/>
            </a:endParaRPr>
          </a:p>
        </p:txBody>
      </p:sp>
      <p:sp>
        <p:nvSpPr>
          <p:cNvPr id="93" name="Google Shape;93;p3"/>
          <p:cNvSpPr/>
          <p:nvPr/>
        </p:nvSpPr>
        <p:spPr>
          <a:xfrm>
            <a:off x="662940" y="5280660"/>
            <a:ext cx="10972800" cy="731520"/>
          </a:xfrm>
          <a:prstGeom prst="rect">
            <a:avLst/>
          </a:prstGeom>
          <a:solidFill>
            <a:srgbClr val="FF4D8D"/>
          </a:solidFill>
          <a:ln cap="flat" cmpd="sng" w="9525">
            <a:solidFill>
              <a:srgbClr val="FF4D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594360" y="5212080"/>
            <a:ext cx="10972800" cy="731520"/>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914400" y="5394960"/>
            <a:ext cx="10515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CHECK BEFORE YOU SLICE. A BOOLEAN THAT LEFT AN OPEN EDGE IS THE MOST COMMON CAUSE OF A FAILED FILE.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100" name="Shape 100"/>
        <p:cNvGrpSpPr/>
        <p:nvPr/>
      </p:nvGrpSpPr>
      <p:grpSpPr>
        <a:xfrm>
          <a:off x="0" y="0"/>
          <a:ext cx="0" cy="0"/>
          <a:chOff x="0" y="0"/>
          <a:chExt cx="0" cy="0"/>
        </a:xfrm>
      </p:grpSpPr>
      <p:cxnSp>
        <p:nvCxnSpPr>
          <p:cNvPr id="101" name="Google Shape;101;p4"/>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102" name="Google Shape;102;p4"/>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OVERHANGS</a:t>
            </a:r>
            <a:endParaRPr b="0" i="0" sz="3300" u="none" cap="none" strike="noStrike">
              <a:solidFill>
                <a:schemeClr val="dk1"/>
              </a:solidFill>
              <a:latin typeface="Calibri"/>
              <a:ea typeface="Calibri"/>
              <a:cs typeface="Calibri"/>
              <a:sym typeface="Calibri"/>
            </a:endParaRPr>
          </a:p>
        </p:txBody>
      </p:sp>
      <p:sp>
        <p:nvSpPr>
          <p:cNvPr id="103" name="Google Shape;103;p4"/>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b="0" i="0" lang="en-US" sz="1350" u="none" cap="none" strike="noStrike">
                <a:solidFill>
                  <a:srgbClr val="6B6B6B"/>
                </a:solidFill>
                <a:latin typeface="Calibri"/>
                <a:ea typeface="Calibri"/>
                <a:cs typeface="Calibri"/>
                <a:sym typeface="Calibri"/>
              </a:rPr>
              <a:t>Each layer needs something under it. How much is the whole question.</a:t>
            </a:r>
            <a:endParaRPr b="0" i="0" sz="1350" u="none" cap="none" strike="noStrike">
              <a:solidFill>
                <a:schemeClr val="dk1"/>
              </a:solidFill>
              <a:latin typeface="Calibri"/>
              <a:ea typeface="Calibri"/>
              <a:cs typeface="Calibri"/>
              <a:sym typeface="Calibri"/>
            </a:endParaRPr>
          </a:p>
        </p:txBody>
      </p:sp>
      <p:sp>
        <p:nvSpPr>
          <p:cNvPr id="104" name="Google Shape;104;p4"/>
          <p:cNvSpPr/>
          <p:nvPr/>
        </p:nvSpPr>
        <p:spPr>
          <a:xfrm>
            <a:off x="457200" y="1805940"/>
            <a:ext cx="3429000" cy="32461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388620" y="1737360"/>
            <a:ext cx="3429000" cy="32461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388620" y="1737360"/>
            <a:ext cx="3429000" cy="502920"/>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644652" y="1828800"/>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VERTICAL</a:t>
            </a:r>
            <a:endParaRPr b="0" i="0" sz="1300" u="none" cap="none" strike="noStrike">
              <a:solidFill>
                <a:schemeClr val="dk1"/>
              </a:solidFill>
              <a:latin typeface="Calibri"/>
              <a:ea typeface="Calibri"/>
              <a:cs typeface="Calibri"/>
              <a:sym typeface="Calibri"/>
            </a:endParaRPr>
          </a:p>
        </p:txBody>
      </p:sp>
      <p:sp>
        <p:nvSpPr>
          <p:cNvPr id="108" name="Google Shape;108;p4"/>
          <p:cNvSpPr/>
          <p:nvPr/>
        </p:nvSpPr>
        <p:spPr>
          <a:xfrm>
            <a:off x="644652" y="2395728"/>
            <a:ext cx="2916936" cy="169164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736092" y="3995928"/>
            <a:ext cx="2734056" cy="82296"/>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1147572" y="3822192"/>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1147572" y="3648456"/>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1147572" y="3474720"/>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1147572" y="3300984"/>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1147572" y="3127248"/>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147572" y="2953512"/>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1147572" y="2779776"/>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1147572" y="2606040"/>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644652" y="4224528"/>
            <a:ext cx="2916936" cy="64008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Every layer sits fully on the one below. Perfect.</a:t>
            </a:r>
            <a:endParaRPr b="0" i="0" sz="1200" u="none" cap="none" strike="noStrike">
              <a:solidFill>
                <a:schemeClr val="dk1"/>
              </a:solidFill>
              <a:latin typeface="Calibri"/>
              <a:ea typeface="Calibri"/>
              <a:cs typeface="Calibri"/>
              <a:sym typeface="Calibri"/>
            </a:endParaRPr>
          </a:p>
        </p:txBody>
      </p:sp>
      <p:sp>
        <p:nvSpPr>
          <p:cNvPr id="119" name="Google Shape;119;p4"/>
          <p:cNvSpPr/>
          <p:nvPr/>
        </p:nvSpPr>
        <p:spPr>
          <a:xfrm>
            <a:off x="4434840" y="1805940"/>
            <a:ext cx="3429000" cy="32461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4366260" y="1737360"/>
            <a:ext cx="3429000" cy="32461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4366260" y="1737360"/>
            <a:ext cx="3429000" cy="502920"/>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4622292" y="1828800"/>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45°</a:t>
            </a:r>
            <a:endParaRPr b="0" i="0" sz="1300" u="none" cap="none" strike="noStrike">
              <a:solidFill>
                <a:schemeClr val="dk1"/>
              </a:solidFill>
              <a:latin typeface="Calibri"/>
              <a:ea typeface="Calibri"/>
              <a:cs typeface="Calibri"/>
              <a:sym typeface="Calibri"/>
            </a:endParaRPr>
          </a:p>
        </p:txBody>
      </p:sp>
      <p:sp>
        <p:nvSpPr>
          <p:cNvPr id="123" name="Google Shape;123;p4"/>
          <p:cNvSpPr/>
          <p:nvPr/>
        </p:nvSpPr>
        <p:spPr>
          <a:xfrm>
            <a:off x="4622292" y="2395728"/>
            <a:ext cx="2916936" cy="169164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4713732" y="3995928"/>
            <a:ext cx="2734056" cy="82296"/>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5125212" y="3822192"/>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5207508" y="3648456"/>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5289804" y="3474720"/>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5372100" y="3300984"/>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5454396" y="3127248"/>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5536692" y="2953512"/>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5618988" y="2779776"/>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5701284" y="2606040"/>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4622292" y="4224528"/>
            <a:ext cx="2916936" cy="64008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Half of each layer is supported. This is about the limit.</a:t>
            </a:r>
            <a:endParaRPr b="0" i="0" sz="1200" u="none" cap="none" strike="noStrike">
              <a:solidFill>
                <a:schemeClr val="dk1"/>
              </a:solidFill>
              <a:latin typeface="Calibri"/>
              <a:ea typeface="Calibri"/>
              <a:cs typeface="Calibri"/>
              <a:sym typeface="Calibri"/>
            </a:endParaRPr>
          </a:p>
        </p:txBody>
      </p:sp>
      <p:sp>
        <p:nvSpPr>
          <p:cNvPr id="134" name="Google Shape;134;p4"/>
          <p:cNvSpPr/>
          <p:nvPr/>
        </p:nvSpPr>
        <p:spPr>
          <a:xfrm>
            <a:off x="8412480" y="1805940"/>
            <a:ext cx="3429000" cy="32461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8343900" y="1737360"/>
            <a:ext cx="3429000" cy="32461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8343900" y="1737360"/>
            <a:ext cx="3429000" cy="502920"/>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8599932" y="1828800"/>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STEEP</a:t>
            </a:r>
            <a:endParaRPr b="0" i="0" sz="1300" u="none" cap="none" strike="noStrike">
              <a:solidFill>
                <a:schemeClr val="dk1"/>
              </a:solidFill>
              <a:latin typeface="Calibri"/>
              <a:ea typeface="Calibri"/>
              <a:cs typeface="Calibri"/>
              <a:sym typeface="Calibri"/>
            </a:endParaRPr>
          </a:p>
        </p:txBody>
      </p:sp>
      <p:sp>
        <p:nvSpPr>
          <p:cNvPr id="138" name="Google Shape;138;p4"/>
          <p:cNvSpPr/>
          <p:nvPr/>
        </p:nvSpPr>
        <p:spPr>
          <a:xfrm>
            <a:off x="8599932" y="2395728"/>
            <a:ext cx="2916936" cy="169164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8691372" y="3995928"/>
            <a:ext cx="2734056" cy="82296"/>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9102852" y="3822192"/>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9276588" y="3648456"/>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9450324" y="3474720"/>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9624060" y="3300984"/>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9797796" y="3127248"/>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9971532" y="2953512"/>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10145268" y="2779776"/>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10319004" y="2606040"/>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8599932" y="4224528"/>
            <a:ext cx="2916936" cy="64008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Most of the layer hangs in air. It will droop or fail.</a:t>
            </a:r>
            <a:endParaRPr b="0" i="0" sz="1200" u="none" cap="none" strike="noStrike">
              <a:solidFill>
                <a:schemeClr val="dk1"/>
              </a:solidFill>
              <a:latin typeface="Calibri"/>
              <a:ea typeface="Calibri"/>
              <a:cs typeface="Calibri"/>
              <a:sym typeface="Calibri"/>
            </a:endParaRPr>
          </a:p>
        </p:txBody>
      </p:sp>
      <p:sp>
        <p:nvSpPr>
          <p:cNvPr id="149" name="Google Shape;149;p4"/>
          <p:cNvSpPr/>
          <p:nvPr/>
        </p:nvSpPr>
        <p:spPr>
          <a:xfrm>
            <a:off x="662940" y="5326380"/>
            <a:ext cx="1097280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594360" y="5257800"/>
            <a:ext cx="10972800" cy="731520"/>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914400" y="5440680"/>
            <a:ext cx="10515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THE 45° RULE: BEYOND ABOUT 45° FROM VERTICAL, A SURFACE NEEDS SUPPORT — OR A DIFFERENT ORIENTATION.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6" name="Shape 156"/>
        <p:cNvGrpSpPr/>
        <p:nvPr/>
      </p:nvGrpSpPr>
      <p:grpSpPr>
        <a:xfrm>
          <a:off x="0" y="0"/>
          <a:ext cx="0" cy="0"/>
          <a:chOff x="0" y="0"/>
          <a:chExt cx="0" cy="0"/>
        </a:xfrm>
      </p:grpSpPr>
      <p:cxnSp>
        <p:nvCxnSpPr>
          <p:cNvPr id="157" name="Google Shape;157;p5"/>
          <p:cNvCxnSpPr/>
          <p:nvPr/>
        </p:nvCxnSpPr>
        <p:spPr>
          <a:xfrm>
            <a:off x="594360" y="566928"/>
            <a:ext cx="10972800" cy="0"/>
          </a:xfrm>
          <a:prstGeom prst="straightConnector1">
            <a:avLst/>
          </a:prstGeom>
          <a:noFill/>
          <a:ln cap="flat" cmpd="sng" w="50800">
            <a:solidFill>
              <a:srgbClr val="FFFDF7"/>
            </a:solidFill>
            <a:prstDash val="solid"/>
            <a:round/>
            <a:headEnd len="sm" w="sm" type="none"/>
            <a:tailEnd len="sm" w="sm" type="none"/>
          </a:ln>
        </p:spPr>
      </p:cxnSp>
      <p:sp>
        <p:nvSpPr>
          <p:cNvPr id="158" name="Google Shape;158;p5"/>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300"/>
              <a:buFont typeface="Arial"/>
              <a:buNone/>
            </a:pPr>
            <a:r>
              <a:rPr b="1" i="0" lang="en-US" sz="3300" u="none" cap="none" strike="noStrike">
                <a:solidFill>
                  <a:srgbClr val="FFFDF7"/>
                </a:solidFill>
                <a:latin typeface="Arial"/>
                <a:ea typeface="Arial"/>
                <a:cs typeface="Arial"/>
                <a:sym typeface="Arial"/>
              </a:rPr>
              <a:t>THE LETTER TEST</a:t>
            </a:r>
            <a:endParaRPr b="0" i="0" sz="3300" u="none" cap="none" strike="noStrike">
              <a:solidFill>
                <a:schemeClr val="dk1"/>
              </a:solidFill>
              <a:latin typeface="Calibri"/>
              <a:ea typeface="Calibri"/>
              <a:cs typeface="Calibri"/>
              <a:sym typeface="Calibri"/>
            </a:endParaRPr>
          </a:p>
        </p:txBody>
      </p:sp>
      <p:sp>
        <p:nvSpPr>
          <p:cNvPr id="159" name="Google Shape;159;p5"/>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350"/>
              <a:buFont typeface="Calibri"/>
              <a:buNone/>
            </a:pPr>
            <a:r>
              <a:rPr b="0" i="0" lang="en-US" sz="1350" u="none" cap="none" strike="noStrike">
                <a:solidFill>
                  <a:srgbClr val="B8B8B8"/>
                </a:solidFill>
                <a:latin typeface="Calibri"/>
                <a:ea typeface="Calibri"/>
                <a:cs typeface="Calibri"/>
                <a:sym typeface="Calibri"/>
              </a:rPr>
              <a:t>Four letters, four printing conditions. Find yours in your own model.</a:t>
            </a:r>
            <a:endParaRPr b="0" i="0" sz="1350" u="none" cap="none" strike="noStrike">
              <a:solidFill>
                <a:schemeClr val="dk1"/>
              </a:solidFill>
              <a:latin typeface="Calibri"/>
              <a:ea typeface="Calibri"/>
              <a:cs typeface="Calibri"/>
              <a:sym typeface="Calibri"/>
            </a:endParaRPr>
          </a:p>
        </p:txBody>
      </p:sp>
      <p:sp>
        <p:nvSpPr>
          <p:cNvPr id="160" name="Google Shape;160;p5"/>
          <p:cNvSpPr/>
          <p:nvPr/>
        </p:nvSpPr>
        <p:spPr>
          <a:xfrm>
            <a:off x="178308" y="1851660"/>
            <a:ext cx="2697480" cy="3703320"/>
          </a:xfrm>
          <a:prstGeom prst="rect">
            <a:avLst/>
          </a:prstGeom>
          <a:solidFill>
            <a:srgbClr val="C6F035"/>
          </a:solidFill>
          <a:ln cap="flat" cmpd="sng" w="9525">
            <a:solidFill>
              <a:srgbClr val="C6F0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109728" y="1783080"/>
            <a:ext cx="2697480" cy="37033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310896" y="1984248"/>
            <a:ext cx="2295144" cy="160020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420624" y="3465576"/>
            <a:ext cx="2075688" cy="914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310896" y="2075688"/>
            <a:ext cx="229514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600"/>
              <a:buFont typeface="Arial"/>
              <a:buNone/>
            </a:pPr>
            <a:r>
              <a:rPr b="1" i="0" lang="en-US" sz="7600" u="none" cap="none" strike="noStrike">
                <a:solidFill>
                  <a:srgbClr val="000000"/>
                </a:solidFill>
                <a:latin typeface="Arial"/>
                <a:ea typeface="Arial"/>
                <a:cs typeface="Arial"/>
                <a:sym typeface="Arial"/>
              </a:rPr>
              <a:t>H</a:t>
            </a:r>
            <a:endParaRPr b="0" i="0" sz="7600" u="none" cap="none" strike="noStrike">
              <a:solidFill>
                <a:schemeClr val="dk1"/>
              </a:solidFill>
              <a:latin typeface="Calibri"/>
              <a:ea typeface="Calibri"/>
              <a:cs typeface="Calibri"/>
              <a:sym typeface="Calibri"/>
            </a:endParaRPr>
          </a:p>
        </p:txBody>
      </p:sp>
      <p:sp>
        <p:nvSpPr>
          <p:cNvPr id="165" name="Google Shape;165;p5"/>
          <p:cNvSpPr/>
          <p:nvPr/>
        </p:nvSpPr>
        <p:spPr>
          <a:xfrm>
            <a:off x="310896" y="3721608"/>
            <a:ext cx="2295144" cy="438912"/>
          </a:xfrm>
          <a:prstGeom prst="rect">
            <a:avLst/>
          </a:prstGeom>
          <a:solidFill>
            <a:srgbClr val="C6F035"/>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310896" y="3822192"/>
            <a:ext cx="229514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PRINTS FINE</a:t>
            </a:r>
            <a:endParaRPr b="0" i="0" sz="1050" u="none" cap="none" strike="noStrike">
              <a:solidFill>
                <a:schemeClr val="dk1"/>
              </a:solidFill>
              <a:latin typeface="Calibri"/>
              <a:ea typeface="Calibri"/>
              <a:cs typeface="Calibri"/>
              <a:sym typeface="Calibri"/>
            </a:endParaRPr>
          </a:p>
        </p:txBody>
      </p:sp>
      <p:sp>
        <p:nvSpPr>
          <p:cNvPr id="167" name="Google Shape;167;p5"/>
          <p:cNvSpPr/>
          <p:nvPr/>
        </p:nvSpPr>
        <p:spPr>
          <a:xfrm>
            <a:off x="310896" y="4251960"/>
            <a:ext cx="22951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BRIDGE</a:t>
            </a:r>
            <a:endParaRPr b="0" i="0" sz="1300" u="none" cap="none" strike="noStrike">
              <a:solidFill>
                <a:schemeClr val="dk1"/>
              </a:solidFill>
              <a:latin typeface="Calibri"/>
              <a:ea typeface="Calibri"/>
              <a:cs typeface="Calibri"/>
              <a:sym typeface="Calibri"/>
            </a:endParaRPr>
          </a:p>
        </p:txBody>
      </p:sp>
      <p:sp>
        <p:nvSpPr>
          <p:cNvPr id="168" name="Google Shape;168;p5"/>
          <p:cNvSpPr/>
          <p:nvPr/>
        </p:nvSpPr>
        <p:spPr>
          <a:xfrm>
            <a:off x="310896" y="4581144"/>
            <a:ext cx="2295144" cy="7772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Calibri"/>
              <a:buNone/>
            </a:pPr>
            <a:r>
              <a:rPr b="0" i="0" lang="en-US" sz="1150" u="none" cap="none" strike="noStrike">
                <a:solidFill>
                  <a:srgbClr val="000000"/>
                </a:solidFill>
                <a:latin typeface="Calibri"/>
                <a:ea typeface="Calibri"/>
                <a:cs typeface="Calibri"/>
                <a:sym typeface="Calibri"/>
              </a:rPr>
              <a:t>The crossbar spans between two legs that are already there. Anchored at both ends, so it can stretch across.</a:t>
            </a:r>
            <a:endParaRPr b="0" i="0" sz="1150" u="none" cap="none" strike="noStrike">
              <a:solidFill>
                <a:schemeClr val="dk1"/>
              </a:solidFill>
              <a:latin typeface="Calibri"/>
              <a:ea typeface="Calibri"/>
              <a:cs typeface="Calibri"/>
              <a:sym typeface="Calibri"/>
            </a:endParaRPr>
          </a:p>
        </p:txBody>
      </p:sp>
      <p:sp>
        <p:nvSpPr>
          <p:cNvPr id="169" name="Google Shape;169;p5"/>
          <p:cNvSpPr/>
          <p:nvPr/>
        </p:nvSpPr>
        <p:spPr>
          <a:xfrm>
            <a:off x="3259836" y="1851660"/>
            <a:ext cx="2697480" cy="3703320"/>
          </a:xfrm>
          <a:prstGeom prst="rect">
            <a:avLst/>
          </a:prstGeom>
          <a:solidFill>
            <a:srgbClr val="FFE500"/>
          </a:solidFill>
          <a:ln cap="flat" cmpd="sng" w="9525">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3191256" y="1783080"/>
            <a:ext cx="2697480" cy="37033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3392424" y="1984248"/>
            <a:ext cx="2295144" cy="160020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3502152" y="3465576"/>
            <a:ext cx="2075688" cy="914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3392424" y="2075688"/>
            <a:ext cx="229514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600"/>
              <a:buFont typeface="Arial"/>
              <a:buNone/>
            </a:pPr>
            <a:r>
              <a:rPr b="1" i="0" lang="en-US" sz="7600" u="none" cap="none" strike="noStrike">
                <a:solidFill>
                  <a:srgbClr val="000000"/>
                </a:solidFill>
                <a:latin typeface="Arial"/>
                <a:ea typeface="Arial"/>
                <a:cs typeface="Arial"/>
                <a:sym typeface="Arial"/>
              </a:rPr>
              <a:t>V</a:t>
            </a:r>
            <a:endParaRPr b="0" i="0" sz="7600" u="none" cap="none" strike="noStrike">
              <a:solidFill>
                <a:schemeClr val="dk1"/>
              </a:solidFill>
              <a:latin typeface="Calibri"/>
              <a:ea typeface="Calibri"/>
              <a:cs typeface="Calibri"/>
              <a:sym typeface="Calibri"/>
            </a:endParaRPr>
          </a:p>
        </p:txBody>
      </p:sp>
      <p:sp>
        <p:nvSpPr>
          <p:cNvPr id="174" name="Google Shape;174;p5"/>
          <p:cNvSpPr/>
          <p:nvPr/>
        </p:nvSpPr>
        <p:spPr>
          <a:xfrm>
            <a:off x="3392424" y="3721608"/>
            <a:ext cx="2295144" cy="438912"/>
          </a:xfrm>
          <a:prstGeom prst="rect">
            <a:avLst/>
          </a:prstGeom>
          <a:solidFill>
            <a:srgbClr val="FFE500"/>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3392424" y="3822192"/>
            <a:ext cx="229514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FINE TO 45°</a:t>
            </a:r>
            <a:endParaRPr b="0" i="0" sz="1050" u="none" cap="none" strike="noStrike">
              <a:solidFill>
                <a:schemeClr val="dk1"/>
              </a:solidFill>
              <a:latin typeface="Calibri"/>
              <a:ea typeface="Calibri"/>
              <a:cs typeface="Calibri"/>
              <a:sym typeface="Calibri"/>
            </a:endParaRPr>
          </a:p>
        </p:txBody>
      </p:sp>
      <p:sp>
        <p:nvSpPr>
          <p:cNvPr id="176" name="Google Shape;176;p5"/>
          <p:cNvSpPr/>
          <p:nvPr/>
        </p:nvSpPr>
        <p:spPr>
          <a:xfrm>
            <a:off x="3392424" y="4251960"/>
            <a:ext cx="22951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SLOPE</a:t>
            </a:r>
            <a:endParaRPr b="0" i="0" sz="1300" u="none" cap="none" strike="noStrike">
              <a:solidFill>
                <a:schemeClr val="dk1"/>
              </a:solidFill>
              <a:latin typeface="Calibri"/>
              <a:ea typeface="Calibri"/>
              <a:cs typeface="Calibri"/>
              <a:sym typeface="Calibri"/>
            </a:endParaRPr>
          </a:p>
        </p:txBody>
      </p:sp>
      <p:sp>
        <p:nvSpPr>
          <p:cNvPr id="177" name="Google Shape;177;p5"/>
          <p:cNvSpPr/>
          <p:nvPr/>
        </p:nvSpPr>
        <p:spPr>
          <a:xfrm>
            <a:off x="3392424" y="4581144"/>
            <a:ext cx="2295144" cy="7772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Calibri"/>
              <a:buNone/>
            </a:pPr>
            <a:r>
              <a:rPr b="0" i="0" lang="en-US" sz="1150" u="none" cap="none" strike="noStrike">
                <a:solidFill>
                  <a:srgbClr val="000000"/>
                </a:solidFill>
                <a:latin typeface="Calibri"/>
                <a:ea typeface="Calibri"/>
                <a:cs typeface="Calibri"/>
                <a:sym typeface="Calibri"/>
              </a:rPr>
              <a:t>Each layer steps outward a little. Gentle is fine; past about 45° from vertical it starts to droop.</a:t>
            </a:r>
            <a:endParaRPr b="0" i="0" sz="1150" u="none" cap="none" strike="noStrike">
              <a:solidFill>
                <a:schemeClr val="dk1"/>
              </a:solidFill>
              <a:latin typeface="Calibri"/>
              <a:ea typeface="Calibri"/>
              <a:cs typeface="Calibri"/>
              <a:sym typeface="Calibri"/>
            </a:endParaRPr>
          </a:p>
        </p:txBody>
      </p:sp>
      <p:sp>
        <p:nvSpPr>
          <p:cNvPr id="178" name="Google Shape;178;p5"/>
          <p:cNvSpPr/>
          <p:nvPr/>
        </p:nvSpPr>
        <p:spPr>
          <a:xfrm>
            <a:off x="6341364" y="1851660"/>
            <a:ext cx="2697480" cy="3703320"/>
          </a:xfrm>
          <a:prstGeom prst="rect">
            <a:avLst/>
          </a:prstGeom>
          <a:solidFill>
            <a:srgbClr val="FF4D8D"/>
          </a:solidFill>
          <a:ln cap="flat" cmpd="sng" w="9525">
            <a:solidFill>
              <a:srgbClr val="FF4D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6272784" y="1783080"/>
            <a:ext cx="2697480" cy="37033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6473952" y="1984248"/>
            <a:ext cx="2295144" cy="160020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6583680" y="3465576"/>
            <a:ext cx="2075688" cy="914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p:nvPr/>
        </p:nvSpPr>
        <p:spPr>
          <a:xfrm>
            <a:off x="6473952" y="2075688"/>
            <a:ext cx="229514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600"/>
              <a:buFont typeface="Arial"/>
              <a:buNone/>
            </a:pPr>
            <a:r>
              <a:rPr b="1" i="0" lang="en-US" sz="7600" u="none" cap="none" strike="noStrike">
                <a:solidFill>
                  <a:srgbClr val="000000"/>
                </a:solidFill>
                <a:latin typeface="Arial"/>
                <a:ea typeface="Arial"/>
                <a:cs typeface="Arial"/>
                <a:sym typeface="Arial"/>
              </a:rPr>
              <a:t>T</a:t>
            </a:r>
            <a:endParaRPr b="0" i="0" sz="7600" u="none" cap="none" strike="noStrike">
              <a:solidFill>
                <a:schemeClr val="dk1"/>
              </a:solidFill>
              <a:latin typeface="Calibri"/>
              <a:ea typeface="Calibri"/>
              <a:cs typeface="Calibri"/>
              <a:sym typeface="Calibri"/>
            </a:endParaRPr>
          </a:p>
        </p:txBody>
      </p:sp>
      <p:sp>
        <p:nvSpPr>
          <p:cNvPr id="183" name="Google Shape;183;p5"/>
          <p:cNvSpPr/>
          <p:nvPr/>
        </p:nvSpPr>
        <p:spPr>
          <a:xfrm>
            <a:off x="6473952" y="3721608"/>
            <a:ext cx="2295144" cy="438912"/>
          </a:xfrm>
          <a:prstGeom prst="rect">
            <a:avLst/>
          </a:prstGeom>
          <a:solidFill>
            <a:srgbClr val="FF4D8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6473952" y="3822192"/>
            <a:ext cx="229514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DROOPS</a:t>
            </a:r>
            <a:endParaRPr b="0" i="0" sz="1050" u="none" cap="none" strike="noStrike">
              <a:solidFill>
                <a:schemeClr val="dk1"/>
              </a:solidFill>
              <a:latin typeface="Calibri"/>
              <a:ea typeface="Calibri"/>
              <a:cs typeface="Calibri"/>
              <a:sym typeface="Calibri"/>
            </a:endParaRPr>
          </a:p>
        </p:txBody>
      </p:sp>
      <p:sp>
        <p:nvSpPr>
          <p:cNvPr id="185" name="Google Shape;185;p5"/>
          <p:cNvSpPr/>
          <p:nvPr/>
        </p:nvSpPr>
        <p:spPr>
          <a:xfrm>
            <a:off x="6473952" y="4251960"/>
            <a:ext cx="22951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CANTILEVER</a:t>
            </a:r>
            <a:endParaRPr b="0" i="0" sz="1300" u="none" cap="none" strike="noStrike">
              <a:solidFill>
                <a:schemeClr val="dk1"/>
              </a:solidFill>
              <a:latin typeface="Calibri"/>
              <a:ea typeface="Calibri"/>
              <a:cs typeface="Calibri"/>
              <a:sym typeface="Calibri"/>
            </a:endParaRPr>
          </a:p>
        </p:txBody>
      </p:sp>
      <p:sp>
        <p:nvSpPr>
          <p:cNvPr id="186" name="Google Shape;186;p5"/>
          <p:cNvSpPr/>
          <p:nvPr/>
        </p:nvSpPr>
        <p:spPr>
          <a:xfrm>
            <a:off x="6473952" y="4581144"/>
            <a:ext cx="2295144" cy="7772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Calibri"/>
              <a:buNone/>
            </a:pPr>
            <a:r>
              <a:rPr b="0" i="0" lang="en-US" sz="1150" u="none" cap="none" strike="noStrike">
                <a:solidFill>
                  <a:srgbClr val="000000"/>
                </a:solidFill>
                <a:latin typeface="Calibri"/>
                <a:ea typeface="Calibri"/>
                <a:cs typeface="Calibri"/>
                <a:sym typeface="Calibri"/>
              </a:rPr>
              <a:t>The arms start in mid-air and are anchored at one end only. Nothing to stretch to.</a:t>
            </a:r>
            <a:endParaRPr b="0" i="0" sz="1150" u="none" cap="none" strike="noStrike">
              <a:solidFill>
                <a:schemeClr val="dk1"/>
              </a:solidFill>
              <a:latin typeface="Calibri"/>
              <a:ea typeface="Calibri"/>
              <a:cs typeface="Calibri"/>
              <a:sym typeface="Calibri"/>
            </a:endParaRPr>
          </a:p>
        </p:txBody>
      </p:sp>
      <p:sp>
        <p:nvSpPr>
          <p:cNvPr id="187" name="Google Shape;187;p5"/>
          <p:cNvSpPr/>
          <p:nvPr/>
        </p:nvSpPr>
        <p:spPr>
          <a:xfrm>
            <a:off x="9422892" y="1851660"/>
            <a:ext cx="2697480" cy="3703320"/>
          </a:xfrm>
          <a:prstGeom prst="rect">
            <a:avLst/>
          </a:prstGeom>
          <a:solidFill>
            <a:srgbClr val="FF4D8D"/>
          </a:solidFill>
          <a:ln cap="flat" cmpd="sng" w="9525">
            <a:solidFill>
              <a:srgbClr val="FF4D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9354312" y="1783080"/>
            <a:ext cx="2697480" cy="37033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9555480" y="1984248"/>
            <a:ext cx="2295144" cy="160020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9665208" y="3465576"/>
            <a:ext cx="2075688" cy="914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9555480" y="2075688"/>
            <a:ext cx="229514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600"/>
              <a:buFont typeface="Arial"/>
              <a:buNone/>
            </a:pPr>
            <a:r>
              <a:rPr b="1" i="0" lang="en-US" sz="7600" u="none" cap="none" strike="noStrike">
                <a:solidFill>
                  <a:srgbClr val="000000"/>
                </a:solidFill>
                <a:latin typeface="Arial"/>
                <a:ea typeface="Arial"/>
                <a:cs typeface="Arial"/>
                <a:sym typeface="Arial"/>
              </a:rPr>
              <a:t>i</a:t>
            </a:r>
            <a:endParaRPr b="0" i="0" sz="7600" u="none" cap="none" strike="noStrike">
              <a:solidFill>
                <a:schemeClr val="dk1"/>
              </a:solidFill>
              <a:latin typeface="Calibri"/>
              <a:ea typeface="Calibri"/>
              <a:cs typeface="Calibri"/>
              <a:sym typeface="Calibri"/>
            </a:endParaRPr>
          </a:p>
        </p:txBody>
      </p:sp>
      <p:sp>
        <p:nvSpPr>
          <p:cNvPr id="192" name="Google Shape;192;p5"/>
          <p:cNvSpPr/>
          <p:nvPr/>
        </p:nvSpPr>
        <p:spPr>
          <a:xfrm>
            <a:off x="9555480" y="3721608"/>
            <a:ext cx="2295144" cy="438912"/>
          </a:xfrm>
          <a:prstGeom prst="rect">
            <a:avLst/>
          </a:prstGeom>
          <a:solidFill>
            <a:srgbClr val="FF4D8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9555480" y="3822192"/>
            <a:ext cx="229514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IMPOSSIBLE</a:t>
            </a:r>
            <a:endParaRPr b="0" i="0" sz="1050" u="none" cap="none" strike="noStrike">
              <a:solidFill>
                <a:schemeClr val="dk1"/>
              </a:solidFill>
              <a:latin typeface="Calibri"/>
              <a:ea typeface="Calibri"/>
              <a:cs typeface="Calibri"/>
              <a:sym typeface="Calibri"/>
            </a:endParaRPr>
          </a:p>
        </p:txBody>
      </p:sp>
      <p:sp>
        <p:nvSpPr>
          <p:cNvPr id="194" name="Google Shape;194;p5"/>
          <p:cNvSpPr/>
          <p:nvPr/>
        </p:nvSpPr>
        <p:spPr>
          <a:xfrm>
            <a:off x="9555480" y="4251960"/>
            <a:ext cx="22951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ISLAND</a:t>
            </a:r>
            <a:endParaRPr b="0" i="0" sz="1300" u="none" cap="none" strike="noStrike">
              <a:solidFill>
                <a:schemeClr val="dk1"/>
              </a:solidFill>
              <a:latin typeface="Calibri"/>
              <a:ea typeface="Calibri"/>
              <a:cs typeface="Calibri"/>
              <a:sym typeface="Calibri"/>
            </a:endParaRPr>
          </a:p>
        </p:txBody>
      </p:sp>
      <p:sp>
        <p:nvSpPr>
          <p:cNvPr id="195" name="Google Shape;195;p5"/>
          <p:cNvSpPr/>
          <p:nvPr/>
        </p:nvSpPr>
        <p:spPr>
          <a:xfrm>
            <a:off x="9555480" y="4581144"/>
            <a:ext cx="2295144" cy="7772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Calibri"/>
              <a:buNone/>
            </a:pPr>
            <a:r>
              <a:rPr b="0" i="0" lang="en-US" sz="1150" u="none" cap="none" strike="noStrike">
                <a:solidFill>
                  <a:srgbClr val="000000"/>
                </a:solidFill>
                <a:latin typeface="Calibri"/>
                <a:ea typeface="Calibri"/>
                <a:cs typeface="Calibri"/>
                <a:sym typeface="Calibri"/>
              </a:rPr>
              <a:t>The dot begins with nothing underneath it at all. There is no version of this without support.</a:t>
            </a:r>
            <a:endParaRPr b="0" i="0" sz="1150" u="none" cap="none" strike="noStrike">
              <a:solidFill>
                <a:schemeClr val="dk1"/>
              </a:solidFill>
              <a:latin typeface="Calibri"/>
              <a:ea typeface="Calibri"/>
              <a:cs typeface="Calibri"/>
              <a:sym typeface="Calibri"/>
            </a:endParaRPr>
          </a:p>
        </p:txBody>
      </p:sp>
      <p:sp>
        <p:nvSpPr>
          <p:cNvPr id="196" name="Google Shape;196;p5"/>
          <p:cNvSpPr/>
          <p:nvPr/>
        </p:nvSpPr>
        <p:spPr>
          <a:xfrm>
            <a:off x="662940" y="5783580"/>
            <a:ext cx="10972800" cy="658368"/>
          </a:xfrm>
          <a:prstGeom prst="rect">
            <a:avLst/>
          </a:prstGeom>
          <a:solidFill>
            <a:srgbClr val="FFFDF7"/>
          </a:solidFill>
          <a:ln cap="flat" cmpd="sng" w="9525">
            <a:solidFill>
              <a:srgbClr val="FFFD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594360" y="5715000"/>
            <a:ext cx="10972800" cy="658368"/>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914400" y="5879592"/>
            <a:ext cx="10607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A BRIDGE IS ANCHORED AT BOTH ENDS. A CANTILEVER IS NOT. AN ISLAND IS ANCHORED TO NOTHING. THAT IS THE WHOLE DIFFERENCE.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3" name="Shape 203"/>
        <p:cNvGrpSpPr/>
        <p:nvPr/>
      </p:nvGrpSpPr>
      <p:grpSpPr>
        <a:xfrm>
          <a:off x="0" y="0"/>
          <a:ext cx="0" cy="0"/>
          <a:chOff x="0" y="0"/>
          <a:chExt cx="0" cy="0"/>
        </a:xfrm>
      </p:grpSpPr>
      <p:cxnSp>
        <p:nvCxnSpPr>
          <p:cNvPr id="204" name="Google Shape;204;p6"/>
          <p:cNvCxnSpPr/>
          <p:nvPr/>
        </p:nvCxnSpPr>
        <p:spPr>
          <a:xfrm>
            <a:off x="594360" y="566928"/>
            <a:ext cx="10972800" cy="0"/>
          </a:xfrm>
          <a:prstGeom prst="straightConnector1">
            <a:avLst/>
          </a:prstGeom>
          <a:noFill/>
          <a:ln cap="flat" cmpd="sng" w="50800">
            <a:solidFill>
              <a:srgbClr val="FFFDF7"/>
            </a:solidFill>
            <a:prstDash val="solid"/>
            <a:round/>
            <a:headEnd len="sm" w="sm" type="none"/>
            <a:tailEnd len="sm" w="sm" type="none"/>
          </a:ln>
        </p:spPr>
      </p:cxnSp>
      <p:sp>
        <p:nvSpPr>
          <p:cNvPr id="205" name="Google Shape;205;p6"/>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300"/>
              <a:buFont typeface="Arial"/>
              <a:buNone/>
            </a:pPr>
            <a:r>
              <a:rPr b="1" i="0" lang="en-US" sz="3300" u="none" cap="none" strike="noStrike">
                <a:solidFill>
                  <a:srgbClr val="FFFDF7"/>
                </a:solidFill>
                <a:latin typeface="Arial"/>
                <a:ea typeface="Arial"/>
                <a:cs typeface="Arial"/>
                <a:sym typeface="Arial"/>
              </a:rPr>
              <a:t>ORIENTATION IS YOUR ONLY LEVER</a:t>
            </a:r>
            <a:endParaRPr b="0" i="0" sz="3300" u="none" cap="none" strike="noStrike">
              <a:solidFill>
                <a:schemeClr val="dk1"/>
              </a:solidFill>
              <a:latin typeface="Calibri"/>
              <a:ea typeface="Calibri"/>
              <a:cs typeface="Calibri"/>
              <a:sym typeface="Calibri"/>
            </a:endParaRPr>
          </a:p>
        </p:txBody>
      </p:sp>
      <p:sp>
        <p:nvSpPr>
          <p:cNvPr id="206" name="Google Shape;206;p6"/>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350"/>
              <a:buFont typeface="Calibri"/>
              <a:buNone/>
            </a:pPr>
            <a:r>
              <a:rPr b="0" i="0" lang="en-US" sz="1350" u="none" cap="none" strike="noStrike">
                <a:solidFill>
                  <a:srgbClr val="B8B8B8"/>
                </a:solidFill>
                <a:latin typeface="Calibri"/>
                <a:ea typeface="Calibri"/>
                <a:cs typeface="Calibri"/>
                <a:sym typeface="Calibri"/>
              </a:rPr>
              <a:t>Same geometry. Two ways to place it. Very different prints.</a:t>
            </a:r>
            <a:endParaRPr b="0" i="0" sz="1350" u="none" cap="none" strike="noStrike">
              <a:solidFill>
                <a:schemeClr val="dk1"/>
              </a:solidFill>
              <a:latin typeface="Calibri"/>
              <a:ea typeface="Calibri"/>
              <a:cs typeface="Calibri"/>
              <a:sym typeface="Calibri"/>
            </a:endParaRPr>
          </a:p>
        </p:txBody>
      </p:sp>
      <p:sp>
        <p:nvSpPr>
          <p:cNvPr id="207" name="Google Shape;207;p6"/>
          <p:cNvSpPr/>
          <p:nvPr/>
        </p:nvSpPr>
        <p:spPr>
          <a:xfrm>
            <a:off x="662940" y="1851660"/>
            <a:ext cx="5349240" cy="3429000"/>
          </a:xfrm>
          <a:prstGeom prst="rect">
            <a:avLst/>
          </a:prstGeom>
          <a:solidFill>
            <a:srgbClr val="FF4D8D"/>
          </a:solidFill>
          <a:ln cap="flat" cmpd="sng" w="9525">
            <a:solidFill>
              <a:srgbClr val="FF4D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594360" y="1783080"/>
            <a:ext cx="5349240" cy="34290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594360" y="1783080"/>
            <a:ext cx="5349240" cy="530352"/>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868680" y="1892808"/>
            <a:ext cx="4800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AS MODELLED</a:t>
            </a:r>
            <a:endParaRPr b="0" i="0" sz="1300" u="none" cap="none" strike="noStrike">
              <a:solidFill>
                <a:schemeClr val="dk1"/>
              </a:solidFill>
              <a:latin typeface="Calibri"/>
              <a:ea typeface="Calibri"/>
              <a:cs typeface="Calibri"/>
              <a:sym typeface="Calibri"/>
            </a:endParaRPr>
          </a:p>
        </p:txBody>
      </p:sp>
      <p:sp>
        <p:nvSpPr>
          <p:cNvPr id="211" name="Google Shape;211;p6"/>
          <p:cNvSpPr/>
          <p:nvPr/>
        </p:nvSpPr>
        <p:spPr>
          <a:xfrm>
            <a:off x="868680" y="2468880"/>
            <a:ext cx="4800600" cy="160020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a:off x="1005840" y="3959352"/>
            <a:ext cx="4526280" cy="914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
          <p:cNvSpPr/>
          <p:nvPr/>
        </p:nvSpPr>
        <p:spPr>
          <a:xfrm>
            <a:off x="2240280" y="2971800"/>
            <a:ext cx="502920" cy="987552"/>
          </a:xfrm>
          <a:prstGeom prst="rect">
            <a:avLst/>
          </a:prstGeom>
          <a:solidFill>
            <a:srgbClr val="FFFD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6"/>
          <p:cNvSpPr/>
          <p:nvPr/>
        </p:nvSpPr>
        <p:spPr>
          <a:xfrm>
            <a:off x="2743200" y="2971800"/>
            <a:ext cx="1188720" cy="384048"/>
          </a:xfrm>
          <a:prstGeom prst="rect">
            <a:avLst/>
          </a:prstGeom>
          <a:solidFill>
            <a:srgbClr val="FFFD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5" name="Google Shape;215;p6"/>
          <p:cNvCxnSpPr/>
          <p:nvPr/>
        </p:nvCxnSpPr>
        <p:spPr>
          <a:xfrm>
            <a:off x="2880360" y="3355848"/>
            <a:ext cx="0" cy="603504"/>
          </a:xfrm>
          <a:prstGeom prst="straightConnector1">
            <a:avLst/>
          </a:prstGeom>
          <a:noFill/>
          <a:ln cap="flat" cmpd="sng" w="19050">
            <a:solidFill>
              <a:srgbClr val="FF4D8D"/>
            </a:solidFill>
            <a:prstDash val="solid"/>
            <a:round/>
            <a:headEnd len="sm" w="sm" type="none"/>
            <a:tailEnd len="sm" w="sm" type="none"/>
          </a:ln>
        </p:spPr>
      </p:cxnSp>
      <p:cxnSp>
        <p:nvCxnSpPr>
          <p:cNvPr id="216" name="Google Shape;216;p6"/>
          <p:cNvCxnSpPr/>
          <p:nvPr/>
        </p:nvCxnSpPr>
        <p:spPr>
          <a:xfrm>
            <a:off x="3099816" y="3355848"/>
            <a:ext cx="0" cy="603504"/>
          </a:xfrm>
          <a:prstGeom prst="straightConnector1">
            <a:avLst/>
          </a:prstGeom>
          <a:noFill/>
          <a:ln cap="flat" cmpd="sng" w="19050">
            <a:solidFill>
              <a:srgbClr val="FF4D8D"/>
            </a:solidFill>
            <a:prstDash val="solid"/>
            <a:round/>
            <a:headEnd len="sm" w="sm" type="none"/>
            <a:tailEnd len="sm" w="sm" type="none"/>
          </a:ln>
        </p:spPr>
      </p:cxnSp>
      <p:cxnSp>
        <p:nvCxnSpPr>
          <p:cNvPr id="217" name="Google Shape;217;p6"/>
          <p:cNvCxnSpPr/>
          <p:nvPr/>
        </p:nvCxnSpPr>
        <p:spPr>
          <a:xfrm>
            <a:off x="3319272" y="3355848"/>
            <a:ext cx="0" cy="603504"/>
          </a:xfrm>
          <a:prstGeom prst="straightConnector1">
            <a:avLst/>
          </a:prstGeom>
          <a:noFill/>
          <a:ln cap="flat" cmpd="sng" w="19050">
            <a:solidFill>
              <a:srgbClr val="FF4D8D"/>
            </a:solidFill>
            <a:prstDash val="solid"/>
            <a:round/>
            <a:headEnd len="sm" w="sm" type="none"/>
            <a:tailEnd len="sm" w="sm" type="none"/>
          </a:ln>
        </p:spPr>
      </p:cxnSp>
      <p:cxnSp>
        <p:nvCxnSpPr>
          <p:cNvPr id="218" name="Google Shape;218;p6"/>
          <p:cNvCxnSpPr/>
          <p:nvPr/>
        </p:nvCxnSpPr>
        <p:spPr>
          <a:xfrm>
            <a:off x="3538728" y="3355848"/>
            <a:ext cx="0" cy="603504"/>
          </a:xfrm>
          <a:prstGeom prst="straightConnector1">
            <a:avLst/>
          </a:prstGeom>
          <a:noFill/>
          <a:ln cap="flat" cmpd="sng" w="19050">
            <a:solidFill>
              <a:srgbClr val="FF4D8D"/>
            </a:solidFill>
            <a:prstDash val="solid"/>
            <a:round/>
            <a:headEnd len="sm" w="sm" type="none"/>
            <a:tailEnd len="sm" w="sm" type="none"/>
          </a:ln>
        </p:spPr>
      </p:cxnSp>
      <p:cxnSp>
        <p:nvCxnSpPr>
          <p:cNvPr id="219" name="Google Shape;219;p6"/>
          <p:cNvCxnSpPr/>
          <p:nvPr/>
        </p:nvCxnSpPr>
        <p:spPr>
          <a:xfrm>
            <a:off x="3758184" y="3355848"/>
            <a:ext cx="0" cy="603504"/>
          </a:xfrm>
          <a:prstGeom prst="straightConnector1">
            <a:avLst/>
          </a:prstGeom>
          <a:noFill/>
          <a:ln cap="flat" cmpd="sng" w="19050">
            <a:solidFill>
              <a:srgbClr val="FF4D8D"/>
            </a:solidFill>
            <a:prstDash val="solid"/>
            <a:round/>
            <a:headEnd len="sm" w="sm" type="none"/>
            <a:tailEnd len="sm" w="sm" type="none"/>
          </a:ln>
        </p:spPr>
      </p:cxnSp>
      <p:sp>
        <p:nvSpPr>
          <p:cNvPr id="220" name="Google Shape;220;p6"/>
          <p:cNvSpPr/>
          <p:nvPr/>
        </p:nvSpPr>
        <p:spPr>
          <a:xfrm>
            <a:off x="4069080" y="3529584"/>
            <a:ext cx="10058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8D"/>
              </a:buClr>
              <a:buSzPts val="1000"/>
              <a:buFont typeface="Calibri"/>
              <a:buNone/>
            </a:pPr>
            <a:r>
              <a:rPr b="0" i="1" lang="en-US" sz="1000" u="none" cap="none" strike="noStrike">
                <a:solidFill>
                  <a:srgbClr val="FF4D8D"/>
                </a:solidFill>
                <a:latin typeface="Calibri"/>
                <a:ea typeface="Calibri"/>
                <a:cs typeface="Calibri"/>
                <a:sym typeface="Calibri"/>
              </a:rPr>
              <a:t>support</a:t>
            </a:r>
            <a:endParaRPr b="0" i="0" sz="1000" u="none" cap="none" strike="noStrike">
              <a:solidFill>
                <a:schemeClr val="dk1"/>
              </a:solidFill>
              <a:latin typeface="Calibri"/>
              <a:ea typeface="Calibri"/>
              <a:cs typeface="Calibri"/>
              <a:sym typeface="Calibri"/>
            </a:endParaRPr>
          </a:p>
        </p:txBody>
      </p:sp>
      <p:cxnSp>
        <p:nvCxnSpPr>
          <p:cNvPr id="221" name="Google Shape;221;p6"/>
          <p:cNvCxnSpPr/>
          <p:nvPr/>
        </p:nvCxnSpPr>
        <p:spPr>
          <a:xfrm rot="10800000">
            <a:off x="3611880" y="3648456"/>
            <a:ext cx="384048" cy="0"/>
          </a:xfrm>
          <a:prstGeom prst="straightConnector1">
            <a:avLst/>
          </a:prstGeom>
          <a:noFill/>
          <a:ln cap="flat" cmpd="sng" w="15875">
            <a:solidFill>
              <a:srgbClr val="FF4D8D"/>
            </a:solidFill>
            <a:prstDash val="solid"/>
            <a:round/>
            <a:headEnd len="sm" w="sm" type="none"/>
            <a:tailEnd len="sm" w="sm" type="none"/>
          </a:ln>
        </p:spPr>
      </p:cxnSp>
      <p:sp>
        <p:nvSpPr>
          <p:cNvPr id="222" name="Google Shape;222;p6"/>
          <p:cNvSpPr/>
          <p:nvPr/>
        </p:nvSpPr>
        <p:spPr>
          <a:xfrm>
            <a:off x="868680" y="4206240"/>
            <a:ext cx="48006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Overhang under the arm. Needs support, which costs material, time, and a scarred surface where it is removed.</a:t>
            </a:r>
            <a:endParaRPr b="0" i="0" sz="1250" u="none" cap="none" strike="noStrike">
              <a:solidFill>
                <a:schemeClr val="dk1"/>
              </a:solidFill>
              <a:latin typeface="Calibri"/>
              <a:ea typeface="Calibri"/>
              <a:cs typeface="Calibri"/>
              <a:sym typeface="Calibri"/>
            </a:endParaRPr>
          </a:p>
        </p:txBody>
      </p:sp>
      <p:sp>
        <p:nvSpPr>
          <p:cNvPr id="223" name="Google Shape;223;p6"/>
          <p:cNvSpPr/>
          <p:nvPr/>
        </p:nvSpPr>
        <p:spPr>
          <a:xfrm>
            <a:off x="6286500" y="1851660"/>
            <a:ext cx="5349240" cy="3429000"/>
          </a:xfrm>
          <a:prstGeom prst="rect">
            <a:avLst/>
          </a:prstGeom>
          <a:solidFill>
            <a:srgbClr val="C6F035"/>
          </a:solidFill>
          <a:ln cap="flat" cmpd="sng" w="9525">
            <a:solidFill>
              <a:srgbClr val="C6F0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p:nvPr/>
        </p:nvSpPr>
        <p:spPr>
          <a:xfrm>
            <a:off x="6217920" y="1783080"/>
            <a:ext cx="5349240" cy="34290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6"/>
          <p:cNvSpPr/>
          <p:nvPr/>
        </p:nvSpPr>
        <p:spPr>
          <a:xfrm>
            <a:off x="6217920" y="1783080"/>
            <a:ext cx="5349240" cy="530352"/>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6"/>
          <p:cNvSpPr/>
          <p:nvPr/>
        </p:nvSpPr>
        <p:spPr>
          <a:xfrm>
            <a:off x="6492240" y="1892808"/>
            <a:ext cx="4800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ROTATED</a:t>
            </a:r>
            <a:endParaRPr b="0" i="0" sz="1300" u="none" cap="none" strike="noStrike">
              <a:solidFill>
                <a:schemeClr val="dk1"/>
              </a:solidFill>
              <a:latin typeface="Calibri"/>
              <a:ea typeface="Calibri"/>
              <a:cs typeface="Calibri"/>
              <a:sym typeface="Calibri"/>
            </a:endParaRPr>
          </a:p>
        </p:txBody>
      </p:sp>
      <p:sp>
        <p:nvSpPr>
          <p:cNvPr id="227" name="Google Shape;227;p6"/>
          <p:cNvSpPr/>
          <p:nvPr/>
        </p:nvSpPr>
        <p:spPr>
          <a:xfrm>
            <a:off x="6492240" y="2468880"/>
            <a:ext cx="4800600" cy="160020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
          <p:cNvSpPr/>
          <p:nvPr/>
        </p:nvSpPr>
        <p:spPr>
          <a:xfrm>
            <a:off x="6629400" y="3959352"/>
            <a:ext cx="4526280" cy="914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6"/>
          <p:cNvSpPr/>
          <p:nvPr/>
        </p:nvSpPr>
        <p:spPr>
          <a:xfrm>
            <a:off x="7863840" y="3575304"/>
            <a:ext cx="1691640" cy="384048"/>
          </a:xfrm>
          <a:prstGeom prst="rect">
            <a:avLst/>
          </a:prstGeom>
          <a:solidFill>
            <a:srgbClr val="FFFD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
          <p:cNvSpPr/>
          <p:nvPr/>
        </p:nvSpPr>
        <p:spPr>
          <a:xfrm>
            <a:off x="7863840" y="2971800"/>
            <a:ext cx="502920" cy="603504"/>
          </a:xfrm>
          <a:prstGeom prst="rect">
            <a:avLst/>
          </a:prstGeom>
          <a:solidFill>
            <a:srgbClr val="FFFD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6"/>
          <p:cNvSpPr/>
          <p:nvPr/>
        </p:nvSpPr>
        <p:spPr>
          <a:xfrm>
            <a:off x="6492240" y="4206240"/>
            <a:ext cx="48006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The same arm now sits on the bed. No support, faster, cleaner face — and stronger, because the load is not across a layer line.</a:t>
            </a:r>
            <a:endParaRPr b="0" i="0" sz="1250" u="none" cap="none" strike="noStrike">
              <a:solidFill>
                <a:schemeClr val="dk1"/>
              </a:solidFill>
              <a:latin typeface="Calibri"/>
              <a:ea typeface="Calibri"/>
              <a:cs typeface="Calibri"/>
              <a:sym typeface="Calibri"/>
            </a:endParaRPr>
          </a:p>
        </p:txBody>
      </p:sp>
      <p:sp>
        <p:nvSpPr>
          <p:cNvPr id="232" name="Google Shape;232;p6"/>
          <p:cNvSpPr/>
          <p:nvPr/>
        </p:nvSpPr>
        <p:spPr>
          <a:xfrm>
            <a:off x="662940" y="5509260"/>
            <a:ext cx="10972800" cy="713232"/>
          </a:xfrm>
          <a:prstGeom prst="rect">
            <a:avLst/>
          </a:prstGeom>
          <a:solidFill>
            <a:srgbClr val="00D9E1"/>
          </a:solidFill>
          <a:ln cap="flat" cmpd="sng" w="9525">
            <a:solidFill>
              <a:srgbClr val="00D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p:nvPr/>
        </p:nvSpPr>
        <p:spPr>
          <a:xfrm>
            <a:off x="594360" y="5440680"/>
            <a:ext cx="10972800" cy="713232"/>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914400" y="5614416"/>
            <a:ext cx="10515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NO SUPPORTS ARE PERMITTED ON THE 0.1 PRINT. IF IT CANNOT PRINT UNSUPPORTED IN ANY ORIENTATION, CHANGE THE GEOMETRY.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239" name="Shape 239"/>
        <p:cNvGrpSpPr/>
        <p:nvPr/>
      </p:nvGrpSpPr>
      <p:grpSpPr>
        <a:xfrm>
          <a:off x="0" y="0"/>
          <a:ext cx="0" cy="0"/>
          <a:chOff x="0" y="0"/>
          <a:chExt cx="0" cy="0"/>
        </a:xfrm>
      </p:grpSpPr>
      <p:cxnSp>
        <p:nvCxnSpPr>
          <p:cNvPr id="240" name="Google Shape;240;p7"/>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241" name="Google Shape;241;p7"/>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WHAT THE SLICER DOES</a:t>
            </a:r>
            <a:endParaRPr b="0" i="0" sz="3300" u="none" cap="none" strike="noStrike">
              <a:solidFill>
                <a:schemeClr val="dk1"/>
              </a:solidFill>
              <a:latin typeface="Calibri"/>
              <a:ea typeface="Calibri"/>
              <a:cs typeface="Calibri"/>
              <a:sym typeface="Calibri"/>
            </a:endParaRPr>
          </a:p>
        </p:txBody>
      </p:sp>
      <p:sp>
        <p:nvSpPr>
          <p:cNvPr id="242" name="Google Shape;242;p7"/>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b="0" i="0" lang="en-US" sz="1350" u="none" cap="none" strike="noStrike">
                <a:solidFill>
                  <a:srgbClr val="6B6B6B"/>
                </a:solidFill>
                <a:latin typeface="Calibri"/>
                <a:ea typeface="Calibri"/>
                <a:cs typeface="Calibri"/>
                <a:sym typeface="Calibri"/>
              </a:rPr>
              <a:t>Turns a solid into a list of moves. This is the same idea as Module 2.</a:t>
            </a:r>
            <a:endParaRPr b="0" i="0" sz="1350" u="none" cap="none" strike="noStrike">
              <a:solidFill>
                <a:schemeClr val="dk1"/>
              </a:solidFill>
              <a:latin typeface="Calibri"/>
              <a:ea typeface="Calibri"/>
              <a:cs typeface="Calibri"/>
              <a:sym typeface="Calibri"/>
            </a:endParaRPr>
          </a:p>
        </p:txBody>
      </p:sp>
      <p:sp>
        <p:nvSpPr>
          <p:cNvPr id="243" name="Google Shape;243;p7"/>
          <p:cNvSpPr/>
          <p:nvPr/>
        </p:nvSpPr>
        <p:spPr>
          <a:xfrm>
            <a:off x="662940" y="1760220"/>
            <a:ext cx="73152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594360" y="1691640"/>
            <a:ext cx="731520" cy="731520"/>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594360" y="1892808"/>
            <a:ext cx="7315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01</a:t>
            </a:r>
            <a:endParaRPr b="0" i="0" sz="1600" u="none" cap="none" strike="noStrike">
              <a:solidFill>
                <a:schemeClr val="dk1"/>
              </a:solidFill>
              <a:latin typeface="Calibri"/>
              <a:ea typeface="Calibri"/>
              <a:cs typeface="Calibri"/>
              <a:sym typeface="Calibri"/>
            </a:endParaRPr>
          </a:p>
        </p:txBody>
      </p:sp>
      <p:sp>
        <p:nvSpPr>
          <p:cNvPr id="246" name="Google Shape;246;p7"/>
          <p:cNvSpPr/>
          <p:nvPr/>
        </p:nvSpPr>
        <p:spPr>
          <a:xfrm>
            <a:off x="1668780" y="1760220"/>
            <a:ext cx="676656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1600200" y="1691640"/>
            <a:ext cx="6766560" cy="7315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1874520" y="1783080"/>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CUT INTO LAYERS</a:t>
            </a:r>
            <a:endParaRPr b="0" i="0" sz="1250" u="none" cap="none" strike="noStrike">
              <a:solidFill>
                <a:schemeClr val="dk1"/>
              </a:solidFill>
              <a:latin typeface="Calibri"/>
              <a:ea typeface="Calibri"/>
              <a:cs typeface="Calibri"/>
              <a:sym typeface="Calibri"/>
            </a:endParaRPr>
          </a:p>
        </p:txBody>
      </p:sp>
      <p:sp>
        <p:nvSpPr>
          <p:cNvPr id="249" name="Google Shape;249;p7"/>
          <p:cNvSpPr/>
          <p:nvPr/>
        </p:nvSpPr>
        <p:spPr>
          <a:xfrm>
            <a:off x="1874520" y="2075688"/>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The solid is intersected by a stack of horizontal planes.</a:t>
            </a:r>
            <a:endParaRPr b="0" i="0" sz="1200" u="none" cap="none" strike="noStrike">
              <a:solidFill>
                <a:schemeClr val="dk1"/>
              </a:solidFill>
              <a:latin typeface="Calibri"/>
              <a:ea typeface="Calibri"/>
              <a:cs typeface="Calibri"/>
              <a:sym typeface="Calibri"/>
            </a:endParaRPr>
          </a:p>
        </p:txBody>
      </p:sp>
      <p:sp>
        <p:nvSpPr>
          <p:cNvPr id="250" name="Google Shape;250;p7"/>
          <p:cNvSpPr/>
          <p:nvPr/>
        </p:nvSpPr>
        <p:spPr>
          <a:xfrm>
            <a:off x="662940" y="2628900"/>
            <a:ext cx="73152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594360" y="2560320"/>
            <a:ext cx="731520" cy="731520"/>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a:off x="594360" y="2761488"/>
            <a:ext cx="7315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02</a:t>
            </a:r>
            <a:endParaRPr b="0" i="0" sz="1600" u="none" cap="none" strike="noStrike">
              <a:solidFill>
                <a:schemeClr val="dk1"/>
              </a:solidFill>
              <a:latin typeface="Calibri"/>
              <a:ea typeface="Calibri"/>
              <a:cs typeface="Calibri"/>
              <a:sym typeface="Calibri"/>
            </a:endParaRPr>
          </a:p>
        </p:txBody>
      </p:sp>
      <p:sp>
        <p:nvSpPr>
          <p:cNvPr id="253" name="Google Shape;253;p7"/>
          <p:cNvSpPr/>
          <p:nvPr/>
        </p:nvSpPr>
        <p:spPr>
          <a:xfrm>
            <a:off x="1668780" y="2628900"/>
            <a:ext cx="676656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1600200" y="2560320"/>
            <a:ext cx="6766560" cy="7315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p:nvPr/>
        </p:nvSpPr>
        <p:spPr>
          <a:xfrm>
            <a:off x="1874520" y="2651760"/>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OUTLINE EACH LAYER</a:t>
            </a:r>
            <a:endParaRPr b="0" i="0" sz="1250" u="none" cap="none" strike="noStrike">
              <a:solidFill>
                <a:schemeClr val="dk1"/>
              </a:solidFill>
              <a:latin typeface="Calibri"/>
              <a:ea typeface="Calibri"/>
              <a:cs typeface="Calibri"/>
              <a:sym typeface="Calibri"/>
            </a:endParaRPr>
          </a:p>
        </p:txBody>
      </p:sp>
      <p:sp>
        <p:nvSpPr>
          <p:cNvPr id="256" name="Google Shape;256;p7"/>
          <p:cNvSpPr/>
          <p:nvPr/>
        </p:nvSpPr>
        <p:spPr>
          <a:xfrm>
            <a:off x="1874520" y="2944368"/>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Each intersection becomes a closed curve — the perimeter.</a:t>
            </a:r>
            <a:endParaRPr b="0" i="0" sz="1200" u="none" cap="none" strike="noStrike">
              <a:solidFill>
                <a:schemeClr val="dk1"/>
              </a:solidFill>
              <a:latin typeface="Calibri"/>
              <a:ea typeface="Calibri"/>
              <a:cs typeface="Calibri"/>
              <a:sym typeface="Calibri"/>
            </a:endParaRPr>
          </a:p>
        </p:txBody>
      </p:sp>
      <p:sp>
        <p:nvSpPr>
          <p:cNvPr id="257" name="Google Shape;257;p7"/>
          <p:cNvSpPr/>
          <p:nvPr/>
        </p:nvSpPr>
        <p:spPr>
          <a:xfrm>
            <a:off x="662940" y="3497580"/>
            <a:ext cx="73152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a:off x="594360" y="3429000"/>
            <a:ext cx="731520" cy="731520"/>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594360" y="3630168"/>
            <a:ext cx="7315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03</a:t>
            </a:r>
            <a:endParaRPr b="0" i="0" sz="1600" u="none" cap="none" strike="noStrike">
              <a:solidFill>
                <a:schemeClr val="dk1"/>
              </a:solidFill>
              <a:latin typeface="Calibri"/>
              <a:ea typeface="Calibri"/>
              <a:cs typeface="Calibri"/>
              <a:sym typeface="Calibri"/>
            </a:endParaRPr>
          </a:p>
        </p:txBody>
      </p:sp>
      <p:sp>
        <p:nvSpPr>
          <p:cNvPr id="260" name="Google Shape;260;p7"/>
          <p:cNvSpPr/>
          <p:nvPr/>
        </p:nvSpPr>
        <p:spPr>
          <a:xfrm>
            <a:off x="1668780" y="3497580"/>
            <a:ext cx="676656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a:off x="1600200" y="3429000"/>
            <a:ext cx="6766560" cy="7315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1874520" y="3520440"/>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FILL THE INSIDE</a:t>
            </a:r>
            <a:endParaRPr b="0" i="0" sz="1250" u="none" cap="none" strike="noStrike">
              <a:solidFill>
                <a:schemeClr val="dk1"/>
              </a:solidFill>
              <a:latin typeface="Calibri"/>
              <a:ea typeface="Calibri"/>
              <a:cs typeface="Calibri"/>
              <a:sym typeface="Calibri"/>
            </a:endParaRPr>
          </a:p>
        </p:txBody>
      </p:sp>
      <p:sp>
        <p:nvSpPr>
          <p:cNvPr id="263" name="Google Shape;263;p7"/>
          <p:cNvSpPr/>
          <p:nvPr/>
        </p:nvSpPr>
        <p:spPr>
          <a:xfrm>
            <a:off x="1874520" y="3813048"/>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Infill pattern and density. Usually 10–20%, not solid.</a:t>
            </a:r>
            <a:endParaRPr b="0" i="0" sz="1200" u="none" cap="none" strike="noStrike">
              <a:solidFill>
                <a:schemeClr val="dk1"/>
              </a:solidFill>
              <a:latin typeface="Calibri"/>
              <a:ea typeface="Calibri"/>
              <a:cs typeface="Calibri"/>
              <a:sym typeface="Calibri"/>
            </a:endParaRPr>
          </a:p>
        </p:txBody>
      </p:sp>
      <p:sp>
        <p:nvSpPr>
          <p:cNvPr id="264" name="Google Shape;264;p7"/>
          <p:cNvSpPr/>
          <p:nvPr/>
        </p:nvSpPr>
        <p:spPr>
          <a:xfrm>
            <a:off x="662940" y="4366260"/>
            <a:ext cx="73152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a:off x="594360" y="4297680"/>
            <a:ext cx="731520" cy="731520"/>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594360" y="4498848"/>
            <a:ext cx="7315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04</a:t>
            </a:r>
            <a:endParaRPr b="0" i="0" sz="1600" u="none" cap="none" strike="noStrike">
              <a:solidFill>
                <a:schemeClr val="dk1"/>
              </a:solidFill>
              <a:latin typeface="Calibri"/>
              <a:ea typeface="Calibri"/>
              <a:cs typeface="Calibri"/>
              <a:sym typeface="Calibri"/>
            </a:endParaRPr>
          </a:p>
        </p:txBody>
      </p:sp>
      <p:sp>
        <p:nvSpPr>
          <p:cNvPr id="267" name="Google Shape;267;p7"/>
          <p:cNvSpPr/>
          <p:nvPr/>
        </p:nvSpPr>
        <p:spPr>
          <a:xfrm>
            <a:off x="1668780" y="4366260"/>
            <a:ext cx="676656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1600200" y="4297680"/>
            <a:ext cx="6766560" cy="7315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1874520" y="4389120"/>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ORDER THE MOVES</a:t>
            </a:r>
            <a:endParaRPr b="0" i="0" sz="1250" u="none" cap="none" strike="noStrike">
              <a:solidFill>
                <a:schemeClr val="dk1"/>
              </a:solidFill>
              <a:latin typeface="Calibri"/>
              <a:ea typeface="Calibri"/>
              <a:cs typeface="Calibri"/>
              <a:sym typeface="Calibri"/>
            </a:endParaRPr>
          </a:p>
        </p:txBody>
      </p:sp>
      <p:sp>
        <p:nvSpPr>
          <p:cNvPr id="270" name="Google Shape;270;p7"/>
          <p:cNvSpPr/>
          <p:nvPr/>
        </p:nvSpPr>
        <p:spPr>
          <a:xfrm>
            <a:off x="1874520" y="4681728"/>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Perimeters, infill, travel. Written out as G-code.</a:t>
            </a:r>
            <a:endParaRPr b="0" i="0" sz="1200" u="none" cap="none" strike="noStrike">
              <a:solidFill>
                <a:schemeClr val="dk1"/>
              </a:solidFill>
              <a:latin typeface="Calibri"/>
              <a:ea typeface="Calibri"/>
              <a:cs typeface="Calibri"/>
              <a:sym typeface="Calibri"/>
            </a:endParaRPr>
          </a:p>
        </p:txBody>
      </p:sp>
      <p:sp>
        <p:nvSpPr>
          <p:cNvPr id="271" name="Google Shape;271;p7"/>
          <p:cNvSpPr/>
          <p:nvPr/>
        </p:nvSpPr>
        <p:spPr>
          <a:xfrm>
            <a:off x="8709660" y="1760220"/>
            <a:ext cx="2926080" cy="33375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8641080" y="1691640"/>
            <a:ext cx="2926080" cy="3337560"/>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8915400" y="1901952"/>
            <a:ext cx="24231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SOUND FAMILIAR?</a:t>
            </a:r>
            <a:endParaRPr b="0" i="0" sz="1250" u="none" cap="none" strike="noStrike">
              <a:solidFill>
                <a:schemeClr val="dk1"/>
              </a:solidFill>
              <a:latin typeface="Calibri"/>
              <a:ea typeface="Calibri"/>
              <a:cs typeface="Calibri"/>
              <a:sym typeface="Calibri"/>
            </a:endParaRPr>
          </a:p>
        </p:txBody>
      </p:sp>
      <p:cxnSp>
        <p:nvCxnSpPr>
          <p:cNvPr id="274" name="Google Shape;274;p7"/>
          <p:cNvCxnSpPr/>
          <p:nvPr/>
        </p:nvCxnSpPr>
        <p:spPr>
          <a:xfrm>
            <a:off x="8915400" y="2286000"/>
            <a:ext cx="2423160" cy="0"/>
          </a:xfrm>
          <a:prstGeom prst="straightConnector1">
            <a:avLst/>
          </a:prstGeom>
          <a:noFill/>
          <a:ln cap="flat" cmpd="sng" w="25400">
            <a:solidFill>
              <a:srgbClr val="000000"/>
            </a:solidFill>
            <a:prstDash val="solid"/>
            <a:round/>
            <a:headEnd len="sm" w="sm" type="none"/>
            <a:tailEnd len="sm" w="sm" type="none"/>
          </a:ln>
        </p:spPr>
      </p:cxnSp>
      <p:sp>
        <p:nvSpPr>
          <p:cNvPr id="275" name="Google Shape;275;p7"/>
          <p:cNvSpPr/>
          <p:nvPr/>
        </p:nvSpPr>
        <p:spPr>
          <a:xfrm>
            <a:off x="8915400" y="2450592"/>
            <a:ext cx="2423160" cy="2377440"/>
          </a:xfrm>
          <a:prstGeom prst="rect">
            <a:avLst/>
          </a:prstGeom>
          <a:noFill/>
          <a:ln>
            <a:noFill/>
          </a:ln>
        </p:spPr>
        <p:txBody>
          <a:bodyPr anchorCtr="0" anchor="ctr" bIns="0" lIns="0" spcFirstLastPara="1" rIns="0" wrap="square" tIns="0">
            <a:noAutofit/>
          </a:bodyPr>
          <a:lstStyle/>
          <a:p>
            <a:pPr indent="0" lvl="0" marL="0" marR="0" rtl="0" algn="l">
              <a:lnSpc>
                <a:spcPct val="141666"/>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Intersect a solid with a stack of planes. Keep the profiles. Order them.</a:t>
            </a:r>
            <a:endParaRPr b="0" i="0" sz="1200" u="none" cap="none" strike="noStrike">
              <a:solidFill>
                <a:schemeClr val="dk1"/>
              </a:solidFill>
              <a:latin typeface="Calibri"/>
              <a:ea typeface="Calibri"/>
              <a:cs typeface="Calibri"/>
              <a:sym typeface="Calibri"/>
            </a:endParaRPr>
          </a:p>
          <a:p>
            <a:pPr indent="0" lvl="0" marL="0" marR="0" rtl="0" algn="l">
              <a:lnSpc>
                <a:spcPct val="141666"/>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41666"/>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That is Module 2 — and it is what a slicer has been doing all along.</a:t>
            </a:r>
            <a:endParaRPr b="0" i="0" sz="1200" u="none" cap="none" strike="noStrike">
              <a:solidFill>
                <a:schemeClr val="dk1"/>
              </a:solidFill>
              <a:latin typeface="Calibri"/>
              <a:ea typeface="Calibri"/>
              <a:cs typeface="Calibri"/>
              <a:sym typeface="Calibri"/>
            </a:endParaRPr>
          </a:p>
        </p:txBody>
      </p:sp>
      <p:sp>
        <p:nvSpPr>
          <p:cNvPr id="276" name="Google Shape;276;p7"/>
          <p:cNvSpPr/>
          <p:nvPr/>
        </p:nvSpPr>
        <p:spPr>
          <a:xfrm>
            <a:off x="662940" y="5326380"/>
            <a:ext cx="10972800" cy="9144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594360" y="5257800"/>
            <a:ext cx="10972800" cy="9144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914400" y="5468112"/>
            <a:ext cx="10607040" cy="548640"/>
          </a:xfrm>
          <a:prstGeom prst="rect">
            <a:avLst/>
          </a:prstGeom>
          <a:noFill/>
          <a:ln>
            <a:noFill/>
          </a:ln>
        </p:spPr>
        <p:txBody>
          <a:bodyPr anchorCtr="0" anchor="ctr" bIns="0" lIns="0" spcFirstLastPara="1" rIns="0" wrap="square" tIns="0">
            <a:noAutofit/>
          </a:bodyPr>
          <a:lstStyle/>
          <a:p>
            <a:pPr indent="0" lvl="0" marL="0" marR="0" rtl="0" algn="l">
              <a:lnSpc>
                <a:spcPct val="140740"/>
              </a:lnSpc>
              <a:spcBef>
                <a:spcPts val="0"/>
              </a:spcBef>
              <a:spcAft>
                <a:spcPts val="0"/>
              </a:spcAft>
              <a:buClr>
                <a:srgbClr val="000000"/>
              </a:buClr>
              <a:buSzPts val="1350"/>
              <a:buFont typeface="Calibri"/>
              <a:buNone/>
            </a:pPr>
            <a:r>
              <a:rPr b="0" i="0" lang="en-US" sz="1350" u="none" cap="none" strike="noStrike">
                <a:solidFill>
                  <a:srgbClr val="000000"/>
                </a:solidFill>
                <a:latin typeface="Calibri"/>
                <a:ea typeface="Calibri"/>
                <a:cs typeface="Calibri"/>
                <a:sym typeface="Calibri"/>
              </a:rPr>
              <a:t>LIVE NOW — we slice one object together and read the preview: layer count, print time, material, where the supports would go.</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3" name="Shape 283"/>
        <p:cNvGrpSpPr/>
        <p:nvPr/>
      </p:nvGrpSpPr>
      <p:grpSpPr>
        <a:xfrm>
          <a:off x="0" y="0"/>
          <a:ext cx="0" cy="0"/>
          <a:chOff x="0" y="0"/>
          <a:chExt cx="0" cy="0"/>
        </a:xfrm>
      </p:grpSpPr>
      <p:cxnSp>
        <p:nvCxnSpPr>
          <p:cNvPr id="284" name="Google Shape;284;p8"/>
          <p:cNvCxnSpPr/>
          <p:nvPr/>
        </p:nvCxnSpPr>
        <p:spPr>
          <a:xfrm>
            <a:off x="594360" y="566928"/>
            <a:ext cx="10972800" cy="0"/>
          </a:xfrm>
          <a:prstGeom prst="straightConnector1">
            <a:avLst/>
          </a:prstGeom>
          <a:noFill/>
          <a:ln cap="flat" cmpd="sng" w="50800">
            <a:solidFill>
              <a:srgbClr val="FFFDF7"/>
            </a:solidFill>
            <a:prstDash val="solid"/>
            <a:round/>
            <a:headEnd len="sm" w="sm" type="none"/>
            <a:tailEnd len="sm" w="sm" type="none"/>
          </a:ln>
        </p:spPr>
      </p:cxnSp>
      <p:sp>
        <p:nvSpPr>
          <p:cNvPr id="285" name="Google Shape;285;p8"/>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300"/>
              <a:buFont typeface="Arial"/>
              <a:buNone/>
            </a:pPr>
            <a:r>
              <a:rPr b="1" i="0" lang="en-US" sz="3300" u="none" cap="none" strike="noStrike">
                <a:solidFill>
                  <a:srgbClr val="FFFDF7"/>
                </a:solidFill>
                <a:latin typeface="Arial"/>
                <a:ea typeface="Arial"/>
                <a:cs typeface="Arial"/>
                <a:sym typeface="Arial"/>
              </a:rPr>
              <a:t>FOUR SETTINGS</a:t>
            </a:r>
            <a:endParaRPr b="0" i="0" sz="3300" u="none" cap="none" strike="noStrike">
              <a:solidFill>
                <a:schemeClr val="dk1"/>
              </a:solidFill>
              <a:latin typeface="Calibri"/>
              <a:ea typeface="Calibri"/>
              <a:cs typeface="Calibri"/>
              <a:sym typeface="Calibri"/>
            </a:endParaRPr>
          </a:p>
        </p:txBody>
      </p:sp>
      <p:sp>
        <p:nvSpPr>
          <p:cNvPr id="286" name="Google Shape;286;p8"/>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350"/>
              <a:buFont typeface="Calibri"/>
              <a:buNone/>
            </a:pPr>
            <a:r>
              <a:rPr b="0" i="0" lang="en-US" sz="1350" u="none" cap="none" strike="noStrike">
                <a:solidFill>
                  <a:srgbClr val="B8B8B8"/>
                </a:solidFill>
                <a:latin typeface="Calibri"/>
                <a:ea typeface="Calibri"/>
                <a:cs typeface="Calibri"/>
                <a:sym typeface="Calibri"/>
              </a:rPr>
              <a:t>Everything else can stay at default for this print.</a:t>
            </a:r>
            <a:endParaRPr b="0" i="0" sz="1350" u="none" cap="none" strike="noStrike">
              <a:solidFill>
                <a:schemeClr val="dk1"/>
              </a:solidFill>
              <a:latin typeface="Calibri"/>
              <a:ea typeface="Calibri"/>
              <a:cs typeface="Calibri"/>
              <a:sym typeface="Calibri"/>
            </a:endParaRPr>
          </a:p>
        </p:txBody>
      </p:sp>
      <p:sp>
        <p:nvSpPr>
          <p:cNvPr id="287" name="Google Shape;287;p8"/>
          <p:cNvSpPr/>
          <p:nvPr/>
        </p:nvSpPr>
        <p:spPr>
          <a:xfrm>
            <a:off x="662940" y="1851660"/>
            <a:ext cx="301752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a:off x="594360" y="1783080"/>
            <a:ext cx="3017520" cy="822960"/>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a:off x="822960" y="2029968"/>
            <a:ext cx="2651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LAYER HEIGHT</a:t>
            </a:r>
            <a:endParaRPr b="0" i="0" sz="1250" u="none" cap="none" strike="noStrike">
              <a:solidFill>
                <a:schemeClr val="dk1"/>
              </a:solidFill>
              <a:latin typeface="Calibri"/>
              <a:ea typeface="Calibri"/>
              <a:cs typeface="Calibri"/>
              <a:sym typeface="Calibri"/>
            </a:endParaRPr>
          </a:p>
        </p:txBody>
      </p:sp>
      <p:sp>
        <p:nvSpPr>
          <p:cNvPr id="290" name="Google Shape;290;p8"/>
          <p:cNvSpPr/>
          <p:nvPr/>
        </p:nvSpPr>
        <p:spPr>
          <a:xfrm>
            <a:off x="3954780" y="1851660"/>
            <a:ext cx="1828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p:nvPr/>
        </p:nvSpPr>
        <p:spPr>
          <a:xfrm>
            <a:off x="3886200" y="1783080"/>
            <a:ext cx="182880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3886200" y="2029968"/>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Courier New"/>
              <a:buNone/>
            </a:pPr>
            <a:r>
              <a:rPr b="1" i="0" lang="en-US" sz="1300" u="none" cap="none" strike="noStrike">
                <a:solidFill>
                  <a:srgbClr val="000000"/>
                </a:solidFill>
                <a:latin typeface="Courier New"/>
                <a:ea typeface="Courier New"/>
                <a:cs typeface="Courier New"/>
                <a:sym typeface="Courier New"/>
              </a:rPr>
              <a:t>0.2–0.3 mm</a:t>
            </a:r>
            <a:endParaRPr b="0" i="0" sz="1300" u="none" cap="none" strike="noStrike">
              <a:solidFill>
                <a:schemeClr val="dk1"/>
              </a:solidFill>
              <a:latin typeface="Calibri"/>
              <a:ea typeface="Calibri"/>
              <a:cs typeface="Calibri"/>
              <a:sym typeface="Calibri"/>
            </a:endParaRPr>
          </a:p>
        </p:txBody>
      </p:sp>
      <p:sp>
        <p:nvSpPr>
          <p:cNvPr id="293" name="Google Shape;293;p8"/>
          <p:cNvSpPr/>
          <p:nvPr/>
        </p:nvSpPr>
        <p:spPr>
          <a:xfrm>
            <a:off x="6080760" y="2039112"/>
            <a:ext cx="5394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300"/>
              <a:buFont typeface="Calibri"/>
              <a:buNone/>
            </a:pPr>
            <a:r>
              <a:rPr b="0" i="0" lang="en-US" sz="1300" u="none" cap="none" strike="noStrike">
                <a:solidFill>
                  <a:srgbClr val="FFFDF7"/>
                </a:solidFill>
                <a:latin typeface="Calibri"/>
                <a:ea typeface="Calibri"/>
                <a:cs typeface="Calibri"/>
                <a:sym typeface="Calibri"/>
              </a:rPr>
              <a:t>Finer looks better </a:t>
            </a:r>
            <a:r>
              <a:rPr b="0" i="0" lang="en-US" sz="1300" u="none" cap="none" strike="noStrike">
                <a:solidFill>
                  <a:srgbClr val="FFFDF7"/>
                </a:solidFill>
                <a:latin typeface="Calibri"/>
                <a:ea typeface="Calibri"/>
                <a:cs typeface="Calibri"/>
                <a:sym typeface="Calibri"/>
              </a:rPr>
              <a:t>and </a:t>
            </a:r>
            <a:r>
              <a:rPr b="0" i="0" lang="en-US" sz="1300" u="none" cap="none" strike="noStrike">
                <a:solidFill>
                  <a:srgbClr val="FFFDF7"/>
                </a:solidFill>
                <a:latin typeface="Calibri"/>
                <a:ea typeface="Calibri"/>
                <a:cs typeface="Calibri"/>
                <a:sym typeface="Calibri"/>
              </a:rPr>
              <a:t>takes proportionally longer. </a:t>
            </a:r>
            <a:r>
              <a:rPr b="0" i="0" lang="en-US" sz="1300" u="none" cap="none" strike="noStrike">
                <a:solidFill>
                  <a:srgbClr val="FFFDF7"/>
                </a:solidFill>
                <a:latin typeface="Calibri"/>
                <a:ea typeface="Calibri"/>
                <a:cs typeface="Calibri"/>
                <a:sym typeface="Calibri"/>
              </a:rPr>
              <a:t>Draft is fine for 0.1.</a:t>
            </a:r>
            <a:endParaRPr b="0" i="0" sz="1300" u="none" cap="none" strike="noStrike">
              <a:solidFill>
                <a:schemeClr val="dk1"/>
              </a:solidFill>
              <a:latin typeface="Calibri"/>
              <a:ea typeface="Calibri"/>
              <a:cs typeface="Calibri"/>
              <a:sym typeface="Calibri"/>
            </a:endParaRPr>
          </a:p>
        </p:txBody>
      </p:sp>
      <p:sp>
        <p:nvSpPr>
          <p:cNvPr id="294" name="Google Shape;294;p8"/>
          <p:cNvSpPr/>
          <p:nvPr/>
        </p:nvSpPr>
        <p:spPr>
          <a:xfrm>
            <a:off x="662940" y="2894076"/>
            <a:ext cx="301752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594360" y="2825496"/>
            <a:ext cx="3017520" cy="822960"/>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822960" y="3072384"/>
            <a:ext cx="2651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INFILL</a:t>
            </a:r>
            <a:endParaRPr b="0" i="0" sz="1250" u="none" cap="none" strike="noStrike">
              <a:solidFill>
                <a:schemeClr val="dk1"/>
              </a:solidFill>
              <a:latin typeface="Calibri"/>
              <a:ea typeface="Calibri"/>
              <a:cs typeface="Calibri"/>
              <a:sym typeface="Calibri"/>
            </a:endParaRPr>
          </a:p>
        </p:txBody>
      </p:sp>
      <p:sp>
        <p:nvSpPr>
          <p:cNvPr id="297" name="Google Shape;297;p8"/>
          <p:cNvSpPr/>
          <p:nvPr/>
        </p:nvSpPr>
        <p:spPr>
          <a:xfrm>
            <a:off x="3954780" y="2894076"/>
            <a:ext cx="1828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3886200" y="2825496"/>
            <a:ext cx="182880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a:off x="3886200" y="3072384"/>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Courier New"/>
              <a:buNone/>
            </a:pPr>
            <a:r>
              <a:rPr b="1" i="0" lang="en-US" sz="1300" u="none" cap="none" strike="noStrike">
                <a:solidFill>
                  <a:srgbClr val="000000"/>
                </a:solidFill>
                <a:latin typeface="Courier New"/>
                <a:ea typeface="Courier New"/>
                <a:cs typeface="Courier New"/>
                <a:sym typeface="Courier New"/>
              </a:rPr>
              <a:t>10–</a:t>
            </a:r>
            <a:r>
              <a:rPr b="1" lang="en-US" sz="1300">
                <a:latin typeface="Courier New"/>
                <a:ea typeface="Courier New"/>
                <a:cs typeface="Courier New"/>
                <a:sym typeface="Courier New"/>
              </a:rPr>
              <a:t>40</a:t>
            </a:r>
            <a:r>
              <a:rPr b="1" i="0" lang="en-US" sz="1300" u="none" cap="none" strike="noStrike">
                <a:solidFill>
                  <a:srgbClr val="000000"/>
                </a:solidFill>
                <a:latin typeface="Courier New"/>
                <a:ea typeface="Courier New"/>
                <a:cs typeface="Courier New"/>
                <a:sym typeface="Courier New"/>
              </a:rPr>
              <a:t>%</a:t>
            </a:r>
            <a:endParaRPr b="0" i="0" sz="1300" u="none" cap="none" strike="noStrike">
              <a:solidFill>
                <a:schemeClr val="dk1"/>
              </a:solidFill>
              <a:latin typeface="Calibri"/>
              <a:ea typeface="Calibri"/>
              <a:cs typeface="Calibri"/>
              <a:sym typeface="Calibri"/>
            </a:endParaRPr>
          </a:p>
        </p:txBody>
      </p:sp>
      <p:sp>
        <p:nvSpPr>
          <p:cNvPr id="300" name="Google Shape;300;p8"/>
          <p:cNvSpPr/>
          <p:nvPr/>
        </p:nvSpPr>
        <p:spPr>
          <a:xfrm>
            <a:off x="6080760" y="3081528"/>
            <a:ext cx="5394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300"/>
              <a:buFont typeface="Calibri"/>
              <a:buNone/>
            </a:pPr>
            <a:r>
              <a:rPr b="0" i="0" lang="en-US" sz="1300" u="none" cap="none" strike="noStrike">
                <a:solidFill>
                  <a:srgbClr val="FFFDF7"/>
                </a:solidFill>
                <a:latin typeface="Calibri"/>
                <a:ea typeface="Calibri"/>
                <a:cs typeface="Calibri"/>
                <a:sym typeface="Calibri"/>
              </a:rPr>
              <a:t>Prints are hollow with a lattice inside. Solid is almost never needed.</a:t>
            </a:r>
            <a:endParaRPr b="0" i="0" sz="1300" u="none" cap="none" strike="noStrike">
              <a:solidFill>
                <a:schemeClr val="dk1"/>
              </a:solidFill>
              <a:latin typeface="Calibri"/>
              <a:ea typeface="Calibri"/>
              <a:cs typeface="Calibri"/>
              <a:sym typeface="Calibri"/>
            </a:endParaRPr>
          </a:p>
        </p:txBody>
      </p:sp>
      <p:sp>
        <p:nvSpPr>
          <p:cNvPr id="301" name="Google Shape;301;p8"/>
          <p:cNvSpPr/>
          <p:nvPr/>
        </p:nvSpPr>
        <p:spPr>
          <a:xfrm>
            <a:off x="662940" y="3936492"/>
            <a:ext cx="301752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
          <p:cNvSpPr/>
          <p:nvPr/>
        </p:nvSpPr>
        <p:spPr>
          <a:xfrm>
            <a:off x="594360" y="3867912"/>
            <a:ext cx="3017520" cy="822960"/>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
          <p:cNvSpPr/>
          <p:nvPr/>
        </p:nvSpPr>
        <p:spPr>
          <a:xfrm>
            <a:off x="822960" y="4114800"/>
            <a:ext cx="2651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WALLS / PERIMETERS</a:t>
            </a:r>
            <a:endParaRPr b="0" i="0" sz="1250" u="none" cap="none" strike="noStrike">
              <a:solidFill>
                <a:schemeClr val="dk1"/>
              </a:solidFill>
              <a:latin typeface="Calibri"/>
              <a:ea typeface="Calibri"/>
              <a:cs typeface="Calibri"/>
              <a:sym typeface="Calibri"/>
            </a:endParaRPr>
          </a:p>
        </p:txBody>
      </p:sp>
      <p:sp>
        <p:nvSpPr>
          <p:cNvPr id="304" name="Google Shape;304;p8"/>
          <p:cNvSpPr/>
          <p:nvPr/>
        </p:nvSpPr>
        <p:spPr>
          <a:xfrm>
            <a:off x="3954780" y="3936492"/>
            <a:ext cx="1828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8"/>
          <p:cNvSpPr/>
          <p:nvPr/>
        </p:nvSpPr>
        <p:spPr>
          <a:xfrm>
            <a:off x="3886200" y="3867912"/>
            <a:ext cx="182880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3886200" y="4114800"/>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Courier New"/>
              <a:buNone/>
            </a:pPr>
            <a:r>
              <a:rPr b="1" i="0" lang="en-US" sz="1300" u="none" cap="none" strike="noStrike">
                <a:solidFill>
                  <a:srgbClr val="000000"/>
                </a:solidFill>
                <a:latin typeface="Courier New"/>
                <a:ea typeface="Courier New"/>
                <a:cs typeface="Courier New"/>
                <a:sym typeface="Courier New"/>
              </a:rPr>
              <a:t>2–3</a:t>
            </a:r>
            <a:endParaRPr b="0" i="0" sz="1300" u="none" cap="none" strike="noStrike">
              <a:solidFill>
                <a:schemeClr val="dk1"/>
              </a:solidFill>
              <a:latin typeface="Calibri"/>
              <a:ea typeface="Calibri"/>
              <a:cs typeface="Calibri"/>
              <a:sym typeface="Calibri"/>
            </a:endParaRPr>
          </a:p>
        </p:txBody>
      </p:sp>
      <p:sp>
        <p:nvSpPr>
          <p:cNvPr id="307" name="Google Shape;307;p8"/>
          <p:cNvSpPr/>
          <p:nvPr/>
        </p:nvSpPr>
        <p:spPr>
          <a:xfrm>
            <a:off x="6080760" y="4123944"/>
            <a:ext cx="5394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300"/>
              <a:buFont typeface="Calibri"/>
              <a:buNone/>
            </a:pPr>
            <a:r>
              <a:rPr b="0" i="0" lang="en-US" sz="1300" u="none" cap="none" strike="noStrike">
                <a:solidFill>
                  <a:srgbClr val="FFFDF7"/>
                </a:solidFill>
                <a:latin typeface="Calibri"/>
                <a:ea typeface="Calibri"/>
                <a:cs typeface="Calibri"/>
                <a:sym typeface="Calibri"/>
              </a:rPr>
              <a:t>This, not infill, is what makes a print feel solid.</a:t>
            </a:r>
            <a:endParaRPr b="0" i="0" sz="1300" u="none" cap="none" strike="noStrike">
              <a:solidFill>
                <a:schemeClr val="dk1"/>
              </a:solidFill>
              <a:latin typeface="Calibri"/>
              <a:ea typeface="Calibri"/>
              <a:cs typeface="Calibri"/>
              <a:sym typeface="Calibri"/>
            </a:endParaRPr>
          </a:p>
        </p:txBody>
      </p:sp>
      <p:sp>
        <p:nvSpPr>
          <p:cNvPr id="308" name="Google Shape;308;p8"/>
          <p:cNvSpPr/>
          <p:nvPr/>
        </p:nvSpPr>
        <p:spPr>
          <a:xfrm>
            <a:off x="662940" y="4978908"/>
            <a:ext cx="301752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8"/>
          <p:cNvSpPr/>
          <p:nvPr/>
        </p:nvSpPr>
        <p:spPr>
          <a:xfrm>
            <a:off x="594360" y="4910328"/>
            <a:ext cx="3017520" cy="822960"/>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822960" y="5157216"/>
            <a:ext cx="2651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SUPPORTS</a:t>
            </a:r>
            <a:endParaRPr b="0" i="0" sz="1250" u="none" cap="none" strike="noStrike">
              <a:solidFill>
                <a:schemeClr val="dk1"/>
              </a:solidFill>
              <a:latin typeface="Calibri"/>
              <a:ea typeface="Calibri"/>
              <a:cs typeface="Calibri"/>
              <a:sym typeface="Calibri"/>
            </a:endParaRPr>
          </a:p>
        </p:txBody>
      </p:sp>
      <p:sp>
        <p:nvSpPr>
          <p:cNvPr id="311" name="Google Shape;311;p8"/>
          <p:cNvSpPr/>
          <p:nvPr/>
        </p:nvSpPr>
        <p:spPr>
          <a:xfrm>
            <a:off x="3954780" y="4978908"/>
            <a:ext cx="1828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3886200" y="4910328"/>
            <a:ext cx="182880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3886200" y="5157216"/>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Courier New"/>
              <a:buNone/>
            </a:pPr>
            <a:r>
              <a:rPr b="1" i="0" lang="en-US" sz="1300" u="none" cap="none" strike="noStrike">
                <a:solidFill>
                  <a:srgbClr val="000000"/>
                </a:solidFill>
                <a:latin typeface="Courier New"/>
                <a:ea typeface="Courier New"/>
                <a:cs typeface="Courier New"/>
                <a:sym typeface="Courier New"/>
              </a:rPr>
              <a:t>OFF</a:t>
            </a:r>
            <a:endParaRPr b="0" i="0" sz="1300" u="none" cap="none" strike="noStrike">
              <a:solidFill>
                <a:schemeClr val="dk1"/>
              </a:solidFill>
              <a:latin typeface="Calibri"/>
              <a:ea typeface="Calibri"/>
              <a:cs typeface="Calibri"/>
              <a:sym typeface="Calibri"/>
            </a:endParaRPr>
          </a:p>
        </p:txBody>
      </p:sp>
      <p:sp>
        <p:nvSpPr>
          <p:cNvPr id="314" name="Google Shape;314;p8"/>
          <p:cNvSpPr/>
          <p:nvPr/>
        </p:nvSpPr>
        <p:spPr>
          <a:xfrm>
            <a:off x="6080760" y="5166360"/>
            <a:ext cx="5394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300"/>
              <a:buFont typeface="Calibri"/>
              <a:buNone/>
            </a:pPr>
            <a:r>
              <a:rPr b="0" i="0" lang="en-US" sz="1300" u="none" cap="none" strike="noStrike">
                <a:solidFill>
                  <a:srgbClr val="FFFDF7"/>
                </a:solidFill>
                <a:latin typeface="Calibri"/>
                <a:ea typeface="Calibri"/>
                <a:cs typeface="Calibri"/>
                <a:sym typeface="Calibri"/>
              </a:rPr>
              <a:t>Not permitted for 0.1. Solve it with orientation.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319" name="Shape 319"/>
        <p:cNvGrpSpPr/>
        <p:nvPr/>
      </p:nvGrpSpPr>
      <p:grpSpPr>
        <a:xfrm>
          <a:off x="0" y="0"/>
          <a:ext cx="0" cy="0"/>
          <a:chOff x="0" y="0"/>
          <a:chExt cx="0" cy="0"/>
        </a:xfrm>
      </p:grpSpPr>
      <p:cxnSp>
        <p:nvCxnSpPr>
          <p:cNvPr id="320" name="Google Shape;320;p9"/>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321" name="Google Shape;321;p9"/>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PRINT IT OR CUT IT</a:t>
            </a:r>
            <a:endParaRPr b="0" i="0" sz="3300" u="none" cap="none" strike="noStrike">
              <a:solidFill>
                <a:schemeClr val="dk1"/>
              </a:solidFill>
              <a:latin typeface="Calibri"/>
              <a:ea typeface="Calibri"/>
              <a:cs typeface="Calibri"/>
              <a:sym typeface="Calibri"/>
            </a:endParaRPr>
          </a:p>
        </p:txBody>
      </p:sp>
      <p:sp>
        <p:nvSpPr>
          <p:cNvPr id="322" name="Google Shape;322;p9"/>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b="0" i="0" lang="en-US" sz="1350" u="none" cap="none" strike="noStrike">
                <a:solidFill>
                  <a:srgbClr val="6B6B6B"/>
                </a:solidFill>
                <a:latin typeface="Calibri"/>
                <a:ea typeface="Calibri"/>
                <a:cs typeface="Calibri"/>
                <a:sym typeface="Calibri"/>
              </a:rPr>
              <a:t>Printing is not the default. It is the expensive option.</a:t>
            </a:r>
            <a:endParaRPr b="0" i="0" sz="1350" u="none" cap="none" strike="noStrike">
              <a:solidFill>
                <a:schemeClr val="dk1"/>
              </a:solidFill>
              <a:latin typeface="Calibri"/>
              <a:ea typeface="Calibri"/>
              <a:cs typeface="Calibri"/>
              <a:sym typeface="Calibri"/>
            </a:endParaRPr>
          </a:p>
        </p:txBody>
      </p:sp>
      <p:sp>
        <p:nvSpPr>
          <p:cNvPr id="323" name="Google Shape;323;p9"/>
          <p:cNvSpPr/>
          <p:nvPr/>
        </p:nvSpPr>
        <p:spPr>
          <a:xfrm>
            <a:off x="662940" y="1805940"/>
            <a:ext cx="5349240" cy="35204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594360" y="1737360"/>
            <a:ext cx="5349240" cy="35204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594360" y="1737360"/>
            <a:ext cx="5349240" cy="566928"/>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868680" y="1847088"/>
            <a:ext cx="4800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CUT IT</a:t>
            </a:r>
            <a:endParaRPr b="0" i="0" sz="1600" u="none" cap="none" strike="noStrike">
              <a:solidFill>
                <a:schemeClr val="dk1"/>
              </a:solidFill>
              <a:latin typeface="Calibri"/>
              <a:ea typeface="Calibri"/>
              <a:cs typeface="Calibri"/>
              <a:sym typeface="Calibri"/>
            </a:endParaRPr>
          </a:p>
        </p:txBody>
      </p:sp>
      <p:sp>
        <p:nvSpPr>
          <p:cNvPr id="327" name="Google Shape;327;p9"/>
          <p:cNvSpPr/>
          <p:nvPr/>
        </p:nvSpPr>
        <p:spPr>
          <a:xfrm>
            <a:off x="914400" y="2578608"/>
            <a:ext cx="109728" cy="109728"/>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1216152" y="2487168"/>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Prismatic — one profile, extruded</a:t>
            </a:r>
            <a:endParaRPr b="0" i="0" sz="1300" u="none" cap="none" strike="noStrike">
              <a:solidFill>
                <a:schemeClr val="dk1"/>
              </a:solidFill>
              <a:latin typeface="Calibri"/>
              <a:ea typeface="Calibri"/>
              <a:cs typeface="Calibri"/>
              <a:sym typeface="Calibri"/>
            </a:endParaRPr>
          </a:p>
        </p:txBody>
      </p:sp>
      <p:sp>
        <p:nvSpPr>
          <p:cNvPr id="329" name="Google Shape;329;p9"/>
          <p:cNvSpPr/>
          <p:nvPr/>
        </p:nvSpPr>
        <p:spPr>
          <a:xfrm>
            <a:off x="914400" y="3017520"/>
            <a:ext cx="109728" cy="109728"/>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a:off x="1216152" y="2926080"/>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Flat, or made of flat pieces</a:t>
            </a:r>
            <a:endParaRPr b="0" i="0" sz="1300" u="none" cap="none" strike="noStrike">
              <a:solidFill>
                <a:schemeClr val="dk1"/>
              </a:solidFill>
              <a:latin typeface="Calibri"/>
              <a:ea typeface="Calibri"/>
              <a:cs typeface="Calibri"/>
              <a:sym typeface="Calibri"/>
            </a:endParaRPr>
          </a:p>
        </p:txBody>
      </p:sp>
      <p:sp>
        <p:nvSpPr>
          <p:cNvPr id="331" name="Google Shape;331;p9"/>
          <p:cNvSpPr/>
          <p:nvPr/>
        </p:nvSpPr>
        <p:spPr>
          <a:xfrm>
            <a:off x="914400" y="3456432"/>
            <a:ext cx="109728" cy="109728"/>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9"/>
          <p:cNvSpPr/>
          <p:nvPr/>
        </p:nvSpPr>
        <p:spPr>
          <a:xfrm>
            <a:off x="1216152" y="3364992"/>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Repeated many times</a:t>
            </a:r>
            <a:endParaRPr b="0" i="0" sz="1300" u="none" cap="none" strike="noStrike">
              <a:solidFill>
                <a:schemeClr val="dk1"/>
              </a:solidFill>
              <a:latin typeface="Calibri"/>
              <a:ea typeface="Calibri"/>
              <a:cs typeface="Calibri"/>
              <a:sym typeface="Calibri"/>
            </a:endParaRPr>
          </a:p>
        </p:txBody>
      </p:sp>
      <p:sp>
        <p:nvSpPr>
          <p:cNvPr id="333" name="Google Shape;333;p9"/>
          <p:cNvSpPr/>
          <p:nvPr/>
        </p:nvSpPr>
        <p:spPr>
          <a:xfrm>
            <a:off x="914400" y="3895344"/>
            <a:ext cx="109728" cy="109728"/>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p:nvPr/>
        </p:nvSpPr>
        <p:spPr>
          <a:xfrm>
            <a:off x="1216152" y="3803904"/>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Larger than your hand</a:t>
            </a:r>
            <a:endParaRPr b="0" i="0" sz="1300" u="none" cap="none" strike="noStrike">
              <a:solidFill>
                <a:schemeClr val="dk1"/>
              </a:solidFill>
              <a:latin typeface="Calibri"/>
              <a:ea typeface="Calibri"/>
              <a:cs typeface="Calibri"/>
              <a:sym typeface="Calibri"/>
            </a:endParaRPr>
          </a:p>
        </p:txBody>
      </p:sp>
      <p:sp>
        <p:nvSpPr>
          <p:cNvPr id="335" name="Google Shape;335;p9"/>
          <p:cNvSpPr/>
          <p:nvPr/>
        </p:nvSpPr>
        <p:spPr>
          <a:xfrm>
            <a:off x="914400" y="4334256"/>
            <a:ext cx="109728" cy="109728"/>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p:nvPr/>
        </p:nvSpPr>
        <p:spPr>
          <a:xfrm>
            <a:off x="1216152" y="4242816"/>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Site model massing: stacked chipboard</a:t>
            </a:r>
            <a:endParaRPr b="0" i="0" sz="1300" u="none" cap="none" strike="noStrike">
              <a:solidFill>
                <a:schemeClr val="dk1"/>
              </a:solidFill>
              <a:latin typeface="Calibri"/>
              <a:ea typeface="Calibri"/>
              <a:cs typeface="Calibri"/>
              <a:sym typeface="Calibri"/>
            </a:endParaRPr>
          </a:p>
        </p:txBody>
      </p:sp>
      <p:sp>
        <p:nvSpPr>
          <p:cNvPr id="337" name="Google Shape;337;p9"/>
          <p:cNvSpPr/>
          <p:nvPr/>
        </p:nvSpPr>
        <p:spPr>
          <a:xfrm>
            <a:off x="914400" y="4681728"/>
            <a:ext cx="4709160" cy="384048"/>
          </a:xfrm>
          <a:prstGeom prst="rect">
            <a:avLst/>
          </a:prstGeom>
          <a:solidFill>
            <a:srgbClr val="C6F035"/>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p:nvPr/>
        </p:nvSpPr>
        <p:spPr>
          <a:xfrm>
            <a:off x="1005840" y="4764024"/>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Minutes per sheet. Twenty buildings at once.</a:t>
            </a:r>
            <a:endParaRPr b="0" i="0" sz="1100" u="none" cap="none" strike="noStrike">
              <a:solidFill>
                <a:schemeClr val="dk1"/>
              </a:solidFill>
              <a:latin typeface="Calibri"/>
              <a:ea typeface="Calibri"/>
              <a:cs typeface="Calibri"/>
              <a:sym typeface="Calibri"/>
            </a:endParaRPr>
          </a:p>
        </p:txBody>
      </p:sp>
      <p:sp>
        <p:nvSpPr>
          <p:cNvPr id="339" name="Google Shape;339;p9"/>
          <p:cNvSpPr/>
          <p:nvPr/>
        </p:nvSpPr>
        <p:spPr>
          <a:xfrm>
            <a:off x="6286500" y="1805940"/>
            <a:ext cx="5349240" cy="35204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6217920" y="1737360"/>
            <a:ext cx="5349240" cy="35204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6217920" y="1737360"/>
            <a:ext cx="5349240" cy="566928"/>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
          <p:cNvSpPr/>
          <p:nvPr/>
        </p:nvSpPr>
        <p:spPr>
          <a:xfrm>
            <a:off x="6492240" y="1847088"/>
            <a:ext cx="4800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PRINT IT</a:t>
            </a:r>
            <a:endParaRPr b="0" i="0" sz="1600" u="none" cap="none" strike="noStrike">
              <a:solidFill>
                <a:schemeClr val="dk1"/>
              </a:solidFill>
              <a:latin typeface="Calibri"/>
              <a:ea typeface="Calibri"/>
              <a:cs typeface="Calibri"/>
              <a:sym typeface="Calibri"/>
            </a:endParaRPr>
          </a:p>
        </p:txBody>
      </p:sp>
      <p:sp>
        <p:nvSpPr>
          <p:cNvPr id="343" name="Google Shape;343;p9"/>
          <p:cNvSpPr/>
          <p:nvPr/>
        </p:nvSpPr>
        <p:spPr>
          <a:xfrm>
            <a:off x="6537960" y="2578608"/>
            <a:ext cx="109728" cy="109728"/>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6839712" y="2487168"/>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Doubly curved — a vault, a shell</a:t>
            </a:r>
            <a:endParaRPr b="0" i="0" sz="1300" u="none" cap="none" strike="noStrike">
              <a:solidFill>
                <a:schemeClr val="dk1"/>
              </a:solidFill>
              <a:latin typeface="Calibri"/>
              <a:ea typeface="Calibri"/>
              <a:cs typeface="Calibri"/>
              <a:sym typeface="Calibri"/>
            </a:endParaRPr>
          </a:p>
        </p:txBody>
      </p:sp>
      <p:sp>
        <p:nvSpPr>
          <p:cNvPr id="345" name="Google Shape;345;p9"/>
          <p:cNvSpPr/>
          <p:nvPr/>
        </p:nvSpPr>
        <p:spPr>
          <a:xfrm>
            <a:off x="6537960" y="3017520"/>
            <a:ext cx="109728" cy="109728"/>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6839712" y="2926080"/>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Undercuts a blade cannot reach</a:t>
            </a:r>
            <a:endParaRPr b="0" i="0" sz="1300" u="none" cap="none" strike="noStrike">
              <a:solidFill>
                <a:schemeClr val="dk1"/>
              </a:solidFill>
              <a:latin typeface="Calibri"/>
              <a:ea typeface="Calibri"/>
              <a:cs typeface="Calibri"/>
              <a:sym typeface="Calibri"/>
            </a:endParaRPr>
          </a:p>
        </p:txBody>
      </p:sp>
      <p:sp>
        <p:nvSpPr>
          <p:cNvPr id="347" name="Google Shape;347;p9"/>
          <p:cNvSpPr/>
          <p:nvPr/>
        </p:nvSpPr>
        <p:spPr>
          <a:xfrm>
            <a:off x="6537960" y="3456432"/>
            <a:ext cx="109728" cy="109728"/>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6839712" y="3364992"/>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Detail in all three axes at once</a:t>
            </a:r>
            <a:endParaRPr b="0" i="0" sz="1300" u="none" cap="none" strike="noStrike">
              <a:solidFill>
                <a:schemeClr val="dk1"/>
              </a:solidFill>
              <a:latin typeface="Calibri"/>
              <a:ea typeface="Calibri"/>
              <a:cs typeface="Calibri"/>
              <a:sym typeface="Calibri"/>
            </a:endParaRPr>
          </a:p>
        </p:txBody>
      </p:sp>
      <p:sp>
        <p:nvSpPr>
          <p:cNvPr id="349" name="Google Shape;349;p9"/>
          <p:cNvSpPr/>
          <p:nvPr/>
        </p:nvSpPr>
        <p:spPr>
          <a:xfrm>
            <a:off x="6537960" y="3895344"/>
            <a:ext cx="109728" cy="109728"/>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6839712" y="3803904"/>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Small and intricate</a:t>
            </a:r>
            <a:endParaRPr b="0" i="0" sz="1300" u="none" cap="none" strike="noStrike">
              <a:solidFill>
                <a:schemeClr val="dk1"/>
              </a:solidFill>
              <a:latin typeface="Calibri"/>
              <a:ea typeface="Calibri"/>
              <a:cs typeface="Calibri"/>
              <a:sym typeface="Calibri"/>
            </a:endParaRPr>
          </a:p>
        </p:txBody>
      </p:sp>
      <p:sp>
        <p:nvSpPr>
          <p:cNvPr id="351" name="Google Shape;351;p9"/>
          <p:cNvSpPr/>
          <p:nvPr/>
        </p:nvSpPr>
        <p:spPr>
          <a:xfrm>
            <a:off x="6537960" y="4334256"/>
            <a:ext cx="109728" cy="109728"/>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9"/>
          <p:cNvSpPr/>
          <p:nvPr/>
        </p:nvSpPr>
        <p:spPr>
          <a:xfrm>
            <a:off x="6839712" y="4242816"/>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One-off with no flat description</a:t>
            </a:r>
            <a:endParaRPr b="0" i="0" sz="1300" u="none" cap="none" strike="noStrike">
              <a:solidFill>
                <a:schemeClr val="dk1"/>
              </a:solidFill>
              <a:latin typeface="Calibri"/>
              <a:ea typeface="Calibri"/>
              <a:cs typeface="Calibri"/>
              <a:sym typeface="Calibri"/>
            </a:endParaRPr>
          </a:p>
        </p:txBody>
      </p:sp>
      <p:sp>
        <p:nvSpPr>
          <p:cNvPr id="353" name="Google Shape;353;p9"/>
          <p:cNvSpPr/>
          <p:nvPr/>
        </p:nvSpPr>
        <p:spPr>
          <a:xfrm>
            <a:off x="6537960" y="4681728"/>
            <a:ext cx="4709160" cy="384048"/>
          </a:xfrm>
          <a:prstGeom prst="rect">
            <a:avLst/>
          </a:prstGeom>
          <a:solidFill>
            <a:srgbClr val="FF4D8D"/>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9"/>
          <p:cNvSpPr/>
          <p:nvPr/>
        </p:nvSpPr>
        <p:spPr>
          <a:xfrm>
            <a:off x="6629400" y="4764024"/>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Hours per object. One at a time.</a:t>
            </a:r>
            <a:endParaRPr b="0" i="0" sz="1100" u="none" cap="none" strike="noStrike">
              <a:solidFill>
                <a:schemeClr val="dk1"/>
              </a:solidFill>
              <a:latin typeface="Calibri"/>
              <a:ea typeface="Calibri"/>
              <a:cs typeface="Calibri"/>
              <a:sym typeface="Calibri"/>
            </a:endParaRPr>
          </a:p>
        </p:txBody>
      </p:sp>
      <p:sp>
        <p:nvSpPr>
          <p:cNvPr id="355" name="Google Shape;355;p9"/>
          <p:cNvSpPr/>
          <p:nvPr/>
        </p:nvSpPr>
        <p:spPr>
          <a:xfrm>
            <a:off x="662940" y="5509260"/>
            <a:ext cx="10972800" cy="7772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9"/>
          <p:cNvSpPr/>
          <p:nvPr/>
        </p:nvSpPr>
        <p:spPr>
          <a:xfrm>
            <a:off x="594360" y="5440680"/>
            <a:ext cx="10972800" cy="777240"/>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
          <p:cNvSpPr/>
          <p:nvPr/>
        </p:nvSpPr>
        <p:spPr>
          <a:xfrm>
            <a:off x="914400" y="5632704"/>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THE TEST: can the object be described as a stack of flat profiles, or one profile extruded? Then cut it. A simple box printed is a box you waited six hours for.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00"/>
        </a:solidFill>
      </p:bgPr>
    </p:bg>
    <p:spTree>
      <p:nvGrpSpPr>
        <p:cNvPr id="362" name="Shape 362"/>
        <p:cNvGrpSpPr/>
        <p:nvPr/>
      </p:nvGrpSpPr>
      <p:grpSpPr>
        <a:xfrm>
          <a:off x="0" y="0"/>
          <a:ext cx="0" cy="0"/>
          <a:chOff x="0" y="0"/>
          <a:chExt cx="0" cy="0"/>
        </a:xfrm>
      </p:grpSpPr>
      <p:cxnSp>
        <p:nvCxnSpPr>
          <p:cNvPr id="363" name="Google Shape;363;p10"/>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364" name="Google Shape;364;p10"/>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FABLAB — HOW THIS WORKS HERE</a:t>
            </a:r>
            <a:endParaRPr b="0" i="0" sz="3300" u="none" cap="none" strike="noStrike">
              <a:solidFill>
                <a:schemeClr val="dk1"/>
              </a:solidFill>
              <a:latin typeface="Calibri"/>
              <a:ea typeface="Calibri"/>
              <a:cs typeface="Calibri"/>
              <a:sym typeface="Calibri"/>
            </a:endParaRPr>
          </a:p>
        </p:txBody>
      </p:sp>
      <p:sp>
        <p:nvSpPr>
          <p:cNvPr id="365" name="Google Shape;365;p10"/>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b="0" i="0" lang="en-US" sz="1350" u="none" cap="none" strike="noStrike">
                <a:solidFill>
                  <a:srgbClr val="6B6B6B"/>
                </a:solidFill>
                <a:latin typeface="Calibri"/>
                <a:ea typeface="Calibri"/>
                <a:cs typeface="Calibri"/>
                <a:sym typeface="Calibri"/>
              </a:rPr>
              <a:t>Machines are shared. The rules exist so everyone gets a print.</a:t>
            </a:r>
            <a:endParaRPr b="0" i="0" sz="1350" u="none" cap="none" strike="noStrike">
              <a:solidFill>
                <a:schemeClr val="dk1"/>
              </a:solidFill>
              <a:latin typeface="Calibri"/>
              <a:ea typeface="Calibri"/>
              <a:cs typeface="Calibri"/>
              <a:sym typeface="Calibri"/>
            </a:endParaRPr>
          </a:p>
        </p:txBody>
      </p:sp>
      <p:sp>
        <p:nvSpPr>
          <p:cNvPr id="366" name="Google Shape;366;p10"/>
          <p:cNvSpPr/>
          <p:nvPr/>
        </p:nvSpPr>
        <p:spPr>
          <a:xfrm>
            <a:off x="662940" y="1805940"/>
            <a:ext cx="10972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0"/>
          <p:cNvSpPr/>
          <p:nvPr/>
        </p:nvSpPr>
        <p:spPr>
          <a:xfrm>
            <a:off x="594360" y="1737360"/>
            <a:ext cx="10972800" cy="822960"/>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0"/>
          <p:cNvSpPr/>
          <p:nvPr/>
        </p:nvSpPr>
        <p:spPr>
          <a:xfrm>
            <a:off x="914400" y="1847088"/>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ORIENTATION COMPLETE</a:t>
            </a:r>
            <a:endParaRPr b="0" i="0" sz="1250" u="none" cap="none" strike="noStrike">
              <a:solidFill>
                <a:schemeClr val="dk1"/>
              </a:solidFill>
              <a:latin typeface="Calibri"/>
              <a:ea typeface="Calibri"/>
              <a:cs typeface="Calibri"/>
              <a:sym typeface="Calibri"/>
            </a:endParaRPr>
          </a:p>
        </p:txBody>
      </p:sp>
      <p:sp>
        <p:nvSpPr>
          <p:cNvPr id="369" name="Google Shape;369;p10"/>
          <p:cNvSpPr/>
          <p:nvPr/>
        </p:nvSpPr>
        <p:spPr>
          <a:xfrm>
            <a:off x="914400" y="2157984"/>
            <a:ext cx="10515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No Safety Orientation, no machine access. This was due at the end of Class 2.</a:t>
            </a:r>
            <a:endParaRPr b="0" i="0" sz="1250" u="none" cap="none" strike="noStrike">
              <a:solidFill>
                <a:schemeClr val="dk1"/>
              </a:solidFill>
              <a:latin typeface="Calibri"/>
              <a:ea typeface="Calibri"/>
              <a:cs typeface="Calibri"/>
              <a:sym typeface="Calibri"/>
            </a:endParaRPr>
          </a:p>
        </p:txBody>
      </p:sp>
      <p:sp>
        <p:nvSpPr>
          <p:cNvPr id="370" name="Google Shape;370;p10"/>
          <p:cNvSpPr/>
          <p:nvPr/>
        </p:nvSpPr>
        <p:spPr>
          <a:xfrm>
            <a:off x="662940" y="2848356"/>
            <a:ext cx="10972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0"/>
          <p:cNvSpPr/>
          <p:nvPr/>
        </p:nvSpPr>
        <p:spPr>
          <a:xfrm>
            <a:off x="594360" y="2779776"/>
            <a:ext cx="10972800" cy="822960"/>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0"/>
          <p:cNvSpPr/>
          <p:nvPr/>
        </p:nvSpPr>
        <p:spPr>
          <a:xfrm>
            <a:off x="914400" y="2889504"/>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NEVER TOUCH THE HOT END</a:t>
            </a:r>
            <a:endParaRPr b="0" i="0" sz="1250" u="none" cap="none" strike="noStrike">
              <a:solidFill>
                <a:schemeClr val="dk1"/>
              </a:solidFill>
              <a:latin typeface="Calibri"/>
              <a:ea typeface="Calibri"/>
              <a:cs typeface="Calibri"/>
              <a:sym typeface="Calibri"/>
            </a:endParaRPr>
          </a:p>
        </p:txBody>
      </p:sp>
      <p:sp>
        <p:nvSpPr>
          <p:cNvPr id="373" name="Google Shape;373;p10"/>
          <p:cNvSpPr/>
          <p:nvPr/>
        </p:nvSpPr>
        <p:spPr>
          <a:xfrm>
            <a:off x="914400" y="3200400"/>
            <a:ext cx="10515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The nozzle runs around 200–250°C and does not look hot. The bed is hot too.</a:t>
            </a:r>
            <a:endParaRPr b="0" i="0" sz="1250" u="none" cap="none" strike="noStrike">
              <a:solidFill>
                <a:schemeClr val="dk1"/>
              </a:solidFill>
              <a:latin typeface="Calibri"/>
              <a:ea typeface="Calibri"/>
              <a:cs typeface="Calibri"/>
              <a:sym typeface="Calibri"/>
            </a:endParaRPr>
          </a:p>
        </p:txBody>
      </p:sp>
      <p:sp>
        <p:nvSpPr>
          <p:cNvPr id="374" name="Google Shape;374;p10"/>
          <p:cNvSpPr/>
          <p:nvPr/>
        </p:nvSpPr>
        <p:spPr>
          <a:xfrm>
            <a:off x="662940" y="3890772"/>
            <a:ext cx="10972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0"/>
          <p:cNvSpPr/>
          <p:nvPr/>
        </p:nvSpPr>
        <p:spPr>
          <a:xfrm>
            <a:off x="594360" y="3822192"/>
            <a:ext cx="1097280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0"/>
          <p:cNvSpPr/>
          <p:nvPr/>
        </p:nvSpPr>
        <p:spPr>
          <a:xfrm>
            <a:off x="914400" y="3931920"/>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DO NOT RESTART SOMEONE'S PRINT</a:t>
            </a:r>
            <a:endParaRPr b="0" i="0" sz="1250" u="none" cap="none" strike="noStrike">
              <a:solidFill>
                <a:schemeClr val="dk1"/>
              </a:solidFill>
              <a:latin typeface="Calibri"/>
              <a:ea typeface="Calibri"/>
              <a:cs typeface="Calibri"/>
              <a:sym typeface="Calibri"/>
            </a:endParaRPr>
          </a:p>
        </p:txBody>
      </p:sp>
      <p:sp>
        <p:nvSpPr>
          <p:cNvPr id="377" name="Google Shape;377;p10"/>
          <p:cNvSpPr/>
          <p:nvPr/>
        </p:nvSpPr>
        <p:spPr>
          <a:xfrm>
            <a:off x="914400" y="4242816"/>
            <a:ext cx="10515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If a job looks like it is failing, tell staff. Do not intervene.</a:t>
            </a:r>
            <a:endParaRPr b="0" i="0" sz="1250" u="none" cap="none" strike="noStrike">
              <a:solidFill>
                <a:schemeClr val="dk1"/>
              </a:solidFill>
              <a:latin typeface="Calibri"/>
              <a:ea typeface="Calibri"/>
              <a:cs typeface="Calibri"/>
              <a:sym typeface="Calibri"/>
            </a:endParaRPr>
          </a:p>
        </p:txBody>
      </p:sp>
      <p:sp>
        <p:nvSpPr>
          <p:cNvPr id="378" name="Google Shape;378;p10"/>
          <p:cNvSpPr/>
          <p:nvPr/>
        </p:nvSpPr>
        <p:spPr>
          <a:xfrm>
            <a:off x="662940" y="4933188"/>
            <a:ext cx="10972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0"/>
          <p:cNvSpPr/>
          <p:nvPr/>
        </p:nvSpPr>
        <p:spPr>
          <a:xfrm>
            <a:off x="594360" y="4864608"/>
            <a:ext cx="1097280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0"/>
          <p:cNvSpPr/>
          <p:nvPr/>
        </p:nvSpPr>
        <p:spPr>
          <a:xfrm>
            <a:off x="914400" y="4974336"/>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QUEUE IS FIRST COME</a:t>
            </a:r>
            <a:endParaRPr b="0" i="0" sz="1250" u="none" cap="none" strike="noStrike">
              <a:solidFill>
                <a:schemeClr val="dk1"/>
              </a:solidFill>
              <a:latin typeface="Calibri"/>
              <a:ea typeface="Calibri"/>
              <a:cs typeface="Calibri"/>
              <a:sym typeface="Calibri"/>
            </a:endParaRPr>
          </a:p>
        </p:txBody>
      </p:sp>
      <p:sp>
        <p:nvSpPr>
          <p:cNvPr id="381" name="Google Shape;381;p10"/>
          <p:cNvSpPr/>
          <p:nvPr/>
        </p:nvSpPr>
        <p:spPr>
          <a:xfrm>
            <a:off x="914400" y="5285232"/>
            <a:ext cx="10515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A print that finishes at 3am still finishes. One that starts at the deadline does not.</a:t>
            </a:r>
            <a:endParaRPr b="0" i="0" sz="1250" u="none" cap="none" strike="noStrike">
              <a:solidFill>
                <a:schemeClr val="dk1"/>
              </a:solidFill>
              <a:latin typeface="Calibri"/>
              <a:ea typeface="Calibri"/>
              <a:cs typeface="Calibri"/>
              <a:sym typeface="Calibri"/>
            </a:endParaRPr>
          </a:p>
        </p:txBody>
      </p:sp>
      <p:sp>
        <p:nvSpPr>
          <p:cNvPr id="382" name="Google Shape;382;p10"/>
          <p:cNvSpPr/>
          <p:nvPr/>
        </p:nvSpPr>
        <p:spPr>
          <a:xfrm>
            <a:off x="662940" y="5920740"/>
            <a:ext cx="10972800" cy="5486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0"/>
          <p:cNvSpPr/>
          <p:nvPr/>
        </p:nvSpPr>
        <p:spPr>
          <a:xfrm>
            <a:off x="594360" y="5852160"/>
            <a:ext cx="10972800" cy="548640"/>
          </a:xfrm>
          <a:prstGeom prst="rect">
            <a:avLst/>
          </a:prstGeom>
          <a:solidFill>
            <a:srgbClr val="0000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0"/>
          <p:cNvSpPr/>
          <p:nvPr/>
        </p:nvSpPr>
        <p:spPr>
          <a:xfrm>
            <a:off x="914400" y="5961888"/>
            <a:ext cx="10515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E500"/>
              </a:buClr>
              <a:buSzPts val="1100"/>
              <a:buFont typeface="Courier New"/>
              <a:buNone/>
            </a:pPr>
            <a:r>
              <a:rPr b="0" i="0" lang="en-US" sz="1100" u="none" cap="none" strike="noStrike">
                <a:solidFill>
                  <a:srgbClr val="FFE500"/>
                </a:solidFill>
                <a:latin typeface="Courier New"/>
                <a:ea typeface="Courier New"/>
                <a:cs typeface="Courier New"/>
                <a:sym typeface="Courier New"/>
              </a:rPr>
              <a:t>`[CONFIRM WITH DIEGO: BOOKING METHOD, FILE NAMING, PICK-UP, MATERIAL ALLOCATION]`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389" name="Shape 389"/>
        <p:cNvGrpSpPr/>
        <p:nvPr/>
      </p:nvGrpSpPr>
      <p:grpSpPr>
        <a:xfrm>
          <a:off x="0" y="0"/>
          <a:ext cx="0" cy="0"/>
          <a:chOff x="0" y="0"/>
          <a:chExt cx="0" cy="0"/>
        </a:xfrm>
      </p:grpSpPr>
      <p:cxnSp>
        <p:nvCxnSpPr>
          <p:cNvPr id="390" name="Google Shape;390;p11"/>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391" name="Google Shape;391;p11"/>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SIX WAYS IT GOES WRONG</a:t>
            </a:r>
            <a:endParaRPr b="0" i="0" sz="3300" u="none" cap="none" strike="noStrike">
              <a:solidFill>
                <a:schemeClr val="dk1"/>
              </a:solidFill>
              <a:latin typeface="Calibri"/>
              <a:ea typeface="Calibri"/>
              <a:cs typeface="Calibri"/>
              <a:sym typeface="Calibri"/>
            </a:endParaRPr>
          </a:p>
        </p:txBody>
      </p:sp>
      <p:sp>
        <p:nvSpPr>
          <p:cNvPr id="392" name="Google Shape;392;p11"/>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b="0" i="0" lang="en-US" sz="1350" u="none" cap="none" strike="noStrike">
                <a:solidFill>
                  <a:srgbClr val="6B6B6B"/>
                </a:solidFill>
                <a:latin typeface="Calibri"/>
                <a:ea typeface="Calibri"/>
                <a:cs typeface="Calibri"/>
                <a:sym typeface="Calibri"/>
              </a:rPr>
              <a:t>Learn to name the failure. Naming it is most of the diagnosis.</a:t>
            </a:r>
            <a:endParaRPr b="0" i="0" sz="1350" u="none" cap="none" strike="noStrike">
              <a:solidFill>
                <a:schemeClr val="dk1"/>
              </a:solidFill>
              <a:latin typeface="Calibri"/>
              <a:ea typeface="Calibri"/>
              <a:cs typeface="Calibri"/>
              <a:sym typeface="Calibri"/>
            </a:endParaRPr>
          </a:p>
        </p:txBody>
      </p:sp>
      <p:sp>
        <p:nvSpPr>
          <p:cNvPr id="393" name="Google Shape;393;p11"/>
          <p:cNvSpPr/>
          <p:nvPr/>
        </p:nvSpPr>
        <p:spPr>
          <a:xfrm>
            <a:off x="662940" y="1732788"/>
            <a:ext cx="3383280" cy="2148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1"/>
          <p:cNvSpPr/>
          <p:nvPr/>
        </p:nvSpPr>
        <p:spPr>
          <a:xfrm>
            <a:off x="594360" y="1664208"/>
            <a:ext cx="3383280" cy="21488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1"/>
          <p:cNvSpPr/>
          <p:nvPr/>
        </p:nvSpPr>
        <p:spPr>
          <a:xfrm>
            <a:off x="594360" y="1664208"/>
            <a:ext cx="3383280" cy="402336"/>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1"/>
          <p:cNvSpPr/>
          <p:nvPr/>
        </p:nvSpPr>
        <p:spPr>
          <a:xfrm>
            <a:off x="795528" y="1719072"/>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WARPING</a:t>
            </a:r>
            <a:endParaRPr b="0" i="0" sz="1150" u="none" cap="none" strike="noStrike">
              <a:solidFill>
                <a:schemeClr val="dk1"/>
              </a:solidFill>
              <a:latin typeface="Calibri"/>
              <a:ea typeface="Calibri"/>
              <a:cs typeface="Calibri"/>
              <a:sym typeface="Calibri"/>
            </a:endParaRPr>
          </a:p>
        </p:txBody>
      </p:sp>
      <p:sp>
        <p:nvSpPr>
          <p:cNvPr id="397" name="Google Shape;397;p11"/>
          <p:cNvSpPr/>
          <p:nvPr/>
        </p:nvSpPr>
        <p:spPr>
          <a:xfrm>
            <a:off x="795528" y="2194560"/>
            <a:ext cx="1051560" cy="868680"/>
          </a:xfrm>
          <a:prstGeom prst="rect">
            <a:avLst/>
          </a:prstGeom>
          <a:solidFill>
            <a:srgbClr val="F4F4EE"/>
          </a:solidFill>
          <a:ln cap="flat" cmpd="sng" w="15875">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1"/>
          <p:cNvSpPr/>
          <p:nvPr/>
        </p:nvSpPr>
        <p:spPr>
          <a:xfrm>
            <a:off x="868680" y="2971800"/>
            <a:ext cx="905256" cy="54864"/>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1"/>
          <p:cNvSpPr/>
          <p:nvPr/>
        </p:nvSpPr>
        <p:spPr>
          <a:xfrm>
            <a:off x="1069848" y="2660904"/>
            <a:ext cx="502920" cy="310896"/>
          </a:xfrm>
          <a:prstGeom prst="rect">
            <a:avLst/>
          </a:prstGeom>
          <a:solidFill>
            <a:srgbClr val="FFFDF7"/>
          </a:solidFill>
          <a:ln cap="flat" cmpd="sng" w="222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0" name="Google Shape;400;p11"/>
          <p:cNvCxnSpPr/>
          <p:nvPr/>
        </p:nvCxnSpPr>
        <p:spPr>
          <a:xfrm rot="10800000">
            <a:off x="923544" y="2843784"/>
            <a:ext cx="146304" cy="128016"/>
          </a:xfrm>
          <a:prstGeom prst="straightConnector1">
            <a:avLst/>
          </a:prstGeom>
          <a:noFill/>
          <a:ln cap="flat" cmpd="sng" w="25400">
            <a:solidFill>
              <a:srgbClr val="FF4D8D"/>
            </a:solidFill>
            <a:prstDash val="solid"/>
            <a:round/>
            <a:headEnd len="sm" w="sm" type="none"/>
            <a:tailEnd len="sm" w="sm" type="none"/>
          </a:ln>
        </p:spPr>
      </p:cxnSp>
      <p:cxnSp>
        <p:nvCxnSpPr>
          <p:cNvPr id="401" name="Google Shape;401;p11"/>
          <p:cNvCxnSpPr/>
          <p:nvPr/>
        </p:nvCxnSpPr>
        <p:spPr>
          <a:xfrm flipH="1" rot="10800000">
            <a:off x="1572768" y="2843784"/>
            <a:ext cx="146304" cy="128016"/>
          </a:xfrm>
          <a:prstGeom prst="straightConnector1">
            <a:avLst/>
          </a:prstGeom>
          <a:noFill/>
          <a:ln cap="flat" cmpd="sng" w="25400">
            <a:solidFill>
              <a:srgbClr val="FF4D8D"/>
            </a:solidFill>
            <a:prstDash val="solid"/>
            <a:round/>
            <a:headEnd len="sm" w="sm" type="none"/>
            <a:tailEnd len="sm" w="sm" type="none"/>
          </a:ln>
        </p:spPr>
      </p:cxnSp>
      <p:sp>
        <p:nvSpPr>
          <p:cNvPr id="402" name="Google Shape;402;p11"/>
          <p:cNvSpPr/>
          <p:nvPr/>
        </p:nvSpPr>
        <p:spPr>
          <a:xfrm>
            <a:off x="1984248" y="2176272"/>
            <a:ext cx="1792224"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Corners lift off the bed and the base curves.</a:t>
            </a:r>
            <a:endParaRPr b="0" i="0" sz="1050" u="none" cap="none" strike="noStrike">
              <a:solidFill>
                <a:schemeClr val="dk1"/>
              </a:solidFill>
              <a:latin typeface="Calibri"/>
              <a:ea typeface="Calibri"/>
              <a:cs typeface="Calibri"/>
              <a:sym typeface="Calibri"/>
            </a:endParaRPr>
          </a:p>
        </p:txBody>
      </p:sp>
      <p:sp>
        <p:nvSpPr>
          <p:cNvPr id="403" name="Google Shape;403;p11"/>
          <p:cNvSpPr/>
          <p:nvPr/>
        </p:nvSpPr>
        <p:spPr>
          <a:xfrm>
            <a:off x="1984248" y="2688336"/>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CAUSE</a:t>
            </a:r>
            <a:endParaRPr b="0" i="0" sz="750" u="none" cap="none" strike="noStrike">
              <a:solidFill>
                <a:schemeClr val="dk1"/>
              </a:solidFill>
              <a:latin typeface="Calibri"/>
              <a:ea typeface="Calibri"/>
              <a:cs typeface="Calibri"/>
              <a:sym typeface="Calibri"/>
            </a:endParaRPr>
          </a:p>
        </p:txBody>
      </p:sp>
      <p:sp>
        <p:nvSpPr>
          <p:cNvPr id="404" name="Google Shape;404;p11"/>
          <p:cNvSpPr/>
          <p:nvPr/>
        </p:nvSpPr>
        <p:spPr>
          <a:xfrm>
            <a:off x="1984248" y="2852928"/>
            <a:ext cx="1792224" cy="3108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Cooling shrinkage beats bed adhesion.</a:t>
            </a:r>
            <a:endParaRPr b="0" i="0" sz="1000" u="none" cap="none" strike="noStrike">
              <a:solidFill>
                <a:schemeClr val="dk1"/>
              </a:solidFill>
              <a:latin typeface="Calibri"/>
              <a:ea typeface="Calibri"/>
              <a:cs typeface="Calibri"/>
              <a:sym typeface="Calibri"/>
            </a:endParaRPr>
          </a:p>
        </p:txBody>
      </p:sp>
      <p:sp>
        <p:nvSpPr>
          <p:cNvPr id="405" name="Google Shape;405;p11"/>
          <p:cNvSpPr/>
          <p:nvPr/>
        </p:nvSpPr>
        <p:spPr>
          <a:xfrm>
            <a:off x="1984248" y="3200400"/>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FIX</a:t>
            </a:r>
            <a:endParaRPr b="0" i="0" sz="750" u="none" cap="none" strike="noStrike">
              <a:solidFill>
                <a:schemeClr val="dk1"/>
              </a:solidFill>
              <a:latin typeface="Calibri"/>
              <a:ea typeface="Calibri"/>
              <a:cs typeface="Calibri"/>
              <a:sym typeface="Calibri"/>
            </a:endParaRPr>
          </a:p>
        </p:txBody>
      </p:sp>
      <p:sp>
        <p:nvSpPr>
          <p:cNvPr id="406" name="Google Shape;406;p11"/>
          <p:cNvSpPr/>
          <p:nvPr/>
        </p:nvSpPr>
        <p:spPr>
          <a:xfrm>
            <a:off x="1984248" y="3364992"/>
            <a:ext cx="1792224" cy="3657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Clean bed, add a brim, keep drafts off it.</a:t>
            </a:r>
            <a:endParaRPr b="0" i="0" sz="1000" u="none" cap="none" strike="noStrike">
              <a:solidFill>
                <a:schemeClr val="dk1"/>
              </a:solidFill>
              <a:latin typeface="Calibri"/>
              <a:ea typeface="Calibri"/>
              <a:cs typeface="Calibri"/>
              <a:sym typeface="Calibri"/>
            </a:endParaRPr>
          </a:p>
        </p:txBody>
      </p:sp>
      <p:sp>
        <p:nvSpPr>
          <p:cNvPr id="407" name="Google Shape;407;p11"/>
          <p:cNvSpPr/>
          <p:nvPr/>
        </p:nvSpPr>
        <p:spPr>
          <a:xfrm>
            <a:off x="4457700" y="1732788"/>
            <a:ext cx="3383280" cy="2148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1"/>
          <p:cNvSpPr/>
          <p:nvPr/>
        </p:nvSpPr>
        <p:spPr>
          <a:xfrm>
            <a:off x="4389120" y="1664208"/>
            <a:ext cx="3383280" cy="21488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1"/>
          <p:cNvSpPr/>
          <p:nvPr/>
        </p:nvSpPr>
        <p:spPr>
          <a:xfrm>
            <a:off x="4389120" y="1664208"/>
            <a:ext cx="3383280" cy="402336"/>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1"/>
          <p:cNvSpPr/>
          <p:nvPr/>
        </p:nvSpPr>
        <p:spPr>
          <a:xfrm>
            <a:off x="4590288" y="1719072"/>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ELEPHANT'S FOOT</a:t>
            </a:r>
            <a:endParaRPr b="0" i="0" sz="1150" u="none" cap="none" strike="noStrike">
              <a:solidFill>
                <a:schemeClr val="dk1"/>
              </a:solidFill>
              <a:latin typeface="Calibri"/>
              <a:ea typeface="Calibri"/>
              <a:cs typeface="Calibri"/>
              <a:sym typeface="Calibri"/>
            </a:endParaRPr>
          </a:p>
        </p:txBody>
      </p:sp>
      <p:sp>
        <p:nvSpPr>
          <p:cNvPr id="411" name="Google Shape;411;p11"/>
          <p:cNvSpPr/>
          <p:nvPr/>
        </p:nvSpPr>
        <p:spPr>
          <a:xfrm>
            <a:off x="4590288" y="2194560"/>
            <a:ext cx="1051560" cy="868680"/>
          </a:xfrm>
          <a:prstGeom prst="rect">
            <a:avLst/>
          </a:prstGeom>
          <a:solidFill>
            <a:srgbClr val="F4F4EE"/>
          </a:solidFill>
          <a:ln cap="flat" cmpd="sng" w="15875">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1"/>
          <p:cNvSpPr/>
          <p:nvPr/>
        </p:nvSpPr>
        <p:spPr>
          <a:xfrm>
            <a:off x="4663440" y="2971800"/>
            <a:ext cx="905256" cy="54864"/>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1"/>
          <p:cNvSpPr/>
          <p:nvPr/>
        </p:nvSpPr>
        <p:spPr>
          <a:xfrm>
            <a:off x="4919472" y="2587752"/>
            <a:ext cx="402336" cy="310896"/>
          </a:xfrm>
          <a:prstGeom prst="rect">
            <a:avLst/>
          </a:prstGeom>
          <a:solidFill>
            <a:srgbClr val="FFFDF7"/>
          </a:solidFill>
          <a:ln cap="flat" cmpd="sng" w="222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1"/>
          <p:cNvSpPr/>
          <p:nvPr/>
        </p:nvSpPr>
        <p:spPr>
          <a:xfrm>
            <a:off x="4828032" y="2880360"/>
            <a:ext cx="585216" cy="91440"/>
          </a:xfrm>
          <a:prstGeom prst="rect">
            <a:avLst/>
          </a:prstGeom>
          <a:solidFill>
            <a:srgbClr val="FFE500"/>
          </a:solidFill>
          <a:ln cap="flat" cmpd="sng" w="222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1"/>
          <p:cNvSpPr/>
          <p:nvPr/>
        </p:nvSpPr>
        <p:spPr>
          <a:xfrm>
            <a:off x="5779008" y="2176272"/>
            <a:ext cx="1792224"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The bottom few layers bulge out wider than the rest.</a:t>
            </a:r>
            <a:endParaRPr b="0" i="0" sz="1050" u="none" cap="none" strike="noStrike">
              <a:solidFill>
                <a:schemeClr val="dk1"/>
              </a:solidFill>
              <a:latin typeface="Calibri"/>
              <a:ea typeface="Calibri"/>
              <a:cs typeface="Calibri"/>
              <a:sym typeface="Calibri"/>
            </a:endParaRPr>
          </a:p>
        </p:txBody>
      </p:sp>
      <p:sp>
        <p:nvSpPr>
          <p:cNvPr id="416" name="Google Shape;416;p11"/>
          <p:cNvSpPr/>
          <p:nvPr/>
        </p:nvSpPr>
        <p:spPr>
          <a:xfrm>
            <a:off x="5779008" y="2688336"/>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CAUSE</a:t>
            </a:r>
            <a:endParaRPr b="0" i="0" sz="750" u="none" cap="none" strike="noStrike">
              <a:solidFill>
                <a:schemeClr val="dk1"/>
              </a:solidFill>
              <a:latin typeface="Calibri"/>
              <a:ea typeface="Calibri"/>
              <a:cs typeface="Calibri"/>
              <a:sym typeface="Calibri"/>
            </a:endParaRPr>
          </a:p>
        </p:txBody>
      </p:sp>
      <p:sp>
        <p:nvSpPr>
          <p:cNvPr id="417" name="Google Shape;417;p11"/>
          <p:cNvSpPr/>
          <p:nvPr/>
        </p:nvSpPr>
        <p:spPr>
          <a:xfrm>
            <a:off x="5779008" y="2852928"/>
            <a:ext cx="1792224" cy="3108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Nozzle too close, or bed too hot.</a:t>
            </a:r>
            <a:endParaRPr b="0" i="0" sz="1000" u="none" cap="none" strike="noStrike">
              <a:solidFill>
                <a:schemeClr val="dk1"/>
              </a:solidFill>
              <a:latin typeface="Calibri"/>
              <a:ea typeface="Calibri"/>
              <a:cs typeface="Calibri"/>
              <a:sym typeface="Calibri"/>
            </a:endParaRPr>
          </a:p>
        </p:txBody>
      </p:sp>
      <p:sp>
        <p:nvSpPr>
          <p:cNvPr id="418" name="Google Shape;418;p11"/>
          <p:cNvSpPr/>
          <p:nvPr/>
        </p:nvSpPr>
        <p:spPr>
          <a:xfrm>
            <a:off x="5779008" y="3200400"/>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FIX</a:t>
            </a:r>
            <a:endParaRPr b="0" i="0" sz="750" u="none" cap="none" strike="noStrike">
              <a:solidFill>
                <a:schemeClr val="dk1"/>
              </a:solidFill>
              <a:latin typeface="Calibri"/>
              <a:ea typeface="Calibri"/>
              <a:cs typeface="Calibri"/>
              <a:sym typeface="Calibri"/>
            </a:endParaRPr>
          </a:p>
        </p:txBody>
      </p:sp>
      <p:sp>
        <p:nvSpPr>
          <p:cNvPr id="419" name="Google Shape;419;p11"/>
          <p:cNvSpPr/>
          <p:nvPr/>
        </p:nvSpPr>
        <p:spPr>
          <a:xfrm>
            <a:off x="5779008" y="3364992"/>
            <a:ext cx="1792224" cy="3657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Slicer setting — or chamfer the base yourself.</a:t>
            </a:r>
            <a:endParaRPr b="0" i="0" sz="1000" u="none" cap="none" strike="noStrike">
              <a:solidFill>
                <a:schemeClr val="dk1"/>
              </a:solidFill>
              <a:latin typeface="Calibri"/>
              <a:ea typeface="Calibri"/>
              <a:cs typeface="Calibri"/>
              <a:sym typeface="Calibri"/>
            </a:endParaRPr>
          </a:p>
        </p:txBody>
      </p:sp>
      <p:sp>
        <p:nvSpPr>
          <p:cNvPr id="420" name="Google Shape;420;p11"/>
          <p:cNvSpPr/>
          <p:nvPr/>
        </p:nvSpPr>
        <p:spPr>
          <a:xfrm>
            <a:off x="8252460" y="1732788"/>
            <a:ext cx="3383280" cy="2148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1"/>
          <p:cNvSpPr/>
          <p:nvPr/>
        </p:nvSpPr>
        <p:spPr>
          <a:xfrm>
            <a:off x="8183880" y="1664208"/>
            <a:ext cx="3383280" cy="21488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1"/>
          <p:cNvSpPr/>
          <p:nvPr/>
        </p:nvSpPr>
        <p:spPr>
          <a:xfrm>
            <a:off x="8183880" y="1664208"/>
            <a:ext cx="3383280" cy="402336"/>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1"/>
          <p:cNvSpPr/>
          <p:nvPr/>
        </p:nvSpPr>
        <p:spPr>
          <a:xfrm>
            <a:off x="8385048" y="1719072"/>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STRINGING</a:t>
            </a:r>
            <a:endParaRPr b="0" i="0" sz="1150" u="none" cap="none" strike="noStrike">
              <a:solidFill>
                <a:schemeClr val="dk1"/>
              </a:solidFill>
              <a:latin typeface="Calibri"/>
              <a:ea typeface="Calibri"/>
              <a:cs typeface="Calibri"/>
              <a:sym typeface="Calibri"/>
            </a:endParaRPr>
          </a:p>
        </p:txBody>
      </p:sp>
      <p:sp>
        <p:nvSpPr>
          <p:cNvPr id="424" name="Google Shape;424;p11"/>
          <p:cNvSpPr/>
          <p:nvPr/>
        </p:nvSpPr>
        <p:spPr>
          <a:xfrm>
            <a:off x="8385048" y="2194560"/>
            <a:ext cx="1051560" cy="868680"/>
          </a:xfrm>
          <a:prstGeom prst="rect">
            <a:avLst/>
          </a:prstGeom>
          <a:solidFill>
            <a:srgbClr val="F4F4EE"/>
          </a:solidFill>
          <a:ln cap="flat" cmpd="sng" w="15875">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1"/>
          <p:cNvSpPr/>
          <p:nvPr/>
        </p:nvSpPr>
        <p:spPr>
          <a:xfrm>
            <a:off x="8458200" y="2971800"/>
            <a:ext cx="905256" cy="54864"/>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1"/>
          <p:cNvSpPr/>
          <p:nvPr/>
        </p:nvSpPr>
        <p:spPr>
          <a:xfrm>
            <a:off x="8531352" y="2606040"/>
            <a:ext cx="256032" cy="365760"/>
          </a:xfrm>
          <a:prstGeom prst="rect">
            <a:avLst/>
          </a:prstGeom>
          <a:solidFill>
            <a:srgbClr val="FFFDF7"/>
          </a:solidFill>
          <a:ln cap="flat" cmpd="sng" w="222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1"/>
          <p:cNvSpPr/>
          <p:nvPr/>
        </p:nvSpPr>
        <p:spPr>
          <a:xfrm>
            <a:off x="9043416" y="2606040"/>
            <a:ext cx="256032" cy="365760"/>
          </a:xfrm>
          <a:prstGeom prst="rect">
            <a:avLst/>
          </a:prstGeom>
          <a:solidFill>
            <a:srgbClr val="FFFDF7"/>
          </a:solidFill>
          <a:ln cap="flat" cmpd="sng" w="222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8" name="Google Shape;428;p11"/>
          <p:cNvCxnSpPr/>
          <p:nvPr/>
        </p:nvCxnSpPr>
        <p:spPr>
          <a:xfrm>
            <a:off x="8787384" y="2670048"/>
            <a:ext cx="256032" cy="18288"/>
          </a:xfrm>
          <a:prstGeom prst="straightConnector1">
            <a:avLst/>
          </a:prstGeom>
          <a:noFill/>
          <a:ln cap="flat" cmpd="sng" w="15875">
            <a:solidFill>
              <a:srgbClr val="00D9E1"/>
            </a:solidFill>
            <a:prstDash val="solid"/>
            <a:round/>
            <a:headEnd len="sm" w="sm" type="none"/>
            <a:tailEnd len="sm" w="sm" type="none"/>
          </a:ln>
        </p:spPr>
      </p:cxnSp>
      <p:cxnSp>
        <p:nvCxnSpPr>
          <p:cNvPr id="429" name="Google Shape;429;p11"/>
          <p:cNvCxnSpPr/>
          <p:nvPr/>
        </p:nvCxnSpPr>
        <p:spPr>
          <a:xfrm>
            <a:off x="8787384" y="2752344"/>
            <a:ext cx="256032" cy="18288"/>
          </a:xfrm>
          <a:prstGeom prst="straightConnector1">
            <a:avLst/>
          </a:prstGeom>
          <a:noFill/>
          <a:ln cap="flat" cmpd="sng" w="15875">
            <a:solidFill>
              <a:srgbClr val="00D9E1"/>
            </a:solidFill>
            <a:prstDash val="solid"/>
            <a:round/>
            <a:headEnd len="sm" w="sm" type="none"/>
            <a:tailEnd len="sm" w="sm" type="none"/>
          </a:ln>
        </p:spPr>
      </p:cxnSp>
      <p:cxnSp>
        <p:nvCxnSpPr>
          <p:cNvPr id="430" name="Google Shape;430;p11"/>
          <p:cNvCxnSpPr/>
          <p:nvPr/>
        </p:nvCxnSpPr>
        <p:spPr>
          <a:xfrm>
            <a:off x="8787384" y="2834640"/>
            <a:ext cx="256032" cy="18288"/>
          </a:xfrm>
          <a:prstGeom prst="straightConnector1">
            <a:avLst/>
          </a:prstGeom>
          <a:noFill/>
          <a:ln cap="flat" cmpd="sng" w="15875">
            <a:solidFill>
              <a:srgbClr val="00D9E1"/>
            </a:solidFill>
            <a:prstDash val="solid"/>
            <a:round/>
            <a:headEnd len="sm" w="sm" type="none"/>
            <a:tailEnd len="sm" w="sm" type="none"/>
          </a:ln>
        </p:spPr>
      </p:cxnSp>
      <p:sp>
        <p:nvSpPr>
          <p:cNvPr id="431" name="Google Shape;431;p11"/>
          <p:cNvSpPr/>
          <p:nvPr/>
        </p:nvSpPr>
        <p:spPr>
          <a:xfrm>
            <a:off x="9573768" y="2176272"/>
            <a:ext cx="1792224"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Fine hairs between separate parts of the print.</a:t>
            </a:r>
            <a:endParaRPr b="0" i="0" sz="1050" u="none" cap="none" strike="noStrike">
              <a:solidFill>
                <a:schemeClr val="dk1"/>
              </a:solidFill>
              <a:latin typeface="Calibri"/>
              <a:ea typeface="Calibri"/>
              <a:cs typeface="Calibri"/>
              <a:sym typeface="Calibri"/>
            </a:endParaRPr>
          </a:p>
        </p:txBody>
      </p:sp>
      <p:sp>
        <p:nvSpPr>
          <p:cNvPr id="432" name="Google Shape;432;p11"/>
          <p:cNvSpPr/>
          <p:nvPr/>
        </p:nvSpPr>
        <p:spPr>
          <a:xfrm>
            <a:off x="9573768" y="2688336"/>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CAUSE</a:t>
            </a:r>
            <a:endParaRPr b="0" i="0" sz="750" u="none" cap="none" strike="noStrike">
              <a:solidFill>
                <a:schemeClr val="dk1"/>
              </a:solidFill>
              <a:latin typeface="Calibri"/>
              <a:ea typeface="Calibri"/>
              <a:cs typeface="Calibri"/>
              <a:sym typeface="Calibri"/>
            </a:endParaRPr>
          </a:p>
        </p:txBody>
      </p:sp>
      <p:sp>
        <p:nvSpPr>
          <p:cNvPr id="433" name="Google Shape;433;p11"/>
          <p:cNvSpPr/>
          <p:nvPr/>
        </p:nvSpPr>
        <p:spPr>
          <a:xfrm>
            <a:off x="9573768" y="2852928"/>
            <a:ext cx="1792224" cy="3108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The nozzle oozes while travelling.</a:t>
            </a:r>
            <a:endParaRPr b="0" i="0" sz="1000" u="none" cap="none" strike="noStrike">
              <a:solidFill>
                <a:schemeClr val="dk1"/>
              </a:solidFill>
              <a:latin typeface="Calibri"/>
              <a:ea typeface="Calibri"/>
              <a:cs typeface="Calibri"/>
              <a:sym typeface="Calibri"/>
            </a:endParaRPr>
          </a:p>
        </p:txBody>
      </p:sp>
      <p:sp>
        <p:nvSpPr>
          <p:cNvPr id="434" name="Google Shape;434;p11"/>
          <p:cNvSpPr/>
          <p:nvPr/>
        </p:nvSpPr>
        <p:spPr>
          <a:xfrm>
            <a:off x="9573768" y="3200400"/>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FIX</a:t>
            </a:r>
            <a:endParaRPr b="0" i="0" sz="750" u="none" cap="none" strike="noStrike">
              <a:solidFill>
                <a:schemeClr val="dk1"/>
              </a:solidFill>
              <a:latin typeface="Calibri"/>
              <a:ea typeface="Calibri"/>
              <a:cs typeface="Calibri"/>
              <a:sym typeface="Calibri"/>
            </a:endParaRPr>
          </a:p>
        </p:txBody>
      </p:sp>
      <p:sp>
        <p:nvSpPr>
          <p:cNvPr id="435" name="Google Shape;435;p11"/>
          <p:cNvSpPr/>
          <p:nvPr/>
        </p:nvSpPr>
        <p:spPr>
          <a:xfrm>
            <a:off x="9573768" y="3364992"/>
            <a:ext cx="1792224" cy="3657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Retraction on. Fewer travel moves — ordering again.</a:t>
            </a:r>
            <a:endParaRPr b="0" i="0" sz="1000" u="none" cap="none" strike="noStrike">
              <a:solidFill>
                <a:schemeClr val="dk1"/>
              </a:solidFill>
              <a:latin typeface="Calibri"/>
              <a:ea typeface="Calibri"/>
              <a:cs typeface="Calibri"/>
              <a:sym typeface="Calibri"/>
            </a:endParaRPr>
          </a:p>
        </p:txBody>
      </p:sp>
      <p:sp>
        <p:nvSpPr>
          <p:cNvPr id="436" name="Google Shape;436;p11"/>
          <p:cNvSpPr/>
          <p:nvPr/>
        </p:nvSpPr>
        <p:spPr>
          <a:xfrm>
            <a:off x="662940" y="4174236"/>
            <a:ext cx="3383280" cy="2148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1"/>
          <p:cNvSpPr/>
          <p:nvPr/>
        </p:nvSpPr>
        <p:spPr>
          <a:xfrm>
            <a:off x="594360" y="4105656"/>
            <a:ext cx="3383280" cy="21488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594360" y="4105656"/>
            <a:ext cx="3383280" cy="402336"/>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1"/>
          <p:cNvSpPr/>
          <p:nvPr/>
        </p:nvSpPr>
        <p:spPr>
          <a:xfrm>
            <a:off x="795528" y="4160520"/>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LAYER SEPARATION</a:t>
            </a:r>
            <a:endParaRPr b="0" i="0" sz="1150" u="none" cap="none" strike="noStrike">
              <a:solidFill>
                <a:schemeClr val="dk1"/>
              </a:solidFill>
              <a:latin typeface="Calibri"/>
              <a:ea typeface="Calibri"/>
              <a:cs typeface="Calibri"/>
              <a:sym typeface="Calibri"/>
            </a:endParaRPr>
          </a:p>
        </p:txBody>
      </p:sp>
      <p:sp>
        <p:nvSpPr>
          <p:cNvPr id="440" name="Google Shape;440;p11"/>
          <p:cNvSpPr/>
          <p:nvPr/>
        </p:nvSpPr>
        <p:spPr>
          <a:xfrm>
            <a:off x="795528" y="4636008"/>
            <a:ext cx="1051560" cy="868680"/>
          </a:xfrm>
          <a:prstGeom prst="rect">
            <a:avLst/>
          </a:prstGeom>
          <a:solidFill>
            <a:srgbClr val="F4F4EE"/>
          </a:solidFill>
          <a:ln cap="flat" cmpd="sng" w="15875">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868680" y="5413248"/>
            <a:ext cx="905256" cy="54864"/>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1124712" y="5230368"/>
            <a:ext cx="402336" cy="91440"/>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1"/>
          <p:cNvSpPr/>
          <p:nvPr/>
        </p:nvSpPr>
        <p:spPr>
          <a:xfrm>
            <a:off x="1124712" y="5138928"/>
            <a:ext cx="402336" cy="91440"/>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a:off x="1124712" y="5047488"/>
            <a:ext cx="402336" cy="91440"/>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
          <p:cNvSpPr/>
          <p:nvPr/>
        </p:nvSpPr>
        <p:spPr>
          <a:xfrm>
            <a:off x="1124712" y="4892040"/>
            <a:ext cx="402336" cy="91440"/>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1124712" y="4800600"/>
            <a:ext cx="402336" cy="91440"/>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1"/>
          <p:cNvSpPr/>
          <p:nvPr/>
        </p:nvSpPr>
        <p:spPr>
          <a:xfrm>
            <a:off x="1124712" y="4709160"/>
            <a:ext cx="402336" cy="91440"/>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 name="Google Shape;448;p11"/>
          <p:cNvCxnSpPr/>
          <p:nvPr/>
        </p:nvCxnSpPr>
        <p:spPr>
          <a:xfrm>
            <a:off x="1069848" y="5084064"/>
            <a:ext cx="512064" cy="0"/>
          </a:xfrm>
          <a:prstGeom prst="straightConnector1">
            <a:avLst/>
          </a:prstGeom>
          <a:noFill/>
          <a:ln cap="flat" cmpd="sng" w="28575">
            <a:solidFill>
              <a:srgbClr val="FF4D8D"/>
            </a:solidFill>
            <a:prstDash val="solid"/>
            <a:round/>
            <a:headEnd len="sm" w="sm" type="none"/>
            <a:tailEnd len="sm" w="sm" type="none"/>
          </a:ln>
        </p:spPr>
      </p:cxnSp>
      <p:sp>
        <p:nvSpPr>
          <p:cNvPr id="449" name="Google Shape;449;p11"/>
          <p:cNvSpPr/>
          <p:nvPr/>
        </p:nvSpPr>
        <p:spPr>
          <a:xfrm>
            <a:off x="1984248" y="4617720"/>
            <a:ext cx="1792224"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The print splits cleanly along a layer line.</a:t>
            </a:r>
            <a:endParaRPr b="0" i="0" sz="1050" u="none" cap="none" strike="noStrike">
              <a:solidFill>
                <a:schemeClr val="dk1"/>
              </a:solidFill>
              <a:latin typeface="Calibri"/>
              <a:ea typeface="Calibri"/>
              <a:cs typeface="Calibri"/>
              <a:sym typeface="Calibri"/>
            </a:endParaRPr>
          </a:p>
        </p:txBody>
      </p:sp>
      <p:sp>
        <p:nvSpPr>
          <p:cNvPr id="450" name="Google Shape;450;p11"/>
          <p:cNvSpPr/>
          <p:nvPr/>
        </p:nvSpPr>
        <p:spPr>
          <a:xfrm>
            <a:off x="1984248" y="5129784"/>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CAUSE</a:t>
            </a:r>
            <a:endParaRPr b="0" i="0" sz="750" u="none" cap="none" strike="noStrike">
              <a:solidFill>
                <a:schemeClr val="dk1"/>
              </a:solidFill>
              <a:latin typeface="Calibri"/>
              <a:ea typeface="Calibri"/>
              <a:cs typeface="Calibri"/>
              <a:sym typeface="Calibri"/>
            </a:endParaRPr>
          </a:p>
        </p:txBody>
      </p:sp>
      <p:sp>
        <p:nvSpPr>
          <p:cNvPr id="451" name="Google Shape;451;p11"/>
          <p:cNvSpPr/>
          <p:nvPr/>
        </p:nvSpPr>
        <p:spPr>
          <a:xfrm>
            <a:off x="1984248" y="5294376"/>
            <a:ext cx="1792224" cy="3108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Weak bond, or the load runs across layers.</a:t>
            </a:r>
            <a:endParaRPr b="0" i="0" sz="1000" u="none" cap="none" strike="noStrike">
              <a:solidFill>
                <a:schemeClr val="dk1"/>
              </a:solidFill>
              <a:latin typeface="Calibri"/>
              <a:ea typeface="Calibri"/>
              <a:cs typeface="Calibri"/>
              <a:sym typeface="Calibri"/>
            </a:endParaRPr>
          </a:p>
        </p:txBody>
      </p:sp>
      <p:sp>
        <p:nvSpPr>
          <p:cNvPr id="452" name="Google Shape;452;p11"/>
          <p:cNvSpPr/>
          <p:nvPr/>
        </p:nvSpPr>
        <p:spPr>
          <a:xfrm>
            <a:off x="1984248" y="5641848"/>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FIX</a:t>
            </a:r>
            <a:endParaRPr b="0" i="0" sz="750" u="none" cap="none" strike="noStrike">
              <a:solidFill>
                <a:schemeClr val="dk1"/>
              </a:solidFill>
              <a:latin typeface="Calibri"/>
              <a:ea typeface="Calibri"/>
              <a:cs typeface="Calibri"/>
              <a:sym typeface="Calibri"/>
            </a:endParaRPr>
          </a:p>
        </p:txBody>
      </p:sp>
      <p:sp>
        <p:nvSpPr>
          <p:cNvPr id="453" name="Google Shape;453;p11"/>
          <p:cNvSpPr/>
          <p:nvPr/>
        </p:nvSpPr>
        <p:spPr>
          <a:xfrm>
            <a:off x="1984248" y="5806440"/>
            <a:ext cx="1792224" cy="3657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Reorient so stress runs along layers, not across.</a:t>
            </a:r>
            <a:endParaRPr b="0" i="0" sz="1000" u="none" cap="none" strike="noStrike">
              <a:solidFill>
                <a:schemeClr val="dk1"/>
              </a:solidFill>
              <a:latin typeface="Calibri"/>
              <a:ea typeface="Calibri"/>
              <a:cs typeface="Calibri"/>
              <a:sym typeface="Calibri"/>
            </a:endParaRPr>
          </a:p>
        </p:txBody>
      </p:sp>
      <p:sp>
        <p:nvSpPr>
          <p:cNvPr id="454" name="Google Shape;454;p11"/>
          <p:cNvSpPr/>
          <p:nvPr/>
        </p:nvSpPr>
        <p:spPr>
          <a:xfrm>
            <a:off x="4457700" y="4174236"/>
            <a:ext cx="3383280" cy="2148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p:nvPr/>
        </p:nvSpPr>
        <p:spPr>
          <a:xfrm>
            <a:off x="4389120" y="4105656"/>
            <a:ext cx="3383280" cy="21488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1"/>
          <p:cNvSpPr/>
          <p:nvPr/>
        </p:nvSpPr>
        <p:spPr>
          <a:xfrm>
            <a:off x="4389120" y="4105656"/>
            <a:ext cx="3383280" cy="402336"/>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1"/>
          <p:cNvSpPr/>
          <p:nvPr/>
        </p:nvSpPr>
        <p:spPr>
          <a:xfrm>
            <a:off x="4590288" y="4160520"/>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DROOP</a:t>
            </a:r>
            <a:endParaRPr b="0" i="0" sz="1150" u="none" cap="none" strike="noStrike">
              <a:solidFill>
                <a:schemeClr val="dk1"/>
              </a:solidFill>
              <a:latin typeface="Calibri"/>
              <a:ea typeface="Calibri"/>
              <a:cs typeface="Calibri"/>
              <a:sym typeface="Calibri"/>
            </a:endParaRPr>
          </a:p>
        </p:txBody>
      </p:sp>
      <p:sp>
        <p:nvSpPr>
          <p:cNvPr id="458" name="Google Shape;458;p11"/>
          <p:cNvSpPr/>
          <p:nvPr/>
        </p:nvSpPr>
        <p:spPr>
          <a:xfrm>
            <a:off x="4590288" y="4636008"/>
            <a:ext cx="1051560" cy="868680"/>
          </a:xfrm>
          <a:prstGeom prst="rect">
            <a:avLst/>
          </a:prstGeom>
          <a:solidFill>
            <a:srgbClr val="F4F4EE"/>
          </a:solidFill>
          <a:ln cap="flat" cmpd="sng" w="15875">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1"/>
          <p:cNvSpPr/>
          <p:nvPr/>
        </p:nvSpPr>
        <p:spPr>
          <a:xfrm>
            <a:off x="4663440" y="5413248"/>
            <a:ext cx="905256" cy="54864"/>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a:off x="4791456" y="5312664"/>
            <a:ext cx="274320" cy="100584"/>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1"/>
          <p:cNvSpPr/>
          <p:nvPr/>
        </p:nvSpPr>
        <p:spPr>
          <a:xfrm>
            <a:off x="4791456" y="5212080"/>
            <a:ext cx="274320" cy="100584"/>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1"/>
          <p:cNvSpPr/>
          <p:nvPr/>
        </p:nvSpPr>
        <p:spPr>
          <a:xfrm>
            <a:off x="4791456" y="5111496"/>
            <a:ext cx="274320" cy="100584"/>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1"/>
          <p:cNvSpPr/>
          <p:nvPr/>
        </p:nvSpPr>
        <p:spPr>
          <a:xfrm>
            <a:off x="4791456" y="5010912"/>
            <a:ext cx="274320" cy="100584"/>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1"/>
          <p:cNvSpPr/>
          <p:nvPr/>
        </p:nvSpPr>
        <p:spPr>
          <a:xfrm>
            <a:off x="5047488" y="5010912"/>
            <a:ext cx="146304" cy="91440"/>
          </a:xfrm>
          <a:prstGeom prst="rect">
            <a:avLst/>
          </a:prstGeom>
          <a:solidFill>
            <a:srgbClr val="FFE5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1"/>
          <p:cNvSpPr/>
          <p:nvPr/>
        </p:nvSpPr>
        <p:spPr>
          <a:xfrm>
            <a:off x="5148072" y="5074920"/>
            <a:ext cx="146304" cy="91440"/>
          </a:xfrm>
          <a:prstGeom prst="rect">
            <a:avLst/>
          </a:prstGeom>
          <a:solidFill>
            <a:srgbClr val="FFE5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a:off x="5248656" y="5138928"/>
            <a:ext cx="146304" cy="91440"/>
          </a:xfrm>
          <a:prstGeom prst="rect">
            <a:avLst/>
          </a:prstGeom>
          <a:solidFill>
            <a:srgbClr val="FFE5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a:off x="5349240" y="5202936"/>
            <a:ext cx="146304" cy="91440"/>
          </a:xfrm>
          <a:prstGeom prst="rect">
            <a:avLst/>
          </a:prstGeom>
          <a:solidFill>
            <a:srgbClr val="FFE5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1"/>
          <p:cNvSpPr/>
          <p:nvPr/>
        </p:nvSpPr>
        <p:spPr>
          <a:xfrm>
            <a:off x="5779008" y="4617720"/>
            <a:ext cx="1792224"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An overhang sags into the space below it.</a:t>
            </a:r>
            <a:endParaRPr b="0" i="0" sz="1050" u="none" cap="none" strike="noStrike">
              <a:solidFill>
                <a:schemeClr val="dk1"/>
              </a:solidFill>
              <a:latin typeface="Calibri"/>
              <a:ea typeface="Calibri"/>
              <a:cs typeface="Calibri"/>
              <a:sym typeface="Calibri"/>
            </a:endParaRPr>
          </a:p>
        </p:txBody>
      </p:sp>
      <p:sp>
        <p:nvSpPr>
          <p:cNvPr id="469" name="Google Shape;469;p11"/>
          <p:cNvSpPr/>
          <p:nvPr/>
        </p:nvSpPr>
        <p:spPr>
          <a:xfrm>
            <a:off x="5779008" y="5129784"/>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CAUSE</a:t>
            </a:r>
            <a:endParaRPr b="0" i="0" sz="750" u="none" cap="none" strike="noStrike">
              <a:solidFill>
                <a:schemeClr val="dk1"/>
              </a:solidFill>
              <a:latin typeface="Calibri"/>
              <a:ea typeface="Calibri"/>
              <a:cs typeface="Calibri"/>
              <a:sym typeface="Calibri"/>
            </a:endParaRPr>
          </a:p>
        </p:txBody>
      </p:sp>
      <p:sp>
        <p:nvSpPr>
          <p:cNvPr id="470" name="Google Shape;470;p11"/>
          <p:cNvSpPr/>
          <p:nvPr/>
        </p:nvSpPr>
        <p:spPr>
          <a:xfrm>
            <a:off x="5779008" y="5294376"/>
            <a:ext cx="1792224" cy="3108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Nothing underneath to build on.</a:t>
            </a:r>
            <a:endParaRPr b="0" i="0" sz="1000" u="none" cap="none" strike="noStrike">
              <a:solidFill>
                <a:schemeClr val="dk1"/>
              </a:solidFill>
              <a:latin typeface="Calibri"/>
              <a:ea typeface="Calibri"/>
              <a:cs typeface="Calibri"/>
              <a:sym typeface="Calibri"/>
            </a:endParaRPr>
          </a:p>
        </p:txBody>
      </p:sp>
      <p:sp>
        <p:nvSpPr>
          <p:cNvPr id="471" name="Google Shape;471;p11"/>
          <p:cNvSpPr/>
          <p:nvPr/>
        </p:nvSpPr>
        <p:spPr>
          <a:xfrm>
            <a:off x="5779008" y="5641848"/>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FIX</a:t>
            </a:r>
            <a:endParaRPr b="0" i="0" sz="750" u="none" cap="none" strike="noStrike">
              <a:solidFill>
                <a:schemeClr val="dk1"/>
              </a:solidFill>
              <a:latin typeface="Calibri"/>
              <a:ea typeface="Calibri"/>
              <a:cs typeface="Calibri"/>
              <a:sym typeface="Calibri"/>
            </a:endParaRPr>
          </a:p>
        </p:txBody>
      </p:sp>
      <p:sp>
        <p:nvSpPr>
          <p:cNvPr id="472" name="Google Shape;472;p11"/>
          <p:cNvSpPr/>
          <p:nvPr/>
        </p:nvSpPr>
        <p:spPr>
          <a:xfrm>
            <a:off x="5779008" y="5806440"/>
            <a:ext cx="1792224" cy="3657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Orientation. If that fails, change the geometry.</a:t>
            </a:r>
            <a:endParaRPr b="0" i="0" sz="1000" u="none" cap="none" strike="noStrike">
              <a:solidFill>
                <a:schemeClr val="dk1"/>
              </a:solidFill>
              <a:latin typeface="Calibri"/>
              <a:ea typeface="Calibri"/>
              <a:cs typeface="Calibri"/>
              <a:sym typeface="Calibri"/>
            </a:endParaRPr>
          </a:p>
        </p:txBody>
      </p:sp>
      <p:sp>
        <p:nvSpPr>
          <p:cNvPr id="473" name="Google Shape;473;p11"/>
          <p:cNvSpPr/>
          <p:nvPr/>
        </p:nvSpPr>
        <p:spPr>
          <a:xfrm>
            <a:off x="8252460" y="4174236"/>
            <a:ext cx="3383280" cy="2148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a:off x="8183880" y="4105656"/>
            <a:ext cx="3383280" cy="21488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p:nvPr/>
        </p:nvSpPr>
        <p:spPr>
          <a:xfrm>
            <a:off x="8183880" y="4105656"/>
            <a:ext cx="3383280" cy="402336"/>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p:nvPr/>
        </p:nvSpPr>
        <p:spPr>
          <a:xfrm>
            <a:off x="8385048" y="4160520"/>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SPAGHETTI</a:t>
            </a:r>
            <a:endParaRPr b="0" i="0" sz="1150" u="none" cap="none" strike="noStrike">
              <a:solidFill>
                <a:schemeClr val="dk1"/>
              </a:solidFill>
              <a:latin typeface="Calibri"/>
              <a:ea typeface="Calibri"/>
              <a:cs typeface="Calibri"/>
              <a:sym typeface="Calibri"/>
            </a:endParaRPr>
          </a:p>
        </p:txBody>
      </p:sp>
      <p:sp>
        <p:nvSpPr>
          <p:cNvPr id="477" name="Google Shape;477;p11"/>
          <p:cNvSpPr/>
          <p:nvPr/>
        </p:nvSpPr>
        <p:spPr>
          <a:xfrm>
            <a:off x="8385048" y="4636008"/>
            <a:ext cx="1051560" cy="868680"/>
          </a:xfrm>
          <a:prstGeom prst="rect">
            <a:avLst/>
          </a:prstGeom>
          <a:solidFill>
            <a:srgbClr val="F4F4EE"/>
          </a:solidFill>
          <a:ln cap="flat" cmpd="sng" w="15875">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1"/>
          <p:cNvSpPr/>
          <p:nvPr/>
        </p:nvSpPr>
        <p:spPr>
          <a:xfrm>
            <a:off x="8458200" y="5413248"/>
            <a:ext cx="905256" cy="54864"/>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9" name="Google Shape;479;p11"/>
          <p:cNvCxnSpPr/>
          <p:nvPr/>
        </p:nvCxnSpPr>
        <p:spPr>
          <a:xfrm>
            <a:off x="8567928" y="4745736"/>
            <a:ext cx="201168" cy="164592"/>
          </a:xfrm>
          <a:prstGeom prst="straightConnector1">
            <a:avLst/>
          </a:prstGeom>
          <a:noFill/>
          <a:ln cap="flat" cmpd="sng" w="19050">
            <a:solidFill>
              <a:srgbClr val="FF4D8D"/>
            </a:solidFill>
            <a:prstDash val="solid"/>
            <a:round/>
            <a:headEnd len="sm" w="sm" type="none"/>
            <a:tailEnd len="sm" w="sm" type="none"/>
          </a:ln>
        </p:spPr>
      </p:cxnSp>
      <p:cxnSp>
        <p:nvCxnSpPr>
          <p:cNvPr id="480" name="Google Shape;480;p11"/>
          <p:cNvCxnSpPr/>
          <p:nvPr/>
        </p:nvCxnSpPr>
        <p:spPr>
          <a:xfrm flipH="1">
            <a:off x="8641080" y="4910328"/>
            <a:ext cx="128016" cy="182880"/>
          </a:xfrm>
          <a:prstGeom prst="straightConnector1">
            <a:avLst/>
          </a:prstGeom>
          <a:noFill/>
          <a:ln cap="flat" cmpd="sng" w="19050">
            <a:solidFill>
              <a:srgbClr val="FF4D8D"/>
            </a:solidFill>
            <a:prstDash val="solid"/>
            <a:round/>
            <a:headEnd len="sm" w="sm" type="none"/>
            <a:tailEnd len="sm" w="sm" type="none"/>
          </a:ln>
        </p:spPr>
      </p:cxnSp>
      <p:cxnSp>
        <p:nvCxnSpPr>
          <p:cNvPr id="481" name="Google Shape;481;p11"/>
          <p:cNvCxnSpPr/>
          <p:nvPr/>
        </p:nvCxnSpPr>
        <p:spPr>
          <a:xfrm flipH="1" rot="10800000">
            <a:off x="8641080" y="4818888"/>
            <a:ext cx="310896" cy="274320"/>
          </a:xfrm>
          <a:prstGeom prst="straightConnector1">
            <a:avLst/>
          </a:prstGeom>
          <a:noFill/>
          <a:ln cap="flat" cmpd="sng" w="19050">
            <a:solidFill>
              <a:srgbClr val="FF4D8D"/>
            </a:solidFill>
            <a:prstDash val="solid"/>
            <a:round/>
            <a:headEnd len="sm" w="sm" type="none"/>
            <a:tailEnd len="sm" w="sm" type="none"/>
          </a:ln>
        </p:spPr>
      </p:cxnSp>
      <p:cxnSp>
        <p:nvCxnSpPr>
          <p:cNvPr id="482" name="Google Shape;482;p11"/>
          <p:cNvCxnSpPr/>
          <p:nvPr/>
        </p:nvCxnSpPr>
        <p:spPr>
          <a:xfrm flipH="1">
            <a:off x="8705088" y="4818888"/>
            <a:ext cx="246888" cy="384048"/>
          </a:xfrm>
          <a:prstGeom prst="straightConnector1">
            <a:avLst/>
          </a:prstGeom>
          <a:noFill/>
          <a:ln cap="flat" cmpd="sng" w="19050">
            <a:solidFill>
              <a:srgbClr val="FF4D8D"/>
            </a:solidFill>
            <a:prstDash val="solid"/>
            <a:round/>
            <a:headEnd len="sm" w="sm" type="none"/>
            <a:tailEnd len="sm" w="sm" type="none"/>
          </a:ln>
        </p:spPr>
      </p:cxnSp>
      <p:cxnSp>
        <p:nvCxnSpPr>
          <p:cNvPr id="483" name="Google Shape;483;p11"/>
          <p:cNvCxnSpPr/>
          <p:nvPr/>
        </p:nvCxnSpPr>
        <p:spPr>
          <a:xfrm flipH="1" rot="10800000">
            <a:off x="8705088" y="5020056"/>
            <a:ext cx="393192" cy="182880"/>
          </a:xfrm>
          <a:prstGeom prst="straightConnector1">
            <a:avLst/>
          </a:prstGeom>
          <a:noFill/>
          <a:ln cap="flat" cmpd="sng" w="19050">
            <a:solidFill>
              <a:srgbClr val="FF4D8D"/>
            </a:solidFill>
            <a:prstDash val="solid"/>
            <a:round/>
            <a:headEnd len="sm" w="sm" type="none"/>
            <a:tailEnd len="sm" w="sm" type="none"/>
          </a:ln>
        </p:spPr>
      </p:cxnSp>
      <p:cxnSp>
        <p:nvCxnSpPr>
          <p:cNvPr id="484" name="Google Shape;484;p11"/>
          <p:cNvCxnSpPr/>
          <p:nvPr/>
        </p:nvCxnSpPr>
        <p:spPr>
          <a:xfrm flipH="1">
            <a:off x="8842248" y="5020056"/>
            <a:ext cx="256032" cy="274320"/>
          </a:xfrm>
          <a:prstGeom prst="straightConnector1">
            <a:avLst/>
          </a:prstGeom>
          <a:noFill/>
          <a:ln cap="flat" cmpd="sng" w="19050">
            <a:solidFill>
              <a:srgbClr val="FF4D8D"/>
            </a:solidFill>
            <a:prstDash val="solid"/>
            <a:round/>
            <a:headEnd len="sm" w="sm" type="none"/>
            <a:tailEnd len="sm" w="sm" type="none"/>
          </a:ln>
        </p:spPr>
      </p:cxnSp>
      <p:cxnSp>
        <p:nvCxnSpPr>
          <p:cNvPr id="485" name="Google Shape;485;p11"/>
          <p:cNvCxnSpPr/>
          <p:nvPr/>
        </p:nvCxnSpPr>
        <p:spPr>
          <a:xfrm flipH="1" rot="10800000">
            <a:off x="8842248" y="4892040"/>
            <a:ext cx="365760" cy="402336"/>
          </a:xfrm>
          <a:prstGeom prst="straightConnector1">
            <a:avLst/>
          </a:prstGeom>
          <a:noFill/>
          <a:ln cap="flat" cmpd="sng" w="19050">
            <a:solidFill>
              <a:srgbClr val="FF4D8D"/>
            </a:solidFill>
            <a:prstDash val="solid"/>
            <a:round/>
            <a:headEnd len="sm" w="sm" type="none"/>
            <a:tailEnd len="sm" w="sm" type="none"/>
          </a:ln>
        </p:spPr>
      </p:cxnSp>
      <p:cxnSp>
        <p:nvCxnSpPr>
          <p:cNvPr id="486" name="Google Shape;486;p11"/>
          <p:cNvCxnSpPr/>
          <p:nvPr/>
        </p:nvCxnSpPr>
        <p:spPr>
          <a:xfrm flipH="1">
            <a:off x="8659368" y="4892040"/>
            <a:ext cx="548640" cy="246888"/>
          </a:xfrm>
          <a:prstGeom prst="straightConnector1">
            <a:avLst/>
          </a:prstGeom>
          <a:noFill/>
          <a:ln cap="flat" cmpd="sng" w="19050">
            <a:solidFill>
              <a:srgbClr val="FF4D8D"/>
            </a:solidFill>
            <a:prstDash val="solid"/>
            <a:round/>
            <a:headEnd len="sm" w="sm" type="none"/>
            <a:tailEnd len="sm" w="sm" type="none"/>
          </a:ln>
        </p:spPr>
      </p:cxnSp>
      <p:sp>
        <p:nvSpPr>
          <p:cNvPr id="487" name="Google Shape;487;p11"/>
          <p:cNvSpPr/>
          <p:nvPr/>
        </p:nvSpPr>
        <p:spPr>
          <a:xfrm>
            <a:off x="9573768" y="4617720"/>
            <a:ext cx="1792224"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The nozzle draws in mid-air. A nest of filament.</a:t>
            </a:r>
            <a:endParaRPr b="0" i="0" sz="1050" u="none" cap="none" strike="noStrike">
              <a:solidFill>
                <a:schemeClr val="dk1"/>
              </a:solidFill>
              <a:latin typeface="Calibri"/>
              <a:ea typeface="Calibri"/>
              <a:cs typeface="Calibri"/>
              <a:sym typeface="Calibri"/>
            </a:endParaRPr>
          </a:p>
        </p:txBody>
      </p:sp>
      <p:sp>
        <p:nvSpPr>
          <p:cNvPr id="488" name="Google Shape;488;p11"/>
          <p:cNvSpPr/>
          <p:nvPr/>
        </p:nvSpPr>
        <p:spPr>
          <a:xfrm>
            <a:off x="9573768" y="5129784"/>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CAUSE</a:t>
            </a:r>
            <a:endParaRPr b="0" i="0" sz="750" u="none" cap="none" strike="noStrike">
              <a:solidFill>
                <a:schemeClr val="dk1"/>
              </a:solidFill>
              <a:latin typeface="Calibri"/>
              <a:ea typeface="Calibri"/>
              <a:cs typeface="Calibri"/>
              <a:sym typeface="Calibri"/>
            </a:endParaRPr>
          </a:p>
        </p:txBody>
      </p:sp>
      <p:sp>
        <p:nvSpPr>
          <p:cNvPr id="489" name="Google Shape;489;p11"/>
          <p:cNvSpPr/>
          <p:nvPr/>
        </p:nvSpPr>
        <p:spPr>
          <a:xfrm>
            <a:off x="9573768" y="5294376"/>
            <a:ext cx="1792224" cy="3108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The part came off the bed part-way through.</a:t>
            </a:r>
            <a:endParaRPr b="0" i="0" sz="1000" u="none" cap="none" strike="noStrike">
              <a:solidFill>
                <a:schemeClr val="dk1"/>
              </a:solidFill>
              <a:latin typeface="Calibri"/>
              <a:ea typeface="Calibri"/>
              <a:cs typeface="Calibri"/>
              <a:sym typeface="Calibri"/>
            </a:endParaRPr>
          </a:p>
        </p:txBody>
      </p:sp>
      <p:sp>
        <p:nvSpPr>
          <p:cNvPr id="490" name="Google Shape;490;p11"/>
          <p:cNvSpPr/>
          <p:nvPr/>
        </p:nvSpPr>
        <p:spPr>
          <a:xfrm>
            <a:off x="9573768" y="5641848"/>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FIX</a:t>
            </a:r>
            <a:endParaRPr b="0" i="0" sz="750" u="none" cap="none" strike="noStrike">
              <a:solidFill>
                <a:schemeClr val="dk1"/>
              </a:solidFill>
              <a:latin typeface="Calibri"/>
              <a:ea typeface="Calibri"/>
              <a:cs typeface="Calibri"/>
              <a:sym typeface="Calibri"/>
            </a:endParaRPr>
          </a:p>
        </p:txBody>
      </p:sp>
      <p:sp>
        <p:nvSpPr>
          <p:cNvPr id="491" name="Google Shape;491;p11"/>
          <p:cNvSpPr/>
          <p:nvPr/>
        </p:nvSpPr>
        <p:spPr>
          <a:xfrm>
            <a:off x="9573768" y="5806440"/>
            <a:ext cx="1792224" cy="3657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Adhesion. Check the first layer before walking away.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96" name="Shape 496"/>
        <p:cNvGrpSpPr/>
        <p:nvPr/>
      </p:nvGrpSpPr>
      <p:grpSpPr>
        <a:xfrm>
          <a:off x="0" y="0"/>
          <a:ext cx="0" cy="0"/>
          <a:chOff x="0" y="0"/>
          <a:chExt cx="0" cy="0"/>
        </a:xfrm>
      </p:grpSpPr>
      <p:sp>
        <p:nvSpPr>
          <p:cNvPr id="497" name="Google Shape;497;p12"/>
          <p:cNvSpPr/>
          <p:nvPr/>
        </p:nvSpPr>
        <p:spPr>
          <a:xfrm>
            <a:off x="662940" y="635508"/>
            <a:ext cx="1737360" cy="38404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2"/>
          <p:cNvSpPr/>
          <p:nvPr/>
        </p:nvSpPr>
        <p:spPr>
          <a:xfrm>
            <a:off x="594360" y="566928"/>
            <a:ext cx="1737360" cy="384048"/>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2"/>
          <p:cNvSpPr/>
          <p:nvPr/>
        </p:nvSpPr>
        <p:spPr>
          <a:xfrm>
            <a:off x="594360" y="630936"/>
            <a:ext cx="17373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FOR 0.1</a:t>
            </a:r>
            <a:endParaRPr b="0" i="0" sz="1100" u="none" cap="none" strike="noStrike">
              <a:solidFill>
                <a:schemeClr val="dk1"/>
              </a:solidFill>
              <a:latin typeface="Calibri"/>
              <a:ea typeface="Calibri"/>
              <a:cs typeface="Calibri"/>
              <a:sym typeface="Calibri"/>
            </a:endParaRPr>
          </a:p>
        </p:txBody>
      </p:sp>
      <p:sp>
        <p:nvSpPr>
          <p:cNvPr id="500" name="Google Shape;500;p12"/>
          <p:cNvSpPr/>
          <p:nvPr/>
        </p:nvSpPr>
        <p:spPr>
          <a:xfrm>
            <a:off x="594360" y="1152144"/>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200"/>
              <a:buFont typeface="Arial"/>
              <a:buNone/>
            </a:pPr>
            <a:r>
              <a:rPr b="1" i="0" lang="en-US" sz="3200" u="none" cap="none" strike="noStrike">
                <a:solidFill>
                  <a:srgbClr val="FFFDF7"/>
                </a:solidFill>
                <a:latin typeface="Arial"/>
                <a:ea typeface="Arial"/>
                <a:cs typeface="Arial"/>
                <a:sym typeface="Arial"/>
              </a:rPr>
              <a:t>YOUR PRINT</a:t>
            </a:r>
            <a:endParaRPr b="0" i="0" sz="3200" u="none" cap="none" strike="noStrike">
              <a:solidFill>
                <a:schemeClr val="dk1"/>
              </a:solidFill>
              <a:latin typeface="Calibri"/>
              <a:ea typeface="Calibri"/>
              <a:cs typeface="Calibri"/>
              <a:sym typeface="Calibri"/>
            </a:endParaRPr>
          </a:p>
        </p:txBody>
      </p:sp>
      <p:cxnSp>
        <p:nvCxnSpPr>
          <p:cNvPr id="501" name="Google Shape;501;p12"/>
          <p:cNvCxnSpPr/>
          <p:nvPr/>
        </p:nvCxnSpPr>
        <p:spPr>
          <a:xfrm>
            <a:off x="594360" y="1810512"/>
            <a:ext cx="10972800" cy="0"/>
          </a:xfrm>
          <a:prstGeom prst="straightConnector1">
            <a:avLst/>
          </a:prstGeom>
          <a:noFill/>
          <a:ln cap="flat" cmpd="sng" w="50800">
            <a:solidFill>
              <a:srgbClr val="FFFDF7"/>
            </a:solidFill>
            <a:prstDash val="solid"/>
            <a:round/>
            <a:headEnd len="sm" w="sm" type="none"/>
            <a:tailEnd len="sm" w="sm" type="none"/>
          </a:ln>
        </p:spPr>
      </p:cxnSp>
      <p:sp>
        <p:nvSpPr>
          <p:cNvPr id="502" name="Google Shape;502;p12"/>
          <p:cNvSpPr/>
          <p:nvPr/>
        </p:nvSpPr>
        <p:spPr>
          <a:xfrm>
            <a:off x="594360" y="1929384"/>
            <a:ext cx="10972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9E1"/>
              </a:buClr>
              <a:buSzPts val="1300"/>
              <a:buFont typeface="Arial"/>
              <a:buNone/>
            </a:pPr>
            <a:r>
              <a:rPr b="1" i="0" lang="en-US" sz="1300" u="none" cap="none" strike="noStrike">
                <a:solidFill>
                  <a:srgbClr val="00D9E1"/>
                </a:solidFill>
                <a:latin typeface="Arial"/>
                <a:ea typeface="Arial"/>
                <a:cs typeface="Arial"/>
                <a:sym typeface="Arial"/>
              </a:rPr>
              <a:t>PRESENTED AT THE MIDTERM — CLASS 8, OCT 13</a:t>
            </a:r>
            <a:endParaRPr b="0" i="0" sz="1300" u="none" cap="none" strike="noStrike">
              <a:solidFill>
                <a:schemeClr val="dk1"/>
              </a:solidFill>
              <a:latin typeface="Calibri"/>
              <a:ea typeface="Calibri"/>
              <a:cs typeface="Calibri"/>
              <a:sym typeface="Calibri"/>
            </a:endParaRPr>
          </a:p>
        </p:txBody>
      </p:sp>
      <p:sp>
        <p:nvSpPr>
          <p:cNvPr id="503" name="Google Shape;503;p12"/>
          <p:cNvSpPr/>
          <p:nvPr/>
        </p:nvSpPr>
        <p:spPr>
          <a:xfrm>
            <a:off x="662940" y="2583180"/>
            <a:ext cx="2377440" cy="64008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2"/>
          <p:cNvSpPr/>
          <p:nvPr/>
        </p:nvSpPr>
        <p:spPr>
          <a:xfrm>
            <a:off x="594360" y="2514600"/>
            <a:ext cx="2377440" cy="640080"/>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2"/>
          <p:cNvSpPr/>
          <p:nvPr/>
        </p:nvSpPr>
        <p:spPr>
          <a:xfrm>
            <a:off x="594360" y="2679192"/>
            <a:ext cx="2377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50"/>
              <a:buFont typeface="Arial"/>
              <a:buNone/>
            </a:pPr>
            <a:r>
              <a:rPr b="1" i="0" lang="en-US" sz="1350" u="none" cap="none" strike="noStrike">
                <a:solidFill>
                  <a:srgbClr val="000000"/>
                </a:solidFill>
                <a:latin typeface="Arial"/>
                <a:ea typeface="Arial"/>
                <a:cs typeface="Arial"/>
                <a:sym typeface="Arial"/>
              </a:rPr>
              <a:t>60 mm</a:t>
            </a:r>
            <a:endParaRPr b="0" i="0" sz="1350" u="none" cap="none" strike="noStrike">
              <a:solidFill>
                <a:schemeClr val="dk1"/>
              </a:solidFill>
              <a:latin typeface="Calibri"/>
              <a:ea typeface="Calibri"/>
              <a:cs typeface="Calibri"/>
              <a:sym typeface="Calibri"/>
            </a:endParaRPr>
          </a:p>
        </p:txBody>
      </p:sp>
      <p:sp>
        <p:nvSpPr>
          <p:cNvPr id="506" name="Google Shape;506;p12"/>
          <p:cNvSpPr/>
          <p:nvPr/>
        </p:nvSpPr>
        <p:spPr>
          <a:xfrm>
            <a:off x="3291840" y="2688336"/>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400"/>
              <a:buFont typeface="Calibri"/>
              <a:buNone/>
            </a:pPr>
            <a:r>
              <a:rPr b="0" i="0" lang="en-US" sz="1400" u="none" cap="none" strike="noStrike">
                <a:solidFill>
                  <a:srgbClr val="FFFDF7"/>
                </a:solidFill>
                <a:latin typeface="Calibri"/>
                <a:ea typeface="Calibri"/>
                <a:cs typeface="Calibri"/>
                <a:sym typeface="Calibri"/>
              </a:rPr>
              <a:t>maximum bounding box</a:t>
            </a:r>
            <a:endParaRPr b="0" i="0" sz="1400" u="none" cap="none" strike="noStrike">
              <a:solidFill>
                <a:schemeClr val="dk1"/>
              </a:solidFill>
              <a:latin typeface="Calibri"/>
              <a:ea typeface="Calibri"/>
              <a:cs typeface="Calibri"/>
              <a:sym typeface="Calibri"/>
            </a:endParaRPr>
          </a:p>
        </p:txBody>
      </p:sp>
      <p:sp>
        <p:nvSpPr>
          <p:cNvPr id="507" name="Google Shape;507;p12"/>
          <p:cNvSpPr/>
          <p:nvPr/>
        </p:nvSpPr>
        <p:spPr>
          <a:xfrm>
            <a:off x="662940" y="3406140"/>
            <a:ext cx="2377440" cy="64008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2"/>
          <p:cNvSpPr/>
          <p:nvPr/>
        </p:nvSpPr>
        <p:spPr>
          <a:xfrm>
            <a:off x="594360" y="3337560"/>
            <a:ext cx="2377440" cy="640080"/>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2"/>
          <p:cNvSpPr/>
          <p:nvPr/>
        </p:nvSpPr>
        <p:spPr>
          <a:xfrm>
            <a:off x="594360" y="3502152"/>
            <a:ext cx="2377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50"/>
              <a:buFont typeface="Arial"/>
              <a:buNone/>
            </a:pPr>
            <a:r>
              <a:rPr b="1" i="0" lang="en-US" sz="1350" u="none" cap="none" strike="noStrike">
                <a:solidFill>
                  <a:srgbClr val="000000"/>
                </a:solidFill>
                <a:latin typeface="Arial"/>
                <a:ea typeface="Arial"/>
                <a:cs typeface="Arial"/>
                <a:sym typeface="Arial"/>
              </a:rPr>
              <a:t>NO SUPPORTS</a:t>
            </a:r>
            <a:endParaRPr b="0" i="0" sz="1350" u="none" cap="none" strike="noStrike">
              <a:solidFill>
                <a:schemeClr val="dk1"/>
              </a:solidFill>
              <a:latin typeface="Calibri"/>
              <a:ea typeface="Calibri"/>
              <a:cs typeface="Calibri"/>
              <a:sym typeface="Calibri"/>
            </a:endParaRPr>
          </a:p>
        </p:txBody>
      </p:sp>
      <p:sp>
        <p:nvSpPr>
          <p:cNvPr id="510" name="Google Shape;510;p12"/>
          <p:cNvSpPr/>
          <p:nvPr/>
        </p:nvSpPr>
        <p:spPr>
          <a:xfrm>
            <a:off x="3291840" y="3511296"/>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400"/>
              <a:buFont typeface="Calibri"/>
              <a:buNone/>
            </a:pPr>
            <a:r>
              <a:rPr b="0" i="0" lang="en-US" sz="1400" u="none" cap="none" strike="noStrike">
                <a:solidFill>
                  <a:srgbClr val="FFFDF7"/>
                </a:solidFill>
                <a:latin typeface="Calibri"/>
                <a:ea typeface="Calibri"/>
                <a:cs typeface="Calibri"/>
                <a:sym typeface="Calibri"/>
              </a:rPr>
              <a:t>orientation is the only lever</a:t>
            </a:r>
            <a:endParaRPr b="0" i="0" sz="1400" u="none" cap="none" strike="noStrike">
              <a:solidFill>
                <a:schemeClr val="dk1"/>
              </a:solidFill>
              <a:latin typeface="Calibri"/>
              <a:ea typeface="Calibri"/>
              <a:cs typeface="Calibri"/>
              <a:sym typeface="Calibri"/>
            </a:endParaRPr>
          </a:p>
        </p:txBody>
      </p:sp>
      <p:sp>
        <p:nvSpPr>
          <p:cNvPr id="511" name="Google Shape;511;p12"/>
          <p:cNvSpPr/>
          <p:nvPr/>
        </p:nvSpPr>
        <p:spPr>
          <a:xfrm>
            <a:off x="662940" y="4229100"/>
            <a:ext cx="2377440" cy="64008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2"/>
          <p:cNvSpPr/>
          <p:nvPr/>
        </p:nvSpPr>
        <p:spPr>
          <a:xfrm>
            <a:off x="594360" y="4160520"/>
            <a:ext cx="2377440" cy="640080"/>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2"/>
          <p:cNvSpPr/>
          <p:nvPr/>
        </p:nvSpPr>
        <p:spPr>
          <a:xfrm>
            <a:off x="594360" y="4325112"/>
            <a:ext cx="2377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50"/>
              <a:buFont typeface="Arial"/>
              <a:buNone/>
            </a:pPr>
            <a:r>
              <a:rPr b="1" i="0" lang="en-US" sz="1350" u="none" cap="none" strike="noStrike">
                <a:solidFill>
                  <a:srgbClr val="000000"/>
                </a:solidFill>
                <a:latin typeface="Arial"/>
                <a:ea typeface="Arial"/>
                <a:cs typeface="Arial"/>
                <a:sym typeface="Arial"/>
              </a:rPr>
              <a:t>DRAFT</a:t>
            </a:r>
            <a:endParaRPr b="0" i="0" sz="1350" u="none" cap="none" strike="noStrike">
              <a:solidFill>
                <a:schemeClr val="dk1"/>
              </a:solidFill>
              <a:latin typeface="Calibri"/>
              <a:ea typeface="Calibri"/>
              <a:cs typeface="Calibri"/>
              <a:sym typeface="Calibri"/>
            </a:endParaRPr>
          </a:p>
        </p:txBody>
      </p:sp>
      <p:sp>
        <p:nvSpPr>
          <p:cNvPr id="514" name="Google Shape;514;p12"/>
          <p:cNvSpPr/>
          <p:nvPr/>
        </p:nvSpPr>
        <p:spPr>
          <a:xfrm>
            <a:off x="3291840" y="4334256"/>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400"/>
              <a:buFont typeface="Calibri"/>
              <a:buNone/>
            </a:pPr>
            <a:r>
              <a:rPr b="0" i="0" lang="en-US" sz="1400" u="none" cap="none" strike="noStrike">
                <a:solidFill>
                  <a:srgbClr val="FFFDF7"/>
                </a:solidFill>
                <a:latin typeface="Calibri"/>
                <a:ea typeface="Calibri"/>
                <a:cs typeface="Calibri"/>
                <a:sym typeface="Calibri"/>
              </a:rPr>
              <a:t>layer height — this is a test, not a showpiece</a:t>
            </a:r>
            <a:endParaRPr b="0" i="0" sz="1400" u="none" cap="none" strike="noStrike">
              <a:solidFill>
                <a:schemeClr val="dk1"/>
              </a:solidFill>
              <a:latin typeface="Calibri"/>
              <a:ea typeface="Calibri"/>
              <a:cs typeface="Calibri"/>
              <a:sym typeface="Calibri"/>
            </a:endParaRPr>
          </a:p>
        </p:txBody>
      </p:sp>
      <p:sp>
        <p:nvSpPr>
          <p:cNvPr id="515" name="Google Shape;515;p12"/>
          <p:cNvSpPr/>
          <p:nvPr/>
        </p:nvSpPr>
        <p:spPr>
          <a:xfrm>
            <a:off x="662940" y="5052060"/>
            <a:ext cx="2377440" cy="64008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2"/>
          <p:cNvSpPr/>
          <p:nvPr/>
        </p:nvSpPr>
        <p:spPr>
          <a:xfrm>
            <a:off x="594360" y="4983480"/>
            <a:ext cx="2377440" cy="640080"/>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2"/>
          <p:cNvSpPr/>
          <p:nvPr/>
        </p:nvSpPr>
        <p:spPr>
          <a:xfrm>
            <a:off x="594360" y="5148072"/>
            <a:ext cx="2377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50"/>
              <a:buFont typeface="Arial"/>
              <a:buNone/>
            </a:pPr>
            <a:r>
              <a:rPr b="1" i="0" lang="en-US" sz="1350" u="none" cap="none" strike="noStrike">
                <a:solidFill>
                  <a:srgbClr val="000000"/>
                </a:solidFill>
                <a:latin typeface="Arial"/>
                <a:ea typeface="Arial"/>
                <a:cs typeface="Arial"/>
                <a:sym typeface="Arial"/>
              </a:rPr>
              <a:t>1 DIAGRAM</a:t>
            </a:r>
            <a:endParaRPr b="0" i="0" sz="1350" u="none" cap="none" strike="noStrike">
              <a:solidFill>
                <a:schemeClr val="dk1"/>
              </a:solidFill>
              <a:latin typeface="Calibri"/>
              <a:ea typeface="Calibri"/>
              <a:cs typeface="Calibri"/>
              <a:sym typeface="Calibri"/>
            </a:endParaRPr>
          </a:p>
        </p:txBody>
      </p:sp>
      <p:sp>
        <p:nvSpPr>
          <p:cNvPr id="518" name="Google Shape;518;p12"/>
          <p:cNvSpPr/>
          <p:nvPr/>
        </p:nvSpPr>
        <p:spPr>
          <a:xfrm>
            <a:off x="3291840" y="5157216"/>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400"/>
              <a:buFont typeface="Calibri"/>
              <a:buNone/>
            </a:pPr>
            <a:r>
              <a:rPr b="0" i="0" lang="en-US" sz="1400" u="none" cap="none" strike="noStrike">
                <a:solidFill>
                  <a:srgbClr val="FFFDF7"/>
                </a:solidFill>
                <a:latin typeface="Calibri"/>
                <a:ea typeface="Calibri"/>
                <a:cs typeface="Calibri"/>
                <a:sym typeface="Calibri"/>
              </a:rPr>
              <a:t>chosen orientation, the overhangs it produces, why not the alternative</a:t>
            </a:r>
            <a:endParaRPr b="0" i="0" sz="1400" u="none" cap="none" strike="noStrike">
              <a:solidFill>
                <a:schemeClr val="dk1"/>
              </a:solidFill>
              <a:latin typeface="Calibri"/>
              <a:ea typeface="Calibri"/>
              <a:cs typeface="Calibri"/>
              <a:sym typeface="Calibri"/>
            </a:endParaRPr>
          </a:p>
        </p:txBody>
      </p:sp>
      <p:sp>
        <p:nvSpPr>
          <p:cNvPr id="519" name="Google Shape;519;p12"/>
          <p:cNvSpPr/>
          <p:nvPr/>
        </p:nvSpPr>
        <p:spPr>
          <a:xfrm>
            <a:off x="662940" y="5920740"/>
            <a:ext cx="10972800" cy="594360"/>
          </a:xfrm>
          <a:prstGeom prst="rect">
            <a:avLst/>
          </a:prstGeom>
          <a:solidFill>
            <a:srgbClr val="FF4D8D"/>
          </a:solidFill>
          <a:ln cap="flat" cmpd="sng" w="9525">
            <a:solidFill>
              <a:srgbClr val="FF4D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2"/>
          <p:cNvSpPr/>
          <p:nvPr/>
        </p:nvSpPr>
        <p:spPr>
          <a:xfrm>
            <a:off x="594360" y="5852160"/>
            <a:ext cx="10972800" cy="5943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2"/>
          <p:cNvSpPr/>
          <p:nvPr/>
        </p:nvSpPr>
        <p:spPr>
          <a:xfrm>
            <a:off x="914400" y="5971032"/>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Assessed on printability and on your reasoning. Not on craft — that is 3.2's job.</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6F035"/>
        </a:solidFill>
      </p:bgPr>
    </p:bg>
    <p:spTree>
      <p:nvGrpSpPr>
        <p:cNvPr id="526" name="Shape 526"/>
        <p:cNvGrpSpPr/>
        <p:nvPr/>
      </p:nvGrpSpPr>
      <p:grpSpPr>
        <a:xfrm>
          <a:off x="0" y="0"/>
          <a:ext cx="0" cy="0"/>
          <a:chOff x="0" y="0"/>
          <a:chExt cx="0" cy="0"/>
        </a:xfrm>
      </p:grpSpPr>
      <p:cxnSp>
        <p:nvCxnSpPr>
          <p:cNvPr id="527" name="Google Shape;527;p13"/>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528" name="Google Shape;528;p13"/>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NOW — PREPARE YOUR PRINT</a:t>
            </a:r>
            <a:endParaRPr b="0" i="0" sz="3300" u="none" cap="none" strike="noStrike">
              <a:solidFill>
                <a:schemeClr val="dk1"/>
              </a:solidFill>
              <a:latin typeface="Calibri"/>
              <a:ea typeface="Calibri"/>
              <a:cs typeface="Calibri"/>
              <a:sym typeface="Calibri"/>
            </a:endParaRPr>
          </a:p>
        </p:txBody>
      </p:sp>
      <p:sp>
        <p:nvSpPr>
          <p:cNvPr id="529" name="Google Shape;529;p13"/>
          <p:cNvSpPr/>
          <p:nvPr/>
        </p:nvSpPr>
        <p:spPr>
          <a:xfrm>
            <a:off x="594360" y="169164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Rest of the session: get a sliced file into the queue with help in the room.</a:t>
            </a:r>
            <a:endParaRPr b="0" i="0" sz="1600" u="none" cap="none" strike="noStrike">
              <a:solidFill>
                <a:schemeClr val="dk1"/>
              </a:solidFill>
              <a:latin typeface="Calibri"/>
              <a:ea typeface="Calibri"/>
              <a:cs typeface="Calibri"/>
              <a:sym typeface="Calibri"/>
            </a:endParaRPr>
          </a:p>
        </p:txBody>
      </p:sp>
      <p:sp>
        <p:nvSpPr>
          <p:cNvPr id="530" name="Google Shape;530;p13"/>
          <p:cNvSpPr/>
          <p:nvPr/>
        </p:nvSpPr>
        <p:spPr>
          <a:xfrm>
            <a:off x="662940" y="2400300"/>
            <a:ext cx="621792"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3"/>
          <p:cNvSpPr/>
          <p:nvPr/>
        </p:nvSpPr>
        <p:spPr>
          <a:xfrm>
            <a:off x="594360" y="2331720"/>
            <a:ext cx="621792"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3"/>
          <p:cNvSpPr/>
          <p:nvPr/>
        </p:nvSpPr>
        <p:spPr>
          <a:xfrm>
            <a:off x="594360" y="2432304"/>
            <a:ext cx="6217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t>
            </a:r>
            <a:endParaRPr b="0" i="0" sz="1700" u="none" cap="none" strike="noStrike">
              <a:solidFill>
                <a:schemeClr val="dk1"/>
              </a:solidFill>
              <a:latin typeface="Calibri"/>
              <a:ea typeface="Calibri"/>
              <a:cs typeface="Calibri"/>
              <a:sym typeface="Calibri"/>
            </a:endParaRPr>
          </a:p>
        </p:txBody>
      </p:sp>
      <p:sp>
        <p:nvSpPr>
          <p:cNvPr id="533" name="Google Shape;533;p13"/>
          <p:cNvSpPr/>
          <p:nvPr/>
        </p:nvSpPr>
        <p:spPr>
          <a:xfrm>
            <a:off x="1559052" y="2400300"/>
            <a:ext cx="10076688"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3"/>
          <p:cNvSpPr/>
          <p:nvPr/>
        </p:nvSpPr>
        <p:spPr>
          <a:xfrm>
            <a:off x="1490472" y="2331720"/>
            <a:ext cx="10076688"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3"/>
          <p:cNvSpPr/>
          <p:nvPr/>
        </p:nvSpPr>
        <p:spPr>
          <a:xfrm>
            <a:off x="1764792" y="2468880"/>
            <a:ext cx="9326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50"/>
              <a:buFont typeface="Calibri"/>
              <a:buNone/>
            </a:pPr>
            <a:r>
              <a:rPr b="0" i="0" lang="en-US" sz="1450" u="none" cap="none" strike="noStrike">
                <a:solidFill>
                  <a:srgbClr val="000000"/>
                </a:solidFill>
                <a:latin typeface="Calibri"/>
                <a:ea typeface="Calibri"/>
                <a:cs typeface="Calibri"/>
                <a:sym typeface="Calibri"/>
              </a:rPr>
              <a:t>Model checked — manifold, watertight, normals consistent</a:t>
            </a:r>
            <a:endParaRPr b="0" i="0" sz="1450" u="none" cap="none" strike="noStrike">
              <a:solidFill>
                <a:schemeClr val="dk1"/>
              </a:solidFill>
              <a:latin typeface="Calibri"/>
              <a:ea typeface="Calibri"/>
              <a:cs typeface="Calibri"/>
              <a:sym typeface="Calibri"/>
            </a:endParaRPr>
          </a:p>
        </p:txBody>
      </p:sp>
      <p:sp>
        <p:nvSpPr>
          <p:cNvPr id="536" name="Google Shape;536;p13"/>
          <p:cNvSpPr/>
          <p:nvPr/>
        </p:nvSpPr>
        <p:spPr>
          <a:xfrm>
            <a:off x="662940" y="3113532"/>
            <a:ext cx="621792"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3"/>
          <p:cNvSpPr/>
          <p:nvPr/>
        </p:nvSpPr>
        <p:spPr>
          <a:xfrm>
            <a:off x="594360" y="3044952"/>
            <a:ext cx="621792"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3"/>
          <p:cNvSpPr/>
          <p:nvPr/>
        </p:nvSpPr>
        <p:spPr>
          <a:xfrm>
            <a:off x="594360" y="3145536"/>
            <a:ext cx="6217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t>
            </a:r>
            <a:endParaRPr b="0" i="0" sz="1700" u="none" cap="none" strike="noStrike">
              <a:solidFill>
                <a:schemeClr val="dk1"/>
              </a:solidFill>
              <a:latin typeface="Calibri"/>
              <a:ea typeface="Calibri"/>
              <a:cs typeface="Calibri"/>
              <a:sym typeface="Calibri"/>
            </a:endParaRPr>
          </a:p>
        </p:txBody>
      </p:sp>
      <p:sp>
        <p:nvSpPr>
          <p:cNvPr id="539" name="Google Shape;539;p13"/>
          <p:cNvSpPr/>
          <p:nvPr/>
        </p:nvSpPr>
        <p:spPr>
          <a:xfrm>
            <a:off x="1559052" y="3113532"/>
            <a:ext cx="10076688"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3"/>
          <p:cNvSpPr/>
          <p:nvPr/>
        </p:nvSpPr>
        <p:spPr>
          <a:xfrm>
            <a:off x="1490472" y="3044952"/>
            <a:ext cx="10076688"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3"/>
          <p:cNvSpPr/>
          <p:nvPr/>
        </p:nvSpPr>
        <p:spPr>
          <a:xfrm>
            <a:off x="1764792" y="3182112"/>
            <a:ext cx="9326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50"/>
              <a:buFont typeface="Calibri"/>
              <a:buNone/>
            </a:pPr>
            <a:r>
              <a:rPr b="0" i="0" lang="en-US" sz="1450" u="none" cap="none" strike="noStrike">
                <a:solidFill>
                  <a:srgbClr val="000000"/>
                </a:solidFill>
                <a:latin typeface="Calibri"/>
                <a:ea typeface="Calibri"/>
                <a:cs typeface="Calibri"/>
                <a:sym typeface="Calibri"/>
              </a:rPr>
              <a:t>Scaled to fit within 60 mm</a:t>
            </a:r>
            <a:endParaRPr b="0" i="0" sz="1450" u="none" cap="none" strike="noStrike">
              <a:solidFill>
                <a:schemeClr val="dk1"/>
              </a:solidFill>
              <a:latin typeface="Calibri"/>
              <a:ea typeface="Calibri"/>
              <a:cs typeface="Calibri"/>
              <a:sym typeface="Calibri"/>
            </a:endParaRPr>
          </a:p>
        </p:txBody>
      </p:sp>
      <p:sp>
        <p:nvSpPr>
          <p:cNvPr id="542" name="Google Shape;542;p13"/>
          <p:cNvSpPr/>
          <p:nvPr/>
        </p:nvSpPr>
        <p:spPr>
          <a:xfrm>
            <a:off x="662940" y="3826764"/>
            <a:ext cx="621792"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3"/>
          <p:cNvSpPr/>
          <p:nvPr/>
        </p:nvSpPr>
        <p:spPr>
          <a:xfrm>
            <a:off x="594360" y="3758184"/>
            <a:ext cx="621792"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3"/>
          <p:cNvSpPr/>
          <p:nvPr/>
        </p:nvSpPr>
        <p:spPr>
          <a:xfrm>
            <a:off x="594360" y="3858768"/>
            <a:ext cx="6217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t>
            </a:r>
            <a:endParaRPr b="0" i="0" sz="1700" u="none" cap="none" strike="noStrike">
              <a:solidFill>
                <a:schemeClr val="dk1"/>
              </a:solidFill>
              <a:latin typeface="Calibri"/>
              <a:ea typeface="Calibri"/>
              <a:cs typeface="Calibri"/>
              <a:sym typeface="Calibri"/>
            </a:endParaRPr>
          </a:p>
        </p:txBody>
      </p:sp>
      <p:sp>
        <p:nvSpPr>
          <p:cNvPr id="545" name="Google Shape;545;p13"/>
          <p:cNvSpPr/>
          <p:nvPr/>
        </p:nvSpPr>
        <p:spPr>
          <a:xfrm>
            <a:off x="1559052" y="3826764"/>
            <a:ext cx="10076688"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3"/>
          <p:cNvSpPr/>
          <p:nvPr/>
        </p:nvSpPr>
        <p:spPr>
          <a:xfrm>
            <a:off x="1490472" y="3758184"/>
            <a:ext cx="10076688"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3"/>
          <p:cNvSpPr/>
          <p:nvPr/>
        </p:nvSpPr>
        <p:spPr>
          <a:xfrm>
            <a:off x="1764792" y="3895344"/>
            <a:ext cx="9326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50"/>
              <a:buFont typeface="Calibri"/>
              <a:buNone/>
            </a:pPr>
            <a:r>
              <a:rPr b="0" i="0" lang="en-US" sz="1450" u="none" cap="none" strike="noStrike">
                <a:solidFill>
                  <a:srgbClr val="000000"/>
                </a:solidFill>
                <a:latin typeface="Calibri"/>
                <a:ea typeface="Calibri"/>
                <a:cs typeface="Calibri"/>
                <a:sym typeface="Calibri"/>
              </a:rPr>
              <a:t>Orientation chosen and justified — no overhang past ~45°</a:t>
            </a:r>
            <a:endParaRPr b="0" i="0" sz="1450" u="none" cap="none" strike="noStrike">
              <a:solidFill>
                <a:schemeClr val="dk1"/>
              </a:solidFill>
              <a:latin typeface="Calibri"/>
              <a:ea typeface="Calibri"/>
              <a:cs typeface="Calibri"/>
              <a:sym typeface="Calibri"/>
            </a:endParaRPr>
          </a:p>
        </p:txBody>
      </p:sp>
      <p:sp>
        <p:nvSpPr>
          <p:cNvPr id="548" name="Google Shape;548;p13"/>
          <p:cNvSpPr/>
          <p:nvPr/>
        </p:nvSpPr>
        <p:spPr>
          <a:xfrm>
            <a:off x="662940" y="4539996"/>
            <a:ext cx="621792"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3"/>
          <p:cNvSpPr/>
          <p:nvPr/>
        </p:nvSpPr>
        <p:spPr>
          <a:xfrm>
            <a:off x="594360" y="4471416"/>
            <a:ext cx="621792"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3"/>
          <p:cNvSpPr/>
          <p:nvPr/>
        </p:nvSpPr>
        <p:spPr>
          <a:xfrm>
            <a:off x="594360" y="4572000"/>
            <a:ext cx="6217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t>
            </a:r>
            <a:endParaRPr b="0" i="0" sz="1700" u="none" cap="none" strike="noStrike">
              <a:solidFill>
                <a:schemeClr val="dk1"/>
              </a:solidFill>
              <a:latin typeface="Calibri"/>
              <a:ea typeface="Calibri"/>
              <a:cs typeface="Calibri"/>
              <a:sym typeface="Calibri"/>
            </a:endParaRPr>
          </a:p>
        </p:txBody>
      </p:sp>
      <p:sp>
        <p:nvSpPr>
          <p:cNvPr id="551" name="Google Shape;551;p13"/>
          <p:cNvSpPr/>
          <p:nvPr/>
        </p:nvSpPr>
        <p:spPr>
          <a:xfrm>
            <a:off x="1559052" y="4539996"/>
            <a:ext cx="10076688"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3"/>
          <p:cNvSpPr/>
          <p:nvPr/>
        </p:nvSpPr>
        <p:spPr>
          <a:xfrm>
            <a:off x="1490472" y="4471416"/>
            <a:ext cx="10076688"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3"/>
          <p:cNvSpPr/>
          <p:nvPr/>
        </p:nvSpPr>
        <p:spPr>
          <a:xfrm>
            <a:off x="1764792" y="4608576"/>
            <a:ext cx="9326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50"/>
              <a:buFont typeface="Calibri"/>
              <a:buNone/>
            </a:pPr>
            <a:r>
              <a:rPr b="0" i="0" lang="en-US" sz="1450" u="none" cap="none" strike="noStrike">
                <a:solidFill>
                  <a:srgbClr val="000000"/>
                </a:solidFill>
                <a:latin typeface="Calibri"/>
                <a:ea typeface="Calibri"/>
                <a:cs typeface="Calibri"/>
                <a:sym typeface="Calibri"/>
              </a:rPr>
              <a:t>Sliced. Print time and material noted.</a:t>
            </a:r>
            <a:endParaRPr b="0" i="0" sz="1450" u="none" cap="none" strike="noStrike">
              <a:solidFill>
                <a:schemeClr val="dk1"/>
              </a:solidFill>
              <a:latin typeface="Calibri"/>
              <a:ea typeface="Calibri"/>
              <a:cs typeface="Calibri"/>
              <a:sym typeface="Calibri"/>
            </a:endParaRPr>
          </a:p>
        </p:txBody>
      </p:sp>
      <p:sp>
        <p:nvSpPr>
          <p:cNvPr id="554" name="Google Shape;554;p13"/>
          <p:cNvSpPr/>
          <p:nvPr/>
        </p:nvSpPr>
        <p:spPr>
          <a:xfrm>
            <a:off x="662940" y="5253228"/>
            <a:ext cx="621792"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3"/>
          <p:cNvSpPr/>
          <p:nvPr/>
        </p:nvSpPr>
        <p:spPr>
          <a:xfrm>
            <a:off x="594360" y="5184648"/>
            <a:ext cx="621792"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3"/>
          <p:cNvSpPr/>
          <p:nvPr/>
        </p:nvSpPr>
        <p:spPr>
          <a:xfrm>
            <a:off x="594360" y="5285232"/>
            <a:ext cx="6217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t>
            </a:r>
            <a:endParaRPr b="0" i="0" sz="1700" u="none" cap="none" strike="noStrike">
              <a:solidFill>
                <a:schemeClr val="dk1"/>
              </a:solidFill>
              <a:latin typeface="Calibri"/>
              <a:ea typeface="Calibri"/>
              <a:cs typeface="Calibri"/>
              <a:sym typeface="Calibri"/>
            </a:endParaRPr>
          </a:p>
        </p:txBody>
      </p:sp>
      <p:sp>
        <p:nvSpPr>
          <p:cNvPr id="557" name="Google Shape;557;p13"/>
          <p:cNvSpPr/>
          <p:nvPr/>
        </p:nvSpPr>
        <p:spPr>
          <a:xfrm>
            <a:off x="1559052" y="5253228"/>
            <a:ext cx="10076688"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3"/>
          <p:cNvSpPr/>
          <p:nvPr/>
        </p:nvSpPr>
        <p:spPr>
          <a:xfrm>
            <a:off x="1490472" y="5184648"/>
            <a:ext cx="10076688"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3"/>
          <p:cNvSpPr/>
          <p:nvPr/>
        </p:nvSpPr>
        <p:spPr>
          <a:xfrm>
            <a:off x="1764792" y="5321808"/>
            <a:ext cx="9326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50"/>
              <a:buFont typeface="Calibri"/>
              <a:buNone/>
            </a:pPr>
            <a:r>
              <a:rPr b="0" i="0" lang="en-US" sz="1450" u="none" cap="none" strike="noStrike">
                <a:solidFill>
                  <a:srgbClr val="000000"/>
                </a:solidFill>
                <a:latin typeface="Calibri"/>
                <a:ea typeface="Calibri"/>
                <a:cs typeface="Calibri"/>
                <a:sym typeface="Calibri"/>
              </a:rPr>
              <a:t>File named and submitted to the queue</a:t>
            </a:r>
            <a:endParaRPr b="0" i="0" sz="1450" u="none" cap="none" strike="noStrike">
              <a:solidFill>
                <a:schemeClr val="dk1"/>
              </a:solidFill>
              <a:latin typeface="Calibri"/>
              <a:ea typeface="Calibri"/>
              <a:cs typeface="Calibri"/>
              <a:sym typeface="Calibri"/>
            </a:endParaRPr>
          </a:p>
        </p:txBody>
      </p:sp>
      <p:sp>
        <p:nvSpPr>
          <p:cNvPr id="560" name="Google Shape;560;p13"/>
          <p:cNvSpPr/>
          <p:nvPr/>
        </p:nvSpPr>
        <p:spPr>
          <a:xfrm>
            <a:off x="662940" y="6057900"/>
            <a:ext cx="6949440"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3"/>
          <p:cNvSpPr/>
          <p:nvPr/>
        </p:nvSpPr>
        <p:spPr>
          <a:xfrm>
            <a:off x="594360" y="5989320"/>
            <a:ext cx="6949440" cy="566928"/>
          </a:xfrm>
          <a:prstGeom prst="rect">
            <a:avLst/>
          </a:prstGeom>
          <a:solidFill>
            <a:srgbClr val="0000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3"/>
          <p:cNvSpPr/>
          <p:nvPr/>
        </p:nvSpPr>
        <p:spPr>
          <a:xfrm>
            <a:off x="594360" y="6126480"/>
            <a:ext cx="6949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F035"/>
              </a:buClr>
              <a:buSzPts val="1400"/>
              <a:buFont typeface="Arial"/>
              <a:buNone/>
            </a:pPr>
            <a:r>
              <a:rPr b="1" i="0" lang="en-US" sz="1400" u="none" cap="none" strike="noStrike">
                <a:solidFill>
                  <a:srgbClr val="C6F035"/>
                </a:solidFill>
                <a:latin typeface="Arial"/>
                <a:ea typeface="Arial"/>
                <a:cs typeface="Arial"/>
                <a:sym typeface="Arial"/>
              </a:rPr>
              <a:t>LEAVE WITH A FILE IN THE QUEUE.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567" name="Shape 567"/>
        <p:cNvGrpSpPr/>
        <p:nvPr/>
      </p:nvGrpSpPr>
      <p:grpSpPr>
        <a:xfrm>
          <a:off x="0" y="0"/>
          <a:ext cx="0" cy="0"/>
          <a:chOff x="0" y="0"/>
          <a:chExt cx="0" cy="0"/>
        </a:xfrm>
      </p:grpSpPr>
      <p:cxnSp>
        <p:nvCxnSpPr>
          <p:cNvPr id="568" name="Google Shape;568;p14"/>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569" name="Google Shape;569;p14"/>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BEFORE NEXT CLASS</a:t>
            </a:r>
            <a:endParaRPr b="0" i="0" sz="3300" u="none" cap="none" strike="noStrike">
              <a:solidFill>
                <a:schemeClr val="dk1"/>
              </a:solidFill>
              <a:latin typeface="Calibri"/>
              <a:ea typeface="Calibri"/>
              <a:cs typeface="Calibri"/>
              <a:sym typeface="Calibri"/>
            </a:endParaRPr>
          </a:p>
        </p:txBody>
      </p:sp>
      <p:sp>
        <p:nvSpPr>
          <p:cNvPr id="570" name="Google Shape;570;p14"/>
          <p:cNvSpPr/>
          <p:nvPr/>
        </p:nvSpPr>
        <p:spPr>
          <a:xfrm>
            <a:off x="662940" y="1851660"/>
            <a:ext cx="1508760" cy="80467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4"/>
          <p:cNvSpPr/>
          <p:nvPr/>
        </p:nvSpPr>
        <p:spPr>
          <a:xfrm>
            <a:off x="594360" y="1783080"/>
            <a:ext cx="1508760" cy="804672"/>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4"/>
          <p:cNvSpPr/>
          <p:nvPr/>
        </p:nvSpPr>
        <p:spPr>
          <a:xfrm>
            <a:off x="594360" y="2029968"/>
            <a:ext cx="1508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WATCH</a:t>
            </a:r>
            <a:endParaRPr b="0" i="0" sz="1400" u="none" cap="none" strike="noStrike">
              <a:solidFill>
                <a:schemeClr val="dk1"/>
              </a:solidFill>
              <a:latin typeface="Calibri"/>
              <a:ea typeface="Calibri"/>
              <a:cs typeface="Calibri"/>
              <a:sym typeface="Calibri"/>
            </a:endParaRPr>
          </a:p>
        </p:txBody>
      </p:sp>
      <p:sp>
        <p:nvSpPr>
          <p:cNvPr id="573" name="Google Shape;573;p14"/>
          <p:cNvSpPr/>
          <p:nvPr/>
        </p:nvSpPr>
        <p:spPr>
          <a:xfrm>
            <a:off x="2446020" y="1851660"/>
            <a:ext cx="9189720" cy="80467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4"/>
          <p:cNvSpPr/>
          <p:nvPr/>
        </p:nvSpPr>
        <p:spPr>
          <a:xfrm>
            <a:off x="2377440" y="1783080"/>
            <a:ext cx="9189720" cy="804672"/>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4"/>
          <p:cNvSpPr/>
          <p:nvPr/>
        </p:nvSpPr>
        <p:spPr>
          <a:xfrm>
            <a:off x="2651760" y="1911096"/>
            <a:ext cx="8595360" cy="603504"/>
          </a:xfrm>
          <a:prstGeom prst="rect">
            <a:avLst/>
          </a:prstGeom>
          <a:noFill/>
          <a:ln>
            <a:noFill/>
          </a:ln>
        </p:spPr>
        <p:txBody>
          <a:bodyPr anchorCtr="0" anchor="ctr" bIns="0" lIns="0" spcFirstLastPara="1" rIns="0" wrap="square" tIns="0">
            <a:noAutofit/>
          </a:bodyPr>
          <a:lstStyle/>
          <a:p>
            <a:pPr indent="0" lvl="0" marL="0" marR="0" rtl="0" algn="l">
              <a:lnSpc>
                <a:spcPct val="140740"/>
              </a:lnSpc>
              <a:spcBef>
                <a:spcPts val="0"/>
              </a:spcBef>
              <a:spcAft>
                <a:spcPts val="0"/>
              </a:spcAft>
              <a:buClr>
                <a:srgbClr val="000000"/>
              </a:buClr>
              <a:buSzPts val="1350"/>
              <a:buFont typeface="Calibri"/>
              <a:buNone/>
            </a:pPr>
            <a:r>
              <a:rPr b="0" i="0" lang="en-US" sz="1350" u="none" cap="none" strike="noStrike">
                <a:solidFill>
                  <a:srgbClr val="000000"/>
                </a:solidFill>
                <a:latin typeface="Calibri"/>
                <a:ea typeface="Calibri"/>
                <a:cs typeface="Calibri"/>
                <a:sym typeface="Calibri"/>
              </a:rPr>
              <a:t>Tutorial 1.1 — arrays. Linear, grid, hexagonal, along a curve. Sent tonight.</a:t>
            </a:r>
            <a:endParaRPr b="0" i="0" sz="1350" u="none" cap="none" strike="noStrike">
              <a:solidFill>
                <a:schemeClr val="dk1"/>
              </a:solidFill>
              <a:latin typeface="Calibri"/>
              <a:ea typeface="Calibri"/>
              <a:cs typeface="Calibri"/>
              <a:sym typeface="Calibri"/>
            </a:endParaRPr>
          </a:p>
        </p:txBody>
      </p:sp>
      <p:sp>
        <p:nvSpPr>
          <p:cNvPr id="576" name="Google Shape;576;p14"/>
          <p:cNvSpPr/>
          <p:nvPr/>
        </p:nvSpPr>
        <p:spPr>
          <a:xfrm>
            <a:off x="662940" y="2912364"/>
            <a:ext cx="1508760" cy="80467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4"/>
          <p:cNvSpPr/>
          <p:nvPr/>
        </p:nvSpPr>
        <p:spPr>
          <a:xfrm>
            <a:off x="594360" y="2843784"/>
            <a:ext cx="1508760" cy="804672"/>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4"/>
          <p:cNvSpPr/>
          <p:nvPr/>
        </p:nvSpPr>
        <p:spPr>
          <a:xfrm>
            <a:off x="594360" y="3090672"/>
            <a:ext cx="1508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FINISH</a:t>
            </a:r>
            <a:endParaRPr b="0" i="0" sz="1400" u="none" cap="none" strike="noStrike">
              <a:solidFill>
                <a:schemeClr val="dk1"/>
              </a:solidFill>
              <a:latin typeface="Calibri"/>
              <a:ea typeface="Calibri"/>
              <a:cs typeface="Calibri"/>
              <a:sym typeface="Calibri"/>
            </a:endParaRPr>
          </a:p>
        </p:txBody>
      </p:sp>
      <p:sp>
        <p:nvSpPr>
          <p:cNvPr id="579" name="Google Shape;579;p14"/>
          <p:cNvSpPr/>
          <p:nvPr/>
        </p:nvSpPr>
        <p:spPr>
          <a:xfrm>
            <a:off x="2446020" y="2912364"/>
            <a:ext cx="9189720" cy="80467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4"/>
          <p:cNvSpPr/>
          <p:nvPr/>
        </p:nvSpPr>
        <p:spPr>
          <a:xfrm>
            <a:off x="2377440" y="2843784"/>
            <a:ext cx="9189720" cy="804672"/>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4"/>
          <p:cNvSpPr/>
          <p:nvPr/>
        </p:nvSpPr>
        <p:spPr>
          <a:xfrm>
            <a:off x="2651760" y="2971800"/>
            <a:ext cx="8595360" cy="603504"/>
          </a:xfrm>
          <a:prstGeom prst="rect">
            <a:avLst/>
          </a:prstGeom>
          <a:noFill/>
          <a:ln>
            <a:noFill/>
          </a:ln>
        </p:spPr>
        <p:txBody>
          <a:bodyPr anchorCtr="0" anchor="ctr" bIns="0" lIns="0" spcFirstLastPara="1" rIns="0" wrap="square" tIns="0">
            <a:noAutofit/>
          </a:bodyPr>
          <a:lstStyle/>
          <a:p>
            <a:pPr indent="0" lvl="0" marL="0" marR="0" rtl="0" algn="l">
              <a:lnSpc>
                <a:spcPct val="140740"/>
              </a:lnSpc>
              <a:spcBef>
                <a:spcPts val="0"/>
              </a:spcBef>
              <a:spcAft>
                <a:spcPts val="0"/>
              </a:spcAft>
              <a:buClr>
                <a:srgbClr val="000000"/>
              </a:buClr>
              <a:buSzPts val="1350"/>
              <a:buFont typeface="Calibri"/>
              <a:buNone/>
            </a:pPr>
            <a:r>
              <a:rPr b="0" i="0" lang="en-US" sz="1350" u="none" cap="none" strike="noStrike">
                <a:solidFill>
                  <a:srgbClr val="000000"/>
                </a:solidFill>
                <a:latin typeface="Calibri"/>
                <a:ea typeface="Calibri"/>
                <a:cs typeface="Calibri"/>
                <a:sym typeface="Calibri"/>
              </a:rPr>
              <a:t>0.1 is due next class: the axonometric sequence, the procedure, the precedent analysis.</a:t>
            </a:r>
            <a:endParaRPr b="0" i="0" sz="1350" u="none" cap="none" strike="noStrike">
              <a:solidFill>
                <a:schemeClr val="dk1"/>
              </a:solidFill>
              <a:latin typeface="Calibri"/>
              <a:ea typeface="Calibri"/>
              <a:cs typeface="Calibri"/>
              <a:sym typeface="Calibri"/>
            </a:endParaRPr>
          </a:p>
        </p:txBody>
      </p:sp>
      <p:sp>
        <p:nvSpPr>
          <p:cNvPr id="582" name="Google Shape;582;p14"/>
          <p:cNvSpPr/>
          <p:nvPr/>
        </p:nvSpPr>
        <p:spPr>
          <a:xfrm>
            <a:off x="662940" y="3973068"/>
            <a:ext cx="1508760" cy="80467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4"/>
          <p:cNvSpPr/>
          <p:nvPr/>
        </p:nvSpPr>
        <p:spPr>
          <a:xfrm>
            <a:off x="594360" y="3904488"/>
            <a:ext cx="1508760" cy="804672"/>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4"/>
          <p:cNvSpPr/>
          <p:nvPr/>
        </p:nvSpPr>
        <p:spPr>
          <a:xfrm>
            <a:off x="594360" y="4151376"/>
            <a:ext cx="1508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CHECK</a:t>
            </a:r>
            <a:endParaRPr b="0" i="0" sz="1400" u="none" cap="none" strike="noStrike">
              <a:solidFill>
                <a:schemeClr val="dk1"/>
              </a:solidFill>
              <a:latin typeface="Calibri"/>
              <a:ea typeface="Calibri"/>
              <a:cs typeface="Calibri"/>
              <a:sym typeface="Calibri"/>
            </a:endParaRPr>
          </a:p>
        </p:txBody>
      </p:sp>
      <p:sp>
        <p:nvSpPr>
          <p:cNvPr id="585" name="Google Shape;585;p14"/>
          <p:cNvSpPr/>
          <p:nvPr/>
        </p:nvSpPr>
        <p:spPr>
          <a:xfrm>
            <a:off x="2446020" y="3973068"/>
            <a:ext cx="9189720" cy="80467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4"/>
          <p:cNvSpPr/>
          <p:nvPr/>
        </p:nvSpPr>
        <p:spPr>
          <a:xfrm>
            <a:off x="2377440" y="3904488"/>
            <a:ext cx="9189720" cy="804672"/>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4"/>
          <p:cNvSpPr/>
          <p:nvPr/>
        </p:nvSpPr>
        <p:spPr>
          <a:xfrm>
            <a:off x="2651760" y="4032504"/>
            <a:ext cx="8595360" cy="603504"/>
          </a:xfrm>
          <a:prstGeom prst="rect">
            <a:avLst/>
          </a:prstGeom>
          <a:noFill/>
          <a:ln>
            <a:noFill/>
          </a:ln>
        </p:spPr>
        <p:txBody>
          <a:bodyPr anchorCtr="0" anchor="ctr" bIns="0" lIns="0" spcFirstLastPara="1" rIns="0" wrap="square" tIns="0">
            <a:noAutofit/>
          </a:bodyPr>
          <a:lstStyle/>
          <a:p>
            <a:pPr indent="0" lvl="0" marL="0" marR="0" rtl="0" algn="l">
              <a:lnSpc>
                <a:spcPct val="140740"/>
              </a:lnSpc>
              <a:spcBef>
                <a:spcPts val="0"/>
              </a:spcBef>
              <a:spcAft>
                <a:spcPts val="0"/>
              </a:spcAft>
              <a:buClr>
                <a:srgbClr val="000000"/>
              </a:buClr>
              <a:buSzPts val="1350"/>
              <a:buFont typeface="Calibri"/>
              <a:buNone/>
            </a:pPr>
            <a:r>
              <a:rPr b="0" i="0" lang="en-US" sz="1350" u="none" cap="none" strike="noStrike">
                <a:solidFill>
                  <a:srgbClr val="000000"/>
                </a:solidFill>
                <a:latin typeface="Calibri"/>
                <a:ea typeface="Calibri"/>
                <a:cs typeface="Calibri"/>
                <a:sym typeface="Calibri"/>
              </a:rPr>
              <a:t>Your print is in the queue. It is presented at the Midterm, not next week — but the file has to exist.</a:t>
            </a:r>
            <a:endParaRPr b="0" i="0" sz="1350" u="none" cap="none" strike="noStrike">
              <a:solidFill>
                <a:schemeClr val="dk1"/>
              </a:solidFill>
              <a:latin typeface="Calibri"/>
              <a:ea typeface="Calibri"/>
              <a:cs typeface="Calibri"/>
              <a:sym typeface="Calibri"/>
            </a:endParaRPr>
          </a:p>
        </p:txBody>
      </p:sp>
      <p:sp>
        <p:nvSpPr>
          <p:cNvPr id="588" name="Google Shape;588;p14"/>
          <p:cNvSpPr/>
          <p:nvPr/>
        </p:nvSpPr>
        <p:spPr>
          <a:xfrm>
            <a:off x="662940" y="5033772"/>
            <a:ext cx="1508760" cy="80467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4"/>
          <p:cNvSpPr/>
          <p:nvPr/>
        </p:nvSpPr>
        <p:spPr>
          <a:xfrm>
            <a:off x="594360" y="4965192"/>
            <a:ext cx="1508760" cy="804672"/>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4"/>
          <p:cNvSpPr/>
          <p:nvPr/>
        </p:nvSpPr>
        <p:spPr>
          <a:xfrm>
            <a:off x="594360" y="5212080"/>
            <a:ext cx="1508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READ</a:t>
            </a:r>
            <a:endParaRPr b="0" i="0" sz="1400" u="none" cap="none" strike="noStrike">
              <a:solidFill>
                <a:schemeClr val="dk1"/>
              </a:solidFill>
              <a:latin typeface="Calibri"/>
              <a:ea typeface="Calibri"/>
              <a:cs typeface="Calibri"/>
              <a:sym typeface="Calibri"/>
            </a:endParaRPr>
          </a:p>
        </p:txBody>
      </p:sp>
      <p:sp>
        <p:nvSpPr>
          <p:cNvPr id="591" name="Google Shape;591;p14"/>
          <p:cNvSpPr/>
          <p:nvPr/>
        </p:nvSpPr>
        <p:spPr>
          <a:xfrm>
            <a:off x="2446020" y="5033772"/>
            <a:ext cx="9189720" cy="80467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4"/>
          <p:cNvSpPr/>
          <p:nvPr/>
        </p:nvSpPr>
        <p:spPr>
          <a:xfrm>
            <a:off x="2377440" y="4965192"/>
            <a:ext cx="9189720" cy="804672"/>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4"/>
          <p:cNvSpPr/>
          <p:nvPr/>
        </p:nvSpPr>
        <p:spPr>
          <a:xfrm>
            <a:off x="2651760" y="5093208"/>
            <a:ext cx="8595360" cy="603504"/>
          </a:xfrm>
          <a:prstGeom prst="rect">
            <a:avLst/>
          </a:prstGeom>
          <a:noFill/>
          <a:ln>
            <a:noFill/>
          </a:ln>
        </p:spPr>
        <p:txBody>
          <a:bodyPr anchorCtr="0" anchor="ctr" bIns="0" lIns="0" spcFirstLastPara="1" rIns="0" wrap="square" tIns="0">
            <a:noAutofit/>
          </a:bodyPr>
          <a:lstStyle/>
          <a:p>
            <a:pPr indent="0" lvl="0" marL="0" marR="0" rtl="0" algn="l">
              <a:lnSpc>
                <a:spcPct val="140740"/>
              </a:lnSpc>
              <a:spcBef>
                <a:spcPts val="0"/>
              </a:spcBef>
              <a:spcAft>
                <a:spcPts val="0"/>
              </a:spcAft>
              <a:buClr>
                <a:srgbClr val="000000"/>
              </a:buClr>
              <a:buSzPts val="1350"/>
              <a:buFont typeface="Calibri"/>
              <a:buNone/>
            </a:pPr>
            <a:r>
              <a:rPr b="0" i="0" lang="en-US" sz="1350" u="none" cap="none" strike="noStrike">
                <a:solidFill>
                  <a:srgbClr val="000000"/>
                </a:solidFill>
                <a:latin typeface="Calibri"/>
                <a:ea typeface="Calibri"/>
                <a:cs typeface="Calibri"/>
                <a:sym typeface="Calibri"/>
              </a:rPr>
              <a:t>Your own procedure, out loud, to someone who has not seen the model. Fix what they cannot follow.</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2026-08-21T19:26:32Z</dcterms:created>
  <dc:creator>Luis Pacheco Alcala</dc:creator>
</cp:coreProperties>
</file>