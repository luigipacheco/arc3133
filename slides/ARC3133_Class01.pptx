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Today: what the course is, how it runs, the one big idea, and your first assignment.
Don't open software today — this is the framing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what do you hand in at the end of a studio? One building.
Here the deliverable is the system. The images are evidence of the system.
This sentence is the whole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this on the board too. Everything we build fits here.
The question that separates the three paradigms: how determined is the output?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real time here — this table is the course outline.
The YOU DEFINE row is the ladder: steps → relationships → rules.
Watch for the obvious question: if parametric always gives the same output for the same input, why is it only PARTIALLY expected? Answer: because you are defining a SPACE, not a result. You know its range, not every member. That is the whole point.
Ask the room for an example of each before you give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instruction aloud. Two lines, and it produces a drawing nobody designed.
Then ask what is still undecided: how random is random? How big is the sheet? Do lines cross?
Every execution differs — that ambiguity was the point for LeWitt. In assignment 0.1 you must do the opposite and pin the outcome down.
Also flag forward: points, nearest neighbours, connecting lines — that is Module 1, and it is what the plotter draws.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quarters of the semester lives here.
Show a Grasshopper definition on screen — move one slider, let them watch everything update.
That visible cause-and-effect is why we work in graphs.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Conway's Life running (copy.sh/life) — 20 seconds.
Four rules, no design, and it produces things nobody specified.
That's the last three weeks of this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blunt about step 2. A session spent watching what you could have watched at home is wasted.
Everything is in two versions — pick your environment and stay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fabrication column. Everything you compute, you also make.
That's what makes this different from a software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pages is a constraint, not a minimum. A system you can't state in four pages isn't a system.
Due Class 4 — you'll have done 0.1 by then, so it gets tested against real work.
Every sheet for the rest of the semester uses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building matters — say the constraint clearly. Orthogonal massing, no complex curves.
If they pick Fallingwater they cannot describe it in five Booleans and the exercise fails.
Have a fallback list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they ask. Repeat the three words — they'll hear them all semester.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 3133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62940" y="2125980"/>
            <a:ext cx="10149840" cy="24231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057400"/>
            <a:ext cx="10149840" cy="24231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12848"/>
            <a:ext cx="9326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spc="-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spc="-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spc="-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1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62940" y="4823460"/>
            <a:ext cx="65836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4754880"/>
            <a:ext cx="658368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7375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VISUALIZATION + DIGITAL FABRICATION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 2026   /   TUESDAYS 5:00–7:50 PM   /   LUIS PACHECO ALCALA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" y="1303020"/>
            <a:ext cx="10972800" cy="3337560"/>
          </a:xfrm>
          <a:prstGeom prst="rect">
            <a:avLst/>
          </a:prstGeom>
          <a:solidFill>
            <a:srgbClr val="FFE500"/>
          </a:solidFill>
          <a:ln w="6350">
            <a:solidFill>
              <a:srgbClr val="FFE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1234440"/>
            <a:ext cx="10972800" cy="333756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72768"/>
            <a:ext cx="9966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600" b="1" spc="-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DESIGNER IS NO LONGER MAKING CHOICES ABOUT A SINGLE, FINAL OBJECT — BUT CREATING A MATRIX ENCOMPASSING AN ENTIRE POPULATION OF POSSIBLE DESIGNS.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62940" y="5052060"/>
            <a:ext cx="7680960" cy="640080"/>
          </a:xfrm>
          <a:prstGeom prst="rect">
            <a:avLst/>
          </a:prstGeom>
          <a:solidFill>
            <a:srgbClr val="FF4D8D"/>
          </a:solidFill>
          <a:ln w="6350">
            <a:solidFill>
              <a:srgbClr val="FF4D8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4983480"/>
            <a:ext cx="768096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51206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WHAT CHANGES WHEN YOU DESIGN WITH CODE.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66928"/>
            <a:ext cx="10972800" cy="0"/>
          </a:xfrm>
          <a:prstGeom prst="line">
            <a:avLst/>
          </a:prstGeom>
          <a:noFill/>
          <a:ln w="508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COMPUTATIONAL SYSTEM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…has the same three parts. What changes is how much you control the third.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25780" y="2217420"/>
            <a:ext cx="3200400" cy="2331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48840"/>
            <a:ext cx="3200400" cy="23317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414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-3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" y="2953512"/>
            <a:ext cx="256032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108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 rot="5400000">
            <a:off x="3904488" y="3136392"/>
            <a:ext cx="310896" cy="365760"/>
          </a:xfrm>
          <a:prstGeom prst="triangl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9140" y="2217420"/>
            <a:ext cx="3200400" cy="2331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560" y="2148840"/>
            <a:ext cx="3200400" cy="23317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4414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-3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00600" y="2953512"/>
            <a:ext cx="256032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3108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tree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rot="5400000">
            <a:off x="7927848" y="3136392"/>
            <a:ext cx="310896" cy="365760"/>
          </a:xfrm>
          <a:prstGeom prst="triangl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72500" y="2217420"/>
            <a:ext cx="3200400" cy="2331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148840"/>
            <a:ext cx="3200400" cy="23317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23960" y="24414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-3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823960" y="2953512"/>
            <a:ext cx="256032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23960" y="3108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66928"/>
            <a:ext cx="10972800" cy="0"/>
          </a:xfrm>
          <a:prstGeom prst="line">
            <a:avLst/>
          </a:prstGeom>
          <a:noFill/>
          <a:ln w="508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PARADIGMS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course, in one table. Each one extends the last.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714500"/>
            <a:ext cx="3429000" cy="4160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8620" y="1645920"/>
            <a:ext cx="3429000" cy="4160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8620" y="1645920"/>
            <a:ext cx="3429000" cy="8686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" y="178308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394460" y="188366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PROCEDURAL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26364" y="2606040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26364" y="2825496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sequence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operations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26364" y="3429000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DEFINE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26364" y="3648456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STEPS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" y="4206240"/>
            <a:ext cx="2953512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" y="4315968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IS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26364" y="4535424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EXPECTED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" y="5285232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interested primarily in instructions.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94944" y="6030468"/>
            <a:ext cx="295351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" y="5961888"/>
            <a:ext cx="2953512" cy="38404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" y="6025896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34840" y="1714500"/>
            <a:ext cx="3429000" cy="4160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66260" y="1645920"/>
            <a:ext cx="3429000" cy="4160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66260" y="1645920"/>
            <a:ext cx="3429000" cy="8686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04004" y="178308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5372100" y="188366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604004" y="2606040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04004" y="2825496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between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and form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604004" y="3429000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DEFINE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604004" y="3648456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 OF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04004" y="4206240"/>
            <a:ext cx="2953512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04004" y="4315968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IS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604004" y="4535424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FAMILY — YOU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THE RANGE,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EACH MEMBER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604004" y="5285232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inputs always produce the same output.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672584" y="6030468"/>
            <a:ext cx="295351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4004" y="5961888"/>
            <a:ext cx="2953512" cy="38404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04004" y="6025896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 1–3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412480" y="1714500"/>
            <a:ext cx="3429000" cy="4160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43900" y="1645920"/>
            <a:ext cx="3429000" cy="4160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343900" y="1645920"/>
            <a:ext cx="3429000" cy="8686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81644" y="178308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300" dirty="0"/>
          </a:p>
        </p:txBody>
      </p:sp>
      <p:sp>
        <p:nvSpPr>
          <p:cNvPr id="41" name="Text 39"/>
          <p:cNvSpPr/>
          <p:nvPr/>
        </p:nvSpPr>
        <p:spPr>
          <a:xfrm>
            <a:off x="9349740" y="188366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8581644" y="2606040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581644" y="2825496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applied to its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output, repeatedly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581644" y="3429000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DEFINE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581644" y="3648456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+ THE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STATE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581644" y="4206240"/>
            <a:ext cx="2953512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581644" y="4315968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IS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581644" y="4535424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UNKNOWN, WITHIN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YOU SET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581644" y="5285232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are iterated by the algorithm itself.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8650224" y="6030468"/>
            <a:ext cx="295351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81644" y="5961888"/>
            <a:ext cx="2953512" cy="38404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581644" y="6025896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66928"/>
            <a:ext cx="10972800" cy="0"/>
          </a:xfrm>
          <a:prstGeom prst="line">
            <a:avLst/>
          </a:prstGeom>
          <a:noFill/>
          <a:ln w="50800">
            <a:solidFill>
              <a:srgbClr val="FFFD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60" kern="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PROCEDURAL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as a set of instructions. Output: expected.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62940" y="1897380"/>
            <a:ext cx="5029200" cy="2514600"/>
          </a:xfrm>
          <a:prstGeom prst="rect">
            <a:avLst/>
          </a:prstGeom>
          <a:solidFill>
            <a:srgbClr val="FFFDF7"/>
          </a:solidFill>
          <a:ln w="6350">
            <a:solidFill>
              <a:srgbClr val="FFFD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28800"/>
            <a:ext cx="5029200" cy="2514600"/>
          </a:xfrm>
          <a:prstGeom prst="rect">
            <a:avLst/>
          </a:prstGeom>
          <a:solidFill>
            <a:srgbClr val="EDEDE6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828800"/>
            <a:ext cx="5029200" cy="2514600"/>
          </a:xfrm>
          <a:prstGeom prst="line">
            <a:avLst/>
          </a:prstGeom>
          <a:noFill/>
          <a:ln w="15875">
            <a:solidFill>
              <a:srgbClr val="C9C9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4343400"/>
            <a:ext cx="5029200" cy="-2514600"/>
          </a:xfrm>
          <a:prstGeom prst="line">
            <a:avLst/>
          </a:prstGeom>
          <a:noFill/>
          <a:ln w="15875">
            <a:solidFill>
              <a:srgbClr val="C9C9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57400" y="2830068"/>
            <a:ext cx="2103120" cy="512064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291236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LEWITT WALL DRAWING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44256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a LeWitt wall drawing beside its written instruction.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940" y="4777740"/>
            <a:ext cx="5029200" cy="1097280"/>
          </a:xfrm>
          <a:prstGeom prst="rect">
            <a:avLst/>
          </a:prstGeom>
          <a:solidFill>
            <a:srgbClr val="FFFDF7"/>
          </a:solidFill>
          <a:ln w="6350">
            <a:solidFill>
              <a:srgbClr val="FFFD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709160"/>
            <a:ext cx="5029200" cy="10972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882896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IS the instruction. Someone else executes it — LeWitt often never touched the wall.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32220" y="1897380"/>
            <a:ext cx="5303520" cy="3977640"/>
          </a:xfrm>
          <a:prstGeom prst="rect">
            <a:avLst/>
          </a:prstGeom>
          <a:solidFill>
            <a:srgbClr val="00D9E1"/>
          </a:solidFill>
          <a:ln w="6350">
            <a:solidFill>
              <a:srgbClr val="00D9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1828800"/>
            <a:ext cx="5303520" cy="39776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3640" y="1828800"/>
            <a:ext cx="530352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19019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INSTRUCTION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7960" y="2395728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Place twenty points at random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on the sheet.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Connect each point to its two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nearest neighbours with a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straight line.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3950208"/>
            <a:ext cx="2194560" cy="1298448"/>
          </a:xfrm>
          <a:prstGeom prst="rect">
            <a:avLst/>
          </a:prstGeom>
          <a:solidFill>
            <a:srgbClr val="FFFDF7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96222" y="4266408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1469" y="4151742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46101" y="4287256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1962" y="4193438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51304" y="4527012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74707" y="4464467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8724" y="4579132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27659" y="4474891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38066" y="4808464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83928" y="4745919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49174" y="4860585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75650" y="4777191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7616" y="4975250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04256" y="5016947"/>
            <a:ext cx="82296" cy="8229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5303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POINTS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098280" y="3950208"/>
            <a:ext cx="2194560" cy="1298448"/>
          </a:xfrm>
          <a:prstGeom prst="rect">
            <a:avLst/>
          </a:prstGeom>
          <a:solidFill>
            <a:srgbClr val="FFFDF7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497690" y="4307556"/>
            <a:ext cx="155082" cy="26060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97690" y="4307556"/>
            <a:ext cx="465247" cy="-114666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962937" y="4192890"/>
            <a:ext cx="-465247" cy="114666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62937" y="4192890"/>
            <a:ext cx="484632" cy="13551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447569" y="4328404"/>
            <a:ext cx="-271394" cy="177211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447569" y="4328404"/>
            <a:ext cx="445861" cy="-93817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893430" y="4234586"/>
            <a:ext cx="-445861" cy="93817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893430" y="4234586"/>
            <a:ext cx="135697" cy="281452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652772" y="4568160"/>
            <a:ext cx="232623" cy="218907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652772" y="4568160"/>
            <a:ext cx="-155082" cy="-26060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176175" y="4505615"/>
            <a:ext cx="271394" cy="-177211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176175" y="4505615"/>
            <a:ext cx="-523403" cy="62545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680192" y="4620280"/>
            <a:ext cx="96926" cy="198059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680192" y="4620280"/>
            <a:ext cx="348935" cy="-104242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029127" y="4516039"/>
            <a:ext cx="-348935" cy="104242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29127" y="4516039"/>
            <a:ext cx="-135697" cy="-281452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439534" y="4849612"/>
            <a:ext cx="329550" cy="166787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39534" y="4849612"/>
            <a:ext cx="445861" cy="-62545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885396" y="4787067"/>
            <a:ext cx="-116312" cy="229332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85396" y="4787067"/>
            <a:ext cx="-445861" cy="62545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350642" y="4901733"/>
            <a:ext cx="155082" cy="156362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50642" y="4901733"/>
            <a:ext cx="426476" cy="-83393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777118" y="4818339"/>
            <a:ext cx="-96926" cy="-198059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777118" y="4818339"/>
            <a:ext cx="-426476" cy="83393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769084" y="5016398"/>
            <a:ext cx="116312" cy="-229332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769084" y="5016398"/>
            <a:ext cx="-329550" cy="-166787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505724" y="5058095"/>
            <a:ext cx="-155082" cy="-156362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505724" y="5058095"/>
            <a:ext cx="271394" cy="-239756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456542" y="4266408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921789" y="4151742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406421" y="4287256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852282" y="4193438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611624" y="4527012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35027" y="4464467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639044" y="4579132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987979" y="4474891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398386" y="4808464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44248" y="4745919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309494" y="4860585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735970" y="4777191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727936" y="4975250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0464576" y="5016947"/>
            <a:ext cx="82296" cy="82296"/>
          </a:xfrm>
          <a:prstGeom prst="ellipse">
            <a:avLst/>
          </a:prstGeom>
          <a:solidFill>
            <a:srgbClr val="FF4D8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098280" y="5303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LINES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66928"/>
            <a:ext cx="10972800" cy="0"/>
          </a:xfrm>
          <a:prstGeom prst="line">
            <a:avLst/>
          </a:prstGeom>
          <a:noFill/>
          <a:ln w="50800">
            <a:solidFill>
              <a:srgbClr val="FFFD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60" kern="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PARAMETRIC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drive the form. Output: partially expected.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62940" y="1851660"/>
            <a:ext cx="10972800" cy="658368"/>
          </a:xfrm>
          <a:prstGeom prst="rect">
            <a:avLst/>
          </a:prstGeom>
          <a:solidFill>
            <a:srgbClr val="FFFDF7"/>
          </a:solidFill>
          <a:ln w="6350">
            <a:solidFill>
              <a:srgbClr val="FFFD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8308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29384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AUTHOR DEFINES THE PROCESS AND ITS FLEXIBILITY.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62940" y="2857500"/>
            <a:ext cx="2834640" cy="640080"/>
          </a:xfrm>
          <a:prstGeom prst="rect">
            <a:avLst/>
          </a:prstGeom>
          <a:solidFill>
            <a:srgbClr val="C6F035"/>
          </a:solidFill>
          <a:ln w="6350">
            <a:solidFill>
              <a:srgbClr val="C6F0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788920"/>
            <a:ext cx="2834640" cy="640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962656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INPUTS IN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 rot="5400000">
            <a:off x="3657600" y="2926080"/>
            <a:ext cx="310896" cy="365760"/>
          </a:xfrm>
          <a:prstGeom prst="triangle">
            <a:avLst/>
          </a:prstGeom>
          <a:solidFill>
            <a:srgbClr val="FFE5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0" y="29352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result out. Always.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62940" y="3698748"/>
            <a:ext cx="2834640" cy="640080"/>
          </a:xfrm>
          <a:prstGeom prst="rect">
            <a:avLst/>
          </a:prstGeom>
          <a:solidFill>
            <a:srgbClr val="C6F035"/>
          </a:solidFill>
          <a:ln w="6350">
            <a:solidFill>
              <a:srgbClr val="C6F0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3630168"/>
            <a:ext cx="2834640" cy="640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80390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ONE INPUT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rot="5400000">
            <a:off x="3657600" y="3767328"/>
            <a:ext cx="310896" cy="365760"/>
          </a:xfrm>
          <a:prstGeom prst="triangle">
            <a:avLst/>
          </a:prstGeom>
          <a:solidFill>
            <a:srgbClr val="FFE5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7764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system responds.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62940" y="4539996"/>
            <a:ext cx="2834640" cy="640080"/>
          </a:xfrm>
          <a:prstGeom prst="rect">
            <a:avLst/>
          </a:prstGeom>
          <a:solidFill>
            <a:srgbClr val="C6F035"/>
          </a:solidFill>
          <a:ln w="6350">
            <a:solidFill>
              <a:srgbClr val="C6F03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4471416"/>
            <a:ext cx="2834640" cy="640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64515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NON-DESTRUCTIVE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 rot="5400000">
            <a:off x="3657600" y="4608576"/>
            <a:ext cx="310896" cy="365760"/>
          </a:xfrm>
          <a:prstGeom prst="triangle">
            <a:avLst/>
          </a:prstGeom>
          <a:solidFill>
            <a:srgbClr val="FFE5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0" y="4617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stays editable.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018020" y="2857500"/>
            <a:ext cx="4617720" cy="2322576"/>
          </a:xfrm>
          <a:prstGeom prst="rect">
            <a:avLst/>
          </a:prstGeom>
          <a:solidFill>
            <a:srgbClr val="FFFDF7"/>
          </a:solidFill>
          <a:ln w="6350">
            <a:solidFill>
              <a:srgbClr val="FFFD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49440" y="2788920"/>
            <a:ext cx="4617720" cy="2322576"/>
          </a:xfrm>
          <a:prstGeom prst="rect">
            <a:avLst/>
          </a:prstGeom>
          <a:solidFill>
            <a:srgbClr val="EDEDE6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49440" y="2788920"/>
            <a:ext cx="4617720" cy="2322576"/>
          </a:xfrm>
          <a:prstGeom prst="line">
            <a:avLst/>
          </a:prstGeom>
          <a:noFill/>
          <a:ln w="15875">
            <a:solidFill>
              <a:srgbClr val="C9C9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49440" y="5111496"/>
            <a:ext cx="4617720" cy="-2322576"/>
          </a:xfrm>
          <a:prstGeom prst="line">
            <a:avLst/>
          </a:prstGeom>
          <a:noFill/>
          <a:ln w="15875">
            <a:solidFill>
              <a:srgbClr val="C9C9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06740" y="3694176"/>
            <a:ext cx="2103120" cy="512064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06740" y="37764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PRECEDENT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949440" y="51937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a project whose form is driven by parameters.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57790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C6F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 1–3   /   FIELDS + ATTRACTORS   /   SECTION + SEQUENCE   /   TESSELLATION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66928"/>
            <a:ext cx="10972800" cy="0"/>
          </a:xfrm>
          <a:prstGeom prst="line">
            <a:avLst/>
          </a:prstGeom>
          <a:noFill/>
          <a:ln w="50800">
            <a:solidFill>
              <a:srgbClr val="FFFD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60" kern="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GENERATIVE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feeds itself. Output: unknown, within a spectrum.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94360" y="178308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generative system is the same three-step loop, run over and over.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91540" y="2464308"/>
            <a:ext cx="1691640" cy="822960"/>
          </a:xfrm>
          <a:prstGeom prst="rect">
            <a:avLst/>
          </a:prstGeom>
          <a:solidFill>
            <a:srgbClr val="00D9E1"/>
          </a:solidFill>
          <a:ln w="6350">
            <a:solidFill>
              <a:srgbClr val="00D9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95728"/>
            <a:ext cx="16916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rot="5400000">
            <a:off x="2606040" y="2633472"/>
            <a:ext cx="310896" cy="365760"/>
          </a:xfrm>
          <a:prstGeom prst="triangle">
            <a:avLst/>
          </a:prstGeom>
          <a:solidFill>
            <a:srgbClr val="FF4D8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40380" y="2464308"/>
            <a:ext cx="1691640" cy="822960"/>
          </a:xfrm>
          <a:prstGeom prst="rect">
            <a:avLst/>
          </a:prstGeom>
          <a:solidFill>
            <a:srgbClr val="FF4D8D"/>
          </a:solidFill>
          <a:ln w="6350">
            <a:solidFill>
              <a:srgbClr val="FF4D8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71800" y="2395728"/>
            <a:ext cx="1691640" cy="82296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7180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754880" y="2633472"/>
            <a:ext cx="310896" cy="365760"/>
          </a:xfrm>
          <a:prstGeom prst="triangle">
            <a:avLst/>
          </a:prstGeom>
          <a:solidFill>
            <a:srgbClr val="FF4D8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9220" y="2464308"/>
            <a:ext cx="1691640" cy="822960"/>
          </a:xfrm>
          <a:prstGeom prst="rect">
            <a:avLst/>
          </a:prstGeom>
          <a:solidFill>
            <a:srgbClr val="00D9E1"/>
          </a:solidFill>
          <a:ln w="6350">
            <a:solidFill>
              <a:srgbClr val="00D9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2395728"/>
            <a:ext cx="16916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61888" y="3218688"/>
            <a:ext cx="0" cy="603504"/>
          </a:xfrm>
          <a:prstGeom prst="line">
            <a:avLst/>
          </a:prstGeom>
          <a:noFill/>
          <a:ln w="38100">
            <a:solidFill>
              <a:srgbClr val="FF4D8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4208" y="3822192"/>
            <a:ext cx="4297680" cy="0"/>
          </a:xfrm>
          <a:prstGeom prst="line">
            <a:avLst/>
          </a:prstGeom>
          <a:noFill/>
          <a:ln w="38100">
            <a:solidFill>
              <a:srgbClr val="FF4D8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4208" y="3218688"/>
            <a:ext cx="0" cy="603504"/>
          </a:xfrm>
          <a:prstGeom prst="line">
            <a:avLst/>
          </a:prstGeom>
          <a:noFill/>
          <a:ln w="38100">
            <a:solidFill>
              <a:srgbClr val="FF4D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37360" y="391363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BECOMES THE INPUT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520940" y="2263140"/>
            <a:ext cx="4114800" cy="2377440"/>
          </a:xfrm>
          <a:prstGeom prst="rect">
            <a:avLst/>
          </a:prstGeom>
          <a:solidFill>
            <a:srgbClr val="FFFDF7"/>
          </a:solidFill>
          <a:ln w="6350">
            <a:solidFill>
              <a:srgbClr val="FFFD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52360" y="2194560"/>
            <a:ext cx="4114800" cy="2377440"/>
          </a:xfrm>
          <a:prstGeom prst="rect">
            <a:avLst/>
          </a:prstGeom>
          <a:solidFill>
            <a:srgbClr val="EDEDE6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52360" y="2194560"/>
            <a:ext cx="4114800" cy="2377440"/>
          </a:xfrm>
          <a:prstGeom prst="line">
            <a:avLst/>
          </a:prstGeom>
          <a:noFill/>
          <a:ln w="15875">
            <a:solidFill>
              <a:srgbClr val="C9C9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52360" y="4572000"/>
            <a:ext cx="4114800" cy="-2377440"/>
          </a:xfrm>
          <a:prstGeom prst="line">
            <a:avLst/>
          </a:prstGeom>
          <a:noFill/>
          <a:ln w="15875">
            <a:solidFill>
              <a:srgbClr val="C9C9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58200" y="3127248"/>
            <a:ext cx="2103120" cy="512064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58200" y="32095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PRECEDENT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52360" y="465429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an agent trail, a CA, or a growth study.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2940" y="5143500"/>
            <a:ext cx="10972800" cy="1005840"/>
          </a:xfrm>
          <a:prstGeom prst="rect">
            <a:avLst/>
          </a:prstGeom>
          <a:solidFill>
            <a:srgbClr val="FFFDF7"/>
          </a:solidFill>
          <a:ln w="6350">
            <a:solidFill>
              <a:srgbClr val="FFFD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5074920"/>
            <a:ext cx="10972800" cy="100584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23036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 /  AGENTS  /  CELLULAR AUTOMATA  /  RELAXATION + PACKING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14400" y="559612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final assignment. You will build one of these.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66928"/>
            <a:ext cx="10972800" cy="0"/>
          </a:xfrm>
          <a:prstGeom prst="line">
            <a:avLst/>
          </a:prstGeom>
          <a:noFill/>
          <a:ln w="508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RUNS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before class. Class time is for your problems, not my demo.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62940" y="1851660"/>
            <a:ext cx="777240" cy="777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83080"/>
            <a:ext cx="777240" cy="77724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00253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714500" y="1851660"/>
            <a:ext cx="9921240" cy="777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1783080"/>
            <a:ext cx="9921240" cy="777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0240" y="1883664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TUTORIAL ARRIVES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920240" y="21945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Pre-recorded, sent after the class before. Grasshopper and Blender versions of each.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62940" y="2912364"/>
            <a:ext cx="777240" cy="777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843784"/>
            <a:ext cx="777240" cy="77724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0632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14500" y="2912364"/>
            <a:ext cx="9921240" cy="777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45920" y="2843784"/>
            <a:ext cx="9921240" cy="77724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2944368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WORK THROUGH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920240" y="325526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session. This is the part that doesn't work if you skip it.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2940" y="3973068"/>
            <a:ext cx="777240" cy="777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904488"/>
            <a:ext cx="777240" cy="77724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1239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714500" y="3973068"/>
            <a:ext cx="9921240" cy="777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45920" y="3904488"/>
            <a:ext cx="9921240" cy="777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4005072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TROUBLESHOOT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920240" y="431596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 of class: what broke. Bring the file, not the description.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62940" y="5033772"/>
            <a:ext cx="777240" cy="777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4965192"/>
            <a:ext cx="777240" cy="77724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518464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1714500" y="5033772"/>
            <a:ext cx="9921240" cy="777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45920" y="4965192"/>
            <a:ext cx="9921240" cy="777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0240" y="5065776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 BRIEFING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920240" y="53766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precedents, then supervised work and critique.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66928"/>
            <a:ext cx="10972800" cy="0"/>
          </a:xfrm>
          <a:prstGeom prst="line">
            <a:avLst/>
          </a:prstGeom>
          <a:noFill/>
          <a:ln w="508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MAKE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has a drawing and a physical thing.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62940" y="1805940"/>
            <a:ext cx="10972800" cy="74980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37360"/>
            <a:ext cx="10972800" cy="74980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737360"/>
            <a:ext cx="1600200" cy="74980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751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468880" y="19293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83480" y="196596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Massing diagram + written instructions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098280" y="19659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3D PRINT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2940" y="2665476"/>
            <a:ext cx="10972800" cy="74980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596896"/>
            <a:ext cx="10972800" cy="74980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596896"/>
            <a:ext cx="1600200" cy="74980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3464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468880" y="27889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983480" y="282549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 and attractors, systematically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098280" y="28254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PLOTTER DEMO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40" y="3525012"/>
            <a:ext cx="10972800" cy="74980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456432"/>
            <a:ext cx="10972800" cy="74980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456432"/>
            <a:ext cx="1600200" cy="74980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941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468880" y="36484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83480" y="368503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sections, contours, hierarchy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098280" y="36850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LASER-CUT ASSEMBLY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2940" y="4384548"/>
            <a:ext cx="10972800" cy="74980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4315968"/>
            <a:ext cx="10972800" cy="74980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4315968"/>
            <a:ext cx="1600200" cy="74980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45537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468880" y="4507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TESSELLATION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983480" y="454456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panelized surface as a filter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098280" y="45445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3D-PRINTED VAULT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62940" y="5244084"/>
            <a:ext cx="10972800" cy="74980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" y="5175504"/>
            <a:ext cx="10972800" cy="74980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" y="5175504"/>
            <a:ext cx="1600200" cy="74980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541324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468880" y="53675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983480" y="540410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iterates + two sheets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9098280" y="540410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6309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ISSUED TODAY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1170432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80" kern="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 — VISUAL IDENTITY MANUAL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819656"/>
            <a:ext cx="10972800" cy="0"/>
          </a:xfrm>
          <a:prstGeom prst="line">
            <a:avLst/>
          </a:prstGeom>
          <a:noFill/>
          <a:ln w="50800">
            <a:solidFill>
              <a:srgbClr val="FFFD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93852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FE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PAGES. NO MORE. DUE CLASS 4 — SEP 15.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2940" y="2610612"/>
            <a:ext cx="566928" cy="566928"/>
          </a:xfrm>
          <a:prstGeom prst="rect">
            <a:avLst/>
          </a:prstGeom>
          <a:solidFill>
            <a:srgbClr val="FFFDF7"/>
          </a:solidFill>
          <a:ln w="6350">
            <a:solidFill>
              <a:srgbClr val="FFFD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542032"/>
            <a:ext cx="566928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67004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26700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 — typefaces and hierarchy, with sizes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62940" y="3323844"/>
            <a:ext cx="566928" cy="566928"/>
          </a:xfrm>
          <a:prstGeom prst="rect">
            <a:avLst/>
          </a:prstGeom>
          <a:solidFill>
            <a:srgbClr val="FFFDF7"/>
          </a:solidFill>
          <a:ln w="6350">
            <a:solidFill>
              <a:srgbClr val="FFFD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3255264"/>
            <a:ext cx="566928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383280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3383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 with stated values · line weights with assigned uses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62940" y="4037076"/>
            <a:ext cx="566928" cy="566928"/>
          </a:xfrm>
          <a:prstGeom prst="rect">
            <a:avLst/>
          </a:prstGeom>
          <a:solidFill>
            <a:srgbClr val="FFFDF7"/>
          </a:solidFill>
          <a:ln w="6350">
            <a:solidFill>
              <a:srgbClr val="FFFD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968496"/>
            <a:ext cx="566928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09651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63040" y="40965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17" × 11" sheet template, grid shown explicitly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62940" y="4750308"/>
            <a:ext cx="566928" cy="566928"/>
          </a:xfrm>
          <a:prstGeom prst="rect">
            <a:avLst/>
          </a:prstGeom>
          <a:solidFill>
            <a:srgbClr val="FFFDF7"/>
          </a:solidFill>
          <a:ln w="6350">
            <a:solidFill>
              <a:srgbClr val="FFFD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4681728"/>
            <a:ext cx="566928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809744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63040" y="480974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sheet, using the system on real work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62940" y="5573268"/>
            <a:ext cx="10972800" cy="777240"/>
          </a:xfrm>
          <a:prstGeom prst="rect">
            <a:avLst/>
          </a:prstGeom>
          <a:solidFill>
            <a:srgbClr val="FFE500"/>
          </a:solidFill>
          <a:ln w="6350">
            <a:solidFill>
              <a:srgbClr val="FFE5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5504688"/>
            <a:ext cx="10972800" cy="77724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70585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CANVA. NO EXPRESS. NO SLIDES. A template supplies the grid, the hierarchy and the palette — exactly what you're being asked to decide.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66928"/>
            <a:ext cx="10972800" cy="0"/>
          </a:xfrm>
          <a:prstGeom prst="line">
            <a:avLst/>
          </a:prstGeom>
          <a:noFill/>
          <a:ln w="508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NEXT CLASS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299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77440" y="1856232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0.1 — Grasshopper / Geometry Nodes basics, transformations, Booleans, non-destructive modeling. Sent tonight.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377440" y="2916936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FabLab Safety Orientation on Canvas. Required before you touch any machine — due end of Class 2.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3904488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415137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377440" y="397764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0.2. Look at how other people build identity systems before you build yours.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521208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377440" y="5038344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you find interesting. Orthogonal massing — no complex curves. You'll rebuild it as a procedure.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" y="1485900"/>
            <a:ext cx="6949440" cy="1005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1417320"/>
            <a:ext cx="6949440" cy="100584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6916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 rot="10800000">
            <a:off x="3840480" y="2459736"/>
            <a:ext cx="365760" cy="310896"/>
          </a:xfrm>
          <a:prstGeom prst="triangl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2440" y="163677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62940" y="2720340"/>
            <a:ext cx="6949440" cy="1005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651760"/>
            <a:ext cx="6949440" cy="100584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9260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 rot="10800000">
            <a:off x="3840480" y="3694176"/>
            <a:ext cx="365760" cy="310896"/>
          </a:xfrm>
          <a:prstGeom prst="triangl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92440" y="287121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PARTIALLY EXPECTED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2940" y="3954780"/>
            <a:ext cx="6949440" cy="1005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3886200"/>
            <a:ext cx="6949440" cy="100584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1605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410565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UNKNOWN, WITHIN A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SPECTRUM YOU DEFINED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2940" y="5417820"/>
            <a:ext cx="3840480" cy="777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5349240"/>
            <a:ext cx="3840480" cy="77724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55412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50" kern="0" dirty="0">
                <a:solidFill>
                  <a:srgbClr val="FFE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 3133 — Class 1</dc:title>
  <dc:subject>PptxGenJS Presentation</dc:subject>
  <dc:creator>Luis Pacheco Alcala</dc:creator>
  <cp:lastModifiedBy>Luis Pacheco Alcala</cp:lastModifiedBy>
  <cp:revision>1</cp:revision>
  <dcterms:created xsi:type="dcterms:W3CDTF">2026-08-21T17:24:11Z</dcterms:created>
  <dcterms:modified xsi:type="dcterms:W3CDTF">2026-08-21T17:24:11Z</dcterms:modified>
</cp:coreProperties>
</file>