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01  /  AUG 25  /  U01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ARC 3133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GRAPHIC STANDARDS MANUAL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HOW THE WORK WILL LOOK, BEFORE THERE IS ANY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GSM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WHAT THIS COURSE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Computational methods for architectural representation and digital fabrication.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YOU WILL 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Set your own graphic standards.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Describe geometry with parameters.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Repeat it, and vary it.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Work with sampled and volumetric data.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Turn all of it into drawings and physical parts.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CARRIES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560320"/>
            <a:ext cx="4480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Visual quality stays central all semester — composition, hierarchy, line weight, colour, rendering, photography.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working graph supports those decisions. It does not replace them.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EACH PROJECT CARRIES ITS GEOMETRY INTO THE NEXT. YOU NEVER START FROM AN UNRELATED OBJECT.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THREE PARADIGMS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Each one a strict extension of the one before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01   PROCEDURAL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00300"/>
            <a:ext cx="3520440" cy="2606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31720"/>
            <a:ext cx="3520440" cy="2606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0392" y="25603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Form as a fixed sequence of operations. You define the steps.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" y="406908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42245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Output is expected.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3692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25112" y="1783080"/>
            <a:ext cx="35204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25112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02   PARAMETRIC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3692" y="2400300"/>
            <a:ext cx="3520440" cy="2606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5112" y="2331720"/>
            <a:ext cx="3520440" cy="2606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81144" y="25603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Relationships between inputs and form. You define the rules of variation.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81144" y="406908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81144" y="42245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Output is a family — you know the range, not each member.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4444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55864" y="1783080"/>
            <a:ext cx="35204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055864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03   GENERATIVE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4444" y="2400300"/>
            <a:ext cx="3520440" cy="2606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55864" y="2331720"/>
            <a:ext cx="3520440" cy="2606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11896" y="25603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rule applied to its own output, repeatedly. You define the rule and the starting state.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11896" y="406908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1896" y="42245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0000"/>
                </a:solidFill>
                <a:latin typeface="Calibri"/>
              </a:rPr>
              <a:t>Output is unknown, within a spectrum you set.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A procedure is a fixed recipe. A parametric system is a recipe with dials. A generative system reads its own output and decides what to do next.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FOUR PROJECTS, NINE ASSIGNMENTS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Each assignment is graded once. Each project carries its geometry into the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9144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914400" cy="84124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5939" y="1851660"/>
            <a:ext cx="98298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737360" y="1783080"/>
            <a:ext cx="9829800" cy="84124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65960" y="1874519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GRAPHIC STANDARDS MANUAL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221991"/>
            <a:ext cx="8458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GSM</a:t>
            </a:r>
            <a:r>
              <a:rPr sz="1150">
                <a:solidFill>
                  <a:srgbClr val="000000"/>
                </a:solidFill>
                <a:latin typeface="Calibri"/>
              </a:rPr>
              <a:t> four-page manual · due W10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783080"/>
            <a:ext cx="146304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" y="2802636"/>
            <a:ext cx="9144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94360" y="2734056"/>
            <a:ext cx="914400" cy="84124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3054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05939" y="2802636"/>
            <a:ext cx="98298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737360" y="2734056"/>
            <a:ext cx="9829800" cy="84124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965960" y="2825496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CONSTRUCTIVE SOLID GEOMETRY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172968"/>
            <a:ext cx="8458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P2a</a:t>
            </a:r>
            <a:r>
              <a:rPr sz="1150">
                <a:solidFill>
                  <a:srgbClr val="000000"/>
                </a:solidFill>
                <a:latin typeface="Calibri"/>
              </a:rPr>
              <a:t> CSG process sheet · due W4    </a:t>
            </a:r>
            <a:r>
              <a:rPr sz="1150" b="1">
                <a:solidFill>
                  <a:srgbClr val="000000"/>
                </a:solidFill>
                <a:latin typeface="Courier New"/>
              </a:rPr>
              <a:t>P2b</a:t>
            </a:r>
            <a:r>
              <a:rPr sz="1150">
                <a:solidFill>
                  <a:srgbClr val="000000"/>
                </a:solidFill>
                <a:latin typeface="Calibri"/>
              </a:rPr>
              <a:t> 3D printed object · due W10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4120" y="2734056"/>
            <a:ext cx="146304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14%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" y="3753612"/>
            <a:ext cx="9144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94360" y="3685032"/>
            <a:ext cx="914400" cy="8412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4360" y="4005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05939" y="3753612"/>
            <a:ext cx="98298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737360" y="3685032"/>
            <a:ext cx="9829800" cy="84124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965960" y="3776472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PANELING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4123944"/>
            <a:ext cx="8458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P3a</a:t>
            </a:r>
            <a:r>
              <a:rPr sz="1150">
                <a:solidFill>
                  <a:srgbClr val="000000"/>
                </a:solidFill>
                <a:latin typeface="Calibri"/>
              </a:rPr>
              <a:t> module sheet · due W6    </a:t>
            </a:r>
            <a:r>
              <a:rPr sz="1150" b="1">
                <a:solidFill>
                  <a:srgbClr val="000000"/>
                </a:solidFill>
                <a:latin typeface="Courier New"/>
              </a:rPr>
              <a:t>P3b</a:t>
            </a:r>
            <a:r>
              <a:rPr sz="1150">
                <a:solidFill>
                  <a:srgbClr val="000000"/>
                </a:solidFill>
                <a:latin typeface="Calibri"/>
              </a:rPr>
              <a:t> arrays, two sheets · due W8    </a:t>
            </a:r>
            <a:r>
              <a:rPr sz="1150" b="1">
                <a:solidFill>
                  <a:srgbClr val="000000"/>
                </a:solidFill>
                <a:latin typeface="Courier New"/>
              </a:rPr>
              <a:t>P3c</a:t>
            </a:r>
            <a:r>
              <a:rPr sz="1150">
                <a:solidFill>
                  <a:srgbClr val="000000"/>
                </a:solidFill>
                <a:latin typeface="Calibri"/>
              </a:rPr>
              <a:t> 2D field drawing · due W10    </a:t>
            </a:r>
            <a:r>
              <a:rPr sz="1150" b="1">
                <a:solidFill>
                  <a:srgbClr val="000000"/>
                </a:solidFill>
                <a:latin typeface="Courier New"/>
              </a:rPr>
              <a:t>P3d</a:t>
            </a:r>
            <a:r>
              <a:rPr sz="1150">
                <a:solidFill>
                  <a:srgbClr val="000000"/>
                </a:solidFill>
                <a:latin typeface="Calibri"/>
              </a:rPr>
              <a:t> layered site analysis · due W11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685032"/>
            <a:ext cx="146304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28%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704588"/>
            <a:ext cx="9144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636008"/>
            <a:ext cx="914400" cy="84124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9560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  <a:latin typeface="Arial"/>
              </a:rPr>
              <a:t>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05939" y="4704588"/>
            <a:ext cx="9829800" cy="8412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737360" y="4636008"/>
            <a:ext cx="9829800" cy="84124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65960" y="4727448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VOLUMETRIC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65960" y="5074920"/>
            <a:ext cx="8458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P4a</a:t>
            </a:r>
            <a:r>
              <a:rPr sz="1150">
                <a:solidFill>
                  <a:srgbClr val="000000"/>
                </a:solidFill>
                <a:latin typeface="Calibri"/>
              </a:rPr>
              <a:t> SDF volume · due W12    </a:t>
            </a:r>
            <a:r>
              <a:rPr sz="1150" b="1">
                <a:solidFill>
                  <a:srgbClr val="000000"/>
                </a:solidFill>
                <a:latin typeface="Courier New"/>
              </a:rPr>
              <a:t>P4b</a:t>
            </a:r>
            <a:r>
              <a:rPr sz="1150">
                <a:solidFill>
                  <a:srgbClr val="000000"/>
                </a:solidFill>
                <a:latin typeface="Calibri"/>
              </a:rPr>
              <a:t> laser-cut slices · due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04120" y="4636008"/>
            <a:ext cx="146304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28%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2940" y="5756148"/>
            <a:ext cx="10972800" cy="5486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94360" y="5687568"/>
            <a:ext cx="10972800" cy="54864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77240" y="5687568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MID-SEMESTER DEADLINE · WEEK 10 — OCT 27     FINAL BOOKLET · DUE FINAL · 18%     PARTICIPATION · 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6B6B6B"/>
                </a:solidFill>
                <a:latin typeface="Calibri"/>
              </a:rPr>
              <a:t>Everything through Arrays is due by Week 10. Later dates are provisional; the course site is the reference for every due date.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HOW A CLASS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same four things, every week.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854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943100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87451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984248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REVIEW OF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313432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We open the files. Bring the editable file, not a screenshot of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2903220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283463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" y="314553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14499" y="2903220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645919" y="283463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20240" y="2944368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DEMONSTRATION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273551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A short tutorial or discussion of the week's unit.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" y="3863339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4360" y="379475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410565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499" y="3863339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645919" y="379475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20240" y="3904487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GUIDED PRACTICE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4233671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You build the small exercise while help is in the room.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" y="4823459"/>
            <a:ext cx="777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94360" y="4754879"/>
            <a:ext cx="777240" cy="8229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94360" y="506577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14499" y="4823459"/>
            <a:ext cx="9921240" cy="822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645919" y="4754879"/>
            <a:ext cx="9921240" cy="822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920240" y="4864607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WORKING CRITIQUE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5193792"/>
            <a:ext cx="9372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We look at what is on screen and say what it needs.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" y="587502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94360" y="5806440"/>
            <a:ext cx="1097280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4400" y="580644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YOU WILL BE ASKED TO CHANGE ONE PARAMETER AND PREDICT WHAT HAPPENS. FROM THE FIRST REVIEW.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WHY THIS COMES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Every sheet you make for the next fifteen weeks uses the system you build 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A DRAWING IS READ BEFORE IT IS UNDERSTOOD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Hierarchy is what makes an architectural drawing legible — not detail, and not effort.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Line weight, spacing and restraint do more work than anything you will model this semester. A good system makes weak work readable. A bad one hides good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WHAT A SYSTEM 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87168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Page size and margins.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column grid.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type hierarchy — four levels at most.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line-weight set — four weights at most.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Three colours — black and paper count as two.</a:t>
            </a:r>
          </a:p>
          <a:p>
            <a:pPr algn="l">
              <a:lnSpc>
                <a:spcPct val="14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Three typefaces is the ceiling. Two is better.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FOUR PAGES. DECIDE IT ONCE, APPLY IT EVERY WEEK, REVISE IT AFTER CRITIQUE. NOT REMADE PER SHEET.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THREE MANUALS TO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Each one is a set of rules, drawn out, and applied to real cases. Read them as systems.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NYCTA  ·  1970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00300"/>
            <a:ext cx="3520440" cy="23317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31720"/>
            <a:ext cx="3520440" cy="23317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0392" y="25146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B6B6B"/>
                </a:solidFill>
                <a:latin typeface="Arial"/>
              </a:rPr>
              <a:t>GRAPHICS STANDARDS MANUAL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8529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A transit signage system.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401568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547872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one rule.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the drawing that dimensions it.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where it is applied.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93692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325112" y="1783080"/>
            <a:ext cx="35204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325112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NASA  ·  1975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93692" y="2400300"/>
            <a:ext cx="3520440" cy="23317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325112" y="2331720"/>
            <a:ext cx="3520440" cy="23317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81144" y="25146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B6B6B"/>
                </a:solidFill>
                <a:latin typeface="Arial"/>
              </a:rPr>
              <a:t>GRAPHICS STANDARDS 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8529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An agency identity manual.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81144" y="3401568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1144" y="3547872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one rule.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the drawing that dimensions it.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where it is applied.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4444" y="185166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55864" y="1783080"/>
            <a:ext cx="35204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55864" y="1911095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MUNICH OLYMPICS  ·  1972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4444" y="2400300"/>
            <a:ext cx="3520440" cy="23317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55864" y="2331720"/>
            <a:ext cx="3520440" cy="23317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11896" y="25146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B6B6B"/>
                </a:solidFill>
                <a:latin typeface="Arial"/>
              </a:rPr>
              <a:t>DESIGN GUIDELINES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28529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An Olympic identity system.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11896" y="3401568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1896" y="3547872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one rule.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the drawing that dimensions it.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Find where it is applied.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" y="505206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94360" y="4983480"/>
            <a:ext cx="10972800" cy="65836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77240" y="498348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D9E1"/>
                </a:solidFill>
                <a:latin typeface="Arial"/>
              </a:rPr>
              <a:t>YOUR TASK: PICK ONE RULE FROM ONE MANUAL. ADOPT IT IN YOUR GSM, AND NAME IT ON THE PAGE WHERE YOU USE 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97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6B6B6B"/>
                </a:solidFill>
                <a:latin typeface="Calibri"/>
              </a:rPr>
              <a:t>All three are linked in full under Reading and documentation. Notice how much of each one is rules rather than pictures. Yours is four pages; the principle is the same.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 VISUAL IDENTITY IS A PARAMETER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A short list of values, decided once. Every sheet this semester reads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PAGES     = 4                # the whole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SHEET     = (17, 11)         # inches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MARGIN    = 0.75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COLUMNS   =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TYPEFACES = 2                # 3 is the ceiling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TYPE      = {"title": 24, "heading": 14, "body": 9}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93191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WEIGHTS   = [0.13, 0.35, 0.70]     # thin, medium, heavy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062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COLORS    = 3                # the black counts as 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805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PALETTE   = ["#000000", "#FFFDF7", "#C6F035"]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7548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0291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# every sheet this semester reads these values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2514600"/>
            <a:ext cx="34747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composition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grid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hierarchy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typography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line weight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palette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 BINDER OF RULES AND THIS SHORT LIST ARE THE SAME DOCUMENT, AT DIFFERENT SCALES.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GSM — GRAPHIC STANDARDS MANUAL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10 — Oct 27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Build the graphic system you will communicate every later project with. It is the only assignment in the course that does not require a computational graph — it is judged purely on whether the system works and whether you used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DECIDE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Grid, margins, type, line weights, colour. Written down, not improvised.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 REAL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 diagram and a rendered image, made with the rules you just set.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REVISE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ALL SEMESTER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Due Week 10, revised again for the booklet.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GSM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Assessed on visual quality and hierarchy 40%, consistency and usability 30%, tested applications 20%, completeness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459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Make exactly four pages. Show each graphic rule beside a tested application.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22168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53588"/>
            <a:ext cx="777240" cy="72420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1510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22168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53588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745028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Use one page each for: (1) sheet size, margins, grid, columns and placement; (2) typography and hierarchy; (3) color and line weights; (4) annotations, captions and image treatment on a course sheet.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92677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24097"/>
            <a:ext cx="777240" cy="7242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856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592677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524097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615537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Use at most three typefaces, three colors including black and paper, four hierarchy levels and four line weights.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63186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94606"/>
            <a:ext cx="777240" cy="72420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561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463186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394606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486046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Study the NYCTA, NASA and Munich 1972 manuals linked under Reading and documentation. Name one rule you adopted.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33695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65115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52663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5333695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5265115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5356555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Apply the manual to every sheet and revise it after critique.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259068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6190488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4400" y="6190488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2 — Sep 1 — Bring a sample sheet for an ungraded identity check.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YOUR FIRST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set the page up and put something on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Page size set to 17 × 11 inches, with margins and a column grid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Type hierarchy chosen — up to four levels, and a reason for each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line-weight set, from hairline to heaviest — four weights at most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Three colours you can defend, black and paper included, that survive printing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sample sheet, with one decision about hierarchy you can explain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LEAVE WITH A SHEET. IT DOES NOT HAVE TO BE RIGHT YET.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WATCH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U02 — Constructive Solid Geometry. Nodes, parameters, transformations and the three Boolean operations. Watch the CSG video tutorial (Blender or Rhino + Grasshopper) linked on the Class 02 page.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INSTALL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Blender, and a project folder you can open from a clean machine. File organization is part of the workflow, not an afterthought.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Your sample sheet and the file it came from. The sheet gets an ungraded identity check next class (WEEK 2 — Sep 1).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PLAN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GSM is due at the mid-semester deadline, WEEK 10 — Oct 27. Study the three manuals and pick your rule before you lay out page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