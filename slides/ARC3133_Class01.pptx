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01  /  AUG 25  /  U01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ARC 3133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GRAPHIC STANDARDS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HOW THE WORK WILL LOOK, BEFORE THERE IS ANY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GSM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WHAT THIS COURSE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Computational methods for architectural representation and digital fabrication.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WILL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Set your own graphic standards.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Describe geometry with parameters.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Repeat it, and vary it.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Work with sampled and volumetric data.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Turn all of it into drawings and physical parts.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CARRIES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Visual quality stays central all semester — composition, hierarchy, line weight, colour, rendering, photography.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working graph supports those decisions. It does not replace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EACH PROJECT CARRIES ITS GEOMETRY INTO THE NEXT. YOU NEVER START FROM AN UNRELATED OBJECT.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a strict extension of the one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01   PROCEDURAL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Form as a fixed sequence of operations. You define the steps.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expected.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25112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02   PARAMETRIC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1144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Relationships between inputs and form. You define the rules of variation.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1144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a family — you know the range, not each member.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55864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03   GENERATIVE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4444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55864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1896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rule applied to its own output, repeatedly. You define the rule and the starting state.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1896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unknown, within a spectrum you set.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procedure is a fixed recipe. A parametric system is a recipe with dials. A generative system reads its own output and decides what to do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PROJECTS, NINE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assignment is graded once. Each project carries its geometry into the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914400" cy="8412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5939" y="1851660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737360" y="1783080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65960" y="1874519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GRAPHIC STANDARDS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221991"/>
            <a:ext cx="8046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GSM</a:t>
            </a:r>
            <a:r>
              <a:rPr sz="1150">
                <a:solidFill>
                  <a:srgbClr val="000000"/>
                </a:solidFill>
                <a:latin typeface="Calibri"/>
              </a:rPr>
              <a:t> four-page manual · due W10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783080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2802636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2734056"/>
            <a:ext cx="914400" cy="8412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05939" y="2802636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737360" y="2734056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65960" y="2825496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CONSTRUCTIVE SOLID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172968"/>
            <a:ext cx="8046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P2a</a:t>
            </a:r>
            <a:r>
              <a:rPr sz="1150">
                <a:solidFill>
                  <a:srgbClr val="000000"/>
                </a:solidFill>
                <a:latin typeface="Calibri"/>
              </a:rPr>
              <a:t> CSG process sheet · due W4 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P2b</a:t>
            </a:r>
            <a:r>
              <a:rPr sz="1150">
                <a:solidFill>
                  <a:srgbClr val="000000"/>
                </a:solidFill>
                <a:latin typeface="Calibri"/>
              </a:rPr>
              <a:t> 3D printed object · due W10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2734056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14%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3753612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685032"/>
            <a:ext cx="914400" cy="8412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4005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05939" y="3753612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737360" y="3685032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65960" y="3776472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PANELING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4123944"/>
            <a:ext cx="8046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P3a</a:t>
            </a:r>
            <a:r>
              <a:rPr sz="1150">
                <a:solidFill>
                  <a:srgbClr val="000000"/>
                </a:solidFill>
                <a:latin typeface="Calibri"/>
              </a:rPr>
              <a:t> module sheet · due W6 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P3b</a:t>
            </a:r>
            <a:r>
              <a:rPr sz="1150">
                <a:solidFill>
                  <a:srgbClr val="000000"/>
                </a:solidFill>
                <a:latin typeface="Calibri"/>
              </a:rPr>
              <a:t> arrays, two sheets · due W8 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P3c</a:t>
            </a:r>
            <a:r>
              <a:rPr sz="1150">
                <a:solidFill>
                  <a:srgbClr val="000000"/>
                </a:solidFill>
                <a:latin typeface="Calibri"/>
              </a:rPr>
              <a:t> plotter field · due W10 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P3d</a:t>
            </a:r>
            <a:r>
              <a:rPr sz="1150">
                <a:solidFill>
                  <a:srgbClr val="000000"/>
                </a:solidFill>
                <a:latin typeface="Calibri"/>
              </a:rPr>
              <a:t> site analysis · due W10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685032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04588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36008"/>
            <a:ext cx="914400" cy="8412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9560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05939" y="4704588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737360" y="4636008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65960" y="4727448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VOLUMETRIC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5074920"/>
            <a:ext cx="8046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P4a</a:t>
            </a:r>
            <a:r>
              <a:rPr sz="1150">
                <a:solidFill>
                  <a:srgbClr val="000000"/>
                </a:solidFill>
                <a:latin typeface="Calibri"/>
              </a:rPr>
              <a:t> SDF volume · due W12 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P4b</a:t>
            </a:r>
            <a:r>
              <a:rPr sz="1150">
                <a:solidFill>
                  <a:srgbClr val="000000"/>
                </a:solidFill>
                <a:latin typeface="Calibri"/>
              </a:rPr>
              <a:t> laser-cut slices · due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4636008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" y="5756148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94360" y="5687568"/>
            <a:ext cx="10972800" cy="54864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7240" y="5687568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MIDTERM REVIEW OF P1–P3 · WEEK 10 — OCT 27 · 7%     FINAL BOOKLET · DUE FINAL · 11%     PARTICIPATION · 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Dates after the midterm are provisional. The course site is the reference for every due date.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HOW A CLASS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same four things, every week.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94310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7451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8424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REVIEW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1343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open the files. Bring the editable file, not a screenshot of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290322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283463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14553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499" y="290322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645919" y="283463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20240" y="294436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DEMONSTRATION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7355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A short tutorial or discussion of the week's unit.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386333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379475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0565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499" y="386333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645919" y="379475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20240" y="390448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GUIDED PRACTICE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23367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You build the small exercise while help is in the room.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482345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475487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506577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14499" y="482345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645919" y="475487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920240" y="486460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WORKING CRITIQUE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19379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look at what is on screen and say what it needs.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87502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80644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80644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 WILL BE ASKED TO CHANGE ONE PARAMETER AND PREDICT WHAT HAPPENS. FROM THE FIRST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WHY THIS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Every sheet you make for the next fifteen weeks uses the system you build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DRAWING IS READ BEFORE IT IS UNDERSTOOD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Hierarchy is what makes an architectural drawing legible — not detail, and not effort.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Line weight, spacing and restraint do more work than anything you will model this semester. A good system makes weak work readable. A bad one hides good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WHAT A SYSTEM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Page size and margins.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column grid.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type hierarchy — four levels at most.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line-weight set — four weights at most.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Three colours — black and paper count as two.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Three typefaces is the ceiling. Two is better.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FOUR PAGES. DECIDE IT ONCE, APPLY IT EVERY WEEK, REVISE IT AFTER CRITIQUE. NOT REMADE PER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MANUALS TO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is a set of rules, drawn out, and applied to real cases. Read them as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NYCTA  ·  1970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352044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520440" cy="23317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B6B6B"/>
                </a:solidFill>
                <a:latin typeface="Arial"/>
              </a:rPr>
              <a:t>GRAPHICS STANDARDS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 transit signage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401568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47872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one rule.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the drawing that dimensions it.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where it is applied.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93692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25112" y="1783080"/>
            <a:ext cx="35204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325112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NASA  ·  1975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3692" y="2400300"/>
            <a:ext cx="352044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325112" y="2331720"/>
            <a:ext cx="3520440" cy="23317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81144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B6B6B"/>
                </a:solidFill>
                <a:latin typeface="Arial"/>
              </a:rPr>
              <a:t>GRAPHICS STANDARDS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An agency identity manual.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81144" y="3401568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3547872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one rule.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the drawing that dimensions it.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where it is applied.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4444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55864" y="178308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55864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MUNICH OLYMPICS  ·  1972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4444" y="2400300"/>
            <a:ext cx="352044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55864" y="2331720"/>
            <a:ext cx="3520440" cy="23317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11896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B6B6B"/>
                </a:solidFill>
                <a:latin typeface="Arial"/>
              </a:rPr>
              <a:t>DESIGN GUIDELINES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An Olympic identity system.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11896" y="3401568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3547872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one rule.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the drawing that dimensions it.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where it is applied.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" y="505206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94360" y="498348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77240" y="498348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YOUR TASK: PICK ONE RULE FROM ONE MANUAL. ADOPT IT IN YOUR GSM, AND NAME IT ON THE PAGE WHERE YOU USE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6B6B6B"/>
                </a:solidFill>
                <a:latin typeface="Calibri"/>
              </a:rPr>
              <a:t>All three are linked in full under Reading and documentation. Notice how much of each one is rules rather than pictures. Yours is four pages; the principle is the same.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VISUAL IDENTITY IS A PARAMETER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short list of values, decided once. Every sheet this semester reads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PAGES     = 4                # the whole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SHEET     = (17, 11)         # inches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MARGIN    = 0.75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COLUMNS   =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TYPEFACES = 2                # 3 is the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      = {"title": 24, "heading": 14, "body": 9}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WEIGHTS   = [0.13, 0.35, 0.70]     # thin, medium, heavy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COLORS    = 3                # the black counts as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805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PALETTE   = ["#000000", "#FFFDF7", "#C6F035"]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291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every sheet this semester reads these values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composition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grid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hierarchy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typography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line weight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palette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 BINDER OF RULES AND THIS SHORT LIST ARE THE SAME DOCUMENT, AT DIFFERENT SCALES.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GSM — GRAPHIC STANDARDS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Build the graphic system you will communicate every later project with. It is the only assignment in the course that does not require a computational graph — it is judged purely on whether the system works and whether you used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Grid, margins, type, line weights, colour. Written down, not improvised.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 REAL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diagram and a rendered image, made with the rules you just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REVISE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ALL SEMESTER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Due at the midterm, revised again for the booklet.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GSM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Assessed on visual quality and hierarchy 40%, consistency and usability 30%, tested applications 20%, completeness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Make exactly four pages. Show each graphic rule beside a tested application.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one page each for: (1) sheet size, margins, grid, columns and placement; (2) typography and hierarchy; (3) color and line weights; (4) annotations, captions and image treatment on a course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at most three typefaces, three colors including black and paper, four hierarchy levels and four line weights.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Study the NYCTA, NASA and Munich 1972 manuals linked under Reading and documentation. Name one rule you adopted.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Apply the manual to every sheet and revise it after critique.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2 — Sep 1 — Bring a sample sheet for an ungraded identity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set the page up and put something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Page size set to 17 × 11 inches, with margins and a column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Type hierarchy chosen — up to four levels, and a reason for each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line-weight set, from hairline to heaviest — four weights at most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Three colours you can defend, black and paper included, that survive printing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sample sheet, with one decision about hierarchy you can explain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SHEET. IT DOES NOT HAVE TO BE RIGHT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U02 — Constructive Solid Geometry. Nodes, parameters, transformations and the three Boolean operations. Watch the CSG video tutorial (Blender or Rhino + Grasshopper) linked on the Class 02 page.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INSTALL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Blender, and a project folder you can open from a clean machine. File organization is part of the workflow, not an afterthought.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sample sheet and the file it came from. The sheet gets an ungraded identity check next class (WEEK 2 — Sep 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GSM is due at the midterm, WEEK 10 — Oct 27. Study the three manuals and pick your rule before you lay out page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