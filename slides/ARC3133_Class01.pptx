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6F0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1051560"/>
            <a:ext cx="10972800" cy="2560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148132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Arial"/>
              </a:rPr>
              <a:t>CLASS 01  /  AUG 25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2125980"/>
            <a:ext cx="10149840" cy="2148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2057400"/>
            <a:ext cx="10149840" cy="2148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932688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ARC 3133</a:t>
            </a: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VISUAL IDENTITY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662940" y="4549140"/>
            <a:ext cx="676656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94360" y="4480560"/>
            <a:ext cx="6766560" cy="56692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795259" y="4549140"/>
            <a:ext cx="301752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4480560"/>
            <a:ext cx="6400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HOW THE WORK WILL LOOK, BEFORE THERE IS ANY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NOTHING DUE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8704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rial"/>
              </a:rPr>
              <a:t>GSM ISSUED TODAY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WHAT THIS COURSE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Computational methods for architectural representation and digital fabrication.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566928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566928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566928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WHAT YOU WILL 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50292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Set your own graphic standards.</a:t>
            </a:r>
          </a:p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Describe geometry with parameters.</a:t>
            </a:r>
          </a:p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Repeat it, and vary it.</a:t>
            </a:r>
          </a:p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Work with sampled and volumetric data.</a:t>
            </a:r>
          </a:p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Turn all of it into drawings and physical parts.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06540" y="1943100"/>
            <a:ext cx="502920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537960" y="1874519"/>
            <a:ext cx="502920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537960" y="1874519"/>
            <a:ext cx="502920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766560" y="187451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WHAT CARRIES THROUGH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2560320"/>
            <a:ext cx="44805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Visual quality stays central all semester — composition, hierarchy, line weight, colour, rendering, photography.</a:t>
            </a:r>
          </a:p>
          <a:p>
            <a:pPr algn="l">
              <a:lnSpc>
                <a:spcPct val="130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A working graph supports those decisions. It does not replace them.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" y="528066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94360" y="5212080"/>
            <a:ext cx="10972800" cy="6400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521208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EACH PROJECT CARRIES ITS GEOMETRY INTO THE NEXT. YOU NEVER START FROM AN UNRELATED OBJECT.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THREE PARADIGMS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Each one a strict extension of the one before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35204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3520440" cy="45720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1911095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01   PROCEDURAL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" y="2400300"/>
            <a:ext cx="3520440" cy="2606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94360" y="2331720"/>
            <a:ext cx="3520440" cy="2606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50392" y="2560320"/>
            <a:ext cx="30175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Form as a fixed sequence of operations. You define the steps.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" y="4069080"/>
            <a:ext cx="3017520" cy="0"/>
          </a:xfrm>
          <a:prstGeom prst="rect">
            <a:avLst/>
          </a:prstGeom>
          <a:noFill/>
          <a:ln w="190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4224528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00000"/>
                </a:solidFill>
                <a:latin typeface="Calibri"/>
              </a:rPr>
              <a:t>Output is expected.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93692" y="1851660"/>
            <a:ext cx="35204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325112" y="1783080"/>
            <a:ext cx="3520440" cy="45720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325112" y="1911095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02   PARAMETRIC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3692" y="2400300"/>
            <a:ext cx="3520440" cy="2606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325112" y="2331720"/>
            <a:ext cx="3520440" cy="2606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81144" y="2560320"/>
            <a:ext cx="30175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Relationships between inputs and form. You define the rules of variation.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81144" y="4069080"/>
            <a:ext cx="3017520" cy="0"/>
          </a:xfrm>
          <a:prstGeom prst="rect">
            <a:avLst/>
          </a:prstGeom>
          <a:noFill/>
          <a:ln w="190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81144" y="4224528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00000"/>
                </a:solidFill>
                <a:latin typeface="Calibri"/>
              </a:rPr>
              <a:t>Output is a family — you know the range, not each member.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24444" y="1851660"/>
            <a:ext cx="35204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8055864" y="1783080"/>
            <a:ext cx="3520440" cy="45720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055864" y="1911095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03   GENERATIVE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24444" y="2400300"/>
            <a:ext cx="3520440" cy="2606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8055864" y="2331720"/>
            <a:ext cx="3520440" cy="2606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311896" y="2560320"/>
            <a:ext cx="30175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A rule applied to its own output, repeatedly. You define the rule and the starting state.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11896" y="4069080"/>
            <a:ext cx="3017520" cy="0"/>
          </a:xfrm>
          <a:prstGeom prst="rect">
            <a:avLst/>
          </a:prstGeom>
          <a:noFill/>
          <a:ln w="190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11896" y="4224528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00000"/>
                </a:solidFill>
                <a:latin typeface="Calibri"/>
              </a:rPr>
              <a:t>Output is unknown, within a spectrum you set.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32638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257800"/>
            <a:ext cx="10972800" cy="65836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14400" y="5257800"/>
            <a:ext cx="103327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A procedure is a fixed recipe. A parametric system is a recipe with dials. A generative system reads its own output and decides what to do next.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FOUR PROJECTS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Ten short assignments, assembled into four. Nothing is graded twice.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1051560" cy="914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1051560" cy="91440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185416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000000"/>
                </a:solidFill>
                <a:latin typeface="Arial"/>
              </a:rPr>
              <a:t>P1</a:t>
            </a:r>
          </a:p>
        </p:txBody>
      </p:sp>
      <p:sp>
        <p:nvSpPr>
          <p:cNvPr id="8" name="Rectangle 7"/>
          <p:cNvSpPr/>
          <p:nvPr/>
        </p:nvSpPr>
        <p:spPr>
          <a:xfrm>
            <a:off x="1988820" y="1897380"/>
            <a:ext cx="9646920" cy="914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920240" y="1828800"/>
            <a:ext cx="9646920" cy="914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194560" y="1947672"/>
            <a:ext cx="7680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Geometry — from operations to construction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2331720"/>
            <a:ext cx="7680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alibri"/>
              </a:rPr>
              <a:t>CSG massing sequence  →  Panel from scratch  →  First print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1828800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21%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2940" y="2948940"/>
            <a:ext cx="1051560" cy="914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94360" y="2880360"/>
            <a:ext cx="1051560" cy="91440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94360" y="3236976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000000"/>
                </a:solidFill>
                <a:latin typeface="Arial"/>
              </a:rPr>
              <a:t>P2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88820" y="2948940"/>
            <a:ext cx="9646920" cy="914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920240" y="2880360"/>
            <a:ext cx="9646920" cy="914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194560" y="2999232"/>
            <a:ext cx="7680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Repetition and response — arrays to attractors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3383280"/>
            <a:ext cx="7680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alibri"/>
              </a:rPr>
              <a:t>Arrays and conditional control  →  Attractor field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0" y="2880360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14%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2940" y="4000500"/>
            <a:ext cx="1051560" cy="914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94360" y="3931920"/>
            <a:ext cx="1051560" cy="91440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94360" y="4288536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000000"/>
                </a:solidFill>
                <a:latin typeface="Arial"/>
              </a:rPr>
              <a:t>P3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988820" y="4000500"/>
            <a:ext cx="9646920" cy="914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1920240" y="3931920"/>
            <a:ext cx="9646920" cy="914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2194560" y="4050791"/>
            <a:ext cx="7680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Spatial arrays and assembly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4434840"/>
            <a:ext cx="7680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alibri"/>
              </a:rPr>
              <a:t>3D array and connection study  →  Modular print assembly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931920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14%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052059"/>
            <a:ext cx="1051560" cy="914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4983479"/>
            <a:ext cx="1051560" cy="91440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340095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000000"/>
                </a:solidFill>
                <a:latin typeface="Arial"/>
              </a:rPr>
              <a:t>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88820" y="5052059"/>
            <a:ext cx="9646920" cy="914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920240" y="4983479"/>
            <a:ext cx="9646920" cy="914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194560" y="5102351"/>
            <a:ext cx="7680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Samples, fields and sections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4560" y="5486399"/>
            <a:ext cx="7680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alibri"/>
              </a:rPr>
              <a:t>Point-cloud analysis  →  Volume, section and light  →  Sectional fabrication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84080" y="4983479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21%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2940" y="6195060"/>
            <a:ext cx="10972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94360" y="6126480"/>
            <a:ext cx="10972800" cy="56692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914400" y="6126480"/>
            <a:ext cx="10332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You do the short assignment, then revise it inside its project. The project itself adds no second grade — the revision is what the booklet rewards.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HOW A CLASS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The same four things, every week.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777240" cy="822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777240" cy="82296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185415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943100"/>
            <a:ext cx="9921240" cy="822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874519"/>
            <a:ext cx="9921240" cy="822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984248"/>
            <a:ext cx="93726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REVIEW OF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313432"/>
            <a:ext cx="93726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alibri"/>
              </a:rPr>
              <a:t>We open the files. Bring the editable file, not a screenshot of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" y="2903220"/>
            <a:ext cx="777240" cy="822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94360" y="2834639"/>
            <a:ext cx="777240" cy="82296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94360" y="3145535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14499" y="2903220"/>
            <a:ext cx="9921240" cy="822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1645919" y="2834639"/>
            <a:ext cx="9921240" cy="822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920240" y="2944368"/>
            <a:ext cx="93726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DEMONSTRATION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3273551"/>
            <a:ext cx="93726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alibri"/>
              </a:rPr>
              <a:t>A short tutorial or discussion of the week's unit.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2940" y="3863339"/>
            <a:ext cx="777240" cy="822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94360" y="3794759"/>
            <a:ext cx="777240" cy="82296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4360" y="4105655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14499" y="3863339"/>
            <a:ext cx="9921240" cy="822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645919" y="3794759"/>
            <a:ext cx="9921240" cy="822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920240" y="3904487"/>
            <a:ext cx="93726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GUIDED PRACTICE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4233671"/>
            <a:ext cx="93726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alibri"/>
              </a:rPr>
              <a:t>You build the small exercise while help is in the room.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2940" y="4823459"/>
            <a:ext cx="777240" cy="822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94360" y="4754879"/>
            <a:ext cx="777240" cy="82296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94360" y="5065775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14499" y="4823459"/>
            <a:ext cx="9921240" cy="822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1645919" y="4754879"/>
            <a:ext cx="9921240" cy="822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920240" y="4864607"/>
            <a:ext cx="93726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WORKING CRITIQUE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5193792"/>
            <a:ext cx="93726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alibri"/>
              </a:rPr>
              <a:t>We look at what is on screen and say what it needs.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2940" y="5875020"/>
            <a:ext cx="10972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94360" y="5806440"/>
            <a:ext cx="10972800" cy="56692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14400" y="5806440"/>
            <a:ext cx="10332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YOU WILL BE ASKED TO CHANGE ONE PARAMETER AND PREDICT WHAT HAPPENS. FROM THE FIRST REVIEW.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WHY THIS COMES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Every sheet you make for the next fifteen weeks uses the system you build now.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48640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48640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48640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A DRAWING IS READ BEFORE IT IS UNDERSTOOD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Hierarchy is what makes an architectural drawing legible — not detail, and not effort.</a:t>
            </a:r>
          </a:p>
          <a:p>
            <a:pPr algn="l">
              <a:lnSpc>
                <a:spcPct val="130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Line weight, spacing and restraint do more work than anything you will model this semester. A good system makes weak work readable. A bad one hides good 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69380" y="1851660"/>
            <a:ext cx="516636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400800" y="1783080"/>
            <a:ext cx="516636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400800" y="1783080"/>
            <a:ext cx="516636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629400" y="1783080"/>
            <a:ext cx="4709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WHAT A SYSTEM 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487168"/>
            <a:ext cx="46177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Page size and margins.</a:t>
            </a:r>
          </a:p>
          <a:p>
            <a:pPr algn="l">
              <a:lnSpc>
                <a:spcPct val="14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A column grid.</a:t>
            </a:r>
          </a:p>
          <a:p>
            <a:pPr algn="l">
              <a:lnSpc>
                <a:spcPct val="14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A type hierarchy — three levels, no more.</a:t>
            </a:r>
          </a:p>
          <a:p>
            <a:pPr algn="l">
              <a:lnSpc>
                <a:spcPct val="14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A line-weight set — four weights.</a:t>
            </a:r>
          </a:p>
          <a:p>
            <a:pPr algn="l">
              <a:lnSpc>
                <a:spcPct val="14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A palette of three colours, and the black is one of them.</a:t>
            </a:r>
          </a:p>
          <a:p>
            <a:pPr algn="l">
              <a:lnSpc>
                <a:spcPct val="14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Three typefaces is the ceiling. Two is better.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" y="523494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94360" y="5166360"/>
            <a:ext cx="10972800" cy="65836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5166360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DECIDE IT ONCE, APPLY IT EVERY WEEK, REVISE IT AT THE MIDTERM. IT IS NOT REMADE PER SHEET.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THREE MANUALS WORTH STEALING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This document type has a history. Each one is a page grid, a type hierarchy, and a rule for every case that comes up.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3520440" cy="17373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3520440" cy="1737360"/>
          </a:xfrm>
          <a:prstGeom prst="rect">
            <a:avLst/>
          </a:prstGeom>
          <a:solidFill>
            <a:srgbClr val="F4F4EE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297180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>
                <a:solidFill>
                  <a:srgbClr val="6B6B6B"/>
                </a:solidFill>
                <a:latin typeface="Calibri"/>
              </a:rPr>
              <a:t>Add: a spread from the NYCTA manual - a signage case with its dimensioned rule.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" y="3680460"/>
            <a:ext cx="3520440" cy="43891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94360" y="3611880"/>
            <a:ext cx="3520440" cy="43891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730752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NYCTA GRAPHICS STANDARDS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187952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>
                <a:solidFill>
                  <a:srgbClr val="6B6B6B"/>
                </a:solidFill>
                <a:latin typeface="Calibri"/>
              </a:rPr>
              <a:t>Massimo Vignelli and Bob Noorda, Unimark - 1970 - archive.org/details/nycta-gs-manual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26280"/>
            <a:ext cx="34290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A binder of cases. Every sign in the New York subway, drawn at size, with the rule beside it. The manual is the design - the signs are what falls out of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93692" y="1851660"/>
            <a:ext cx="3520440" cy="17373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325112" y="1783080"/>
            <a:ext cx="3520440" cy="1737360"/>
          </a:xfrm>
          <a:prstGeom prst="rect">
            <a:avLst/>
          </a:prstGeom>
          <a:solidFill>
            <a:srgbClr val="F4F4EE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599432" y="1783080"/>
            <a:ext cx="297180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>
                <a:solidFill>
                  <a:srgbClr val="6B6B6B"/>
                </a:solidFill>
                <a:latin typeface="Calibri"/>
              </a:rPr>
              <a:t>Add: a page from the NASA manual - the mark with its clearance and placement rules.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3692" y="3680460"/>
            <a:ext cx="3520440" cy="43891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325112" y="3611880"/>
            <a:ext cx="3520440" cy="43891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325112" y="3730752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NASA GRAPHICS STANDARDS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70832" y="4187952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>
                <a:solidFill>
                  <a:srgbClr val="6B6B6B"/>
                </a:solidFill>
                <a:latin typeface="Calibri"/>
              </a:rPr>
              <a:t>Richard Danne and Bruce Blackburn - 1975 - archive.org/details/NASA_Graphics_Standards_Manual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0832" y="4526280"/>
            <a:ext cx="34290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One mark, and a hundred pages of where it is allowed to go. What is being designed is the consistency, not the logotype.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24444" y="1851660"/>
            <a:ext cx="3520440" cy="17373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8055864" y="1783080"/>
            <a:ext cx="3520440" cy="1737360"/>
          </a:xfrm>
          <a:prstGeom prst="rect">
            <a:avLst/>
          </a:prstGeom>
          <a:solidFill>
            <a:srgbClr val="F4F4EE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330184" y="1783080"/>
            <a:ext cx="297180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>
                <a:solidFill>
                  <a:srgbClr val="6B6B6B"/>
                </a:solidFill>
                <a:latin typeface="Calibri"/>
              </a:rPr>
              <a:t>Add: the Munich 1972 pictogram sheet, and the construction grid behind one figure.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24444" y="3680460"/>
            <a:ext cx="3520440" cy="43891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8055864" y="3611880"/>
            <a:ext cx="3520440" cy="43891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055864" y="3730752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MUNICH 1972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01584" y="4187952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>
                <a:solidFill>
                  <a:srgbClr val="6B6B6B"/>
                </a:solidFill>
                <a:latin typeface="Calibri"/>
              </a:rPr>
              <a:t>Otl Aicher - 1967 to 1972 - otlaicher.de, 'the rainbow games'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01584" y="4526280"/>
            <a:ext cx="34290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A grid, a fixed set of angles, and one component varied across a whole field of pictograms. You will build a system with this exact structure in Week 4.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737860"/>
            <a:ext cx="10972800" cy="5943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669280"/>
            <a:ext cx="10972800" cy="594360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77240" y="5669280"/>
            <a:ext cx="106070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D9E1"/>
                </a:solidFill>
                <a:latin typeface="Arial"/>
              </a:rPr>
              <a:t>YOURS IS FOUR PAGES, NOT THREE HUNDRED. THE PRINCIPLE IS IDENTICAL: DECIDE ONCE, WRITE IT DOWN, APPLY IT EVERY TIME.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6400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6B6B6B"/>
                </a:solidFill>
                <a:latin typeface="Calibri"/>
              </a:rPr>
              <a:t>All three are online in full, linked on the U01 lesson page and under Reading. Look at how much of each one is rules rather than pictures.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A VISUAL IDENTITY IS A PARAMETER 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A short list of values, decided once. Every sheet this semester reads them.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6858000" cy="3794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6858000" cy="37947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86968" y="20116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PAGES     = 4                # the whole manual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2860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SHEET     = (17, 11)         # inches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560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MARGIN    = 0.75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83463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COLUMNS   =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10895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38327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TYPEFACES = 2                # 3 is the ceiling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365759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TYPE      = {"title": 24, "heading": 14, "body": 9}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93191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WEIGHTS   = [0.13, 0.35, 0.70]     # thin, medium, heavy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20623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COLORS    = 3                # the black counts as 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448055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PALETTE   = ["#000000", "#FFFDF7", "#C6F035"]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475487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502919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# every sheet this semester reads these values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03819" y="1897380"/>
            <a:ext cx="3931920" cy="3794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5240" y="1828800"/>
            <a:ext cx="3931920" cy="37947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7635240" y="1828800"/>
            <a:ext cx="393192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863840" y="182880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WHAT IT MAPS ONTO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2514600"/>
            <a:ext cx="347472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composition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grid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hierarchy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typography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line weight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palette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" y="5966460"/>
            <a:ext cx="10972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94360" y="5897880"/>
            <a:ext cx="1097280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7240" y="589788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A BINDER OF RULES AND THIS SHORT LIST ARE THE SAME DOCUMENT, AT DIFFERENT SCALES.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2940" y="635508"/>
            <a:ext cx="2194560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94360" y="566928"/>
            <a:ext cx="2194560" cy="38404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ISSUED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52144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DF7"/>
                </a:solidFill>
                <a:latin typeface="Arial"/>
              </a:rPr>
              <a:t>GSM — GRAPHIC STANDARDS MANUAL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810512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929384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E500"/>
                </a:solidFill>
                <a:latin typeface="Arial"/>
              </a:rPr>
              <a:t>DUE WEEK 8 — Oct 13   /   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FFFDF7"/>
                </a:solidFill>
                <a:latin typeface="Calibri"/>
              </a:rPr>
              <a:t>Build the graphic system you will communicate every later project with. It is the only assignment in the course that does not require a computational graph — it is judged purely on whether the system works and whether you used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62940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94360" y="3611880"/>
            <a:ext cx="3517391" cy="4114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DECIDE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94360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0392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THE 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Grid, margins, type, line weights, colour. Written down, not improvised.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0644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322064" y="3611880"/>
            <a:ext cx="3517391" cy="4114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322064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TEST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90644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322064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78096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ON REAL 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8096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A diagram and a rendered image, made with the rules you just set.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18347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049767" y="3611880"/>
            <a:ext cx="3517391" cy="4114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049767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REVISE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18347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049767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305799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ALL SEMESTER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5799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Due at the midterm, revised again for the booklet.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REQUIREMENTS — GSM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Assessed on visual quality and hierarchy 40%, consistency and usability 30%, tested applications 20%, completeness 10%.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777240" cy="72420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04459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51660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783080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874519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Four pages, and no more. The manual is the graphic system itself, shown in use: rules with a tested application beside each one, not a description of intentions.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722168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653588"/>
            <a:ext cx="777240" cy="724204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2915107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722168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653588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745028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One page per decision: (1) the template — sheet size, margins, grid and columns, with the placement rules; (2) typography and hierarchy; (3) color and line weights; (4) annotation, captions and image treatment, demonstrated on a real sheet from this course.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592677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524097"/>
            <a:ext cx="777240" cy="724204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785615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3592677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3524097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3615537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Use no more than three typefaces, three colors in total — black, the paper and every accent count toward the three — four hierarchy levels and four line weights.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63186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394606"/>
            <a:ext cx="777240" cy="72420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56124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14499" y="4463186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645919" y="4394606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920240" y="4486046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Study the three manuals shown in Class 01 — NYCTA, NASA and Munich 1972 — and name one rule you took from them. All three are linked in full under reading and documentation.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333695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265115"/>
            <a:ext cx="777240" cy="72420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526633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14499" y="5333695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645919" y="5265115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920240" y="5356555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Apply the manual to every sheet; revise it in response to actual use and critique.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259068"/>
            <a:ext cx="10972800" cy="51206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6190488"/>
            <a:ext cx="10972800" cy="51206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14400" y="6190488"/>
            <a:ext cx="10332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000000"/>
                </a:solidFill>
                <a:latin typeface="Arial"/>
              </a:rPr>
              <a:t>CHECKPOINT · WEEK 2 — Sep 1 — Bring a sample sheet for an ungraded identity check.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D9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NOW — YOUR FIRST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91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alibri"/>
              </a:rPr>
              <a:t>Rest of the session: set the page up and put something on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235458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228600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46888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9051" y="235458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490472" y="228600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764792" y="228600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Page size set to 17 × 11 inches, with margins and a column grid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3067812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999232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182112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59051" y="3067812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490472" y="2999232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764792" y="2999232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Type hierarchy chosen — three levels, and a reason for each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781044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712464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895344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9051" y="3781044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490472" y="3712464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764792" y="3712464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A line-weight set, from hairline to heaviest — four weights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94276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425696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08576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59051" y="4494276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490472" y="4425696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764792" y="4425696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Three colours you can defend, black included, that survive being printed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207508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138928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321808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59051" y="5207508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490472" y="5138928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764792" y="5138928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One sample sheet, with one decision about hierarchy you can explain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012180"/>
            <a:ext cx="841248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D9E1"/>
                </a:solidFill>
                <a:latin typeface="Arial"/>
              </a:rPr>
              <a:t>LEAVE WITH A SHEET. IT DOES NOT HAVE TO BE RIGHT YET.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BEFORE NEXT CLASS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1851660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1783080"/>
            <a:ext cx="1508760" cy="80467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WATCH</a:t>
            </a:r>
          </a:p>
        </p:txBody>
      </p:sp>
      <p:sp>
        <p:nvSpPr>
          <p:cNvPr id="7" name="Rectangle 6"/>
          <p:cNvSpPr/>
          <p:nvPr/>
        </p:nvSpPr>
        <p:spPr>
          <a:xfrm>
            <a:off x="2446020" y="1851660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377440" y="1783080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51760" y="1901952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U02 — Transformations and CSG. The node editor, parameters, and the three Boolean operations. Check the unit page; watch a recording only once a link is posted.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" y="2912364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94360" y="2843784"/>
            <a:ext cx="1508760" cy="80467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3145536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INSTALL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6020" y="2912364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2377440" y="2843784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651760" y="2962656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Blender, and set up a project folder you can open from a clean machine. File organization is part of the workflow, not an afterthought.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" y="3973068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94360" y="3904487"/>
            <a:ext cx="1508760" cy="80467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420624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BRING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6020" y="3973068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377440" y="3904487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651760" y="4023359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Your sample sheet and the file it came from.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033772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4965192"/>
            <a:ext cx="1508760" cy="80467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526694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LOOK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6020" y="5033772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377440" y="4965192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651760" y="5084064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Three architectural drawings you think are well made. Be ready to say what makes each one readable.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