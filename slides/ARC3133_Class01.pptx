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16" d="100"/>
          <a:sy n="116" d="100"/>
        </p:scale>
        <p:origin x="276" y="-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71218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Today: what the course is, how it runs, the one big idea, and your first assignment.
Don't open software today — this is the framing 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what do you hand in at the end of a studio? One building.
Here the deliverable is the system. The images are evidence of the system.
This sentence is the whole course.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 this on the board too. Everything we build fits here.
The question that separates the three paradigms: how determined is the output?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Spend real time here — this table is the course outline.
The YOU DEFINE row is the ladder: steps → relationships → rules.
Watch for the obvious question: if parametric always gives the same output for the same input, why is it only PARTIALLY expected? Answer: because you are defining a SPACE, not a result. You know its range, not every member. That is the whole point.
Ask the room for an example of each before you give yours.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instruction aloud. Two lines, and it produces a drawing nobody designed.
Then ask what is still undecided: how random is random? How big is the sheet? Do lines cross?
Every execution differs — that ambiguity was the point for LeWitt. In assignment 0.1 you must do the opposite and pin the outcome down.
Also flag forward: points, nearest neighbours, connecting lines — that is Module 1, and it is what the plotter draws.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quarters of the semester lives here.
Show a Grasshopper definition on screen — move one slider, let them watch everything update.
That visible cause-and-effect is why we work in graphs.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Conway's Life running (copy.sh/life) — 20 seconds.
Four rules, no design, and it produces things nobody specified.
That's the last three weeks of this course.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blunt about step 2. A session spent watching what you could have watched at home is wasted.
Everything is in two versions — pick your environment and stay in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the fabrication column. Everything you compute, you also make.
That's what makes this different from a software 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pages is a constraint, not a minimum. A system you can't state in four pages isn't a system.
Due Class 4 — you'll have done 0.1 by then, so it gets tested against real work.
Every sheet for the rest of the semester uses 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building matters — say the constraint clearly. Orthogonal massing, no complex curves.
If they pick Fallingwater they cannot describe it in five Booleans and the exercise fails.
Have a fallback list ready.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Leave this up while they ask. Repeat the three words — they'll hear them all semester.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video" Target="https://www.youtube.com/embed/LFSkY2kgLqc?feature=oembed" TargetMode="External"/><Relationship Id="rId4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E5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1051560"/>
            <a:ext cx="10972800" cy="256032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148132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 3133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62940" y="2125980"/>
            <a:ext cx="10149840" cy="242316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10149840" cy="242316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2212848"/>
            <a:ext cx="9326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4000" b="1" kern="0" spc="-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ARCHITECTURAL</a:t>
            </a:r>
            <a:endParaRPr lang="en-US" sz="4000" dirty="0"/>
          </a:p>
          <a:p>
            <a:pPr marL="0" indent="0">
              <a:lnSpc>
                <a:spcPts val="4400"/>
              </a:lnSpc>
              <a:buNone/>
            </a:pPr>
            <a:r>
              <a:rPr lang="en-US" sz="4000" b="1" kern="0" spc="-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VISUALIZATION</a:t>
            </a:r>
            <a:endParaRPr lang="en-US" sz="4000" dirty="0"/>
          </a:p>
          <a:p>
            <a:pPr marL="0" indent="0">
              <a:lnSpc>
                <a:spcPts val="4400"/>
              </a:lnSpc>
              <a:buNone/>
            </a:pPr>
            <a:r>
              <a:rPr lang="en-US" sz="4000" b="1" kern="0" spc="-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METHODS 1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662940" y="4823460"/>
            <a:ext cx="6583680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94360" y="4754880"/>
            <a:ext cx="6583680" cy="566928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68680" y="4873752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COMPUTATIONAL VISUALIZATION + DIGITAL FABRICATION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94360" y="58704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 2026   /   TUESDAYS 5:00–7:50 PM   /   LUIS PACHECO ALCALA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2940" y="1303020"/>
            <a:ext cx="10972800" cy="3337560"/>
          </a:xfrm>
          <a:prstGeom prst="rect">
            <a:avLst/>
          </a:prstGeom>
          <a:solidFill>
            <a:srgbClr val="FFE500"/>
          </a:solidFill>
          <a:ln w="6350">
            <a:solidFill>
              <a:srgbClr val="FFE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94360" y="1234440"/>
            <a:ext cx="10972800" cy="3337560"/>
          </a:xfrm>
          <a:prstGeom prst="rect">
            <a:avLst/>
          </a:prstGeom>
          <a:solidFill>
            <a:srgbClr val="FF4D8D"/>
          </a:solidFill>
          <a:ln w="349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97280" y="1572768"/>
            <a:ext cx="99669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2600" b="1" kern="0" spc="-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DESIGNER IS NO LONGER MAKING CHOICES ABOUT A SINGLE, FINAL OBJECT — BUT CREATING A MATRIX ENCOMPASSING AN ENTIRE POPULATION OF POSSIBLE DESIGNS.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62940" y="5052060"/>
            <a:ext cx="7680960" cy="640080"/>
          </a:xfrm>
          <a:prstGeom prst="rect">
            <a:avLst/>
          </a:prstGeom>
          <a:solidFill>
            <a:srgbClr val="FF4D8D"/>
          </a:solidFill>
          <a:ln w="6350">
            <a:solidFill>
              <a:srgbClr val="FF4D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94360" y="4983480"/>
            <a:ext cx="7680960" cy="640080"/>
          </a:xfrm>
          <a:prstGeom prst="rect">
            <a:avLst/>
          </a:prstGeom>
          <a:solidFill>
            <a:srgbClr val="FFE500"/>
          </a:solidFill>
          <a:ln w="349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512064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WHAT CHANGES WHEN YOU DESIGN WITH CODE.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66928"/>
            <a:ext cx="10972800" cy="0"/>
          </a:xfrm>
          <a:prstGeom prst="line">
            <a:avLst/>
          </a:prstGeom>
          <a:noFill/>
          <a:ln w="508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kern="0" spc="-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COMPUTATIONAL SYSTEM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94360" y="1261872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…has the same three parts. What changes is how much you control the third.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25780" y="2217420"/>
            <a:ext cx="3200400" cy="233172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2148840"/>
            <a:ext cx="3200400" cy="2331720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244144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-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77240" y="2953512"/>
            <a:ext cx="2560320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" y="310896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14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4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 rot="5400000">
            <a:off x="3904488" y="3136392"/>
            <a:ext cx="310896" cy="365760"/>
          </a:xfrm>
          <a:prstGeom prst="triangle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49140" y="2217420"/>
            <a:ext cx="3200400" cy="233172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480560" y="2148840"/>
            <a:ext cx="3200400" cy="2331720"/>
          </a:xfrm>
          <a:prstGeom prst="rect">
            <a:avLst/>
          </a:prstGeom>
          <a:solidFill>
            <a:srgbClr val="C6F035"/>
          </a:solidFill>
          <a:ln w="349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00600" y="244144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-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800600" y="2953512"/>
            <a:ext cx="2560320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00600" y="310896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4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</a:t>
            </a:r>
            <a:endParaRPr lang="en-US" sz="14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 tree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 rot="5400000">
            <a:off x="7927848" y="3136392"/>
            <a:ext cx="310896" cy="365760"/>
          </a:xfrm>
          <a:prstGeom prst="triangle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572500" y="2217420"/>
            <a:ext cx="3200400" cy="233172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503920" y="2148840"/>
            <a:ext cx="3200400" cy="2331720"/>
          </a:xfrm>
          <a:prstGeom prst="rect">
            <a:avLst/>
          </a:prstGeom>
          <a:solidFill>
            <a:srgbClr val="FF4D8D"/>
          </a:solidFill>
          <a:ln w="349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823960" y="244144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-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8823960" y="2953512"/>
            <a:ext cx="2560320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823960" y="310896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66928"/>
            <a:ext cx="10972800" cy="0"/>
          </a:xfrm>
          <a:prstGeom prst="line">
            <a:avLst/>
          </a:prstGeom>
          <a:noFill/>
          <a:ln w="508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kern="0" spc="-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PARADIGMS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94360" y="1261872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course, in one table. Each one extends the last.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1714500"/>
            <a:ext cx="3429000" cy="416052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88620" y="1645920"/>
            <a:ext cx="3429000" cy="416052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88620" y="1645920"/>
            <a:ext cx="3429000" cy="868680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26364" y="1783080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1394460" y="188366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PROCEDURAL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26364" y="2606040"/>
            <a:ext cx="2953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26364" y="2825496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 sequence</a:t>
            </a:r>
            <a:endParaRPr lang="en-US" sz="12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operations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26364" y="3429000"/>
            <a:ext cx="2953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DEFINE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26364" y="3648456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b="1" kern="0" spc="-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STEPS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6364" y="4206240"/>
            <a:ext cx="2953512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6364" y="4315968"/>
            <a:ext cx="2953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IS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26364" y="4535424"/>
            <a:ext cx="2953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b="1" kern="0" spc="-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EXPECTED</a:t>
            </a:r>
            <a:endParaRPr lang="en-US" sz="13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300" b="1" kern="0" spc="-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6364" y="5285232"/>
            <a:ext cx="2953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interested primarily in instructions.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94944" y="6030468"/>
            <a:ext cx="2953512" cy="38404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26364" y="5961888"/>
            <a:ext cx="2953512" cy="384048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26364" y="6025896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434840" y="1714500"/>
            <a:ext cx="3429000" cy="416052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366260" y="1645920"/>
            <a:ext cx="3429000" cy="416052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366260" y="1645920"/>
            <a:ext cx="3429000" cy="868680"/>
          </a:xfrm>
          <a:prstGeom prst="rect">
            <a:avLst/>
          </a:prstGeom>
          <a:solidFill>
            <a:srgbClr val="C6F035"/>
          </a:solidFill>
          <a:ln w="349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604004" y="1783080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300" dirty="0"/>
          </a:p>
        </p:txBody>
      </p:sp>
      <p:sp>
        <p:nvSpPr>
          <p:cNvPr id="25" name="Text 23"/>
          <p:cNvSpPr/>
          <p:nvPr/>
        </p:nvSpPr>
        <p:spPr>
          <a:xfrm>
            <a:off x="5372100" y="188366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PARAMETRIC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4604004" y="2606040"/>
            <a:ext cx="2953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604004" y="2825496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 between</a:t>
            </a:r>
            <a:endParaRPr lang="en-US" sz="12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and form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604004" y="3429000"/>
            <a:ext cx="2953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DEFINE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604004" y="3648456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b="1" kern="0" spc="-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RULES OF</a:t>
            </a:r>
            <a:endParaRPr lang="en-US" sz="13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300" b="1" kern="0" spc="-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VARIATION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604004" y="4206240"/>
            <a:ext cx="2953512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604004" y="4315968"/>
            <a:ext cx="2953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IS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604004" y="4535424"/>
            <a:ext cx="2953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b="1" kern="0" spc="-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FAMILY — YOU</a:t>
            </a:r>
            <a:endParaRPr lang="en-US" sz="13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300" b="1" kern="0" spc="-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THE RANGE,</a:t>
            </a:r>
            <a:endParaRPr lang="en-US" sz="13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300" b="1" kern="0" spc="-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EACH MEMBER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604004" y="5285232"/>
            <a:ext cx="2953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inputs always produce the same output.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672584" y="6030468"/>
            <a:ext cx="2953512" cy="38404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604004" y="5961888"/>
            <a:ext cx="2953512" cy="384048"/>
          </a:xfrm>
          <a:prstGeom prst="rect">
            <a:avLst/>
          </a:prstGeom>
          <a:solidFill>
            <a:srgbClr val="C6F035"/>
          </a:solidFill>
          <a:ln w="349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604004" y="6025896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MODULES 1–3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412480" y="1714500"/>
            <a:ext cx="3429000" cy="416052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8343900" y="1645920"/>
            <a:ext cx="3429000" cy="416052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8343900" y="1645920"/>
            <a:ext cx="3429000" cy="868680"/>
          </a:xfrm>
          <a:prstGeom prst="rect">
            <a:avLst/>
          </a:prstGeom>
          <a:solidFill>
            <a:srgbClr val="FF4D8D"/>
          </a:solidFill>
          <a:ln w="349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8581644" y="1783080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300" dirty="0"/>
          </a:p>
        </p:txBody>
      </p:sp>
      <p:sp>
        <p:nvSpPr>
          <p:cNvPr id="41" name="Text 39"/>
          <p:cNvSpPr/>
          <p:nvPr/>
        </p:nvSpPr>
        <p:spPr>
          <a:xfrm>
            <a:off x="9349740" y="188366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GENERATIVE</a:t>
            </a: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8581644" y="2606040"/>
            <a:ext cx="2953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8581644" y="2825496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rule applied to its</a:t>
            </a:r>
            <a:endParaRPr lang="en-US" sz="12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output, repeatedly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8581644" y="3429000"/>
            <a:ext cx="2953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DEFINE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8581644" y="3648456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b="1" kern="0" spc="-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RULE + THE</a:t>
            </a:r>
            <a:endParaRPr lang="en-US" sz="13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300" b="1" kern="0" spc="-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STARTING STATE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8581644" y="4206240"/>
            <a:ext cx="2953512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8581644" y="4315968"/>
            <a:ext cx="2953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IS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8581644" y="4535424"/>
            <a:ext cx="2953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b="1" kern="0" spc="-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UNKNOWN, WITHIN</a:t>
            </a:r>
            <a:endParaRPr lang="en-US" sz="13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300" b="1" kern="0" spc="-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SPECTRUM YOU SET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8581644" y="5285232"/>
            <a:ext cx="2953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 are iterated by the algorithm itself.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8650224" y="6030468"/>
            <a:ext cx="2953512" cy="38404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8581644" y="5961888"/>
            <a:ext cx="2953512" cy="384048"/>
          </a:xfrm>
          <a:prstGeom prst="rect">
            <a:avLst/>
          </a:prstGeom>
          <a:solidFill>
            <a:srgbClr val="FF4D8D"/>
          </a:solidFill>
          <a:ln w="349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8581644" y="6025896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66928"/>
            <a:ext cx="10972800" cy="0"/>
          </a:xfrm>
          <a:prstGeom prst="line">
            <a:avLst/>
          </a:prstGeom>
          <a:noFill/>
          <a:ln w="50800">
            <a:solidFill>
              <a:srgbClr val="FFFD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kern="0" spc="-60" dirty="0">
                <a:solidFill>
                  <a:srgbClr val="FFF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— PROCEDURAL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94360" y="1261872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as a set of instructions. Output: expected.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62940" y="1897380"/>
            <a:ext cx="5029200" cy="2514600"/>
          </a:xfrm>
          <a:prstGeom prst="rect">
            <a:avLst/>
          </a:prstGeom>
          <a:solidFill>
            <a:srgbClr val="FFFDF7"/>
          </a:solidFill>
          <a:ln w="6350">
            <a:solidFill>
              <a:srgbClr val="FFFD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94360" y="1828800"/>
            <a:ext cx="5029200" cy="2514600"/>
          </a:xfrm>
          <a:prstGeom prst="rect">
            <a:avLst/>
          </a:prstGeom>
          <a:solidFill>
            <a:srgbClr val="EDEDE6"/>
          </a:solidFill>
          <a:ln w="349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94360" y="1828800"/>
            <a:ext cx="5029200" cy="2514600"/>
          </a:xfrm>
          <a:prstGeom prst="line">
            <a:avLst/>
          </a:prstGeom>
          <a:noFill/>
          <a:ln w="15875">
            <a:solidFill>
              <a:srgbClr val="C9C9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94360" y="4343400"/>
            <a:ext cx="5029200" cy="0"/>
          </a:xfrm>
          <a:prstGeom prst="line">
            <a:avLst/>
          </a:prstGeom>
          <a:noFill/>
          <a:ln w="15875">
            <a:solidFill>
              <a:srgbClr val="C9C9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057400" y="2830068"/>
            <a:ext cx="2103120" cy="512064"/>
          </a:xfrm>
          <a:prstGeom prst="rect">
            <a:avLst/>
          </a:prstGeom>
          <a:solidFill>
            <a:srgbClr val="FFFDF7"/>
          </a:solidFill>
          <a:ln w="254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057400" y="2912364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LEWITT WALL DRAWING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442569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Add: a LeWitt wall drawing beside its written instruction.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62940" y="4777740"/>
            <a:ext cx="5029200" cy="1097280"/>
          </a:xfrm>
          <a:prstGeom prst="rect">
            <a:avLst/>
          </a:prstGeom>
          <a:solidFill>
            <a:srgbClr val="FFFDF7"/>
          </a:solidFill>
          <a:ln w="6350">
            <a:solidFill>
              <a:srgbClr val="FFFD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94360" y="4709160"/>
            <a:ext cx="5029200" cy="1097280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68680" y="4882896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 IS the instruction. Someone else executes it — LeWitt often never touched the wall.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32220" y="1897380"/>
            <a:ext cx="5303520" cy="3977640"/>
          </a:xfrm>
          <a:prstGeom prst="rect">
            <a:avLst/>
          </a:prstGeom>
          <a:solidFill>
            <a:srgbClr val="00D9E1"/>
          </a:solidFill>
          <a:ln w="6350">
            <a:solidFill>
              <a:srgbClr val="00D9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263640" y="1828800"/>
            <a:ext cx="5303520" cy="397764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263640" y="1828800"/>
            <a:ext cx="5303520" cy="457200"/>
          </a:xfrm>
          <a:prstGeom prst="rect">
            <a:avLst/>
          </a:prstGeom>
          <a:solidFill>
            <a:srgbClr val="FFE500"/>
          </a:solidFill>
          <a:ln w="349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537960" y="19019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INSTRUCTION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37960" y="2395728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 Place twenty points at random</a:t>
            </a:r>
            <a:endParaRPr lang="en-US" sz="125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on the sheet.</a:t>
            </a:r>
            <a:endParaRPr lang="en-US" sz="125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 Connect each point to its two</a:t>
            </a:r>
            <a:endParaRPr lang="en-US" sz="125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nearest neighbours with a</a:t>
            </a:r>
            <a:endParaRPr lang="en-US" sz="125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straight line.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537960" y="3950208"/>
            <a:ext cx="2194560" cy="1298448"/>
          </a:xfrm>
          <a:prstGeom prst="rect">
            <a:avLst/>
          </a:prstGeom>
          <a:solidFill>
            <a:srgbClr val="FFFDF7"/>
          </a:solidFill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896222" y="4266408"/>
            <a:ext cx="82296" cy="82296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361469" y="4151742"/>
            <a:ext cx="82296" cy="82296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846101" y="4287256"/>
            <a:ext cx="82296" cy="82296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8291962" y="4193438"/>
            <a:ext cx="82296" cy="82296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051304" y="4527012"/>
            <a:ext cx="82296" cy="82296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574707" y="4464467"/>
            <a:ext cx="82296" cy="82296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078724" y="4579132"/>
            <a:ext cx="82296" cy="82296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8427659" y="4474891"/>
            <a:ext cx="82296" cy="82296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838066" y="4808464"/>
            <a:ext cx="82296" cy="82296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283928" y="4745919"/>
            <a:ext cx="82296" cy="82296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7749174" y="4860585"/>
            <a:ext cx="82296" cy="82296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8175650" y="4777191"/>
            <a:ext cx="82296" cy="82296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7167616" y="4975250"/>
            <a:ext cx="82296" cy="82296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7904256" y="5016947"/>
            <a:ext cx="82296" cy="82296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537960" y="530352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THE POINTS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9098280" y="3950208"/>
            <a:ext cx="2194560" cy="1298448"/>
          </a:xfrm>
          <a:prstGeom prst="rect">
            <a:avLst/>
          </a:prstGeom>
          <a:solidFill>
            <a:srgbClr val="FFFDF7"/>
          </a:solidFill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9497690" y="4307556"/>
            <a:ext cx="155082" cy="260604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9497690" y="4307556"/>
            <a:ext cx="465247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9962937" y="4192890"/>
            <a:ext cx="0" cy="114666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9962937" y="4192890"/>
            <a:ext cx="484632" cy="135514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10447569" y="4328404"/>
            <a:ext cx="0" cy="177211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10447569" y="4328404"/>
            <a:ext cx="445861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10893430" y="4234586"/>
            <a:ext cx="0" cy="93817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10893430" y="4234586"/>
            <a:ext cx="135697" cy="281452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9652772" y="4568160"/>
            <a:ext cx="232623" cy="218907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9652772" y="4568160"/>
            <a:ext cx="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10176175" y="4505615"/>
            <a:ext cx="271394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10176175" y="4505615"/>
            <a:ext cx="0" cy="62545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10680192" y="4620280"/>
            <a:ext cx="96926" cy="198059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10680192" y="4620280"/>
            <a:ext cx="348935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11029127" y="4516039"/>
            <a:ext cx="0" cy="104242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11029127" y="4516039"/>
            <a:ext cx="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9439534" y="4849612"/>
            <a:ext cx="329550" cy="166787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9439534" y="4849612"/>
            <a:ext cx="445861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9885396" y="4787067"/>
            <a:ext cx="0" cy="229332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9885396" y="4787067"/>
            <a:ext cx="0" cy="62545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10350642" y="4901733"/>
            <a:ext cx="155082" cy="156362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10350642" y="4901733"/>
            <a:ext cx="426476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10777118" y="4818339"/>
            <a:ext cx="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10777118" y="4818339"/>
            <a:ext cx="0" cy="83393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9769084" y="5016398"/>
            <a:ext cx="116312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9769084" y="5016398"/>
            <a:ext cx="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10505724" y="5058095"/>
            <a:ext cx="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10505724" y="5058095"/>
            <a:ext cx="271394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9456542" y="4266408"/>
            <a:ext cx="82296" cy="82296"/>
          </a:xfrm>
          <a:prstGeom prst="ellipse">
            <a:avLst/>
          </a:prstGeom>
          <a:solidFill>
            <a:srgbClr val="FF4D8D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9921789" y="4151742"/>
            <a:ext cx="82296" cy="82296"/>
          </a:xfrm>
          <a:prstGeom prst="ellipse">
            <a:avLst/>
          </a:prstGeom>
          <a:solidFill>
            <a:srgbClr val="FF4D8D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10406421" y="4287256"/>
            <a:ext cx="82296" cy="82296"/>
          </a:xfrm>
          <a:prstGeom prst="ellipse">
            <a:avLst/>
          </a:prstGeom>
          <a:solidFill>
            <a:srgbClr val="FF4D8D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10852282" y="4193438"/>
            <a:ext cx="82296" cy="82296"/>
          </a:xfrm>
          <a:prstGeom prst="ellipse">
            <a:avLst/>
          </a:prstGeom>
          <a:solidFill>
            <a:srgbClr val="FF4D8D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9611624" y="4527012"/>
            <a:ext cx="82296" cy="82296"/>
          </a:xfrm>
          <a:prstGeom prst="ellipse">
            <a:avLst/>
          </a:prstGeom>
          <a:solidFill>
            <a:srgbClr val="FF4D8D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10135027" y="4464467"/>
            <a:ext cx="82296" cy="82296"/>
          </a:xfrm>
          <a:prstGeom prst="ellipse">
            <a:avLst/>
          </a:prstGeom>
          <a:solidFill>
            <a:srgbClr val="FF4D8D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10639044" y="4579132"/>
            <a:ext cx="82296" cy="82296"/>
          </a:xfrm>
          <a:prstGeom prst="ellipse">
            <a:avLst/>
          </a:prstGeom>
          <a:solidFill>
            <a:srgbClr val="FF4D8D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10987979" y="4474891"/>
            <a:ext cx="82296" cy="82296"/>
          </a:xfrm>
          <a:prstGeom prst="ellipse">
            <a:avLst/>
          </a:prstGeom>
          <a:solidFill>
            <a:srgbClr val="FF4D8D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9398386" y="4808464"/>
            <a:ext cx="82296" cy="82296"/>
          </a:xfrm>
          <a:prstGeom prst="ellipse">
            <a:avLst/>
          </a:prstGeom>
          <a:solidFill>
            <a:srgbClr val="FF4D8D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9844248" y="4745919"/>
            <a:ext cx="82296" cy="82296"/>
          </a:xfrm>
          <a:prstGeom prst="ellipse">
            <a:avLst/>
          </a:prstGeom>
          <a:solidFill>
            <a:srgbClr val="FF4D8D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10309494" y="4860585"/>
            <a:ext cx="82296" cy="82296"/>
          </a:xfrm>
          <a:prstGeom prst="ellipse">
            <a:avLst/>
          </a:prstGeom>
          <a:solidFill>
            <a:srgbClr val="FF4D8D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>
            <a:off x="10735970" y="4777191"/>
            <a:ext cx="82296" cy="82296"/>
          </a:xfrm>
          <a:prstGeom prst="ellipse">
            <a:avLst/>
          </a:prstGeom>
          <a:solidFill>
            <a:srgbClr val="FF4D8D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9727936" y="4975250"/>
            <a:ext cx="82296" cy="82296"/>
          </a:xfrm>
          <a:prstGeom prst="ellipse">
            <a:avLst/>
          </a:prstGeom>
          <a:solidFill>
            <a:srgbClr val="FF4D8D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10464576" y="5016947"/>
            <a:ext cx="82296" cy="82296"/>
          </a:xfrm>
          <a:prstGeom prst="ellipse">
            <a:avLst/>
          </a:prstGeom>
          <a:solidFill>
            <a:srgbClr val="FF4D8D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9098280" y="530352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THE LINES</a:t>
            </a:r>
            <a:endParaRPr lang="en-US" sz="900" dirty="0"/>
          </a:p>
        </p:txBody>
      </p:sp>
      <p:pic>
        <p:nvPicPr>
          <p:cNvPr id="80" name="Online Media 79" title="Sol Lewitt Wall Drawing Time Lapse">
            <a:hlinkClick r:id="" action="ppaction://media"/>
            <a:extLst>
              <a:ext uri="{FF2B5EF4-FFF2-40B4-BE49-F238E27FC236}">
                <a16:creationId xmlns:a16="http://schemas.microsoft.com/office/drawing/2014/main" id="{7D93BC3B-ECBA-1FC6-F75B-61A2E40704E9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662940" y="1828799"/>
            <a:ext cx="4960620" cy="25137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80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8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0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66928"/>
            <a:ext cx="10972800" cy="0"/>
          </a:xfrm>
          <a:prstGeom prst="line">
            <a:avLst/>
          </a:prstGeom>
          <a:noFill/>
          <a:ln w="50800">
            <a:solidFill>
              <a:srgbClr val="FFFD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kern="0" spc="-60" dirty="0">
                <a:solidFill>
                  <a:srgbClr val="FFF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— PARAMETRIC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94360" y="1261872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 drive the form. Output: partially expected.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62940" y="1851660"/>
            <a:ext cx="10972800" cy="658368"/>
          </a:xfrm>
          <a:prstGeom prst="rect">
            <a:avLst/>
          </a:prstGeom>
          <a:solidFill>
            <a:srgbClr val="FFFDF7"/>
          </a:solidFill>
          <a:ln w="6350">
            <a:solidFill>
              <a:srgbClr val="FFFD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94360" y="1783080"/>
            <a:ext cx="10972800" cy="658368"/>
          </a:xfrm>
          <a:prstGeom prst="rect">
            <a:avLst/>
          </a:prstGeom>
          <a:solidFill>
            <a:srgbClr val="C6F035"/>
          </a:solidFill>
          <a:ln w="349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1929384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-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DECOMPOSE A FORM INTO VARIABLES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62940" y="2857500"/>
            <a:ext cx="2834640" cy="640080"/>
          </a:xfrm>
          <a:prstGeom prst="rect">
            <a:avLst/>
          </a:prstGeom>
          <a:solidFill>
            <a:srgbClr val="C6F035"/>
          </a:solidFill>
          <a:ln w="6350">
            <a:solidFill>
              <a:srgbClr val="C6F0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94360" y="2788920"/>
            <a:ext cx="2834640" cy="64008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77240" y="2962656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INPUTS IN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 rot="5400000">
            <a:off x="3657600" y="2926080"/>
            <a:ext cx="310896" cy="365760"/>
          </a:xfrm>
          <a:prstGeom prst="triangle">
            <a:avLst/>
          </a:prstGeom>
          <a:solidFill>
            <a:srgbClr val="FFE5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206240" y="293522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result out. Always.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62940" y="3698748"/>
            <a:ext cx="2834640" cy="640080"/>
          </a:xfrm>
          <a:prstGeom prst="rect">
            <a:avLst/>
          </a:prstGeom>
          <a:solidFill>
            <a:srgbClr val="C6F035"/>
          </a:solidFill>
          <a:ln w="6350">
            <a:solidFill>
              <a:srgbClr val="C6F0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94360" y="3630168"/>
            <a:ext cx="2834640" cy="64008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77240" y="3803904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ONE INPUT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 rot="5400000">
            <a:off x="3657600" y="3767328"/>
            <a:ext cx="310896" cy="365760"/>
          </a:xfrm>
          <a:prstGeom prst="triangle">
            <a:avLst/>
          </a:prstGeom>
          <a:solidFill>
            <a:srgbClr val="FFE5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206240" y="377647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system responds.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62940" y="4539996"/>
            <a:ext cx="2834640" cy="640080"/>
          </a:xfrm>
          <a:prstGeom prst="rect">
            <a:avLst/>
          </a:prstGeom>
          <a:solidFill>
            <a:srgbClr val="C6F035"/>
          </a:solidFill>
          <a:ln w="6350">
            <a:solidFill>
              <a:srgbClr val="C6F0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94360" y="4471416"/>
            <a:ext cx="2834640" cy="64008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77240" y="4645152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NON-DESTRUCTIVE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 rot="5400000">
            <a:off x="3657600" y="4608576"/>
            <a:ext cx="310896" cy="365760"/>
          </a:xfrm>
          <a:prstGeom prst="triangle">
            <a:avLst/>
          </a:prstGeom>
          <a:solidFill>
            <a:srgbClr val="FFE5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206240" y="46177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stays editable.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7018020" y="2857500"/>
            <a:ext cx="4617720" cy="2322576"/>
          </a:xfrm>
          <a:prstGeom prst="rect">
            <a:avLst/>
          </a:prstGeom>
          <a:solidFill>
            <a:srgbClr val="FFFDF7"/>
          </a:solidFill>
          <a:ln w="6350">
            <a:solidFill>
              <a:srgbClr val="FFFD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949440" y="2788920"/>
            <a:ext cx="4617720" cy="2322576"/>
          </a:xfrm>
          <a:prstGeom prst="rect">
            <a:avLst/>
          </a:prstGeom>
          <a:solidFill>
            <a:srgbClr val="EDEDE6"/>
          </a:solidFill>
          <a:ln w="349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6949440" y="2788920"/>
            <a:ext cx="4617720" cy="2322576"/>
          </a:xfrm>
          <a:prstGeom prst="line">
            <a:avLst/>
          </a:prstGeom>
          <a:noFill/>
          <a:ln w="15875">
            <a:solidFill>
              <a:srgbClr val="C9C9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949440" y="5111496"/>
            <a:ext cx="4617720" cy="0"/>
          </a:xfrm>
          <a:prstGeom prst="line">
            <a:avLst/>
          </a:prstGeom>
          <a:noFill/>
          <a:ln w="15875">
            <a:solidFill>
              <a:srgbClr val="C9C9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206740" y="3694176"/>
            <a:ext cx="2103120" cy="512064"/>
          </a:xfrm>
          <a:prstGeom prst="rect">
            <a:avLst/>
          </a:prstGeom>
          <a:solidFill>
            <a:srgbClr val="FFFDF7"/>
          </a:solidFill>
          <a:ln w="254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206740" y="377647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PARAMETRIC PRECEDENT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949440" y="5193792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https://formandcode.com/code-examples/parameterize-chair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94360" y="577900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C6F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MODULES 1–3   /   FIELDS + ATTRACTORS   /   SECTION + SEQUENCE   /   TESSELLATION</a:t>
            </a:r>
            <a:endParaRPr lang="en-US" sz="105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8CDFE007-53F7-A634-5493-B8C6D88949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7153" y="2816500"/>
            <a:ext cx="3482293" cy="223098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66928"/>
            <a:ext cx="10972800" cy="0"/>
          </a:xfrm>
          <a:prstGeom prst="line">
            <a:avLst/>
          </a:prstGeom>
          <a:noFill/>
          <a:ln w="50800">
            <a:solidFill>
              <a:srgbClr val="FFFD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kern="0" spc="-60" dirty="0">
                <a:solidFill>
                  <a:srgbClr val="FFF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— GENERATIVE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94360" y="1261872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feeds itself. Output: unknown, within a spectrum.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94360" y="1783080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generative system is the same three-step loop, run over and over.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91540" y="2464308"/>
            <a:ext cx="1691640" cy="822960"/>
          </a:xfrm>
          <a:prstGeom prst="rect">
            <a:avLst/>
          </a:prstGeom>
          <a:solidFill>
            <a:srgbClr val="00D9E1"/>
          </a:solidFill>
          <a:ln w="6350">
            <a:solidFill>
              <a:srgbClr val="00D9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22960" y="2395728"/>
            <a:ext cx="1691640" cy="82296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263347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 rot="5400000">
            <a:off x="2606040" y="2633472"/>
            <a:ext cx="310896" cy="365760"/>
          </a:xfrm>
          <a:prstGeom prst="triangle">
            <a:avLst/>
          </a:prstGeom>
          <a:solidFill>
            <a:srgbClr val="FF4D8D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040380" y="2464308"/>
            <a:ext cx="1691640" cy="822960"/>
          </a:xfrm>
          <a:prstGeom prst="rect">
            <a:avLst/>
          </a:prstGeom>
          <a:solidFill>
            <a:srgbClr val="FF4D8D"/>
          </a:solidFill>
          <a:ln w="6350">
            <a:solidFill>
              <a:srgbClr val="FF4D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971800" y="2395728"/>
            <a:ext cx="1691640" cy="822960"/>
          </a:xfrm>
          <a:prstGeom prst="rect">
            <a:avLst/>
          </a:prstGeom>
          <a:solidFill>
            <a:srgbClr val="FFE500"/>
          </a:solidFill>
          <a:ln w="349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971800" y="263347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 rot="5400000">
            <a:off x="4754880" y="2633472"/>
            <a:ext cx="310896" cy="365760"/>
          </a:xfrm>
          <a:prstGeom prst="triangle">
            <a:avLst/>
          </a:prstGeom>
          <a:solidFill>
            <a:srgbClr val="FF4D8D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189220" y="2464308"/>
            <a:ext cx="1691640" cy="822960"/>
          </a:xfrm>
          <a:prstGeom prst="rect">
            <a:avLst/>
          </a:prstGeom>
          <a:solidFill>
            <a:srgbClr val="00D9E1"/>
          </a:solidFill>
          <a:ln w="6350">
            <a:solidFill>
              <a:srgbClr val="00D9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120640" y="2395728"/>
            <a:ext cx="1691640" cy="82296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120640" y="263347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STATE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961888" y="3218688"/>
            <a:ext cx="0" cy="603504"/>
          </a:xfrm>
          <a:prstGeom prst="line">
            <a:avLst/>
          </a:prstGeom>
          <a:noFill/>
          <a:ln w="38100">
            <a:solidFill>
              <a:srgbClr val="FF4D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664208" y="3822192"/>
            <a:ext cx="4297680" cy="0"/>
          </a:xfrm>
          <a:prstGeom prst="line">
            <a:avLst/>
          </a:prstGeom>
          <a:noFill/>
          <a:ln w="38100">
            <a:solidFill>
              <a:srgbClr val="FF4D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664208" y="3218688"/>
            <a:ext cx="0" cy="603504"/>
          </a:xfrm>
          <a:prstGeom prst="line">
            <a:avLst/>
          </a:prstGeom>
          <a:noFill/>
          <a:ln w="38100">
            <a:solidFill>
              <a:srgbClr val="FF4D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737360" y="391363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60" dirty="0">
                <a:solidFill>
                  <a:srgbClr val="FF4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OUTPUT BECOMES THE INPUT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520940" y="2263140"/>
            <a:ext cx="4114800" cy="2377440"/>
          </a:xfrm>
          <a:prstGeom prst="rect">
            <a:avLst/>
          </a:prstGeom>
          <a:solidFill>
            <a:srgbClr val="FFFDF7"/>
          </a:solidFill>
          <a:ln w="6350">
            <a:solidFill>
              <a:srgbClr val="FFFD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452360" y="2194560"/>
            <a:ext cx="4114800" cy="2377440"/>
          </a:xfrm>
          <a:prstGeom prst="rect">
            <a:avLst/>
          </a:prstGeom>
          <a:solidFill>
            <a:srgbClr val="EDEDE6"/>
          </a:solidFill>
          <a:ln w="349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452360" y="2194560"/>
            <a:ext cx="4114800" cy="2377440"/>
          </a:xfrm>
          <a:prstGeom prst="line">
            <a:avLst/>
          </a:prstGeom>
          <a:noFill/>
          <a:ln w="15875">
            <a:solidFill>
              <a:srgbClr val="C9C9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452360" y="4572000"/>
            <a:ext cx="4114800" cy="0"/>
          </a:xfrm>
          <a:prstGeom prst="line">
            <a:avLst/>
          </a:prstGeom>
          <a:noFill/>
          <a:ln w="15875">
            <a:solidFill>
              <a:srgbClr val="C9C9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458200" y="3127248"/>
            <a:ext cx="2103120" cy="512064"/>
          </a:xfrm>
          <a:prstGeom prst="rect">
            <a:avLst/>
          </a:prstGeom>
          <a:solidFill>
            <a:srgbClr val="FFFDF7"/>
          </a:solidFill>
          <a:ln w="254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458200" y="3209544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GENERATIVE PRECEDENT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452360" y="465429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FEA as a generative algorithm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62940" y="5143500"/>
            <a:ext cx="10972800" cy="1005840"/>
          </a:xfrm>
          <a:prstGeom prst="rect">
            <a:avLst/>
          </a:prstGeom>
          <a:solidFill>
            <a:srgbClr val="FFFDF7"/>
          </a:solidFill>
          <a:ln w="6350">
            <a:solidFill>
              <a:srgbClr val="FFFD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94360" y="5074920"/>
            <a:ext cx="10972800" cy="1005840"/>
          </a:xfrm>
          <a:prstGeom prst="rect">
            <a:avLst/>
          </a:prstGeom>
          <a:solidFill>
            <a:srgbClr val="FF4D8D"/>
          </a:solidFill>
          <a:ln w="349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914400" y="5230368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 /  AGENTS  /  CELLULAR AUTOMATA  /  RELAXATION + PACKING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914400" y="559612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final assignment. You will build one of these.</a:t>
            </a:r>
            <a:endParaRPr lang="en-US" sz="130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2AD7D7F3-CF13-E6D3-4784-BB42B6FE9C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8471" y="2452281"/>
            <a:ext cx="3424942" cy="192938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66928"/>
            <a:ext cx="10972800" cy="0"/>
          </a:xfrm>
          <a:prstGeom prst="line">
            <a:avLst/>
          </a:prstGeom>
          <a:noFill/>
          <a:ln w="508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kern="0" spc="-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THIS RUNS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94360" y="1261872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before class. Class time is for your problems, not my demo.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62940" y="1851660"/>
            <a:ext cx="777240" cy="77724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94360" y="1783080"/>
            <a:ext cx="777240" cy="777240"/>
          </a:xfrm>
          <a:prstGeom prst="rect">
            <a:avLst/>
          </a:prstGeom>
          <a:solidFill>
            <a:srgbClr val="000000"/>
          </a:solidFill>
          <a:ln w="349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2002536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1714500" y="1851660"/>
            <a:ext cx="9921240" cy="77724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645920" y="1783080"/>
            <a:ext cx="9921240" cy="77724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920240" y="1883664"/>
            <a:ext cx="8961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TUTORIAL ARRIVES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920240" y="2194560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Pre-recorded, sent after the class before. Grasshopper and Blender versions of each.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62940" y="2912364"/>
            <a:ext cx="777240" cy="77724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94360" y="2843784"/>
            <a:ext cx="777240" cy="777240"/>
          </a:xfrm>
          <a:prstGeom prst="rect">
            <a:avLst/>
          </a:prstGeom>
          <a:solidFill>
            <a:srgbClr val="FFE500"/>
          </a:solidFill>
          <a:ln w="349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94360" y="306324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1714500" y="2912364"/>
            <a:ext cx="9921240" cy="77724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645920" y="2843784"/>
            <a:ext cx="9921240" cy="777240"/>
          </a:xfrm>
          <a:prstGeom prst="rect">
            <a:avLst/>
          </a:prstGeom>
          <a:solidFill>
            <a:srgbClr val="FFE500"/>
          </a:solidFill>
          <a:ln w="349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920240" y="2944368"/>
            <a:ext cx="8961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WORK THROUGH IT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920240" y="3255264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session. This is the part that doesn't work if you skip it.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62940" y="3973068"/>
            <a:ext cx="777240" cy="77724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94360" y="3904488"/>
            <a:ext cx="777240" cy="777240"/>
          </a:xfrm>
          <a:prstGeom prst="rect">
            <a:avLst/>
          </a:prstGeom>
          <a:solidFill>
            <a:srgbClr val="000000"/>
          </a:solidFill>
          <a:ln w="349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94360" y="4123944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1714500" y="3973068"/>
            <a:ext cx="9921240" cy="77724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645920" y="3904488"/>
            <a:ext cx="9921240" cy="77724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920240" y="4005072"/>
            <a:ext cx="8961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TROUBLESHOOT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920240" y="4315968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part of class: what broke. Bring the file, not the description.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62940" y="5033772"/>
            <a:ext cx="777240" cy="77724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94360" y="4965192"/>
            <a:ext cx="777240" cy="777240"/>
          </a:xfrm>
          <a:prstGeom prst="rect">
            <a:avLst/>
          </a:prstGeom>
          <a:solidFill>
            <a:srgbClr val="000000"/>
          </a:solidFill>
          <a:ln w="349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94360" y="5184648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1714500" y="5033772"/>
            <a:ext cx="9921240" cy="77724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1645920" y="4965192"/>
            <a:ext cx="9921240" cy="77724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920240" y="5065776"/>
            <a:ext cx="8961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ASSIGNMENT BRIEFING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1920240" y="5376672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Requirements, precedents, then supervised work and critique.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66928"/>
            <a:ext cx="10972800" cy="0"/>
          </a:xfrm>
          <a:prstGeom prst="line">
            <a:avLst/>
          </a:prstGeom>
          <a:noFill/>
          <a:ln w="508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kern="0" spc="-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YOU'LL MAKE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94360" y="1261872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module has a drawing and a physical thing.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62940" y="1805940"/>
            <a:ext cx="10972800" cy="74980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94360" y="1737360"/>
            <a:ext cx="10972800" cy="74980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94360" y="1737360"/>
            <a:ext cx="1600200" cy="749808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1975104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468880" y="192938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-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PROCEDURE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983480" y="196596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Massing diagram + written instructions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098280" y="196596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3D PRINT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62940" y="2665476"/>
            <a:ext cx="10972800" cy="74980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94360" y="2596896"/>
            <a:ext cx="10972800" cy="74980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94360" y="2596896"/>
            <a:ext cx="1600200" cy="749808"/>
          </a:xfrm>
          <a:prstGeom prst="rect">
            <a:avLst/>
          </a:prstGeom>
          <a:solidFill>
            <a:srgbClr val="C6F035"/>
          </a:solidFill>
          <a:ln w="349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94360" y="283464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468880" y="27889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-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983480" y="2825496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 and attractors, systematically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098280" y="282549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PLOTTER DEMO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62940" y="3525012"/>
            <a:ext cx="10972800" cy="74980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94360" y="3456432"/>
            <a:ext cx="10972800" cy="74980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94360" y="3456432"/>
            <a:ext cx="1600200" cy="749808"/>
          </a:xfrm>
          <a:prstGeom prst="rect">
            <a:avLst/>
          </a:prstGeom>
          <a:solidFill>
            <a:srgbClr val="C6F035"/>
          </a:solidFill>
          <a:ln w="349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94360" y="3694176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468880" y="364845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-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983480" y="368503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 sections, contours, hierarchy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9098280" y="368503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LASER-CUT ASSEMBLY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62940" y="4384548"/>
            <a:ext cx="10972800" cy="74980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94360" y="4315968"/>
            <a:ext cx="10972800" cy="74980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594360" y="4315968"/>
            <a:ext cx="1600200" cy="749808"/>
          </a:xfrm>
          <a:prstGeom prst="rect">
            <a:avLst/>
          </a:prstGeom>
          <a:solidFill>
            <a:srgbClr val="C6F035"/>
          </a:solidFill>
          <a:ln w="349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94360" y="455371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3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468880" y="450799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-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TESSELLATION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4983480" y="454456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panelized surface as a filter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9098280" y="454456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3D-PRINTED SYSTEM</a:t>
            </a:r>
          </a:p>
        </p:txBody>
      </p:sp>
      <p:sp>
        <p:nvSpPr>
          <p:cNvPr id="33" name="Shape 31"/>
          <p:cNvSpPr/>
          <p:nvPr/>
        </p:nvSpPr>
        <p:spPr>
          <a:xfrm>
            <a:off x="662940" y="5244084"/>
            <a:ext cx="10972800" cy="74980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594360" y="5175504"/>
            <a:ext cx="10972800" cy="74980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594360" y="5175504"/>
            <a:ext cx="1600200" cy="749808"/>
          </a:xfrm>
          <a:prstGeom prst="rect">
            <a:avLst/>
          </a:prstGeom>
          <a:solidFill>
            <a:srgbClr val="FF4D8D"/>
          </a:solidFill>
          <a:ln w="349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94360" y="541324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2468880" y="536752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-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GENERATIVE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4983480" y="540410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tool that iterates + two sheets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9098280" y="540410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2940" y="635508"/>
            <a:ext cx="2194560" cy="38404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94360" y="566928"/>
            <a:ext cx="2194560" cy="384048"/>
          </a:xfrm>
          <a:prstGeom prst="rect">
            <a:avLst/>
          </a:prstGeom>
          <a:solidFill>
            <a:srgbClr val="FFE500"/>
          </a:solidFill>
          <a:ln w="349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94360" y="63093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ISSUED TODAY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1170432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kern="0" spc="-80" dirty="0">
                <a:solidFill>
                  <a:srgbClr val="FFF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 — VISUAL IDENTITY MANUAL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94360" y="1819656"/>
            <a:ext cx="10972800" cy="0"/>
          </a:xfrm>
          <a:prstGeom prst="line">
            <a:avLst/>
          </a:prstGeom>
          <a:noFill/>
          <a:ln w="50800">
            <a:solidFill>
              <a:srgbClr val="FFFD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938528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50" dirty="0">
                <a:solidFill>
                  <a:srgbClr val="FFE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PAGES. NO MORE. DUE CLASS 4 — SEP 15.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62940" y="2610612"/>
            <a:ext cx="566928" cy="566928"/>
          </a:xfrm>
          <a:prstGeom prst="rect">
            <a:avLst/>
          </a:prstGeom>
          <a:solidFill>
            <a:srgbClr val="FFFDF7"/>
          </a:solidFill>
          <a:ln w="6350">
            <a:solidFill>
              <a:srgbClr val="FFFD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94360" y="2542032"/>
            <a:ext cx="566928" cy="566928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4360" y="2670048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63040" y="267004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Typography — typefaces and hierarchy, with sizes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62940" y="3323844"/>
            <a:ext cx="566928" cy="566928"/>
          </a:xfrm>
          <a:prstGeom prst="rect">
            <a:avLst/>
          </a:prstGeom>
          <a:solidFill>
            <a:srgbClr val="FFFDF7"/>
          </a:solidFill>
          <a:ln w="6350">
            <a:solidFill>
              <a:srgbClr val="FFFD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94360" y="3255264"/>
            <a:ext cx="566928" cy="566928"/>
          </a:xfrm>
          <a:prstGeom prst="rect">
            <a:avLst/>
          </a:prstGeom>
          <a:solidFill>
            <a:srgbClr val="C6F035"/>
          </a:solidFill>
          <a:ln w="349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94360" y="3383280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63040" y="338328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Palette with stated values · line weights with assigned uses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62940" y="4037076"/>
            <a:ext cx="566928" cy="566928"/>
          </a:xfrm>
          <a:prstGeom prst="rect">
            <a:avLst/>
          </a:prstGeom>
          <a:solidFill>
            <a:srgbClr val="FFFDF7"/>
          </a:solidFill>
          <a:ln w="6350">
            <a:solidFill>
              <a:srgbClr val="FFFD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94360" y="3968496"/>
            <a:ext cx="566928" cy="566928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94360" y="4096512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63040" y="409651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17" × 11" sheet template, grid shown explicitly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62940" y="4750308"/>
            <a:ext cx="566928" cy="566928"/>
          </a:xfrm>
          <a:prstGeom prst="rect">
            <a:avLst/>
          </a:prstGeom>
          <a:solidFill>
            <a:srgbClr val="FFFDF7"/>
          </a:solidFill>
          <a:ln w="6350">
            <a:solidFill>
              <a:srgbClr val="FFFD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94360" y="4681728"/>
            <a:ext cx="566928" cy="566928"/>
          </a:xfrm>
          <a:prstGeom prst="rect">
            <a:avLst/>
          </a:prstGeom>
          <a:solidFill>
            <a:srgbClr val="C6F035"/>
          </a:solidFill>
          <a:ln w="349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94360" y="4809744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63040" y="4809744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sample sheet, using the system on real work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662940" y="5573268"/>
            <a:ext cx="10972800" cy="777240"/>
          </a:xfrm>
          <a:prstGeom prst="rect">
            <a:avLst/>
          </a:prstGeom>
          <a:solidFill>
            <a:srgbClr val="FFE500"/>
          </a:solidFill>
          <a:ln w="6350">
            <a:solidFill>
              <a:srgbClr val="FFE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94360" y="5504688"/>
            <a:ext cx="10972800" cy="777240"/>
          </a:xfrm>
          <a:prstGeom prst="rect">
            <a:avLst/>
          </a:prstGeom>
          <a:solidFill>
            <a:srgbClr val="FF4D8D"/>
          </a:solidFill>
          <a:ln w="349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68680" y="5705856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CANVA. NO EXPRESS. NO SLIDES. A template supplies the grid, the hierarchy and the palette — exactly what you're being asked to decide.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66928"/>
            <a:ext cx="10972800" cy="0"/>
          </a:xfrm>
          <a:prstGeom prst="line">
            <a:avLst/>
          </a:prstGeom>
          <a:noFill/>
          <a:ln w="508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kern="0" spc="-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NEXT CLASS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62940" y="1851660"/>
            <a:ext cx="1508760" cy="80467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94360" y="1783080"/>
            <a:ext cx="1508760" cy="804672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2029968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377440" y="1856232"/>
            <a:ext cx="9052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Tutorial 0.1 — Grasshopper / Geometry Nodes basics, transformations, Booleans, non-destructive modeling. Sent tonight.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62940" y="2912364"/>
            <a:ext cx="1508760" cy="80467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94360" y="2843784"/>
            <a:ext cx="1508760" cy="804672"/>
          </a:xfrm>
          <a:prstGeom prst="rect">
            <a:avLst/>
          </a:prstGeom>
          <a:solidFill>
            <a:srgbClr val="FF4D8D"/>
          </a:solidFill>
          <a:ln w="349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4360" y="3090672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377440" y="2916936"/>
            <a:ext cx="9052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FabLab Safety Orientation on Canvas. Required before you touch any machine — due end of Class 2.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62940" y="3973068"/>
            <a:ext cx="1508760" cy="80467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94360" y="3904488"/>
            <a:ext cx="1508760" cy="804672"/>
          </a:xfrm>
          <a:prstGeom prst="rect">
            <a:avLst/>
          </a:prstGeom>
          <a:solidFill>
            <a:srgbClr val="C6F035"/>
          </a:solidFill>
          <a:ln w="349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94360" y="4151376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377440" y="3977640"/>
            <a:ext cx="9052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0.2. Look at how other people build identity systems before you build yours.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62940" y="5033772"/>
            <a:ext cx="1508760" cy="80467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94360" y="4965192"/>
            <a:ext cx="1508760" cy="804672"/>
          </a:xfrm>
          <a:prstGeom prst="rect">
            <a:avLst/>
          </a:prstGeom>
          <a:solidFill>
            <a:srgbClr val="FFE500"/>
          </a:solidFill>
          <a:ln w="349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94360" y="5212080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377440" y="5038344"/>
            <a:ext cx="9052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building you find interesting. Orthogonal massing — no complex curves. You'll rebuild it as a procedure.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E5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2940" y="1485900"/>
            <a:ext cx="6949440" cy="100584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94360" y="1417320"/>
            <a:ext cx="6949440" cy="1005840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60120" y="169164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-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PROCEDURAL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 rot="10800000">
            <a:off x="3840480" y="2459736"/>
            <a:ext cx="365760" cy="310896"/>
          </a:xfrm>
          <a:prstGeom prst="triangle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092440" y="1636776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62940" y="2720340"/>
            <a:ext cx="6949440" cy="100584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94360" y="2651760"/>
            <a:ext cx="6949440" cy="1005840"/>
          </a:xfrm>
          <a:prstGeom prst="rect">
            <a:avLst/>
          </a:prstGeom>
          <a:solidFill>
            <a:srgbClr val="C6F035"/>
          </a:solidFill>
          <a:ln w="349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60120" y="292608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-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PARAMETRIC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 rot="10800000">
            <a:off x="3840480" y="3694176"/>
            <a:ext cx="365760" cy="310896"/>
          </a:xfrm>
          <a:prstGeom prst="triangle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092440" y="2871216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PARTIALLY EXPECTED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62940" y="3954780"/>
            <a:ext cx="6949440" cy="100584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94360" y="3886200"/>
            <a:ext cx="6949440" cy="1005840"/>
          </a:xfrm>
          <a:prstGeom prst="rect">
            <a:avLst/>
          </a:prstGeom>
          <a:solidFill>
            <a:srgbClr val="FF4D8D"/>
          </a:solidFill>
          <a:ln w="349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60120" y="416052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-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GENERATIVE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092440" y="4105656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UNKNOWN, WITHIN A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SPECTRUM YOU DEFINED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62940" y="5417820"/>
            <a:ext cx="3840480" cy="77724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94360" y="5349240"/>
            <a:ext cx="3840480" cy="777240"/>
          </a:xfrm>
          <a:prstGeom prst="rect">
            <a:avLst/>
          </a:prstGeom>
          <a:solidFill>
            <a:srgbClr val="000000"/>
          </a:solidFill>
          <a:ln w="349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94360" y="5541264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kern="0" spc="50" dirty="0">
                <a:solidFill>
                  <a:srgbClr val="FFE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1318</Words>
  <Application>Microsoft Office PowerPoint</Application>
  <PresentationFormat>Widescreen</PresentationFormat>
  <Paragraphs>186</Paragraphs>
  <Slides>12</Slides>
  <Notes>12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 3133 — Class 1</dc:title>
  <dc:subject>PptxGenJS Presentation</dc:subject>
  <dc:creator>Luis Pacheco Alcala</dc:creator>
  <cp:lastModifiedBy>Luis Pacheco Alcala</cp:lastModifiedBy>
  <cp:revision>4</cp:revision>
  <dcterms:created xsi:type="dcterms:W3CDTF">2026-08-21T17:24:11Z</dcterms:created>
  <dcterms:modified xsi:type="dcterms:W3CDTF">2026-08-21T17:43:56Z</dcterms:modified>
</cp:coreProperties>
</file>