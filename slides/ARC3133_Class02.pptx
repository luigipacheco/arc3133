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D9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051560"/>
            <a:ext cx="10972800" cy="2560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1481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CLASS 02  /  SEP 1  /  U02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2125980"/>
            <a:ext cx="10149840" cy="21488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4360" y="2057400"/>
            <a:ext cx="10149840" cy="21488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932688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000000"/>
                </a:solidFill>
                <a:latin typeface="Arial"/>
              </a:rPr>
              <a:t>TRANSFORMATIONS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000000"/>
                </a:solidFill>
                <a:latin typeface="Arial"/>
              </a:rPr>
              <a:t>AND CSG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" y="4549140"/>
            <a:ext cx="676656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94360" y="4480560"/>
            <a:ext cx="6766560" cy="566928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795259" y="4549140"/>
            <a:ext cx="301752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26679" y="4480560"/>
            <a:ext cx="3017520" cy="56692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4480560"/>
            <a:ext cx="6400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P1 BEGINS — DESCRIBE A SOLID AS AN EDITABLE SEQUENCE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448056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NOTHING DUE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8704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rial"/>
              </a:rPr>
              <a:t>P1a ISSUED TODAY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WHY NON-DESTRUCTIVE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The same two solids, subtracted. One keeps its history; one throws it away.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943100"/>
            <a:ext cx="5349240" cy="30632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5349240" cy="30632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5349240" cy="502920"/>
          </a:xfrm>
          <a:prstGeom prst="rect">
            <a:avLst/>
          </a:prstGeom>
          <a:solidFill>
            <a:srgbClr val="B4B4AC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DESTRUCTIVE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4800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000000"/>
                </a:solidFill>
                <a:latin typeface="Calibri"/>
              </a:rPr>
              <a:t>CUBE  −  SPHERE  →  ONE MESH</a:t>
            </a:r>
          </a:p>
          <a:p>
            <a:pPr algn="l">
              <a:lnSpc>
                <a:spcPct val="135000"/>
              </a:lnSpc>
            </a:pPr>
            <a:r>
              <a:rPr sz="8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The sphere is gone. Its radius is gone. To change anything you rebuild from scratch.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6500" y="1943100"/>
            <a:ext cx="5349240" cy="30632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17920" y="1874519"/>
            <a:ext cx="5349240" cy="30632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17920" y="1874519"/>
            <a:ext cx="534924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1874519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NON-DESTRUCTIVE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60320"/>
            <a:ext cx="4800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000000"/>
                </a:solidFill>
                <a:latin typeface="Calibri"/>
              </a:rPr>
              <a:t>CUBE  +  SPHERE  →  SUBTRACT  →  RESULT</a:t>
            </a:r>
          </a:p>
          <a:p>
            <a:pPr algn="l">
              <a:lnSpc>
                <a:spcPct val="135000"/>
              </a:lnSpc>
            </a:pPr>
            <a:r>
              <a:rPr sz="8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Every input is still a live node. Change the radius and everything downstream recomputes itself.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" y="5326380"/>
            <a:ext cx="1097280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94360" y="5257800"/>
            <a:ext cx="10972800" cy="658368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5257800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P1a REQUIRES YOUR OPERATION HISTORY TO BE INTACT. YOU WILL BE ASKED TO CHANGE A PARAMETER IN FRONT OF THE CLASS.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TRANSFORMATIONS ARE ARITHMETIC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Three operations you already know, written as what they actually 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3520440" cy="31089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3520440" cy="31089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352044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4505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=  ADD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83464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000000"/>
                </a:solidFill>
                <a:latin typeface="Courier New"/>
              </a:rPr>
              <a:t>x' = x + dx</a:t>
            </a:r>
          </a:p>
          <a:p>
            <a:pPr algn="l">
              <a:lnSpc>
                <a:spcPct val="135000"/>
              </a:lnSpc>
            </a:pPr>
            <a:r>
              <a:rPr sz="1150">
                <a:solidFill>
                  <a:srgbClr val="000000"/>
                </a:solidFill>
                <a:latin typeface="Courier New"/>
              </a:rPr>
              <a:t>y' = y + dy</a:t>
            </a:r>
          </a:p>
          <a:p>
            <a:pPr algn="l">
              <a:lnSpc>
                <a:spcPct val="135000"/>
              </a:lnSpc>
            </a:pPr>
            <a:r>
              <a:rPr sz="1150">
                <a:solidFill>
                  <a:srgbClr val="000000"/>
                </a:solidFill>
                <a:latin typeface="Courier New"/>
              </a:rPr>
              <a:t>z' = z + dz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" y="4114800"/>
            <a:ext cx="3017520" cy="0"/>
          </a:xfrm>
          <a:prstGeom prst="rect">
            <a:avLst/>
          </a:prstGeom>
          <a:noFill/>
          <a:ln w="190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427939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000000"/>
                </a:solidFill>
                <a:latin typeface="Courier New"/>
              </a:rPr>
              <a:t>(2, 1)  +  (3, 0)   →   (5, 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93692" y="1851660"/>
            <a:ext cx="3520440" cy="31089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25112" y="1783080"/>
            <a:ext cx="3520440" cy="31089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25112" y="1783080"/>
            <a:ext cx="352044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53712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4505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=  MULTIPLY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283464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000000"/>
                </a:solidFill>
                <a:latin typeface="Courier New"/>
              </a:rPr>
              <a:t>x' = x × f</a:t>
            </a:r>
          </a:p>
          <a:p>
            <a:pPr algn="l">
              <a:lnSpc>
                <a:spcPct val="135000"/>
              </a:lnSpc>
            </a:pPr>
            <a:r>
              <a:rPr sz="1150">
                <a:solidFill>
                  <a:srgbClr val="000000"/>
                </a:solidFill>
                <a:latin typeface="Courier New"/>
              </a:rPr>
              <a:t>y' = y × f</a:t>
            </a:r>
          </a:p>
          <a:p>
            <a:pPr algn="l">
              <a:lnSpc>
                <a:spcPct val="135000"/>
              </a:lnSpc>
            </a:pPr>
            <a:r>
              <a:rPr sz="1150">
                <a:solidFill>
                  <a:srgbClr val="000000"/>
                </a:solidFill>
                <a:latin typeface="Courier New"/>
              </a:rPr>
              <a:t>z' = z × 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81144" y="4114800"/>
            <a:ext cx="3017520" cy="0"/>
          </a:xfrm>
          <a:prstGeom prst="rect">
            <a:avLst/>
          </a:prstGeom>
          <a:noFill/>
          <a:ln w="190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81144" y="427939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000000"/>
                </a:solidFill>
                <a:latin typeface="Courier New"/>
              </a:rPr>
              <a:t>(2, 1)  ×  2        →   (4, 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4444" y="1851660"/>
            <a:ext cx="3520440" cy="31089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055864" y="1783080"/>
            <a:ext cx="3520440" cy="31089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055864" y="1783080"/>
            <a:ext cx="352044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84464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ROTATE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24505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=  MIX x AND 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6" y="283464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000000"/>
                </a:solidFill>
                <a:latin typeface="Courier New"/>
              </a:rPr>
              <a:t>x' = x·cosθ − y·sinθ</a:t>
            </a:r>
          </a:p>
          <a:p>
            <a:pPr algn="l">
              <a:lnSpc>
                <a:spcPct val="135000"/>
              </a:lnSpc>
            </a:pPr>
            <a:r>
              <a:rPr sz="1150">
                <a:solidFill>
                  <a:srgbClr val="000000"/>
                </a:solidFill>
                <a:latin typeface="Courier New"/>
              </a:rPr>
              <a:t>y' = x·sinθ + y·cosθ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11896" y="4114800"/>
            <a:ext cx="3017520" cy="0"/>
          </a:xfrm>
          <a:prstGeom prst="rect">
            <a:avLst/>
          </a:prstGeom>
          <a:noFill/>
          <a:ln w="190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11896" y="427939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000000"/>
                </a:solidFill>
                <a:latin typeface="Courier New"/>
              </a:rPr>
              <a:t>(1, 0)  rot 90°    →   (0, 1)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5234940"/>
            <a:ext cx="1097280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5166360"/>
            <a:ext cx="10972800" cy="65836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14400" y="5166360"/>
            <a:ext cx="10332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Arial"/>
              </a:rPr>
              <a:t>Move and scale treat each coordinate on its own. Rotation is the only one where x and y have to talk to each other.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THREE BOOLEANS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Everything in P1a is built from these, applied in order.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3520440" cy="28346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3520440" cy="28346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352044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UNION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0604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000000"/>
                </a:solidFill>
                <a:latin typeface="Arial"/>
              </a:rPr>
              <a:t>A +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6118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Everything either solid occupies.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3692" y="1851660"/>
            <a:ext cx="3520440" cy="28346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25112" y="1783080"/>
            <a:ext cx="3520440" cy="28346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25112" y="1783080"/>
            <a:ext cx="352044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53712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DIFFERENCE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60604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000000"/>
                </a:solidFill>
                <a:latin typeface="Arial"/>
              </a:rPr>
              <a:t>A −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6118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A, with B carved out of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4444" y="1851660"/>
            <a:ext cx="3520440" cy="28346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55864" y="1783080"/>
            <a:ext cx="3520440" cy="28346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55864" y="1783080"/>
            <a:ext cx="352044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84464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INTERSECTION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260604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000000"/>
                </a:solidFill>
                <a:latin typeface="Arial"/>
              </a:rPr>
              <a:t>A ∩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36118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Only where both solids overlap.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4960620"/>
            <a:ext cx="10972800" cy="62179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4892040"/>
            <a:ext cx="10972800" cy="621792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4892040"/>
            <a:ext cx="10607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D9E1"/>
                </a:solidFill>
                <a:latin typeface="Arial"/>
              </a:rPr>
              <a:t>ORDER MATTERS. A − B IS NOT B − A, AND YOUR DIAGRAM MUST MAKE THE OPERANDS UNAMBIGUOUS.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7150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6B6B6B"/>
                </a:solidFill>
                <a:latin typeface="Calibri"/>
              </a:rPr>
              <a:t>Reversing a subtraction is one of the three comparisons P1a asks for. Do it once deliberately and you will never confuse the operands again.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THE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What we build together, in order, this session.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97380"/>
            <a:ext cx="777240" cy="9098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777240" cy="90982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18313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4499" y="1897380"/>
            <a:ext cx="9921240" cy="9098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645919" y="1828800"/>
            <a:ext cx="9921240" cy="9098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920240" y="1920240"/>
            <a:ext cx="9372600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Introduce the node editor, inputs, outputs and parameters using one primitive.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2935224"/>
            <a:ext cx="777240" cy="9098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866644"/>
            <a:ext cx="777240" cy="909828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3220974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499" y="2935224"/>
            <a:ext cx="9921240" cy="9098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645919" y="2866644"/>
            <a:ext cx="9921240" cy="9098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20240" y="2958084"/>
            <a:ext cx="9372600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Move, rotate and scale procedurally; change the order and compare the result.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3973068"/>
            <a:ext cx="777240" cy="9098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904488"/>
            <a:ext cx="777240" cy="90982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425881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14499" y="3973068"/>
            <a:ext cx="9921240" cy="9098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645919" y="3904488"/>
            <a:ext cx="9921240" cy="9098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920240" y="3995928"/>
            <a:ext cx="9372600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Compare union, difference and intersection between two solids, including reversing the subtraction.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5010912"/>
            <a:ext cx="777240" cy="9098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4942332"/>
            <a:ext cx="777240" cy="909828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529666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14499" y="5010912"/>
            <a:ext cx="9921240" cy="9098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645919" y="4942332"/>
            <a:ext cx="9921240" cy="9098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920240" y="5033772"/>
            <a:ext cx="9372600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Expose useful inputs and compose a short massing sequence.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THE 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Write the procedure as pseudocode. Formal enough to be unambiguous, plain enough to read aloud.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512064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512064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512064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THE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572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000000"/>
                </a:solidFill>
                <a:latin typeface="Courier New"/>
              </a:rPr>
              <a:t>box(x, y, z)      cylinder(r, h)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000000"/>
                </a:solidFill>
                <a:latin typeface="Courier New"/>
              </a:rPr>
              <a:t>sphere(r)         cone(r, h)</a:t>
            </a:r>
          </a:p>
          <a:p>
            <a:pPr algn="l">
              <a:lnSpc>
                <a:spcPct val="135000"/>
              </a:lnSpc>
            </a:pPr>
            <a:r>
              <a:rPr sz="7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000000"/>
                </a:solidFill>
                <a:latin typeface="Courier New"/>
              </a:rPr>
              <a:t>move(s, x, y, z)  rotate(s, axis, deg)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000000"/>
                </a:solidFill>
                <a:latin typeface="Courier New"/>
              </a:rPr>
              <a:t>scale(s, factor)</a:t>
            </a:r>
          </a:p>
          <a:p>
            <a:pPr algn="l">
              <a:lnSpc>
                <a:spcPct val="135000"/>
              </a:lnSpc>
            </a:pPr>
            <a:r>
              <a:rPr sz="7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000000"/>
                </a:solidFill>
                <a:latin typeface="Courier New"/>
              </a:rPr>
              <a:t>union(a, b)       subtract(a, b)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000000"/>
                </a:solidFill>
                <a:latin typeface="Courier New"/>
              </a:rPr>
              <a:t>intersect(a, 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3620" y="1851660"/>
            <a:ext cx="553212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035040" y="1783080"/>
            <a:ext cx="553212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035040" y="1783080"/>
            <a:ext cx="553212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63640" y="1783080"/>
            <a:ext cx="5074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WORKED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468880"/>
            <a:ext cx="49834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000000"/>
                </a:solidFill>
                <a:latin typeface="Courier New"/>
              </a:rPr>
              <a:t>base   = box(6, 4, 3)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000000"/>
                </a:solidFill>
                <a:latin typeface="Courier New"/>
              </a:rPr>
              <a:t>tower  = box(2, 2, 6)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000000"/>
                </a:solidFill>
                <a:latin typeface="Courier New"/>
              </a:rPr>
              <a:t>tower  = move(tower, 2, 0, 3)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000000"/>
                </a:solidFill>
                <a:latin typeface="Courier New"/>
              </a:rPr>
              <a:t>void   = cylinder(r=1, h=5)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000000"/>
                </a:solidFill>
                <a:latin typeface="Courier New"/>
              </a:rPr>
              <a:t>void   = move(void, -1.5, 0, 0)</a:t>
            </a:r>
          </a:p>
          <a:p>
            <a:pPr algn="l">
              <a:lnSpc>
                <a:spcPct val="135000"/>
              </a:lnSpc>
            </a:pPr>
            <a:r>
              <a:rPr sz="7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000000"/>
                </a:solidFill>
                <a:latin typeface="Courier New"/>
              </a:rPr>
              <a:t>mass   = union(base, tower)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000000"/>
                </a:solidFill>
                <a:latin typeface="Courier New"/>
              </a:rPr>
              <a:t>result = subtract(mass, void)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" y="5234940"/>
            <a:ext cx="1097280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94360" y="5166360"/>
            <a:ext cx="10972800" cy="65836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5166360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THREE RULES: EVERY SHAPE IS BORN AT THE ORIGIN · UNITS ARE ABSTRACT · EVERY STEP ASSIGNS A NAME, SO A SUBTRACTION IS NEVER IN DOUBT.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THE SAME THING, WRITTEN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You are not asked to type this. Read it, and check that it says what the nodes you just built say.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97380"/>
            <a:ext cx="6858000" cy="3794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6858000" cy="37947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base  = box(6, 4,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860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tower = box(2, 2, 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60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tower = move(tower, 2, 0, 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83463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10895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void  = cylinder(r=1, h=5)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38327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void  = move(void, -1.5, 0, 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65759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93191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mass   = union(base, tower)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20623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result = difference(mass, void)    # not difference(void, mass)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3819" y="1897380"/>
            <a:ext cx="3931920" cy="3794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635240" y="1828800"/>
            <a:ext cx="3931920" cy="37947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635240" y="1828800"/>
            <a:ext cx="393192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63840" y="182880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0000"/>
                </a:solidFill>
                <a:latin typeface="Arial"/>
              </a:rPr>
              <a:t>WHAT IT MAPS ONTO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514600"/>
            <a:ext cx="34747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parameter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vector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translation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rotation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scale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union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difference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intersection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" y="5966460"/>
            <a:ext cx="1097280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94360" y="5897880"/>
            <a:ext cx="10972800" cy="56692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THIS IS THE NOTATION FROM THE LAST SLIDE, AND IT IS ALSO PYTHON. MORE ON THAT IN DECEMBER.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2940" y="635508"/>
            <a:ext cx="2194560" cy="38404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2194560" cy="38404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ISSUED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52144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DF7"/>
                </a:solidFill>
                <a:latin typeface="Arial"/>
              </a:rPr>
              <a:t>P1a — CSG MASSING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10512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9384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E500"/>
                </a:solidFill>
                <a:latin typeface="Arial"/>
              </a:rPr>
              <a:t>DUE WEEK 4 — Sep 15   /   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FFFDF7"/>
                </a:solidFill>
                <a:latin typeface="Calibri"/>
              </a:rPr>
              <a:t>Build a parametric massing study, reconstruct its cutter from basic geometry, and develop a small printable variant.  This first milestone is the massing study: an ordered sequence of primitives and Booleans, diagrammed so another person could follow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" y="3680460"/>
            <a:ext cx="3517391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94360" y="3611880"/>
            <a:ext cx="3517391" cy="41148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94360" y="3717036"/>
            <a:ext cx="351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STAGE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" y="4183380"/>
            <a:ext cx="3517391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94360" y="4114800"/>
            <a:ext cx="3517391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50392" y="4279392"/>
            <a:ext cx="3005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THE SEQUENCE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663440"/>
            <a:ext cx="30053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Primitives, transformed and combined in a stated order.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0644" y="3680460"/>
            <a:ext cx="3517391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22064" y="3611880"/>
            <a:ext cx="3517391" cy="41148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322064" y="3717036"/>
            <a:ext cx="351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STAGE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0644" y="4183380"/>
            <a:ext cx="3517391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322064" y="4114800"/>
            <a:ext cx="3517391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78096" y="4279392"/>
            <a:ext cx="3005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THE DIAGRAM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8096" y="4663440"/>
            <a:ext cx="30053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One drawing per operation, plus a final axonometric.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8347" y="3680460"/>
            <a:ext cx="3517391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049767" y="3611880"/>
            <a:ext cx="3517391" cy="41148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049767" y="3717036"/>
            <a:ext cx="351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STAGE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8347" y="4183380"/>
            <a:ext cx="3517391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49767" y="4114800"/>
            <a:ext cx="3517391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05799" y="4279392"/>
            <a:ext cx="3005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THE VARIANTS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5799" y="4663440"/>
            <a:ext cx="30053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Three parameter settings off the same graph.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REQUIREMENTS — P1a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Visual quality 35% · computational understanding 25% · technical execution 20% · experimentation 10% · requirements and identity 10%.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777240" cy="960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777240" cy="9601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16255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4499" y="1851660"/>
            <a:ext cx="9921240" cy="960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645919" y="1783080"/>
            <a:ext cx="9921240" cy="9601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372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One 17 × 11 inch sheet with the ordered transformation/Boolean diagram, a final axonometric and three parameter variants.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2958084"/>
            <a:ext cx="777240" cy="960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889504"/>
            <a:ext cx="777240" cy="9601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32689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499" y="2958084"/>
            <a:ext cx="9921240" cy="960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645919" y="2889504"/>
            <a:ext cx="9921240" cy="9601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20240" y="2980944"/>
            <a:ext cx="9372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Demonstrate translation, rotation and scale, and compare union, difference and intersection. Clearly identify the operands of subtraction.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4064508"/>
            <a:ext cx="777240" cy="960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995928"/>
            <a:ext cx="777240" cy="96012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4375404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14499" y="4064508"/>
            <a:ext cx="9921240" cy="960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645919" y="3995928"/>
            <a:ext cx="9921240" cy="9601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920240" y="4087368"/>
            <a:ext cx="9372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Submit an editable graph with exposed inputs and geometry generated in the graph. Keep the source operations intact.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F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NOW — BUILD THE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91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>
                <a:solidFill>
                  <a:srgbClr val="000000"/>
                </a:solidFill>
                <a:latin typeface="Calibri"/>
              </a:rPr>
              <a:t>Rest of the session: a working graph with something you can change in front of 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2354580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2286000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9051" y="2354580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490472" y="2286000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764792" y="2286000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Object chosen — orthogonal massing, 5–10 clear moves, no complex curves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3067812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999232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3182112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9051" y="3067812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490472" y="2999232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764792" y="2999232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First three primitives placed, each born at the origin and moved from there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3781044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712464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895344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9051" y="3781044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490472" y="3712464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764792" y="3712464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At least one Boolean working, with the operands named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4494276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4425696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460857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9051" y="4494276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490472" y="4425696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764792" y="4425696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Two useful inputs exposed, so a variant is one number away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5207508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5138928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5321808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9051" y="5207508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490472" y="5138928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764792" y="5138928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Operation history intact — nothing collapsed or applied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" y="6012180"/>
            <a:ext cx="841248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94360" y="5943600"/>
            <a:ext cx="8412480" cy="566928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94360" y="5943600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6F035"/>
                </a:solidFill>
                <a:latin typeface="Arial"/>
              </a:rPr>
              <a:t>LEAVE WITH A GRAPH YOU CAN CHANGE, NOT A MESH YOU CANNOT.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BEFORE NEXT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1851660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1508760" cy="80467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2084831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WATCH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2446020" y="1851660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377440" y="1783080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651760" y="1901952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U03 — Geometry from scratch. Point, line, edge, face, mesh, solid. The Blender lesson file for this one already exists; check the unit page.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" y="2912364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94360" y="2843784"/>
            <a:ext cx="1508760" cy="804672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3145536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BUILD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46020" y="2912364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377440" y="2843784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651760" y="2962656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Keep going on P1a. It is due Week 4 — the sequence, the diagram and three variants.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" y="3973068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4360" y="3904487"/>
            <a:ext cx="1508760" cy="804672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420624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WRITE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46020" y="3973068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2377440" y="3904487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651760" y="4023359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Your procedure as pseudocode, using the notation above. Read it aloud to someone who has not seen your model and fix what they cannot follow.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" y="5033772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94360" y="4965192"/>
            <a:ext cx="1508760" cy="804672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60" y="526694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BRING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46020" y="5033772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377440" y="4965192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651760" y="5084064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The editable file, and one question about something in it that behaves oddly.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