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02  /  SEP 1  /  U02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CONSTRUCTIVE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SOLID GEOMETRY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P2 BEGINS — DESCRIBE A SOLID AS AN EDITABLE SEQUENCE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NOTHING 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P2a ISSUED TODAY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WHY NON-DESTRUCTIVE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The same two solids, subtracted. One keeps its history; one throws it away.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349240" cy="30632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349240" cy="30632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349240" cy="502920"/>
          </a:xfrm>
          <a:prstGeom prst="rect">
            <a:avLst/>
          </a:prstGeom>
          <a:solidFill>
            <a:srgbClr val="B4B4AC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DESTRUCTIVE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60320"/>
            <a:ext cx="4800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000000"/>
                </a:solidFill>
                <a:latin typeface="Calibri"/>
              </a:rPr>
              <a:t>CUBE  −  SPHERE  →  ONE MESH</a:t>
            </a:r>
          </a:p>
          <a:p>
            <a:pPr algn="l">
              <a:lnSpc>
                <a:spcPct val="135000"/>
              </a:lnSpc>
            </a:pPr>
            <a:r>
              <a:rPr sz="8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The sphere is gone. Its radius is gone. To change anything you rebuild from scratch.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86500" y="1943100"/>
            <a:ext cx="5349240" cy="30632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17920" y="1874519"/>
            <a:ext cx="5349240" cy="30632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217920" y="1874519"/>
            <a:ext cx="53492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46520" y="1874519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NON-DESTRUCTIVE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800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000000"/>
                </a:solidFill>
                <a:latin typeface="Calibri"/>
              </a:rPr>
              <a:t>CUBE  +  SPHERE  →  DIFFERENCE  →  RESULT</a:t>
            </a:r>
          </a:p>
          <a:p>
            <a:pPr algn="l">
              <a:lnSpc>
                <a:spcPct val="135000"/>
              </a:lnSpc>
            </a:pPr>
            <a:r>
              <a:rPr sz="8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Every input is still a live node. Change the radius and everything downstream recomputes itself.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25780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P2a REQUIRES YOUR OPERATION HISTORY TO BE INTACT. YOU WILL BE ASKED TO CHANGE A PARAMETER IN FRONT OF THE CLASS.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TRANSFORMATIONS ARE ARITHMETIC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Three operations you already know, written as what they actually do.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352044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52044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35204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TRANSLATE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450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=  ADD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83464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>
                <a:solidFill>
                  <a:srgbClr val="000000"/>
                </a:solidFill>
                <a:latin typeface="Courier New"/>
              </a:rPr>
              <a:t>x' = x + dx</a:t>
            </a:r>
          </a:p>
          <a:p>
            <a:pPr algn="l">
              <a:lnSpc>
                <a:spcPct val="135000"/>
              </a:lnSpc>
            </a:pPr>
            <a:r>
              <a:rPr sz="1150">
                <a:solidFill>
                  <a:srgbClr val="000000"/>
                </a:solidFill>
                <a:latin typeface="Courier New"/>
              </a:rPr>
              <a:t>y' = y + dy</a:t>
            </a:r>
          </a:p>
          <a:p>
            <a:pPr algn="l">
              <a:lnSpc>
                <a:spcPct val="135000"/>
              </a:lnSpc>
            </a:pPr>
            <a:r>
              <a:rPr sz="1150">
                <a:solidFill>
                  <a:srgbClr val="000000"/>
                </a:solidFill>
                <a:latin typeface="Courier New"/>
              </a:rPr>
              <a:t>z' = z + dz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" y="4114800"/>
            <a:ext cx="301752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427939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>
                <a:solidFill>
                  <a:srgbClr val="000000"/>
                </a:solidFill>
                <a:latin typeface="Courier New"/>
              </a:rPr>
              <a:t>(2, 1)  +  (3, 0)   →   (5,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93692" y="1851660"/>
            <a:ext cx="352044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325112" y="1783080"/>
            <a:ext cx="352044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325112" y="1783080"/>
            <a:ext cx="35204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53712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2450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=  MULTIPLY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283464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>
                <a:solidFill>
                  <a:srgbClr val="000000"/>
                </a:solidFill>
                <a:latin typeface="Courier New"/>
              </a:rPr>
              <a:t>x' = x × f</a:t>
            </a:r>
          </a:p>
          <a:p>
            <a:pPr algn="l">
              <a:lnSpc>
                <a:spcPct val="135000"/>
              </a:lnSpc>
            </a:pPr>
            <a:r>
              <a:rPr sz="1150">
                <a:solidFill>
                  <a:srgbClr val="000000"/>
                </a:solidFill>
                <a:latin typeface="Courier New"/>
              </a:rPr>
              <a:t>y' = y × f</a:t>
            </a:r>
          </a:p>
          <a:p>
            <a:pPr algn="l">
              <a:lnSpc>
                <a:spcPct val="135000"/>
              </a:lnSpc>
            </a:pPr>
            <a:r>
              <a:rPr sz="1150">
                <a:solidFill>
                  <a:srgbClr val="000000"/>
                </a:solidFill>
                <a:latin typeface="Courier New"/>
              </a:rPr>
              <a:t>z' = z × 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81144" y="4114800"/>
            <a:ext cx="301752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81144" y="427939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>
                <a:solidFill>
                  <a:srgbClr val="000000"/>
                </a:solidFill>
                <a:latin typeface="Courier New"/>
              </a:rPr>
              <a:t>(2, 1)  ×  2        →   (4, 2)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4444" y="1851660"/>
            <a:ext cx="352044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055864" y="1783080"/>
            <a:ext cx="352044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8055864" y="1783080"/>
            <a:ext cx="35204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284464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ROTATE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1896" y="24505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=  MIX x AND 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283464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>
                <a:solidFill>
                  <a:srgbClr val="000000"/>
                </a:solidFill>
                <a:latin typeface="Courier New"/>
              </a:rPr>
              <a:t>x' = x·cosθ − y·sinθ</a:t>
            </a:r>
          </a:p>
          <a:p>
            <a:pPr algn="l">
              <a:lnSpc>
                <a:spcPct val="135000"/>
              </a:lnSpc>
            </a:pPr>
            <a:r>
              <a:rPr sz="1150">
                <a:solidFill>
                  <a:srgbClr val="000000"/>
                </a:solidFill>
                <a:latin typeface="Courier New"/>
              </a:rPr>
              <a:t>y' = x·sinθ + y·cosθ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11896" y="4114800"/>
            <a:ext cx="301752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11896" y="427939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>
                <a:solidFill>
                  <a:srgbClr val="000000"/>
                </a:solidFill>
                <a:latin typeface="Courier New"/>
              </a:rPr>
              <a:t>(1, 0)  rot 90°    →   (0, 1)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3494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66360"/>
            <a:ext cx="10972800" cy="65836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4400" y="5166360"/>
            <a:ext cx="103327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Translation and scale treat each coordinate on its own. Rotation is the only one where x and y have to talk to each other.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THREE BOOLEANS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Everything in P2a is built from these, applied in order.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3520440" cy="28346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520440" cy="28346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35204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UNION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60604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>
                <a:solidFill>
                  <a:srgbClr val="000000"/>
                </a:solidFill>
                <a:latin typeface="Arial"/>
              </a:rPr>
              <a:t>A +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61188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Everything either solid occupies.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3692" y="1851660"/>
            <a:ext cx="3520440" cy="28346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25112" y="1783080"/>
            <a:ext cx="3520440" cy="28346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325112" y="1783080"/>
            <a:ext cx="35204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53712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DIFFERENCE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60604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>
                <a:solidFill>
                  <a:srgbClr val="000000"/>
                </a:solidFill>
                <a:latin typeface="Arial"/>
              </a:rPr>
              <a:t>A −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61188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A, with B carved out of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4444" y="1851660"/>
            <a:ext cx="3520440" cy="28346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055864" y="1783080"/>
            <a:ext cx="3520440" cy="28346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055864" y="1783080"/>
            <a:ext cx="35204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284464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INTERSECTION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1896" y="260604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>
                <a:solidFill>
                  <a:srgbClr val="000000"/>
                </a:solidFill>
                <a:latin typeface="Arial"/>
              </a:rPr>
              <a:t>A ∩ 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361188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Only where both solids overlap.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960620"/>
            <a:ext cx="10972800" cy="62179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892040"/>
            <a:ext cx="10972800" cy="621792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7240" y="4892040"/>
            <a:ext cx="10607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D9E1"/>
                </a:solidFill>
                <a:latin typeface="Arial"/>
              </a:rPr>
              <a:t>ORDER MATTERS. A − B IS NOT B − A, AND YOUR DIAGRAM MUST MAKE THE OPERANDS UNAMBIGUOUS.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6B6B6B"/>
                </a:solidFill>
                <a:latin typeface="Calibri"/>
              </a:rPr>
              <a:t>P2a asks for all three. In every subtraction, label the solid you keep and the solid you remove. Reverse one once, deliberately, and you will not confuse the operands again.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THE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What we build together, in order, this class.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777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777240" cy="9098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18313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97380"/>
            <a:ext cx="9921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828800"/>
            <a:ext cx="9921240" cy="9098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920240"/>
            <a:ext cx="93726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Start with one primitive; identify node inputs, outputs and parameters.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935224"/>
            <a:ext cx="777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866644"/>
            <a:ext cx="777240" cy="90982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22097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935224"/>
            <a:ext cx="9921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866644"/>
            <a:ext cx="9921240" cy="9098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958084"/>
            <a:ext cx="93726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Translate, rotate and scale. Change the order and compare results.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973068"/>
            <a:ext cx="777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904488"/>
            <a:ext cx="777240" cy="90982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425881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973068"/>
            <a:ext cx="9921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904488"/>
            <a:ext cx="9921240" cy="9098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3995928"/>
            <a:ext cx="93726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Compare union, intersection and difference. Reverse a subtraction and explain what changes.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5010912"/>
            <a:ext cx="777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942332"/>
            <a:ext cx="777240" cy="9098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529666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5010912"/>
            <a:ext cx="9921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4942332"/>
            <a:ext cx="9921240" cy="9098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5033772"/>
            <a:ext cx="93726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Expose useful inputs and build a short massing sequence.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THE 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Write the procedure as pseudocode. Formal enough to be unambiguous, plain enough to read aloud.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1206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1206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1206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OPERATIONS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cube(size)        sphere(r)</a:t>
            </a:r>
          </a:p>
          <a:p>
            <a:pPr algn="l">
              <a:lnSpc>
                <a:spcPct val="130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cylinder(r, h)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translate(s, x, y, z)</a:t>
            </a:r>
          </a:p>
          <a:p>
            <a:pPr algn="l">
              <a:lnSpc>
                <a:spcPct val="130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rotate(s, x, y, z)    # degrees</a:t>
            </a:r>
          </a:p>
          <a:p>
            <a:pPr algn="l">
              <a:lnSpc>
                <a:spcPct val="130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scale(s, factor)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union(a, b)       intersection(a, b)</a:t>
            </a:r>
          </a:p>
          <a:p>
            <a:pPr algn="l">
              <a:lnSpc>
                <a:spcPct val="130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difference(keep, remove)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03620" y="1851660"/>
            <a:ext cx="553212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035040" y="1783080"/>
            <a:ext cx="553212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035040" y="1783080"/>
            <a:ext cx="553212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63640" y="1783080"/>
            <a:ext cx="5074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WORKED EXAMPLE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468880"/>
            <a:ext cx="49834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base   = cube(6)</a:t>
            </a:r>
          </a:p>
          <a:p>
            <a:pPr algn="l">
              <a:lnSpc>
                <a:spcPct val="135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tower  = cube(2)</a:t>
            </a:r>
          </a:p>
          <a:p>
            <a:pPr algn="l">
              <a:lnSpc>
                <a:spcPct val="135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tower  = scale(tower, 1.5)</a:t>
            </a:r>
          </a:p>
          <a:p>
            <a:pPr algn="l">
              <a:lnSpc>
                <a:spcPct val="135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tower  = translate(tower, 2, 0, 4)</a:t>
            </a:r>
          </a:p>
          <a:p>
            <a:pPr algn="l">
              <a:lnSpc>
                <a:spcPct val="135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void   = cylinder(r=1, h=8)</a:t>
            </a:r>
          </a:p>
          <a:p>
            <a:pPr algn="l">
              <a:lnSpc>
                <a:spcPct val="135000"/>
              </a:lnSpc>
            </a:pPr>
            <a:r>
              <a:rPr sz="7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5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mass   = union(base, tower)</a:t>
            </a:r>
          </a:p>
          <a:p>
            <a:pPr algn="l">
              <a:lnSpc>
                <a:spcPct val="135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result = difference(mass, void)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3494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166360"/>
            <a:ext cx="10972800" cy="65836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16636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THREE RULES: EVERY SHAPE STARTS AT THE ORIGIN · EVERY STEP ASSIGNS A NAME · EVERY DIFFERENCE NAMES WHAT IT KEEPS AND WHAT IT REMOVES.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THE SAME THING, WRITTEN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You are not asked to type this. Read it, and check that it says what the nodes you just built say.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685800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685800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86968" y="2011680"/>
            <a:ext cx="6400800" cy="201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# nine diagrams, one operation each, in this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213385"/>
            <a:ext cx="6400800" cy="201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15091"/>
            <a:ext cx="6400800" cy="201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box     = cube(1.0)                  # 1  primitive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616797"/>
            <a:ext cx="6400800" cy="201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ball    = sphere(r=0.65)             # 2  primitive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818503"/>
            <a:ext cx="6400800" cy="201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rod     = cylinder(r=0.30, h=2.0)    # 3  primitive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020209"/>
            <a:ext cx="6400800" cy="201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221915"/>
            <a:ext cx="6400800" cy="201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ball    = scale(ball, 1.15)          # 4  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423621"/>
            <a:ext cx="6400800" cy="201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ball    = translate(ball, z=0.15)    # 5  translate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625327"/>
            <a:ext cx="6400800" cy="201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rod_y   = rotate(rod, x=90)          # 6  rotate - degrees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827032"/>
            <a:ext cx="6400800" cy="201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rod_x   = rotate(rod, y=90)          # 6  same operation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028738"/>
            <a:ext cx="6400800" cy="201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4230444"/>
            <a:ext cx="6400800" cy="201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solid   = intersection(box, ball)    # 7  intersection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4432150"/>
            <a:ext cx="6400800" cy="201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cutters = union(rod, rod_y, rod_x)   # 8  union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4633856"/>
            <a:ext cx="6400800" cy="201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result  = difference(solid, cutters) # 9  difference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4835562"/>
            <a:ext cx="6400800" cy="201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" y="5037268"/>
            <a:ext cx="6400800" cy="201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# 9 keeps solid, removes cutters. draw 9 again 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5238974"/>
            <a:ext cx="6400800" cy="201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# building scale: a figure, planting, ground, shadow.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03819" y="1897380"/>
            <a:ext cx="393192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5240" y="1828800"/>
            <a:ext cx="393192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7635240" y="1828800"/>
            <a:ext cx="393192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863840" y="182880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WHAT IT MAPS ONTO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2514600"/>
            <a:ext cx="347472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parameter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vector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translation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rotation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scale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union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difference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intersection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96646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897880"/>
            <a:ext cx="10972800" cy="56692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77240" y="589788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SAME NOTATION AS THE LAST SLIDE. NINE NUMBERED STEPS, NINE FRAMES — THAT IS YOUR P2a SHEET.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00000"/>
                </a:solidFill>
                <a:latin typeface="Arial"/>
              </a:rPr>
              <a:t>HOW TO DRAW A BIG-STYLE PROCESS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Explain the building as a row of simple moves: one move per frame, read left to right.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1828800" cy="14173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1828800" cy="1417320"/>
          </a:xfrm>
          <a:prstGeom prst="rect">
            <a:avLst/>
          </a:prstGeom>
          <a:solidFill>
            <a:srgbClr val="FFFDF7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31520" y="2971800"/>
            <a:ext cx="1554480" cy="0"/>
          </a:xfrm>
          <a:prstGeom prst="rect">
            <a:avLst/>
          </a:prstGeom>
          <a:noFill/>
          <a:ln w="1905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05840" y="2468880"/>
            <a:ext cx="1005840" cy="502920"/>
          </a:xfrm>
          <a:prstGeom prst="rect">
            <a:avLst/>
          </a:prstGeom>
          <a:solidFill>
            <a:srgbClr val="00D9E1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3310128"/>
            <a:ext cx="1828800" cy="36576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39242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01  PLACE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14600" y="2354580"/>
            <a:ext cx="274320" cy="274320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948940" y="1851660"/>
            <a:ext cx="1828800" cy="14173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2880360" y="1783080"/>
            <a:ext cx="1828800" cy="1417320"/>
          </a:xfrm>
          <a:prstGeom prst="rect">
            <a:avLst/>
          </a:prstGeom>
          <a:solidFill>
            <a:srgbClr val="FFFDF7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017520" y="2971800"/>
            <a:ext cx="1554480" cy="0"/>
          </a:xfrm>
          <a:prstGeom prst="rect">
            <a:avLst/>
          </a:prstGeom>
          <a:noFill/>
          <a:ln w="1905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2468880"/>
            <a:ext cx="1005840" cy="502920"/>
          </a:xfrm>
          <a:prstGeom prst="rect">
            <a:avLst/>
          </a:prstGeom>
          <a:solidFill>
            <a:srgbClr val="F4F4EE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566160" y="2057400"/>
            <a:ext cx="457200" cy="411480"/>
          </a:xfrm>
          <a:prstGeom prst="rect">
            <a:avLst/>
          </a:prstGeom>
          <a:solidFill>
            <a:srgbClr val="00D9E1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2880360" y="3310128"/>
            <a:ext cx="1828800" cy="36576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880360" y="339242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02  STACK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800600" y="2354580"/>
            <a:ext cx="274320" cy="274320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234940" y="1851660"/>
            <a:ext cx="1828800" cy="14173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166360" y="1783080"/>
            <a:ext cx="1828800" cy="1417320"/>
          </a:xfrm>
          <a:prstGeom prst="rect">
            <a:avLst/>
          </a:prstGeom>
          <a:solidFill>
            <a:srgbClr val="FFFDF7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03520" y="2971800"/>
            <a:ext cx="1554480" cy="0"/>
          </a:xfrm>
          <a:prstGeom prst="rect">
            <a:avLst/>
          </a:prstGeom>
          <a:noFill/>
          <a:ln w="1905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77840" y="2468880"/>
            <a:ext cx="1005840" cy="502920"/>
          </a:xfrm>
          <a:prstGeom prst="rect">
            <a:avLst/>
          </a:prstGeom>
          <a:solidFill>
            <a:srgbClr val="F4F4EE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852160" y="2057400"/>
            <a:ext cx="457200" cy="411480"/>
          </a:xfrm>
          <a:prstGeom prst="rect">
            <a:avLst/>
          </a:prstGeom>
          <a:noFill/>
          <a:ln w="15875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6126480" y="2057400"/>
            <a:ext cx="457200" cy="411480"/>
          </a:xfrm>
          <a:prstGeom prst="rect">
            <a:avLst/>
          </a:prstGeom>
          <a:solidFill>
            <a:srgbClr val="00D9E1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5166360" y="3310128"/>
            <a:ext cx="1828800" cy="36576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166360" y="339242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03  SHIFT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7086600" y="2354580"/>
            <a:ext cx="274320" cy="274320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520940" y="1851660"/>
            <a:ext cx="1828800" cy="14173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452360" y="1783080"/>
            <a:ext cx="1828800" cy="1417320"/>
          </a:xfrm>
          <a:prstGeom prst="rect">
            <a:avLst/>
          </a:prstGeom>
          <a:solidFill>
            <a:srgbClr val="FFFDF7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7589520" y="2971800"/>
            <a:ext cx="1554480" cy="0"/>
          </a:xfrm>
          <a:prstGeom prst="rect">
            <a:avLst/>
          </a:prstGeom>
          <a:noFill/>
          <a:ln w="1905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863840" y="2468880"/>
            <a:ext cx="1005840" cy="502920"/>
          </a:xfrm>
          <a:prstGeom prst="rect">
            <a:avLst/>
          </a:prstGeom>
          <a:solidFill>
            <a:srgbClr val="F4F4EE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8412480" y="2057400"/>
            <a:ext cx="457200" cy="411480"/>
          </a:xfrm>
          <a:prstGeom prst="rect">
            <a:avLst/>
          </a:prstGeom>
          <a:solidFill>
            <a:srgbClr val="F4F4EE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754112" y="2679192"/>
            <a:ext cx="457200" cy="292608"/>
          </a:xfrm>
          <a:prstGeom prst="rect">
            <a:avLst/>
          </a:prstGeom>
          <a:solidFill>
            <a:srgbClr val="FF4D8D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452360" y="3310128"/>
            <a:ext cx="1828800" cy="36576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452360" y="339242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04  CARVE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9372600" y="2354580"/>
            <a:ext cx="274320" cy="274320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9806940" y="1851660"/>
            <a:ext cx="1828800" cy="14173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9738360" y="1783080"/>
            <a:ext cx="1828800" cy="1417320"/>
          </a:xfrm>
          <a:prstGeom prst="rect">
            <a:avLst/>
          </a:prstGeom>
          <a:solidFill>
            <a:srgbClr val="FFFDF7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9875520" y="2971800"/>
            <a:ext cx="1554480" cy="0"/>
          </a:xfrm>
          <a:prstGeom prst="rect">
            <a:avLst/>
          </a:prstGeom>
          <a:noFill/>
          <a:ln w="1905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10149840" y="2057400"/>
            <a:ext cx="1005840" cy="914400"/>
          </a:xfrm>
          <a:custGeom>
            <a:avLst/>
            <a:gdLst/>
            <a:ahLst/>
            <a:cxnLst/>
            <a:rect l="l" t="t" r="r" b="b"/>
            <a:pathLst>
              <a:path w="1005840" h="914400">
                <a:moveTo>
                  <a:pt x="347472" y="914400"/>
                </a:moveTo>
                <a:lnTo>
                  <a:pt x="1005840" y="914400"/>
                </a:lnTo>
                <a:lnTo>
                  <a:pt x="1005840" y="0"/>
                </a:lnTo>
                <a:lnTo>
                  <a:pt x="548640" y="0"/>
                </a:lnTo>
                <a:lnTo>
                  <a:pt x="548640" y="411480"/>
                </a:lnTo>
                <a:lnTo>
                  <a:pt x="0" y="411480"/>
                </a:lnTo>
                <a:lnTo>
                  <a:pt x="0" y="621792"/>
                </a:lnTo>
                <a:lnTo>
                  <a:pt x="347472" y="621792"/>
                </a:lnTo>
                <a:close/>
              </a:path>
            </a:pathLst>
          </a:custGeom>
          <a:solidFill>
            <a:srgbClr val="C6F035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38360" y="3310128"/>
            <a:ext cx="1828800" cy="36576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738360" y="339242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05  KEEP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2940" y="3909060"/>
            <a:ext cx="16002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594360" y="3840480"/>
            <a:ext cx="1600200" cy="51206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94360" y="399592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FRAMES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77440" y="3840480"/>
            <a:ext cx="356615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Eight or nine, numbered, all the same size, in one row or a grid.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86500" y="3909060"/>
            <a:ext cx="16002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6217920" y="3840480"/>
            <a:ext cx="1600200" cy="512064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17920" y="399592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ONE MOVE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01000" y="3840480"/>
            <a:ext cx="356615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One operation per frame. If a frame needs two verbs, split it.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2940" y="4567428"/>
            <a:ext cx="16002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594360" y="4498848"/>
            <a:ext cx="1600200" cy="51206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94360" y="4654296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SAME VIEW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77440" y="4498848"/>
            <a:ext cx="356615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Same camera, same scale in every frame, so only the move changes.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86500" y="4567428"/>
            <a:ext cx="16002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6217920" y="4498848"/>
            <a:ext cx="1600200" cy="51206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217920" y="4654296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VERBS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1000" y="4498848"/>
            <a:ext cx="356615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Caption each frame with one verb: place, stack, shift, turn, carve.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2940" y="5225796"/>
            <a:ext cx="16002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594360" y="5157216"/>
            <a:ext cx="1600200" cy="51206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594360" y="531266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ARROWS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77440" y="5157216"/>
            <a:ext cx="356615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Arrows or numbers carry the order. Nobody should have to guess it.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86500" y="5225796"/>
            <a:ext cx="16002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6217920" y="5157216"/>
            <a:ext cx="1600200" cy="512064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217920" y="531266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KEPT / REMOVED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01000" y="5157216"/>
            <a:ext cx="356615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The new part is the only colour. A removed solid gets its own colour.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4360" y="5897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6B6B6B"/>
                </a:solidFill>
                <a:latin typeface="Calibri"/>
              </a:rPr>
              <a:t>Legend above: cyan is the move in this frame, grey is what already exists, pink is the solid being removed, lime is the result.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635508"/>
            <a:ext cx="219456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94360" y="566928"/>
            <a:ext cx="2194560" cy="38404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ISSUED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52144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DF7"/>
                </a:solidFill>
                <a:latin typeface="Arial"/>
              </a:rPr>
              <a:t>P2a — CSG PROCESS AND INSTRUCTIONS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10512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9384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E500"/>
                </a:solidFill>
                <a:latin typeface="Arial"/>
              </a:rPr>
              <a:t>DUE WEEK 4 — Sep 15   /   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Explain a CSG object through a BIG-style process diagram with instructions, then 3D print it.  This first assignment is the process sheet: an ordered sequence of primitives, transformations and Booleans, drawn so another person could rebuild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3611880"/>
            <a:ext cx="3517391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STAGE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0392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THE SEQUENCE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Three primitives. Translate, rotate, scale. Union, difference, intersection.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0644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2064" y="3611880"/>
            <a:ext cx="3517391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322064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STAGE 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90644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22064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8096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THE FRAMES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8096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Eight or nine, numbered. One operation each, read in sequence.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8347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49767" y="3611880"/>
            <a:ext cx="3517391" cy="4114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9767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STAGE 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8347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049767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05799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THE LAST 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799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At building scale: a 1.75 m figure, vegetation, ground, shadow.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REQUIREMENTS — P2a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Visual quality 35% · computational understanding 25% · technical execution 20% · experimentation 10% · requirements and identity 10%.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5791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7205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One 17 × 11 inch sheet laid out as a BIG-style process diagram (in the manner of Bjarke Ingels Group's step-by-step massing diagrams): eight or nine numbered frames, one operation per frame, read in sequence.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577084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508504"/>
            <a:ext cx="777240" cy="5791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697479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577084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508504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599944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Use at least three primitives; include translation, rotation and scale, plus union, difference and intersection. Label the kept and removed solids in each subtraction.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302508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233928"/>
            <a:ext cx="777240" cy="5791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42290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302508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233928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3325368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Draw the final solid at building scale with a 1.75 m figure, vegetation, ground and shadow.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027932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3959352"/>
            <a:ext cx="777240" cy="5791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14832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4027932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3959352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4050791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Add clear instructions and matching pseudocode beside the diagrams, one step per operation, with the exposed parameters.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4753356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4684776"/>
            <a:ext cx="777240" cy="5791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48737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14499" y="4753356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645919" y="4684776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920240" y="4776215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Refer to Di Mari and Yoo's Operative Design and Di Mari's Conditional Design; name the spatial operation your sequence explores.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5478780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410199"/>
            <a:ext cx="777240" cy="5791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59917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714499" y="5478780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1645919" y="5410199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920240" y="5501639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Submit an editable graph with exposed inputs and all source operations intact.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F0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BUILD THE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Rest of the class: a working graph with something you can change in front of 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Object chosen — simple massing, eight or nine clear moves, no complex curves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First three primitives placed, each born at the origin and moved from there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At least one Boolean working, with the kept and removed solids named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Two useful inputs exposed, so a variant is one number away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Operation history intact — nothing collapsed or applied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C6F035"/>
                </a:solidFill>
                <a:latin typeface="Arial"/>
              </a:rPr>
              <a:t>LEAVE WITH A GRAPH YOU CAN CHANGE, NOT A MESH YOU CANNOT.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NEXT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WEEK 3 — Sep 8 — CSG continued, and 3D printing. P2b, the printed version of your CSG object, is issued.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BUILD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Keep going on P2a, due WEEK 4 — Sep 15: eight or nine frames, the last one at building scale, and instructions with matching pseudocode beside them.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BRING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 editable file with its inputs exposed. Next class we check that the solid is closed and measure it for printing.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READ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Di Mari and Yoo, Operative Design, and Di Mari, Conditional Design. Find the spatial operation your own sequence explores, and name it on the sheet.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