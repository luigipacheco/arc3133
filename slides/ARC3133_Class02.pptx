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D9E1"/>
        </a:solidFill>
        <a:effectLst/>
      </p:bgPr>
    </p:bg>
    <p:spTree>
      <p:nvGrpSpPr>
        <p:cNvPr id="1" name=""/>
        <p:cNvGrpSpPr/>
        <p:nvPr/>
      </p:nvGrpSpPr>
      <p:grpSpPr/>
      <p:sp>
        <p:nvSpPr>
          <p:cNvPr id="2" name="Rectangle 1"/>
          <p:cNvSpPr/>
          <p:nvPr/>
        </p:nvSpPr>
        <p:spPr>
          <a:xfrm>
            <a:off x="594360" y="1051560"/>
            <a:ext cx="10972800"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94360" y="1481328"/>
            <a:ext cx="7315200" cy="457200"/>
          </a:xfrm>
          <a:prstGeom prst="rect">
            <a:avLst/>
          </a:prstGeom>
          <a:noFill/>
        </p:spPr>
        <p:txBody>
          <a:bodyPr wrap="square" lIns="0" rIns="0" tIns="0" bIns="0" anchor="t">
            <a:spAutoFit/>
          </a:bodyPr>
          <a:lstStyle/>
          <a:p>
            <a:pPr algn="l"/>
            <a:r>
              <a:rPr sz="1800" b="1">
                <a:solidFill>
                  <a:srgbClr val="000000"/>
                </a:solidFill>
                <a:latin typeface="Arial"/>
              </a:rPr>
              <a:t>CLASS 02  /  SEP 1</a:t>
            </a:r>
          </a:p>
        </p:txBody>
      </p:sp>
      <p:sp>
        <p:nvSpPr>
          <p:cNvPr id="4" name="Rectangle 3"/>
          <p:cNvSpPr/>
          <p:nvPr/>
        </p:nvSpPr>
        <p:spPr>
          <a:xfrm>
            <a:off x="662940" y="2125980"/>
            <a:ext cx="10149840" cy="21488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2057400"/>
            <a:ext cx="10149840" cy="21488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286000"/>
            <a:ext cx="9326880" cy="1737360"/>
          </a:xfrm>
          <a:prstGeom prst="rect">
            <a:avLst/>
          </a:prstGeom>
          <a:noFill/>
        </p:spPr>
        <p:txBody>
          <a:bodyPr wrap="square" lIns="0" rIns="0" tIns="0" bIns="0" anchor="ctr">
            <a:spAutoFit/>
          </a:bodyPr>
          <a:lstStyle/>
          <a:p>
            <a:pPr algn="l">
              <a:lnSpc>
                <a:spcPct val="115000"/>
              </a:lnSpc>
            </a:pPr>
            <a:r>
              <a:rPr sz="4000" b="1">
                <a:solidFill>
                  <a:srgbClr val="000000"/>
                </a:solidFill>
                <a:latin typeface="Arial"/>
              </a:rPr>
              <a:t>TRANSFORMATIONS</a:t>
            </a:r>
          </a:p>
          <a:p>
            <a:pPr algn="l">
              <a:lnSpc>
                <a:spcPct val="115000"/>
              </a:lnSpc>
            </a:pPr>
            <a:r>
              <a:rPr sz="4000" b="1">
                <a:solidFill>
                  <a:srgbClr val="000000"/>
                </a:solidFill>
                <a:latin typeface="Arial"/>
              </a:rPr>
              <a:t>AND CSG</a:t>
            </a:r>
          </a:p>
        </p:txBody>
      </p:sp>
      <p:sp>
        <p:nvSpPr>
          <p:cNvPr id="7" name="Rectangle 6"/>
          <p:cNvSpPr/>
          <p:nvPr/>
        </p:nvSpPr>
        <p:spPr>
          <a:xfrm>
            <a:off x="662940" y="4549140"/>
            <a:ext cx="676656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94360" y="4480560"/>
            <a:ext cx="6766560" cy="566928"/>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795259" y="4549140"/>
            <a:ext cx="301752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726679" y="4480560"/>
            <a:ext cx="3017520" cy="56692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4480560"/>
            <a:ext cx="6400800" cy="566928"/>
          </a:xfrm>
          <a:prstGeom prst="rect">
            <a:avLst/>
          </a:prstGeom>
          <a:noFill/>
        </p:spPr>
        <p:txBody>
          <a:bodyPr wrap="square" lIns="0" rIns="0" tIns="0" bIns="0" anchor="ctr">
            <a:spAutoFit/>
          </a:bodyPr>
          <a:lstStyle/>
          <a:p>
            <a:pPr algn="l"/>
            <a:r>
              <a:rPr sz="1300" b="1">
                <a:solidFill>
                  <a:srgbClr val="000000"/>
                </a:solidFill>
                <a:latin typeface="Arial"/>
              </a:rPr>
              <a:t>P1 BEGINS — DESCRIBE A SOLID AS AN EDITABLE SEQUENCE</a:t>
            </a:r>
          </a:p>
        </p:txBody>
      </p:sp>
      <p:sp>
        <p:nvSpPr>
          <p:cNvPr id="12" name="TextBox 11"/>
          <p:cNvSpPr txBox="1"/>
          <p:nvPr/>
        </p:nvSpPr>
        <p:spPr>
          <a:xfrm>
            <a:off x="7726679" y="4480560"/>
            <a:ext cx="3017520" cy="566928"/>
          </a:xfrm>
          <a:prstGeom prst="rect">
            <a:avLst/>
          </a:prstGeom>
          <a:noFill/>
        </p:spPr>
        <p:txBody>
          <a:bodyPr wrap="square" lIns="0" rIns="0" tIns="0" bIns="0" anchor="ctr">
            <a:spAutoFit/>
          </a:bodyPr>
          <a:lstStyle/>
          <a:p>
            <a:pPr algn="ctr"/>
            <a:r>
              <a:rPr sz="1300" b="1">
                <a:solidFill>
                  <a:srgbClr val="000000"/>
                </a:solidFill>
                <a:latin typeface="Arial"/>
              </a:rPr>
              <a:t>NOTHING DUE</a:t>
            </a:r>
          </a:p>
        </p:txBody>
      </p:sp>
      <p:sp>
        <p:nvSpPr>
          <p:cNvPr id="13" name="TextBox 12"/>
          <p:cNvSpPr txBox="1"/>
          <p:nvPr/>
        </p:nvSpPr>
        <p:spPr>
          <a:xfrm>
            <a:off x="594360" y="5870448"/>
            <a:ext cx="10972800" cy="292608"/>
          </a:xfrm>
          <a:prstGeom prst="rect">
            <a:avLst/>
          </a:prstGeom>
          <a:noFill/>
        </p:spPr>
        <p:txBody>
          <a:bodyPr wrap="square" lIns="0" rIns="0" tIns="0" bIns="0" anchor="t">
            <a:spAutoFit/>
          </a:bodyPr>
          <a:lstStyle/>
          <a:p>
            <a:pPr algn="l"/>
            <a:r>
              <a:rPr sz="1050" b="1">
                <a:solidFill>
                  <a:srgbClr val="000000"/>
                </a:solidFill>
                <a:latin typeface="Arial"/>
              </a:rPr>
              <a:t>P1a ISSUED TODAY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WHY NON-DESTRUCTIVE</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The same two solids, subtracted. One keeps its history; one throws it away.</a:t>
            </a:r>
          </a:p>
        </p:txBody>
      </p:sp>
      <p:sp>
        <p:nvSpPr>
          <p:cNvPr id="5" name="Rectangle 4"/>
          <p:cNvSpPr/>
          <p:nvPr/>
        </p:nvSpPr>
        <p:spPr>
          <a:xfrm>
            <a:off x="662940" y="1943100"/>
            <a:ext cx="5349240" cy="30632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874519"/>
            <a:ext cx="5349240" cy="30632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874519"/>
            <a:ext cx="5349240" cy="502920"/>
          </a:xfrm>
          <a:prstGeom prst="rect">
            <a:avLst/>
          </a:prstGeom>
          <a:solidFill>
            <a:srgbClr val="B4B4AC"/>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874519"/>
            <a:ext cx="4892040" cy="502920"/>
          </a:xfrm>
          <a:prstGeom prst="rect">
            <a:avLst/>
          </a:prstGeom>
          <a:noFill/>
        </p:spPr>
        <p:txBody>
          <a:bodyPr wrap="square" lIns="0" rIns="0" tIns="0" bIns="0" anchor="ctr">
            <a:spAutoFit/>
          </a:bodyPr>
          <a:lstStyle/>
          <a:p>
            <a:pPr algn="l"/>
            <a:r>
              <a:rPr sz="1587" b="1">
                <a:solidFill>
                  <a:srgbClr val="000000"/>
                </a:solidFill>
                <a:latin typeface="Arial"/>
              </a:rPr>
              <a:t>DESTRUCTIVE</a:t>
            </a:r>
          </a:p>
        </p:txBody>
      </p:sp>
      <p:sp>
        <p:nvSpPr>
          <p:cNvPr id="9" name="TextBox 8"/>
          <p:cNvSpPr txBox="1"/>
          <p:nvPr/>
        </p:nvSpPr>
        <p:spPr>
          <a:xfrm>
            <a:off x="868680" y="2560320"/>
            <a:ext cx="4800600" cy="2011680"/>
          </a:xfrm>
          <a:prstGeom prst="rect">
            <a:avLst/>
          </a:prstGeom>
          <a:noFill/>
        </p:spPr>
        <p:txBody>
          <a:bodyPr wrap="square" lIns="0" rIns="0" tIns="0" bIns="0" anchor="t">
            <a:spAutoFit/>
          </a:bodyPr>
          <a:lstStyle/>
          <a:p>
            <a:pPr algn="l">
              <a:lnSpc>
                <a:spcPct val="135000"/>
              </a:lnSpc>
            </a:pPr>
            <a:r>
              <a:rPr sz="1400" b="1">
                <a:solidFill>
                  <a:srgbClr val="000000"/>
                </a:solidFill>
                <a:latin typeface="Calibri"/>
              </a:rPr>
              <a:t>CUBE  −  SPHERE  →  ONE MESH</a:t>
            </a:r>
          </a:p>
          <a:p>
            <a:pPr algn="l">
              <a:lnSpc>
                <a:spcPct val="135000"/>
              </a:lnSpc>
            </a:pPr>
            <a:r>
              <a:rPr sz="800">
                <a:solidFill>
                  <a:srgbClr val="000000"/>
                </a:solidFill>
                <a:latin typeface="Calibri"/>
              </a:rPr>
              <a:t> </a:t>
            </a:r>
          </a:p>
          <a:p>
            <a:pPr algn="l">
              <a:lnSpc>
                <a:spcPct val="135000"/>
              </a:lnSpc>
            </a:pPr>
            <a:r>
              <a:rPr sz="1400">
                <a:solidFill>
                  <a:srgbClr val="000000"/>
                </a:solidFill>
                <a:latin typeface="Calibri"/>
              </a:rPr>
              <a:t>The sphere is gone. Its radius is gone. To change anything you rebuild from scratch.</a:t>
            </a:r>
          </a:p>
        </p:txBody>
      </p:sp>
      <p:sp>
        <p:nvSpPr>
          <p:cNvPr id="10" name="Rectangle 9"/>
          <p:cNvSpPr/>
          <p:nvPr/>
        </p:nvSpPr>
        <p:spPr>
          <a:xfrm>
            <a:off x="6286500" y="1943100"/>
            <a:ext cx="5349240" cy="30632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17920" y="1874519"/>
            <a:ext cx="5349240" cy="30632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17920" y="1874519"/>
            <a:ext cx="534924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1874519"/>
            <a:ext cx="4892040" cy="502920"/>
          </a:xfrm>
          <a:prstGeom prst="rect">
            <a:avLst/>
          </a:prstGeom>
          <a:noFill/>
        </p:spPr>
        <p:txBody>
          <a:bodyPr wrap="square" lIns="0" rIns="0" tIns="0" bIns="0" anchor="ctr">
            <a:spAutoFit/>
          </a:bodyPr>
          <a:lstStyle/>
          <a:p>
            <a:pPr algn="l"/>
            <a:r>
              <a:rPr sz="1587" b="1">
                <a:solidFill>
                  <a:srgbClr val="000000"/>
                </a:solidFill>
                <a:latin typeface="Arial"/>
              </a:rPr>
              <a:t>NON-DESTRUCTIVE</a:t>
            </a:r>
          </a:p>
        </p:txBody>
      </p:sp>
      <p:sp>
        <p:nvSpPr>
          <p:cNvPr id="14" name="TextBox 13"/>
          <p:cNvSpPr txBox="1"/>
          <p:nvPr/>
        </p:nvSpPr>
        <p:spPr>
          <a:xfrm>
            <a:off x="6492240" y="2560320"/>
            <a:ext cx="4800600" cy="2011680"/>
          </a:xfrm>
          <a:prstGeom prst="rect">
            <a:avLst/>
          </a:prstGeom>
          <a:noFill/>
        </p:spPr>
        <p:txBody>
          <a:bodyPr wrap="square" lIns="0" rIns="0" tIns="0" bIns="0" anchor="t">
            <a:spAutoFit/>
          </a:bodyPr>
          <a:lstStyle/>
          <a:p>
            <a:pPr algn="l">
              <a:lnSpc>
                <a:spcPct val="135000"/>
              </a:lnSpc>
            </a:pPr>
            <a:r>
              <a:rPr sz="1400" b="1">
                <a:solidFill>
                  <a:srgbClr val="000000"/>
                </a:solidFill>
                <a:latin typeface="Calibri"/>
              </a:rPr>
              <a:t>CUBE  +  SPHERE  →  SUBTRACT  →  RESULT</a:t>
            </a:r>
          </a:p>
          <a:p>
            <a:pPr algn="l">
              <a:lnSpc>
                <a:spcPct val="135000"/>
              </a:lnSpc>
            </a:pPr>
            <a:r>
              <a:rPr sz="800">
                <a:solidFill>
                  <a:srgbClr val="000000"/>
                </a:solidFill>
                <a:latin typeface="Calibri"/>
              </a:rPr>
              <a:t> </a:t>
            </a:r>
          </a:p>
          <a:p>
            <a:pPr algn="l">
              <a:lnSpc>
                <a:spcPct val="135000"/>
              </a:lnSpc>
            </a:pPr>
            <a:r>
              <a:rPr sz="1400">
                <a:solidFill>
                  <a:srgbClr val="000000"/>
                </a:solidFill>
                <a:latin typeface="Calibri"/>
              </a:rPr>
              <a:t>Every input is still a live node. Change the radius and everything downstream recomputes itself.</a:t>
            </a:r>
          </a:p>
        </p:txBody>
      </p:sp>
      <p:sp>
        <p:nvSpPr>
          <p:cNvPr id="15" name="Rectangle 14"/>
          <p:cNvSpPr/>
          <p:nvPr/>
        </p:nvSpPr>
        <p:spPr>
          <a:xfrm>
            <a:off x="662940" y="532638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4360" y="5257800"/>
            <a:ext cx="10972800" cy="658368"/>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5257800"/>
            <a:ext cx="10607040" cy="658368"/>
          </a:xfrm>
          <a:prstGeom prst="rect">
            <a:avLst/>
          </a:prstGeom>
          <a:noFill/>
        </p:spPr>
        <p:txBody>
          <a:bodyPr wrap="square" lIns="0" rIns="0" tIns="0" bIns="0" anchor="ctr">
            <a:spAutoFit/>
          </a:bodyPr>
          <a:lstStyle/>
          <a:p>
            <a:pPr algn="ctr"/>
            <a:r>
              <a:rPr sz="1250" b="1">
                <a:solidFill>
                  <a:srgbClr val="000000"/>
                </a:solidFill>
                <a:latin typeface="Arial"/>
              </a:rPr>
              <a:t>P1a REQUIRES YOUR OPERATION HISTORY TO BE INTACT. YOU WILL BE ASKED TO CHANGE A PARAMETER IN FRONT OF THE CLASS.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TRANSFORMATIONS ARE ARITHMETIC</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Three operations you already know, written as what they actually do.</a:t>
            </a:r>
          </a:p>
        </p:txBody>
      </p:sp>
      <p:sp>
        <p:nvSpPr>
          <p:cNvPr id="5" name="Rectangle 4"/>
          <p:cNvSpPr/>
          <p:nvPr/>
        </p:nvSpPr>
        <p:spPr>
          <a:xfrm>
            <a:off x="662940" y="1851660"/>
            <a:ext cx="3520440" cy="31089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3520440" cy="31089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35204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3063240" cy="502920"/>
          </a:xfrm>
          <a:prstGeom prst="rect">
            <a:avLst/>
          </a:prstGeom>
          <a:noFill/>
        </p:spPr>
        <p:txBody>
          <a:bodyPr wrap="square" lIns="0" rIns="0" tIns="0" bIns="0" anchor="ctr">
            <a:spAutoFit/>
          </a:bodyPr>
          <a:lstStyle/>
          <a:p>
            <a:pPr algn="l"/>
            <a:r>
              <a:rPr sz="1500" b="1">
                <a:solidFill>
                  <a:srgbClr val="000000"/>
                </a:solidFill>
                <a:latin typeface="Arial"/>
              </a:rPr>
              <a:t>MOVE</a:t>
            </a:r>
          </a:p>
        </p:txBody>
      </p:sp>
      <p:sp>
        <p:nvSpPr>
          <p:cNvPr id="9" name="TextBox 8"/>
          <p:cNvSpPr txBox="1"/>
          <p:nvPr/>
        </p:nvSpPr>
        <p:spPr>
          <a:xfrm>
            <a:off x="850392" y="2450592"/>
            <a:ext cx="3017520" cy="274320"/>
          </a:xfrm>
          <a:prstGeom prst="rect">
            <a:avLst/>
          </a:prstGeom>
          <a:noFill/>
        </p:spPr>
        <p:txBody>
          <a:bodyPr wrap="square" lIns="0" rIns="0" tIns="0" bIns="0" anchor="t">
            <a:spAutoFit/>
          </a:bodyPr>
          <a:lstStyle/>
          <a:p>
            <a:pPr algn="l"/>
            <a:r>
              <a:rPr sz="1200" b="1">
                <a:solidFill>
                  <a:srgbClr val="000000"/>
                </a:solidFill>
                <a:latin typeface="Arial"/>
              </a:rPr>
              <a:t>=  ADD</a:t>
            </a:r>
          </a:p>
        </p:txBody>
      </p:sp>
      <p:sp>
        <p:nvSpPr>
          <p:cNvPr id="10" name="TextBox 9"/>
          <p:cNvSpPr txBox="1"/>
          <p:nvPr/>
        </p:nvSpPr>
        <p:spPr>
          <a:xfrm>
            <a:off x="850392" y="2834640"/>
            <a:ext cx="3017520" cy="1097280"/>
          </a:xfrm>
          <a:prstGeom prst="rect">
            <a:avLst/>
          </a:prstGeom>
          <a:noFill/>
        </p:spPr>
        <p:txBody>
          <a:bodyPr wrap="square" lIns="0" rIns="0" tIns="0" bIns="0" anchor="t">
            <a:spAutoFit/>
          </a:bodyPr>
          <a:lstStyle/>
          <a:p>
            <a:pPr algn="l">
              <a:lnSpc>
                <a:spcPct val="135000"/>
              </a:lnSpc>
            </a:pPr>
            <a:r>
              <a:rPr sz="1150">
                <a:solidFill>
                  <a:srgbClr val="000000"/>
                </a:solidFill>
                <a:latin typeface="Courier New"/>
              </a:rPr>
              <a:t>x' = x + dx</a:t>
            </a:r>
          </a:p>
          <a:p>
            <a:pPr algn="l">
              <a:lnSpc>
                <a:spcPct val="135000"/>
              </a:lnSpc>
            </a:pPr>
            <a:r>
              <a:rPr sz="1150">
                <a:solidFill>
                  <a:srgbClr val="000000"/>
                </a:solidFill>
                <a:latin typeface="Courier New"/>
              </a:rPr>
              <a:t>y' = y + dy</a:t>
            </a:r>
          </a:p>
          <a:p>
            <a:pPr algn="l">
              <a:lnSpc>
                <a:spcPct val="135000"/>
              </a:lnSpc>
            </a:pPr>
            <a:r>
              <a:rPr sz="1150">
                <a:solidFill>
                  <a:srgbClr val="000000"/>
                </a:solidFill>
                <a:latin typeface="Courier New"/>
              </a:rPr>
              <a:t>z' = z + dz</a:t>
            </a:r>
          </a:p>
        </p:txBody>
      </p:sp>
      <p:sp>
        <p:nvSpPr>
          <p:cNvPr id="11" name="Rectangle 10"/>
          <p:cNvSpPr/>
          <p:nvPr/>
        </p:nvSpPr>
        <p:spPr>
          <a:xfrm>
            <a:off x="850392" y="4114800"/>
            <a:ext cx="3017520" cy="0"/>
          </a:xfrm>
          <a:prstGeom prst="rect">
            <a:avLst/>
          </a:prstGeom>
          <a:noFill/>
          <a:ln w="19050">
            <a:solidFill>
              <a:srgbClr val="B4B4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279392"/>
            <a:ext cx="3017520" cy="457200"/>
          </a:xfrm>
          <a:prstGeom prst="rect">
            <a:avLst/>
          </a:prstGeom>
          <a:noFill/>
        </p:spPr>
        <p:txBody>
          <a:bodyPr wrap="square" lIns="0" rIns="0" tIns="0" bIns="0" anchor="t">
            <a:spAutoFit/>
          </a:bodyPr>
          <a:lstStyle/>
          <a:p>
            <a:pPr algn="l"/>
            <a:r>
              <a:rPr sz="1050">
                <a:solidFill>
                  <a:srgbClr val="000000"/>
                </a:solidFill>
                <a:latin typeface="Courier New"/>
              </a:rPr>
              <a:t>(2, 1)  +  (3, 0)   →   (5, 1)</a:t>
            </a:r>
          </a:p>
        </p:txBody>
      </p:sp>
      <p:sp>
        <p:nvSpPr>
          <p:cNvPr id="13" name="Rectangle 12"/>
          <p:cNvSpPr/>
          <p:nvPr/>
        </p:nvSpPr>
        <p:spPr>
          <a:xfrm>
            <a:off x="4393692" y="1851660"/>
            <a:ext cx="3520440" cy="31089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25112" y="1783080"/>
            <a:ext cx="3520440" cy="31089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25112" y="1783080"/>
            <a:ext cx="352044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53712" y="1783080"/>
            <a:ext cx="3063240" cy="502920"/>
          </a:xfrm>
          <a:prstGeom prst="rect">
            <a:avLst/>
          </a:prstGeom>
          <a:noFill/>
        </p:spPr>
        <p:txBody>
          <a:bodyPr wrap="square" lIns="0" rIns="0" tIns="0" bIns="0" anchor="ctr">
            <a:spAutoFit/>
          </a:bodyPr>
          <a:lstStyle/>
          <a:p>
            <a:pPr algn="l"/>
            <a:r>
              <a:rPr sz="1500" b="1">
                <a:solidFill>
                  <a:srgbClr val="000000"/>
                </a:solidFill>
                <a:latin typeface="Arial"/>
              </a:rPr>
              <a:t>SCALE</a:t>
            </a:r>
          </a:p>
        </p:txBody>
      </p:sp>
      <p:sp>
        <p:nvSpPr>
          <p:cNvPr id="17" name="TextBox 16"/>
          <p:cNvSpPr txBox="1"/>
          <p:nvPr/>
        </p:nvSpPr>
        <p:spPr>
          <a:xfrm>
            <a:off x="4581144" y="2450592"/>
            <a:ext cx="3017520" cy="274320"/>
          </a:xfrm>
          <a:prstGeom prst="rect">
            <a:avLst/>
          </a:prstGeom>
          <a:noFill/>
        </p:spPr>
        <p:txBody>
          <a:bodyPr wrap="square" lIns="0" rIns="0" tIns="0" bIns="0" anchor="t">
            <a:spAutoFit/>
          </a:bodyPr>
          <a:lstStyle/>
          <a:p>
            <a:pPr algn="l"/>
            <a:r>
              <a:rPr sz="1200" b="1">
                <a:solidFill>
                  <a:srgbClr val="000000"/>
                </a:solidFill>
                <a:latin typeface="Arial"/>
              </a:rPr>
              <a:t>=  MULTIPLY</a:t>
            </a:r>
          </a:p>
        </p:txBody>
      </p:sp>
      <p:sp>
        <p:nvSpPr>
          <p:cNvPr id="18" name="TextBox 17"/>
          <p:cNvSpPr txBox="1"/>
          <p:nvPr/>
        </p:nvSpPr>
        <p:spPr>
          <a:xfrm>
            <a:off x="4581144" y="2834640"/>
            <a:ext cx="3017520" cy="1097280"/>
          </a:xfrm>
          <a:prstGeom prst="rect">
            <a:avLst/>
          </a:prstGeom>
          <a:noFill/>
        </p:spPr>
        <p:txBody>
          <a:bodyPr wrap="square" lIns="0" rIns="0" tIns="0" bIns="0" anchor="t">
            <a:spAutoFit/>
          </a:bodyPr>
          <a:lstStyle/>
          <a:p>
            <a:pPr algn="l">
              <a:lnSpc>
                <a:spcPct val="135000"/>
              </a:lnSpc>
            </a:pPr>
            <a:r>
              <a:rPr sz="1150">
                <a:solidFill>
                  <a:srgbClr val="000000"/>
                </a:solidFill>
                <a:latin typeface="Courier New"/>
              </a:rPr>
              <a:t>x' = x × f</a:t>
            </a:r>
          </a:p>
          <a:p>
            <a:pPr algn="l">
              <a:lnSpc>
                <a:spcPct val="135000"/>
              </a:lnSpc>
            </a:pPr>
            <a:r>
              <a:rPr sz="1150">
                <a:solidFill>
                  <a:srgbClr val="000000"/>
                </a:solidFill>
                <a:latin typeface="Courier New"/>
              </a:rPr>
              <a:t>y' = y × f</a:t>
            </a:r>
          </a:p>
          <a:p>
            <a:pPr algn="l">
              <a:lnSpc>
                <a:spcPct val="135000"/>
              </a:lnSpc>
            </a:pPr>
            <a:r>
              <a:rPr sz="1150">
                <a:solidFill>
                  <a:srgbClr val="000000"/>
                </a:solidFill>
                <a:latin typeface="Courier New"/>
              </a:rPr>
              <a:t>z' = z × f</a:t>
            </a:r>
          </a:p>
        </p:txBody>
      </p:sp>
      <p:sp>
        <p:nvSpPr>
          <p:cNvPr id="19" name="Rectangle 18"/>
          <p:cNvSpPr/>
          <p:nvPr/>
        </p:nvSpPr>
        <p:spPr>
          <a:xfrm>
            <a:off x="4581144" y="4114800"/>
            <a:ext cx="3017520" cy="0"/>
          </a:xfrm>
          <a:prstGeom prst="rect">
            <a:avLst/>
          </a:prstGeom>
          <a:noFill/>
          <a:ln w="19050">
            <a:solidFill>
              <a:srgbClr val="B4B4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81144" y="4279392"/>
            <a:ext cx="3017520" cy="457200"/>
          </a:xfrm>
          <a:prstGeom prst="rect">
            <a:avLst/>
          </a:prstGeom>
          <a:noFill/>
        </p:spPr>
        <p:txBody>
          <a:bodyPr wrap="square" lIns="0" rIns="0" tIns="0" bIns="0" anchor="t">
            <a:spAutoFit/>
          </a:bodyPr>
          <a:lstStyle/>
          <a:p>
            <a:pPr algn="l"/>
            <a:r>
              <a:rPr sz="1050">
                <a:solidFill>
                  <a:srgbClr val="000000"/>
                </a:solidFill>
                <a:latin typeface="Courier New"/>
              </a:rPr>
              <a:t>(2, 1)  ×  2        →   (4, 2)</a:t>
            </a:r>
          </a:p>
        </p:txBody>
      </p:sp>
      <p:sp>
        <p:nvSpPr>
          <p:cNvPr id="21" name="Rectangle 20"/>
          <p:cNvSpPr/>
          <p:nvPr/>
        </p:nvSpPr>
        <p:spPr>
          <a:xfrm>
            <a:off x="8124444" y="1851660"/>
            <a:ext cx="3520440" cy="31089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055864" y="1783080"/>
            <a:ext cx="3520440" cy="31089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055864" y="1783080"/>
            <a:ext cx="352044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84464" y="1783080"/>
            <a:ext cx="3063240" cy="502920"/>
          </a:xfrm>
          <a:prstGeom prst="rect">
            <a:avLst/>
          </a:prstGeom>
          <a:noFill/>
        </p:spPr>
        <p:txBody>
          <a:bodyPr wrap="square" lIns="0" rIns="0" tIns="0" bIns="0" anchor="ctr">
            <a:spAutoFit/>
          </a:bodyPr>
          <a:lstStyle/>
          <a:p>
            <a:pPr algn="l"/>
            <a:r>
              <a:rPr sz="1500" b="1">
                <a:solidFill>
                  <a:srgbClr val="000000"/>
                </a:solidFill>
                <a:latin typeface="Arial"/>
              </a:rPr>
              <a:t>ROTATE</a:t>
            </a:r>
          </a:p>
        </p:txBody>
      </p:sp>
      <p:sp>
        <p:nvSpPr>
          <p:cNvPr id="25" name="TextBox 24"/>
          <p:cNvSpPr txBox="1"/>
          <p:nvPr/>
        </p:nvSpPr>
        <p:spPr>
          <a:xfrm>
            <a:off x="8311896" y="2450592"/>
            <a:ext cx="3017520" cy="274320"/>
          </a:xfrm>
          <a:prstGeom prst="rect">
            <a:avLst/>
          </a:prstGeom>
          <a:noFill/>
        </p:spPr>
        <p:txBody>
          <a:bodyPr wrap="square" lIns="0" rIns="0" tIns="0" bIns="0" anchor="t">
            <a:spAutoFit/>
          </a:bodyPr>
          <a:lstStyle/>
          <a:p>
            <a:pPr algn="l"/>
            <a:r>
              <a:rPr sz="1200" b="1">
                <a:solidFill>
                  <a:srgbClr val="000000"/>
                </a:solidFill>
                <a:latin typeface="Arial"/>
              </a:rPr>
              <a:t>=  MIX x AND y</a:t>
            </a:r>
          </a:p>
        </p:txBody>
      </p:sp>
      <p:sp>
        <p:nvSpPr>
          <p:cNvPr id="26" name="TextBox 25"/>
          <p:cNvSpPr txBox="1"/>
          <p:nvPr/>
        </p:nvSpPr>
        <p:spPr>
          <a:xfrm>
            <a:off x="8311896" y="2834640"/>
            <a:ext cx="3017520" cy="1097280"/>
          </a:xfrm>
          <a:prstGeom prst="rect">
            <a:avLst/>
          </a:prstGeom>
          <a:noFill/>
        </p:spPr>
        <p:txBody>
          <a:bodyPr wrap="square" lIns="0" rIns="0" tIns="0" bIns="0" anchor="t">
            <a:spAutoFit/>
          </a:bodyPr>
          <a:lstStyle/>
          <a:p>
            <a:pPr algn="l">
              <a:lnSpc>
                <a:spcPct val="135000"/>
              </a:lnSpc>
            </a:pPr>
            <a:r>
              <a:rPr sz="1150">
                <a:solidFill>
                  <a:srgbClr val="000000"/>
                </a:solidFill>
                <a:latin typeface="Courier New"/>
              </a:rPr>
              <a:t>x' = x·cosθ − y·sinθ</a:t>
            </a:r>
          </a:p>
          <a:p>
            <a:pPr algn="l">
              <a:lnSpc>
                <a:spcPct val="135000"/>
              </a:lnSpc>
            </a:pPr>
            <a:r>
              <a:rPr sz="1150">
                <a:solidFill>
                  <a:srgbClr val="000000"/>
                </a:solidFill>
                <a:latin typeface="Courier New"/>
              </a:rPr>
              <a:t>y' = x·sinθ + y·cosθ</a:t>
            </a:r>
          </a:p>
        </p:txBody>
      </p:sp>
      <p:sp>
        <p:nvSpPr>
          <p:cNvPr id="27" name="Rectangle 26"/>
          <p:cNvSpPr/>
          <p:nvPr/>
        </p:nvSpPr>
        <p:spPr>
          <a:xfrm>
            <a:off x="8311896" y="4114800"/>
            <a:ext cx="3017520" cy="0"/>
          </a:xfrm>
          <a:prstGeom prst="rect">
            <a:avLst/>
          </a:prstGeom>
          <a:noFill/>
          <a:ln w="19050">
            <a:solidFill>
              <a:srgbClr val="B4B4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11896" y="4279392"/>
            <a:ext cx="3017520" cy="457200"/>
          </a:xfrm>
          <a:prstGeom prst="rect">
            <a:avLst/>
          </a:prstGeom>
          <a:noFill/>
        </p:spPr>
        <p:txBody>
          <a:bodyPr wrap="square" lIns="0" rIns="0" tIns="0" bIns="0" anchor="t">
            <a:spAutoFit/>
          </a:bodyPr>
          <a:lstStyle/>
          <a:p>
            <a:pPr algn="l"/>
            <a:r>
              <a:rPr sz="1050">
                <a:solidFill>
                  <a:srgbClr val="000000"/>
                </a:solidFill>
                <a:latin typeface="Courier New"/>
              </a:rPr>
              <a:t>(1, 0)  rot 90°    →   (0, 1)</a:t>
            </a:r>
          </a:p>
        </p:txBody>
      </p:sp>
      <p:sp>
        <p:nvSpPr>
          <p:cNvPr id="29" name="Rectangle 28"/>
          <p:cNvSpPr/>
          <p:nvPr/>
        </p:nvSpPr>
        <p:spPr>
          <a:xfrm>
            <a:off x="662940" y="523494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5166360"/>
            <a:ext cx="10972800" cy="65836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4400" y="5166360"/>
            <a:ext cx="10332720" cy="658368"/>
          </a:xfrm>
          <a:prstGeom prst="rect">
            <a:avLst/>
          </a:prstGeom>
          <a:noFill/>
        </p:spPr>
        <p:txBody>
          <a:bodyPr wrap="square" lIns="0" rIns="0" tIns="0" bIns="0" anchor="ctr">
            <a:spAutoFit/>
          </a:bodyPr>
          <a:lstStyle/>
          <a:p>
            <a:pPr algn="l"/>
            <a:r>
              <a:rPr sz="1250" b="1">
                <a:solidFill>
                  <a:srgbClr val="000000"/>
                </a:solidFill>
                <a:latin typeface="Arial"/>
              </a:rPr>
              <a:t>Move and scale treat each coordinate on its own. Rotation is the only one where x and y have to talk to each other.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THREE BOOLEANS</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Everything in P1a is built from these, applied in order.</a:t>
            </a:r>
          </a:p>
        </p:txBody>
      </p:sp>
      <p:sp>
        <p:nvSpPr>
          <p:cNvPr id="5" name="Rectangle 4"/>
          <p:cNvSpPr/>
          <p:nvPr/>
        </p:nvSpPr>
        <p:spPr>
          <a:xfrm>
            <a:off x="662940" y="1851660"/>
            <a:ext cx="3520440" cy="2834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3520440" cy="28346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35204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3063240" cy="502920"/>
          </a:xfrm>
          <a:prstGeom prst="rect">
            <a:avLst/>
          </a:prstGeom>
          <a:noFill/>
        </p:spPr>
        <p:txBody>
          <a:bodyPr wrap="square" lIns="0" rIns="0" tIns="0" bIns="0" anchor="ctr">
            <a:spAutoFit/>
          </a:bodyPr>
          <a:lstStyle/>
          <a:p>
            <a:pPr algn="l"/>
            <a:r>
              <a:rPr sz="1500" b="1">
                <a:solidFill>
                  <a:srgbClr val="000000"/>
                </a:solidFill>
                <a:latin typeface="Arial"/>
              </a:rPr>
              <a:t>UNION</a:t>
            </a:r>
          </a:p>
        </p:txBody>
      </p:sp>
      <p:sp>
        <p:nvSpPr>
          <p:cNvPr id="9" name="TextBox 8"/>
          <p:cNvSpPr txBox="1"/>
          <p:nvPr/>
        </p:nvSpPr>
        <p:spPr>
          <a:xfrm>
            <a:off x="850392" y="2606040"/>
            <a:ext cx="3017520" cy="640080"/>
          </a:xfrm>
          <a:prstGeom prst="rect">
            <a:avLst/>
          </a:prstGeom>
          <a:noFill/>
        </p:spPr>
        <p:txBody>
          <a:bodyPr wrap="square" lIns="0" rIns="0" tIns="0" bIns="0" anchor="t">
            <a:spAutoFit/>
          </a:bodyPr>
          <a:lstStyle/>
          <a:p>
            <a:pPr algn="ctr"/>
            <a:r>
              <a:rPr sz="3000" b="1">
                <a:solidFill>
                  <a:srgbClr val="000000"/>
                </a:solidFill>
                <a:latin typeface="Arial"/>
              </a:rPr>
              <a:t>A + B</a:t>
            </a:r>
          </a:p>
        </p:txBody>
      </p:sp>
      <p:sp>
        <p:nvSpPr>
          <p:cNvPr id="10" name="TextBox 9"/>
          <p:cNvSpPr txBox="1"/>
          <p:nvPr/>
        </p:nvSpPr>
        <p:spPr>
          <a:xfrm>
            <a:off x="850392" y="3611880"/>
            <a:ext cx="3017520" cy="731520"/>
          </a:xfrm>
          <a:prstGeom prst="rect">
            <a:avLst/>
          </a:prstGeom>
          <a:noFill/>
        </p:spPr>
        <p:txBody>
          <a:bodyPr wrap="square" lIns="0" rIns="0" tIns="0" bIns="0" anchor="t">
            <a:spAutoFit/>
          </a:bodyPr>
          <a:lstStyle/>
          <a:p>
            <a:pPr algn="ctr">
              <a:lnSpc>
                <a:spcPct val="130000"/>
              </a:lnSpc>
            </a:pPr>
            <a:r>
              <a:rPr sz="1300">
                <a:solidFill>
                  <a:srgbClr val="000000"/>
                </a:solidFill>
                <a:latin typeface="Calibri"/>
              </a:rPr>
              <a:t>Everything either solid occupies.</a:t>
            </a:r>
          </a:p>
        </p:txBody>
      </p:sp>
      <p:sp>
        <p:nvSpPr>
          <p:cNvPr id="11" name="Rectangle 10"/>
          <p:cNvSpPr/>
          <p:nvPr/>
        </p:nvSpPr>
        <p:spPr>
          <a:xfrm>
            <a:off x="4393692" y="1851660"/>
            <a:ext cx="3520440" cy="2834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5112" y="1783080"/>
            <a:ext cx="3520440" cy="28346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25112" y="1783080"/>
            <a:ext cx="352044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53712" y="1783080"/>
            <a:ext cx="3063240" cy="502920"/>
          </a:xfrm>
          <a:prstGeom prst="rect">
            <a:avLst/>
          </a:prstGeom>
          <a:noFill/>
        </p:spPr>
        <p:txBody>
          <a:bodyPr wrap="square" lIns="0" rIns="0" tIns="0" bIns="0" anchor="ctr">
            <a:spAutoFit/>
          </a:bodyPr>
          <a:lstStyle/>
          <a:p>
            <a:pPr algn="l"/>
            <a:r>
              <a:rPr sz="1500" b="1">
                <a:solidFill>
                  <a:srgbClr val="000000"/>
                </a:solidFill>
                <a:latin typeface="Arial"/>
              </a:rPr>
              <a:t>DIFFERENCE</a:t>
            </a:r>
          </a:p>
        </p:txBody>
      </p:sp>
      <p:sp>
        <p:nvSpPr>
          <p:cNvPr id="15" name="TextBox 14"/>
          <p:cNvSpPr txBox="1"/>
          <p:nvPr/>
        </p:nvSpPr>
        <p:spPr>
          <a:xfrm>
            <a:off x="4581144" y="2606040"/>
            <a:ext cx="3017520" cy="640080"/>
          </a:xfrm>
          <a:prstGeom prst="rect">
            <a:avLst/>
          </a:prstGeom>
          <a:noFill/>
        </p:spPr>
        <p:txBody>
          <a:bodyPr wrap="square" lIns="0" rIns="0" tIns="0" bIns="0" anchor="t">
            <a:spAutoFit/>
          </a:bodyPr>
          <a:lstStyle/>
          <a:p>
            <a:pPr algn="ctr"/>
            <a:r>
              <a:rPr sz="3000" b="1">
                <a:solidFill>
                  <a:srgbClr val="000000"/>
                </a:solidFill>
                <a:latin typeface="Arial"/>
              </a:rPr>
              <a:t>A − B</a:t>
            </a:r>
          </a:p>
        </p:txBody>
      </p:sp>
      <p:sp>
        <p:nvSpPr>
          <p:cNvPr id="16" name="TextBox 15"/>
          <p:cNvSpPr txBox="1"/>
          <p:nvPr/>
        </p:nvSpPr>
        <p:spPr>
          <a:xfrm>
            <a:off x="4581144" y="3611880"/>
            <a:ext cx="3017520" cy="731520"/>
          </a:xfrm>
          <a:prstGeom prst="rect">
            <a:avLst/>
          </a:prstGeom>
          <a:noFill/>
        </p:spPr>
        <p:txBody>
          <a:bodyPr wrap="square" lIns="0" rIns="0" tIns="0" bIns="0" anchor="t">
            <a:spAutoFit/>
          </a:bodyPr>
          <a:lstStyle/>
          <a:p>
            <a:pPr algn="ctr">
              <a:lnSpc>
                <a:spcPct val="130000"/>
              </a:lnSpc>
            </a:pPr>
            <a:r>
              <a:rPr sz="1300">
                <a:solidFill>
                  <a:srgbClr val="000000"/>
                </a:solidFill>
                <a:latin typeface="Calibri"/>
              </a:rPr>
              <a:t>A, with B carved out of it.</a:t>
            </a:r>
          </a:p>
        </p:txBody>
      </p:sp>
      <p:sp>
        <p:nvSpPr>
          <p:cNvPr id="17" name="Rectangle 16"/>
          <p:cNvSpPr/>
          <p:nvPr/>
        </p:nvSpPr>
        <p:spPr>
          <a:xfrm>
            <a:off x="8124444" y="1851660"/>
            <a:ext cx="3520440" cy="2834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55864" y="1783080"/>
            <a:ext cx="3520440" cy="28346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55864" y="1783080"/>
            <a:ext cx="352044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84464" y="1783080"/>
            <a:ext cx="3063240" cy="502920"/>
          </a:xfrm>
          <a:prstGeom prst="rect">
            <a:avLst/>
          </a:prstGeom>
          <a:noFill/>
        </p:spPr>
        <p:txBody>
          <a:bodyPr wrap="square" lIns="0" rIns="0" tIns="0" bIns="0" anchor="ctr">
            <a:spAutoFit/>
          </a:bodyPr>
          <a:lstStyle/>
          <a:p>
            <a:pPr algn="l"/>
            <a:r>
              <a:rPr sz="1500" b="1">
                <a:solidFill>
                  <a:srgbClr val="000000"/>
                </a:solidFill>
                <a:latin typeface="Arial"/>
              </a:rPr>
              <a:t>INTERSECTION</a:t>
            </a:r>
          </a:p>
        </p:txBody>
      </p:sp>
      <p:sp>
        <p:nvSpPr>
          <p:cNvPr id="21" name="TextBox 20"/>
          <p:cNvSpPr txBox="1"/>
          <p:nvPr/>
        </p:nvSpPr>
        <p:spPr>
          <a:xfrm>
            <a:off x="8311896" y="2606040"/>
            <a:ext cx="3017520" cy="640080"/>
          </a:xfrm>
          <a:prstGeom prst="rect">
            <a:avLst/>
          </a:prstGeom>
          <a:noFill/>
        </p:spPr>
        <p:txBody>
          <a:bodyPr wrap="square" lIns="0" rIns="0" tIns="0" bIns="0" anchor="t">
            <a:spAutoFit/>
          </a:bodyPr>
          <a:lstStyle/>
          <a:p>
            <a:pPr algn="ctr"/>
            <a:r>
              <a:rPr sz="3000" b="1">
                <a:solidFill>
                  <a:srgbClr val="000000"/>
                </a:solidFill>
                <a:latin typeface="Arial"/>
              </a:rPr>
              <a:t>A ∩ B</a:t>
            </a:r>
          </a:p>
        </p:txBody>
      </p:sp>
      <p:sp>
        <p:nvSpPr>
          <p:cNvPr id="22" name="TextBox 21"/>
          <p:cNvSpPr txBox="1"/>
          <p:nvPr/>
        </p:nvSpPr>
        <p:spPr>
          <a:xfrm>
            <a:off x="8311896" y="3611880"/>
            <a:ext cx="3017520" cy="731520"/>
          </a:xfrm>
          <a:prstGeom prst="rect">
            <a:avLst/>
          </a:prstGeom>
          <a:noFill/>
        </p:spPr>
        <p:txBody>
          <a:bodyPr wrap="square" lIns="0" rIns="0" tIns="0" bIns="0" anchor="t">
            <a:spAutoFit/>
          </a:bodyPr>
          <a:lstStyle/>
          <a:p>
            <a:pPr algn="ctr">
              <a:lnSpc>
                <a:spcPct val="130000"/>
              </a:lnSpc>
            </a:pPr>
            <a:r>
              <a:rPr sz="1300">
                <a:solidFill>
                  <a:srgbClr val="000000"/>
                </a:solidFill>
                <a:latin typeface="Calibri"/>
              </a:rPr>
              <a:t>Only where both solids overlap.</a:t>
            </a:r>
          </a:p>
        </p:txBody>
      </p:sp>
      <p:sp>
        <p:nvSpPr>
          <p:cNvPr id="23" name="Rectangle 22"/>
          <p:cNvSpPr/>
          <p:nvPr/>
        </p:nvSpPr>
        <p:spPr>
          <a:xfrm>
            <a:off x="662940" y="4960620"/>
            <a:ext cx="10972800" cy="62179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892040"/>
            <a:ext cx="10972800" cy="621792"/>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892040"/>
            <a:ext cx="10607040" cy="621792"/>
          </a:xfrm>
          <a:prstGeom prst="rect">
            <a:avLst/>
          </a:prstGeom>
          <a:noFill/>
        </p:spPr>
        <p:txBody>
          <a:bodyPr wrap="square" lIns="0" rIns="0" tIns="0" bIns="0" anchor="ctr">
            <a:spAutoFit/>
          </a:bodyPr>
          <a:lstStyle/>
          <a:p>
            <a:pPr algn="ctr"/>
            <a:r>
              <a:rPr sz="1250" b="1">
                <a:solidFill>
                  <a:srgbClr val="00D9E1"/>
                </a:solidFill>
                <a:latin typeface="Arial"/>
              </a:rPr>
              <a:t>ORDER MATTERS. A − B IS NOT B − A, AND YOUR DIAGRAM MUST MAKE THE OPERANDS UNAMBIGUOUS.</a:t>
            </a:r>
          </a:p>
        </p:txBody>
      </p:sp>
      <p:sp>
        <p:nvSpPr>
          <p:cNvPr id="26" name="TextBox 25"/>
          <p:cNvSpPr txBox="1"/>
          <p:nvPr/>
        </p:nvSpPr>
        <p:spPr>
          <a:xfrm>
            <a:off x="594360" y="5715000"/>
            <a:ext cx="10972800" cy="731520"/>
          </a:xfrm>
          <a:prstGeom prst="rect">
            <a:avLst/>
          </a:prstGeom>
          <a:noFill/>
        </p:spPr>
        <p:txBody>
          <a:bodyPr wrap="square" lIns="0" rIns="0" tIns="0" bIns="0" anchor="t">
            <a:spAutoFit/>
          </a:bodyPr>
          <a:lstStyle/>
          <a:p>
            <a:pPr algn="l">
              <a:lnSpc>
                <a:spcPct val="130000"/>
              </a:lnSpc>
            </a:pPr>
            <a:r>
              <a:rPr sz="1350">
                <a:solidFill>
                  <a:srgbClr val="6B6B6B"/>
                </a:solidFill>
                <a:latin typeface="Calibri"/>
              </a:rPr>
              <a:t>P1a asks for at least three Booleans, so one of them can be a reversed subtraction. Do it once deliberately and you will never confuse the operands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THE SEQUENCE</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What we build together, in order, this session.</a:t>
            </a:r>
          </a:p>
        </p:txBody>
      </p:sp>
      <p:sp>
        <p:nvSpPr>
          <p:cNvPr id="5" name="Rectangle 4"/>
          <p:cNvSpPr/>
          <p:nvPr/>
        </p:nvSpPr>
        <p:spPr>
          <a:xfrm>
            <a:off x="662940" y="1897380"/>
            <a:ext cx="777240" cy="9098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828800"/>
            <a:ext cx="777240" cy="909828"/>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183130"/>
            <a:ext cx="777240" cy="274320"/>
          </a:xfrm>
          <a:prstGeom prst="rect">
            <a:avLst/>
          </a:prstGeom>
          <a:noFill/>
        </p:spPr>
        <p:txBody>
          <a:bodyPr wrap="square" lIns="0" rIns="0" tIns="0" bIns="0" anchor="t">
            <a:spAutoFit/>
          </a:bodyPr>
          <a:lstStyle/>
          <a:p>
            <a:pPr algn="ctr"/>
            <a:r>
              <a:rPr sz="1500" b="1">
                <a:solidFill>
                  <a:srgbClr val="000000"/>
                </a:solidFill>
                <a:latin typeface="Arial"/>
              </a:rPr>
              <a:t>01</a:t>
            </a:r>
          </a:p>
        </p:txBody>
      </p:sp>
      <p:sp>
        <p:nvSpPr>
          <p:cNvPr id="8" name="Rectangle 7"/>
          <p:cNvSpPr/>
          <p:nvPr/>
        </p:nvSpPr>
        <p:spPr>
          <a:xfrm>
            <a:off x="1714499" y="1897380"/>
            <a:ext cx="9921240" cy="9098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645919" y="1828800"/>
            <a:ext cx="9921240" cy="9098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1920240"/>
            <a:ext cx="9372600" cy="726948"/>
          </a:xfrm>
          <a:prstGeom prst="rect">
            <a:avLst/>
          </a:prstGeom>
          <a:noFill/>
        </p:spPr>
        <p:txBody>
          <a:bodyPr wrap="square" lIns="0" rIns="0" tIns="0" bIns="0" anchor="ctr">
            <a:spAutoFit/>
          </a:bodyPr>
          <a:lstStyle/>
          <a:p>
            <a:pPr algn="l">
              <a:lnSpc>
                <a:spcPct val="120000"/>
              </a:lnSpc>
            </a:pPr>
            <a:r>
              <a:rPr sz="1250">
                <a:solidFill>
                  <a:srgbClr val="000000"/>
                </a:solidFill>
                <a:latin typeface="Calibri"/>
              </a:rPr>
              <a:t>Introduce the node editor, inputs, outputs and parameters using one primitive.</a:t>
            </a:r>
          </a:p>
        </p:txBody>
      </p:sp>
      <p:sp>
        <p:nvSpPr>
          <p:cNvPr id="11" name="Rectangle 10"/>
          <p:cNvSpPr/>
          <p:nvPr/>
        </p:nvSpPr>
        <p:spPr>
          <a:xfrm>
            <a:off x="662940" y="2935224"/>
            <a:ext cx="777240" cy="9098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866644"/>
            <a:ext cx="777240" cy="909828"/>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3220974"/>
            <a:ext cx="777240" cy="274320"/>
          </a:xfrm>
          <a:prstGeom prst="rect">
            <a:avLst/>
          </a:prstGeom>
          <a:noFill/>
        </p:spPr>
        <p:txBody>
          <a:bodyPr wrap="square" lIns="0" rIns="0" tIns="0" bIns="0" anchor="t">
            <a:spAutoFit/>
          </a:bodyPr>
          <a:lstStyle/>
          <a:p>
            <a:pPr algn="ctr"/>
            <a:r>
              <a:rPr sz="1500" b="1">
                <a:solidFill>
                  <a:srgbClr val="000000"/>
                </a:solidFill>
                <a:latin typeface="Arial"/>
              </a:rPr>
              <a:t>02</a:t>
            </a:r>
          </a:p>
        </p:txBody>
      </p:sp>
      <p:sp>
        <p:nvSpPr>
          <p:cNvPr id="14" name="Rectangle 13"/>
          <p:cNvSpPr/>
          <p:nvPr/>
        </p:nvSpPr>
        <p:spPr>
          <a:xfrm>
            <a:off x="1714499" y="2935224"/>
            <a:ext cx="9921240" cy="9098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45919" y="2866644"/>
            <a:ext cx="9921240" cy="9098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2958084"/>
            <a:ext cx="9372600" cy="726948"/>
          </a:xfrm>
          <a:prstGeom prst="rect">
            <a:avLst/>
          </a:prstGeom>
          <a:noFill/>
        </p:spPr>
        <p:txBody>
          <a:bodyPr wrap="square" lIns="0" rIns="0" tIns="0" bIns="0" anchor="ctr">
            <a:spAutoFit/>
          </a:bodyPr>
          <a:lstStyle/>
          <a:p>
            <a:pPr algn="l">
              <a:lnSpc>
                <a:spcPct val="120000"/>
              </a:lnSpc>
            </a:pPr>
            <a:r>
              <a:rPr sz="1250">
                <a:solidFill>
                  <a:srgbClr val="000000"/>
                </a:solidFill>
                <a:latin typeface="Calibri"/>
              </a:rPr>
              <a:t>Move, rotate and scale procedurally; change the order and compare the result.</a:t>
            </a:r>
          </a:p>
        </p:txBody>
      </p:sp>
      <p:sp>
        <p:nvSpPr>
          <p:cNvPr id="17" name="Rectangle 16"/>
          <p:cNvSpPr/>
          <p:nvPr/>
        </p:nvSpPr>
        <p:spPr>
          <a:xfrm>
            <a:off x="662940" y="3973068"/>
            <a:ext cx="777240" cy="9098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904488"/>
            <a:ext cx="777240" cy="90982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4258818"/>
            <a:ext cx="777240" cy="274320"/>
          </a:xfrm>
          <a:prstGeom prst="rect">
            <a:avLst/>
          </a:prstGeom>
          <a:noFill/>
        </p:spPr>
        <p:txBody>
          <a:bodyPr wrap="square" lIns="0" rIns="0" tIns="0" bIns="0" anchor="t">
            <a:spAutoFit/>
          </a:bodyPr>
          <a:lstStyle/>
          <a:p>
            <a:pPr algn="ctr"/>
            <a:r>
              <a:rPr sz="1500" b="1">
                <a:solidFill>
                  <a:srgbClr val="000000"/>
                </a:solidFill>
                <a:latin typeface="Arial"/>
              </a:rPr>
              <a:t>03</a:t>
            </a:r>
          </a:p>
        </p:txBody>
      </p:sp>
      <p:sp>
        <p:nvSpPr>
          <p:cNvPr id="20" name="Rectangle 19"/>
          <p:cNvSpPr/>
          <p:nvPr/>
        </p:nvSpPr>
        <p:spPr>
          <a:xfrm>
            <a:off x="1714499" y="3973068"/>
            <a:ext cx="9921240" cy="9098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645919" y="3904488"/>
            <a:ext cx="9921240" cy="9098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920240" y="3995928"/>
            <a:ext cx="9372600" cy="726948"/>
          </a:xfrm>
          <a:prstGeom prst="rect">
            <a:avLst/>
          </a:prstGeom>
          <a:noFill/>
        </p:spPr>
        <p:txBody>
          <a:bodyPr wrap="square" lIns="0" rIns="0" tIns="0" bIns="0" anchor="ctr">
            <a:spAutoFit/>
          </a:bodyPr>
          <a:lstStyle/>
          <a:p>
            <a:pPr algn="l">
              <a:lnSpc>
                <a:spcPct val="120000"/>
              </a:lnSpc>
            </a:pPr>
            <a:r>
              <a:rPr sz="1250">
                <a:solidFill>
                  <a:srgbClr val="000000"/>
                </a:solidFill>
                <a:latin typeface="Calibri"/>
              </a:rPr>
              <a:t>Compare union, difference and intersection between two solids, including reversing the subtraction.</a:t>
            </a:r>
          </a:p>
        </p:txBody>
      </p:sp>
      <p:sp>
        <p:nvSpPr>
          <p:cNvPr id="23" name="Rectangle 22"/>
          <p:cNvSpPr/>
          <p:nvPr/>
        </p:nvSpPr>
        <p:spPr>
          <a:xfrm>
            <a:off x="662940" y="5010912"/>
            <a:ext cx="777240" cy="9098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942332"/>
            <a:ext cx="777240" cy="909828"/>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5296662"/>
            <a:ext cx="777240" cy="274320"/>
          </a:xfrm>
          <a:prstGeom prst="rect">
            <a:avLst/>
          </a:prstGeom>
          <a:noFill/>
        </p:spPr>
        <p:txBody>
          <a:bodyPr wrap="square" lIns="0" rIns="0" tIns="0" bIns="0" anchor="t">
            <a:spAutoFit/>
          </a:bodyPr>
          <a:lstStyle/>
          <a:p>
            <a:pPr algn="ctr"/>
            <a:r>
              <a:rPr sz="1500" b="1">
                <a:solidFill>
                  <a:srgbClr val="000000"/>
                </a:solidFill>
                <a:latin typeface="Arial"/>
              </a:rPr>
              <a:t>04</a:t>
            </a:r>
          </a:p>
        </p:txBody>
      </p:sp>
      <p:sp>
        <p:nvSpPr>
          <p:cNvPr id="26" name="Rectangle 25"/>
          <p:cNvSpPr/>
          <p:nvPr/>
        </p:nvSpPr>
        <p:spPr>
          <a:xfrm>
            <a:off x="1714499" y="5010912"/>
            <a:ext cx="9921240" cy="9098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645919" y="4942332"/>
            <a:ext cx="9921240" cy="9098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920240" y="5033772"/>
            <a:ext cx="9372600" cy="726948"/>
          </a:xfrm>
          <a:prstGeom prst="rect">
            <a:avLst/>
          </a:prstGeom>
          <a:noFill/>
        </p:spPr>
        <p:txBody>
          <a:bodyPr wrap="square" lIns="0" rIns="0" tIns="0" bIns="0" anchor="ctr">
            <a:spAutoFit/>
          </a:bodyPr>
          <a:lstStyle/>
          <a:p>
            <a:pPr algn="l">
              <a:lnSpc>
                <a:spcPct val="120000"/>
              </a:lnSpc>
            </a:pPr>
            <a:r>
              <a:rPr sz="1250">
                <a:solidFill>
                  <a:srgbClr val="000000"/>
                </a:solidFill>
                <a:latin typeface="Calibri"/>
              </a:rPr>
              <a:t>Expose useful inputs and compose a short massing sequence.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THE NOTATION</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Write the procedure as pseudocode. Formal enough to be unambiguous, plain enough to read aloud.</a:t>
            </a:r>
          </a:p>
        </p:txBody>
      </p:sp>
      <p:sp>
        <p:nvSpPr>
          <p:cNvPr id="5" name="Rectangle 4"/>
          <p:cNvSpPr/>
          <p:nvPr/>
        </p:nvSpPr>
        <p:spPr>
          <a:xfrm>
            <a:off x="662940" y="1851660"/>
            <a:ext cx="512064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512064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51206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4663440" cy="502920"/>
          </a:xfrm>
          <a:prstGeom prst="rect">
            <a:avLst/>
          </a:prstGeom>
          <a:noFill/>
        </p:spPr>
        <p:txBody>
          <a:bodyPr wrap="square" lIns="0" rIns="0" tIns="0" bIns="0" anchor="ctr">
            <a:spAutoFit/>
          </a:bodyPr>
          <a:lstStyle/>
          <a:p>
            <a:pPr algn="l"/>
            <a:r>
              <a:rPr sz="1587" b="1">
                <a:solidFill>
                  <a:srgbClr val="000000"/>
                </a:solidFill>
                <a:latin typeface="Arial"/>
              </a:rPr>
              <a:t>THE OPERATIONS</a:t>
            </a:r>
          </a:p>
        </p:txBody>
      </p:sp>
      <p:sp>
        <p:nvSpPr>
          <p:cNvPr id="9" name="TextBox 8"/>
          <p:cNvSpPr txBox="1"/>
          <p:nvPr/>
        </p:nvSpPr>
        <p:spPr>
          <a:xfrm>
            <a:off x="914400" y="2468880"/>
            <a:ext cx="4572000" cy="2286000"/>
          </a:xfrm>
          <a:prstGeom prst="rect">
            <a:avLst/>
          </a:prstGeom>
          <a:noFill/>
        </p:spPr>
        <p:txBody>
          <a:bodyPr wrap="square" lIns="0" rIns="0" tIns="0" bIns="0" anchor="t">
            <a:spAutoFit/>
          </a:bodyPr>
          <a:lstStyle/>
          <a:p>
            <a:pPr algn="l">
              <a:lnSpc>
                <a:spcPct val="135000"/>
              </a:lnSpc>
            </a:pPr>
            <a:r>
              <a:rPr sz="1200">
                <a:solidFill>
                  <a:srgbClr val="000000"/>
                </a:solidFill>
                <a:latin typeface="Courier New"/>
              </a:rPr>
              <a:t>box(x, y, z)      cylinder(r, h)</a:t>
            </a:r>
          </a:p>
          <a:p>
            <a:pPr algn="l">
              <a:lnSpc>
                <a:spcPct val="135000"/>
              </a:lnSpc>
            </a:pPr>
            <a:r>
              <a:rPr sz="1200">
                <a:solidFill>
                  <a:srgbClr val="000000"/>
                </a:solidFill>
                <a:latin typeface="Courier New"/>
              </a:rPr>
              <a:t>sphere(r)         cone(r, h)</a:t>
            </a:r>
          </a:p>
          <a:p>
            <a:pPr algn="l">
              <a:lnSpc>
                <a:spcPct val="135000"/>
              </a:lnSpc>
            </a:pPr>
            <a:r>
              <a:rPr sz="700">
                <a:solidFill>
                  <a:srgbClr val="000000"/>
                </a:solidFill>
                <a:latin typeface="Courier New"/>
              </a:rPr>
              <a:t> </a:t>
            </a:r>
          </a:p>
          <a:p>
            <a:pPr algn="l">
              <a:lnSpc>
                <a:spcPct val="135000"/>
              </a:lnSpc>
            </a:pPr>
            <a:r>
              <a:rPr sz="1200">
                <a:solidFill>
                  <a:srgbClr val="000000"/>
                </a:solidFill>
                <a:latin typeface="Courier New"/>
              </a:rPr>
              <a:t>move(s, x, y, z)  rotate(s, axis, deg)</a:t>
            </a:r>
          </a:p>
          <a:p>
            <a:pPr algn="l">
              <a:lnSpc>
                <a:spcPct val="135000"/>
              </a:lnSpc>
            </a:pPr>
            <a:r>
              <a:rPr sz="1200">
                <a:solidFill>
                  <a:srgbClr val="000000"/>
                </a:solidFill>
                <a:latin typeface="Courier New"/>
              </a:rPr>
              <a:t>scale(s, factor)</a:t>
            </a:r>
          </a:p>
          <a:p>
            <a:pPr algn="l">
              <a:lnSpc>
                <a:spcPct val="135000"/>
              </a:lnSpc>
            </a:pPr>
            <a:r>
              <a:rPr sz="700">
                <a:solidFill>
                  <a:srgbClr val="000000"/>
                </a:solidFill>
                <a:latin typeface="Courier New"/>
              </a:rPr>
              <a:t> </a:t>
            </a:r>
          </a:p>
          <a:p>
            <a:pPr algn="l">
              <a:lnSpc>
                <a:spcPct val="135000"/>
              </a:lnSpc>
            </a:pPr>
            <a:r>
              <a:rPr sz="1200">
                <a:solidFill>
                  <a:srgbClr val="000000"/>
                </a:solidFill>
                <a:latin typeface="Courier New"/>
              </a:rPr>
              <a:t>union(a, b)       subtract(a, b)</a:t>
            </a:r>
          </a:p>
          <a:p>
            <a:pPr algn="l">
              <a:lnSpc>
                <a:spcPct val="135000"/>
              </a:lnSpc>
            </a:pPr>
            <a:r>
              <a:rPr sz="1200">
                <a:solidFill>
                  <a:srgbClr val="000000"/>
                </a:solidFill>
                <a:latin typeface="Courier New"/>
              </a:rPr>
              <a:t>intersect(a, b)</a:t>
            </a:r>
          </a:p>
        </p:txBody>
      </p:sp>
      <p:sp>
        <p:nvSpPr>
          <p:cNvPr id="10" name="Rectangle 9"/>
          <p:cNvSpPr/>
          <p:nvPr/>
        </p:nvSpPr>
        <p:spPr>
          <a:xfrm>
            <a:off x="6103620" y="1851660"/>
            <a:ext cx="553212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035040" y="1783080"/>
            <a:ext cx="553212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035040" y="1783080"/>
            <a:ext cx="553212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63640" y="1783080"/>
            <a:ext cx="5074920" cy="502920"/>
          </a:xfrm>
          <a:prstGeom prst="rect">
            <a:avLst/>
          </a:prstGeom>
          <a:noFill/>
        </p:spPr>
        <p:txBody>
          <a:bodyPr wrap="square" lIns="0" rIns="0" tIns="0" bIns="0" anchor="ctr">
            <a:spAutoFit/>
          </a:bodyPr>
          <a:lstStyle/>
          <a:p>
            <a:pPr algn="l"/>
            <a:r>
              <a:rPr sz="1587" b="1">
                <a:solidFill>
                  <a:srgbClr val="000000"/>
                </a:solidFill>
                <a:latin typeface="Arial"/>
              </a:rPr>
              <a:t>WORKED EXAMPLE</a:t>
            </a:r>
          </a:p>
        </p:txBody>
      </p:sp>
      <p:sp>
        <p:nvSpPr>
          <p:cNvPr id="14" name="TextBox 13"/>
          <p:cNvSpPr txBox="1"/>
          <p:nvPr/>
        </p:nvSpPr>
        <p:spPr>
          <a:xfrm>
            <a:off x="6309360" y="2468880"/>
            <a:ext cx="4983480" cy="2286000"/>
          </a:xfrm>
          <a:prstGeom prst="rect">
            <a:avLst/>
          </a:prstGeom>
          <a:noFill/>
        </p:spPr>
        <p:txBody>
          <a:bodyPr wrap="square" lIns="0" rIns="0" tIns="0" bIns="0" anchor="t">
            <a:spAutoFit/>
          </a:bodyPr>
          <a:lstStyle/>
          <a:p>
            <a:pPr algn="l">
              <a:lnSpc>
                <a:spcPct val="135000"/>
              </a:lnSpc>
            </a:pPr>
            <a:r>
              <a:rPr sz="1200">
                <a:solidFill>
                  <a:srgbClr val="000000"/>
                </a:solidFill>
                <a:latin typeface="Courier New"/>
              </a:rPr>
              <a:t>base   = box(6, 4, 3)</a:t>
            </a:r>
          </a:p>
          <a:p>
            <a:pPr algn="l">
              <a:lnSpc>
                <a:spcPct val="135000"/>
              </a:lnSpc>
            </a:pPr>
            <a:r>
              <a:rPr sz="1200">
                <a:solidFill>
                  <a:srgbClr val="000000"/>
                </a:solidFill>
                <a:latin typeface="Courier New"/>
              </a:rPr>
              <a:t>tower  = box(2, 2, 6)</a:t>
            </a:r>
          </a:p>
          <a:p>
            <a:pPr algn="l">
              <a:lnSpc>
                <a:spcPct val="135000"/>
              </a:lnSpc>
            </a:pPr>
            <a:r>
              <a:rPr sz="1200">
                <a:solidFill>
                  <a:srgbClr val="000000"/>
                </a:solidFill>
                <a:latin typeface="Courier New"/>
              </a:rPr>
              <a:t>tower  = move(tower, 2, 0, 3)</a:t>
            </a:r>
          </a:p>
          <a:p>
            <a:pPr algn="l">
              <a:lnSpc>
                <a:spcPct val="135000"/>
              </a:lnSpc>
            </a:pPr>
            <a:r>
              <a:rPr sz="1200">
                <a:solidFill>
                  <a:srgbClr val="000000"/>
                </a:solidFill>
                <a:latin typeface="Courier New"/>
              </a:rPr>
              <a:t>void   = cylinder(r=1, h=5)</a:t>
            </a:r>
          </a:p>
          <a:p>
            <a:pPr algn="l">
              <a:lnSpc>
                <a:spcPct val="135000"/>
              </a:lnSpc>
            </a:pPr>
            <a:r>
              <a:rPr sz="1200">
                <a:solidFill>
                  <a:srgbClr val="000000"/>
                </a:solidFill>
                <a:latin typeface="Courier New"/>
              </a:rPr>
              <a:t>void   = move(void, -1.5, 0, 0)</a:t>
            </a:r>
          </a:p>
          <a:p>
            <a:pPr algn="l">
              <a:lnSpc>
                <a:spcPct val="135000"/>
              </a:lnSpc>
            </a:pPr>
            <a:r>
              <a:rPr sz="700">
                <a:solidFill>
                  <a:srgbClr val="000000"/>
                </a:solidFill>
                <a:latin typeface="Courier New"/>
              </a:rPr>
              <a:t> </a:t>
            </a:r>
          </a:p>
          <a:p>
            <a:pPr algn="l">
              <a:lnSpc>
                <a:spcPct val="135000"/>
              </a:lnSpc>
            </a:pPr>
            <a:r>
              <a:rPr sz="1200">
                <a:solidFill>
                  <a:srgbClr val="000000"/>
                </a:solidFill>
                <a:latin typeface="Courier New"/>
              </a:rPr>
              <a:t>mass   = union(base, tower)</a:t>
            </a:r>
          </a:p>
          <a:p>
            <a:pPr algn="l">
              <a:lnSpc>
                <a:spcPct val="135000"/>
              </a:lnSpc>
            </a:pPr>
            <a:r>
              <a:rPr sz="1200">
                <a:solidFill>
                  <a:srgbClr val="000000"/>
                </a:solidFill>
                <a:latin typeface="Courier New"/>
              </a:rPr>
              <a:t>result = subtract(mass, void)</a:t>
            </a:r>
          </a:p>
        </p:txBody>
      </p:sp>
      <p:sp>
        <p:nvSpPr>
          <p:cNvPr id="15" name="Rectangle 14"/>
          <p:cNvSpPr/>
          <p:nvPr/>
        </p:nvSpPr>
        <p:spPr>
          <a:xfrm>
            <a:off x="662940" y="523494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94360" y="5166360"/>
            <a:ext cx="10972800" cy="65836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5166360"/>
            <a:ext cx="10607040" cy="658368"/>
          </a:xfrm>
          <a:prstGeom prst="rect">
            <a:avLst/>
          </a:prstGeom>
          <a:noFill/>
        </p:spPr>
        <p:txBody>
          <a:bodyPr wrap="square" lIns="0" rIns="0" tIns="0" bIns="0" anchor="ctr">
            <a:spAutoFit/>
          </a:bodyPr>
          <a:lstStyle/>
          <a:p>
            <a:pPr algn="ctr"/>
            <a:r>
              <a:rPr sz="1250" b="1">
                <a:solidFill>
                  <a:srgbClr val="000000"/>
                </a:solidFill>
                <a:latin typeface="Arial"/>
              </a:rPr>
              <a:t>THREE RULES: EVERY SHAPE IS BORN AT THE ORIGIN · UNITS ARE ABSTRACT · EVERY STEP ASSIGNS A NAME, SO A SUBTRACTION IS NEVER IN DOUBT.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THE SAME THING, WRITTEN OUT</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You are not asked to type this. Read it, and check that it says what the nodes you just built say.</a:t>
            </a:r>
          </a:p>
        </p:txBody>
      </p:sp>
      <p:sp>
        <p:nvSpPr>
          <p:cNvPr id="5" name="Rectangle 4"/>
          <p:cNvSpPr/>
          <p:nvPr/>
        </p:nvSpPr>
        <p:spPr>
          <a:xfrm>
            <a:off x="662940" y="1897380"/>
            <a:ext cx="6858000" cy="37947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828800"/>
            <a:ext cx="6858000" cy="37947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86968" y="2011680"/>
            <a:ext cx="6400800" cy="201705"/>
          </a:xfrm>
          <a:prstGeom prst="rect">
            <a:avLst/>
          </a:prstGeom>
          <a:noFill/>
        </p:spPr>
        <p:txBody>
          <a:bodyPr wrap="square" lIns="0" rIns="0" tIns="0" bIns="0" anchor="t">
            <a:spAutoFit/>
          </a:bodyPr>
          <a:lstStyle/>
          <a:p>
            <a:pPr algn="l"/>
            <a:r>
              <a:rPr sz="1250">
                <a:solidFill>
                  <a:srgbClr val="000000"/>
                </a:solidFill>
                <a:latin typeface="Courier New"/>
              </a:rPr>
              <a:t># nine diagrams, one operation each, in this order</a:t>
            </a:r>
          </a:p>
        </p:txBody>
      </p:sp>
      <p:sp>
        <p:nvSpPr>
          <p:cNvPr id="8" name="TextBox 7"/>
          <p:cNvSpPr txBox="1"/>
          <p:nvPr/>
        </p:nvSpPr>
        <p:spPr>
          <a:xfrm>
            <a:off x="886968" y="2213385"/>
            <a:ext cx="6400800" cy="201705"/>
          </a:xfrm>
          <a:prstGeom prst="rect">
            <a:avLst/>
          </a:prstGeom>
          <a:noFill/>
        </p:spPr>
        <p:txBody>
          <a:bodyPr wrap="square" lIns="0" rIns="0" tIns="0" bIns="0" anchor="t">
            <a:spAutoFit/>
          </a:bodyPr>
          <a:lstStyle/>
          <a:p>
            <a:pPr algn="l"/>
            <a:r>
              <a:rPr sz="1250">
                <a:solidFill>
                  <a:srgbClr val="000000"/>
                </a:solidFill>
                <a:latin typeface="Courier New"/>
              </a:rPr>
              <a:t> </a:t>
            </a:r>
          </a:p>
        </p:txBody>
      </p:sp>
      <p:sp>
        <p:nvSpPr>
          <p:cNvPr id="9" name="TextBox 8"/>
          <p:cNvSpPr txBox="1"/>
          <p:nvPr/>
        </p:nvSpPr>
        <p:spPr>
          <a:xfrm>
            <a:off x="886968" y="2415091"/>
            <a:ext cx="6400800" cy="201705"/>
          </a:xfrm>
          <a:prstGeom prst="rect">
            <a:avLst/>
          </a:prstGeom>
          <a:noFill/>
        </p:spPr>
        <p:txBody>
          <a:bodyPr wrap="square" lIns="0" rIns="0" tIns="0" bIns="0" anchor="t">
            <a:spAutoFit/>
          </a:bodyPr>
          <a:lstStyle/>
          <a:p>
            <a:pPr algn="l"/>
            <a:r>
              <a:rPr sz="1250">
                <a:solidFill>
                  <a:srgbClr val="000000"/>
                </a:solidFill>
                <a:latin typeface="Courier New"/>
              </a:rPr>
              <a:t>box     = cube(1.0)                  # 1  primitive</a:t>
            </a:r>
          </a:p>
        </p:txBody>
      </p:sp>
      <p:sp>
        <p:nvSpPr>
          <p:cNvPr id="10" name="TextBox 9"/>
          <p:cNvSpPr txBox="1"/>
          <p:nvPr/>
        </p:nvSpPr>
        <p:spPr>
          <a:xfrm>
            <a:off x="886968" y="2616797"/>
            <a:ext cx="6400800" cy="201705"/>
          </a:xfrm>
          <a:prstGeom prst="rect">
            <a:avLst/>
          </a:prstGeom>
          <a:noFill/>
        </p:spPr>
        <p:txBody>
          <a:bodyPr wrap="square" lIns="0" rIns="0" tIns="0" bIns="0" anchor="t">
            <a:spAutoFit/>
          </a:bodyPr>
          <a:lstStyle/>
          <a:p>
            <a:pPr algn="l"/>
            <a:r>
              <a:rPr sz="1250">
                <a:solidFill>
                  <a:srgbClr val="000000"/>
                </a:solidFill>
                <a:latin typeface="Courier New"/>
              </a:rPr>
              <a:t>ball    = sphere(r=0.65)             # 2  primitive</a:t>
            </a:r>
          </a:p>
        </p:txBody>
      </p:sp>
      <p:sp>
        <p:nvSpPr>
          <p:cNvPr id="11" name="TextBox 10"/>
          <p:cNvSpPr txBox="1"/>
          <p:nvPr/>
        </p:nvSpPr>
        <p:spPr>
          <a:xfrm>
            <a:off x="886968" y="2818503"/>
            <a:ext cx="6400800" cy="201705"/>
          </a:xfrm>
          <a:prstGeom prst="rect">
            <a:avLst/>
          </a:prstGeom>
          <a:noFill/>
        </p:spPr>
        <p:txBody>
          <a:bodyPr wrap="square" lIns="0" rIns="0" tIns="0" bIns="0" anchor="t">
            <a:spAutoFit/>
          </a:bodyPr>
          <a:lstStyle/>
          <a:p>
            <a:pPr algn="l"/>
            <a:r>
              <a:rPr sz="1250">
                <a:solidFill>
                  <a:srgbClr val="000000"/>
                </a:solidFill>
                <a:latin typeface="Courier New"/>
              </a:rPr>
              <a:t>rod     = cylinder(r=0.30, h=2.0)    # 3  primitive</a:t>
            </a:r>
          </a:p>
        </p:txBody>
      </p:sp>
      <p:sp>
        <p:nvSpPr>
          <p:cNvPr id="12" name="TextBox 11"/>
          <p:cNvSpPr txBox="1"/>
          <p:nvPr/>
        </p:nvSpPr>
        <p:spPr>
          <a:xfrm>
            <a:off x="886968" y="3020209"/>
            <a:ext cx="6400800" cy="201705"/>
          </a:xfrm>
          <a:prstGeom prst="rect">
            <a:avLst/>
          </a:prstGeom>
          <a:noFill/>
        </p:spPr>
        <p:txBody>
          <a:bodyPr wrap="square" lIns="0" rIns="0" tIns="0" bIns="0" anchor="t">
            <a:spAutoFit/>
          </a:bodyPr>
          <a:lstStyle/>
          <a:p>
            <a:pPr algn="l"/>
            <a:r>
              <a:rPr sz="1250">
                <a:solidFill>
                  <a:srgbClr val="000000"/>
                </a:solidFill>
                <a:latin typeface="Courier New"/>
              </a:rPr>
              <a:t> </a:t>
            </a:r>
          </a:p>
        </p:txBody>
      </p:sp>
      <p:sp>
        <p:nvSpPr>
          <p:cNvPr id="13" name="TextBox 12"/>
          <p:cNvSpPr txBox="1"/>
          <p:nvPr/>
        </p:nvSpPr>
        <p:spPr>
          <a:xfrm>
            <a:off x="886968" y="3221915"/>
            <a:ext cx="6400800" cy="201705"/>
          </a:xfrm>
          <a:prstGeom prst="rect">
            <a:avLst/>
          </a:prstGeom>
          <a:noFill/>
        </p:spPr>
        <p:txBody>
          <a:bodyPr wrap="square" lIns="0" rIns="0" tIns="0" bIns="0" anchor="t">
            <a:spAutoFit/>
          </a:bodyPr>
          <a:lstStyle/>
          <a:p>
            <a:pPr algn="l"/>
            <a:r>
              <a:rPr sz="1250">
                <a:solidFill>
                  <a:srgbClr val="000000"/>
                </a:solidFill>
                <a:latin typeface="Courier New"/>
              </a:rPr>
              <a:t>ball    = scale(ball, 1.15)          # 4  scale</a:t>
            </a:r>
          </a:p>
        </p:txBody>
      </p:sp>
      <p:sp>
        <p:nvSpPr>
          <p:cNvPr id="14" name="TextBox 13"/>
          <p:cNvSpPr txBox="1"/>
          <p:nvPr/>
        </p:nvSpPr>
        <p:spPr>
          <a:xfrm>
            <a:off x="886968" y="3423621"/>
            <a:ext cx="6400800" cy="201705"/>
          </a:xfrm>
          <a:prstGeom prst="rect">
            <a:avLst/>
          </a:prstGeom>
          <a:noFill/>
        </p:spPr>
        <p:txBody>
          <a:bodyPr wrap="square" lIns="0" rIns="0" tIns="0" bIns="0" anchor="t">
            <a:spAutoFit/>
          </a:bodyPr>
          <a:lstStyle/>
          <a:p>
            <a:pPr algn="l"/>
            <a:r>
              <a:rPr sz="1250">
                <a:solidFill>
                  <a:srgbClr val="000000"/>
                </a:solidFill>
                <a:latin typeface="Courier New"/>
              </a:rPr>
              <a:t>ball    = translate(ball, z=0.15)    # 5  translate</a:t>
            </a:r>
          </a:p>
        </p:txBody>
      </p:sp>
      <p:sp>
        <p:nvSpPr>
          <p:cNvPr id="15" name="TextBox 14"/>
          <p:cNvSpPr txBox="1"/>
          <p:nvPr/>
        </p:nvSpPr>
        <p:spPr>
          <a:xfrm>
            <a:off x="886968" y="3625327"/>
            <a:ext cx="6400800" cy="201705"/>
          </a:xfrm>
          <a:prstGeom prst="rect">
            <a:avLst/>
          </a:prstGeom>
          <a:noFill/>
        </p:spPr>
        <p:txBody>
          <a:bodyPr wrap="square" lIns="0" rIns="0" tIns="0" bIns="0" anchor="t">
            <a:spAutoFit/>
          </a:bodyPr>
          <a:lstStyle/>
          <a:p>
            <a:pPr algn="l"/>
            <a:r>
              <a:rPr sz="1250">
                <a:solidFill>
                  <a:srgbClr val="000000"/>
                </a:solidFill>
                <a:latin typeface="Courier New"/>
              </a:rPr>
              <a:t>rod_y   = rotate(rod, x=90)          # 6  rotate - degrees</a:t>
            </a:r>
          </a:p>
        </p:txBody>
      </p:sp>
      <p:sp>
        <p:nvSpPr>
          <p:cNvPr id="16" name="TextBox 15"/>
          <p:cNvSpPr txBox="1"/>
          <p:nvPr/>
        </p:nvSpPr>
        <p:spPr>
          <a:xfrm>
            <a:off x="886968" y="3827032"/>
            <a:ext cx="6400800" cy="201705"/>
          </a:xfrm>
          <a:prstGeom prst="rect">
            <a:avLst/>
          </a:prstGeom>
          <a:noFill/>
        </p:spPr>
        <p:txBody>
          <a:bodyPr wrap="square" lIns="0" rIns="0" tIns="0" bIns="0" anchor="t">
            <a:spAutoFit/>
          </a:bodyPr>
          <a:lstStyle/>
          <a:p>
            <a:pPr algn="l"/>
            <a:r>
              <a:rPr sz="1250">
                <a:solidFill>
                  <a:srgbClr val="000000"/>
                </a:solidFill>
                <a:latin typeface="Courier New"/>
              </a:rPr>
              <a:t>rod_x   = rotate(rod, y=90)          # 6  same operation</a:t>
            </a:r>
          </a:p>
        </p:txBody>
      </p:sp>
      <p:sp>
        <p:nvSpPr>
          <p:cNvPr id="17" name="TextBox 16"/>
          <p:cNvSpPr txBox="1"/>
          <p:nvPr/>
        </p:nvSpPr>
        <p:spPr>
          <a:xfrm>
            <a:off x="886968" y="4028738"/>
            <a:ext cx="6400800" cy="201705"/>
          </a:xfrm>
          <a:prstGeom prst="rect">
            <a:avLst/>
          </a:prstGeom>
          <a:noFill/>
        </p:spPr>
        <p:txBody>
          <a:bodyPr wrap="square" lIns="0" rIns="0" tIns="0" bIns="0" anchor="t">
            <a:spAutoFit/>
          </a:bodyPr>
          <a:lstStyle/>
          <a:p>
            <a:pPr algn="l"/>
            <a:r>
              <a:rPr sz="1250">
                <a:solidFill>
                  <a:srgbClr val="000000"/>
                </a:solidFill>
                <a:latin typeface="Courier New"/>
              </a:rPr>
              <a:t> </a:t>
            </a:r>
          </a:p>
        </p:txBody>
      </p:sp>
      <p:sp>
        <p:nvSpPr>
          <p:cNvPr id="18" name="TextBox 17"/>
          <p:cNvSpPr txBox="1"/>
          <p:nvPr/>
        </p:nvSpPr>
        <p:spPr>
          <a:xfrm>
            <a:off x="886968" y="4230444"/>
            <a:ext cx="6400800" cy="201705"/>
          </a:xfrm>
          <a:prstGeom prst="rect">
            <a:avLst/>
          </a:prstGeom>
          <a:noFill/>
        </p:spPr>
        <p:txBody>
          <a:bodyPr wrap="square" lIns="0" rIns="0" tIns="0" bIns="0" anchor="t">
            <a:spAutoFit/>
          </a:bodyPr>
          <a:lstStyle/>
          <a:p>
            <a:pPr algn="l"/>
            <a:r>
              <a:rPr sz="1250">
                <a:solidFill>
                  <a:srgbClr val="000000"/>
                </a:solidFill>
                <a:latin typeface="Courier New"/>
              </a:rPr>
              <a:t>solid   = intersection(box, ball)    # 7  intersection</a:t>
            </a:r>
          </a:p>
        </p:txBody>
      </p:sp>
      <p:sp>
        <p:nvSpPr>
          <p:cNvPr id="19" name="TextBox 18"/>
          <p:cNvSpPr txBox="1"/>
          <p:nvPr/>
        </p:nvSpPr>
        <p:spPr>
          <a:xfrm>
            <a:off x="886968" y="4432150"/>
            <a:ext cx="6400800" cy="201705"/>
          </a:xfrm>
          <a:prstGeom prst="rect">
            <a:avLst/>
          </a:prstGeom>
          <a:noFill/>
        </p:spPr>
        <p:txBody>
          <a:bodyPr wrap="square" lIns="0" rIns="0" tIns="0" bIns="0" anchor="t">
            <a:spAutoFit/>
          </a:bodyPr>
          <a:lstStyle/>
          <a:p>
            <a:pPr algn="l"/>
            <a:r>
              <a:rPr sz="1250">
                <a:solidFill>
                  <a:srgbClr val="000000"/>
                </a:solidFill>
                <a:latin typeface="Courier New"/>
              </a:rPr>
              <a:t>cutters = union(rod, rod_y, rod_x)   # 8  union</a:t>
            </a:r>
          </a:p>
        </p:txBody>
      </p:sp>
      <p:sp>
        <p:nvSpPr>
          <p:cNvPr id="20" name="TextBox 19"/>
          <p:cNvSpPr txBox="1"/>
          <p:nvPr/>
        </p:nvSpPr>
        <p:spPr>
          <a:xfrm>
            <a:off x="886968" y="4633856"/>
            <a:ext cx="6400800" cy="201705"/>
          </a:xfrm>
          <a:prstGeom prst="rect">
            <a:avLst/>
          </a:prstGeom>
          <a:noFill/>
        </p:spPr>
        <p:txBody>
          <a:bodyPr wrap="square" lIns="0" rIns="0" tIns="0" bIns="0" anchor="t">
            <a:spAutoFit/>
          </a:bodyPr>
          <a:lstStyle/>
          <a:p>
            <a:pPr algn="l"/>
            <a:r>
              <a:rPr sz="1250">
                <a:solidFill>
                  <a:srgbClr val="000000"/>
                </a:solidFill>
                <a:latin typeface="Courier New"/>
              </a:rPr>
              <a:t>result  = difference(solid, cutters) # 9  difference</a:t>
            </a:r>
          </a:p>
        </p:txBody>
      </p:sp>
      <p:sp>
        <p:nvSpPr>
          <p:cNvPr id="21" name="TextBox 20"/>
          <p:cNvSpPr txBox="1"/>
          <p:nvPr/>
        </p:nvSpPr>
        <p:spPr>
          <a:xfrm>
            <a:off x="886968" y="4835562"/>
            <a:ext cx="6400800" cy="201705"/>
          </a:xfrm>
          <a:prstGeom prst="rect">
            <a:avLst/>
          </a:prstGeom>
          <a:noFill/>
        </p:spPr>
        <p:txBody>
          <a:bodyPr wrap="square" lIns="0" rIns="0" tIns="0" bIns="0" anchor="t">
            <a:spAutoFit/>
          </a:bodyPr>
          <a:lstStyle/>
          <a:p>
            <a:pPr algn="l"/>
            <a:r>
              <a:rPr sz="1250">
                <a:solidFill>
                  <a:srgbClr val="000000"/>
                </a:solidFill>
                <a:latin typeface="Courier New"/>
              </a:rPr>
              <a:t> </a:t>
            </a:r>
          </a:p>
        </p:txBody>
      </p:sp>
      <p:sp>
        <p:nvSpPr>
          <p:cNvPr id="22" name="TextBox 21"/>
          <p:cNvSpPr txBox="1"/>
          <p:nvPr/>
        </p:nvSpPr>
        <p:spPr>
          <a:xfrm>
            <a:off x="886968" y="5037268"/>
            <a:ext cx="6400800" cy="201705"/>
          </a:xfrm>
          <a:prstGeom prst="rect">
            <a:avLst/>
          </a:prstGeom>
          <a:noFill/>
        </p:spPr>
        <p:txBody>
          <a:bodyPr wrap="square" lIns="0" rIns="0" tIns="0" bIns="0" anchor="t">
            <a:spAutoFit/>
          </a:bodyPr>
          <a:lstStyle/>
          <a:p>
            <a:pPr algn="l"/>
            <a:r>
              <a:rPr sz="1250">
                <a:solidFill>
                  <a:srgbClr val="000000"/>
                </a:solidFill>
                <a:latin typeface="Courier New"/>
              </a:rPr>
              <a:t># 9 keeps solid, removes cutters. draw 9 again at</a:t>
            </a:r>
          </a:p>
        </p:txBody>
      </p:sp>
      <p:sp>
        <p:nvSpPr>
          <p:cNvPr id="23" name="TextBox 22"/>
          <p:cNvSpPr txBox="1"/>
          <p:nvPr/>
        </p:nvSpPr>
        <p:spPr>
          <a:xfrm>
            <a:off x="886968" y="5238974"/>
            <a:ext cx="6400800" cy="201705"/>
          </a:xfrm>
          <a:prstGeom prst="rect">
            <a:avLst/>
          </a:prstGeom>
          <a:noFill/>
        </p:spPr>
        <p:txBody>
          <a:bodyPr wrap="square" lIns="0" rIns="0" tIns="0" bIns="0" anchor="t">
            <a:spAutoFit/>
          </a:bodyPr>
          <a:lstStyle/>
          <a:p>
            <a:pPr algn="l"/>
            <a:r>
              <a:rPr sz="1250">
                <a:solidFill>
                  <a:srgbClr val="000000"/>
                </a:solidFill>
                <a:latin typeface="Courier New"/>
              </a:rPr>
              <a:t># building scale: a figure, planting, ground, shadow.</a:t>
            </a:r>
          </a:p>
        </p:txBody>
      </p:sp>
      <p:sp>
        <p:nvSpPr>
          <p:cNvPr id="24" name="Rectangle 23"/>
          <p:cNvSpPr/>
          <p:nvPr/>
        </p:nvSpPr>
        <p:spPr>
          <a:xfrm>
            <a:off x="7703819" y="1897380"/>
            <a:ext cx="3931920" cy="37947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5240" y="1828800"/>
            <a:ext cx="3931920" cy="37947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635240" y="1828800"/>
            <a:ext cx="393192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863840" y="1828800"/>
            <a:ext cx="3474720" cy="502920"/>
          </a:xfrm>
          <a:prstGeom prst="rect">
            <a:avLst/>
          </a:prstGeom>
          <a:noFill/>
        </p:spPr>
        <p:txBody>
          <a:bodyPr wrap="square" lIns="0" rIns="0" tIns="0" bIns="0" anchor="ctr">
            <a:spAutoFit/>
          </a:bodyPr>
          <a:lstStyle/>
          <a:p>
            <a:pPr algn="l"/>
            <a:r>
              <a:rPr sz="1350" b="1">
                <a:solidFill>
                  <a:srgbClr val="000000"/>
                </a:solidFill>
                <a:latin typeface="Arial"/>
              </a:rPr>
              <a:t>WHAT IT MAPS ONTO</a:t>
            </a:r>
          </a:p>
        </p:txBody>
      </p:sp>
      <p:sp>
        <p:nvSpPr>
          <p:cNvPr id="28" name="TextBox 27"/>
          <p:cNvSpPr txBox="1"/>
          <p:nvPr/>
        </p:nvSpPr>
        <p:spPr>
          <a:xfrm>
            <a:off x="7863840" y="2514600"/>
            <a:ext cx="3474720" cy="2926080"/>
          </a:xfrm>
          <a:prstGeom prst="rect">
            <a:avLst/>
          </a:prstGeom>
          <a:noFill/>
        </p:spPr>
        <p:txBody>
          <a:bodyPr wrap="square" lIns="0" rIns="0" tIns="0" bIns="0" anchor="t">
            <a:spAutoFit/>
          </a:bodyPr>
          <a:lstStyle/>
          <a:p>
            <a:pPr algn="l">
              <a:lnSpc>
                <a:spcPct val="145000"/>
              </a:lnSpc>
            </a:pPr>
            <a:r>
              <a:rPr sz="1300">
                <a:solidFill>
                  <a:srgbClr val="000000"/>
                </a:solidFill>
                <a:latin typeface="Calibri"/>
              </a:rPr>
              <a:t>parameter</a:t>
            </a:r>
          </a:p>
          <a:p>
            <a:pPr algn="l">
              <a:lnSpc>
                <a:spcPct val="145000"/>
              </a:lnSpc>
            </a:pPr>
            <a:r>
              <a:rPr sz="1300">
                <a:solidFill>
                  <a:srgbClr val="000000"/>
                </a:solidFill>
                <a:latin typeface="Calibri"/>
              </a:rPr>
              <a:t>vector</a:t>
            </a:r>
          </a:p>
          <a:p>
            <a:pPr algn="l">
              <a:lnSpc>
                <a:spcPct val="145000"/>
              </a:lnSpc>
            </a:pPr>
            <a:r>
              <a:rPr sz="1300">
                <a:solidFill>
                  <a:srgbClr val="000000"/>
                </a:solidFill>
                <a:latin typeface="Calibri"/>
              </a:rPr>
              <a:t>translation</a:t>
            </a:r>
          </a:p>
          <a:p>
            <a:pPr algn="l">
              <a:lnSpc>
                <a:spcPct val="145000"/>
              </a:lnSpc>
            </a:pPr>
            <a:r>
              <a:rPr sz="1300">
                <a:solidFill>
                  <a:srgbClr val="000000"/>
                </a:solidFill>
                <a:latin typeface="Calibri"/>
              </a:rPr>
              <a:t>rotation</a:t>
            </a:r>
          </a:p>
          <a:p>
            <a:pPr algn="l">
              <a:lnSpc>
                <a:spcPct val="145000"/>
              </a:lnSpc>
            </a:pPr>
            <a:r>
              <a:rPr sz="1300">
                <a:solidFill>
                  <a:srgbClr val="000000"/>
                </a:solidFill>
                <a:latin typeface="Calibri"/>
              </a:rPr>
              <a:t>scale</a:t>
            </a:r>
          </a:p>
          <a:p>
            <a:pPr algn="l">
              <a:lnSpc>
                <a:spcPct val="145000"/>
              </a:lnSpc>
            </a:pPr>
            <a:r>
              <a:rPr sz="1300">
                <a:solidFill>
                  <a:srgbClr val="000000"/>
                </a:solidFill>
                <a:latin typeface="Calibri"/>
              </a:rPr>
              <a:t>union</a:t>
            </a:r>
          </a:p>
          <a:p>
            <a:pPr algn="l">
              <a:lnSpc>
                <a:spcPct val="145000"/>
              </a:lnSpc>
            </a:pPr>
            <a:r>
              <a:rPr sz="1300">
                <a:solidFill>
                  <a:srgbClr val="000000"/>
                </a:solidFill>
                <a:latin typeface="Calibri"/>
              </a:rPr>
              <a:t>difference</a:t>
            </a:r>
          </a:p>
          <a:p>
            <a:pPr algn="l">
              <a:lnSpc>
                <a:spcPct val="145000"/>
              </a:lnSpc>
            </a:pPr>
            <a:r>
              <a:rPr sz="1300">
                <a:solidFill>
                  <a:srgbClr val="000000"/>
                </a:solidFill>
                <a:latin typeface="Calibri"/>
              </a:rPr>
              <a:t>intersection</a:t>
            </a:r>
          </a:p>
        </p:txBody>
      </p:sp>
      <p:sp>
        <p:nvSpPr>
          <p:cNvPr id="29" name="Rectangle 28"/>
          <p:cNvSpPr/>
          <p:nvPr/>
        </p:nvSpPr>
        <p:spPr>
          <a:xfrm>
            <a:off x="662940" y="596646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5897880"/>
            <a:ext cx="10972800" cy="56692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77240" y="5897880"/>
            <a:ext cx="10607040" cy="566928"/>
          </a:xfrm>
          <a:prstGeom prst="rect">
            <a:avLst/>
          </a:prstGeom>
          <a:noFill/>
        </p:spPr>
        <p:txBody>
          <a:bodyPr wrap="square" lIns="0" rIns="0" tIns="0" bIns="0" anchor="ctr">
            <a:spAutoFit/>
          </a:bodyPr>
          <a:lstStyle/>
          <a:p>
            <a:pPr algn="ctr"/>
            <a:r>
              <a:rPr sz="1200" b="1">
                <a:solidFill>
                  <a:srgbClr val="000000"/>
                </a:solidFill>
                <a:latin typeface="Arial"/>
              </a:rPr>
              <a:t>THIS IS THE NOTATION FROM THE LAST SLIDE, AND IT IS ALSO PYTHON. MORE ON THAT IN DECEMBER.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662940" y="635508"/>
            <a:ext cx="2194560" cy="38404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94360" y="566928"/>
            <a:ext cx="2194560" cy="38404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658368"/>
            <a:ext cx="2194560" cy="274320"/>
          </a:xfrm>
          <a:prstGeom prst="rect">
            <a:avLst/>
          </a:prstGeom>
          <a:noFill/>
        </p:spPr>
        <p:txBody>
          <a:bodyPr wrap="square" lIns="0" rIns="0" tIns="0" bIns="0" anchor="t">
            <a:spAutoFit/>
          </a:bodyPr>
          <a:lstStyle/>
          <a:p>
            <a:pPr algn="ctr"/>
            <a:r>
              <a:rPr sz="1100" b="1">
                <a:solidFill>
                  <a:srgbClr val="000000"/>
                </a:solidFill>
                <a:latin typeface="Arial"/>
              </a:rPr>
              <a:t>ISSUED TODAY</a:t>
            </a:r>
          </a:p>
        </p:txBody>
      </p:sp>
      <p:sp>
        <p:nvSpPr>
          <p:cNvPr id="5" name="TextBox 4"/>
          <p:cNvSpPr txBox="1"/>
          <p:nvPr/>
        </p:nvSpPr>
        <p:spPr>
          <a:xfrm>
            <a:off x="594360" y="1152144"/>
            <a:ext cx="10972800" cy="566928"/>
          </a:xfrm>
          <a:prstGeom prst="rect">
            <a:avLst/>
          </a:prstGeom>
          <a:noFill/>
        </p:spPr>
        <p:txBody>
          <a:bodyPr wrap="square" lIns="0" rIns="0" tIns="0" bIns="0" anchor="t">
            <a:spAutoFit/>
          </a:bodyPr>
          <a:lstStyle/>
          <a:p>
            <a:pPr algn="l"/>
            <a:r>
              <a:rPr sz="3200" b="1">
                <a:solidFill>
                  <a:srgbClr val="FFFDF7"/>
                </a:solidFill>
                <a:latin typeface="Arial"/>
              </a:rPr>
              <a:t>P1a — CSG MASSING SEQUENCE</a:t>
            </a:r>
          </a:p>
        </p:txBody>
      </p:sp>
      <p:sp>
        <p:nvSpPr>
          <p:cNvPr id="6" name="Rectangle 5"/>
          <p:cNvSpPr/>
          <p:nvPr/>
        </p:nvSpPr>
        <p:spPr>
          <a:xfrm>
            <a:off x="594360" y="1810512"/>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29384"/>
            <a:ext cx="10972800" cy="329184"/>
          </a:xfrm>
          <a:prstGeom prst="rect">
            <a:avLst/>
          </a:prstGeom>
          <a:noFill/>
        </p:spPr>
        <p:txBody>
          <a:bodyPr wrap="square" lIns="0" rIns="0" tIns="0" bIns="0" anchor="t">
            <a:spAutoFit/>
          </a:bodyPr>
          <a:lstStyle/>
          <a:p>
            <a:pPr algn="l"/>
            <a:r>
              <a:rPr sz="1300" b="1">
                <a:solidFill>
                  <a:srgbClr val="FFE500"/>
                </a:solidFill>
                <a:latin typeface="Arial"/>
              </a:rPr>
              <a:t>DUE WEEK 4 — Sep 15   /   7%</a:t>
            </a:r>
          </a:p>
        </p:txBody>
      </p:sp>
      <p:sp>
        <p:nvSpPr>
          <p:cNvPr id="8" name="TextBox 7"/>
          <p:cNvSpPr txBox="1"/>
          <p:nvPr/>
        </p:nvSpPr>
        <p:spPr>
          <a:xfrm>
            <a:off x="594360" y="2377440"/>
            <a:ext cx="10607040" cy="914400"/>
          </a:xfrm>
          <a:prstGeom prst="rect">
            <a:avLst/>
          </a:prstGeom>
          <a:noFill/>
        </p:spPr>
        <p:txBody>
          <a:bodyPr wrap="square" lIns="0" rIns="0" tIns="0" bIns="0" anchor="t">
            <a:spAutoFit/>
          </a:bodyPr>
          <a:lstStyle/>
          <a:p>
            <a:pPr algn="l">
              <a:lnSpc>
                <a:spcPct val="130000"/>
              </a:lnSpc>
            </a:pPr>
            <a:r>
              <a:rPr sz="1500">
                <a:solidFill>
                  <a:srgbClr val="FFFDF7"/>
                </a:solidFill>
                <a:latin typeface="Calibri"/>
              </a:rPr>
              <a:t>Build a parametric massing study, then build a repeating panel from its own points and faces and develop a small printable variant of it.  This first milestone is the massing study: an ordered sequence of primitives and Booleans, diagrammed so another person could follow it.</a:t>
            </a:r>
          </a:p>
        </p:txBody>
      </p:sp>
      <p:sp>
        <p:nvSpPr>
          <p:cNvPr id="9" name="Rectangle 8"/>
          <p:cNvSpPr/>
          <p:nvPr/>
        </p:nvSpPr>
        <p:spPr>
          <a:xfrm>
            <a:off x="662940"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94360" y="3611880"/>
            <a:ext cx="3517391" cy="41148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94360"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STAGE 1</a:t>
            </a:r>
          </a:p>
        </p:txBody>
      </p:sp>
      <p:sp>
        <p:nvSpPr>
          <p:cNvPr id="12" name="Rectangle 11"/>
          <p:cNvSpPr/>
          <p:nvPr/>
        </p:nvSpPr>
        <p:spPr>
          <a:xfrm>
            <a:off x="662940"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94360"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0392" y="4279392"/>
            <a:ext cx="3005327" cy="320040"/>
          </a:xfrm>
          <a:prstGeom prst="rect">
            <a:avLst/>
          </a:prstGeom>
          <a:noFill/>
        </p:spPr>
        <p:txBody>
          <a:bodyPr wrap="square" lIns="0" rIns="0" tIns="0" bIns="0" anchor="t">
            <a:spAutoFit/>
          </a:bodyPr>
          <a:lstStyle/>
          <a:p>
            <a:pPr algn="l"/>
            <a:r>
              <a:rPr sz="1400" b="1">
                <a:solidFill>
                  <a:srgbClr val="000000"/>
                </a:solidFill>
                <a:latin typeface="Arial"/>
              </a:rPr>
              <a:t>THE SEQUENCE</a:t>
            </a:r>
          </a:p>
        </p:txBody>
      </p:sp>
      <p:sp>
        <p:nvSpPr>
          <p:cNvPr id="15" name="TextBox 14"/>
          <p:cNvSpPr txBox="1"/>
          <p:nvPr/>
        </p:nvSpPr>
        <p:spPr>
          <a:xfrm>
            <a:off x="850392"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Three primitives, three transformations, three Booleans, in a stated order.</a:t>
            </a:r>
          </a:p>
        </p:txBody>
      </p:sp>
      <p:sp>
        <p:nvSpPr>
          <p:cNvPr id="16" name="Rectangle 15"/>
          <p:cNvSpPr/>
          <p:nvPr/>
        </p:nvSpPr>
        <p:spPr>
          <a:xfrm>
            <a:off x="4390644"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322064" y="3611880"/>
            <a:ext cx="3517391" cy="41148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322064"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STAGE 2</a:t>
            </a:r>
          </a:p>
        </p:txBody>
      </p:sp>
      <p:sp>
        <p:nvSpPr>
          <p:cNvPr id="19" name="Rectangle 18"/>
          <p:cNvSpPr/>
          <p:nvPr/>
        </p:nvSpPr>
        <p:spPr>
          <a:xfrm>
            <a:off x="4390644"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22064"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8096" y="4279392"/>
            <a:ext cx="3005327" cy="320040"/>
          </a:xfrm>
          <a:prstGeom prst="rect">
            <a:avLst/>
          </a:prstGeom>
          <a:noFill/>
        </p:spPr>
        <p:txBody>
          <a:bodyPr wrap="square" lIns="0" rIns="0" tIns="0" bIns="0" anchor="t">
            <a:spAutoFit/>
          </a:bodyPr>
          <a:lstStyle/>
          <a:p>
            <a:pPr algn="l"/>
            <a:r>
              <a:rPr sz="1400" b="1">
                <a:solidFill>
                  <a:srgbClr val="000000"/>
                </a:solidFill>
                <a:latin typeface="Arial"/>
              </a:rPr>
              <a:t>THE DIAGRAMS</a:t>
            </a:r>
          </a:p>
        </p:txBody>
      </p:sp>
      <p:sp>
        <p:nvSpPr>
          <p:cNvPr id="22" name="TextBox 21"/>
          <p:cNvSpPr txBox="1"/>
          <p:nvPr/>
        </p:nvSpPr>
        <p:spPr>
          <a:xfrm>
            <a:off x="4578096"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Eight or nine, numbered. One operation each, read left to right.</a:t>
            </a:r>
          </a:p>
        </p:txBody>
      </p:sp>
      <p:sp>
        <p:nvSpPr>
          <p:cNvPr id="23" name="Rectangle 22"/>
          <p:cNvSpPr/>
          <p:nvPr/>
        </p:nvSpPr>
        <p:spPr>
          <a:xfrm>
            <a:off x="8118347"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49767" y="3611880"/>
            <a:ext cx="3517391" cy="41148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49767"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STAGE 3</a:t>
            </a:r>
          </a:p>
        </p:txBody>
      </p:sp>
      <p:sp>
        <p:nvSpPr>
          <p:cNvPr id="26" name="Rectangle 25"/>
          <p:cNvSpPr/>
          <p:nvPr/>
        </p:nvSpPr>
        <p:spPr>
          <a:xfrm>
            <a:off x="8118347"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049767"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05799" y="4279392"/>
            <a:ext cx="3005327" cy="320040"/>
          </a:xfrm>
          <a:prstGeom prst="rect">
            <a:avLst/>
          </a:prstGeom>
          <a:noFill/>
        </p:spPr>
        <p:txBody>
          <a:bodyPr wrap="square" lIns="0" rIns="0" tIns="0" bIns="0" anchor="t">
            <a:spAutoFit/>
          </a:bodyPr>
          <a:lstStyle/>
          <a:p>
            <a:pPr algn="l"/>
            <a:r>
              <a:rPr sz="1400" b="1">
                <a:solidFill>
                  <a:srgbClr val="000000"/>
                </a:solidFill>
                <a:latin typeface="Arial"/>
              </a:rPr>
              <a:t>THE LAST ONE</a:t>
            </a:r>
          </a:p>
        </p:txBody>
      </p:sp>
      <p:sp>
        <p:nvSpPr>
          <p:cNvPr id="29" name="TextBox 28"/>
          <p:cNvSpPr txBox="1"/>
          <p:nvPr/>
        </p:nvSpPr>
        <p:spPr>
          <a:xfrm>
            <a:off x="8305799"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Drawn, not diagrammed: building scale, a figure, planting, ground, shadow.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REQUIREMENTS — P1a</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Visual quality 35% · computational understanding 25% · technical execution 20% · experimentation 10% · requirements and identity 10%.</a:t>
            </a:r>
          </a:p>
        </p:txBody>
      </p:sp>
      <p:sp>
        <p:nvSpPr>
          <p:cNvPr id="5" name="Rectangle 4"/>
          <p:cNvSpPr/>
          <p:nvPr/>
        </p:nvSpPr>
        <p:spPr>
          <a:xfrm>
            <a:off x="662940" y="1851660"/>
            <a:ext cx="777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777240" cy="5791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1972056"/>
            <a:ext cx="777240" cy="274320"/>
          </a:xfrm>
          <a:prstGeom prst="rect">
            <a:avLst/>
          </a:prstGeom>
          <a:noFill/>
        </p:spPr>
        <p:txBody>
          <a:bodyPr wrap="square" lIns="0" rIns="0" tIns="0" bIns="0" anchor="t">
            <a:spAutoFit/>
          </a:bodyPr>
          <a:lstStyle/>
          <a:p>
            <a:pPr algn="ctr"/>
            <a:r>
              <a:rPr sz="1500" b="1">
                <a:solidFill>
                  <a:srgbClr val="000000"/>
                </a:solidFill>
                <a:latin typeface="Arial"/>
              </a:rPr>
              <a:t>01</a:t>
            </a:r>
          </a:p>
        </p:txBody>
      </p:sp>
      <p:sp>
        <p:nvSpPr>
          <p:cNvPr id="8" name="Rectangle 7"/>
          <p:cNvSpPr/>
          <p:nvPr/>
        </p:nvSpPr>
        <p:spPr>
          <a:xfrm>
            <a:off x="1714499" y="1851660"/>
            <a:ext cx="9921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645919" y="1783080"/>
            <a:ext cx="9921240" cy="579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1874519"/>
            <a:ext cx="9372600" cy="396239"/>
          </a:xfrm>
          <a:prstGeom prst="rect">
            <a:avLst/>
          </a:prstGeom>
          <a:noFill/>
        </p:spPr>
        <p:txBody>
          <a:bodyPr wrap="square" lIns="0" rIns="0" tIns="0" bIns="0" anchor="ctr">
            <a:spAutoFit/>
          </a:bodyPr>
          <a:lstStyle/>
          <a:p>
            <a:pPr algn="l">
              <a:lnSpc>
                <a:spcPct val="125000"/>
              </a:lnSpc>
            </a:pPr>
            <a:r>
              <a:rPr sz="1200">
                <a:solidFill>
                  <a:srgbClr val="000000"/>
                </a:solidFill>
                <a:latin typeface="Calibri"/>
              </a:rPr>
              <a:t>One 17 × 11 inch sheet carrying an ordered sequence of eight or nine numbered diagrams: one operation per diagram, read in order, each showing what the one before it produced.</a:t>
            </a:r>
          </a:p>
        </p:txBody>
      </p:sp>
      <p:sp>
        <p:nvSpPr>
          <p:cNvPr id="11" name="Rectangle 10"/>
          <p:cNvSpPr/>
          <p:nvPr/>
        </p:nvSpPr>
        <p:spPr>
          <a:xfrm>
            <a:off x="662940" y="2577084"/>
            <a:ext cx="777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508504"/>
            <a:ext cx="777240" cy="5791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2697479"/>
            <a:ext cx="777240" cy="274320"/>
          </a:xfrm>
          <a:prstGeom prst="rect">
            <a:avLst/>
          </a:prstGeom>
          <a:noFill/>
        </p:spPr>
        <p:txBody>
          <a:bodyPr wrap="square" lIns="0" rIns="0" tIns="0" bIns="0" anchor="t">
            <a:spAutoFit/>
          </a:bodyPr>
          <a:lstStyle/>
          <a:p>
            <a:pPr algn="ctr"/>
            <a:r>
              <a:rPr sz="1500" b="1">
                <a:solidFill>
                  <a:srgbClr val="000000"/>
                </a:solidFill>
                <a:latin typeface="Arial"/>
              </a:rPr>
              <a:t>02</a:t>
            </a:r>
          </a:p>
        </p:txBody>
      </p:sp>
      <p:sp>
        <p:nvSpPr>
          <p:cNvPr id="14" name="Rectangle 13"/>
          <p:cNvSpPr/>
          <p:nvPr/>
        </p:nvSpPr>
        <p:spPr>
          <a:xfrm>
            <a:off x="1714499" y="2577084"/>
            <a:ext cx="9921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45919" y="2508504"/>
            <a:ext cx="9921240" cy="579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2599944"/>
            <a:ext cx="9372600" cy="396239"/>
          </a:xfrm>
          <a:prstGeom prst="rect">
            <a:avLst/>
          </a:prstGeom>
          <a:noFill/>
        </p:spPr>
        <p:txBody>
          <a:bodyPr wrap="square" lIns="0" rIns="0" tIns="0" bIns="0" anchor="ctr">
            <a:spAutoFit/>
          </a:bodyPr>
          <a:lstStyle/>
          <a:p>
            <a:pPr algn="l">
              <a:lnSpc>
                <a:spcPct val="125000"/>
              </a:lnSpc>
            </a:pPr>
            <a:r>
              <a:rPr sz="1200">
                <a:solidFill>
                  <a:srgbClr val="000000"/>
                </a:solidFill>
                <a:latin typeface="Calibri"/>
              </a:rPr>
              <a:t>Use at least three primitives, at least three transformations covering translate, rotate and scale, and at least three Boolean operations covering union, difference and intersection. Name the operands of every subtraction — which solid is kept and which is removed.</a:t>
            </a:r>
          </a:p>
        </p:txBody>
      </p:sp>
      <p:sp>
        <p:nvSpPr>
          <p:cNvPr id="17" name="Rectangle 16"/>
          <p:cNvSpPr/>
          <p:nvPr/>
        </p:nvSpPr>
        <p:spPr>
          <a:xfrm>
            <a:off x="662940" y="3302508"/>
            <a:ext cx="777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233928"/>
            <a:ext cx="777240" cy="57912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3422904"/>
            <a:ext cx="777240" cy="274320"/>
          </a:xfrm>
          <a:prstGeom prst="rect">
            <a:avLst/>
          </a:prstGeom>
          <a:noFill/>
        </p:spPr>
        <p:txBody>
          <a:bodyPr wrap="square" lIns="0" rIns="0" tIns="0" bIns="0" anchor="t">
            <a:spAutoFit/>
          </a:bodyPr>
          <a:lstStyle/>
          <a:p>
            <a:pPr algn="ctr"/>
            <a:r>
              <a:rPr sz="1500" b="1">
                <a:solidFill>
                  <a:srgbClr val="000000"/>
                </a:solidFill>
                <a:latin typeface="Arial"/>
              </a:rPr>
              <a:t>03</a:t>
            </a:r>
          </a:p>
        </p:txBody>
      </p:sp>
      <p:sp>
        <p:nvSpPr>
          <p:cNvPr id="20" name="Rectangle 19"/>
          <p:cNvSpPr/>
          <p:nvPr/>
        </p:nvSpPr>
        <p:spPr>
          <a:xfrm>
            <a:off x="1714499" y="3302508"/>
            <a:ext cx="9921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645919" y="3233928"/>
            <a:ext cx="9921240" cy="579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920240" y="3325368"/>
            <a:ext cx="9372600" cy="396239"/>
          </a:xfrm>
          <a:prstGeom prst="rect">
            <a:avLst/>
          </a:prstGeom>
          <a:noFill/>
        </p:spPr>
        <p:txBody>
          <a:bodyPr wrap="square" lIns="0" rIns="0" tIns="0" bIns="0" anchor="ctr">
            <a:spAutoFit/>
          </a:bodyPr>
          <a:lstStyle/>
          <a:p>
            <a:pPr algn="l">
              <a:lnSpc>
                <a:spcPct val="125000"/>
              </a:lnSpc>
            </a:pPr>
            <a:r>
              <a:rPr sz="1200">
                <a:solidFill>
                  <a:srgbClr val="000000"/>
                </a:solidFill>
                <a:latin typeface="Calibri"/>
              </a:rPr>
              <a:t>Develop the last diagram as a drawing rather than a diagram: the final solid at building scale, with a 1.75 m human figure, vegetation, ground and shadow, so the sequence ends in something readable as architecture.</a:t>
            </a:r>
          </a:p>
        </p:txBody>
      </p:sp>
      <p:sp>
        <p:nvSpPr>
          <p:cNvPr id="23" name="Rectangle 22"/>
          <p:cNvSpPr/>
          <p:nvPr/>
        </p:nvSpPr>
        <p:spPr>
          <a:xfrm>
            <a:off x="662940" y="4027932"/>
            <a:ext cx="777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3959352"/>
            <a:ext cx="777240" cy="5791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4148328"/>
            <a:ext cx="777240" cy="274320"/>
          </a:xfrm>
          <a:prstGeom prst="rect">
            <a:avLst/>
          </a:prstGeom>
          <a:noFill/>
        </p:spPr>
        <p:txBody>
          <a:bodyPr wrap="square" lIns="0" rIns="0" tIns="0" bIns="0" anchor="t">
            <a:spAutoFit/>
          </a:bodyPr>
          <a:lstStyle/>
          <a:p>
            <a:pPr algn="ctr"/>
            <a:r>
              <a:rPr sz="1500" b="1">
                <a:solidFill>
                  <a:srgbClr val="000000"/>
                </a:solidFill>
                <a:latin typeface="Arial"/>
              </a:rPr>
              <a:t>04</a:t>
            </a:r>
          </a:p>
        </p:txBody>
      </p:sp>
      <p:sp>
        <p:nvSpPr>
          <p:cNvPr id="26" name="Rectangle 25"/>
          <p:cNvSpPr/>
          <p:nvPr/>
        </p:nvSpPr>
        <p:spPr>
          <a:xfrm>
            <a:off x="1714499" y="4027932"/>
            <a:ext cx="9921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645919" y="3959352"/>
            <a:ext cx="9921240" cy="579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920240" y="4050791"/>
            <a:ext cx="9372600" cy="396239"/>
          </a:xfrm>
          <a:prstGeom prst="rect">
            <a:avLst/>
          </a:prstGeom>
          <a:noFill/>
        </p:spPr>
        <p:txBody>
          <a:bodyPr wrap="square" lIns="0" rIns="0" tIns="0" bIns="0" anchor="ctr">
            <a:spAutoFit/>
          </a:bodyPr>
          <a:lstStyle/>
          <a:p>
            <a:pPr algn="l">
              <a:lnSpc>
                <a:spcPct val="125000"/>
              </a:lnSpc>
            </a:pPr>
            <a:r>
              <a:rPr sz="1200">
                <a:solidFill>
                  <a:srgbClr val="000000"/>
                </a:solidFill>
                <a:latin typeface="Calibri"/>
              </a:rPr>
              <a:t>Write the sequence out as pseudocode beside the diagrams — one line per operation, in the same order as the diagrams, with the parameters you exposed.</a:t>
            </a:r>
          </a:p>
        </p:txBody>
      </p:sp>
      <p:sp>
        <p:nvSpPr>
          <p:cNvPr id="29" name="Rectangle 28"/>
          <p:cNvSpPr/>
          <p:nvPr/>
        </p:nvSpPr>
        <p:spPr>
          <a:xfrm>
            <a:off x="662940" y="4753356"/>
            <a:ext cx="777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4684776"/>
            <a:ext cx="777240" cy="5791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4873752"/>
            <a:ext cx="777240" cy="274320"/>
          </a:xfrm>
          <a:prstGeom prst="rect">
            <a:avLst/>
          </a:prstGeom>
          <a:noFill/>
        </p:spPr>
        <p:txBody>
          <a:bodyPr wrap="square" lIns="0" rIns="0" tIns="0" bIns="0" anchor="t">
            <a:spAutoFit/>
          </a:bodyPr>
          <a:lstStyle/>
          <a:p>
            <a:pPr algn="ctr"/>
            <a:r>
              <a:rPr sz="1500" b="1">
                <a:solidFill>
                  <a:srgbClr val="000000"/>
                </a:solidFill>
                <a:latin typeface="Arial"/>
              </a:rPr>
              <a:t>05</a:t>
            </a:r>
          </a:p>
        </p:txBody>
      </p:sp>
      <p:sp>
        <p:nvSpPr>
          <p:cNvPr id="32" name="Rectangle 31"/>
          <p:cNvSpPr/>
          <p:nvPr/>
        </p:nvSpPr>
        <p:spPr>
          <a:xfrm>
            <a:off x="1714499" y="4753356"/>
            <a:ext cx="9921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645919" y="4684776"/>
            <a:ext cx="9921240" cy="579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920240" y="4776215"/>
            <a:ext cx="9372600" cy="396239"/>
          </a:xfrm>
          <a:prstGeom prst="rect">
            <a:avLst/>
          </a:prstGeom>
          <a:noFill/>
        </p:spPr>
        <p:txBody>
          <a:bodyPr wrap="square" lIns="0" rIns="0" tIns="0" bIns="0" anchor="ctr">
            <a:spAutoFit/>
          </a:bodyPr>
          <a:lstStyle/>
          <a:p>
            <a:pPr algn="l">
              <a:lnSpc>
                <a:spcPct val="125000"/>
              </a:lnSpc>
            </a:pPr>
            <a:r>
              <a:rPr sz="1200">
                <a:solidFill>
                  <a:srgbClr val="000000"/>
                </a:solidFill>
                <a:latin typeface="Calibri"/>
              </a:rPr>
              <a:t>Read the spatial operations in Di Mari and Yoo, Operative Design, and Di Mari, Conditional Design, and state which operation your sequence performs in their terms.</a:t>
            </a:r>
          </a:p>
        </p:txBody>
      </p:sp>
      <p:sp>
        <p:nvSpPr>
          <p:cNvPr id="35" name="Rectangle 34"/>
          <p:cNvSpPr/>
          <p:nvPr/>
        </p:nvSpPr>
        <p:spPr>
          <a:xfrm>
            <a:off x="662940" y="5478780"/>
            <a:ext cx="777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94360" y="5410199"/>
            <a:ext cx="777240" cy="5791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94360" y="5599176"/>
            <a:ext cx="777240" cy="274320"/>
          </a:xfrm>
          <a:prstGeom prst="rect">
            <a:avLst/>
          </a:prstGeom>
          <a:noFill/>
        </p:spPr>
        <p:txBody>
          <a:bodyPr wrap="square" lIns="0" rIns="0" tIns="0" bIns="0" anchor="t">
            <a:spAutoFit/>
          </a:bodyPr>
          <a:lstStyle/>
          <a:p>
            <a:pPr algn="ctr"/>
            <a:r>
              <a:rPr sz="1500" b="1">
                <a:solidFill>
                  <a:srgbClr val="000000"/>
                </a:solidFill>
                <a:latin typeface="Arial"/>
              </a:rPr>
              <a:t>06</a:t>
            </a:r>
          </a:p>
        </p:txBody>
      </p:sp>
      <p:sp>
        <p:nvSpPr>
          <p:cNvPr id="38" name="Rectangle 37"/>
          <p:cNvSpPr/>
          <p:nvPr/>
        </p:nvSpPr>
        <p:spPr>
          <a:xfrm>
            <a:off x="1714499" y="5478780"/>
            <a:ext cx="9921240" cy="579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645919" y="5410199"/>
            <a:ext cx="9921240" cy="579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920240" y="5501639"/>
            <a:ext cx="9372600" cy="396239"/>
          </a:xfrm>
          <a:prstGeom prst="rect">
            <a:avLst/>
          </a:prstGeom>
          <a:noFill/>
        </p:spPr>
        <p:txBody>
          <a:bodyPr wrap="square" lIns="0" rIns="0" tIns="0" bIns="0" anchor="ctr">
            <a:spAutoFit/>
          </a:bodyPr>
          <a:lstStyle/>
          <a:p>
            <a:pPr algn="l">
              <a:lnSpc>
                <a:spcPct val="125000"/>
              </a:lnSpc>
            </a:pPr>
            <a:r>
              <a:rPr sz="1200">
                <a:solidFill>
                  <a:srgbClr val="000000"/>
                </a:solidFill>
                <a:latin typeface="Calibri"/>
              </a:rPr>
              <a:t>Submit an editable graph with exposed inputs and geometry generated in the graph. Keep the source operations intact.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C6F035"/>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NOW — BUILD THE SEQUENCE</a:t>
            </a:r>
          </a:p>
        </p:txBody>
      </p:sp>
      <p:sp>
        <p:nvSpPr>
          <p:cNvPr id="4" name="TextBox 3"/>
          <p:cNvSpPr txBox="1"/>
          <p:nvPr/>
        </p:nvSpPr>
        <p:spPr>
          <a:xfrm>
            <a:off x="594360" y="1691640"/>
            <a:ext cx="10515600" cy="365760"/>
          </a:xfrm>
          <a:prstGeom prst="rect">
            <a:avLst/>
          </a:prstGeom>
          <a:noFill/>
        </p:spPr>
        <p:txBody>
          <a:bodyPr wrap="square" lIns="0" rIns="0" tIns="0" bIns="0" anchor="t">
            <a:spAutoFit/>
          </a:bodyPr>
          <a:lstStyle/>
          <a:p>
            <a:pPr algn="l"/>
            <a:r>
              <a:rPr sz="1600">
                <a:solidFill>
                  <a:srgbClr val="000000"/>
                </a:solidFill>
                <a:latin typeface="Calibri"/>
              </a:rPr>
              <a:t>Rest of the session: a working graph with something you can change in front of me.</a:t>
            </a:r>
          </a:p>
        </p:txBody>
      </p:sp>
      <p:sp>
        <p:nvSpPr>
          <p:cNvPr id="5" name="Rectangle 4"/>
          <p:cNvSpPr/>
          <p:nvPr/>
        </p:nvSpPr>
        <p:spPr>
          <a:xfrm>
            <a:off x="662940" y="2354580"/>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2286000"/>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468880"/>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8" name="Rectangle 7"/>
          <p:cNvSpPr/>
          <p:nvPr/>
        </p:nvSpPr>
        <p:spPr>
          <a:xfrm>
            <a:off x="1559051" y="2354580"/>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490472" y="2286000"/>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64792" y="2286000"/>
            <a:ext cx="9528048" cy="566928"/>
          </a:xfrm>
          <a:prstGeom prst="rect">
            <a:avLst/>
          </a:prstGeom>
          <a:noFill/>
        </p:spPr>
        <p:txBody>
          <a:bodyPr wrap="square" lIns="0" rIns="0" tIns="0" bIns="0" anchor="ctr">
            <a:spAutoFit/>
          </a:bodyPr>
          <a:lstStyle/>
          <a:p>
            <a:pPr algn="l"/>
            <a:r>
              <a:rPr sz="1450">
                <a:solidFill>
                  <a:srgbClr val="000000"/>
                </a:solidFill>
                <a:latin typeface="Calibri"/>
              </a:rPr>
              <a:t>Object chosen — orthogonal massing, 5–10 clear moves, no complex curves</a:t>
            </a:r>
          </a:p>
        </p:txBody>
      </p:sp>
      <p:sp>
        <p:nvSpPr>
          <p:cNvPr id="11" name="Rectangle 10"/>
          <p:cNvSpPr/>
          <p:nvPr/>
        </p:nvSpPr>
        <p:spPr>
          <a:xfrm>
            <a:off x="662940" y="3067812"/>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999232"/>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3182112"/>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14" name="Rectangle 13"/>
          <p:cNvSpPr/>
          <p:nvPr/>
        </p:nvSpPr>
        <p:spPr>
          <a:xfrm>
            <a:off x="1559051" y="3067812"/>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490472" y="2999232"/>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64792" y="2999232"/>
            <a:ext cx="9528048" cy="566928"/>
          </a:xfrm>
          <a:prstGeom prst="rect">
            <a:avLst/>
          </a:prstGeom>
          <a:noFill/>
        </p:spPr>
        <p:txBody>
          <a:bodyPr wrap="square" lIns="0" rIns="0" tIns="0" bIns="0" anchor="ctr">
            <a:spAutoFit/>
          </a:bodyPr>
          <a:lstStyle/>
          <a:p>
            <a:pPr algn="l"/>
            <a:r>
              <a:rPr sz="1450">
                <a:solidFill>
                  <a:srgbClr val="000000"/>
                </a:solidFill>
                <a:latin typeface="Calibri"/>
              </a:rPr>
              <a:t>First three primitives placed, each born at the origin and moved from there</a:t>
            </a:r>
          </a:p>
        </p:txBody>
      </p:sp>
      <p:sp>
        <p:nvSpPr>
          <p:cNvPr id="17" name="Rectangle 16"/>
          <p:cNvSpPr/>
          <p:nvPr/>
        </p:nvSpPr>
        <p:spPr>
          <a:xfrm>
            <a:off x="662940" y="3781044"/>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712464"/>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3895344"/>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0" name="Rectangle 19"/>
          <p:cNvSpPr/>
          <p:nvPr/>
        </p:nvSpPr>
        <p:spPr>
          <a:xfrm>
            <a:off x="1559051" y="3781044"/>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490472" y="3712464"/>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764792" y="3712464"/>
            <a:ext cx="9528048" cy="566928"/>
          </a:xfrm>
          <a:prstGeom prst="rect">
            <a:avLst/>
          </a:prstGeom>
          <a:noFill/>
        </p:spPr>
        <p:txBody>
          <a:bodyPr wrap="square" lIns="0" rIns="0" tIns="0" bIns="0" anchor="ctr">
            <a:spAutoFit/>
          </a:bodyPr>
          <a:lstStyle/>
          <a:p>
            <a:pPr algn="l"/>
            <a:r>
              <a:rPr sz="1450">
                <a:solidFill>
                  <a:srgbClr val="000000"/>
                </a:solidFill>
                <a:latin typeface="Calibri"/>
              </a:rPr>
              <a:t>At least one Boolean working, with the operands named</a:t>
            </a:r>
          </a:p>
        </p:txBody>
      </p:sp>
      <p:sp>
        <p:nvSpPr>
          <p:cNvPr id="23" name="Rectangle 22"/>
          <p:cNvSpPr/>
          <p:nvPr/>
        </p:nvSpPr>
        <p:spPr>
          <a:xfrm>
            <a:off x="662940" y="4494276"/>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425696"/>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4608576"/>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6" name="Rectangle 25"/>
          <p:cNvSpPr/>
          <p:nvPr/>
        </p:nvSpPr>
        <p:spPr>
          <a:xfrm>
            <a:off x="1559051" y="4494276"/>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490472" y="4425696"/>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764792" y="4425696"/>
            <a:ext cx="9528048" cy="566928"/>
          </a:xfrm>
          <a:prstGeom prst="rect">
            <a:avLst/>
          </a:prstGeom>
          <a:noFill/>
        </p:spPr>
        <p:txBody>
          <a:bodyPr wrap="square" lIns="0" rIns="0" tIns="0" bIns="0" anchor="ctr">
            <a:spAutoFit/>
          </a:bodyPr>
          <a:lstStyle/>
          <a:p>
            <a:pPr algn="l"/>
            <a:r>
              <a:rPr sz="1450">
                <a:solidFill>
                  <a:srgbClr val="000000"/>
                </a:solidFill>
                <a:latin typeface="Calibri"/>
              </a:rPr>
              <a:t>Two useful inputs exposed, so a variant is one number away</a:t>
            </a:r>
          </a:p>
        </p:txBody>
      </p:sp>
      <p:sp>
        <p:nvSpPr>
          <p:cNvPr id="29" name="Rectangle 28"/>
          <p:cNvSpPr/>
          <p:nvPr/>
        </p:nvSpPr>
        <p:spPr>
          <a:xfrm>
            <a:off x="662940" y="5207508"/>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5138928"/>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5321808"/>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32" name="Rectangle 31"/>
          <p:cNvSpPr/>
          <p:nvPr/>
        </p:nvSpPr>
        <p:spPr>
          <a:xfrm>
            <a:off x="1559051" y="5207508"/>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490472" y="5138928"/>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764792" y="5138928"/>
            <a:ext cx="9528048" cy="566928"/>
          </a:xfrm>
          <a:prstGeom prst="rect">
            <a:avLst/>
          </a:prstGeom>
          <a:noFill/>
        </p:spPr>
        <p:txBody>
          <a:bodyPr wrap="square" lIns="0" rIns="0" tIns="0" bIns="0" anchor="ctr">
            <a:spAutoFit/>
          </a:bodyPr>
          <a:lstStyle/>
          <a:p>
            <a:pPr algn="l"/>
            <a:r>
              <a:rPr sz="1450">
                <a:solidFill>
                  <a:srgbClr val="000000"/>
                </a:solidFill>
                <a:latin typeface="Calibri"/>
              </a:rPr>
              <a:t>Operation history intact — nothing collapsed or applied</a:t>
            </a:r>
          </a:p>
        </p:txBody>
      </p:sp>
      <p:sp>
        <p:nvSpPr>
          <p:cNvPr id="35" name="Rectangle 34"/>
          <p:cNvSpPr/>
          <p:nvPr/>
        </p:nvSpPr>
        <p:spPr>
          <a:xfrm>
            <a:off x="662940" y="6012180"/>
            <a:ext cx="841248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94360" y="5943600"/>
            <a:ext cx="8412480" cy="566928"/>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94360" y="5943600"/>
            <a:ext cx="8412480" cy="566928"/>
          </a:xfrm>
          <a:prstGeom prst="rect">
            <a:avLst/>
          </a:prstGeom>
          <a:noFill/>
        </p:spPr>
        <p:txBody>
          <a:bodyPr wrap="square" lIns="0" rIns="0" tIns="0" bIns="0" anchor="ctr">
            <a:spAutoFit/>
          </a:bodyPr>
          <a:lstStyle/>
          <a:p>
            <a:pPr algn="ctr"/>
            <a:r>
              <a:rPr sz="1300" b="1">
                <a:solidFill>
                  <a:srgbClr val="C6F035"/>
                </a:solidFill>
                <a:latin typeface="Arial"/>
              </a:rPr>
              <a:t>LEAVE WITH A GRAPH YOU CAN CHANGE, NOT A MESH YOU CANNOT.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BEFORE NEXT CLASS</a:t>
            </a:r>
          </a:p>
        </p:txBody>
      </p:sp>
      <p:sp>
        <p:nvSpPr>
          <p:cNvPr id="4" name="Rectangle 3"/>
          <p:cNvSpPr/>
          <p:nvPr/>
        </p:nvSpPr>
        <p:spPr>
          <a:xfrm>
            <a:off x="662940" y="1851660"/>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1783080"/>
            <a:ext cx="1508760" cy="804672"/>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60" y="2084831"/>
            <a:ext cx="1508760" cy="274320"/>
          </a:xfrm>
          <a:prstGeom prst="rect">
            <a:avLst/>
          </a:prstGeom>
          <a:noFill/>
        </p:spPr>
        <p:txBody>
          <a:bodyPr wrap="square" lIns="0" rIns="0" tIns="0" bIns="0" anchor="t">
            <a:spAutoFit/>
          </a:bodyPr>
          <a:lstStyle/>
          <a:p>
            <a:pPr algn="ctr"/>
            <a:r>
              <a:rPr sz="1400" b="1">
                <a:solidFill>
                  <a:srgbClr val="000000"/>
                </a:solidFill>
                <a:latin typeface="Arial"/>
              </a:rPr>
              <a:t>WATCH</a:t>
            </a:r>
          </a:p>
        </p:txBody>
      </p:sp>
      <p:sp>
        <p:nvSpPr>
          <p:cNvPr id="7" name="Rectangle 6"/>
          <p:cNvSpPr/>
          <p:nvPr/>
        </p:nvSpPr>
        <p:spPr>
          <a:xfrm>
            <a:off x="2446020" y="1851660"/>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377440" y="1783080"/>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51760" y="1901952"/>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U03 — Geometry from scratch. Point, line, edge, face, mesh, solid. The Blender lesson file for this one already exists; check the unit page.</a:t>
            </a:r>
          </a:p>
        </p:txBody>
      </p:sp>
      <p:sp>
        <p:nvSpPr>
          <p:cNvPr id="10" name="Rectangle 9"/>
          <p:cNvSpPr/>
          <p:nvPr/>
        </p:nvSpPr>
        <p:spPr>
          <a:xfrm>
            <a:off x="662940" y="2912364"/>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94360" y="2843784"/>
            <a:ext cx="1508760" cy="804672"/>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4360" y="3145536"/>
            <a:ext cx="1508760" cy="274320"/>
          </a:xfrm>
          <a:prstGeom prst="rect">
            <a:avLst/>
          </a:prstGeom>
          <a:noFill/>
        </p:spPr>
        <p:txBody>
          <a:bodyPr wrap="square" lIns="0" rIns="0" tIns="0" bIns="0" anchor="t">
            <a:spAutoFit/>
          </a:bodyPr>
          <a:lstStyle/>
          <a:p>
            <a:pPr algn="ctr"/>
            <a:r>
              <a:rPr sz="1400" b="1">
                <a:solidFill>
                  <a:srgbClr val="000000"/>
                </a:solidFill>
                <a:latin typeface="Arial"/>
              </a:rPr>
              <a:t>BUILD</a:t>
            </a:r>
          </a:p>
        </p:txBody>
      </p:sp>
      <p:sp>
        <p:nvSpPr>
          <p:cNvPr id="13" name="Rectangle 12"/>
          <p:cNvSpPr/>
          <p:nvPr/>
        </p:nvSpPr>
        <p:spPr>
          <a:xfrm>
            <a:off x="2446020" y="2912364"/>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377440" y="2843784"/>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651760" y="2962656"/>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Keep going on P1a. It is due Week 4 — eight or nine numbered diagrams, the last one developed in context, and the sequence written out as pseudocode.</a:t>
            </a:r>
          </a:p>
        </p:txBody>
      </p:sp>
      <p:sp>
        <p:nvSpPr>
          <p:cNvPr id="16" name="Rectangle 15"/>
          <p:cNvSpPr/>
          <p:nvPr/>
        </p:nvSpPr>
        <p:spPr>
          <a:xfrm>
            <a:off x="662940" y="3973068"/>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94360" y="3904487"/>
            <a:ext cx="1508760" cy="804672"/>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94360" y="4206240"/>
            <a:ext cx="1508760" cy="274320"/>
          </a:xfrm>
          <a:prstGeom prst="rect">
            <a:avLst/>
          </a:prstGeom>
          <a:noFill/>
        </p:spPr>
        <p:txBody>
          <a:bodyPr wrap="square" lIns="0" rIns="0" tIns="0" bIns="0" anchor="t">
            <a:spAutoFit/>
          </a:bodyPr>
          <a:lstStyle/>
          <a:p>
            <a:pPr algn="ctr"/>
            <a:r>
              <a:rPr sz="1400" b="1">
                <a:solidFill>
                  <a:srgbClr val="000000"/>
                </a:solidFill>
                <a:latin typeface="Arial"/>
              </a:rPr>
              <a:t>WRITE</a:t>
            </a:r>
          </a:p>
        </p:txBody>
      </p:sp>
      <p:sp>
        <p:nvSpPr>
          <p:cNvPr id="19" name="Rectangle 18"/>
          <p:cNvSpPr/>
          <p:nvPr/>
        </p:nvSpPr>
        <p:spPr>
          <a:xfrm>
            <a:off x="2446020" y="3973068"/>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377440" y="3904487"/>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651760" y="4023359"/>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Your procedure as pseudocode, using the notation above. Read it aloud to someone who has not seen your model and fix what they cannot follow.</a:t>
            </a:r>
          </a:p>
        </p:txBody>
      </p:sp>
      <p:sp>
        <p:nvSpPr>
          <p:cNvPr id="22" name="Rectangle 21"/>
          <p:cNvSpPr/>
          <p:nvPr/>
        </p:nvSpPr>
        <p:spPr>
          <a:xfrm>
            <a:off x="662940" y="5033772"/>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94360" y="4965192"/>
            <a:ext cx="1508760" cy="804672"/>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94360" y="5266944"/>
            <a:ext cx="1508760" cy="274320"/>
          </a:xfrm>
          <a:prstGeom prst="rect">
            <a:avLst/>
          </a:prstGeom>
          <a:noFill/>
        </p:spPr>
        <p:txBody>
          <a:bodyPr wrap="square" lIns="0" rIns="0" tIns="0" bIns="0" anchor="t">
            <a:spAutoFit/>
          </a:bodyPr>
          <a:lstStyle/>
          <a:p>
            <a:pPr algn="ctr"/>
            <a:r>
              <a:rPr sz="1400" b="1">
                <a:solidFill>
                  <a:srgbClr val="000000"/>
                </a:solidFill>
                <a:latin typeface="Arial"/>
              </a:rPr>
              <a:t>BRING</a:t>
            </a:r>
          </a:p>
        </p:txBody>
      </p:sp>
      <p:sp>
        <p:nvSpPr>
          <p:cNvPr id="25" name="Rectangle 24"/>
          <p:cNvSpPr/>
          <p:nvPr/>
        </p:nvSpPr>
        <p:spPr>
          <a:xfrm>
            <a:off x="2446020" y="5033772"/>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377440" y="4965192"/>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51760" y="5084064"/>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The editable file, and one question about something in it that behaves oddly.</a:t>
            </a:r>
          </a:p>
        </p:txBody>
      </p:sp>
      <p:sp>
        <p:nvSpPr>
          <p:cNvPr id="28" name="Rectangle 27"/>
          <p:cNvSpPr/>
          <p:nvPr/>
        </p:nvSpPr>
        <p:spPr>
          <a:xfrm>
            <a:off x="662940" y="6094476"/>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94360" y="6025896"/>
            <a:ext cx="1508760" cy="804672"/>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94360" y="6327648"/>
            <a:ext cx="1508760" cy="274320"/>
          </a:xfrm>
          <a:prstGeom prst="rect">
            <a:avLst/>
          </a:prstGeom>
          <a:noFill/>
        </p:spPr>
        <p:txBody>
          <a:bodyPr wrap="square" lIns="0" rIns="0" tIns="0" bIns="0" anchor="t">
            <a:spAutoFit/>
          </a:bodyPr>
          <a:lstStyle/>
          <a:p>
            <a:pPr algn="ctr"/>
            <a:r>
              <a:rPr sz="1400" b="1">
                <a:solidFill>
                  <a:srgbClr val="000000"/>
                </a:solidFill>
                <a:latin typeface="Arial"/>
              </a:rPr>
              <a:t>READ</a:t>
            </a:r>
          </a:p>
        </p:txBody>
      </p:sp>
      <p:sp>
        <p:nvSpPr>
          <p:cNvPr id="31" name="Rectangle 30"/>
          <p:cNvSpPr/>
          <p:nvPr/>
        </p:nvSpPr>
        <p:spPr>
          <a:xfrm>
            <a:off x="2446020" y="6094476"/>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2377440" y="6025896"/>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2651760" y="6144768"/>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Di Mari and Yoo, Operative Design, and Di Mari, Conditional Design. Find the spatial verb your own sequence performs, and name it on the sheet.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