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front section, then prepare prints with help in the room.\nEveryone should leave with a sliced file in the queue, or a clear reason why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fact is the one everything else hangs off. Say it, then use it three times today.\nSecond fact matters for their 0.1 print — a thin tower printed upright snaps at the layer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 broken Boolean live: leave a face open, run it through the slicer, show the nonsense it produces.\nThen show the repair. This is the single most useful five minutes of the session.\nName the check tool in whichever environment they're using — 3D Print Toolbox in Blender, Check/ShowEdges in Rhino.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stacked-rectangle drawing is the honest explanation — each layer is offset from the one below, and past about half a layer width there is nothing holding the edge up.\n45° is a rule of thumb, not physics. Bridging across a gap behaves differently from a slope.\nAsk them to find the worst overhang in their own model before they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these four letters beforehand and pass them around — the H bridge sags slightly, the T arms curl, the i dot is a blob on the bed. Nothing communicates it faster.
Then: everyone find the H, V, T and i in their own model. Whoever has an i has a problem to solve today.
This test comes from García Cuevas and Pugliese, Advanced 3D Printing with Grasshopper.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 is pedagogical, not arbitrary — with supports off, orientation is the only variable, which is the fastest way to learn what it does.\nAnd revising the geometry to make it printable is a legitimate outcome. Say that clearly or they will panic.\nOrientation diagram is a required part of the 0.1 sheet: chosen orientation, the overhangs it produces, why it beat the alternative.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Slice something live and step through the preview layer by layer. Show the first layer, a mid layer, and the top.\nThe Module 2 connection is worth flagging out loud — they will meet contouring again in six weeks and this is the same operation.\nShow the time estimate and the material estimate. That is what makes the production plan real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tuning. They will want to change everything; almost all of it makes the print worse or longer.\nWalls versus infill is the useful one — students always crank infill to 100% and wonder why it takes nine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site model example is the one that lands. A block of massing models is twenty boxes — laser them from chipboard in one pass, stack and glue. Printed, that is days of machine time for a worse object.
This matters in Module 2 versus Module 3: 2.2 is cut because sections are flat; 3.2 is printed because a vault panel is doubly curved and has no flat description.
Ask them which their 0.1 object would be if it were not a required print. Most would be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bottom bar with the actual FabLab procedure before you teach this.\nBe specific about file naming — it is the difference between a print they can find and one they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 around real failed prints for as many of these as you have — a photo does not communicate a delamination or a support scar.
Stringing is worth a beat: the cause is travel moves, which is the same ordering problem as the plotter demo in Class 6. Same lesson, different machine.
Tell them to keep their failures. A print that failed and was correctly diagnosed is worth more in the booklet than one that worked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assessment basis plainly. A rough print with a good orientation argument passes. A pretty print they cannot explain does not.\nNo credit for 0.1 without the print — repeat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The two things to catch: non-manifold geometry, and models scaled wrong so print time is absurd.\nAnyone who cannot get a printable orientation should revise geometry today, not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is due next class — make sure nobody thinks the print buys them an extension on the sheet.\nModule 1 starts next week, so the pace picks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4D8D"/>
        </a:solidFill>
      </p:bgPr>
    </p:bg>
    <p:spTree>
      <p:nvGrpSpPr>
        <p:cNvPr id="1" name=""/>
        <p:cNvGrpSpPr/>
        <p:nvPr/>
      </p:nvGrpSpPr>
      <p:grpSpPr>
        <a:xfrm>
          <a:off x="0" y="0"/>
          <a:ext cx="0" cy="0"/>
          <a:chOff x="0" y="0"/>
          <a:chExt cx="0" cy="0"/>
        </a:xfrm>
      </p:grpSpPr>
      <p:sp>
        <p:nvSpPr>
          <p:cNvPr id="2" name="Shape 0"/>
          <p:cNvSpPr/>
          <p:nvPr/>
        </p:nvSpPr>
        <p:spPr>
          <a:xfrm>
            <a:off x="594360" y="1051560"/>
            <a:ext cx="10972800" cy="256032"/>
          </a:xfrm>
          <a:prstGeom prst="rect">
            <a:avLst/>
          </a:prstGeom>
          <a:solidFill>
            <a:srgbClr val="000000"/>
          </a:solidFill>
          <a:ln/>
        </p:spPr>
      </p:sp>
      <p:sp>
        <p:nvSpPr>
          <p:cNvPr id="3" name="Text 1"/>
          <p:cNvSpPr/>
          <p:nvPr/>
        </p:nvSpPr>
        <p:spPr>
          <a:xfrm>
            <a:off x="594360" y="1481328"/>
            <a:ext cx="7315200" cy="457200"/>
          </a:xfrm>
          <a:prstGeom prst="rect">
            <a:avLst/>
          </a:prstGeom>
          <a:noFill/>
          <a:ln/>
        </p:spPr>
        <p:txBody>
          <a:bodyPr wrap="square" lIns="0" tIns="0" rIns="0" bIns="0" rtlCol="0" anchor="ctr"/>
          <a:lstStyle/>
          <a:p>
            <a:pPr indent="0" marL="0">
              <a:buNone/>
            </a:pPr>
            <a:r>
              <a:rPr lang="en-US" sz="1800" b="1" spc="400" kern="0" dirty="0">
                <a:solidFill>
                  <a:srgbClr val="000000"/>
                </a:solidFill>
                <a:latin typeface="Arial" pitchFamily="34" charset="0"/>
                <a:ea typeface="Arial" pitchFamily="34" charset="-122"/>
                <a:cs typeface="Arial" pitchFamily="34" charset="-120"/>
              </a:rPr>
              <a:t>CLASS 03  /  SEP 8</a:t>
            </a:r>
            <a:endParaRPr lang="en-US" sz="1800" dirty="0"/>
          </a:p>
        </p:txBody>
      </p:sp>
      <p:sp>
        <p:nvSpPr>
          <p:cNvPr id="4" name="Shape 2"/>
          <p:cNvSpPr/>
          <p:nvPr/>
        </p:nvSpPr>
        <p:spPr>
          <a:xfrm>
            <a:off x="662940" y="2125980"/>
            <a:ext cx="10149840" cy="1828800"/>
          </a:xfrm>
          <a:prstGeom prst="rect">
            <a:avLst/>
          </a:prstGeom>
          <a:solidFill>
            <a:srgbClr val="000000"/>
          </a:solidFill>
          <a:ln w="6350">
            <a:solidFill>
              <a:srgbClr val="000000"/>
            </a:solidFill>
            <a:prstDash val="solid"/>
          </a:ln>
        </p:spPr>
      </p:sp>
      <p:sp>
        <p:nvSpPr>
          <p:cNvPr id="5" name="Shape 3"/>
          <p:cNvSpPr/>
          <p:nvPr/>
        </p:nvSpPr>
        <p:spPr>
          <a:xfrm>
            <a:off x="594360" y="2057400"/>
            <a:ext cx="10149840" cy="1828800"/>
          </a:xfrm>
          <a:prstGeom prst="rect">
            <a:avLst/>
          </a:prstGeom>
          <a:solidFill>
            <a:srgbClr val="FFFDF7"/>
          </a:solidFill>
          <a:ln w="34925">
            <a:solidFill>
              <a:srgbClr val="000000"/>
            </a:solidFill>
            <a:prstDash val="solid"/>
          </a:ln>
        </p:spPr>
      </p:sp>
      <p:sp>
        <p:nvSpPr>
          <p:cNvPr id="6" name="Text 4"/>
          <p:cNvSpPr/>
          <p:nvPr/>
        </p:nvSpPr>
        <p:spPr>
          <a:xfrm>
            <a:off x="1005840" y="2395728"/>
            <a:ext cx="9326880" cy="1097280"/>
          </a:xfrm>
          <a:prstGeom prst="rect">
            <a:avLst/>
          </a:prstGeom>
          <a:noFill/>
          <a:ln/>
        </p:spPr>
        <p:txBody>
          <a:bodyPr wrap="square" lIns="0" tIns="0" rIns="0" bIns="0" rtlCol="0" anchor="ctr"/>
          <a:lstStyle/>
          <a:p>
            <a:pPr indent="0" marL="0">
              <a:buNone/>
            </a:pPr>
            <a:r>
              <a:rPr lang="en-US" sz="4800" b="1" spc="-120" kern="0" dirty="0">
                <a:solidFill>
                  <a:srgbClr val="000000"/>
                </a:solidFill>
                <a:latin typeface="Arial" pitchFamily="34" charset="0"/>
                <a:ea typeface="Arial" pitchFamily="34" charset="-122"/>
                <a:cs typeface="Arial" pitchFamily="34" charset="-120"/>
              </a:rPr>
              <a:t>3D PRINTING</a:t>
            </a:r>
            <a:endParaRPr lang="en-US" sz="4800" dirty="0"/>
          </a:p>
        </p:txBody>
      </p:sp>
      <p:sp>
        <p:nvSpPr>
          <p:cNvPr id="7" name="Shape 5"/>
          <p:cNvSpPr/>
          <p:nvPr/>
        </p:nvSpPr>
        <p:spPr>
          <a:xfrm>
            <a:off x="662940" y="4229100"/>
            <a:ext cx="8778240" cy="566928"/>
          </a:xfrm>
          <a:prstGeom prst="rect">
            <a:avLst/>
          </a:prstGeom>
          <a:solidFill>
            <a:srgbClr val="000000"/>
          </a:solidFill>
          <a:ln w="6350">
            <a:solidFill>
              <a:srgbClr val="000000"/>
            </a:solidFill>
            <a:prstDash val="solid"/>
          </a:ln>
        </p:spPr>
      </p:sp>
      <p:sp>
        <p:nvSpPr>
          <p:cNvPr id="8" name="Shape 6"/>
          <p:cNvSpPr/>
          <p:nvPr/>
        </p:nvSpPr>
        <p:spPr>
          <a:xfrm>
            <a:off x="594360" y="4160520"/>
            <a:ext cx="8778240" cy="566928"/>
          </a:xfrm>
          <a:prstGeom prst="rect">
            <a:avLst/>
          </a:prstGeom>
          <a:solidFill>
            <a:srgbClr val="FFE500"/>
          </a:solidFill>
          <a:ln w="34925">
            <a:solidFill>
              <a:srgbClr val="000000"/>
            </a:solidFill>
            <a:prstDash val="solid"/>
          </a:ln>
        </p:spPr>
      </p:sp>
      <p:sp>
        <p:nvSpPr>
          <p:cNvPr id="9" name="Text 7"/>
          <p:cNvSpPr/>
          <p:nvPr/>
        </p:nvSpPr>
        <p:spPr>
          <a:xfrm>
            <a:off x="868680" y="4279392"/>
            <a:ext cx="8412480" cy="365760"/>
          </a:xfrm>
          <a:prstGeom prst="rect">
            <a:avLst/>
          </a:prstGeom>
          <a:noFill/>
          <a:ln/>
        </p:spPr>
        <p:txBody>
          <a:bodyPr wrap="square" lIns="0" tIns="0" rIns="0" bIns="0" rtlCol="0" anchor="ctr"/>
          <a:lstStyle/>
          <a:p>
            <a:pPr indent="0" marL="0">
              <a:buNone/>
            </a:pPr>
            <a:r>
              <a:rPr lang="en-US" sz="1300" b="1" spc="40" kern="0" dirty="0">
                <a:solidFill>
                  <a:srgbClr val="000000"/>
                </a:solidFill>
                <a:latin typeface="Arial" pitchFamily="34" charset="0"/>
                <a:ea typeface="Arial" pitchFamily="34" charset="-122"/>
                <a:cs typeface="Arial" pitchFamily="34" charset="-120"/>
              </a:rPr>
              <a:t>GEOMETRY THAT SURVIVES CONTACT WITH A MACHINE</a:t>
            </a:r>
            <a:endParaRPr lang="en-US" sz="1300" dirty="0"/>
          </a:p>
        </p:txBody>
      </p:sp>
      <p:sp>
        <p:nvSpPr>
          <p:cNvPr id="10" name="Text 8"/>
          <p:cNvSpPr/>
          <p:nvPr/>
        </p:nvSpPr>
        <p:spPr>
          <a:xfrm>
            <a:off x="594360" y="5870448"/>
            <a:ext cx="10972800" cy="292608"/>
          </a:xfrm>
          <a:prstGeom prst="rect">
            <a:avLst/>
          </a:prstGeom>
          <a:noFill/>
          <a:ln/>
        </p:spPr>
        <p:txBody>
          <a:bodyPr wrap="square" lIns="0" tIns="0" rIns="0" bIns="0" rtlCol="0" anchor="ctr"/>
          <a:lstStyle/>
          <a:p>
            <a:pPr indent="0" marL="0">
              <a:buNone/>
            </a:pPr>
            <a:r>
              <a:rPr lang="en-US" sz="1050" b="1" spc="80" kern="0" dirty="0">
                <a:solidFill>
                  <a:srgbClr val="000000"/>
                </a:solidFill>
                <a:latin typeface="Arial" pitchFamily="34" charset="0"/>
                <a:ea typeface="Arial" pitchFamily="34" charset="-122"/>
                <a:cs typeface="Arial" pitchFamily="34" charset="-120"/>
              </a:rPr>
              <a:t>MOSTLY A WORKING SESSION  /  BRING YOUR MODEL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000000"/>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000000"/>
                </a:solidFill>
                <a:latin typeface="Arial" pitchFamily="34" charset="0"/>
                <a:ea typeface="Arial" pitchFamily="34" charset="-122"/>
                <a:cs typeface="Arial" pitchFamily="34" charset="-120"/>
              </a:rPr>
              <a:t>WHAT THE MACHINE DOES</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6B6B6B"/>
                </a:solidFill>
                <a:latin typeface="Calibri" pitchFamily="34" charset="0"/>
                <a:ea typeface="Calibri" pitchFamily="34" charset="-122"/>
                <a:cs typeface="Calibri" pitchFamily="34" charset="-120"/>
              </a:rPr>
              <a:t>One thing, repeatedly. Everything else follows from this.</a:t>
            </a:r>
            <a:endParaRPr lang="en-US" sz="1350" dirty="0"/>
          </a:p>
        </p:txBody>
      </p:sp>
      <p:sp>
        <p:nvSpPr>
          <p:cNvPr id="5" name="Shape 3"/>
          <p:cNvSpPr/>
          <p:nvPr/>
        </p:nvSpPr>
        <p:spPr>
          <a:xfrm>
            <a:off x="662940" y="1851660"/>
            <a:ext cx="4206240" cy="3657600"/>
          </a:xfrm>
          <a:prstGeom prst="rect">
            <a:avLst/>
          </a:prstGeom>
          <a:solidFill>
            <a:srgbClr val="000000"/>
          </a:solidFill>
          <a:ln w="6350">
            <a:solidFill>
              <a:srgbClr val="000000"/>
            </a:solidFill>
            <a:prstDash val="solid"/>
          </a:ln>
        </p:spPr>
      </p:sp>
      <p:sp>
        <p:nvSpPr>
          <p:cNvPr id="6" name="Shape 4"/>
          <p:cNvSpPr/>
          <p:nvPr/>
        </p:nvSpPr>
        <p:spPr>
          <a:xfrm>
            <a:off x="594360" y="1783080"/>
            <a:ext cx="4206240" cy="3657600"/>
          </a:xfrm>
          <a:prstGeom prst="rect">
            <a:avLst/>
          </a:prstGeom>
          <a:solidFill>
            <a:srgbClr val="FFFDF7"/>
          </a:solidFill>
          <a:ln w="34925">
            <a:solidFill>
              <a:srgbClr val="000000"/>
            </a:solidFill>
            <a:prstDash val="solid"/>
          </a:ln>
        </p:spPr>
      </p:sp>
      <p:sp>
        <p:nvSpPr>
          <p:cNvPr id="7" name="Text 5"/>
          <p:cNvSpPr/>
          <p:nvPr/>
        </p:nvSpPr>
        <p:spPr>
          <a:xfrm>
            <a:off x="868680" y="1965960"/>
            <a:ext cx="3657600" cy="566928"/>
          </a:xfrm>
          <a:prstGeom prst="rect">
            <a:avLst/>
          </a:prstGeom>
          <a:noFill/>
          <a:ln/>
        </p:spPr>
        <p:txBody>
          <a:bodyPr wrap="square" lIns="0" tIns="0" rIns="0" bIns="0" rtlCol="0" anchor="ctr"/>
          <a:lstStyle/>
          <a:p>
            <a:pPr indent="0" marL="0">
              <a:lnSpc>
                <a:spcPts val="1600"/>
              </a:lnSpc>
              <a:buNone/>
            </a:pPr>
            <a:r>
              <a:rPr lang="en-US" sz="1200" b="1" dirty="0">
                <a:solidFill>
                  <a:srgbClr val="000000"/>
                </a:solidFill>
                <a:latin typeface="Arial" pitchFamily="34" charset="0"/>
                <a:ea typeface="Arial" pitchFamily="34" charset="-122"/>
                <a:cs typeface="Arial" pitchFamily="34" charset="-120"/>
              </a:rPr>
              <a:t>A NOZZLE DRAWS ONE FLAT LAYER,</a:t>
            </a:r>
            <a:endParaRPr lang="en-US" sz="1200" dirty="0"/>
          </a:p>
          <a:p>
            <a:pPr indent="0" marL="0">
              <a:lnSpc>
                <a:spcPts val="1600"/>
              </a:lnSpc>
              <a:buNone/>
            </a:pPr>
            <a:r>
              <a:rPr lang="en-US" sz="1200" b="1" dirty="0">
                <a:solidFill>
                  <a:srgbClr val="000000"/>
                </a:solidFill>
                <a:latin typeface="Arial" pitchFamily="34" charset="0"/>
                <a:ea typeface="Arial" pitchFamily="34" charset="-122"/>
                <a:cs typeface="Arial" pitchFamily="34" charset="-120"/>
              </a:rPr>
              <a:t>THE BED DROPS, IT DRAWS THE NEXT.</a:t>
            </a:r>
            <a:endParaRPr lang="en-US" sz="1200" dirty="0"/>
          </a:p>
        </p:txBody>
      </p:sp>
      <p:sp>
        <p:nvSpPr>
          <p:cNvPr id="8" name="Shape 6"/>
          <p:cNvSpPr/>
          <p:nvPr/>
        </p:nvSpPr>
        <p:spPr>
          <a:xfrm>
            <a:off x="1645920" y="4690872"/>
            <a:ext cx="1737360" cy="201168"/>
          </a:xfrm>
          <a:prstGeom prst="rect">
            <a:avLst/>
          </a:prstGeom>
          <a:solidFill>
            <a:srgbClr val="FFFDF7"/>
          </a:solidFill>
          <a:ln w="19050">
            <a:solidFill>
              <a:srgbClr val="000000"/>
            </a:solidFill>
            <a:prstDash val="solid"/>
          </a:ln>
        </p:spPr>
      </p:sp>
      <p:sp>
        <p:nvSpPr>
          <p:cNvPr id="9" name="Shape 7"/>
          <p:cNvSpPr/>
          <p:nvPr/>
        </p:nvSpPr>
        <p:spPr>
          <a:xfrm>
            <a:off x="1645920" y="4489704"/>
            <a:ext cx="1737360" cy="201168"/>
          </a:xfrm>
          <a:prstGeom prst="rect">
            <a:avLst/>
          </a:prstGeom>
          <a:solidFill>
            <a:srgbClr val="FFFDF7"/>
          </a:solidFill>
          <a:ln w="19050">
            <a:solidFill>
              <a:srgbClr val="000000"/>
            </a:solidFill>
            <a:prstDash val="solid"/>
          </a:ln>
        </p:spPr>
      </p:sp>
      <p:sp>
        <p:nvSpPr>
          <p:cNvPr id="10" name="Shape 8"/>
          <p:cNvSpPr/>
          <p:nvPr/>
        </p:nvSpPr>
        <p:spPr>
          <a:xfrm>
            <a:off x="1645920" y="4288536"/>
            <a:ext cx="1737360" cy="201168"/>
          </a:xfrm>
          <a:prstGeom prst="rect">
            <a:avLst/>
          </a:prstGeom>
          <a:solidFill>
            <a:srgbClr val="FFFDF7"/>
          </a:solidFill>
          <a:ln w="19050">
            <a:solidFill>
              <a:srgbClr val="000000"/>
            </a:solidFill>
            <a:prstDash val="solid"/>
          </a:ln>
        </p:spPr>
      </p:sp>
      <p:sp>
        <p:nvSpPr>
          <p:cNvPr id="11" name="Shape 9"/>
          <p:cNvSpPr/>
          <p:nvPr/>
        </p:nvSpPr>
        <p:spPr>
          <a:xfrm>
            <a:off x="1645920" y="4087368"/>
            <a:ext cx="1737360" cy="201168"/>
          </a:xfrm>
          <a:prstGeom prst="rect">
            <a:avLst/>
          </a:prstGeom>
          <a:solidFill>
            <a:srgbClr val="FFFDF7"/>
          </a:solidFill>
          <a:ln w="19050">
            <a:solidFill>
              <a:srgbClr val="000000"/>
            </a:solidFill>
            <a:prstDash val="solid"/>
          </a:ln>
        </p:spPr>
      </p:sp>
      <p:sp>
        <p:nvSpPr>
          <p:cNvPr id="12" name="Shape 10"/>
          <p:cNvSpPr/>
          <p:nvPr/>
        </p:nvSpPr>
        <p:spPr>
          <a:xfrm>
            <a:off x="1645920" y="3886200"/>
            <a:ext cx="1737360" cy="201168"/>
          </a:xfrm>
          <a:prstGeom prst="rect">
            <a:avLst/>
          </a:prstGeom>
          <a:solidFill>
            <a:srgbClr val="FFFDF7"/>
          </a:solidFill>
          <a:ln w="19050">
            <a:solidFill>
              <a:srgbClr val="000000"/>
            </a:solidFill>
            <a:prstDash val="solid"/>
          </a:ln>
        </p:spPr>
      </p:sp>
      <p:sp>
        <p:nvSpPr>
          <p:cNvPr id="13" name="Shape 11"/>
          <p:cNvSpPr/>
          <p:nvPr/>
        </p:nvSpPr>
        <p:spPr>
          <a:xfrm>
            <a:off x="1645920" y="3685032"/>
            <a:ext cx="1737360" cy="201168"/>
          </a:xfrm>
          <a:prstGeom prst="rect">
            <a:avLst/>
          </a:prstGeom>
          <a:solidFill>
            <a:srgbClr val="FFFDF7"/>
          </a:solidFill>
          <a:ln w="19050">
            <a:solidFill>
              <a:srgbClr val="000000"/>
            </a:solidFill>
            <a:prstDash val="solid"/>
          </a:ln>
        </p:spPr>
      </p:sp>
      <p:sp>
        <p:nvSpPr>
          <p:cNvPr id="14" name="Shape 12"/>
          <p:cNvSpPr/>
          <p:nvPr/>
        </p:nvSpPr>
        <p:spPr>
          <a:xfrm>
            <a:off x="1645920" y="3483864"/>
            <a:ext cx="1737360" cy="201168"/>
          </a:xfrm>
          <a:prstGeom prst="rect">
            <a:avLst/>
          </a:prstGeom>
          <a:solidFill>
            <a:srgbClr val="FFFDF7"/>
          </a:solidFill>
          <a:ln w="19050">
            <a:solidFill>
              <a:srgbClr val="000000"/>
            </a:solidFill>
            <a:prstDash val="solid"/>
          </a:ln>
        </p:spPr>
      </p:sp>
      <p:sp>
        <p:nvSpPr>
          <p:cNvPr id="15" name="Shape 13"/>
          <p:cNvSpPr/>
          <p:nvPr/>
        </p:nvSpPr>
        <p:spPr>
          <a:xfrm>
            <a:off x="1645920" y="3282696"/>
            <a:ext cx="1737360" cy="201168"/>
          </a:xfrm>
          <a:prstGeom prst="rect">
            <a:avLst/>
          </a:prstGeom>
          <a:solidFill>
            <a:srgbClr val="FFFDF7"/>
          </a:solidFill>
          <a:ln w="19050">
            <a:solidFill>
              <a:srgbClr val="000000"/>
            </a:solidFill>
            <a:prstDash val="solid"/>
          </a:ln>
        </p:spPr>
      </p:sp>
      <p:sp>
        <p:nvSpPr>
          <p:cNvPr id="16" name="Shape 14"/>
          <p:cNvSpPr/>
          <p:nvPr/>
        </p:nvSpPr>
        <p:spPr>
          <a:xfrm>
            <a:off x="1645920" y="3081528"/>
            <a:ext cx="1737360" cy="201168"/>
          </a:xfrm>
          <a:prstGeom prst="rect">
            <a:avLst/>
          </a:prstGeom>
          <a:solidFill>
            <a:srgbClr val="00D9E1"/>
          </a:solidFill>
          <a:ln w="19050">
            <a:solidFill>
              <a:srgbClr val="000000"/>
            </a:solidFill>
            <a:prstDash val="solid"/>
          </a:ln>
        </p:spPr>
      </p:sp>
      <p:sp>
        <p:nvSpPr>
          <p:cNvPr id="17" name="Shape 15"/>
          <p:cNvSpPr/>
          <p:nvPr/>
        </p:nvSpPr>
        <p:spPr>
          <a:xfrm>
            <a:off x="2377440" y="2788920"/>
            <a:ext cx="274320" cy="256032"/>
          </a:xfrm>
          <a:prstGeom prst="rect">
            <a:avLst/>
          </a:prstGeom>
          <a:solidFill>
            <a:srgbClr val="000000"/>
          </a:solidFill>
          <a:ln/>
        </p:spPr>
      </p:sp>
      <p:sp>
        <p:nvSpPr>
          <p:cNvPr id="18" name="Text 16"/>
          <p:cNvSpPr/>
          <p:nvPr/>
        </p:nvSpPr>
        <p:spPr>
          <a:xfrm>
            <a:off x="2788920" y="2788920"/>
            <a:ext cx="1097280" cy="237744"/>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nozzle</a:t>
            </a:r>
            <a:endParaRPr lang="en-US" sz="1000" dirty="0"/>
          </a:p>
        </p:txBody>
      </p:sp>
      <p:sp>
        <p:nvSpPr>
          <p:cNvPr id="19" name="Shape 17"/>
          <p:cNvSpPr/>
          <p:nvPr/>
        </p:nvSpPr>
        <p:spPr>
          <a:xfrm>
            <a:off x="1371600" y="4892040"/>
            <a:ext cx="2286000" cy="109728"/>
          </a:xfrm>
          <a:prstGeom prst="rect">
            <a:avLst/>
          </a:prstGeom>
          <a:solidFill>
            <a:srgbClr val="000000"/>
          </a:solidFill>
          <a:ln/>
        </p:spPr>
      </p:sp>
      <p:sp>
        <p:nvSpPr>
          <p:cNvPr id="20" name="Text 18"/>
          <p:cNvSpPr/>
          <p:nvPr/>
        </p:nvSpPr>
        <p:spPr>
          <a:xfrm>
            <a:off x="3749040" y="4846320"/>
            <a:ext cx="731520" cy="237744"/>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bed</a:t>
            </a:r>
            <a:endParaRPr lang="en-US" sz="1000" dirty="0"/>
          </a:p>
        </p:txBody>
      </p:sp>
      <p:sp>
        <p:nvSpPr>
          <p:cNvPr id="21" name="Shape 19"/>
          <p:cNvSpPr/>
          <p:nvPr/>
        </p:nvSpPr>
        <p:spPr>
          <a:xfrm>
            <a:off x="5280660" y="1851660"/>
            <a:ext cx="6355080" cy="1078992"/>
          </a:xfrm>
          <a:prstGeom prst="rect">
            <a:avLst/>
          </a:prstGeom>
          <a:solidFill>
            <a:srgbClr val="000000"/>
          </a:solidFill>
          <a:ln w="6350">
            <a:solidFill>
              <a:srgbClr val="000000"/>
            </a:solidFill>
            <a:prstDash val="solid"/>
          </a:ln>
        </p:spPr>
      </p:sp>
      <p:sp>
        <p:nvSpPr>
          <p:cNvPr id="22" name="Shape 20"/>
          <p:cNvSpPr/>
          <p:nvPr/>
        </p:nvSpPr>
        <p:spPr>
          <a:xfrm>
            <a:off x="5212080" y="1783080"/>
            <a:ext cx="6355080" cy="1078992"/>
          </a:xfrm>
          <a:prstGeom prst="rect">
            <a:avLst/>
          </a:prstGeom>
          <a:solidFill>
            <a:srgbClr val="00D9E1"/>
          </a:solidFill>
          <a:ln w="34925">
            <a:solidFill>
              <a:srgbClr val="000000"/>
            </a:solidFill>
            <a:prstDash val="solid"/>
          </a:ln>
        </p:spPr>
      </p:sp>
      <p:sp>
        <p:nvSpPr>
          <p:cNvPr id="23" name="Text 21"/>
          <p:cNvSpPr/>
          <p:nvPr/>
        </p:nvSpPr>
        <p:spPr>
          <a:xfrm>
            <a:off x="5532120" y="1947672"/>
            <a:ext cx="5943600" cy="310896"/>
          </a:xfrm>
          <a:prstGeom prst="rect">
            <a:avLst/>
          </a:prstGeom>
          <a:noFill/>
          <a:ln/>
        </p:spPr>
        <p:txBody>
          <a:bodyPr wrap="square" lIns="0" tIns="0" rIns="0" bIns="0" rtlCol="0" anchor="ctr"/>
          <a:lstStyle/>
          <a:p>
            <a:pPr indent="0" marL="0">
              <a:buNone/>
            </a:pPr>
            <a:r>
              <a:rPr lang="en-US" sz="1300" b="1" spc="20" kern="0" dirty="0">
                <a:solidFill>
                  <a:srgbClr val="000000"/>
                </a:solidFill>
                <a:latin typeface="Arial" pitchFamily="34" charset="0"/>
                <a:ea typeface="Arial" pitchFamily="34" charset="-122"/>
                <a:cs typeface="Arial" pitchFamily="34" charset="-120"/>
              </a:rPr>
              <a:t>IT BUILDS UPWARD, NEVER SIDEWAYS</a:t>
            </a:r>
            <a:endParaRPr lang="en-US" sz="1300" dirty="0"/>
          </a:p>
        </p:txBody>
      </p:sp>
      <p:sp>
        <p:nvSpPr>
          <p:cNvPr id="24" name="Text 22"/>
          <p:cNvSpPr/>
          <p:nvPr/>
        </p:nvSpPr>
        <p:spPr>
          <a:xfrm>
            <a:off x="5532120" y="2295144"/>
            <a:ext cx="5943600" cy="457200"/>
          </a:xfrm>
          <a:prstGeom prst="rect">
            <a:avLst/>
          </a:prstGeom>
          <a:noFill/>
          <a:ln/>
        </p:spPr>
        <p:txBody>
          <a:bodyPr wrap="square" lIns="0" tIns="0" rIns="0" bIns="0" rtlCol="0" anchor="ctr"/>
          <a:lstStyle/>
          <a:p>
            <a:pPr indent="0" marL="0">
              <a:lnSpc>
                <a:spcPts val="1700"/>
              </a:lnSpc>
              <a:buNone/>
            </a:pPr>
            <a:r>
              <a:rPr lang="en-US" sz="1250" dirty="0">
                <a:solidFill>
                  <a:srgbClr val="000000"/>
                </a:solidFill>
                <a:latin typeface="Calibri" pitchFamily="34" charset="0"/>
                <a:ea typeface="Calibri" pitchFamily="34" charset="-122"/>
                <a:cs typeface="Calibri" pitchFamily="34" charset="-120"/>
              </a:rPr>
              <a:t>Material can only be placed on material that is already there.</a:t>
            </a:r>
            <a:endParaRPr lang="en-US" sz="1250" dirty="0"/>
          </a:p>
        </p:txBody>
      </p:sp>
      <p:sp>
        <p:nvSpPr>
          <p:cNvPr id="25" name="Shape 23"/>
          <p:cNvSpPr/>
          <p:nvPr/>
        </p:nvSpPr>
        <p:spPr>
          <a:xfrm>
            <a:off x="5280660" y="3113532"/>
            <a:ext cx="6355080" cy="1078992"/>
          </a:xfrm>
          <a:prstGeom prst="rect">
            <a:avLst/>
          </a:prstGeom>
          <a:solidFill>
            <a:srgbClr val="000000"/>
          </a:solidFill>
          <a:ln w="6350">
            <a:solidFill>
              <a:srgbClr val="000000"/>
            </a:solidFill>
            <a:prstDash val="solid"/>
          </a:ln>
        </p:spPr>
      </p:sp>
      <p:sp>
        <p:nvSpPr>
          <p:cNvPr id="26" name="Shape 24"/>
          <p:cNvSpPr/>
          <p:nvPr/>
        </p:nvSpPr>
        <p:spPr>
          <a:xfrm>
            <a:off x="5212080" y="3044952"/>
            <a:ext cx="6355080" cy="1078992"/>
          </a:xfrm>
          <a:prstGeom prst="rect">
            <a:avLst/>
          </a:prstGeom>
          <a:solidFill>
            <a:srgbClr val="C6F035"/>
          </a:solidFill>
          <a:ln w="34925">
            <a:solidFill>
              <a:srgbClr val="000000"/>
            </a:solidFill>
            <a:prstDash val="solid"/>
          </a:ln>
        </p:spPr>
      </p:sp>
      <p:sp>
        <p:nvSpPr>
          <p:cNvPr id="27" name="Text 25"/>
          <p:cNvSpPr/>
          <p:nvPr/>
        </p:nvSpPr>
        <p:spPr>
          <a:xfrm>
            <a:off x="5532120" y="3209544"/>
            <a:ext cx="5943600" cy="310896"/>
          </a:xfrm>
          <a:prstGeom prst="rect">
            <a:avLst/>
          </a:prstGeom>
          <a:noFill/>
          <a:ln/>
        </p:spPr>
        <p:txBody>
          <a:bodyPr wrap="square" lIns="0" tIns="0" rIns="0" bIns="0" rtlCol="0" anchor="ctr"/>
          <a:lstStyle/>
          <a:p>
            <a:pPr indent="0" marL="0">
              <a:buNone/>
            </a:pPr>
            <a:r>
              <a:rPr lang="en-US" sz="1300" b="1" spc="20" kern="0" dirty="0">
                <a:solidFill>
                  <a:srgbClr val="000000"/>
                </a:solidFill>
                <a:latin typeface="Arial" pitchFamily="34" charset="0"/>
                <a:ea typeface="Arial" pitchFamily="34" charset="-122"/>
                <a:cs typeface="Arial" pitchFamily="34" charset="-120"/>
              </a:rPr>
              <a:t>LAYERS ARE THE WEAK DIRECTION</a:t>
            </a:r>
            <a:endParaRPr lang="en-US" sz="1300" dirty="0"/>
          </a:p>
        </p:txBody>
      </p:sp>
      <p:sp>
        <p:nvSpPr>
          <p:cNvPr id="28" name="Text 26"/>
          <p:cNvSpPr/>
          <p:nvPr/>
        </p:nvSpPr>
        <p:spPr>
          <a:xfrm>
            <a:off x="5532120" y="3557016"/>
            <a:ext cx="5943600" cy="457200"/>
          </a:xfrm>
          <a:prstGeom prst="rect">
            <a:avLst/>
          </a:prstGeom>
          <a:noFill/>
          <a:ln/>
        </p:spPr>
        <p:txBody>
          <a:bodyPr wrap="square" lIns="0" tIns="0" rIns="0" bIns="0" rtlCol="0" anchor="ctr"/>
          <a:lstStyle/>
          <a:p>
            <a:pPr indent="0" marL="0">
              <a:lnSpc>
                <a:spcPts val="1700"/>
              </a:lnSpc>
              <a:buNone/>
            </a:pPr>
            <a:r>
              <a:rPr lang="en-US" sz="1250" dirty="0">
                <a:solidFill>
                  <a:srgbClr val="000000"/>
                </a:solidFill>
                <a:latin typeface="Calibri" pitchFamily="34" charset="0"/>
                <a:ea typeface="Calibri" pitchFamily="34" charset="-122"/>
                <a:cs typeface="Calibri" pitchFamily="34" charset="-120"/>
              </a:rPr>
              <a:t>A print snaps between layers long before it snaps across one.</a:t>
            </a:r>
            <a:endParaRPr lang="en-US" sz="1250" dirty="0"/>
          </a:p>
        </p:txBody>
      </p:sp>
      <p:sp>
        <p:nvSpPr>
          <p:cNvPr id="29" name="Shape 27"/>
          <p:cNvSpPr/>
          <p:nvPr/>
        </p:nvSpPr>
        <p:spPr>
          <a:xfrm>
            <a:off x="5280660" y="4375404"/>
            <a:ext cx="6355080" cy="1078992"/>
          </a:xfrm>
          <a:prstGeom prst="rect">
            <a:avLst/>
          </a:prstGeom>
          <a:solidFill>
            <a:srgbClr val="000000"/>
          </a:solidFill>
          <a:ln w="6350">
            <a:solidFill>
              <a:srgbClr val="000000"/>
            </a:solidFill>
            <a:prstDash val="solid"/>
          </a:ln>
        </p:spPr>
      </p:sp>
      <p:sp>
        <p:nvSpPr>
          <p:cNvPr id="30" name="Shape 28"/>
          <p:cNvSpPr/>
          <p:nvPr/>
        </p:nvSpPr>
        <p:spPr>
          <a:xfrm>
            <a:off x="5212080" y="4306824"/>
            <a:ext cx="6355080" cy="1078992"/>
          </a:xfrm>
          <a:prstGeom prst="rect">
            <a:avLst/>
          </a:prstGeom>
          <a:solidFill>
            <a:srgbClr val="FFE500"/>
          </a:solidFill>
          <a:ln w="34925">
            <a:solidFill>
              <a:srgbClr val="000000"/>
            </a:solidFill>
            <a:prstDash val="solid"/>
          </a:ln>
        </p:spPr>
      </p:sp>
      <p:sp>
        <p:nvSpPr>
          <p:cNvPr id="31" name="Text 29"/>
          <p:cNvSpPr/>
          <p:nvPr/>
        </p:nvSpPr>
        <p:spPr>
          <a:xfrm>
            <a:off x="5532120" y="4471416"/>
            <a:ext cx="5943600" cy="310896"/>
          </a:xfrm>
          <a:prstGeom prst="rect">
            <a:avLst/>
          </a:prstGeom>
          <a:noFill/>
          <a:ln/>
        </p:spPr>
        <p:txBody>
          <a:bodyPr wrap="square" lIns="0" tIns="0" rIns="0" bIns="0" rtlCol="0" anchor="ctr"/>
          <a:lstStyle/>
          <a:p>
            <a:pPr indent="0" marL="0">
              <a:buNone/>
            </a:pPr>
            <a:r>
              <a:rPr lang="en-US" sz="1300" b="1" spc="20" kern="0" dirty="0">
                <a:solidFill>
                  <a:srgbClr val="000000"/>
                </a:solidFill>
                <a:latin typeface="Arial" pitchFamily="34" charset="0"/>
                <a:ea typeface="Arial" pitchFamily="34" charset="-122"/>
                <a:cs typeface="Arial" pitchFamily="34" charset="-120"/>
              </a:rPr>
              <a:t>EVERY DECISION IS A TIME COST</a:t>
            </a:r>
            <a:endParaRPr lang="en-US" sz="1300" dirty="0"/>
          </a:p>
        </p:txBody>
      </p:sp>
      <p:sp>
        <p:nvSpPr>
          <p:cNvPr id="32" name="Text 30"/>
          <p:cNvSpPr/>
          <p:nvPr/>
        </p:nvSpPr>
        <p:spPr>
          <a:xfrm>
            <a:off x="5532120" y="4818888"/>
            <a:ext cx="5943600" cy="457200"/>
          </a:xfrm>
          <a:prstGeom prst="rect">
            <a:avLst/>
          </a:prstGeom>
          <a:noFill/>
          <a:ln/>
        </p:spPr>
        <p:txBody>
          <a:bodyPr wrap="square" lIns="0" tIns="0" rIns="0" bIns="0" rtlCol="0" anchor="ctr"/>
          <a:lstStyle/>
          <a:p>
            <a:pPr indent="0" marL="0">
              <a:lnSpc>
                <a:spcPts val="1700"/>
              </a:lnSpc>
              <a:buNone/>
            </a:pPr>
            <a:r>
              <a:rPr lang="en-US" sz="1250" dirty="0">
                <a:solidFill>
                  <a:srgbClr val="000000"/>
                </a:solidFill>
                <a:latin typeface="Calibri" pitchFamily="34" charset="0"/>
                <a:ea typeface="Calibri" pitchFamily="34" charset="-122"/>
                <a:cs typeface="Calibri" pitchFamily="34" charset="-120"/>
              </a:rPr>
              <a:t>Finer layers, more material, more supports — all of it is hours on a shared machine.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FFFDF7"/>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FFFDF7"/>
                </a:solidFill>
                <a:latin typeface="Arial" pitchFamily="34" charset="0"/>
                <a:ea typeface="Arial" pitchFamily="34" charset="-122"/>
                <a:cs typeface="Arial" pitchFamily="34" charset="-120"/>
              </a:rPr>
              <a:t>MANIFOLD OR IT DOES NOT PRINT</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B8B8B8"/>
                </a:solidFill>
                <a:latin typeface="Calibri" pitchFamily="34" charset="0"/>
                <a:ea typeface="Calibri" pitchFamily="34" charset="-122"/>
                <a:cs typeface="Calibri" pitchFamily="34" charset="-120"/>
              </a:rPr>
              <a:t>A model can look perfect on screen and be meaningless to a slicer.</a:t>
            </a:r>
            <a:endParaRPr lang="en-US" sz="1350" dirty="0"/>
          </a:p>
        </p:txBody>
      </p:sp>
      <p:sp>
        <p:nvSpPr>
          <p:cNvPr id="5" name="Shape 3"/>
          <p:cNvSpPr/>
          <p:nvPr/>
        </p:nvSpPr>
        <p:spPr>
          <a:xfrm>
            <a:off x="457200" y="1851660"/>
            <a:ext cx="3429000" cy="3200400"/>
          </a:xfrm>
          <a:prstGeom prst="rect">
            <a:avLst/>
          </a:prstGeom>
          <a:solidFill>
            <a:srgbClr val="C6F035"/>
          </a:solidFill>
          <a:ln w="6350">
            <a:solidFill>
              <a:srgbClr val="C6F035"/>
            </a:solidFill>
            <a:prstDash val="solid"/>
          </a:ln>
        </p:spPr>
      </p:sp>
      <p:sp>
        <p:nvSpPr>
          <p:cNvPr id="6" name="Shape 4"/>
          <p:cNvSpPr/>
          <p:nvPr/>
        </p:nvSpPr>
        <p:spPr>
          <a:xfrm>
            <a:off x="388620" y="1783080"/>
            <a:ext cx="3429000" cy="3200400"/>
          </a:xfrm>
          <a:prstGeom prst="rect">
            <a:avLst/>
          </a:prstGeom>
          <a:solidFill>
            <a:srgbClr val="FFFDF7"/>
          </a:solidFill>
          <a:ln w="34925">
            <a:solidFill>
              <a:srgbClr val="000000"/>
            </a:solidFill>
            <a:prstDash val="solid"/>
          </a:ln>
        </p:spPr>
      </p:sp>
      <p:sp>
        <p:nvSpPr>
          <p:cNvPr id="7" name="Shape 5"/>
          <p:cNvSpPr/>
          <p:nvPr/>
        </p:nvSpPr>
        <p:spPr>
          <a:xfrm>
            <a:off x="388620" y="1783080"/>
            <a:ext cx="3429000" cy="530352"/>
          </a:xfrm>
          <a:prstGeom prst="rect">
            <a:avLst/>
          </a:prstGeom>
          <a:solidFill>
            <a:srgbClr val="C6F035"/>
          </a:solidFill>
          <a:ln w="34925">
            <a:solidFill>
              <a:srgbClr val="000000"/>
            </a:solidFill>
            <a:prstDash val="solid"/>
          </a:ln>
        </p:spPr>
      </p:sp>
      <p:sp>
        <p:nvSpPr>
          <p:cNvPr id="8" name="Text 6"/>
          <p:cNvSpPr/>
          <p:nvPr/>
        </p:nvSpPr>
        <p:spPr>
          <a:xfrm>
            <a:off x="644652" y="1892808"/>
            <a:ext cx="2916936" cy="329184"/>
          </a:xfrm>
          <a:prstGeom prst="rect">
            <a:avLst/>
          </a:prstGeom>
          <a:noFill/>
          <a:ln/>
        </p:spPr>
        <p:txBody>
          <a:bodyPr wrap="square" lIns="0" tIns="0" rIns="0" bIns="0" rtlCol="0" anchor="ctr"/>
          <a:lstStyle/>
          <a:p>
            <a:pPr indent="0" marL="0">
              <a:buNone/>
            </a:pPr>
            <a:r>
              <a:rPr lang="en-US" sz="1250" b="1" spc="40" kern="0" dirty="0">
                <a:solidFill>
                  <a:srgbClr val="000000"/>
                </a:solidFill>
                <a:latin typeface="Arial" pitchFamily="34" charset="0"/>
                <a:ea typeface="Arial" pitchFamily="34" charset="-122"/>
                <a:cs typeface="Arial" pitchFamily="34" charset="-120"/>
              </a:rPr>
              <a:t>WATERTIGHT</a:t>
            </a:r>
            <a:endParaRPr lang="en-US" sz="1250" dirty="0"/>
          </a:p>
        </p:txBody>
      </p:sp>
      <p:sp>
        <p:nvSpPr>
          <p:cNvPr id="9" name="Shape 7"/>
          <p:cNvSpPr/>
          <p:nvPr/>
        </p:nvSpPr>
        <p:spPr>
          <a:xfrm>
            <a:off x="644652" y="2496312"/>
            <a:ext cx="2916936" cy="1188720"/>
          </a:xfrm>
          <a:prstGeom prst="rect">
            <a:avLst/>
          </a:prstGeom>
          <a:solidFill>
            <a:srgbClr val="F4F4EE"/>
          </a:solidFill>
          <a:ln w="19050">
            <a:solidFill>
              <a:srgbClr val="C9C9C0"/>
            </a:solidFill>
            <a:prstDash val="solid"/>
          </a:ln>
        </p:spPr>
      </p:sp>
      <p:sp>
        <p:nvSpPr>
          <p:cNvPr id="10" name="Shape 8"/>
          <p:cNvSpPr/>
          <p:nvPr/>
        </p:nvSpPr>
        <p:spPr>
          <a:xfrm>
            <a:off x="1536192" y="2706624"/>
            <a:ext cx="1133856" cy="768096"/>
          </a:xfrm>
          <a:prstGeom prst="rect">
            <a:avLst/>
          </a:prstGeom>
          <a:solidFill>
            <a:srgbClr val="C6F035"/>
          </a:solidFill>
          <a:ln w="28575">
            <a:solidFill>
              <a:srgbClr val="000000"/>
            </a:solidFill>
            <a:prstDash val="solid"/>
          </a:ln>
        </p:spPr>
      </p:sp>
      <p:sp>
        <p:nvSpPr>
          <p:cNvPr id="11" name="Text 9"/>
          <p:cNvSpPr/>
          <p:nvPr/>
        </p:nvSpPr>
        <p:spPr>
          <a:xfrm>
            <a:off x="644652" y="3831336"/>
            <a:ext cx="2916936" cy="914400"/>
          </a:xfrm>
          <a:prstGeom prst="rect">
            <a:avLst/>
          </a:prstGeom>
          <a:noFill/>
          <a:ln/>
        </p:spPr>
        <p:txBody>
          <a:bodyPr wrap="square" lIns="0" tIns="0" rIns="0" bIns="0" rtlCol="0" anchor="ctr"/>
          <a:lstStyle/>
          <a:p>
            <a:pPr indent="0" marL="0">
              <a:lnSpc>
                <a:spcPts val="1600"/>
              </a:lnSpc>
              <a:buNone/>
            </a:pPr>
            <a:r>
              <a:rPr lang="en-US" sz="1200" dirty="0">
                <a:solidFill>
                  <a:srgbClr val="000000"/>
                </a:solidFill>
                <a:latin typeface="Calibri" pitchFamily="34" charset="0"/>
                <a:ea typeface="Calibri" pitchFamily="34" charset="-122"/>
                <a:cs typeface="Calibri" pitchFamily="34" charset="-120"/>
              </a:rPr>
              <a:t>No gaps. Every edge is shared by exactly two faces. If water could leak out, it is not a solid.</a:t>
            </a:r>
            <a:endParaRPr lang="en-US" sz="1200" dirty="0"/>
          </a:p>
        </p:txBody>
      </p:sp>
      <p:sp>
        <p:nvSpPr>
          <p:cNvPr id="12" name="Shape 10"/>
          <p:cNvSpPr/>
          <p:nvPr/>
        </p:nvSpPr>
        <p:spPr>
          <a:xfrm>
            <a:off x="4434840" y="1851660"/>
            <a:ext cx="3429000" cy="3200400"/>
          </a:xfrm>
          <a:prstGeom prst="rect">
            <a:avLst/>
          </a:prstGeom>
          <a:solidFill>
            <a:srgbClr val="FF4D8D"/>
          </a:solidFill>
          <a:ln w="6350">
            <a:solidFill>
              <a:srgbClr val="FF4D8D"/>
            </a:solidFill>
            <a:prstDash val="solid"/>
          </a:ln>
        </p:spPr>
      </p:sp>
      <p:sp>
        <p:nvSpPr>
          <p:cNvPr id="13" name="Shape 11"/>
          <p:cNvSpPr/>
          <p:nvPr/>
        </p:nvSpPr>
        <p:spPr>
          <a:xfrm>
            <a:off x="4366260" y="1783080"/>
            <a:ext cx="3429000" cy="3200400"/>
          </a:xfrm>
          <a:prstGeom prst="rect">
            <a:avLst/>
          </a:prstGeom>
          <a:solidFill>
            <a:srgbClr val="FFFDF7"/>
          </a:solidFill>
          <a:ln w="34925">
            <a:solidFill>
              <a:srgbClr val="000000"/>
            </a:solidFill>
            <a:prstDash val="solid"/>
          </a:ln>
        </p:spPr>
      </p:sp>
      <p:sp>
        <p:nvSpPr>
          <p:cNvPr id="14" name="Shape 12"/>
          <p:cNvSpPr/>
          <p:nvPr/>
        </p:nvSpPr>
        <p:spPr>
          <a:xfrm>
            <a:off x="4366260" y="1783080"/>
            <a:ext cx="3429000" cy="530352"/>
          </a:xfrm>
          <a:prstGeom prst="rect">
            <a:avLst/>
          </a:prstGeom>
          <a:solidFill>
            <a:srgbClr val="FF4D8D"/>
          </a:solidFill>
          <a:ln w="34925">
            <a:solidFill>
              <a:srgbClr val="000000"/>
            </a:solidFill>
            <a:prstDash val="solid"/>
          </a:ln>
        </p:spPr>
      </p:sp>
      <p:sp>
        <p:nvSpPr>
          <p:cNvPr id="15" name="Text 13"/>
          <p:cNvSpPr/>
          <p:nvPr/>
        </p:nvSpPr>
        <p:spPr>
          <a:xfrm>
            <a:off x="4622292" y="1892808"/>
            <a:ext cx="2916936" cy="329184"/>
          </a:xfrm>
          <a:prstGeom prst="rect">
            <a:avLst/>
          </a:prstGeom>
          <a:noFill/>
          <a:ln/>
        </p:spPr>
        <p:txBody>
          <a:bodyPr wrap="square" lIns="0" tIns="0" rIns="0" bIns="0" rtlCol="0" anchor="ctr"/>
          <a:lstStyle/>
          <a:p>
            <a:pPr indent="0" marL="0">
              <a:buNone/>
            </a:pPr>
            <a:r>
              <a:rPr lang="en-US" sz="1250" b="1" spc="40" kern="0" dirty="0">
                <a:solidFill>
                  <a:srgbClr val="000000"/>
                </a:solidFill>
                <a:latin typeface="Arial" pitchFamily="34" charset="0"/>
                <a:ea typeface="Arial" pitchFamily="34" charset="-122"/>
                <a:cs typeface="Arial" pitchFamily="34" charset="-120"/>
              </a:rPr>
              <a:t>NO SELF-INTERSECTION</a:t>
            </a:r>
            <a:endParaRPr lang="en-US" sz="1250" dirty="0"/>
          </a:p>
        </p:txBody>
      </p:sp>
      <p:sp>
        <p:nvSpPr>
          <p:cNvPr id="16" name="Shape 14"/>
          <p:cNvSpPr/>
          <p:nvPr/>
        </p:nvSpPr>
        <p:spPr>
          <a:xfrm>
            <a:off x="4622292" y="2496312"/>
            <a:ext cx="2916936" cy="1188720"/>
          </a:xfrm>
          <a:prstGeom prst="rect">
            <a:avLst/>
          </a:prstGeom>
          <a:solidFill>
            <a:srgbClr val="F4F4EE"/>
          </a:solidFill>
          <a:ln w="19050">
            <a:solidFill>
              <a:srgbClr val="C9C9C0"/>
            </a:solidFill>
            <a:prstDash val="solid"/>
          </a:ln>
        </p:spPr>
      </p:sp>
      <p:sp>
        <p:nvSpPr>
          <p:cNvPr id="17" name="Shape 15"/>
          <p:cNvSpPr/>
          <p:nvPr/>
        </p:nvSpPr>
        <p:spPr>
          <a:xfrm>
            <a:off x="5367528" y="2761488"/>
            <a:ext cx="868680" cy="658368"/>
          </a:xfrm>
          <a:prstGeom prst="rect">
            <a:avLst/>
          </a:prstGeom>
          <a:solidFill>
            <a:srgbClr val="FFFDF7"/>
          </a:solidFill>
          <a:ln w="28575">
            <a:solidFill>
              <a:srgbClr val="000000"/>
            </a:solidFill>
            <a:prstDash val="solid"/>
          </a:ln>
        </p:spPr>
      </p:sp>
      <p:sp>
        <p:nvSpPr>
          <p:cNvPr id="18" name="Shape 16"/>
          <p:cNvSpPr/>
          <p:nvPr/>
        </p:nvSpPr>
        <p:spPr>
          <a:xfrm>
            <a:off x="5916168" y="2962656"/>
            <a:ext cx="868680" cy="658368"/>
          </a:xfrm>
          <a:prstGeom prst="rect">
            <a:avLst/>
          </a:prstGeom>
          <a:solidFill>
            <a:srgbClr val="FF4D8D"/>
          </a:solidFill>
          <a:ln w="28575">
            <a:solidFill>
              <a:srgbClr val="000000"/>
            </a:solidFill>
            <a:prstDash val="solid"/>
          </a:ln>
        </p:spPr>
      </p:sp>
      <p:sp>
        <p:nvSpPr>
          <p:cNvPr id="19" name="Text 17"/>
          <p:cNvSpPr/>
          <p:nvPr/>
        </p:nvSpPr>
        <p:spPr>
          <a:xfrm>
            <a:off x="4622292" y="3831336"/>
            <a:ext cx="2916936" cy="914400"/>
          </a:xfrm>
          <a:prstGeom prst="rect">
            <a:avLst/>
          </a:prstGeom>
          <a:noFill/>
          <a:ln/>
        </p:spPr>
        <p:txBody>
          <a:bodyPr wrap="square" lIns="0" tIns="0" rIns="0" bIns="0" rtlCol="0" anchor="ctr"/>
          <a:lstStyle/>
          <a:p>
            <a:pPr indent="0" marL="0">
              <a:lnSpc>
                <a:spcPts val="1600"/>
              </a:lnSpc>
              <a:buNone/>
            </a:pPr>
            <a:r>
              <a:rPr lang="en-US" sz="1200" dirty="0">
                <a:solidFill>
                  <a:srgbClr val="000000"/>
                </a:solidFill>
                <a:latin typeface="Calibri" pitchFamily="34" charset="0"/>
                <a:ea typeface="Calibri" pitchFamily="34" charset="-122"/>
                <a:cs typeface="Calibri" pitchFamily="34" charset="-120"/>
              </a:rPr>
              <a:t>A shape that passes through itself has no unambiguous inside. The slicer cannot decide what to fill.</a:t>
            </a:r>
            <a:endParaRPr lang="en-US" sz="1200" dirty="0"/>
          </a:p>
        </p:txBody>
      </p:sp>
      <p:sp>
        <p:nvSpPr>
          <p:cNvPr id="20" name="Shape 18"/>
          <p:cNvSpPr/>
          <p:nvPr/>
        </p:nvSpPr>
        <p:spPr>
          <a:xfrm>
            <a:off x="8412480" y="1851660"/>
            <a:ext cx="3429000" cy="3200400"/>
          </a:xfrm>
          <a:prstGeom prst="rect">
            <a:avLst/>
          </a:prstGeom>
          <a:solidFill>
            <a:srgbClr val="00D9E1"/>
          </a:solidFill>
          <a:ln w="6350">
            <a:solidFill>
              <a:srgbClr val="00D9E1"/>
            </a:solidFill>
            <a:prstDash val="solid"/>
          </a:ln>
        </p:spPr>
      </p:sp>
      <p:sp>
        <p:nvSpPr>
          <p:cNvPr id="21" name="Shape 19"/>
          <p:cNvSpPr/>
          <p:nvPr/>
        </p:nvSpPr>
        <p:spPr>
          <a:xfrm>
            <a:off x="8343900" y="1783080"/>
            <a:ext cx="3429000" cy="3200400"/>
          </a:xfrm>
          <a:prstGeom prst="rect">
            <a:avLst/>
          </a:prstGeom>
          <a:solidFill>
            <a:srgbClr val="FFFDF7"/>
          </a:solidFill>
          <a:ln w="34925">
            <a:solidFill>
              <a:srgbClr val="000000"/>
            </a:solidFill>
            <a:prstDash val="solid"/>
          </a:ln>
        </p:spPr>
      </p:sp>
      <p:sp>
        <p:nvSpPr>
          <p:cNvPr id="22" name="Shape 20"/>
          <p:cNvSpPr/>
          <p:nvPr/>
        </p:nvSpPr>
        <p:spPr>
          <a:xfrm>
            <a:off x="8343900" y="1783080"/>
            <a:ext cx="3429000" cy="530352"/>
          </a:xfrm>
          <a:prstGeom prst="rect">
            <a:avLst/>
          </a:prstGeom>
          <a:solidFill>
            <a:srgbClr val="00D9E1"/>
          </a:solidFill>
          <a:ln w="34925">
            <a:solidFill>
              <a:srgbClr val="000000"/>
            </a:solidFill>
            <a:prstDash val="solid"/>
          </a:ln>
        </p:spPr>
      </p:sp>
      <p:sp>
        <p:nvSpPr>
          <p:cNvPr id="23" name="Text 21"/>
          <p:cNvSpPr/>
          <p:nvPr/>
        </p:nvSpPr>
        <p:spPr>
          <a:xfrm>
            <a:off x="8599932" y="1892808"/>
            <a:ext cx="2916936" cy="329184"/>
          </a:xfrm>
          <a:prstGeom prst="rect">
            <a:avLst/>
          </a:prstGeom>
          <a:noFill/>
          <a:ln/>
        </p:spPr>
        <p:txBody>
          <a:bodyPr wrap="square" lIns="0" tIns="0" rIns="0" bIns="0" rtlCol="0" anchor="ctr"/>
          <a:lstStyle/>
          <a:p>
            <a:pPr indent="0" marL="0">
              <a:buNone/>
            </a:pPr>
            <a:r>
              <a:rPr lang="en-US" sz="1250" b="1" spc="40" kern="0" dirty="0">
                <a:solidFill>
                  <a:srgbClr val="000000"/>
                </a:solidFill>
                <a:latin typeface="Arial" pitchFamily="34" charset="0"/>
                <a:ea typeface="Arial" pitchFamily="34" charset="-122"/>
                <a:cs typeface="Arial" pitchFamily="34" charset="-120"/>
              </a:rPr>
              <a:t>NORMALS OUTWARD</a:t>
            </a:r>
            <a:endParaRPr lang="en-US" sz="1250" dirty="0"/>
          </a:p>
        </p:txBody>
      </p:sp>
      <p:sp>
        <p:nvSpPr>
          <p:cNvPr id="24" name="Shape 22"/>
          <p:cNvSpPr/>
          <p:nvPr/>
        </p:nvSpPr>
        <p:spPr>
          <a:xfrm>
            <a:off x="8599932" y="2496312"/>
            <a:ext cx="2916936" cy="1188720"/>
          </a:xfrm>
          <a:prstGeom prst="rect">
            <a:avLst/>
          </a:prstGeom>
          <a:solidFill>
            <a:srgbClr val="F4F4EE"/>
          </a:solidFill>
          <a:ln w="19050">
            <a:solidFill>
              <a:srgbClr val="C9C9C0"/>
            </a:solidFill>
            <a:prstDash val="solid"/>
          </a:ln>
        </p:spPr>
      </p:sp>
      <p:sp>
        <p:nvSpPr>
          <p:cNvPr id="25" name="Shape 23"/>
          <p:cNvSpPr/>
          <p:nvPr/>
        </p:nvSpPr>
        <p:spPr>
          <a:xfrm>
            <a:off x="9491472" y="2706624"/>
            <a:ext cx="1133856" cy="768096"/>
          </a:xfrm>
          <a:prstGeom prst="rect">
            <a:avLst/>
          </a:prstGeom>
          <a:solidFill>
            <a:srgbClr val="FFFDF7"/>
          </a:solidFill>
          <a:ln w="28575">
            <a:solidFill>
              <a:srgbClr val="000000"/>
            </a:solidFill>
            <a:prstDash val="solid"/>
          </a:ln>
        </p:spPr>
      </p:sp>
      <p:sp>
        <p:nvSpPr>
          <p:cNvPr id="26" name="Shape 24"/>
          <p:cNvSpPr/>
          <p:nvPr/>
        </p:nvSpPr>
        <p:spPr>
          <a:xfrm rot="5400000">
            <a:off x="10680192" y="2907792"/>
            <a:ext cx="310896" cy="365760"/>
          </a:xfrm>
          <a:prstGeom prst="triangle">
            <a:avLst/>
          </a:prstGeom>
          <a:solidFill>
            <a:srgbClr val="00D9E1"/>
          </a:solidFill>
          <a:ln w="19050">
            <a:solidFill>
              <a:srgbClr val="000000"/>
            </a:solidFill>
            <a:prstDash val="solid"/>
          </a:ln>
        </p:spPr>
      </p:sp>
      <p:sp>
        <p:nvSpPr>
          <p:cNvPr id="27" name="Shape 25"/>
          <p:cNvSpPr/>
          <p:nvPr/>
        </p:nvSpPr>
        <p:spPr>
          <a:xfrm rot="5400000">
            <a:off x="9125712" y="2907792"/>
            <a:ext cx="310896" cy="365760"/>
          </a:xfrm>
          <a:prstGeom prst="triangle">
            <a:avLst/>
          </a:prstGeom>
          <a:solidFill>
            <a:srgbClr val="FF4D8D"/>
          </a:solidFill>
          <a:ln w="19050">
            <a:solidFill>
              <a:srgbClr val="000000"/>
            </a:solidFill>
            <a:prstDash val="solid"/>
          </a:ln>
        </p:spPr>
      </p:sp>
      <p:sp>
        <p:nvSpPr>
          <p:cNvPr id="28" name="Text 26"/>
          <p:cNvSpPr/>
          <p:nvPr/>
        </p:nvSpPr>
        <p:spPr>
          <a:xfrm>
            <a:off x="8599932" y="3831336"/>
            <a:ext cx="2916936" cy="914400"/>
          </a:xfrm>
          <a:prstGeom prst="rect">
            <a:avLst/>
          </a:prstGeom>
          <a:noFill/>
          <a:ln/>
        </p:spPr>
        <p:txBody>
          <a:bodyPr wrap="square" lIns="0" tIns="0" rIns="0" bIns="0" rtlCol="0" anchor="ctr"/>
          <a:lstStyle/>
          <a:p>
            <a:pPr indent="0" marL="0">
              <a:lnSpc>
                <a:spcPts val="1600"/>
              </a:lnSpc>
              <a:buNone/>
            </a:pPr>
            <a:r>
              <a:rPr lang="en-US" sz="1200" dirty="0">
                <a:solidFill>
                  <a:srgbClr val="000000"/>
                </a:solidFill>
                <a:latin typeface="Calibri" pitchFamily="34" charset="0"/>
                <a:ea typeface="Calibri" pitchFamily="34" charset="-122"/>
                <a:cs typeface="Calibri" pitchFamily="34" charset="-120"/>
              </a:rPr>
              <a:t>Every face has a front and a back. A flipped face tells the slicer that outside is inside.</a:t>
            </a:r>
            <a:endParaRPr lang="en-US" sz="1200" dirty="0"/>
          </a:p>
        </p:txBody>
      </p:sp>
      <p:sp>
        <p:nvSpPr>
          <p:cNvPr id="29" name="Shape 27"/>
          <p:cNvSpPr/>
          <p:nvPr/>
        </p:nvSpPr>
        <p:spPr>
          <a:xfrm>
            <a:off x="662940" y="5280660"/>
            <a:ext cx="10972800" cy="731520"/>
          </a:xfrm>
          <a:prstGeom prst="rect">
            <a:avLst/>
          </a:prstGeom>
          <a:solidFill>
            <a:srgbClr val="FF4D8D"/>
          </a:solidFill>
          <a:ln w="6350">
            <a:solidFill>
              <a:srgbClr val="FF4D8D"/>
            </a:solidFill>
            <a:prstDash val="solid"/>
          </a:ln>
        </p:spPr>
      </p:sp>
      <p:sp>
        <p:nvSpPr>
          <p:cNvPr id="30" name="Shape 28"/>
          <p:cNvSpPr/>
          <p:nvPr/>
        </p:nvSpPr>
        <p:spPr>
          <a:xfrm>
            <a:off x="594360" y="5212080"/>
            <a:ext cx="10972800" cy="731520"/>
          </a:xfrm>
          <a:prstGeom prst="rect">
            <a:avLst/>
          </a:prstGeom>
          <a:solidFill>
            <a:srgbClr val="FFE500"/>
          </a:solidFill>
          <a:ln w="34925">
            <a:solidFill>
              <a:srgbClr val="000000"/>
            </a:solidFill>
            <a:prstDash val="solid"/>
          </a:ln>
        </p:spPr>
      </p:sp>
      <p:sp>
        <p:nvSpPr>
          <p:cNvPr id="31" name="Text 29"/>
          <p:cNvSpPr/>
          <p:nvPr/>
        </p:nvSpPr>
        <p:spPr>
          <a:xfrm>
            <a:off x="914400" y="5394960"/>
            <a:ext cx="10515600" cy="38404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CHECK BEFORE YOU SLICE. A BOOLEAN THAT LEFT AN OPEN EDGE IS THE MOST COMMON CAUSE OF A FAILED FILE.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000000"/>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000000"/>
                </a:solidFill>
                <a:latin typeface="Arial" pitchFamily="34" charset="0"/>
                <a:ea typeface="Arial" pitchFamily="34" charset="-122"/>
                <a:cs typeface="Arial" pitchFamily="34" charset="-120"/>
              </a:rPr>
              <a:t>OVERHANGS</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6B6B6B"/>
                </a:solidFill>
                <a:latin typeface="Calibri" pitchFamily="34" charset="0"/>
                <a:ea typeface="Calibri" pitchFamily="34" charset="-122"/>
                <a:cs typeface="Calibri" pitchFamily="34" charset="-120"/>
              </a:rPr>
              <a:t>Each layer needs something under it. How much is the whole question.</a:t>
            </a:r>
            <a:endParaRPr lang="en-US" sz="1350" dirty="0"/>
          </a:p>
        </p:txBody>
      </p:sp>
      <p:sp>
        <p:nvSpPr>
          <p:cNvPr id="5" name="Shape 3"/>
          <p:cNvSpPr/>
          <p:nvPr/>
        </p:nvSpPr>
        <p:spPr>
          <a:xfrm>
            <a:off x="457200" y="1805940"/>
            <a:ext cx="3429000" cy="3246120"/>
          </a:xfrm>
          <a:prstGeom prst="rect">
            <a:avLst/>
          </a:prstGeom>
          <a:solidFill>
            <a:srgbClr val="000000"/>
          </a:solidFill>
          <a:ln w="6350">
            <a:solidFill>
              <a:srgbClr val="000000"/>
            </a:solidFill>
            <a:prstDash val="solid"/>
          </a:ln>
        </p:spPr>
      </p:sp>
      <p:sp>
        <p:nvSpPr>
          <p:cNvPr id="6" name="Shape 4"/>
          <p:cNvSpPr/>
          <p:nvPr/>
        </p:nvSpPr>
        <p:spPr>
          <a:xfrm>
            <a:off x="388620" y="1737360"/>
            <a:ext cx="3429000" cy="3246120"/>
          </a:xfrm>
          <a:prstGeom prst="rect">
            <a:avLst/>
          </a:prstGeom>
          <a:solidFill>
            <a:srgbClr val="FFFDF7"/>
          </a:solidFill>
          <a:ln w="34925">
            <a:solidFill>
              <a:srgbClr val="000000"/>
            </a:solidFill>
            <a:prstDash val="solid"/>
          </a:ln>
        </p:spPr>
      </p:sp>
      <p:sp>
        <p:nvSpPr>
          <p:cNvPr id="7" name="Shape 5"/>
          <p:cNvSpPr/>
          <p:nvPr/>
        </p:nvSpPr>
        <p:spPr>
          <a:xfrm>
            <a:off x="388620" y="1737360"/>
            <a:ext cx="3429000" cy="502920"/>
          </a:xfrm>
          <a:prstGeom prst="rect">
            <a:avLst/>
          </a:prstGeom>
          <a:solidFill>
            <a:srgbClr val="C6F035"/>
          </a:solidFill>
          <a:ln w="34925">
            <a:solidFill>
              <a:srgbClr val="000000"/>
            </a:solidFill>
            <a:prstDash val="solid"/>
          </a:ln>
        </p:spPr>
      </p:sp>
      <p:sp>
        <p:nvSpPr>
          <p:cNvPr id="8" name="Text 6"/>
          <p:cNvSpPr/>
          <p:nvPr/>
        </p:nvSpPr>
        <p:spPr>
          <a:xfrm>
            <a:off x="644652" y="1828800"/>
            <a:ext cx="2916936" cy="329184"/>
          </a:xfrm>
          <a:prstGeom prst="rect">
            <a:avLst/>
          </a:prstGeom>
          <a:noFill/>
          <a:ln/>
        </p:spPr>
        <p:txBody>
          <a:bodyPr wrap="square" lIns="0" tIns="0" rIns="0" bIns="0" rtlCol="0" anchor="ctr"/>
          <a:lstStyle/>
          <a:p>
            <a:pPr indent="0" marL="0">
              <a:buNone/>
            </a:pPr>
            <a:r>
              <a:rPr lang="en-US" sz="1300" b="1" spc="60" kern="0" dirty="0">
                <a:solidFill>
                  <a:srgbClr val="000000"/>
                </a:solidFill>
                <a:latin typeface="Arial" pitchFamily="34" charset="0"/>
                <a:ea typeface="Arial" pitchFamily="34" charset="-122"/>
                <a:cs typeface="Arial" pitchFamily="34" charset="-120"/>
              </a:rPr>
              <a:t>VERTICAL</a:t>
            </a:r>
            <a:endParaRPr lang="en-US" sz="1300" dirty="0"/>
          </a:p>
        </p:txBody>
      </p:sp>
      <p:sp>
        <p:nvSpPr>
          <p:cNvPr id="9" name="Shape 7"/>
          <p:cNvSpPr/>
          <p:nvPr/>
        </p:nvSpPr>
        <p:spPr>
          <a:xfrm>
            <a:off x="644652" y="2395728"/>
            <a:ext cx="2916936" cy="1691640"/>
          </a:xfrm>
          <a:prstGeom prst="rect">
            <a:avLst/>
          </a:prstGeom>
          <a:solidFill>
            <a:srgbClr val="F4F4EE"/>
          </a:solidFill>
          <a:ln w="19050">
            <a:solidFill>
              <a:srgbClr val="C9C9C0"/>
            </a:solidFill>
            <a:prstDash val="solid"/>
          </a:ln>
        </p:spPr>
      </p:sp>
      <p:sp>
        <p:nvSpPr>
          <p:cNvPr id="10" name="Shape 8"/>
          <p:cNvSpPr/>
          <p:nvPr/>
        </p:nvSpPr>
        <p:spPr>
          <a:xfrm>
            <a:off x="736092" y="3995928"/>
            <a:ext cx="2734056" cy="82296"/>
          </a:xfrm>
          <a:prstGeom prst="rect">
            <a:avLst/>
          </a:prstGeom>
          <a:solidFill>
            <a:srgbClr val="000000"/>
          </a:solidFill>
          <a:ln/>
        </p:spPr>
      </p:sp>
      <p:sp>
        <p:nvSpPr>
          <p:cNvPr id="11" name="Shape 9"/>
          <p:cNvSpPr/>
          <p:nvPr/>
        </p:nvSpPr>
        <p:spPr>
          <a:xfrm>
            <a:off x="1147572" y="3822192"/>
            <a:ext cx="777240" cy="173736"/>
          </a:xfrm>
          <a:prstGeom prst="rect">
            <a:avLst/>
          </a:prstGeom>
          <a:solidFill>
            <a:srgbClr val="C6F035"/>
          </a:solidFill>
          <a:ln w="15875">
            <a:solidFill>
              <a:srgbClr val="000000"/>
            </a:solidFill>
            <a:prstDash val="solid"/>
          </a:ln>
        </p:spPr>
      </p:sp>
      <p:sp>
        <p:nvSpPr>
          <p:cNvPr id="12" name="Shape 10"/>
          <p:cNvSpPr/>
          <p:nvPr/>
        </p:nvSpPr>
        <p:spPr>
          <a:xfrm>
            <a:off x="1147572" y="3648456"/>
            <a:ext cx="777240" cy="173736"/>
          </a:xfrm>
          <a:prstGeom prst="rect">
            <a:avLst/>
          </a:prstGeom>
          <a:solidFill>
            <a:srgbClr val="C6F035"/>
          </a:solidFill>
          <a:ln w="15875">
            <a:solidFill>
              <a:srgbClr val="000000"/>
            </a:solidFill>
            <a:prstDash val="solid"/>
          </a:ln>
        </p:spPr>
      </p:sp>
      <p:sp>
        <p:nvSpPr>
          <p:cNvPr id="13" name="Shape 11"/>
          <p:cNvSpPr/>
          <p:nvPr/>
        </p:nvSpPr>
        <p:spPr>
          <a:xfrm>
            <a:off x="1147572" y="3474720"/>
            <a:ext cx="777240" cy="173736"/>
          </a:xfrm>
          <a:prstGeom prst="rect">
            <a:avLst/>
          </a:prstGeom>
          <a:solidFill>
            <a:srgbClr val="C6F035"/>
          </a:solidFill>
          <a:ln w="15875">
            <a:solidFill>
              <a:srgbClr val="000000"/>
            </a:solidFill>
            <a:prstDash val="solid"/>
          </a:ln>
        </p:spPr>
      </p:sp>
      <p:sp>
        <p:nvSpPr>
          <p:cNvPr id="14" name="Shape 12"/>
          <p:cNvSpPr/>
          <p:nvPr/>
        </p:nvSpPr>
        <p:spPr>
          <a:xfrm>
            <a:off x="1147572" y="3300984"/>
            <a:ext cx="777240" cy="173736"/>
          </a:xfrm>
          <a:prstGeom prst="rect">
            <a:avLst/>
          </a:prstGeom>
          <a:solidFill>
            <a:srgbClr val="C6F035"/>
          </a:solidFill>
          <a:ln w="15875">
            <a:solidFill>
              <a:srgbClr val="000000"/>
            </a:solidFill>
            <a:prstDash val="solid"/>
          </a:ln>
        </p:spPr>
      </p:sp>
      <p:sp>
        <p:nvSpPr>
          <p:cNvPr id="15" name="Shape 13"/>
          <p:cNvSpPr/>
          <p:nvPr/>
        </p:nvSpPr>
        <p:spPr>
          <a:xfrm>
            <a:off x="1147572" y="3127248"/>
            <a:ext cx="777240" cy="173736"/>
          </a:xfrm>
          <a:prstGeom prst="rect">
            <a:avLst/>
          </a:prstGeom>
          <a:solidFill>
            <a:srgbClr val="C6F035"/>
          </a:solidFill>
          <a:ln w="15875">
            <a:solidFill>
              <a:srgbClr val="000000"/>
            </a:solidFill>
            <a:prstDash val="solid"/>
          </a:ln>
        </p:spPr>
      </p:sp>
      <p:sp>
        <p:nvSpPr>
          <p:cNvPr id="16" name="Shape 14"/>
          <p:cNvSpPr/>
          <p:nvPr/>
        </p:nvSpPr>
        <p:spPr>
          <a:xfrm>
            <a:off x="1147572" y="2953512"/>
            <a:ext cx="777240" cy="173736"/>
          </a:xfrm>
          <a:prstGeom prst="rect">
            <a:avLst/>
          </a:prstGeom>
          <a:solidFill>
            <a:srgbClr val="C6F035"/>
          </a:solidFill>
          <a:ln w="15875">
            <a:solidFill>
              <a:srgbClr val="000000"/>
            </a:solidFill>
            <a:prstDash val="solid"/>
          </a:ln>
        </p:spPr>
      </p:sp>
      <p:sp>
        <p:nvSpPr>
          <p:cNvPr id="17" name="Shape 15"/>
          <p:cNvSpPr/>
          <p:nvPr/>
        </p:nvSpPr>
        <p:spPr>
          <a:xfrm>
            <a:off x="1147572" y="2779776"/>
            <a:ext cx="777240" cy="173736"/>
          </a:xfrm>
          <a:prstGeom prst="rect">
            <a:avLst/>
          </a:prstGeom>
          <a:solidFill>
            <a:srgbClr val="C6F035"/>
          </a:solidFill>
          <a:ln w="15875">
            <a:solidFill>
              <a:srgbClr val="000000"/>
            </a:solidFill>
            <a:prstDash val="solid"/>
          </a:ln>
        </p:spPr>
      </p:sp>
      <p:sp>
        <p:nvSpPr>
          <p:cNvPr id="18" name="Shape 16"/>
          <p:cNvSpPr/>
          <p:nvPr/>
        </p:nvSpPr>
        <p:spPr>
          <a:xfrm>
            <a:off x="1147572" y="2606040"/>
            <a:ext cx="777240" cy="173736"/>
          </a:xfrm>
          <a:prstGeom prst="rect">
            <a:avLst/>
          </a:prstGeom>
          <a:solidFill>
            <a:srgbClr val="C6F035"/>
          </a:solidFill>
          <a:ln w="15875">
            <a:solidFill>
              <a:srgbClr val="000000"/>
            </a:solidFill>
            <a:prstDash val="solid"/>
          </a:ln>
        </p:spPr>
      </p:sp>
      <p:sp>
        <p:nvSpPr>
          <p:cNvPr id="19" name="Text 17"/>
          <p:cNvSpPr/>
          <p:nvPr/>
        </p:nvSpPr>
        <p:spPr>
          <a:xfrm>
            <a:off x="644652" y="4224528"/>
            <a:ext cx="2916936" cy="640080"/>
          </a:xfrm>
          <a:prstGeom prst="rect">
            <a:avLst/>
          </a:prstGeom>
          <a:noFill/>
          <a:ln/>
        </p:spPr>
        <p:txBody>
          <a:bodyPr wrap="square" lIns="0" tIns="0" rIns="0" bIns="0" rtlCol="0" anchor="ctr"/>
          <a:lstStyle/>
          <a:p>
            <a:pPr indent="0" marL="0">
              <a:lnSpc>
                <a:spcPts val="1600"/>
              </a:lnSpc>
              <a:buNone/>
            </a:pPr>
            <a:r>
              <a:rPr lang="en-US" sz="1200" dirty="0">
                <a:solidFill>
                  <a:srgbClr val="000000"/>
                </a:solidFill>
                <a:latin typeface="Calibri" pitchFamily="34" charset="0"/>
                <a:ea typeface="Calibri" pitchFamily="34" charset="-122"/>
                <a:cs typeface="Calibri" pitchFamily="34" charset="-120"/>
              </a:rPr>
              <a:t>Every layer sits fully on the one below. Perfect.</a:t>
            </a:r>
            <a:endParaRPr lang="en-US" sz="1200" dirty="0"/>
          </a:p>
        </p:txBody>
      </p:sp>
      <p:sp>
        <p:nvSpPr>
          <p:cNvPr id="20" name="Shape 18"/>
          <p:cNvSpPr/>
          <p:nvPr/>
        </p:nvSpPr>
        <p:spPr>
          <a:xfrm>
            <a:off x="4434840" y="1805940"/>
            <a:ext cx="3429000" cy="3246120"/>
          </a:xfrm>
          <a:prstGeom prst="rect">
            <a:avLst/>
          </a:prstGeom>
          <a:solidFill>
            <a:srgbClr val="000000"/>
          </a:solidFill>
          <a:ln w="6350">
            <a:solidFill>
              <a:srgbClr val="000000"/>
            </a:solidFill>
            <a:prstDash val="solid"/>
          </a:ln>
        </p:spPr>
      </p:sp>
      <p:sp>
        <p:nvSpPr>
          <p:cNvPr id="21" name="Shape 19"/>
          <p:cNvSpPr/>
          <p:nvPr/>
        </p:nvSpPr>
        <p:spPr>
          <a:xfrm>
            <a:off x="4366260" y="1737360"/>
            <a:ext cx="3429000" cy="3246120"/>
          </a:xfrm>
          <a:prstGeom prst="rect">
            <a:avLst/>
          </a:prstGeom>
          <a:solidFill>
            <a:srgbClr val="FFFDF7"/>
          </a:solidFill>
          <a:ln w="34925">
            <a:solidFill>
              <a:srgbClr val="000000"/>
            </a:solidFill>
            <a:prstDash val="solid"/>
          </a:ln>
        </p:spPr>
      </p:sp>
      <p:sp>
        <p:nvSpPr>
          <p:cNvPr id="22" name="Shape 20"/>
          <p:cNvSpPr/>
          <p:nvPr/>
        </p:nvSpPr>
        <p:spPr>
          <a:xfrm>
            <a:off x="4366260" y="1737360"/>
            <a:ext cx="3429000" cy="502920"/>
          </a:xfrm>
          <a:prstGeom prst="rect">
            <a:avLst/>
          </a:prstGeom>
          <a:solidFill>
            <a:srgbClr val="FFE500"/>
          </a:solidFill>
          <a:ln w="34925">
            <a:solidFill>
              <a:srgbClr val="000000"/>
            </a:solidFill>
            <a:prstDash val="solid"/>
          </a:ln>
        </p:spPr>
      </p:sp>
      <p:sp>
        <p:nvSpPr>
          <p:cNvPr id="23" name="Text 21"/>
          <p:cNvSpPr/>
          <p:nvPr/>
        </p:nvSpPr>
        <p:spPr>
          <a:xfrm>
            <a:off x="4622292" y="1828800"/>
            <a:ext cx="2916936" cy="329184"/>
          </a:xfrm>
          <a:prstGeom prst="rect">
            <a:avLst/>
          </a:prstGeom>
          <a:noFill/>
          <a:ln/>
        </p:spPr>
        <p:txBody>
          <a:bodyPr wrap="square" lIns="0" tIns="0" rIns="0" bIns="0" rtlCol="0" anchor="ctr"/>
          <a:lstStyle/>
          <a:p>
            <a:pPr indent="0" marL="0">
              <a:buNone/>
            </a:pPr>
            <a:r>
              <a:rPr lang="en-US" sz="1300" b="1" spc="60" kern="0" dirty="0">
                <a:solidFill>
                  <a:srgbClr val="000000"/>
                </a:solidFill>
                <a:latin typeface="Arial" pitchFamily="34" charset="0"/>
                <a:ea typeface="Arial" pitchFamily="34" charset="-122"/>
                <a:cs typeface="Arial" pitchFamily="34" charset="-120"/>
              </a:rPr>
              <a:t>45°</a:t>
            </a:r>
            <a:endParaRPr lang="en-US" sz="1300" dirty="0"/>
          </a:p>
        </p:txBody>
      </p:sp>
      <p:sp>
        <p:nvSpPr>
          <p:cNvPr id="24" name="Shape 22"/>
          <p:cNvSpPr/>
          <p:nvPr/>
        </p:nvSpPr>
        <p:spPr>
          <a:xfrm>
            <a:off x="4622292" y="2395728"/>
            <a:ext cx="2916936" cy="1691640"/>
          </a:xfrm>
          <a:prstGeom prst="rect">
            <a:avLst/>
          </a:prstGeom>
          <a:solidFill>
            <a:srgbClr val="F4F4EE"/>
          </a:solidFill>
          <a:ln w="19050">
            <a:solidFill>
              <a:srgbClr val="C9C9C0"/>
            </a:solidFill>
            <a:prstDash val="solid"/>
          </a:ln>
        </p:spPr>
      </p:sp>
      <p:sp>
        <p:nvSpPr>
          <p:cNvPr id="25" name="Shape 23"/>
          <p:cNvSpPr/>
          <p:nvPr/>
        </p:nvSpPr>
        <p:spPr>
          <a:xfrm>
            <a:off x="4713732" y="3995928"/>
            <a:ext cx="2734056" cy="82296"/>
          </a:xfrm>
          <a:prstGeom prst="rect">
            <a:avLst/>
          </a:prstGeom>
          <a:solidFill>
            <a:srgbClr val="000000"/>
          </a:solidFill>
          <a:ln/>
        </p:spPr>
      </p:sp>
      <p:sp>
        <p:nvSpPr>
          <p:cNvPr id="26" name="Shape 24"/>
          <p:cNvSpPr/>
          <p:nvPr/>
        </p:nvSpPr>
        <p:spPr>
          <a:xfrm>
            <a:off x="5125212" y="3822192"/>
            <a:ext cx="777240" cy="173736"/>
          </a:xfrm>
          <a:prstGeom prst="rect">
            <a:avLst/>
          </a:prstGeom>
          <a:solidFill>
            <a:srgbClr val="FFE500"/>
          </a:solidFill>
          <a:ln w="15875">
            <a:solidFill>
              <a:srgbClr val="000000"/>
            </a:solidFill>
            <a:prstDash val="solid"/>
          </a:ln>
        </p:spPr>
      </p:sp>
      <p:sp>
        <p:nvSpPr>
          <p:cNvPr id="27" name="Shape 25"/>
          <p:cNvSpPr/>
          <p:nvPr/>
        </p:nvSpPr>
        <p:spPr>
          <a:xfrm>
            <a:off x="5207508" y="3648456"/>
            <a:ext cx="777240" cy="173736"/>
          </a:xfrm>
          <a:prstGeom prst="rect">
            <a:avLst/>
          </a:prstGeom>
          <a:solidFill>
            <a:srgbClr val="FFE500"/>
          </a:solidFill>
          <a:ln w="15875">
            <a:solidFill>
              <a:srgbClr val="000000"/>
            </a:solidFill>
            <a:prstDash val="solid"/>
          </a:ln>
        </p:spPr>
      </p:sp>
      <p:sp>
        <p:nvSpPr>
          <p:cNvPr id="28" name="Shape 26"/>
          <p:cNvSpPr/>
          <p:nvPr/>
        </p:nvSpPr>
        <p:spPr>
          <a:xfrm>
            <a:off x="5289804" y="3474720"/>
            <a:ext cx="777240" cy="173736"/>
          </a:xfrm>
          <a:prstGeom prst="rect">
            <a:avLst/>
          </a:prstGeom>
          <a:solidFill>
            <a:srgbClr val="FFE500"/>
          </a:solidFill>
          <a:ln w="15875">
            <a:solidFill>
              <a:srgbClr val="000000"/>
            </a:solidFill>
            <a:prstDash val="solid"/>
          </a:ln>
        </p:spPr>
      </p:sp>
      <p:sp>
        <p:nvSpPr>
          <p:cNvPr id="29" name="Shape 27"/>
          <p:cNvSpPr/>
          <p:nvPr/>
        </p:nvSpPr>
        <p:spPr>
          <a:xfrm>
            <a:off x="5372100" y="3300984"/>
            <a:ext cx="777240" cy="173736"/>
          </a:xfrm>
          <a:prstGeom prst="rect">
            <a:avLst/>
          </a:prstGeom>
          <a:solidFill>
            <a:srgbClr val="FFE500"/>
          </a:solidFill>
          <a:ln w="15875">
            <a:solidFill>
              <a:srgbClr val="000000"/>
            </a:solidFill>
            <a:prstDash val="solid"/>
          </a:ln>
        </p:spPr>
      </p:sp>
      <p:sp>
        <p:nvSpPr>
          <p:cNvPr id="30" name="Shape 28"/>
          <p:cNvSpPr/>
          <p:nvPr/>
        </p:nvSpPr>
        <p:spPr>
          <a:xfrm>
            <a:off x="5454396" y="3127248"/>
            <a:ext cx="777240" cy="173736"/>
          </a:xfrm>
          <a:prstGeom prst="rect">
            <a:avLst/>
          </a:prstGeom>
          <a:solidFill>
            <a:srgbClr val="FFE500"/>
          </a:solidFill>
          <a:ln w="15875">
            <a:solidFill>
              <a:srgbClr val="000000"/>
            </a:solidFill>
            <a:prstDash val="solid"/>
          </a:ln>
        </p:spPr>
      </p:sp>
      <p:sp>
        <p:nvSpPr>
          <p:cNvPr id="31" name="Shape 29"/>
          <p:cNvSpPr/>
          <p:nvPr/>
        </p:nvSpPr>
        <p:spPr>
          <a:xfrm>
            <a:off x="5536692" y="2953512"/>
            <a:ext cx="777240" cy="173736"/>
          </a:xfrm>
          <a:prstGeom prst="rect">
            <a:avLst/>
          </a:prstGeom>
          <a:solidFill>
            <a:srgbClr val="FFE500"/>
          </a:solidFill>
          <a:ln w="15875">
            <a:solidFill>
              <a:srgbClr val="000000"/>
            </a:solidFill>
            <a:prstDash val="solid"/>
          </a:ln>
        </p:spPr>
      </p:sp>
      <p:sp>
        <p:nvSpPr>
          <p:cNvPr id="32" name="Shape 30"/>
          <p:cNvSpPr/>
          <p:nvPr/>
        </p:nvSpPr>
        <p:spPr>
          <a:xfrm>
            <a:off x="5618988" y="2779776"/>
            <a:ext cx="777240" cy="173736"/>
          </a:xfrm>
          <a:prstGeom prst="rect">
            <a:avLst/>
          </a:prstGeom>
          <a:solidFill>
            <a:srgbClr val="FFE500"/>
          </a:solidFill>
          <a:ln w="15875">
            <a:solidFill>
              <a:srgbClr val="000000"/>
            </a:solidFill>
            <a:prstDash val="solid"/>
          </a:ln>
        </p:spPr>
      </p:sp>
      <p:sp>
        <p:nvSpPr>
          <p:cNvPr id="33" name="Shape 31"/>
          <p:cNvSpPr/>
          <p:nvPr/>
        </p:nvSpPr>
        <p:spPr>
          <a:xfrm>
            <a:off x="5701284" y="2606040"/>
            <a:ext cx="777240" cy="173736"/>
          </a:xfrm>
          <a:prstGeom prst="rect">
            <a:avLst/>
          </a:prstGeom>
          <a:solidFill>
            <a:srgbClr val="FFE500"/>
          </a:solidFill>
          <a:ln w="15875">
            <a:solidFill>
              <a:srgbClr val="000000"/>
            </a:solidFill>
            <a:prstDash val="solid"/>
          </a:ln>
        </p:spPr>
      </p:sp>
      <p:sp>
        <p:nvSpPr>
          <p:cNvPr id="34" name="Text 32"/>
          <p:cNvSpPr/>
          <p:nvPr/>
        </p:nvSpPr>
        <p:spPr>
          <a:xfrm>
            <a:off x="4622292" y="4224528"/>
            <a:ext cx="2916936" cy="640080"/>
          </a:xfrm>
          <a:prstGeom prst="rect">
            <a:avLst/>
          </a:prstGeom>
          <a:noFill/>
          <a:ln/>
        </p:spPr>
        <p:txBody>
          <a:bodyPr wrap="square" lIns="0" tIns="0" rIns="0" bIns="0" rtlCol="0" anchor="ctr"/>
          <a:lstStyle/>
          <a:p>
            <a:pPr indent="0" marL="0">
              <a:lnSpc>
                <a:spcPts val="1600"/>
              </a:lnSpc>
              <a:buNone/>
            </a:pPr>
            <a:r>
              <a:rPr lang="en-US" sz="1200" dirty="0">
                <a:solidFill>
                  <a:srgbClr val="000000"/>
                </a:solidFill>
                <a:latin typeface="Calibri" pitchFamily="34" charset="0"/>
                <a:ea typeface="Calibri" pitchFamily="34" charset="-122"/>
                <a:cs typeface="Calibri" pitchFamily="34" charset="-120"/>
              </a:rPr>
              <a:t>Half of each layer is supported. This is about the limit.</a:t>
            </a:r>
            <a:endParaRPr lang="en-US" sz="1200" dirty="0"/>
          </a:p>
        </p:txBody>
      </p:sp>
      <p:sp>
        <p:nvSpPr>
          <p:cNvPr id="35" name="Shape 33"/>
          <p:cNvSpPr/>
          <p:nvPr/>
        </p:nvSpPr>
        <p:spPr>
          <a:xfrm>
            <a:off x="8412480" y="1805940"/>
            <a:ext cx="3429000" cy="3246120"/>
          </a:xfrm>
          <a:prstGeom prst="rect">
            <a:avLst/>
          </a:prstGeom>
          <a:solidFill>
            <a:srgbClr val="000000"/>
          </a:solidFill>
          <a:ln w="6350">
            <a:solidFill>
              <a:srgbClr val="000000"/>
            </a:solidFill>
            <a:prstDash val="solid"/>
          </a:ln>
        </p:spPr>
      </p:sp>
      <p:sp>
        <p:nvSpPr>
          <p:cNvPr id="36" name="Shape 34"/>
          <p:cNvSpPr/>
          <p:nvPr/>
        </p:nvSpPr>
        <p:spPr>
          <a:xfrm>
            <a:off x="8343900" y="1737360"/>
            <a:ext cx="3429000" cy="3246120"/>
          </a:xfrm>
          <a:prstGeom prst="rect">
            <a:avLst/>
          </a:prstGeom>
          <a:solidFill>
            <a:srgbClr val="FFFDF7"/>
          </a:solidFill>
          <a:ln w="34925">
            <a:solidFill>
              <a:srgbClr val="000000"/>
            </a:solidFill>
            <a:prstDash val="solid"/>
          </a:ln>
        </p:spPr>
      </p:sp>
      <p:sp>
        <p:nvSpPr>
          <p:cNvPr id="37" name="Shape 35"/>
          <p:cNvSpPr/>
          <p:nvPr/>
        </p:nvSpPr>
        <p:spPr>
          <a:xfrm>
            <a:off x="8343900" y="1737360"/>
            <a:ext cx="3429000" cy="502920"/>
          </a:xfrm>
          <a:prstGeom prst="rect">
            <a:avLst/>
          </a:prstGeom>
          <a:solidFill>
            <a:srgbClr val="FF4D8D"/>
          </a:solidFill>
          <a:ln w="34925">
            <a:solidFill>
              <a:srgbClr val="000000"/>
            </a:solidFill>
            <a:prstDash val="solid"/>
          </a:ln>
        </p:spPr>
      </p:sp>
      <p:sp>
        <p:nvSpPr>
          <p:cNvPr id="38" name="Text 36"/>
          <p:cNvSpPr/>
          <p:nvPr/>
        </p:nvSpPr>
        <p:spPr>
          <a:xfrm>
            <a:off x="8599932" y="1828800"/>
            <a:ext cx="2916936" cy="329184"/>
          </a:xfrm>
          <a:prstGeom prst="rect">
            <a:avLst/>
          </a:prstGeom>
          <a:noFill/>
          <a:ln/>
        </p:spPr>
        <p:txBody>
          <a:bodyPr wrap="square" lIns="0" tIns="0" rIns="0" bIns="0" rtlCol="0" anchor="ctr"/>
          <a:lstStyle/>
          <a:p>
            <a:pPr indent="0" marL="0">
              <a:buNone/>
            </a:pPr>
            <a:r>
              <a:rPr lang="en-US" sz="1300" b="1" spc="60" kern="0" dirty="0">
                <a:solidFill>
                  <a:srgbClr val="000000"/>
                </a:solidFill>
                <a:latin typeface="Arial" pitchFamily="34" charset="0"/>
                <a:ea typeface="Arial" pitchFamily="34" charset="-122"/>
                <a:cs typeface="Arial" pitchFamily="34" charset="-120"/>
              </a:rPr>
              <a:t>STEEP</a:t>
            </a:r>
            <a:endParaRPr lang="en-US" sz="1300" dirty="0"/>
          </a:p>
        </p:txBody>
      </p:sp>
      <p:sp>
        <p:nvSpPr>
          <p:cNvPr id="39" name="Shape 37"/>
          <p:cNvSpPr/>
          <p:nvPr/>
        </p:nvSpPr>
        <p:spPr>
          <a:xfrm>
            <a:off x="8599932" y="2395728"/>
            <a:ext cx="2916936" cy="1691640"/>
          </a:xfrm>
          <a:prstGeom prst="rect">
            <a:avLst/>
          </a:prstGeom>
          <a:solidFill>
            <a:srgbClr val="F4F4EE"/>
          </a:solidFill>
          <a:ln w="19050">
            <a:solidFill>
              <a:srgbClr val="C9C9C0"/>
            </a:solidFill>
            <a:prstDash val="solid"/>
          </a:ln>
        </p:spPr>
      </p:sp>
      <p:sp>
        <p:nvSpPr>
          <p:cNvPr id="40" name="Shape 38"/>
          <p:cNvSpPr/>
          <p:nvPr/>
        </p:nvSpPr>
        <p:spPr>
          <a:xfrm>
            <a:off x="8691372" y="3995928"/>
            <a:ext cx="2734056" cy="82296"/>
          </a:xfrm>
          <a:prstGeom prst="rect">
            <a:avLst/>
          </a:prstGeom>
          <a:solidFill>
            <a:srgbClr val="000000"/>
          </a:solidFill>
          <a:ln/>
        </p:spPr>
      </p:sp>
      <p:sp>
        <p:nvSpPr>
          <p:cNvPr id="41" name="Shape 39"/>
          <p:cNvSpPr/>
          <p:nvPr/>
        </p:nvSpPr>
        <p:spPr>
          <a:xfrm>
            <a:off x="9102852" y="3822192"/>
            <a:ext cx="777240" cy="173736"/>
          </a:xfrm>
          <a:prstGeom prst="rect">
            <a:avLst/>
          </a:prstGeom>
          <a:solidFill>
            <a:srgbClr val="FF4D8D"/>
          </a:solidFill>
          <a:ln w="15875">
            <a:solidFill>
              <a:srgbClr val="000000"/>
            </a:solidFill>
            <a:prstDash val="solid"/>
          </a:ln>
        </p:spPr>
      </p:sp>
      <p:sp>
        <p:nvSpPr>
          <p:cNvPr id="42" name="Shape 40"/>
          <p:cNvSpPr/>
          <p:nvPr/>
        </p:nvSpPr>
        <p:spPr>
          <a:xfrm>
            <a:off x="9276588" y="3648456"/>
            <a:ext cx="777240" cy="173736"/>
          </a:xfrm>
          <a:prstGeom prst="rect">
            <a:avLst/>
          </a:prstGeom>
          <a:solidFill>
            <a:srgbClr val="FF4D8D"/>
          </a:solidFill>
          <a:ln w="15875">
            <a:solidFill>
              <a:srgbClr val="000000"/>
            </a:solidFill>
            <a:prstDash val="solid"/>
          </a:ln>
        </p:spPr>
      </p:sp>
      <p:sp>
        <p:nvSpPr>
          <p:cNvPr id="43" name="Shape 41"/>
          <p:cNvSpPr/>
          <p:nvPr/>
        </p:nvSpPr>
        <p:spPr>
          <a:xfrm>
            <a:off x="9450324" y="3474720"/>
            <a:ext cx="777240" cy="173736"/>
          </a:xfrm>
          <a:prstGeom prst="rect">
            <a:avLst/>
          </a:prstGeom>
          <a:solidFill>
            <a:srgbClr val="FF4D8D"/>
          </a:solidFill>
          <a:ln w="15875">
            <a:solidFill>
              <a:srgbClr val="000000"/>
            </a:solidFill>
            <a:prstDash val="solid"/>
          </a:ln>
        </p:spPr>
      </p:sp>
      <p:sp>
        <p:nvSpPr>
          <p:cNvPr id="44" name="Shape 42"/>
          <p:cNvSpPr/>
          <p:nvPr/>
        </p:nvSpPr>
        <p:spPr>
          <a:xfrm>
            <a:off x="9624060" y="3300984"/>
            <a:ext cx="777240" cy="173736"/>
          </a:xfrm>
          <a:prstGeom prst="rect">
            <a:avLst/>
          </a:prstGeom>
          <a:solidFill>
            <a:srgbClr val="FF4D8D"/>
          </a:solidFill>
          <a:ln w="15875">
            <a:solidFill>
              <a:srgbClr val="000000"/>
            </a:solidFill>
            <a:prstDash val="solid"/>
          </a:ln>
        </p:spPr>
      </p:sp>
      <p:sp>
        <p:nvSpPr>
          <p:cNvPr id="45" name="Shape 43"/>
          <p:cNvSpPr/>
          <p:nvPr/>
        </p:nvSpPr>
        <p:spPr>
          <a:xfrm>
            <a:off x="9797796" y="3127248"/>
            <a:ext cx="777240" cy="173736"/>
          </a:xfrm>
          <a:prstGeom prst="rect">
            <a:avLst/>
          </a:prstGeom>
          <a:solidFill>
            <a:srgbClr val="FF4D8D"/>
          </a:solidFill>
          <a:ln w="15875">
            <a:solidFill>
              <a:srgbClr val="000000"/>
            </a:solidFill>
            <a:prstDash val="solid"/>
          </a:ln>
        </p:spPr>
      </p:sp>
      <p:sp>
        <p:nvSpPr>
          <p:cNvPr id="46" name="Shape 44"/>
          <p:cNvSpPr/>
          <p:nvPr/>
        </p:nvSpPr>
        <p:spPr>
          <a:xfrm>
            <a:off x="9971532" y="2953512"/>
            <a:ext cx="777240" cy="173736"/>
          </a:xfrm>
          <a:prstGeom prst="rect">
            <a:avLst/>
          </a:prstGeom>
          <a:solidFill>
            <a:srgbClr val="FF4D8D"/>
          </a:solidFill>
          <a:ln w="15875">
            <a:solidFill>
              <a:srgbClr val="000000"/>
            </a:solidFill>
            <a:prstDash val="solid"/>
          </a:ln>
        </p:spPr>
      </p:sp>
      <p:sp>
        <p:nvSpPr>
          <p:cNvPr id="47" name="Shape 45"/>
          <p:cNvSpPr/>
          <p:nvPr/>
        </p:nvSpPr>
        <p:spPr>
          <a:xfrm>
            <a:off x="10145268" y="2779776"/>
            <a:ext cx="777240" cy="173736"/>
          </a:xfrm>
          <a:prstGeom prst="rect">
            <a:avLst/>
          </a:prstGeom>
          <a:solidFill>
            <a:srgbClr val="FF4D8D"/>
          </a:solidFill>
          <a:ln w="15875">
            <a:solidFill>
              <a:srgbClr val="000000"/>
            </a:solidFill>
            <a:prstDash val="solid"/>
          </a:ln>
        </p:spPr>
      </p:sp>
      <p:sp>
        <p:nvSpPr>
          <p:cNvPr id="48" name="Shape 46"/>
          <p:cNvSpPr/>
          <p:nvPr/>
        </p:nvSpPr>
        <p:spPr>
          <a:xfrm>
            <a:off x="10319004" y="2606040"/>
            <a:ext cx="777240" cy="173736"/>
          </a:xfrm>
          <a:prstGeom prst="rect">
            <a:avLst/>
          </a:prstGeom>
          <a:solidFill>
            <a:srgbClr val="FF4D8D"/>
          </a:solidFill>
          <a:ln w="15875">
            <a:solidFill>
              <a:srgbClr val="000000"/>
            </a:solidFill>
            <a:prstDash val="solid"/>
          </a:ln>
        </p:spPr>
      </p:sp>
      <p:sp>
        <p:nvSpPr>
          <p:cNvPr id="49" name="Text 47"/>
          <p:cNvSpPr/>
          <p:nvPr/>
        </p:nvSpPr>
        <p:spPr>
          <a:xfrm>
            <a:off x="8599932" y="4224528"/>
            <a:ext cx="2916936" cy="640080"/>
          </a:xfrm>
          <a:prstGeom prst="rect">
            <a:avLst/>
          </a:prstGeom>
          <a:noFill/>
          <a:ln/>
        </p:spPr>
        <p:txBody>
          <a:bodyPr wrap="square" lIns="0" tIns="0" rIns="0" bIns="0" rtlCol="0" anchor="ctr"/>
          <a:lstStyle/>
          <a:p>
            <a:pPr indent="0" marL="0">
              <a:lnSpc>
                <a:spcPts val="1600"/>
              </a:lnSpc>
              <a:buNone/>
            </a:pPr>
            <a:r>
              <a:rPr lang="en-US" sz="1200" dirty="0">
                <a:solidFill>
                  <a:srgbClr val="000000"/>
                </a:solidFill>
                <a:latin typeface="Calibri" pitchFamily="34" charset="0"/>
                <a:ea typeface="Calibri" pitchFamily="34" charset="-122"/>
                <a:cs typeface="Calibri" pitchFamily="34" charset="-120"/>
              </a:rPr>
              <a:t>Most of the layer hangs in air. It will droop or fail.</a:t>
            </a:r>
            <a:endParaRPr lang="en-US" sz="1200" dirty="0"/>
          </a:p>
        </p:txBody>
      </p:sp>
      <p:sp>
        <p:nvSpPr>
          <p:cNvPr id="50" name="Shape 48"/>
          <p:cNvSpPr/>
          <p:nvPr/>
        </p:nvSpPr>
        <p:spPr>
          <a:xfrm>
            <a:off x="662940" y="5326380"/>
            <a:ext cx="10972800" cy="731520"/>
          </a:xfrm>
          <a:prstGeom prst="rect">
            <a:avLst/>
          </a:prstGeom>
          <a:solidFill>
            <a:srgbClr val="000000"/>
          </a:solidFill>
          <a:ln w="6350">
            <a:solidFill>
              <a:srgbClr val="000000"/>
            </a:solidFill>
            <a:prstDash val="solid"/>
          </a:ln>
        </p:spPr>
      </p:sp>
      <p:sp>
        <p:nvSpPr>
          <p:cNvPr id="51" name="Shape 49"/>
          <p:cNvSpPr/>
          <p:nvPr/>
        </p:nvSpPr>
        <p:spPr>
          <a:xfrm>
            <a:off x="594360" y="5257800"/>
            <a:ext cx="10972800" cy="731520"/>
          </a:xfrm>
          <a:prstGeom prst="rect">
            <a:avLst/>
          </a:prstGeom>
          <a:solidFill>
            <a:srgbClr val="00D9E1"/>
          </a:solidFill>
          <a:ln w="34925">
            <a:solidFill>
              <a:srgbClr val="000000"/>
            </a:solidFill>
            <a:prstDash val="solid"/>
          </a:ln>
        </p:spPr>
      </p:sp>
      <p:sp>
        <p:nvSpPr>
          <p:cNvPr id="52" name="Text 50"/>
          <p:cNvSpPr/>
          <p:nvPr/>
        </p:nvSpPr>
        <p:spPr>
          <a:xfrm>
            <a:off x="914400" y="5440680"/>
            <a:ext cx="10515600" cy="38404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THE 45° RULE: BEYOND ABOUT 45° FROM VERTICAL, A SURFACE NEEDS SUPPORT — OR A DIFFERENT ORIENTATION.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FFFDF7"/>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FFFDF7"/>
                </a:solidFill>
                <a:latin typeface="Arial" pitchFamily="34" charset="0"/>
                <a:ea typeface="Arial" pitchFamily="34" charset="-122"/>
                <a:cs typeface="Arial" pitchFamily="34" charset="-120"/>
              </a:rPr>
              <a:t>THE LETTER TEST</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B8B8B8"/>
                </a:solidFill>
                <a:latin typeface="Calibri" pitchFamily="34" charset="0"/>
                <a:ea typeface="Calibri" pitchFamily="34" charset="-122"/>
                <a:cs typeface="Calibri" pitchFamily="34" charset="-120"/>
              </a:rPr>
              <a:t>Four letters, four printing conditions. Find yours in your own model.</a:t>
            </a:r>
            <a:endParaRPr lang="en-US" sz="1350" dirty="0"/>
          </a:p>
        </p:txBody>
      </p:sp>
      <p:sp>
        <p:nvSpPr>
          <p:cNvPr id="5" name="Shape 3"/>
          <p:cNvSpPr/>
          <p:nvPr/>
        </p:nvSpPr>
        <p:spPr>
          <a:xfrm>
            <a:off x="178308" y="1851660"/>
            <a:ext cx="2697480" cy="3703320"/>
          </a:xfrm>
          <a:prstGeom prst="rect">
            <a:avLst/>
          </a:prstGeom>
          <a:solidFill>
            <a:srgbClr val="C6F035"/>
          </a:solidFill>
          <a:ln w="6350">
            <a:solidFill>
              <a:srgbClr val="C6F035"/>
            </a:solidFill>
            <a:prstDash val="solid"/>
          </a:ln>
        </p:spPr>
      </p:sp>
      <p:sp>
        <p:nvSpPr>
          <p:cNvPr id="6" name="Shape 4"/>
          <p:cNvSpPr/>
          <p:nvPr/>
        </p:nvSpPr>
        <p:spPr>
          <a:xfrm>
            <a:off x="109728" y="1783080"/>
            <a:ext cx="2697480" cy="3703320"/>
          </a:xfrm>
          <a:prstGeom prst="rect">
            <a:avLst/>
          </a:prstGeom>
          <a:solidFill>
            <a:srgbClr val="FFFDF7"/>
          </a:solidFill>
          <a:ln w="34925">
            <a:solidFill>
              <a:srgbClr val="000000"/>
            </a:solidFill>
            <a:prstDash val="solid"/>
          </a:ln>
        </p:spPr>
      </p:sp>
      <p:sp>
        <p:nvSpPr>
          <p:cNvPr id="7" name="Shape 5"/>
          <p:cNvSpPr/>
          <p:nvPr/>
        </p:nvSpPr>
        <p:spPr>
          <a:xfrm>
            <a:off x="310896" y="1984248"/>
            <a:ext cx="2295144" cy="1600200"/>
          </a:xfrm>
          <a:prstGeom prst="rect">
            <a:avLst/>
          </a:prstGeom>
          <a:solidFill>
            <a:srgbClr val="F4F4EE"/>
          </a:solidFill>
          <a:ln w="19050">
            <a:solidFill>
              <a:srgbClr val="C9C9C0"/>
            </a:solidFill>
            <a:prstDash val="solid"/>
          </a:ln>
        </p:spPr>
      </p:sp>
      <p:sp>
        <p:nvSpPr>
          <p:cNvPr id="8" name="Shape 6"/>
          <p:cNvSpPr/>
          <p:nvPr/>
        </p:nvSpPr>
        <p:spPr>
          <a:xfrm>
            <a:off x="420624" y="3465576"/>
            <a:ext cx="2075688" cy="91440"/>
          </a:xfrm>
          <a:prstGeom prst="rect">
            <a:avLst/>
          </a:prstGeom>
          <a:solidFill>
            <a:srgbClr val="000000"/>
          </a:solidFill>
          <a:ln/>
        </p:spPr>
      </p:sp>
      <p:sp>
        <p:nvSpPr>
          <p:cNvPr id="9" name="Text 7"/>
          <p:cNvSpPr/>
          <p:nvPr/>
        </p:nvSpPr>
        <p:spPr>
          <a:xfrm>
            <a:off x="310896" y="2075688"/>
            <a:ext cx="2295144" cy="1325880"/>
          </a:xfrm>
          <a:prstGeom prst="rect">
            <a:avLst/>
          </a:prstGeom>
          <a:noFill/>
          <a:ln/>
        </p:spPr>
        <p:txBody>
          <a:bodyPr wrap="square" lIns="0" tIns="0" rIns="0" bIns="0" rtlCol="0" anchor="ctr"/>
          <a:lstStyle/>
          <a:p>
            <a:pPr algn="ctr" indent="0" marL="0">
              <a:buNone/>
            </a:pPr>
            <a:r>
              <a:rPr lang="en-US" sz="7600" b="1" dirty="0">
                <a:solidFill>
                  <a:srgbClr val="000000"/>
                </a:solidFill>
                <a:latin typeface="Arial" pitchFamily="34" charset="0"/>
                <a:ea typeface="Arial" pitchFamily="34" charset="-122"/>
                <a:cs typeface="Arial" pitchFamily="34" charset="-120"/>
              </a:rPr>
              <a:t>H</a:t>
            </a:r>
            <a:endParaRPr lang="en-US" sz="7600" dirty="0"/>
          </a:p>
        </p:txBody>
      </p:sp>
      <p:sp>
        <p:nvSpPr>
          <p:cNvPr id="10" name="Shape 8"/>
          <p:cNvSpPr/>
          <p:nvPr/>
        </p:nvSpPr>
        <p:spPr>
          <a:xfrm>
            <a:off x="310896" y="3721608"/>
            <a:ext cx="2295144" cy="438912"/>
          </a:xfrm>
          <a:prstGeom prst="rect">
            <a:avLst/>
          </a:prstGeom>
          <a:solidFill>
            <a:srgbClr val="C6F035"/>
          </a:solidFill>
          <a:ln w="28575">
            <a:solidFill>
              <a:srgbClr val="000000"/>
            </a:solidFill>
            <a:prstDash val="solid"/>
          </a:ln>
        </p:spPr>
      </p:sp>
      <p:sp>
        <p:nvSpPr>
          <p:cNvPr id="11" name="Text 9"/>
          <p:cNvSpPr/>
          <p:nvPr/>
        </p:nvSpPr>
        <p:spPr>
          <a:xfrm>
            <a:off x="310896" y="3822192"/>
            <a:ext cx="2295144" cy="274320"/>
          </a:xfrm>
          <a:prstGeom prst="rect">
            <a:avLst/>
          </a:prstGeom>
          <a:noFill/>
          <a:ln/>
        </p:spPr>
        <p:txBody>
          <a:bodyPr wrap="square" lIns="0" tIns="0" rIns="0" bIns="0" rtlCol="0" anchor="ctr"/>
          <a:lstStyle/>
          <a:p>
            <a:pPr algn="ctr" indent="0" marL="0">
              <a:buNone/>
            </a:pPr>
            <a:r>
              <a:rPr lang="en-US" sz="1050" b="1" spc="60" kern="0" dirty="0">
                <a:solidFill>
                  <a:srgbClr val="000000"/>
                </a:solidFill>
                <a:latin typeface="Arial" pitchFamily="34" charset="0"/>
                <a:ea typeface="Arial" pitchFamily="34" charset="-122"/>
                <a:cs typeface="Arial" pitchFamily="34" charset="-120"/>
              </a:rPr>
              <a:t>PRINTS FINE</a:t>
            </a:r>
            <a:endParaRPr lang="en-US" sz="1050" dirty="0"/>
          </a:p>
        </p:txBody>
      </p:sp>
      <p:sp>
        <p:nvSpPr>
          <p:cNvPr id="12" name="Text 10"/>
          <p:cNvSpPr/>
          <p:nvPr/>
        </p:nvSpPr>
        <p:spPr>
          <a:xfrm>
            <a:off x="310896" y="4251960"/>
            <a:ext cx="2295144" cy="292608"/>
          </a:xfrm>
          <a:prstGeom prst="rect">
            <a:avLst/>
          </a:prstGeom>
          <a:noFill/>
          <a:ln/>
        </p:spPr>
        <p:txBody>
          <a:bodyPr wrap="square" lIns="0" tIns="0" rIns="0" bIns="0" rtlCol="0" anchor="ctr"/>
          <a:lstStyle/>
          <a:p>
            <a:pPr indent="0" marL="0">
              <a:buNone/>
            </a:pPr>
            <a:r>
              <a:rPr lang="en-US" sz="1300" b="1" spc="40" kern="0" dirty="0">
                <a:solidFill>
                  <a:srgbClr val="000000"/>
                </a:solidFill>
                <a:latin typeface="Arial" pitchFamily="34" charset="0"/>
                <a:ea typeface="Arial" pitchFamily="34" charset="-122"/>
                <a:cs typeface="Arial" pitchFamily="34" charset="-120"/>
              </a:rPr>
              <a:t>BRIDGE</a:t>
            </a:r>
            <a:endParaRPr lang="en-US" sz="1300" dirty="0"/>
          </a:p>
        </p:txBody>
      </p:sp>
      <p:sp>
        <p:nvSpPr>
          <p:cNvPr id="13" name="Text 11"/>
          <p:cNvSpPr/>
          <p:nvPr/>
        </p:nvSpPr>
        <p:spPr>
          <a:xfrm>
            <a:off x="310896" y="4581144"/>
            <a:ext cx="2295144" cy="777240"/>
          </a:xfrm>
          <a:prstGeom prst="rect">
            <a:avLst/>
          </a:prstGeom>
          <a:noFill/>
          <a:ln/>
        </p:spPr>
        <p:txBody>
          <a:bodyPr wrap="square" lIns="0" tIns="0" rIns="0" bIns="0" rtlCol="0" anchor="ctr"/>
          <a:lstStyle/>
          <a:p>
            <a:pPr indent="0" marL="0">
              <a:lnSpc>
                <a:spcPts val="1500"/>
              </a:lnSpc>
              <a:buNone/>
            </a:pPr>
            <a:r>
              <a:rPr lang="en-US" sz="1150" dirty="0">
                <a:solidFill>
                  <a:srgbClr val="000000"/>
                </a:solidFill>
                <a:latin typeface="Calibri" pitchFamily="34" charset="0"/>
                <a:ea typeface="Calibri" pitchFamily="34" charset="-122"/>
                <a:cs typeface="Calibri" pitchFamily="34" charset="-120"/>
              </a:rPr>
              <a:t>The crossbar spans between two legs that are already there. Anchored at both ends, so it can stretch across.</a:t>
            </a:r>
            <a:endParaRPr lang="en-US" sz="1150" dirty="0"/>
          </a:p>
        </p:txBody>
      </p:sp>
      <p:sp>
        <p:nvSpPr>
          <p:cNvPr id="14" name="Shape 12"/>
          <p:cNvSpPr/>
          <p:nvPr/>
        </p:nvSpPr>
        <p:spPr>
          <a:xfrm>
            <a:off x="3259836" y="1851660"/>
            <a:ext cx="2697480" cy="3703320"/>
          </a:xfrm>
          <a:prstGeom prst="rect">
            <a:avLst/>
          </a:prstGeom>
          <a:solidFill>
            <a:srgbClr val="FFE500"/>
          </a:solidFill>
          <a:ln w="6350">
            <a:solidFill>
              <a:srgbClr val="FFE500"/>
            </a:solidFill>
            <a:prstDash val="solid"/>
          </a:ln>
        </p:spPr>
      </p:sp>
      <p:sp>
        <p:nvSpPr>
          <p:cNvPr id="15" name="Shape 13"/>
          <p:cNvSpPr/>
          <p:nvPr/>
        </p:nvSpPr>
        <p:spPr>
          <a:xfrm>
            <a:off x="3191256" y="1783080"/>
            <a:ext cx="2697480" cy="3703320"/>
          </a:xfrm>
          <a:prstGeom prst="rect">
            <a:avLst/>
          </a:prstGeom>
          <a:solidFill>
            <a:srgbClr val="FFFDF7"/>
          </a:solidFill>
          <a:ln w="34925">
            <a:solidFill>
              <a:srgbClr val="000000"/>
            </a:solidFill>
            <a:prstDash val="solid"/>
          </a:ln>
        </p:spPr>
      </p:sp>
      <p:sp>
        <p:nvSpPr>
          <p:cNvPr id="16" name="Shape 14"/>
          <p:cNvSpPr/>
          <p:nvPr/>
        </p:nvSpPr>
        <p:spPr>
          <a:xfrm>
            <a:off x="3392424" y="1984248"/>
            <a:ext cx="2295144" cy="1600200"/>
          </a:xfrm>
          <a:prstGeom prst="rect">
            <a:avLst/>
          </a:prstGeom>
          <a:solidFill>
            <a:srgbClr val="F4F4EE"/>
          </a:solidFill>
          <a:ln w="19050">
            <a:solidFill>
              <a:srgbClr val="C9C9C0"/>
            </a:solidFill>
            <a:prstDash val="solid"/>
          </a:ln>
        </p:spPr>
      </p:sp>
      <p:sp>
        <p:nvSpPr>
          <p:cNvPr id="17" name="Shape 15"/>
          <p:cNvSpPr/>
          <p:nvPr/>
        </p:nvSpPr>
        <p:spPr>
          <a:xfrm>
            <a:off x="3502152" y="3465576"/>
            <a:ext cx="2075688" cy="91440"/>
          </a:xfrm>
          <a:prstGeom prst="rect">
            <a:avLst/>
          </a:prstGeom>
          <a:solidFill>
            <a:srgbClr val="000000"/>
          </a:solidFill>
          <a:ln/>
        </p:spPr>
      </p:sp>
      <p:sp>
        <p:nvSpPr>
          <p:cNvPr id="18" name="Text 16"/>
          <p:cNvSpPr/>
          <p:nvPr/>
        </p:nvSpPr>
        <p:spPr>
          <a:xfrm>
            <a:off x="3392424" y="2075688"/>
            <a:ext cx="2295144" cy="1325880"/>
          </a:xfrm>
          <a:prstGeom prst="rect">
            <a:avLst/>
          </a:prstGeom>
          <a:noFill/>
          <a:ln/>
        </p:spPr>
        <p:txBody>
          <a:bodyPr wrap="square" lIns="0" tIns="0" rIns="0" bIns="0" rtlCol="0" anchor="ctr"/>
          <a:lstStyle/>
          <a:p>
            <a:pPr algn="ctr" indent="0" marL="0">
              <a:buNone/>
            </a:pPr>
            <a:r>
              <a:rPr lang="en-US" sz="7600" b="1" dirty="0">
                <a:solidFill>
                  <a:srgbClr val="000000"/>
                </a:solidFill>
                <a:latin typeface="Arial" pitchFamily="34" charset="0"/>
                <a:ea typeface="Arial" pitchFamily="34" charset="-122"/>
                <a:cs typeface="Arial" pitchFamily="34" charset="-120"/>
              </a:rPr>
              <a:t>V</a:t>
            </a:r>
            <a:endParaRPr lang="en-US" sz="7600" dirty="0"/>
          </a:p>
        </p:txBody>
      </p:sp>
      <p:sp>
        <p:nvSpPr>
          <p:cNvPr id="19" name="Shape 17"/>
          <p:cNvSpPr/>
          <p:nvPr/>
        </p:nvSpPr>
        <p:spPr>
          <a:xfrm>
            <a:off x="3392424" y="3721608"/>
            <a:ext cx="2295144" cy="438912"/>
          </a:xfrm>
          <a:prstGeom prst="rect">
            <a:avLst/>
          </a:prstGeom>
          <a:solidFill>
            <a:srgbClr val="FFE500"/>
          </a:solidFill>
          <a:ln w="28575">
            <a:solidFill>
              <a:srgbClr val="000000"/>
            </a:solidFill>
            <a:prstDash val="solid"/>
          </a:ln>
        </p:spPr>
      </p:sp>
      <p:sp>
        <p:nvSpPr>
          <p:cNvPr id="20" name="Text 18"/>
          <p:cNvSpPr/>
          <p:nvPr/>
        </p:nvSpPr>
        <p:spPr>
          <a:xfrm>
            <a:off x="3392424" y="3822192"/>
            <a:ext cx="2295144" cy="274320"/>
          </a:xfrm>
          <a:prstGeom prst="rect">
            <a:avLst/>
          </a:prstGeom>
          <a:noFill/>
          <a:ln/>
        </p:spPr>
        <p:txBody>
          <a:bodyPr wrap="square" lIns="0" tIns="0" rIns="0" bIns="0" rtlCol="0" anchor="ctr"/>
          <a:lstStyle/>
          <a:p>
            <a:pPr algn="ctr" indent="0" marL="0">
              <a:buNone/>
            </a:pPr>
            <a:r>
              <a:rPr lang="en-US" sz="1050" b="1" spc="60" kern="0" dirty="0">
                <a:solidFill>
                  <a:srgbClr val="000000"/>
                </a:solidFill>
                <a:latin typeface="Arial" pitchFamily="34" charset="0"/>
                <a:ea typeface="Arial" pitchFamily="34" charset="-122"/>
                <a:cs typeface="Arial" pitchFamily="34" charset="-120"/>
              </a:rPr>
              <a:t>FINE TO 45°</a:t>
            </a:r>
            <a:endParaRPr lang="en-US" sz="1050" dirty="0"/>
          </a:p>
        </p:txBody>
      </p:sp>
      <p:sp>
        <p:nvSpPr>
          <p:cNvPr id="21" name="Text 19"/>
          <p:cNvSpPr/>
          <p:nvPr/>
        </p:nvSpPr>
        <p:spPr>
          <a:xfrm>
            <a:off x="3392424" y="4251960"/>
            <a:ext cx="2295144" cy="292608"/>
          </a:xfrm>
          <a:prstGeom prst="rect">
            <a:avLst/>
          </a:prstGeom>
          <a:noFill/>
          <a:ln/>
        </p:spPr>
        <p:txBody>
          <a:bodyPr wrap="square" lIns="0" tIns="0" rIns="0" bIns="0" rtlCol="0" anchor="ctr"/>
          <a:lstStyle/>
          <a:p>
            <a:pPr indent="0" marL="0">
              <a:buNone/>
            </a:pPr>
            <a:r>
              <a:rPr lang="en-US" sz="1300" b="1" spc="40" kern="0" dirty="0">
                <a:solidFill>
                  <a:srgbClr val="000000"/>
                </a:solidFill>
                <a:latin typeface="Arial" pitchFamily="34" charset="0"/>
                <a:ea typeface="Arial" pitchFamily="34" charset="-122"/>
                <a:cs typeface="Arial" pitchFamily="34" charset="-120"/>
              </a:rPr>
              <a:t>SLOPE</a:t>
            </a:r>
            <a:endParaRPr lang="en-US" sz="1300" dirty="0"/>
          </a:p>
        </p:txBody>
      </p:sp>
      <p:sp>
        <p:nvSpPr>
          <p:cNvPr id="22" name="Text 20"/>
          <p:cNvSpPr/>
          <p:nvPr/>
        </p:nvSpPr>
        <p:spPr>
          <a:xfrm>
            <a:off x="3392424" y="4581144"/>
            <a:ext cx="2295144" cy="777240"/>
          </a:xfrm>
          <a:prstGeom prst="rect">
            <a:avLst/>
          </a:prstGeom>
          <a:noFill/>
          <a:ln/>
        </p:spPr>
        <p:txBody>
          <a:bodyPr wrap="square" lIns="0" tIns="0" rIns="0" bIns="0" rtlCol="0" anchor="ctr"/>
          <a:lstStyle/>
          <a:p>
            <a:pPr indent="0" marL="0">
              <a:lnSpc>
                <a:spcPts val="1500"/>
              </a:lnSpc>
              <a:buNone/>
            </a:pPr>
            <a:r>
              <a:rPr lang="en-US" sz="1150" dirty="0">
                <a:solidFill>
                  <a:srgbClr val="000000"/>
                </a:solidFill>
                <a:latin typeface="Calibri" pitchFamily="34" charset="0"/>
                <a:ea typeface="Calibri" pitchFamily="34" charset="-122"/>
                <a:cs typeface="Calibri" pitchFamily="34" charset="-120"/>
              </a:rPr>
              <a:t>Each layer steps outward a little. Gentle is fine; past about 45° from vertical it starts to droop.</a:t>
            </a:r>
            <a:endParaRPr lang="en-US" sz="1150" dirty="0"/>
          </a:p>
        </p:txBody>
      </p:sp>
      <p:sp>
        <p:nvSpPr>
          <p:cNvPr id="23" name="Shape 21"/>
          <p:cNvSpPr/>
          <p:nvPr/>
        </p:nvSpPr>
        <p:spPr>
          <a:xfrm>
            <a:off x="6341364" y="1851660"/>
            <a:ext cx="2697480" cy="3703320"/>
          </a:xfrm>
          <a:prstGeom prst="rect">
            <a:avLst/>
          </a:prstGeom>
          <a:solidFill>
            <a:srgbClr val="FF4D8D"/>
          </a:solidFill>
          <a:ln w="6350">
            <a:solidFill>
              <a:srgbClr val="FF4D8D"/>
            </a:solidFill>
            <a:prstDash val="solid"/>
          </a:ln>
        </p:spPr>
      </p:sp>
      <p:sp>
        <p:nvSpPr>
          <p:cNvPr id="24" name="Shape 22"/>
          <p:cNvSpPr/>
          <p:nvPr/>
        </p:nvSpPr>
        <p:spPr>
          <a:xfrm>
            <a:off x="6272784" y="1783080"/>
            <a:ext cx="2697480" cy="3703320"/>
          </a:xfrm>
          <a:prstGeom prst="rect">
            <a:avLst/>
          </a:prstGeom>
          <a:solidFill>
            <a:srgbClr val="FFFDF7"/>
          </a:solidFill>
          <a:ln w="34925">
            <a:solidFill>
              <a:srgbClr val="000000"/>
            </a:solidFill>
            <a:prstDash val="solid"/>
          </a:ln>
        </p:spPr>
      </p:sp>
      <p:sp>
        <p:nvSpPr>
          <p:cNvPr id="25" name="Shape 23"/>
          <p:cNvSpPr/>
          <p:nvPr/>
        </p:nvSpPr>
        <p:spPr>
          <a:xfrm>
            <a:off x="6473952" y="1984248"/>
            <a:ext cx="2295144" cy="1600200"/>
          </a:xfrm>
          <a:prstGeom prst="rect">
            <a:avLst/>
          </a:prstGeom>
          <a:solidFill>
            <a:srgbClr val="F4F4EE"/>
          </a:solidFill>
          <a:ln w="19050">
            <a:solidFill>
              <a:srgbClr val="C9C9C0"/>
            </a:solidFill>
            <a:prstDash val="solid"/>
          </a:ln>
        </p:spPr>
      </p:sp>
      <p:sp>
        <p:nvSpPr>
          <p:cNvPr id="26" name="Shape 24"/>
          <p:cNvSpPr/>
          <p:nvPr/>
        </p:nvSpPr>
        <p:spPr>
          <a:xfrm>
            <a:off x="6583680" y="3465576"/>
            <a:ext cx="2075688" cy="91440"/>
          </a:xfrm>
          <a:prstGeom prst="rect">
            <a:avLst/>
          </a:prstGeom>
          <a:solidFill>
            <a:srgbClr val="000000"/>
          </a:solidFill>
          <a:ln/>
        </p:spPr>
      </p:sp>
      <p:sp>
        <p:nvSpPr>
          <p:cNvPr id="27" name="Text 25"/>
          <p:cNvSpPr/>
          <p:nvPr/>
        </p:nvSpPr>
        <p:spPr>
          <a:xfrm>
            <a:off x="6473952" y="2075688"/>
            <a:ext cx="2295144" cy="1325880"/>
          </a:xfrm>
          <a:prstGeom prst="rect">
            <a:avLst/>
          </a:prstGeom>
          <a:noFill/>
          <a:ln/>
        </p:spPr>
        <p:txBody>
          <a:bodyPr wrap="square" lIns="0" tIns="0" rIns="0" bIns="0" rtlCol="0" anchor="ctr"/>
          <a:lstStyle/>
          <a:p>
            <a:pPr algn="ctr" indent="0" marL="0">
              <a:buNone/>
            </a:pPr>
            <a:r>
              <a:rPr lang="en-US" sz="7600" b="1" dirty="0">
                <a:solidFill>
                  <a:srgbClr val="000000"/>
                </a:solidFill>
                <a:latin typeface="Arial" pitchFamily="34" charset="0"/>
                <a:ea typeface="Arial" pitchFamily="34" charset="-122"/>
                <a:cs typeface="Arial" pitchFamily="34" charset="-120"/>
              </a:rPr>
              <a:t>T</a:t>
            </a:r>
            <a:endParaRPr lang="en-US" sz="7600" dirty="0"/>
          </a:p>
        </p:txBody>
      </p:sp>
      <p:sp>
        <p:nvSpPr>
          <p:cNvPr id="28" name="Shape 26"/>
          <p:cNvSpPr/>
          <p:nvPr/>
        </p:nvSpPr>
        <p:spPr>
          <a:xfrm>
            <a:off x="6473952" y="3721608"/>
            <a:ext cx="2295144" cy="438912"/>
          </a:xfrm>
          <a:prstGeom prst="rect">
            <a:avLst/>
          </a:prstGeom>
          <a:solidFill>
            <a:srgbClr val="FF4D8D"/>
          </a:solidFill>
          <a:ln w="28575">
            <a:solidFill>
              <a:srgbClr val="000000"/>
            </a:solidFill>
            <a:prstDash val="solid"/>
          </a:ln>
        </p:spPr>
      </p:sp>
      <p:sp>
        <p:nvSpPr>
          <p:cNvPr id="29" name="Text 27"/>
          <p:cNvSpPr/>
          <p:nvPr/>
        </p:nvSpPr>
        <p:spPr>
          <a:xfrm>
            <a:off x="6473952" y="3822192"/>
            <a:ext cx="2295144" cy="274320"/>
          </a:xfrm>
          <a:prstGeom prst="rect">
            <a:avLst/>
          </a:prstGeom>
          <a:noFill/>
          <a:ln/>
        </p:spPr>
        <p:txBody>
          <a:bodyPr wrap="square" lIns="0" tIns="0" rIns="0" bIns="0" rtlCol="0" anchor="ctr"/>
          <a:lstStyle/>
          <a:p>
            <a:pPr algn="ctr" indent="0" marL="0">
              <a:buNone/>
            </a:pPr>
            <a:r>
              <a:rPr lang="en-US" sz="1050" b="1" spc="60" kern="0" dirty="0">
                <a:solidFill>
                  <a:srgbClr val="000000"/>
                </a:solidFill>
                <a:latin typeface="Arial" pitchFamily="34" charset="0"/>
                <a:ea typeface="Arial" pitchFamily="34" charset="-122"/>
                <a:cs typeface="Arial" pitchFamily="34" charset="-120"/>
              </a:rPr>
              <a:t>DROOPS</a:t>
            </a:r>
            <a:endParaRPr lang="en-US" sz="1050" dirty="0"/>
          </a:p>
        </p:txBody>
      </p:sp>
      <p:sp>
        <p:nvSpPr>
          <p:cNvPr id="30" name="Text 28"/>
          <p:cNvSpPr/>
          <p:nvPr/>
        </p:nvSpPr>
        <p:spPr>
          <a:xfrm>
            <a:off x="6473952" y="4251960"/>
            <a:ext cx="2295144" cy="292608"/>
          </a:xfrm>
          <a:prstGeom prst="rect">
            <a:avLst/>
          </a:prstGeom>
          <a:noFill/>
          <a:ln/>
        </p:spPr>
        <p:txBody>
          <a:bodyPr wrap="square" lIns="0" tIns="0" rIns="0" bIns="0" rtlCol="0" anchor="ctr"/>
          <a:lstStyle/>
          <a:p>
            <a:pPr indent="0" marL="0">
              <a:buNone/>
            </a:pPr>
            <a:r>
              <a:rPr lang="en-US" sz="1300" b="1" spc="40" kern="0" dirty="0">
                <a:solidFill>
                  <a:srgbClr val="000000"/>
                </a:solidFill>
                <a:latin typeface="Arial" pitchFamily="34" charset="0"/>
                <a:ea typeface="Arial" pitchFamily="34" charset="-122"/>
                <a:cs typeface="Arial" pitchFamily="34" charset="-120"/>
              </a:rPr>
              <a:t>CANTILEVER</a:t>
            </a:r>
            <a:endParaRPr lang="en-US" sz="1300" dirty="0"/>
          </a:p>
        </p:txBody>
      </p:sp>
      <p:sp>
        <p:nvSpPr>
          <p:cNvPr id="31" name="Text 29"/>
          <p:cNvSpPr/>
          <p:nvPr/>
        </p:nvSpPr>
        <p:spPr>
          <a:xfrm>
            <a:off x="6473952" y="4581144"/>
            <a:ext cx="2295144" cy="777240"/>
          </a:xfrm>
          <a:prstGeom prst="rect">
            <a:avLst/>
          </a:prstGeom>
          <a:noFill/>
          <a:ln/>
        </p:spPr>
        <p:txBody>
          <a:bodyPr wrap="square" lIns="0" tIns="0" rIns="0" bIns="0" rtlCol="0" anchor="ctr"/>
          <a:lstStyle/>
          <a:p>
            <a:pPr indent="0" marL="0">
              <a:lnSpc>
                <a:spcPts val="1500"/>
              </a:lnSpc>
              <a:buNone/>
            </a:pPr>
            <a:r>
              <a:rPr lang="en-US" sz="1150" dirty="0">
                <a:solidFill>
                  <a:srgbClr val="000000"/>
                </a:solidFill>
                <a:latin typeface="Calibri" pitchFamily="34" charset="0"/>
                <a:ea typeface="Calibri" pitchFamily="34" charset="-122"/>
                <a:cs typeface="Calibri" pitchFamily="34" charset="-120"/>
              </a:rPr>
              <a:t>The arms start in mid-air and are anchored at one end only. Nothing to stretch to.</a:t>
            </a:r>
            <a:endParaRPr lang="en-US" sz="1150" dirty="0"/>
          </a:p>
        </p:txBody>
      </p:sp>
      <p:sp>
        <p:nvSpPr>
          <p:cNvPr id="32" name="Shape 30"/>
          <p:cNvSpPr/>
          <p:nvPr/>
        </p:nvSpPr>
        <p:spPr>
          <a:xfrm>
            <a:off x="9422892" y="1851660"/>
            <a:ext cx="2697480" cy="3703320"/>
          </a:xfrm>
          <a:prstGeom prst="rect">
            <a:avLst/>
          </a:prstGeom>
          <a:solidFill>
            <a:srgbClr val="FF4D8D"/>
          </a:solidFill>
          <a:ln w="6350">
            <a:solidFill>
              <a:srgbClr val="FF4D8D"/>
            </a:solidFill>
            <a:prstDash val="solid"/>
          </a:ln>
        </p:spPr>
      </p:sp>
      <p:sp>
        <p:nvSpPr>
          <p:cNvPr id="33" name="Shape 31"/>
          <p:cNvSpPr/>
          <p:nvPr/>
        </p:nvSpPr>
        <p:spPr>
          <a:xfrm>
            <a:off x="9354312" y="1783080"/>
            <a:ext cx="2697480" cy="3703320"/>
          </a:xfrm>
          <a:prstGeom prst="rect">
            <a:avLst/>
          </a:prstGeom>
          <a:solidFill>
            <a:srgbClr val="FFFDF7"/>
          </a:solidFill>
          <a:ln w="34925">
            <a:solidFill>
              <a:srgbClr val="000000"/>
            </a:solidFill>
            <a:prstDash val="solid"/>
          </a:ln>
        </p:spPr>
      </p:sp>
      <p:sp>
        <p:nvSpPr>
          <p:cNvPr id="34" name="Shape 32"/>
          <p:cNvSpPr/>
          <p:nvPr/>
        </p:nvSpPr>
        <p:spPr>
          <a:xfrm>
            <a:off x="9555480" y="1984248"/>
            <a:ext cx="2295144" cy="1600200"/>
          </a:xfrm>
          <a:prstGeom prst="rect">
            <a:avLst/>
          </a:prstGeom>
          <a:solidFill>
            <a:srgbClr val="F4F4EE"/>
          </a:solidFill>
          <a:ln w="19050">
            <a:solidFill>
              <a:srgbClr val="C9C9C0"/>
            </a:solidFill>
            <a:prstDash val="solid"/>
          </a:ln>
        </p:spPr>
      </p:sp>
      <p:sp>
        <p:nvSpPr>
          <p:cNvPr id="35" name="Shape 33"/>
          <p:cNvSpPr/>
          <p:nvPr/>
        </p:nvSpPr>
        <p:spPr>
          <a:xfrm>
            <a:off x="9665208" y="3465576"/>
            <a:ext cx="2075688" cy="91440"/>
          </a:xfrm>
          <a:prstGeom prst="rect">
            <a:avLst/>
          </a:prstGeom>
          <a:solidFill>
            <a:srgbClr val="000000"/>
          </a:solidFill>
          <a:ln/>
        </p:spPr>
      </p:sp>
      <p:sp>
        <p:nvSpPr>
          <p:cNvPr id="36" name="Text 34"/>
          <p:cNvSpPr/>
          <p:nvPr/>
        </p:nvSpPr>
        <p:spPr>
          <a:xfrm>
            <a:off x="9555480" y="2075688"/>
            <a:ext cx="2295144" cy="1325880"/>
          </a:xfrm>
          <a:prstGeom prst="rect">
            <a:avLst/>
          </a:prstGeom>
          <a:noFill/>
          <a:ln/>
        </p:spPr>
        <p:txBody>
          <a:bodyPr wrap="square" lIns="0" tIns="0" rIns="0" bIns="0" rtlCol="0" anchor="ctr"/>
          <a:lstStyle/>
          <a:p>
            <a:pPr algn="ctr" indent="0" marL="0">
              <a:buNone/>
            </a:pPr>
            <a:r>
              <a:rPr lang="en-US" sz="7600" b="1" dirty="0">
                <a:solidFill>
                  <a:srgbClr val="000000"/>
                </a:solidFill>
                <a:latin typeface="Arial" pitchFamily="34" charset="0"/>
                <a:ea typeface="Arial" pitchFamily="34" charset="-122"/>
                <a:cs typeface="Arial" pitchFamily="34" charset="-120"/>
              </a:rPr>
              <a:t>i</a:t>
            </a:r>
            <a:endParaRPr lang="en-US" sz="7600" dirty="0"/>
          </a:p>
        </p:txBody>
      </p:sp>
      <p:sp>
        <p:nvSpPr>
          <p:cNvPr id="37" name="Shape 35"/>
          <p:cNvSpPr/>
          <p:nvPr/>
        </p:nvSpPr>
        <p:spPr>
          <a:xfrm>
            <a:off x="9555480" y="3721608"/>
            <a:ext cx="2295144" cy="438912"/>
          </a:xfrm>
          <a:prstGeom prst="rect">
            <a:avLst/>
          </a:prstGeom>
          <a:solidFill>
            <a:srgbClr val="FF4D8D"/>
          </a:solidFill>
          <a:ln w="28575">
            <a:solidFill>
              <a:srgbClr val="000000"/>
            </a:solidFill>
            <a:prstDash val="solid"/>
          </a:ln>
        </p:spPr>
      </p:sp>
      <p:sp>
        <p:nvSpPr>
          <p:cNvPr id="38" name="Text 36"/>
          <p:cNvSpPr/>
          <p:nvPr/>
        </p:nvSpPr>
        <p:spPr>
          <a:xfrm>
            <a:off x="9555480" y="3822192"/>
            <a:ext cx="2295144" cy="274320"/>
          </a:xfrm>
          <a:prstGeom prst="rect">
            <a:avLst/>
          </a:prstGeom>
          <a:noFill/>
          <a:ln/>
        </p:spPr>
        <p:txBody>
          <a:bodyPr wrap="square" lIns="0" tIns="0" rIns="0" bIns="0" rtlCol="0" anchor="ctr"/>
          <a:lstStyle/>
          <a:p>
            <a:pPr algn="ctr" indent="0" marL="0">
              <a:buNone/>
            </a:pPr>
            <a:r>
              <a:rPr lang="en-US" sz="1050" b="1" spc="60" kern="0" dirty="0">
                <a:solidFill>
                  <a:srgbClr val="000000"/>
                </a:solidFill>
                <a:latin typeface="Arial" pitchFamily="34" charset="0"/>
                <a:ea typeface="Arial" pitchFamily="34" charset="-122"/>
                <a:cs typeface="Arial" pitchFamily="34" charset="-120"/>
              </a:rPr>
              <a:t>IMPOSSIBLE</a:t>
            </a:r>
            <a:endParaRPr lang="en-US" sz="1050" dirty="0"/>
          </a:p>
        </p:txBody>
      </p:sp>
      <p:sp>
        <p:nvSpPr>
          <p:cNvPr id="39" name="Text 37"/>
          <p:cNvSpPr/>
          <p:nvPr/>
        </p:nvSpPr>
        <p:spPr>
          <a:xfrm>
            <a:off x="9555480" y="4251960"/>
            <a:ext cx="2295144" cy="292608"/>
          </a:xfrm>
          <a:prstGeom prst="rect">
            <a:avLst/>
          </a:prstGeom>
          <a:noFill/>
          <a:ln/>
        </p:spPr>
        <p:txBody>
          <a:bodyPr wrap="square" lIns="0" tIns="0" rIns="0" bIns="0" rtlCol="0" anchor="ctr"/>
          <a:lstStyle/>
          <a:p>
            <a:pPr indent="0" marL="0">
              <a:buNone/>
            </a:pPr>
            <a:r>
              <a:rPr lang="en-US" sz="1300" b="1" spc="40" kern="0" dirty="0">
                <a:solidFill>
                  <a:srgbClr val="000000"/>
                </a:solidFill>
                <a:latin typeface="Arial" pitchFamily="34" charset="0"/>
                <a:ea typeface="Arial" pitchFamily="34" charset="-122"/>
                <a:cs typeface="Arial" pitchFamily="34" charset="-120"/>
              </a:rPr>
              <a:t>ISLAND</a:t>
            </a:r>
            <a:endParaRPr lang="en-US" sz="1300" dirty="0"/>
          </a:p>
        </p:txBody>
      </p:sp>
      <p:sp>
        <p:nvSpPr>
          <p:cNvPr id="40" name="Text 38"/>
          <p:cNvSpPr/>
          <p:nvPr/>
        </p:nvSpPr>
        <p:spPr>
          <a:xfrm>
            <a:off x="9555480" y="4581144"/>
            <a:ext cx="2295144" cy="777240"/>
          </a:xfrm>
          <a:prstGeom prst="rect">
            <a:avLst/>
          </a:prstGeom>
          <a:noFill/>
          <a:ln/>
        </p:spPr>
        <p:txBody>
          <a:bodyPr wrap="square" lIns="0" tIns="0" rIns="0" bIns="0" rtlCol="0" anchor="ctr"/>
          <a:lstStyle/>
          <a:p>
            <a:pPr indent="0" marL="0">
              <a:lnSpc>
                <a:spcPts val="1500"/>
              </a:lnSpc>
              <a:buNone/>
            </a:pPr>
            <a:r>
              <a:rPr lang="en-US" sz="1150" dirty="0">
                <a:solidFill>
                  <a:srgbClr val="000000"/>
                </a:solidFill>
                <a:latin typeface="Calibri" pitchFamily="34" charset="0"/>
                <a:ea typeface="Calibri" pitchFamily="34" charset="-122"/>
                <a:cs typeface="Calibri" pitchFamily="34" charset="-120"/>
              </a:rPr>
              <a:t>The dot begins with nothing underneath it at all. There is no version of this without support.</a:t>
            </a:r>
            <a:endParaRPr lang="en-US" sz="1150" dirty="0"/>
          </a:p>
        </p:txBody>
      </p:sp>
      <p:sp>
        <p:nvSpPr>
          <p:cNvPr id="41" name="Shape 39"/>
          <p:cNvSpPr/>
          <p:nvPr/>
        </p:nvSpPr>
        <p:spPr>
          <a:xfrm>
            <a:off x="662940" y="5783580"/>
            <a:ext cx="10972800" cy="658368"/>
          </a:xfrm>
          <a:prstGeom prst="rect">
            <a:avLst/>
          </a:prstGeom>
          <a:solidFill>
            <a:srgbClr val="FFFDF7"/>
          </a:solidFill>
          <a:ln w="6350">
            <a:solidFill>
              <a:srgbClr val="FFFDF7"/>
            </a:solidFill>
            <a:prstDash val="solid"/>
          </a:ln>
        </p:spPr>
      </p:sp>
      <p:sp>
        <p:nvSpPr>
          <p:cNvPr id="42" name="Shape 40"/>
          <p:cNvSpPr/>
          <p:nvPr/>
        </p:nvSpPr>
        <p:spPr>
          <a:xfrm>
            <a:off x="594360" y="5715000"/>
            <a:ext cx="10972800" cy="658368"/>
          </a:xfrm>
          <a:prstGeom prst="rect">
            <a:avLst/>
          </a:prstGeom>
          <a:solidFill>
            <a:srgbClr val="00D9E1"/>
          </a:solidFill>
          <a:ln w="34925">
            <a:solidFill>
              <a:srgbClr val="000000"/>
            </a:solidFill>
            <a:prstDash val="solid"/>
          </a:ln>
        </p:spPr>
      </p:sp>
      <p:sp>
        <p:nvSpPr>
          <p:cNvPr id="43" name="Text 41"/>
          <p:cNvSpPr/>
          <p:nvPr/>
        </p:nvSpPr>
        <p:spPr>
          <a:xfrm>
            <a:off x="914400" y="5879592"/>
            <a:ext cx="10607040" cy="36576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 BRIDGE IS ANCHORED AT BOTH ENDS. A CANTILEVER IS NOT. AN ISLAND IS ANCHORED TO NOTHING. THAT IS THE WHOLE DIFFERENCE.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FFFDF7"/>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FFFDF7"/>
                </a:solidFill>
                <a:latin typeface="Arial" pitchFamily="34" charset="0"/>
                <a:ea typeface="Arial" pitchFamily="34" charset="-122"/>
                <a:cs typeface="Arial" pitchFamily="34" charset="-120"/>
              </a:rPr>
              <a:t>ORIENTATION IS YOUR ONLY LEVER</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B8B8B8"/>
                </a:solidFill>
                <a:latin typeface="Calibri" pitchFamily="34" charset="0"/>
                <a:ea typeface="Calibri" pitchFamily="34" charset="-122"/>
                <a:cs typeface="Calibri" pitchFamily="34" charset="-120"/>
              </a:rPr>
              <a:t>Same geometry. Two ways to place it. Very different prints.</a:t>
            </a:r>
            <a:endParaRPr lang="en-US" sz="1350" dirty="0"/>
          </a:p>
        </p:txBody>
      </p:sp>
      <p:sp>
        <p:nvSpPr>
          <p:cNvPr id="5" name="Shape 3"/>
          <p:cNvSpPr/>
          <p:nvPr/>
        </p:nvSpPr>
        <p:spPr>
          <a:xfrm>
            <a:off x="662940" y="1851660"/>
            <a:ext cx="5349240" cy="3429000"/>
          </a:xfrm>
          <a:prstGeom prst="rect">
            <a:avLst/>
          </a:prstGeom>
          <a:solidFill>
            <a:srgbClr val="FF4D8D"/>
          </a:solidFill>
          <a:ln w="6350">
            <a:solidFill>
              <a:srgbClr val="FF4D8D"/>
            </a:solidFill>
            <a:prstDash val="solid"/>
          </a:ln>
        </p:spPr>
      </p:sp>
      <p:sp>
        <p:nvSpPr>
          <p:cNvPr id="6" name="Shape 4"/>
          <p:cNvSpPr/>
          <p:nvPr/>
        </p:nvSpPr>
        <p:spPr>
          <a:xfrm>
            <a:off x="594360" y="1783080"/>
            <a:ext cx="5349240" cy="3429000"/>
          </a:xfrm>
          <a:prstGeom prst="rect">
            <a:avLst/>
          </a:prstGeom>
          <a:solidFill>
            <a:srgbClr val="FFFDF7"/>
          </a:solidFill>
          <a:ln w="34925">
            <a:solidFill>
              <a:srgbClr val="000000"/>
            </a:solidFill>
            <a:prstDash val="solid"/>
          </a:ln>
        </p:spPr>
      </p:sp>
      <p:sp>
        <p:nvSpPr>
          <p:cNvPr id="7" name="Shape 5"/>
          <p:cNvSpPr/>
          <p:nvPr/>
        </p:nvSpPr>
        <p:spPr>
          <a:xfrm>
            <a:off x="594360" y="1783080"/>
            <a:ext cx="5349240" cy="530352"/>
          </a:xfrm>
          <a:prstGeom prst="rect">
            <a:avLst/>
          </a:prstGeom>
          <a:solidFill>
            <a:srgbClr val="FF4D8D"/>
          </a:solidFill>
          <a:ln w="34925">
            <a:solidFill>
              <a:srgbClr val="000000"/>
            </a:solidFill>
            <a:prstDash val="solid"/>
          </a:ln>
        </p:spPr>
      </p:sp>
      <p:sp>
        <p:nvSpPr>
          <p:cNvPr id="8" name="Text 6"/>
          <p:cNvSpPr/>
          <p:nvPr/>
        </p:nvSpPr>
        <p:spPr>
          <a:xfrm>
            <a:off x="868680" y="1892808"/>
            <a:ext cx="4800600" cy="329184"/>
          </a:xfrm>
          <a:prstGeom prst="rect">
            <a:avLst/>
          </a:prstGeom>
          <a:noFill/>
          <a:ln/>
        </p:spPr>
        <p:txBody>
          <a:bodyPr wrap="square" lIns="0" tIns="0" rIns="0" bIns="0" rtlCol="0" anchor="ctr"/>
          <a:lstStyle/>
          <a:p>
            <a:pPr indent="0" marL="0">
              <a:buNone/>
            </a:pPr>
            <a:r>
              <a:rPr lang="en-US" sz="1300" b="1" spc="60" kern="0" dirty="0">
                <a:solidFill>
                  <a:srgbClr val="000000"/>
                </a:solidFill>
                <a:latin typeface="Arial" pitchFamily="34" charset="0"/>
                <a:ea typeface="Arial" pitchFamily="34" charset="-122"/>
                <a:cs typeface="Arial" pitchFamily="34" charset="-120"/>
              </a:rPr>
              <a:t>AS MODELLED</a:t>
            </a:r>
            <a:endParaRPr lang="en-US" sz="1300" dirty="0"/>
          </a:p>
        </p:txBody>
      </p:sp>
      <p:sp>
        <p:nvSpPr>
          <p:cNvPr id="9" name="Shape 7"/>
          <p:cNvSpPr/>
          <p:nvPr/>
        </p:nvSpPr>
        <p:spPr>
          <a:xfrm>
            <a:off x="868680" y="2468880"/>
            <a:ext cx="4800600" cy="1600200"/>
          </a:xfrm>
          <a:prstGeom prst="rect">
            <a:avLst/>
          </a:prstGeom>
          <a:solidFill>
            <a:srgbClr val="F4F4EE"/>
          </a:solidFill>
          <a:ln w="19050">
            <a:solidFill>
              <a:srgbClr val="C9C9C0"/>
            </a:solidFill>
            <a:prstDash val="solid"/>
          </a:ln>
        </p:spPr>
      </p:sp>
      <p:sp>
        <p:nvSpPr>
          <p:cNvPr id="10" name="Shape 8"/>
          <p:cNvSpPr/>
          <p:nvPr/>
        </p:nvSpPr>
        <p:spPr>
          <a:xfrm>
            <a:off x="1005840" y="3959352"/>
            <a:ext cx="4526280" cy="91440"/>
          </a:xfrm>
          <a:prstGeom prst="rect">
            <a:avLst/>
          </a:prstGeom>
          <a:solidFill>
            <a:srgbClr val="000000"/>
          </a:solidFill>
          <a:ln/>
        </p:spPr>
      </p:sp>
      <p:sp>
        <p:nvSpPr>
          <p:cNvPr id="11" name="Shape 9"/>
          <p:cNvSpPr/>
          <p:nvPr/>
        </p:nvSpPr>
        <p:spPr>
          <a:xfrm>
            <a:off x="2240280" y="2971800"/>
            <a:ext cx="502920" cy="987552"/>
          </a:xfrm>
          <a:prstGeom prst="rect">
            <a:avLst/>
          </a:prstGeom>
          <a:solidFill>
            <a:srgbClr val="FFFDF7"/>
          </a:solidFill>
          <a:ln w="28575">
            <a:solidFill>
              <a:srgbClr val="000000"/>
            </a:solidFill>
            <a:prstDash val="solid"/>
          </a:ln>
        </p:spPr>
      </p:sp>
      <p:sp>
        <p:nvSpPr>
          <p:cNvPr id="12" name="Shape 10"/>
          <p:cNvSpPr/>
          <p:nvPr/>
        </p:nvSpPr>
        <p:spPr>
          <a:xfrm>
            <a:off x="2743200" y="2971800"/>
            <a:ext cx="1188720" cy="384048"/>
          </a:xfrm>
          <a:prstGeom prst="rect">
            <a:avLst/>
          </a:prstGeom>
          <a:solidFill>
            <a:srgbClr val="FFFDF7"/>
          </a:solidFill>
          <a:ln w="28575">
            <a:solidFill>
              <a:srgbClr val="000000"/>
            </a:solidFill>
            <a:prstDash val="solid"/>
          </a:ln>
        </p:spPr>
      </p:sp>
      <p:sp>
        <p:nvSpPr>
          <p:cNvPr id="13" name="Shape 11"/>
          <p:cNvSpPr/>
          <p:nvPr/>
        </p:nvSpPr>
        <p:spPr>
          <a:xfrm>
            <a:off x="2880360" y="3355848"/>
            <a:ext cx="0" cy="603504"/>
          </a:xfrm>
          <a:prstGeom prst="line">
            <a:avLst/>
          </a:prstGeom>
          <a:noFill/>
          <a:ln w="19050">
            <a:solidFill>
              <a:srgbClr val="FF4D8D"/>
            </a:solidFill>
            <a:prstDash val="solid"/>
          </a:ln>
        </p:spPr>
      </p:sp>
      <p:sp>
        <p:nvSpPr>
          <p:cNvPr id="14" name="Shape 12"/>
          <p:cNvSpPr/>
          <p:nvPr/>
        </p:nvSpPr>
        <p:spPr>
          <a:xfrm>
            <a:off x="3099816" y="3355848"/>
            <a:ext cx="0" cy="603504"/>
          </a:xfrm>
          <a:prstGeom prst="line">
            <a:avLst/>
          </a:prstGeom>
          <a:noFill/>
          <a:ln w="19050">
            <a:solidFill>
              <a:srgbClr val="FF4D8D"/>
            </a:solidFill>
            <a:prstDash val="solid"/>
          </a:ln>
        </p:spPr>
      </p:sp>
      <p:sp>
        <p:nvSpPr>
          <p:cNvPr id="15" name="Shape 13"/>
          <p:cNvSpPr/>
          <p:nvPr/>
        </p:nvSpPr>
        <p:spPr>
          <a:xfrm>
            <a:off x="3319272" y="3355848"/>
            <a:ext cx="0" cy="603504"/>
          </a:xfrm>
          <a:prstGeom prst="line">
            <a:avLst/>
          </a:prstGeom>
          <a:noFill/>
          <a:ln w="19050">
            <a:solidFill>
              <a:srgbClr val="FF4D8D"/>
            </a:solidFill>
            <a:prstDash val="solid"/>
          </a:ln>
        </p:spPr>
      </p:sp>
      <p:sp>
        <p:nvSpPr>
          <p:cNvPr id="16" name="Shape 14"/>
          <p:cNvSpPr/>
          <p:nvPr/>
        </p:nvSpPr>
        <p:spPr>
          <a:xfrm>
            <a:off x="3538728" y="3355848"/>
            <a:ext cx="0" cy="603504"/>
          </a:xfrm>
          <a:prstGeom prst="line">
            <a:avLst/>
          </a:prstGeom>
          <a:noFill/>
          <a:ln w="19050">
            <a:solidFill>
              <a:srgbClr val="FF4D8D"/>
            </a:solidFill>
            <a:prstDash val="solid"/>
          </a:ln>
        </p:spPr>
      </p:sp>
      <p:sp>
        <p:nvSpPr>
          <p:cNvPr id="17" name="Shape 15"/>
          <p:cNvSpPr/>
          <p:nvPr/>
        </p:nvSpPr>
        <p:spPr>
          <a:xfrm>
            <a:off x="3758184" y="3355848"/>
            <a:ext cx="0" cy="603504"/>
          </a:xfrm>
          <a:prstGeom prst="line">
            <a:avLst/>
          </a:prstGeom>
          <a:noFill/>
          <a:ln w="19050">
            <a:solidFill>
              <a:srgbClr val="FF4D8D"/>
            </a:solidFill>
            <a:prstDash val="solid"/>
          </a:ln>
        </p:spPr>
      </p:sp>
      <p:sp>
        <p:nvSpPr>
          <p:cNvPr id="18" name="Text 16"/>
          <p:cNvSpPr/>
          <p:nvPr/>
        </p:nvSpPr>
        <p:spPr>
          <a:xfrm>
            <a:off x="4069080" y="3529584"/>
            <a:ext cx="1005840" cy="237744"/>
          </a:xfrm>
          <a:prstGeom prst="rect">
            <a:avLst/>
          </a:prstGeom>
          <a:noFill/>
          <a:ln/>
        </p:spPr>
        <p:txBody>
          <a:bodyPr wrap="square" lIns="0" tIns="0" rIns="0" bIns="0" rtlCol="0" anchor="ctr"/>
          <a:lstStyle/>
          <a:p>
            <a:pPr indent="0" marL="0">
              <a:buNone/>
            </a:pPr>
            <a:r>
              <a:rPr lang="en-US" sz="1000" i="1" dirty="0">
                <a:solidFill>
                  <a:srgbClr val="FF4D8D"/>
                </a:solidFill>
                <a:latin typeface="Calibri" pitchFamily="34" charset="0"/>
                <a:ea typeface="Calibri" pitchFamily="34" charset="-122"/>
                <a:cs typeface="Calibri" pitchFamily="34" charset="-120"/>
              </a:rPr>
              <a:t>support</a:t>
            </a:r>
            <a:endParaRPr lang="en-US" sz="1000" dirty="0"/>
          </a:p>
        </p:txBody>
      </p:sp>
      <p:sp>
        <p:nvSpPr>
          <p:cNvPr id="19" name="Shape 17"/>
          <p:cNvSpPr/>
          <p:nvPr/>
        </p:nvSpPr>
        <p:spPr>
          <a:xfrm>
            <a:off x="3995928" y="3648456"/>
            <a:ext cx="-384048" cy="0"/>
          </a:xfrm>
          <a:prstGeom prst="line">
            <a:avLst/>
          </a:prstGeom>
          <a:noFill/>
          <a:ln w="15875">
            <a:solidFill>
              <a:srgbClr val="FF4D8D"/>
            </a:solidFill>
            <a:prstDash val="solid"/>
          </a:ln>
        </p:spPr>
      </p:sp>
      <p:sp>
        <p:nvSpPr>
          <p:cNvPr id="20" name="Text 18"/>
          <p:cNvSpPr/>
          <p:nvPr/>
        </p:nvSpPr>
        <p:spPr>
          <a:xfrm>
            <a:off x="868680" y="4206240"/>
            <a:ext cx="4800600" cy="868680"/>
          </a:xfrm>
          <a:prstGeom prst="rect">
            <a:avLst/>
          </a:prstGeom>
          <a:noFill/>
          <a:ln/>
        </p:spPr>
        <p:txBody>
          <a:bodyPr wrap="square" lIns="0" tIns="0" rIns="0" bIns="0" rtlCol="0" anchor="ctr"/>
          <a:lstStyle/>
          <a:p>
            <a:pPr indent="0" marL="0">
              <a:lnSpc>
                <a:spcPts val="1700"/>
              </a:lnSpc>
              <a:buNone/>
            </a:pPr>
            <a:r>
              <a:rPr lang="en-US" sz="1250" dirty="0">
                <a:solidFill>
                  <a:srgbClr val="000000"/>
                </a:solidFill>
                <a:latin typeface="Calibri" pitchFamily="34" charset="0"/>
                <a:ea typeface="Calibri" pitchFamily="34" charset="-122"/>
                <a:cs typeface="Calibri" pitchFamily="34" charset="-120"/>
              </a:rPr>
              <a:t>Overhang under the arm. Needs support, which costs material, time, and a scarred surface where it is removed.</a:t>
            </a:r>
            <a:endParaRPr lang="en-US" sz="1250" dirty="0"/>
          </a:p>
        </p:txBody>
      </p:sp>
      <p:sp>
        <p:nvSpPr>
          <p:cNvPr id="21" name="Shape 19"/>
          <p:cNvSpPr/>
          <p:nvPr/>
        </p:nvSpPr>
        <p:spPr>
          <a:xfrm>
            <a:off x="6286500" y="1851660"/>
            <a:ext cx="5349240" cy="3429000"/>
          </a:xfrm>
          <a:prstGeom prst="rect">
            <a:avLst/>
          </a:prstGeom>
          <a:solidFill>
            <a:srgbClr val="C6F035"/>
          </a:solidFill>
          <a:ln w="6350">
            <a:solidFill>
              <a:srgbClr val="C6F035"/>
            </a:solidFill>
            <a:prstDash val="solid"/>
          </a:ln>
        </p:spPr>
      </p:sp>
      <p:sp>
        <p:nvSpPr>
          <p:cNvPr id="22" name="Shape 20"/>
          <p:cNvSpPr/>
          <p:nvPr/>
        </p:nvSpPr>
        <p:spPr>
          <a:xfrm>
            <a:off x="6217920" y="1783080"/>
            <a:ext cx="5349240" cy="3429000"/>
          </a:xfrm>
          <a:prstGeom prst="rect">
            <a:avLst/>
          </a:prstGeom>
          <a:solidFill>
            <a:srgbClr val="FFFDF7"/>
          </a:solidFill>
          <a:ln w="34925">
            <a:solidFill>
              <a:srgbClr val="000000"/>
            </a:solidFill>
            <a:prstDash val="solid"/>
          </a:ln>
        </p:spPr>
      </p:sp>
      <p:sp>
        <p:nvSpPr>
          <p:cNvPr id="23" name="Shape 21"/>
          <p:cNvSpPr/>
          <p:nvPr/>
        </p:nvSpPr>
        <p:spPr>
          <a:xfrm>
            <a:off x="6217920" y="1783080"/>
            <a:ext cx="5349240" cy="530352"/>
          </a:xfrm>
          <a:prstGeom prst="rect">
            <a:avLst/>
          </a:prstGeom>
          <a:solidFill>
            <a:srgbClr val="C6F035"/>
          </a:solidFill>
          <a:ln w="34925">
            <a:solidFill>
              <a:srgbClr val="000000"/>
            </a:solidFill>
            <a:prstDash val="solid"/>
          </a:ln>
        </p:spPr>
      </p:sp>
      <p:sp>
        <p:nvSpPr>
          <p:cNvPr id="24" name="Text 22"/>
          <p:cNvSpPr/>
          <p:nvPr/>
        </p:nvSpPr>
        <p:spPr>
          <a:xfrm>
            <a:off x="6492240" y="1892808"/>
            <a:ext cx="4800600" cy="329184"/>
          </a:xfrm>
          <a:prstGeom prst="rect">
            <a:avLst/>
          </a:prstGeom>
          <a:noFill/>
          <a:ln/>
        </p:spPr>
        <p:txBody>
          <a:bodyPr wrap="square" lIns="0" tIns="0" rIns="0" bIns="0" rtlCol="0" anchor="ctr"/>
          <a:lstStyle/>
          <a:p>
            <a:pPr indent="0" marL="0">
              <a:buNone/>
            </a:pPr>
            <a:r>
              <a:rPr lang="en-US" sz="1300" b="1" spc="60" kern="0" dirty="0">
                <a:solidFill>
                  <a:srgbClr val="000000"/>
                </a:solidFill>
                <a:latin typeface="Arial" pitchFamily="34" charset="0"/>
                <a:ea typeface="Arial" pitchFamily="34" charset="-122"/>
                <a:cs typeface="Arial" pitchFamily="34" charset="-120"/>
              </a:rPr>
              <a:t>ROTATED</a:t>
            </a:r>
            <a:endParaRPr lang="en-US" sz="1300" dirty="0"/>
          </a:p>
        </p:txBody>
      </p:sp>
      <p:sp>
        <p:nvSpPr>
          <p:cNvPr id="25" name="Shape 23"/>
          <p:cNvSpPr/>
          <p:nvPr/>
        </p:nvSpPr>
        <p:spPr>
          <a:xfrm>
            <a:off x="6492240" y="2468880"/>
            <a:ext cx="4800600" cy="1600200"/>
          </a:xfrm>
          <a:prstGeom prst="rect">
            <a:avLst/>
          </a:prstGeom>
          <a:solidFill>
            <a:srgbClr val="F4F4EE"/>
          </a:solidFill>
          <a:ln w="19050">
            <a:solidFill>
              <a:srgbClr val="C9C9C0"/>
            </a:solidFill>
            <a:prstDash val="solid"/>
          </a:ln>
        </p:spPr>
      </p:sp>
      <p:sp>
        <p:nvSpPr>
          <p:cNvPr id="26" name="Shape 24"/>
          <p:cNvSpPr/>
          <p:nvPr/>
        </p:nvSpPr>
        <p:spPr>
          <a:xfrm>
            <a:off x="6629400" y="3959352"/>
            <a:ext cx="4526280" cy="91440"/>
          </a:xfrm>
          <a:prstGeom prst="rect">
            <a:avLst/>
          </a:prstGeom>
          <a:solidFill>
            <a:srgbClr val="000000"/>
          </a:solidFill>
          <a:ln/>
        </p:spPr>
      </p:sp>
      <p:sp>
        <p:nvSpPr>
          <p:cNvPr id="27" name="Shape 25"/>
          <p:cNvSpPr/>
          <p:nvPr/>
        </p:nvSpPr>
        <p:spPr>
          <a:xfrm>
            <a:off x="7863840" y="3575304"/>
            <a:ext cx="1691640" cy="384048"/>
          </a:xfrm>
          <a:prstGeom prst="rect">
            <a:avLst/>
          </a:prstGeom>
          <a:solidFill>
            <a:srgbClr val="FFFDF7"/>
          </a:solidFill>
          <a:ln w="28575">
            <a:solidFill>
              <a:srgbClr val="000000"/>
            </a:solidFill>
            <a:prstDash val="solid"/>
          </a:ln>
        </p:spPr>
      </p:sp>
      <p:sp>
        <p:nvSpPr>
          <p:cNvPr id="28" name="Shape 26"/>
          <p:cNvSpPr/>
          <p:nvPr/>
        </p:nvSpPr>
        <p:spPr>
          <a:xfrm>
            <a:off x="7863840" y="2971800"/>
            <a:ext cx="502920" cy="603504"/>
          </a:xfrm>
          <a:prstGeom prst="rect">
            <a:avLst/>
          </a:prstGeom>
          <a:solidFill>
            <a:srgbClr val="FFFDF7"/>
          </a:solidFill>
          <a:ln w="28575">
            <a:solidFill>
              <a:srgbClr val="000000"/>
            </a:solidFill>
            <a:prstDash val="solid"/>
          </a:ln>
        </p:spPr>
      </p:sp>
      <p:sp>
        <p:nvSpPr>
          <p:cNvPr id="29" name="Text 27"/>
          <p:cNvSpPr/>
          <p:nvPr/>
        </p:nvSpPr>
        <p:spPr>
          <a:xfrm>
            <a:off x="6492240" y="4206240"/>
            <a:ext cx="4800600" cy="868680"/>
          </a:xfrm>
          <a:prstGeom prst="rect">
            <a:avLst/>
          </a:prstGeom>
          <a:noFill/>
          <a:ln/>
        </p:spPr>
        <p:txBody>
          <a:bodyPr wrap="square" lIns="0" tIns="0" rIns="0" bIns="0" rtlCol="0" anchor="ctr"/>
          <a:lstStyle/>
          <a:p>
            <a:pPr indent="0" marL="0">
              <a:lnSpc>
                <a:spcPts val="1700"/>
              </a:lnSpc>
              <a:buNone/>
            </a:pPr>
            <a:r>
              <a:rPr lang="en-US" sz="1250" dirty="0">
                <a:solidFill>
                  <a:srgbClr val="000000"/>
                </a:solidFill>
                <a:latin typeface="Calibri" pitchFamily="34" charset="0"/>
                <a:ea typeface="Calibri" pitchFamily="34" charset="-122"/>
                <a:cs typeface="Calibri" pitchFamily="34" charset="-120"/>
              </a:rPr>
              <a:t>The same arm now sits on the bed. No support, faster, cleaner face — and stronger, because the load is not across a layer line.</a:t>
            </a:r>
            <a:endParaRPr lang="en-US" sz="1250" dirty="0"/>
          </a:p>
        </p:txBody>
      </p:sp>
      <p:sp>
        <p:nvSpPr>
          <p:cNvPr id="30" name="Shape 28"/>
          <p:cNvSpPr/>
          <p:nvPr/>
        </p:nvSpPr>
        <p:spPr>
          <a:xfrm>
            <a:off x="662940" y="5509260"/>
            <a:ext cx="10972800" cy="713232"/>
          </a:xfrm>
          <a:prstGeom prst="rect">
            <a:avLst/>
          </a:prstGeom>
          <a:solidFill>
            <a:srgbClr val="00D9E1"/>
          </a:solidFill>
          <a:ln w="6350">
            <a:solidFill>
              <a:srgbClr val="00D9E1"/>
            </a:solidFill>
            <a:prstDash val="solid"/>
          </a:ln>
        </p:spPr>
      </p:sp>
      <p:sp>
        <p:nvSpPr>
          <p:cNvPr id="31" name="Shape 29"/>
          <p:cNvSpPr/>
          <p:nvPr/>
        </p:nvSpPr>
        <p:spPr>
          <a:xfrm>
            <a:off x="594360" y="5440680"/>
            <a:ext cx="10972800" cy="713232"/>
          </a:xfrm>
          <a:prstGeom prst="rect">
            <a:avLst/>
          </a:prstGeom>
          <a:solidFill>
            <a:srgbClr val="FFE500"/>
          </a:solidFill>
          <a:ln w="34925">
            <a:solidFill>
              <a:srgbClr val="000000"/>
            </a:solidFill>
            <a:prstDash val="solid"/>
          </a:ln>
        </p:spPr>
      </p:sp>
      <p:sp>
        <p:nvSpPr>
          <p:cNvPr id="32" name="Text 30"/>
          <p:cNvSpPr/>
          <p:nvPr/>
        </p:nvSpPr>
        <p:spPr>
          <a:xfrm>
            <a:off x="914400" y="5614416"/>
            <a:ext cx="10515600" cy="384048"/>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NO SUPPORTS ARE PERMITTED ON THE 0.1 PRINT. IF IT CANNOT PRINT UNSUPPORTED IN ANY ORIENTATION, CHANGE THE GEOMETRY.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000000"/>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000000"/>
                </a:solidFill>
                <a:latin typeface="Arial" pitchFamily="34" charset="0"/>
                <a:ea typeface="Arial" pitchFamily="34" charset="-122"/>
                <a:cs typeface="Arial" pitchFamily="34" charset="-120"/>
              </a:rPr>
              <a:t>WHAT THE SLICER DOES</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6B6B6B"/>
                </a:solidFill>
                <a:latin typeface="Calibri" pitchFamily="34" charset="0"/>
                <a:ea typeface="Calibri" pitchFamily="34" charset="-122"/>
                <a:cs typeface="Calibri" pitchFamily="34" charset="-120"/>
              </a:rPr>
              <a:t>Turns a solid into a list of moves. This is the same idea as Module 2.</a:t>
            </a:r>
            <a:endParaRPr lang="en-US" sz="1350" dirty="0"/>
          </a:p>
        </p:txBody>
      </p:sp>
      <p:sp>
        <p:nvSpPr>
          <p:cNvPr id="5" name="Shape 3"/>
          <p:cNvSpPr/>
          <p:nvPr/>
        </p:nvSpPr>
        <p:spPr>
          <a:xfrm>
            <a:off x="662940" y="1760220"/>
            <a:ext cx="731520" cy="731520"/>
          </a:xfrm>
          <a:prstGeom prst="rect">
            <a:avLst/>
          </a:prstGeom>
          <a:solidFill>
            <a:srgbClr val="000000"/>
          </a:solidFill>
          <a:ln w="6350">
            <a:solidFill>
              <a:srgbClr val="000000"/>
            </a:solidFill>
            <a:prstDash val="solid"/>
          </a:ln>
        </p:spPr>
      </p:sp>
      <p:sp>
        <p:nvSpPr>
          <p:cNvPr id="6" name="Shape 4"/>
          <p:cNvSpPr/>
          <p:nvPr/>
        </p:nvSpPr>
        <p:spPr>
          <a:xfrm>
            <a:off x="594360" y="1691640"/>
            <a:ext cx="731520" cy="731520"/>
          </a:xfrm>
          <a:prstGeom prst="rect">
            <a:avLst/>
          </a:prstGeom>
          <a:solidFill>
            <a:srgbClr val="00D9E1"/>
          </a:solidFill>
          <a:ln w="34925">
            <a:solidFill>
              <a:srgbClr val="000000"/>
            </a:solidFill>
            <a:prstDash val="solid"/>
          </a:ln>
        </p:spPr>
      </p:sp>
      <p:sp>
        <p:nvSpPr>
          <p:cNvPr id="7" name="Text 5"/>
          <p:cNvSpPr/>
          <p:nvPr/>
        </p:nvSpPr>
        <p:spPr>
          <a:xfrm>
            <a:off x="594360" y="1892808"/>
            <a:ext cx="731520" cy="347472"/>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01</a:t>
            </a:r>
            <a:endParaRPr lang="en-US" sz="1600" dirty="0"/>
          </a:p>
        </p:txBody>
      </p:sp>
      <p:sp>
        <p:nvSpPr>
          <p:cNvPr id="8" name="Shape 6"/>
          <p:cNvSpPr/>
          <p:nvPr/>
        </p:nvSpPr>
        <p:spPr>
          <a:xfrm>
            <a:off x="1668780" y="1760220"/>
            <a:ext cx="6766560" cy="731520"/>
          </a:xfrm>
          <a:prstGeom prst="rect">
            <a:avLst/>
          </a:prstGeom>
          <a:solidFill>
            <a:srgbClr val="000000"/>
          </a:solidFill>
          <a:ln w="6350">
            <a:solidFill>
              <a:srgbClr val="000000"/>
            </a:solidFill>
            <a:prstDash val="solid"/>
          </a:ln>
        </p:spPr>
      </p:sp>
      <p:sp>
        <p:nvSpPr>
          <p:cNvPr id="9" name="Shape 7"/>
          <p:cNvSpPr/>
          <p:nvPr/>
        </p:nvSpPr>
        <p:spPr>
          <a:xfrm>
            <a:off x="1600200" y="1691640"/>
            <a:ext cx="6766560" cy="731520"/>
          </a:xfrm>
          <a:prstGeom prst="rect">
            <a:avLst/>
          </a:prstGeom>
          <a:solidFill>
            <a:srgbClr val="FFFDF7"/>
          </a:solidFill>
          <a:ln w="34925">
            <a:solidFill>
              <a:srgbClr val="000000"/>
            </a:solidFill>
            <a:prstDash val="solid"/>
          </a:ln>
        </p:spPr>
      </p:sp>
      <p:sp>
        <p:nvSpPr>
          <p:cNvPr id="10" name="Text 8"/>
          <p:cNvSpPr/>
          <p:nvPr/>
        </p:nvSpPr>
        <p:spPr>
          <a:xfrm>
            <a:off x="1874520" y="1783080"/>
            <a:ext cx="6309360" cy="292608"/>
          </a:xfrm>
          <a:prstGeom prst="rect">
            <a:avLst/>
          </a:prstGeom>
          <a:noFill/>
          <a:ln/>
        </p:spPr>
        <p:txBody>
          <a:bodyPr wrap="square" lIns="0" tIns="0" rIns="0" bIns="0" rtlCol="0" anchor="ctr"/>
          <a:lstStyle/>
          <a:p>
            <a:pPr indent="0" marL="0">
              <a:buNone/>
            </a:pPr>
            <a:r>
              <a:rPr lang="en-US" sz="1250" b="1" spc="30" kern="0" dirty="0">
                <a:solidFill>
                  <a:srgbClr val="000000"/>
                </a:solidFill>
                <a:latin typeface="Arial" pitchFamily="34" charset="0"/>
                <a:ea typeface="Arial" pitchFamily="34" charset="-122"/>
                <a:cs typeface="Arial" pitchFamily="34" charset="-120"/>
              </a:rPr>
              <a:t>CUT INTO LAYERS</a:t>
            </a:r>
            <a:endParaRPr lang="en-US" sz="1250" dirty="0"/>
          </a:p>
        </p:txBody>
      </p:sp>
      <p:sp>
        <p:nvSpPr>
          <p:cNvPr id="11" name="Text 9"/>
          <p:cNvSpPr/>
          <p:nvPr/>
        </p:nvSpPr>
        <p:spPr>
          <a:xfrm>
            <a:off x="1874520" y="2075688"/>
            <a:ext cx="6309360" cy="292608"/>
          </a:xfrm>
          <a:prstGeom prst="rect">
            <a:avLst/>
          </a:prstGeom>
          <a:noFill/>
          <a:ln/>
        </p:spPr>
        <p:txBody>
          <a:bodyPr wrap="square" lIns="0" tIns="0" rIns="0" bIns="0" rtlCol="0" anchor="ctr"/>
          <a:lstStyle/>
          <a:p>
            <a:pPr indent="0" marL="0">
              <a:buNone/>
            </a:pPr>
            <a:r>
              <a:rPr lang="en-US" sz="1200" dirty="0">
                <a:solidFill>
                  <a:srgbClr val="6B6B6B"/>
                </a:solidFill>
                <a:latin typeface="Calibri" pitchFamily="34" charset="0"/>
                <a:ea typeface="Calibri" pitchFamily="34" charset="-122"/>
                <a:cs typeface="Calibri" pitchFamily="34" charset="-120"/>
              </a:rPr>
              <a:t>The solid is intersected by a stack of horizontal planes.</a:t>
            </a:r>
            <a:endParaRPr lang="en-US" sz="1200" dirty="0"/>
          </a:p>
        </p:txBody>
      </p:sp>
      <p:sp>
        <p:nvSpPr>
          <p:cNvPr id="12" name="Shape 10"/>
          <p:cNvSpPr/>
          <p:nvPr/>
        </p:nvSpPr>
        <p:spPr>
          <a:xfrm>
            <a:off x="662940" y="2628900"/>
            <a:ext cx="731520" cy="731520"/>
          </a:xfrm>
          <a:prstGeom prst="rect">
            <a:avLst/>
          </a:prstGeom>
          <a:solidFill>
            <a:srgbClr val="000000"/>
          </a:solidFill>
          <a:ln w="6350">
            <a:solidFill>
              <a:srgbClr val="000000"/>
            </a:solidFill>
            <a:prstDash val="solid"/>
          </a:ln>
        </p:spPr>
      </p:sp>
      <p:sp>
        <p:nvSpPr>
          <p:cNvPr id="13" name="Shape 11"/>
          <p:cNvSpPr/>
          <p:nvPr/>
        </p:nvSpPr>
        <p:spPr>
          <a:xfrm>
            <a:off x="594360" y="2560320"/>
            <a:ext cx="731520" cy="731520"/>
          </a:xfrm>
          <a:prstGeom prst="rect">
            <a:avLst/>
          </a:prstGeom>
          <a:solidFill>
            <a:srgbClr val="C6F035"/>
          </a:solidFill>
          <a:ln w="34925">
            <a:solidFill>
              <a:srgbClr val="000000"/>
            </a:solidFill>
            <a:prstDash val="solid"/>
          </a:ln>
        </p:spPr>
      </p:sp>
      <p:sp>
        <p:nvSpPr>
          <p:cNvPr id="14" name="Text 12"/>
          <p:cNvSpPr/>
          <p:nvPr/>
        </p:nvSpPr>
        <p:spPr>
          <a:xfrm>
            <a:off x="594360" y="2761488"/>
            <a:ext cx="731520" cy="347472"/>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02</a:t>
            </a:r>
            <a:endParaRPr lang="en-US" sz="1600" dirty="0"/>
          </a:p>
        </p:txBody>
      </p:sp>
      <p:sp>
        <p:nvSpPr>
          <p:cNvPr id="15" name="Shape 13"/>
          <p:cNvSpPr/>
          <p:nvPr/>
        </p:nvSpPr>
        <p:spPr>
          <a:xfrm>
            <a:off x="1668780" y="2628900"/>
            <a:ext cx="6766560" cy="731520"/>
          </a:xfrm>
          <a:prstGeom prst="rect">
            <a:avLst/>
          </a:prstGeom>
          <a:solidFill>
            <a:srgbClr val="000000"/>
          </a:solidFill>
          <a:ln w="6350">
            <a:solidFill>
              <a:srgbClr val="000000"/>
            </a:solidFill>
            <a:prstDash val="solid"/>
          </a:ln>
        </p:spPr>
      </p:sp>
      <p:sp>
        <p:nvSpPr>
          <p:cNvPr id="16" name="Shape 14"/>
          <p:cNvSpPr/>
          <p:nvPr/>
        </p:nvSpPr>
        <p:spPr>
          <a:xfrm>
            <a:off x="1600200" y="2560320"/>
            <a:ext cx="6766560" cy="731520"/>
          </a:xfrm>
          <a:prstGeom prst="rect">
            <a:avLst/>
          </a:prstGeom>
          <a:solidFill>
            <a:srgbClr val="FFFDF7"/>
          </a:solidFill>
          <a:ln w="34925">
            <a:solidFill>
              <a:srgbClr val="000000"/>
            </a:solidFill>
            <a:prstDash val="solid"/>
          </a:ln>
        </p:spPr>
      </p:sp>
      <p:sp>
        <p:nvSpPr>
          <p:cNvPr id="17" name="Text 15"/>
          <p:cNvSpPr/>
          <p:nvPr/>
        </p:nvSpPr>
        <p:spPr>
          <a:xfrm>
            <a:off x="1874520" y="2651760"/>
            <a:ext cx="6309360" cy="292608"/>
          </a:xfrm>
          <a:prstGeom prst="rect">
            <a:avLst/>
          </a:prstGeom>
          <a:noFill/>
          <a:ln/>
        </p:spPr>
        <p:txBody>
          <a:bodyPr wrap="square" lIns="0" tIns="0" rIns="0" bIns="0" rtlCol="0" anchor="ctr"/>
          <a:lstStyle/>
          <a:p>
            <a:pPr indent="0" marL="0">
              <a:buNone/>
            </a:pPr>
            <a:r>
              <a:rPr lang="en-US" sz="1250" b="1" spc="30" kern="0" dirty="0">
                <a:solidFill>
                  <a:srgbClr val="000000"/>
                </a:solidFill>
                <a:latin typeface="Arial" pitchFamily="34" charset="0"/>
                <a:ea typeface="Arial" pitchFamily="34" charset="-122"/>
                <a:cs typeface="Arial" pitchFamily="34" charset="-120"/>
              </a:rPr>
              <a:t>OUTLINE EACH LAYER</a:t>
            </a:r>
            <a:endParaRPr lang="en-US" sz="1250" dirty="0"/>
          </a:p>
        </p:txBody>
      </p:sp>
      <p:sp>
        <p:nvSpPr>
          <p:cNvPr id="18" name="Text 16"/>
          <p:cNvSpPr/>
          <p:nvPr/>
        </p:nvSpPr>
        <p:spPr>
          <a:xfrm>
            <a:off x="1874520" y="2944368"/>
            <a:ext cx="6309360" cy="292608"/>
          </a:xfrm>
          <a:prstGeom prst="rect">
            <a:avLst/>
          </a:prstGeom>
          <a:noFill/>
          <a:ln/>
        </p:spPr>
        <p:txBody>
          <a:bodyPr wrap="square" lIns="0" tIns="0" rIns="0" bIns="0" rtlCol="0" anchor="ctr"/>
          <a:lstStyle/>
          <a:p>
            <a:pPr indent="0" marL="0">
              <a:buNone/>
            </a:pPr>
            <a:r>
              <a:rPr lang="en-US" sz="1200" dirty="0">
                <a:solidFill>
                  <a:srgbClr val="6B6B6B"/>
                </a:solidFill>
                <a:latin typeface="Calibri" pitchFamily="34" charset="0"/>
                <a:ea typeface="Calibri" pitchFamily="34" charset="-122"/>
                <a:cs typeface="Calibri" pitchFamily="34" charset="-120"/>
              </a:rPr>
              <a:t>Each intersection becomes a closed curve — the perimeter.</a:t>
            </a:r>
            <a:endParaRPr lang="en-US" sz="1200" dirty="0"/>
          </a:p>
        </p:txBody>
      </p:sp>
      <p:sp>
        <p:nvSpPr>
          <p:cNvPr id="19" name="Shape 17"/>
          <p:cNvSpPr/>
          <p:nvPr/>
        </p:nvSpPr>
        <p:spPr>
          <a:xfrm>
            <a:off x="662940" y="3497580"/>
            <a:ext cx="731520" cy="731520"/>
          </a:xfrm>
          <a:prstGeom prst="rect">
            <a:avLst/>
          </a:prstGeom>
          <a:solidFill>
            <a:srgbClr val="000000"/>
          </a:solidFill>
          <a:ln w="6350">
            <a:solidFill>
              <a:srgbClr val="000000"/>
            </a:solidFill>
            <a:prstDash val="solid"/>
          </a:ln>
        </p:spPr>
      </p:sp>
      <p:sp>
        <p:nvSpPr>
          <p:cNvPr id="20" name="Shape 18"/>
          <p:cNvSpPr/>
          <p:nvPr/>
        </p:nvSpPr>
        <p:spPr>
          <a:xfrm>
            <a:off x="594360" y="3429000"/>
            <a:ext cx="731520" cy="731520"/>
          </a:xfrm>
          <a:prstGeom prst="rect">
            <a:avLst/>
          </a:prstGeom>
          <a:solidFill>
            <a:srgbClr val="FFE500"/>
          </a:solidFill>
          <a:ln w="34925">
            <a:solidFill>
              <a:srgbClr val="000000"/>
            </a:solidFill>
            <a:prstDash val="solid"/>
          </a:ln>
        </p:spPr>
      </p:sp>
      <p:sp>
        <p:nvSpPr>
          <p:cNvPr id="21" name="Text 19"/>
          <p:cNvSpPr/>
          <p:nvPr/>
        </p:nvSpPr>
        <p:spPr>
          <a:xfrm>
            <a:off x="594360" y="3630168"/>
            <a:ext cx="731520" cy="347472"/>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03</a:t>
            </a:r>
            <a:endParaRPr lang="en-US" sz="1600" dirty="0"/>
          </a:p>
        </p:txBody>
      </p:sp>
      <p:sp>
        <p:nvSpPr>
          <p:cNvPr id="22" name="Shape 20"/>
          <p:cNvSpPr/>
          <p:nvPr/>
        </p:nvSpPr>
        <p:spPr>
          <a:xfrm>
            <a:off x="1668780" y="3497580"/>
            <a:ext cx="6766560" cy="731520"/>
          </a:xfrm>
          <a:prstGeom prst="rect">
            <a:avLst/>
          </a:prstGeom>
          <a:solidFill>
            <a:srgbClr val="000000"/>
          </a:solidFill>
          <a:ln w="6350">
            <a:solidFill>
              <a:srgbClr val="000000"/>
            </a:solidFill>
            <a:prstDash val="solid"/>
          </a:ln>
        </p:spPr>
      </p:sp>
      <p:sp>
        <p:nvSpPr>
          <p:cNvPr id="23" name="Shape 21"/>
          <p:cNvSpPr/>
          <p:nvPr/>
        </p:nvSpPr>
        <p:spPr>
          <a:xfrm>
            <a:off x="1600200" y="3429000"/>
            <a:ext cx="6766560" cy="731520"/>
          </a:xfrm>
          <a:prstGeom prst="rect">
            <a:avLst/>
          </a:prstGeom>
          <a:solidFill>
            <a:srgbClr val="FFFDF7"/>
          </a:solidFill>
          <a:ln w="34925">
            <a:solidFill>
              <a:srgbClr val="000000"/>
            </a:solidFill>
            <a:prstDash val="solid"/>
          </a:ln>
        </p:spPr>
      </p:sp>
      <p:sp>
        <p:nvSpPr>
          <p:cNvPr id="24" name="Text 22"/>
          <p:cNvSpPr/>
          <p:nvPr/>
        </p:nvSpPr>
        <p:spPr>
          <a:xfrm>
            <a:off x="1874520" y="3520440"/>
            <a:ext cx="6309360" cy="292608"/>
          </a:xfrm>
          <a:prstGeom prst="rect">
            <a:avLst/>
          </a:prstGeom>
          <a:noFill/>
          <a:ln/>
        </p:spPr>
        <p:txBody>
          <a:bodyPr wrap="square" lIns="0" tIns="0" rIns="0" bIns="0" rtlCol="0" anchor="ctr"/>
          <a:lstStyle/>
          <a:p>
            <a:pPr indent="0" marL="0">
              <a:buNone/>
            </a:pPr>
            <a:r>
              <a:rPr lang="en-US" sz="1250" b="1" spc="30" kern="0" dirty="0">
                <a:solidFill>
                  <a:srgbClr val="000000"/>
                </a:solidFill>
                <a:latin typeface="Arial" pitchFamily="34" charset="0"/>
                <a:ea typeface="Arial" pitchFamily="34" charset="-122"/>
                <a:cs typeface="Arial" pitchFamily="34" charset="-120"/>
              </a:rPr>
              <a:t>FILL THE INSIDE</a:t>
            </a:r>
            <a:endParaRPr lang="en-US" sz="1250" dirty="0"/>
          </a:p>
        </p:txBody>
      </p:sp>
      <p:sp>
        <p:nvSpPr>
          <p:cNvPr id="25" name="Text 23"/>
          <p:cNvSpPr/>
          <p:nvPr/>
        </p:nvSpPr>
        <p:spPr>
          <a:xfrm>
            <a:off x="1874520" y="3813048"/>
            <a:ext cx="6309360" cy="292608"/>
          </a:xfrm>
          <a:prstGeom prst="rect">
            <a:avLst/>
          </a:prstGeom>
          <a:noFill/>
          <a:ln/>
        </p:spPr>
        <p:txBody>
          <a:bodyPr wrap="square" lIns="0" tIns="0" rIns="0" bIns="0" rtlCol="0" anchor="ctr"/>
          <a:lstStyle/>
          <a:p>
            <a:pPr indent="0" marL="0">
              <a:buNone/>
            </a:pPr>
            <a:r>
              <a:rPr lang="en-US" sz="1200" dirty="0">
                <a:solidFill>
                  <a:srgbClr val="6B6B6B"/>
                </a:solidFill>
                <a:latin typeface="Calibri" pitchFamily="34" charset="0"/>
                <a:ea typeface="Calibri" pitchFamily="34" charset="-122"/>
                <a:cs typeface="Calibri" pitchFamily="34" charset="-120"/>
              </a:rPr>
              <a:t>Infill pattern and density. Usually 10–20%, not solid.</a:t>
            </a:r>
            <a:endParaRPr lang="en-US" sz="1200" dirty="0"/>
          </a:p>
        </p:txBody>
      </p:sp>
      <p:sp>
        <p:nvSpPr>
          <p:cNvPr id="26" name="Shape 24"/>
          <p:cNvSpPr/>
          <p:nvPr/>
        </p:nvSpPr>
        <p:spPr>
          <a:xfrm>
            <a:off x="662940" y="4366260"/>
            <a:ext cx="731520" cy="731520"/>
          </a:xfrm>
          <a:prstGeom prst="rect">
            <a:avLst/>
          </a:prstGeom>
          <a:solidFill>
            <a:srgbClr val="000000"/>
          </a:solidFill>
          <a:ln w="6350">
            <a:solidFill>
              <a:srgbClr val="000000"/>
            </a:solidFill>
            <a:prstDash val="solid"/>
          </a:ln>
        </p:spPr>
      </p:sp>
      <p:sp>
        <p:nvSpPr>
          <p:cNvPr id="27" name="Shape 25"/>
          <p:cNvSpPr/>
          <p:nvPr/>
        </p:nvSpPr>
        <p:spPr>
          <a:xfrm>
            <a:off x="594360" y="4297680"/>
            <a:ext cx="731520" cy="731520"/>
          </a:xfrm>
          <a:prstGeom prst="rect">
            <a:avLst/>
          </a:prstGeom>
          <a:solidFill>
            <a:srgbClr val="FF4D8D"/>
          </a:solidFill>
          <a:ln w="34925">
            <a:solidFill>
              <a:srgbClr val="000000"/>
            </a:solidFill>
            <a:prstDash val="solid"/>
          </a:ln>
        </p:spPr>
      </p:sp>
      <p:sp>
        <p:nvSpPr>
          <p:cNvPr id="28" name="Text 26"/>
          <p:cNvSpPr/>
          <p:nvPr/>
        </p:nvSpPr>
        <p:spPr>
          <a:xfrm>
            <a:off x="594360" y="4498848"/>
            <a:ext cx="731520" cy="347472"/>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04</a:t>
            </a:r>
            <a:endParaRPr lang="en-US" sz="1600" dirty="0"/>
          </a:p>
        </p:txBody>
      </p:sp>
      <p:sp>
        <p:nvSpPr>
          <p:cNvPr id="29" name="Shape 27"/>
          <p:cNvSpPr/>
          <p:nvPr/>
        </p:nvSpPr>
        <p:spPr>
          <a:xfrm>
            <a:off x="1668780" y="4366260"/>
            <a:ext cx="6766560" cy="731520"/>
          </a:xfrm>
          <a:prstGeom prst="rect">
            <a:avLst/>
          </a:prstGeom>
          <a:solidFill>
            <a:srgbClr val="000000"/>
          </a:solidFill>
          <a:ln w="6350">
            <a:solidFill>
              <a:srgbClr val="000000"/>
            </a:solidFill>
            <a:prstDash val="solid"/>
          </a:ln>
        </p:spPr>
      </p:sp>
      <p:sp>
        <p:nvSpPr>
          <p:cNvPr id="30" name="Shape 28"/>
          <p:cNvSpPr/>
          <p:nvPr/>
        </p:nvSpPr>
        <p:spPr>
          <a:xfrm>
            <a:off x="1600200" y="4297680"/>
            <a:ext cx="6766560" cy="731520"/>
          </a:xfrm>
          <a:prstGeom prst="rect">
            <a:avLst/>
          </a:prstGeom>
          <a:solidFill>
            <a:srgbClr val="FFFDF7"/>
          </a:solidFill>
          <a:ln w="34925">
            <a:solidFill>
              <a:srgbClr val="000000"/>
            </a:solidFill>
            <a:prstDash val="solid"/>
          </a:ln>
        </p:spPr>
      </p:sp>
      <p:sp>
        <p:nvSpPr>
          <p:cNvPr id="31" name="Text 29"/>
          <p:cNvSpPr/>
          <p:nvPr/>
        </p:nvSpPr>
        <p:spPr>
          <a:xfrm>
            <a:off x="1874520" y="4389120"/>
            <a:ext cx="6309360" cy="292608"/>
          </a:xfrm>
          <a:prstGeom prst="rect">
            <a:avLst/>
          </a:prstGeom>
          <a:noFill/>
          <a:ln/>
        </p:spPr>
        <p:txBody>
          <a:bodyPr wrap="square" lIns="0" tIns="0" rIns="0" bIns="0" rtlCol="0" anchor="ctr"/>
          <a:lstStyle/>
          <a:p>
            <a:pPr indent="0" marL="0">
              <a:buNone/>
            </a:pPr>
            <a:r>
              <a:rPr lang="en-US" sz="1250" b="1" spc="30" kern="0" dirty="0">
                <a:solidFill>
                  <a:srgbClr val="000000"/>
                </a:solidFill>
                <a:latin typeface="Arial" pitchFamily="34" charset="0"/>
                <a:ea typeface="Arial" pitchFamily="34" charset="-122"/>
                <a:cs typeface="Arial" pitchFamily="34" charset="-120"/>
              </a:rPr>
              <a:t>ORDER THE MOVES</a:t>
            </a:r>
            <a:endParaRPr lang="en-US" sz="1250" dirty="0"/>
          </a:p>
        </p:txBody>
      </p:sp>
      <p:sp>
        <p:nvSpPr>
          <p:cNvPr id="32" name="Text 30"/>
          <p:cNvSpPr/>
          <p:nvPr/>
        </p:nvSpPr>
        <p:spPr>
          <a:xfrm>
            <a:off x="1874520" y="4681728"/>
            <a:ext cx="6309360" cy="292608"/>
          </a:xfrm>
          <a:prstGeom prst="rect">
            <a:avLst/>
          </a:prstGeom>
          <a:noFill/>
          <a:ln/>
        </p:spPr>
        <p:txBody>
          <a:bodyPr wrap="square" lIns="0" tIns="0" rIns="0" bIns="0" rtlCol="0" anchor="ctr"/>
          <a:lstStyle/>
          <a:p>
            <a:pPr indent="0" marL="0">
              <a:buNone/>
            </a:pPr>
            <a:r>
              <a:rPr lang="en-US" sz="1200" dirty="0">
                <a:solidFill>
                  <a:srgbClr val="6B6B6B"/>
                </a:solidFill>
                <a:latin typeface="Calibri" pitchFamily="34" charset="0"/>
                <a:ea typeface="Calibri" pitchFamily="34" charset="-122"/>
                <a:cs typeface="Calibri" pitchFamily="34" charset="-120"/>
              </a:rPr>
              <a:t>Perimeters, infill, travel. Written out as G-code.</a:t>
            </a:r>
            <a:endParaRPr lang="en-US" sz="1200" dirty="0"/>
          </a:p>
        </p:txBody>
      </p:sp>
      <p:sp>
        <p:nvSpPr>
          <p:cNvPr id="33" name="Shape 31"/>
          <p:cNvSpPr/>
          <p:nvPr/>
        </p:nvSpPr>
        <p:spPr>
          <a:xfrm>
            <a:off x="8709660" y="1760220"/>
            <a:ext cx="2926080" cy="3337560"/>
          </a:xfrm>
          <a:prstGeom prst="rect">
            <a:avLst/>
          </a:prstGeom>
          <a:solidFill>
            <a:srgbClr val="000000"/>
          </a:solidFill>
          <a:ln w="6350">
            <a:solidFill>
              <a:srgbClr val="000000"/>
            </a:solidFill>
            <a:prstDash val="solid"/>
          </a:ln>
        </p:spPr>
      </p:sp>
      <p:sp>
        <p:nvSpPr>
          <p:cNvPr id="34" name="Shape 32"/>
          <p:cNvSpPr/>
          <p:nvPr/>
        </p:nvSpPr>
        <p:spPr>
          <a:xfrm>
            <a:off x="8641080" y="1691640"/>
            <a:ext cx="2926080" cy="3337560"/>
          </a:xfrm>
          <a:prstGeom prst="rect">
            <a:avLst/>
          </a:prstGeom>
          <a:solidFill>
            <a:srgbClr val="C6F035"/>
          </a:solidFill>
          <a:ln w="34925">
            <a:solidFill>
              <a:srgbClr val="000000"/>
            </a:solidFill>
            <a:prstDash val="solid"/>
          </a:ln>
        </p:spPr>
      </p:sp>
      <p:sp>
        <p:nvSpPr>
          <p:cNvPr id="35" name="Text 33"/>
          <p:cNvSpPr/>
          <p:nvPr/>
        </p:nvSpPr>
        <p:spPr>
          <a:xfrm>
            <a:off x="8915400" y="1901952"/>
            <a:ext cx="2423160" cy="310896"/>
          </a:xfrm>
          <a:prstGeom prst="rect">
            <a:avLst/>
          </a:prstGeom>
          <a:noFill/>
          <a:ln/>
        </p:spPr>
        <p:txBody>
          <a:bodyPr wrap="square" lIns="0" tIns="0" rIns="0" bIns="0" rtlCol="0" anchor="ctr"/>
          <a:lstStyle/>
          <a:p>
            <a:pPr indent="0" marL="0">
              <a:buNone/>
            </a:pPr>
            <a:r>
              <a:rPr lang="en-US" sz="1250" b="1" spc="50" kern="0" dirty="0">
                <a:solidFill>
                  <a:srgbClr val="000000"/>
                </a:solidFill>
                <a:latin typeface="Arial" pitchFamily="34" charset="0"/>
                <a:ea typeface="Arial" pitchFamily="34" charset="-122"/>
                <a:cs typeface="Arial" pitchFamily="34" charset="-120"/>
              </a:rPr>
              <a:t>SOUND FAMILIAR?</a:t>
            </a:r>
            <a:endParaRPr lang="en-US" sz="1250" dirty="0"/>
          </a:p>
        </p:txBody>
      </p:sp>
      <p:sp>
        <p:nvSpPr>
          <p:cNvPr id="36" name="Shape 34"/>
          <p:cNvSpPr/>
          <p:nvPr/>
        </p:nvSpPr>
        <p:spPr>
          <a:xfrm>
            <a:off x="8915400" y="2286000"/>
            <a:ext cx="2423160" cy="0"/>
          </a:xfrm>
          <a:prstGeom prst="line">
            <a:avLst/>
          </a:prstGeom>
          <a:noFill/>
          <a:ln w="25400">
            <a:solidFill>
              <a:srgbClr val="000000"/>
            </a:solidFill>
            <a:prstDash val="solid"/>
          </a:ln>
        </p:spPr>
      </p:sp>
      <p:sp>
        <p:nvSpPr>
          <p:cNvPr id="37" name="Text 35"/>
          <p:cNvSpPr/>
          <p:nvPr/>
        </p:nvSpPr>
        <p:spPr>
          <a:xfrm>
            <a:off x="8915400" y="2450592"/>
            <a:ext cx="2423160" cy="2377440"/>
          </a:xfrm>
          <a:prstGeom prst="rect">
            <a:avLst/>
          </a:prstGeom>
          <a:noFill/>
          <a:ln/>
        </p:spPr>
        <p:txBody>
          <a:bodyPr wrap="square" lIns="0" tIns="0" rIns="0" bIns="0" rtlCol="0" anchor="ctr"/>
          <a:lstStyle/>
          <a:p>
            <a:pPr indent="0" marL="0">
              <a:lnSpc>
                <a:spcPts val="1700"/>
              </a:lnSpc>
              <a:buNone/>
            </a:pPr>
            <a:r>
              <a:rPr lang="en-US" sz="1200" dirty="0">
                <a:solidFill>
                  <a:srgbClr val="000000"/>
                </a:solidFill>
                <a:latin typeface="Calibri" pitchFamily="34" charset="0"/>
                <a:ea typeface="Calibri" pitchFamily="34" charset="-122"/>
                <a:cs typeface="Calibri" pitchFamily="34" charset="-120"/>
              </a:rPr>
              <a:t>Intersect a solid with a stack of planes. Keep the profiles. Order them.</a:t>
            </a:r>
            <a:endParaRPr lang="en-US" sz="1200" dirty="0"/>
          </a:p>
          <a:p>
            <a:pPr indent="0" marL="0">
              <a:lnSpc>
                <a:spcPts val="1700"/>
              </a:lnSpc>
              <a:buNone/>
            </a:pPr>
            <a:endParaRPr lang="en-US" sz="1200" dirty="0"/>
          </a:p>
          <a:p>
            <a:pPr indent="0" marL="0">
              <a:lnSpc>
                <a:spcPts val="1700"/>
              </a:lnSpc>
              <a:buNone/>
            </a:pPr>
            <a:r>
              <a:rPr lang="en-US" sz="1200" dirty="0">
                <a:solidFill>
                  <a:srgbClr val="000000"/>
                </a:solidFill>
                <a:latin typeface="Calibri" pitchFamily="34" charset="0"/>
                <a:ea typeface="Calibri" pitchFamily="34" charset="-122"/>
                <a:cs typeface="Calibri" pitchFamily="34" charset="-120"/>
              </a:rPr>
              <a:t>That is Module 2 — and it is what a slicer has been doing all along.</a:t>
            </a:r>
            <a:endParaRPr lang="en-US" sz="1200" dirty="0"/>
          </a:p>
        </p:txBody>
      </p:sp>
      <p:sp>
        <p:nvSpPr>
          <p:cNvPr id="38" name="Shape 36"/>
          <p:cNvSpPr/>
          <p:nvPr/>
        </p:nvSpPr>
        <p:spPr>
          <a:xfrm>
            <a:off x="662940" y="5326380"/>
            <a:ext cx="10972800" cy="914400"/>
          </a:xfrm>
          <a:prstGeom prst="rect">
            <a:avLst/>
          </a:prstGeom>
          <a:solidFill>
            <a:srgbClr val="000000"/>
          </a:solidFill>
          <a:ln w="6350">
            <a:solidFill>
              <a:srgbClr val="000000"/>
            </a:solidFill>
            <a:prstDash val="solid"/>
          </a:ln>
        </p:spPr>
      </p:sp>
      <p:sp>
        <p:nvSpPr>
          <p:cNvPr id="39" name="Shape 37"/>
          <p:cNvSpPr/>
          <p:nvPr/>
        </p:nvSpPr>
        <p:spPr>
          <a:xfrm>
            <a:off x="594360" y="5257800"/>
            <a:ext cx="10972800" cy="914400"/>
          </a:xfrm>
          <a:prstGeom prst="rect">
            <a:avLst/>
          </a:prstGeom>
          <a:solidFill>
            <a:srgbClr val="FFFDF7"/>
          </a:solidFill>
          <a:ln w="34925">
            <a:solidFill>
              <a:srgbClr val="000000"/>
            </a:solidFill>
            <a:prstDash val="solid"/>
          </a:ln>
        </p:spPr>
      </p:sp>
      <p:sp>
        <p:nvSpPr>
          <p:cNvPr id="40" name="Text 38"/>
          <p:cNvSpPr/>
          <p:nvPr/>
        </p:nvSpPr>
        <p:spPr>
          <a:xfrm>
            <a:off x="914400" y="5468112"/>
            <a:ext cx="10607040" cy="548640"/>
          </a:xfrm>
          <a:prstGeom prst="rect">
            <a:avLst/>
          </a:prstGeom>
          <a:noFill/>
          <a:ln/>
        </p:spPr>
        <p:txBody>
          <a:bodyPr wrap="square" lIns="0" tIns="0" rIns="0" bIns="0" rtlCol="0" anchor="ctr"/>
          <a:lstStyle/>
          <a:p>
            <a:pPr indent="0" marL="0">
              <a:lnSpc>
                <a:spcPts val="1900"/>
              </a:lnSpc>
              <a:buNone/>
            </a:pPr>
            <a:r>
              <a:rPr lang="en-US" sz="1350" dirty="0">
                <a:solidFill>
                  <a:srgbClr val="000000"/>
                </a:solidFill>
                <a:latin typeface="Calibri" pitchFamily="34" charset="0"/>
                <a:ea typeface="Calibri" pitchFamily="34" charset="-122"/>
                <a:cs typeface="Calibri" pitchFamily="34" charset="-120"/>
              </a:rPr>
              <a:t>LIVE NOW — we slice one object together and read the preview: layer count, print time, material, where the supports would go.</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FFFDF7"/>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FFFDF7"/>
                </a:solidFill>
                <a:latin typeface="Arial" pitchFamily="34" charset="0"/>
                <a:ea typeface="Arial" pitchFamily="34" charset="-122"/>
                <a:cs typeface="Arial" pitchFamily="34" charset="-120"/>
              </a:rPr>
              <a:t>FOUR SETTINGS</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B8B8B8"/>
                </a:solidFill>
                <a:latin typeface="Calibri" pitchFamily="34" charset="0"/>
                <a:ea typeface="Calibri" pitchFamily="34" charset="-122"/>
                <a:cs typeface="Calibri" pitchFamily="34" charset="-120"/>
              </a:rPr>
              <a:t>Everything else can stay at default for this print.</a:t>
            </a:r>
            <a:endParaRPr lang="en-US" sz="1350" dirty="0"/>
          </a:p>
        </p:txBody>
      </p:sp>
      <p:sp>
        <p:nvSpPr>
          <p:cNvPr id="5" name="Shape 3"/>
          <p:cNvSpPr/>
          <p:nvPr/>
        </p:nvSpPr>
        <p:spPr>
          <a:xfrm>
            <a:off x="662940" y="1851660"/>
            <a:ext cx="3017520" cy="822960"/>
          </a:xfrm>
          <a:prstGeom prst="rect">
            <a:avLst/>
          </a:prstGeom>
          <a:solidFill>
            <a:srgbClr val="000000"/>
          </a:solidFill>
          <a:ln w="6350">
            <a:solidFill>
              <a:srgbClr val="000000"/>
            </a:solidFill>
            <a:prstDash val="solid"/>
          </a:ln>
        </p:spPr>
      </p:sp>
      <p:sp>
        <p:nvSpPr>
          <p:cNvPr id="6" name="Shape 4"/>
          <p:cNvSpPr/>
          <p:nvPr/>
        </p:nvSpPr>
        <p:spPr>
          <a:xfrm>
            <a:off x="594360" y="1783080"/>
            <a:ext cx="3017520" cy="822960"/>
          </a:xfrm>
          <a:prstGeom prst="rect">
            <a:avLst/>
          </a:prstGeom>
          <a:solidFill>
            <a:srgbClr val="00D9E1"/>
          </a:solidFill>
          <a:ln w="34925">
            <a:solidFill>
              <a:srgbClr val="000000"/>
            </a:solidFill>
            <a:prstDash val="solid"/>
          </a:ln>
        </p:spPr>
      </p:sp>
      <p:sp>
        <p:nvSpPr>
          <p:cNvPr id="7" name="Text 5"/>
          <p:cNvSpPr/>
          <p:nvPr/>
        </p:nvSpPr>
        <p:spPr>
          <a:xfrm>
            <a:off x="822960" y="2029968"/>
            <a:ext cx="2651760" cy="329184"/>
          </a:xfrm>
          <a:prstGeom prst="rect">
            <a:avLst/>
          </a:prstGeom>
          <a:noFill/>
          <a:ln/>
        </p:spPr>
        <p:txBody>
          <a:bodyPr wrap="square" lIns="0" tIns="0" rIns="0" bIns="0" rtlCol="0" anchor="ctr"/>
          <a:lstStyle/>
          <a:p>
            <a:pPr indent="0" marL="0">
              <a:buNone/>
            </a:pPr>
            <a:r>
              <a:rPr lang="en-US" sz="1250" b="1" spc="20" kern="0" dirty="0">
                <a:solidFill>
                  <a:srgbClr val="000000"/>
                </a:solidFill>
                <a:latin typeface="Arial" pitchFamily="34" charset="0"/>
                <a:ea typeface="Arial" pitchFamily="34" charset="-122"/>
                <a:cs typeface="Arial" pitchFamily="34" charset="-120"/>
              </a:rPr>
              <a:t>LAYER HEIGHT</a:t>
            </a:r>
            <a:endParaRPr lang="en-US" sz="1250" dirty="0"/>
          </a:p>
        </p:txBody>
      </p:sp>
      <p:sp>
        <p:nvSpPr>
          <p:cNvPr id="8" name="Shape 6"/>
          <p:cNvSpPr/>
          <p:nvPr/>
        </p:nvSpPr>
        <p:spPr>
          <a:xfrm>
            <a:off x="3954780" y="1851660"/>
            <a:ext cx="1828800" cy="822960"/>
          </a:xfrm>
          <a:prstGeom prst="rect">
            <a:avLst/>
          </a:prstGeom>
          <a:solidFill>
            <a:srgbClr val="000000"/>
          </a:solidFill>
          <a:ln w="6350">
            <a:solidFill>
              <a:srgbClr val="000000"/>
            </a:solidFill>
            <a:prstDash val="solid"/>
          </a:ln>
        </p:spPr>
      </p:sp>
      <p:sp>
        <p:nvSpPr>
          <p:cNvPr id="9" name="Shape 7"/>
          <p:cNvSpPr/>
          <p:nvPr/>
        </p:nvSpPr>
        <p:spPr>
          <a:xfrm>
            <a:off x="3886200" y="1783080"/>
            <a:ext cx="1828800" cy="822960"/>
          </a:xfrm>
          <a:prstGeom prst="rect">
            <a:avLst/>
          </a:prstGeom>
          <a:solidFill>
            <a:srgbClr val="FFFDF7"/>
          </a:solidFill>
          <a:ln w="34925">
            <a:solidFill>
              <a:srgbClr val="000000"/>
            </a:solidFill>
            <a:prstDash val="solid"/>
          </a:ln>
        </p:spPr>
      </p:sp>
      <p:sp>
        <p:nvSpPr>
          <p:cNvPr id="10" name="Text 8"/>
          <p:cNvSpPr/>
          <p:nvPr/>
        </p:nvSpPr>
        <p:spPr>
          <a:xfrm>
            <a:off x="3886200" y="2029968"/>
            <a:ext cx="1828800"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Courier New" pitchFamily="34" charset="0"/>
                <a:ea typeface="Courier New" pitchFamily="34" charset="-122"/>
                <a:cs typeface="Courier New" pitchFamily="34" charset="-120"/>
              </a:rPr>
              <a:t>0.2–0.3 mm</a:t>
            </a:r>
            <a:endParaRPr lang="en-US" sz="1300" dirty="0"/>
          </a:p>
        </p:txBody>
      </p:sp>
      <p:sp>
        <p:nvSpPr>
          <p:cNvPr id="11" name="Text 9"/>
          <p:cNvSpPr/>
          <p:nvPr/>
        </p:nvSpPr>
        <p:spPr>
          <a:xfrm>
            <a:off x="6080760" y="2039112"/>
            <a:ext cx="5394960" cy="365760"/>
          </a:xfrm>
          <a:prstGeom prst="rect">
            <a:avLst/>
          </a:prstGeom>
          <a:noFill/>
          <a:ln/>
        </p:spPr>
        <p:txBody>
          <a:bodyPr wrap="square" lIns="0" tIns="0" rIns="0" bIns="0" rtlCol="0" anchor="ctr"/>
          <a:lstStyle/>
          <a:p>
            <a:pPr indent="0" marL="0">
              <a:buNone/>
            </a:pPr>
            <a:r>
              <a:rPr lang="en-US" sz="1300" dirty="0">
                <a:solidFill>
                  <a:srgbClr val="FFFDF7"/>
                </a:solidFill>
                <a:latin typeface="Calibri" pitchFamily="34" charset="0"/>
                <a:ea typeface="Calibri" pitchFamily="34" charset="-122"/>
                <a:cs typeface="Calibri" pitchFamily="34" charset="-120"/>
              </a:rPr>
              <a:t>Finer looks better and takes proportionally longer. Draft is fine for 0.1.</a:t>
            </a:r>
            <a:endParaRPr lang="en-US" sz="1300" dirty="0"/>
          </a:p>
        </p:txBody>
      </p:sp>
      <p:sp>
        <p:nvSpPr>
          <p:cNvPr id="12" name="Shape 10"/>
          <p:cNvSpPr/>
          <p:nvPr/>
        </p:nvSpPr>
        <p:spPr>
          <a:xfrm>
            <a:off x="662940" y="2894076"/>
            <a:ext cx="3017520" cy="822960"/>
          </a:xfrm>
          <a:prstGeom prst="rect">
            <a:avLst/>
          </a:prstGeom>
          <a:solidFill>
            <a:srgbClr val="000000"/>
          </a:solidFill>
          <a:ln w="6350">
            <a:solidFill>
              <a:srgbClr val="000000"/>
            </a:solidFill>
            <a:prstDash val="solid"/>
          </a:ln>
        </p:spPr>
      </p:sp>
      <p:sp>
        <p:nvSpPr>
          <p:cNvPr id="13" name="Shape 11"/>
          <p:cNvSpPr/>
          <p:nvPr/>
        </p:nvSpPr>
        <p:spPr>
          <a:xfrm>
            <a:off x="594360" y="2825496"/>
            <a:ext cx="3017520" cy="822960"/>
          </a:xfrm>
          <a:prstGeom prst="rect">
            <a:avLst/>
          </a:prstGeom>
          <a:solidFill>
            <a:srgbClr val="C6F035"/>
          </a:solidFill>
          <a:ln w="34925">
            <a:solidFill>
              <a:srgbClr val="000000"/>
            </a:solidFill>
            <a:prstDash val="solid"/>
          </a:ln>
        </p:spPr>
      </p:sp>
      <p:sp>
        <p:nvSpPr>
          <p:cNvPr id="14" name="Text 12"/>
          <p:cNvSpPr/>
          <p:nvPr/>
        </p:nvSpPr>
        <p:spPr>
          <a:xfrm>
            <a:off x="822960" y="3072384"/>
            <a:ext cx="2651760" cy="329184"/>
          </a:xfrm>
          <a:prstGeom prst="rect">
            <a:avLst/>
          </a:prstGeom>
          <a:noFill/>
          <a:ln/>
        </p:spPr>
        <p:txBody>
          <a:bodyPr wrap="square" lIns="0" tIns="0" rIns="0" bIns="0" rtlCol="0" anchor="ctr"/>
          <a:lstStyle/>
          <a:p>
            <a:pPr indent="0" marL="0">
              <a:buNone/>
            </a:pPr>
            <a:r>
              <a:rPr lang="en-US" sz="1250" b="1" spc="20" kern="0" dirty="0">
                <a:solidFill>
                  <a:srgbClr val="000000"/>
                </a:solidFill>
                <a:latin typeface="Arial" pitchFamily="34" charset="0"/>
                <a:ea typeface="Arial" pitchFamily="34" charset="-122"/>
                <a:cs typeface="Arial" pitchFamily="34" charset="-120"/>
              </a:rPr>
              <a:t>INFILL</a:t>
            </a:r>
            <a:endParaRPr lang="en-US" sz="1250" dirty="0"/>
          </a:p>
        </p:txBody>
      </p:sp>
      <p:sp>
        <p:nvSpPr>
          <p:cNvPr id="15" name="Shape 13"/>
          <p:cNvSpPr/>
          <p:nvPr/>
        </p:nvSpPr>
        <p:spPr>
          <a:xfrm>
            <a:off x="3954780" y="2894076"/>
            <a:ext cx="1828800" cy="822960"/>
          </a:xfrm>
          <a:prstGeom prst="rect">
            <a:avLst/>
          </a:prstGeom>
          <a:solidFill>
            <a:srgbClr val="000000"/>
          </a:solidFill>
          <a:ln w="6350">
            <a:solidFill>
              <a:srgbClr val="000000"/>
            </a:solidFill>
            <a:prstDash val="solid"/>
          </a:ln>
        </p:spPr>
      </p:sp>
      <p:sp>
        <p:nvSpPr>
          <p:cNvPr id="16" name="Shape 14"/>
          <p:cNvSpPr/>
          <p:nvPr/>
        </p:nvSpPr>
        <p:spPr>
          <a:xfrm>
            <a:off x="3886200" y="2825496"/>
            <a:ext cx="1828800" cy="822960"/>
          </a:xfrm>
          <a:prstGeom prst="rect">
            <a:avLst/>
          </a:prstGeom>
          <a:solidFill>
            <a:srgbClr val="FFFDF7"/>
          </a:solidFill>
          <a:ln w="34925">
            <a:solidFill>
              <a:srgbClr val="000000"/>
            </a:solidFill>
            <a:prstDash val="solid"/>
          </a:ln>
        </p:spPr>
      </p:sp>
      <p:sp>
        <p:nvSpPr>
          <p:cNvPr id="17" name="Text 15"/>
          <p:cNvSpPr/>
          <p:nvPr/>
        </p:nvSpPr>
        <p:spPr>
          <a:xfrm>
            <a:off x="3886200" y="3072384"/>
            <a:ext cx="1828800"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Courier New" pitchFamily="34" charset="0"/>
                <a:ea typeface="Courier New" pitchFamily="34" charset="-122"/>
                <a:cs typeface="Courier New" pitchFamily="34" charset="-120"/>
              </a:rPr>
              <a:t>10–15%</a:t>
            </a:r>
            <a:endParaRPr lang="en-US" sz="1300" dirty="0"/>
          </a:p>
        </p:txBody>
      </p:sp>
      <p:sp>
        <p:nvSpPr>
          <p:cNvPr id="18" name="Text 16"/>
          <p:cNvSpPr/>
          <p:nvPr/>
        </p:nvSpPr>
        <p:spPr>
          <a:xfrm>
            <a:off x="6080760" y="3081528"/>
            <a:ext cx="5394960" cy="365760"/>
          </a:xfrm>
          <a:prstGeom prst="rect">
            <a:avLst/>
          </a:prstGeom>
          <a:noFill/>
          <a:ln/>
        </p:spPr>
        <p:txBody>
          <a:bodyPr wrap="square" lIns="0" tIns="0" rIns="0" bIns="0" rtlCol="0" anchor="ctr"/>
          <a:lstStyle/>
          <a:p>
            <a:pPr indent="0" marL="0">
              <a:buNone/>
            </a:pPr>
            <a:r>
              <a:rPr lang="en-US" sz="1300" dirty="0">
                <a:solidFill>
                  <a:srgbClr val="FFFDF7"/>
                </a:solidFill>
                <a:latin typeface="Calibri" pitchFamily="34" charset="0"/>
                <a:ea typeface="Calibri" pitchFamily="34" charset="-122"/>
                <a:cs typeface="Calibri" pitchFamily="34" charset="-120"/>
              </a:rPr>
              <a:t>Prints are hollow with a lattice inside. Solid is almost never needed.</a:t>
            </a:r>
            <a:endParaRPr lang="en-US" sz="1300" dirty="0"/>
          </a:p>
        </p:txBody>
      </p:sp>
      <p:sp>
        <p:nvSpPr>
          <p:cNvPr id="19" name="Shape 17"/>
          <p:cNvSpPr/>
          <p:nvPr/>
        </p:nvSpPr>
        <p:spPr>
          <a:xfrm>
            <a:off x="662940" y="3936492"/>
            <a:ext cx="3017520" cy="822960"/>
          </a:xfrm>
          <a:prstGeom prst="rect">
            <a:avLst/>
          </a:prstGeom>
          <a:solidFill>
            <a:srgbClr val="000000"/>
          </a:solidFill>
          <a:ln w="6350">
            <a:solidFill>
              <a:srgbClr val="000000"/>
            </a:solidFill>
            <a:prstDash val="solid"/>
          </a:ln>
        </p:spPr>
      </p:sp>
      <p:sp>
        <p:nvSpPr>
          <p:cNvPr id="20" name="Shape 18"/>
          <p:cNvSpPr/>
          <p:nvPr/>
        </p:nvSpPr>
        <p:spPr>
          <a:xfrm>
            <a:off x="594360" y="3867912"/>
            <a:ext cx="3017520" cy="822960"/>
          </a:xfrm>
          <a:prstGeom prst="rect">
            <a:avLst/>
          </a:prstGeom>
          <a:solidFill>
            <a:srgbClr val="FFE500"/>
          </a:solidFill>
          <a:ln w="34925">
            <a:solidFill>
              <a:srgbClr val="000000"/>
            </a:solidFill>
            <a:prstDash val="solid"/>
          </a:ln>
        </p:spPr>
      </p:sp>
      <p:sp>
        <p:nvSpPr>
          <p:cNvPr id="21" name="Text 19"/>
          <p:cNvSpPr/>
          <p:nvPr/>
        </p:nvSpPr>
        <p:spPr>
          <a:xfrm>
            <a:off x="822960" y="4114800"/>
            <a:ext cx="2651760" cy="329184"/>
          </a:xfrm>
          <a:prstGeom prst="rect">
            <a:avLst/>
          </a:prstGeom>
          <a:noFill/>
          <a:ln/>
        </p:spPr>
        <p:txBody>
          <a:bodyPr wrap="square" lIns="0" tIns="0" rIns="0" bIns="0" rtlCol="0" anchor="ctr"/>
          <a:lstStyle/>
          <a:p>
            <a:pPr indent="0" marL="0">
              <a:buNone/>
            </a:pPr>
            <a:r>
              <a:rPr lang="en-US" sz="1250" b="1" spc="20" kern="0" dirty="0">
                <a:solidFill>
                  <a:srgbClr val="000000"/>
                </a:solidFill>
                <a:latin typeface="Arial" pitchFamily="34" charset="0"/>
                <a:ea typeface="Arial" pitchFamily="34" charset="-122"/>
                <a:cs typeface="Arial" pitchFamily="34" charset="-120"/>
              </a:rPr>
              <a:t>WALLS / PERIMETERS</a:t>
            </a:r>
            <a:endParaRPr lang="en-US" sz="1250" dirty="0"/>
          </a:p>
        </p:txBody>
      </p:sp>
      <p:sp>
        <p:nvSpPr>
          <p:cNvPr id="22" name="Shape 20"/>
          <p:cNvSpPr/>
          <p:nvPr/>
        </p:nvSpPr>
        <p:spPr>
          <a:xfrm>
            <a:off x="3954780" y="3936492"/>
            <a:ext cx="1828800" cy="822960"/>
          </a:xfrm>
          <a:prstGeom prst="rect">
            <a:avLst/>
          </a:prstGeom>
          <a:solidFill>
            <a:srgbClr val="000000"/>
          </a:solidFill>
          <a:ln w="6350">
            <a:solidFill>
              <a:srgbClr val="000000"/>
            </a:solidFill>
            <a:prstDash val="solid"/>
          </a:ln>
        </p:spPr>
      </p:sp>
      <p:sp>
        <p:nvSpPr>
          <p:cNvPr id="23" name="Shape 21"/>
          <p:cNvSpPr/>
          <p:nvPr/>
        </p:nvSpPr>
        <p:spPr>
          <a:xfrm>
            <a:off x="3886200" y="3867912"/>
            <a:ext cx="1828800" cy="822960"/>
          </a:xfrm>
          <a:prstGeom prst="rect">
            <a:avLst/>
          </a:prstGeom>
          <a:solidFill>
            <a:srgbClr val="FFFDF7"/>
          </a:solidFill>
          <a:ln w="34925">
            <a:solidFill>
              <a:srgbClr val="000000"/>
            </a:solidFill>
            <a:prstDash val="solid"/>
          </a:ln>
        </p:spPr>
      </p:sp>
      <p:sp>
        <p:nvSpPr>
          <p:cNvPr id="24" name="Text 22"/>
          <p:cNvSpPr/>
          <p:nvPr/>
        </p:nvSpPr>
        <p:spPr>
          <a:xfrm>
            <a:off x="3886200" y="4114800"/>
            <a:ext cx="1828800"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Courier New" pitchFamily="34" charset="0"/>
                <a:ea typeface="Courier New" pitchFamily="34" charset="-122"/>
                <a:cs typeface="Courier New" pitchFamily="34" charset="-120"/>
              </a:rPr>
              <a:t>2–3</a:t>
            </a:r>
            <a:endParaRPr lang="en-US" sz="1300" dirty="0"/>
          </a:p>
        </p:txBody>
      </p:sp>
      <p:sp>
        <p:nvSpPr>
          <p:cNvPr id="25" name="Text 23"/>
          <p:cNvSpPr/>
          <p:nvPr/>
        </p:nvSpPr>
        <p:spPr>
          <a:xfrm>
            <a:off x="6080760" y="4123944"/>
            <a:ext cx="5394960" cy="365760"/>
          </a:xfrm>
          <a:prstGeom prst="rect">
            <a:avLst/>
          </a:prstGeom>
          <a:noFill/>
          <a:ln/>
        </p:spPr>
        <p:txBody>
          <a:bodyPr wrap="square" lIns="0" tIns="0" rIns="0" bIns="0" rtlCol="0" anchor="ctr"/>
          <a:lstStyle/>
          <a:p>
            <a:pPr indent="0" marL="0">
              <a:buNone/>
            </a:pPr>
            <a:r>
              <a:rPr lang="en-US" sz="1300" dirty="0">
                <a:solidFill>
                  <a:srgbClr val="FFFDF7"/>
                </a:solidFill>
                <a:latin typeface="Calibri" pitchFamily="34" charset="0"/>
                <a:ea typeface="Calibri" pitchFamily="34" charset="-122"/>
                <a:cs typeface="Calibri" pitchFamily="34" charset="-120"/>
              </a:rPr>
              <a:t>This, not infill, is what makes a print feel solid.</a:t>
            </a:r>
            <a:endParaRPr lang="en-US" sz="1300" dirty="0"/>
          </a:p>
        </p:txBody>
      </p:sp>
      <p:sp>
        <p:nvSpPr>
          <p:cNvPr id="26" name="Shape 24"/>
          <p:cNvSpPr/>
          <p:nvPr/>
        </p:nvSpPr>
        <p:spPr>
          <a:xfrm>
            <a:off x="662940" y="4978908"/>
            <a:ext cx="3017520" cy="822960"/>
          </a:xfrm>
          <a:prstGeom prst="rect">
            <a:avLst/>
          </a:prstGeom>
          <a:solidFill>
            <a:srgbClr val="000000"/>
          </a:solidFill>
          <a:ln w="6350">
            <a:solidFill>
              <a:srgbClr val="000000"/>
            </a:solidFill>
            <a:prstDash val="solid"/>
          </a:ln>
        </p:spPr>
      </p:sp>
      <p:sp>
        <p:nvSpPr>
          <p:cNvPr id="27" name="Shape 25"/>
          <p:cNvSpPr/>
          <p:nvPr/>
        </p:nvSpPr>
        <p:spPr>
          <a:xfrm>
            <a:off x="594360" y="4910328"/>
            <a:ext cx="3017520" cy="822960"/>
          </a:xfrm>
          <a:prstGeom prst="rect">
            <a:avLst/>
          </a:prstGeom>
          <a:solidFill>
            <a:srgbClr val="FF4D8D"/>
          </a:solidFill>
          <a:ln w="34925">
            <a:solidFill>
              <a:srgbClr val="000000"/>
            </a:solidFill>
            <a:prstDash val="solid"/>
          </a:ln>
        </p:spPr>
      </p:sp>
      <p:sp>
        <p:nvSpPr>
          <p:cNvPr id="28" name="Text 26"/>
          <p:cNvSpPr/>
          <p:nvPr/>
        </p:nvSpPr>
        <p:spPr>
          <a:xfrm>
            <a:off x="822960" y="5157216"/>
            <a:ext cx="2651760" cy="329184"/>
          </a:xfrm>
          <a:prstGeom prst="rect">
            <a:avLst/>
          </a:prstGeom>
          <a:noFill/>
          <a:ln/>
        </p:spPr>
        <p:txBody>
          <a:bodyPr wrap="square" lIns="0" tIns="0" rIns="0" bIns="0" rtlCol="0" anchor="ctr"/>
          <a:lstStyle/>
          <a:p>
            <a:pPr indent="0" marL="0">
              <a:buNone/>
            </a:pPr>
            <a:r>
              <a:rPr lang="en-US" sz="1250" b="1" spc="20" kern="0" dirty="0">
                <a:solidFill>
                  <a:srgbClr val="000000"/>
                </a:solidFill>
                <a:latin typeface="Arial" pitchFamily="34" charset="0"/>
                <a:ea typeface="Arial" pitchFamily="34" charset="-122"/>
                <a:cs typeface="Arial" pitchFamily="34" charset="-120"/>
              </a:rPr>
              <a:t>SUPPORTS</a:t>
            </a:r>
            <a:endParaRPr lang="en-US" sz="1250" dirty="0"/>
          </a:p>
        </p:txBody>
      </p:sp>
      <p:sp>
        <p:nvSpPr>
          <p:cNvPr id="29" name="Shape 27"/>
          <p:cNvSpPr/>
          <p:nvPr/>
        </p:nvSpPr>
        <p:spPr>
          <a:xfrm>
            <a:off x="3954780" y="4978908"/>
            <a:ext cx="1828800" cy="822960"/>
          </a:xfrm>
          <a:prstGeom prst="rect">
            <a:avLst/>
          </a:prstGeom>
          <a:solidFill>
            <a:srgbClr val="000000"/>
          </a:solidFill>
          <a:ln w="6350">
            <a:solidFill>
              <a:srgbClr val="000000"/>
            </a:solidFill>
            <a:prstDash val="solid"/>
          </a:ln>
        </p:spPr>
      </p:sp>
      <p:sp>
        <p:nvSpPr>
          <p:cNvPr id="30" name="Shape 28"/>
          <p:cNvSpPr/>
          <p:nvPr/>
        </p:nvSpPr>
        <p:spPr>
          <a:xfrm>
            <a:off x="3886200" y="4910328"/>
            <a:ext cx="1828800" cy="822960"/>
          </a:xfrm>
          <a:prstGeom prst="rect">
            <a:avLst/>
          </a:prstGeom>
          <a:solidFill>
            <a:srgbClr val="FFFDF7"/>
          </a:solidFill>
          <a:ln w="34925">
            <a:solidFill>
              <a:srgbClr val="000000"/>
            </a:solidFill>
            <a:prstDash val="solid"/>
          </a:ln>
        </p:spPr>
      </p:sp>
      <p:sp>
        <p:nvSpPr>
          <p:cNvPr id="31" name="Text 29"/>
          <p:cNvSpPr/>
          <p:nvPr/>
        </p:nvSpPr>
        <p:spPr>
          <a:xfrm>
            <a:off x="3886200" y="5157216"/>
            <a:ext cx="1828800"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Courier New" pitchFamily="34" charset="0"/>
                <a:ea typeface="Courier New" pitchFamily="34" charset="-122"/>
                <a:cs typeface="Courier New" pitchFamily="34" charset="-120"/>
              </a:rPr>
              <a:t>OFF</a:t>
            </a:r>
            <a:endParaRPr lang="en-US" sz="1300" dirty="0"/>
          </a:p>
        </p:txBody>
      </p:sp>
      <p:sp>
        <p:nvSpPr>
          <p:cNvPr id="32" name="Text 30"/>
          <p:cNvSpPr/>
          <p:nvPr/>
        </p:nvSpPr>
        <p:spPr>
          <a:xfrm>
            <a:off x="6080760" y="5166360"/>
            <a:ext cx="5394960" cy="365760"/>
          </a:xfrm>
          <a:prstGeom prst="rect">
            <a:avLst/>
          </a:prstGeom>
          <a:noFill/>
          <a:ln/>
        </p:spPr>
        <p:txBody>
          <a:bodyPr wrap="square" lIns="0" tIns="0" rIns="0" bIns="0" rtlCol="0" anchor="ctr"/>
          <a:lstStyle/>
          <a:p>
            <a:pPr indent="0" marL="0">
              <a:buNone/>
            </a:pPr>
            <a:r>
              <a:rPr lang="en-US" sz="1300" dirty="0">
                <a:solidFill>
                  <a:srgbClr val="FFFDF7"/>
                </a:solidFill>
                <a:latin typeface="Calibri" pitchFamily="34" charset="0"/>
                <a:ea typeface="Calibri" pitchFamily="34" charset="-122"/>
                <a:cs typeface="Calibri" pitchFamily="34" charset="-120"/>
              </a:rPr>
              <a:t>Not permitted for 0.1. Solve it with orientation.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000000"/>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000000"/>
                </a:solidFill>
                <a:latin typeface="Arial" pitchFamily="34" charset="0"/>
                <a:ea typeface="Arial" pitchFamily="34" charset="-122"/>
                <a:cs typeface="Arial" pitchFamily="34" charset="-120"/>
              </a:rPr>
              <a:t>PRINT IT OR CUT IT</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6B6B6B"/>
                </a:solidFill>
                <a:latin typeface="Calibri" pitchFamily="34" charset="0"/>
                <a:ea typeface="Calibri" pitchFamily="34" charset="-122"/>
                <a:cs typeface="Calibri" pitchFamily="34" charset="-120"/>
              </a:rPr>
              <a:t>Printing is not the default. It is the expensive option.</a:t>
            </a:r>
            <a:endParaRPr lang="en-US" sz="1350" dirty="0"/>
          </a:p>
        </p:txBody>
      </p:sp>
      <p:sp>
        <p:nvSpPr>
          <p:cNvPr id="5" name="Shape 3"/>
          <p:cNvSpPr/>
          <p:nvPr/>
        </p:nvSpPr>
        <p:spPr>
          <a:xfrm>
            <a:off x="662940" y="1805940"/>
            <a:ext cx="5349240" cy="3520440"/>
          </a:xfrm>
          <a:prstGeom prst="rect">
            <a:avLst/>
          </a:prstGeom>
          <a:solidFill>
            <a:srgbClr val="000000"/>
          </a:solidFill>
          <a:ln w="6350">
            <a:solidFill>
              <a:srgbClr val="000000"/>
            </a:solidFill>
            <a:prstDash val="solid"/>
          </a:ln>
        </p:spPr>
      </p:sp>
      <p:sp>
        <p:nvSpPr>
          <p:cNvPr id="6" name="Shape 4"/>
          <p:cNvSpPr/>
          <p:nvPr/>
        </p:nvSpPr>
        <p:spPr>
          <a:xfrm>
            <a:off x="594360" y="1737360"/>
            <a:ext cx="5349240" cy="3520440"/>
          </a:xfrm>
          <a:prstGeom prst="rect">
            <a:avLst/>
          </a:prstGeom>
          <a:solidFill>
            <a:srgbClr val="FFFDF7"/>
          </a:solidFill>
          <a:ln w="34925">
            <a:solidFill>
              <a:srgbClr val="000000"/>
            </a:solidFill>
            <a:prstDash val="solid"/>
          </a:ln>
        </p:spPr>
      </p:sp>
      <p:sp>
        <p:nvSpPr>
          <p:cNvPr id="7" name="Shape 5"/>
          <p:cNvSpPr/>
          <p:nvPr/>
        </p:nvSpPr>
        <p:spPr>
          <a:xfrm>
            <a:off x="594360" y="1737360"/>
            <a:ext cx="5349240" cy="566928"/>
          </a:xfrm>
          <a:prstGeom prst="rect">
            <a:avLst/>
          </a:prstGeom>
          <a:solidFill>
            <a:srgbClr val="C6F035"/>
          </a:solidFill>
          <a:ln w="34925">
            <a:solidFill>
              <a:srgbClr val="000000"/>
            </a:solidFill>
            <a:prstDash val="solid"/>
          </a:ln>
        </p:spPr>
      </p:sp>
      <p:sp>
        <p:nvSpPr>
          <p:cNvPr id="8" name="Text 6"/>
          <p:cNvSpPr/>
          <p:nvPr/>
        </p:nvSpPr>
        <p:spPr>
          <a:xfrm>
            <a:off x="868680" y="1847088"/>
            <a:ext cx="4800600" cy="365760"/>
          </a:xfrm>
          <a:prstGeom prst="rect">
            <a:avLst/>
          </a:prstGeom>
          <a:noFill/>
          <a:ln/>
        </p:spPr>
        <p:txBody>
          <a:bodyPr wrap="square" lIns="0" tIns="0" rIns="0" bIns="0" rtlCol="0" anchor="ctr"/>
          <a:lstStyle/>
          <a:p>
            <a:pPr indent="0" marL="0">
              <a:buNone/>
            </a:pPr>
            <a:r>
              <a:rPr lang="en-US" sz="1600" b="1" spc="40" kern="0" dirty="0">
                <a:solidFill>
                  <a:srgbClr val="000000"/>
                </a:solidFill>
                <a:latin typeface="Arial" pitchFamily="34" charset="0"/>
                <a:ea typeface="Arial" pitchFamily="34" charset="-122"/>
                <a:cs typeface="Arial" pitchFamily="34" charset="-120"/>
              </a:rPr>
              <a:t>CUT IT</a:t>
            </a:r>
            <a:endParaRPr lang="en-US" sz="1600" dirty="0"/>
          </a:p>
        </p:txBody>
      </p:sp>
      <p:sp>
        <p:nvSpPr>
          <p:cNvPr id="9" name="Shape 7"/>
          <p:cNvSpPr/>
          <p:nvPr/>
        </p:nvSpPr>
        <p:spPr>
          <a:xfrm>
            <a:off x="914400" y="2578608"/>
            <a:ext cx="109728" cy="109728"/>
          </a:xfrm>
          <a:prstGeom prst="rect">
            <a:avLst/>
          </a:prstGeom>
          <a:solidFill>
            <a:srgbClr val="C6F035"/>
          </a:solidFill>
          <a:ln w="15875">
            <a:solidFill>
              <a:srgbClr val="000000"/>
            </a:solidFill>
            <a:prstDash val="solid"/>
          </a:ln>
        </p:spPr>
      </p:sp>
      <p:sp>
        <p:nvSpPr>
          <p:cNvPr id="10" name="Text 8"/>
          <p:cNvSpPr/>
          <p:nvPr/>
        </p:nvSpPr>
        <p:spPr>
          <a:xfrm>
            <a:off x="1216152" y="2487168"/>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Prismatic — one profile, extruded</a:t>
            </a:r>
            <a:endParaRPr lang="en-US" sz="1300" dirty="0"/>
          </a:p>
        </p:txBody>
      </p:sp>
      <p:sp>
        <p:nvSpPr>
          <p:cNvPr id="11" name="Shape 9"/>
          <p:cNvSpPr/>
          <p:nvPr/>
        </p:nvSpPr>
        <p:spPr>
          <a:xfrm>
            <a:off x="914400" y="3017520"/>
            <a:ext cx="109728" cy="109728"/>
          </a:xfrm>
          <a:prstGeom prst="rect">
            <a:avLst/>
          </a:prstGeom>
          <a:solidFill>
            <a:srgbClr val="C6F035"/>
          </a:solidFill>
          <a:ln w="15875">
            <a:solidFill>
              <a:srgbClr val="000000"/>
            </a:solidFill>
            <a:prstDash val="solid"/>
          </a:ln>
        </p:spPr>
      </p:sp>
      <p:sp>
        <p:nvSpPr>
          <p:cNvPr id="12" name="Text 10"/>
          <p:cNvSpPr/>
          <p:nvPr/>
        </p:nvSpPr>
        <p:spPr>
          <a:xfrm>
            <a:off x="1216152" y="2926080"/>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Flat, or made of flat pieces</a:t>
            </a:r>
            <a:endParaRPr lang="en-US" sz="1300" dirty="0"/>
          </a:p>
        </p:txBody>
      </p:sp>
      <p:sp>
        <p:nvSpPr>
          <p:cNvPr id="13" name="Shape 11"/>
          <p:cNvSpPr/>
          <p:nvPr/>
        </p:nvSpPr>
        <p:spPr>
          <a:xfrm>
            <a:off x="914400" y="3456432"/>
            <a:ext cx="109728" cy="109728"/>
          </a:xfrm>
          <a:prstGeom prst="rect">
            <a:avLst/>
          </a:prstGeom>
          <a:solidFill>
            <a:srgbClr val="C6F035"/>
          </a:solidFill>
          <a:ln w="15875">
            <a:solidFill>
              <a:srgbClr val="000000"/>
            </a:solidFill>
            <a:prstDash val="solid"/>
          </a:ln>
        </p:spPr>
      </p:sp>
      <p:sp>
        <p:nvSpPr>
          <p:cNvPr id="14" name="Text 12"/>
          <p:cNvSpPr/>
          <p:nvPr/>
        </p:nvSpPr>
        <p:spPr>
          <a:xfrm>
            <a:off x="1216152" y="3364992"/>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Repeated many times</a:t>
            </a:r>
            <a:endParaRPr lang="en-US" sz="1300" dirty="0"/>
          </a:p>
        </p:txBody>
      </p:sp>
      <p:sp>
        <p:nvSpPr>
          <p:cNvPr id="15" name="Shape 13"/>
          <p:cNvSpPr/>
          <p:nvPr/>
        </p:nvSpPr>
        <p:spPr>
          <a:xfrm>
            <a:off x="914400" y="3895344"/>
            <a:ext cx="109728" cy="109728"/>
          </a:xfrm>
          <a:prstGeom prst="rect">
            <a:avLst/>
          </a:prstGeom>
          <a:solidFill>
            <a:srgbClr val="C6F035"/>
          </a:solidFill>
          <a:ln w="15875">
            <a:solidFill>
              <a:srgbClr val="000000"/>
            </a:solidFill>
            <a:prstDash val="solid"/>
          </a:ln>
        </p:spPr>
      </p:sp>
      <p:sp>
        <p:nvSpPr>
          <p:cNvPr id="16" name="Text 14"/>
          <p:cNvSpPr/>
          <p:nvPr/>
        </p:nvSpPr>
        <p:spPr>
          <a:xfrm>
            <a:off x="1216152" y="3803904"/>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Larger than your hand</a:t>
            </a:r>
            <a:endParaRPr lang="en-US" sz="1300" dirty="0"/>
          </a:p>
        </p:txBody>
      </p:sp>
      <p:sp>
        <p:nvSpPr>
          <p:cNvPr id="17" name="Shape 15"/>
          <p:cNvSpPr/>
          <p:nvPr/>
        </p:nvSpPr>
        <p:spPr>
          <a:xfrm>
            <a:off x="914400" y="4334256"/>
            <a:ext cx="109728" cy="109728"/>
          </a:xfrm>
          <a:prstGeom prst="rect">
            <a:avLst/>
          </a:prstGeom>
          <a:solidFill>
            <a:srgbClr val="C6F035"/>
          </a:solidFill>
          <a:ln w="15875">
            <a:solidFill>
              <a:srgbClr val="000000"/>
            </a:solidFill>
            <a:prstDash val="solid"/>
          </a:ln>
        </p:spPr>
      </p:sp>
      <p:sp>
        <p:nvSpPr>
          <p:cNvPr id="18" name="Text 16"/>
          <p:cNvSpPr/>
          <p:nvPr/>
        </p:nvSpPr>
        <p:spPr>
          <a:xfrm>
            <a:off x="1216152" y="4242816"/>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Site model massing: stacked chipboard</a:t>
            </a:r>
            <a:endParaRPr lang="en-US" sz="1300" dirty="0"/>
          </a:p>
        </p:txBody>
      </p:sp>
      <p:sp>
        <p:nvSpPr>
          <p:cNvPr id="19" name="Shape 17"/>
          <p:cNvSpPr/>
          <p:nvPr/>
        </p:nvSpPr>
        <p:spPr>
          <a:xfrm>
            <a:off x="914400" y="4681728"/>
            <a:ext cx="4709160" cy="384048"/>
          </a:xfrm>
          <a:prstGeom prst="rect">
            <a:avLst/>
          </a:prstGeom>
          <a:solidFill>
            <a:srgbClr val="C6F035"/>
          </a:solidFill>
          <a:ln w="25400">
            <a:solidFill>
              <a:srgbClr val="000000"/>
            </a:solidFill>
            <a:prstDash val="solid"/>
          </a:ln>
        </p:spPr>
      </p:sp>
      <p:sp>
        <p:nvSpPr>
          <p:cNvPr id="20" name="Text 18"/>
          <p:cNvSpPr/>
          <p:nvPr/>
        </p:nvSpPr>
        <p:spPr>
          <a:xfrm>
            <a:off x="1005840" y="4764024"/>
            <a:ext cx="4526280" cy="27432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Minutes per sheet. Twenty buildings at once.</a:t>
            </a:r>
            <a:endParaRPr lang="en-US" sz="1100" dirty="0"/>
          </a:p>
        </p:txBody>
      </p:sp>
      <p:sp>
        <p:nvSpPr>
          <p:cNvPr id="21" name="Shape 19"/>
          <p:cNvSpPr/>
          <p:nvPr/>
        </p:nvSpPr>
        <p:spPr>
          <a:xfrm>
            <a:off x="6286500" y="1805940"/>
            <a:ext cx="5349240" cy="3520440"/>
          </a:xfrm>
          <a:prstGeom prst="rect">
            <a:avLst/>
          </a:prstGeom>
          <a:solidFill>
            <a:srgbClr val="000000"/>
          </a:solidFill>
          <a:ln w="6350">
            <a:solidFill>
              <a:srgbClr val="000000"/>
            </a:solidFill>
            <a:prstDash val="solid"/>
          </a:ln>
        </p:spPr>
      </p:sp>
      <p:sp>
        <p:nvSpPr>
          <p:cNvPr id="22" name="Shape 20"/>
          <p:cNvSpPr/>
          <p:nvPr/>
        </p:nvSpPr>
        <p:spPr>
          <a:xfrm>
            <a:off x="6217920" y="1737360"/>
            <a:ext cx="5349240" cy="3520440"/>
          </a:xfrm>
          <a:prstGeom prst="rect">
            <a:avLst/>
          </a:prstGeom>
          <a:solidFill>
            <a:srgbClr val="FFFDF7"/>
          </a:solidFill>
          <a:ln w="34925">
            <a:solidFill>
              <a:srgbClr val="000000"/>
            </a:solidFill>
            <a:prstDash val="solid"/>
          </a:ln>
        </p:spPr>
      </p:sp>
      <p:sp>
        <p:nvSpPr>
          <p:cNvPr id="23" name="Shape 21"/>
          <p:cNvSpPr/>
          <p:nvPr/>
        </p:nvSpPr>
        <p:spPr>
          <a:xfrm>
            <a:off x="6217920" y="1737360"/>
            <a:ext cx="5349240" cy="566928"/>
          </a:xfrm>
          <a:prstGeom prst="rect">
            <a:avLst/>
          </a:prstGeom>
          <a:solidFill>
            <a:srgbClr val="FF4D8D"/>
          </a:solidFill>
          <a:ln w="34925">
            <a:solidFill>
              <a:srgbClr val="000000"/>
            </a:solidFill>
            <a:prstDash val="solid"/>
          </a:ln>
        </p:spPr>
      </p:sp>
      <p:sp>
        <p:nvSpPr>
          <p:cNvPr id="24" name="Text 22"/>
          <p:cNvSpPr/>
          <p:nvPr/>
        </p:nvSpPr>
        <p:spPr>
          <a:xfrm>
            <a:off x="6492240" y="1847088"/>
            <a:ext cx="4800600" cy="365760"/>
          </a:xfrm>
          <a:prstGeom prst="rect">
            <a:avLst/>
          </a:prstGeom>
          <a:noFill/>
          <a:ln/>
        </p:spPr>
        <p:txBody>
          <a:bodyPr wrap="square" lIns="0" tIns="0" rIns="0" bIns="0" rtlCol="0" anchor="ctr"/>
          <a:lstStyle/>
          <a:p>
            <a:pPr indent="0" marL="0">
              <a:buNone/>
            </a:pPr>
            <a:r>
              <a:rPr lang="en-US" sz="1600" b="1" spc="40" kern="0" dirty="0">
                <a:solidFill>
                  <a:srgbClr val="000000"/>
                </a:solidFill>
                <a:latin typeface="Arial" pitchFamily="34" charset="0"/>
                <a:ea typeface="Arial" pitchFamily="34" charset="-122"/>
                <a:cs typeface="Arial" pitchFamily="34" charset="-120"/>
              </a:rPr>
              <a:t>PRINT IT</a:t>
            </a:r>
            <a:endParaRPr lang="en-US" sz="1600" dirty="0"/>
          </a:p>
        </p:txBody>
      </p:sp>
      <p:sp>
        <p:nvSpPr>
          <p:cNvPr id="25" name="Shape 23"/>
          <p:cNvSpPr/>
          <p:nvPr/>
        </p:nvSpPr>
        <p:spPr>
          <a:xfrm>
            <a:off x="6537960" y="2578608"/>
            <a:ext cx="109728" cy="109728"/>
          </a:xfrm>
          <a:prstGeom prst="rect">
            <a:avLst/>
          </a:prstGeom>
          <a:solidFill>
            <a:srgbClr val="FF4D8D"/>
          </a:solidFill>
          <a:ln w="15875">
            <a:solidFill>
              <a:srgbClr val="000000"/>
            </a:solidFill>
            <a:prstDash val="solid"/>
          </a:ln>
        </p:spPr>
      </p:sp>
      <p:sp>
        <p:nvSpPr>
          <p:cNvPr id="26" name="Text 24"/>
          <p:cNvSpPr/>
          <p:nvPr/>
        </p:nvSpPr>
        <p:spPr>
          <a:xfrm>
            <a:off x="6839712" y="2487168"/>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Doubly curved — a vault, a shell</a:t>
            </a:r>
            <a:endParaRPr lang="en-US" sz="1300" dirty="0"/>
          </a:p>
        </p:txBody>
      </p:sp>
      <p:sp>
        <p:nvSpPr>
          <p:cNvPr id="27" name="Shape 25"/>
          <p:cNvSpPr/>
          <p:nvPr/>
        </p:nvSpPr>
        <p:spPr>
          <a:xfrm>
            <a:off x="6537960" y="3017520"/>
            <a:ext cx="109728" cy="109728"/>
          </a:xfrm>
          <a:prstGeom prst="rect">
            <a:avLst/>
          </a:prstGeom>
          <a:solidFill>
            <a:srgbClr val="FF4D8D"/>
          </a:solidFill>
          <a:ln w="15875">
            <a:solidFill>
              <a:srgbClr val="000000"/>
            </a:solidFill>
            <a:prstDash val="solid"/>
          </a:ln>
        </p:spPr>
      </p:sp>
      <p:sp>
        <p:nvSpPr>
          <p:cNvPr id="28" name="Text 26"/>
          <p:cNvSpPr/>
          <p:nvPr/>
        </p:nvSpPr>
        <p:spPr>
          <a:xfrm>
            <a:off x="6839712" y="2926080"/>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Undercuts a blade cannot reach</a:t>
            </a:r>
            <a:endParaRPr lang="en-US" sz="1300" dirty="0"/>
          </a:p>
        </p:txBody>
      </p:sp>
      <p:sp>
        <p:nvSpPr>
          <p:cNvPr id="29" name="Shape 27"/>
          <p:cNvSpPr/>
          <p:nvPr/>
        </p:nvSpPr>
        <p:spPr>
          <a:xfrm>
            <a:off x="6537960" y="3456432"/>
            <a:ext cx="109728" cy="109728"/>
          </a:xfrm>
          <a:prstGeom prst="rect">
            <a:avLst/>
          </a:prstGeom>
          <a:solidFill>
            <a:srgbClr val="FF4D8D"/>
          </a:solidFill>
          <a:ln w="15875">
            <a:solidFill>
              <a:srgbClr val="000000"/>
            </a:solidFill>
            <a:prstDash val="solid"/>
          </a:ln>
        </p:spPr>
      </p:sp>
      <p:sp>
        <p:nvSpPr>
          <p:cNvPr id="30" name="Text 28"/>
          <p:cNvSpPr/>
          <p:nvPr/>
        </p:nvSpPr>
        <p:spPr>
          <a:xfrm>
            <a:off x="6839712" y="3364992"/>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Detail in all three axes at once</a:t>
            </a:r>
            <a:endParaRPr lang="en-US" sz="1300" dirty="0"/>
          </a:p>
        </p:txBody>
      </p:sp>
      <p:sp>
        <p:nvSpPr>
          <p:cNvPr id="31" name="Shape 29"/>
          <p:cNvSpPr/>
          <p:nvPr/>
        </p:nvSpPr>
        <p:spPr>
          <a:xfrm>
            <a:off x="6537960" y="3895344"/>
            <a:ext cx="109728" cy="109728"/>
          </a:xfrm>
          <a:prstGeom prst="rect">
            <a:avLst/>
          </a:prstGeom>
          <a:solidFill>
            <a:srgbClr val="FF4D8D"/>
          </a:solidFill>
          <a:ln w="15875">
            <a:solidFill>
              <a:srgbClr val="000000"/>
            </a:solidFill>
            <a:prstDash val="solid"/>
          </a:ln>
        </p:spPr>
      </p:sp>
      <p:sp>
        <p:nvSpPr>
          <p:cNvPr id="32" name="Text 30"/>
          <p:cNvSpPr/>
          <p:nvPr/>
        </p:nvSpPr>
        <p:spPr>
          <a:xfrm>
            <a:off x="6839712" y="3803904"/>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Small and intricate</a:t>
            </a:r>
            <a:endParaRPr lang="en-US" sz="1300" dirty="0"/>
          </a:p>
        </p:txBody>
      </p:sp>
      <p:sp>
        <p:nvSpPr>
          <p:cNvPr id="33" name="Shape 31"/>
          <p:cNvSpPr/>
          <p:nvPr/>
        </p:nvSpPr>
        <p:spPr>
          <a:xfrm>
            <a:off x="6537960" y="4334256"/>
            <a:ext cx="109728" cy="109728"/>
          </a:xfrm>
          <a:prstGeom prst="rect">
            <a:avLst/>
          </a:prstGeom>
          <a:solidFill>
            <a:srgbClr val="FF4D8D"/>
          </a:solidFill>
          <a:ln w="15875">
            <a:solidFill>
              <a:srgbClr val="000000"/>
            </a:solidFill>
            <a:prstDash val="solid"/>
          </a:ln>
        </p:spPr>
      </p:sp>
      <p:sp>
        <p:nvSpPr>
          <p:cNvPr id="34" name="Text 32"/>
          <p:cNvSpPr/>
          <p:nvPr/>
        </p:nvSpPr>
        <p:spPr>
          <a:xfrm>
            <a:off x="6839712" y="4242816"/>
            <a:ext cx="4434840" cy="329184"/>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One-off with no flat description</a:t>
            </a:r>
            <a:endParaRPr lang="en-US" sz="1300" dirty="0"/>
          </a:p>
        </p:txBody>
      </p:sp>
      <p:sp>
        <p:nvSpPr>
          <p:cNvPr id="35" name="Shape 33"/>
          <p:cNvSpPr/>
          <p:nvPr/>
        </p:nvSpPr>
        <p:spPr>
          <a:xfrm>
            <a:off x="6537960" y="4681728"/>
            <a:ext cx="4709160" cy="384048"/>
          </a:xfrm>
          <a:prstGeom prst="rect">
            <a:avLst/>
          </a:prstGeom>
          <a:solidFill>
            <a:srgbClr val="FF4D8D"/>
          </a:solidFill>
          <a:ln w="25400">
            <a:solidFill>
              <a:srgbClr val="000000"/>
            </a:solidFill>
            <a:prstDash val="solid"/>
          </a:ln>
        </p:spPr>
      </p:sp>
      <p:sp>
        <p:nvSpPr>
          <p:cNvPr id="36" name="Text 34"/>
          <p:cNvSpPr/>
          <p:nvPr/>
        </p:nvSpPr>
        <p:spPr>
          <a:xfrm>
            <a:off x="6629400" y="4764024"/>
            <a:ext cx="4526280" cy="27432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Hours per object. One at a time.</a:t>
            </a:r>
            <a:endParaRPr lang="en-US" sz="1100" dirty="0"/>
          </a:p>
        </p:txBody>
      </p:sp>
      <p:sp>
        <p:nvSpPr>
          <p:cNvPr id="37" name="Shape 35"/>
          <p:cNvSpPr/>
          <p:nvPr/>
        </p:nvSpPr>
        <p:spPr>
          <a:xfrm>
            <a:off x="662940" y="5509260"/>
            <a:ext cx="10972800" cy="777240"/>
          </a:xfrm>
          <a:prstGeom prst="rect">
            <a:avLst/>
          </a:prstGeom>
          <a:solidFill>
            <a:srgbClr val="000000"/>
          </a:solidFill>
          <a:ln w="6350">
            <a:solidFill>
              <a:srgbClr val="000000"/>
            </a:solidFill>
            <a:prstDash val="solid"/>
          </a:ln>
        </p:spPr>
      </p:sp>
      <p:sp>
        <p:nvSpPr>
          <p:cNvPr id="38" name="Shape 36"/>
          <p:cNvSpPr/>
          <p:nvPr/>
        </p:nvSpPr>
        <p:spPr>
          <a:xfrm>
            <a:off x="594360" y="5440680"/>
            <a:ext cx="10972800" cy="777240"/>
          </a:xfrm>
          <a:prstGeom prst="rect">
            <a:avLst/>
          </a:prstGeom>
          <a:solidFill>
            <a:srgbClr val="FFE500"/>
          </a:solidFill>
          <a:ln w="34925">
            <a:solidFill>
              <a:srgbClr val="000000"/>
            </a:solidFill>
            <a:prstDash val="solid"/>
          </a:ln>
        </p:spPr>
      </p:sp>
      <p:sp>
        <p:nvSpPr>
          <p:cNvPr id="39" name="Text 37"/>
          <p:cNvSpPr/>
          <p:nvPr/>
        </p:nvSpPr>
        <p:spPr>
          <a:xfrm>
            <a:off x="914400" y="5632704"/>
            <a:ext cx="10607040" cy="457200"/>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THE TEST: can the object be described as a stack of flat profiles, or one profile extruded? Then cut it. A simple box printed is a box you waited six hours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E500"/>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000000"/>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000000"/>
                </a:solidFill>
                <a:latin typeface="Arial" pitchFamily="34" charset="0"/>
                <a:ea typeface="Arial" pitchFamily="34" charset="-122"/>
                <a:cs typeface="Arial" pitchFamily="34" charset="-120"/>
              </a:rPr>
              <a:t>FABLAB — HOW THIS WORKS HERE</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6B6B6B"/>
                </a:solidFill>
                <a:latin typeface="Calibri" pitchFamily="34" charset="0"/>
                <a:ea typeface="Calibri" pitchFamily="34" charset="-122"/>
                <a:cs typeface="Calibri" pitchFamily="34" charset="-120"/>
              </a:rPr>
              <a:t>Machines are shared. The rules exist so everyone gets a print.</a:t>
            </a:r>
            <a:endParaRPr lang="en-US" sz="1350" dirty="0"/>
          </a:p>
        </p:txBody>
      </p:sp>
      <p:sp>
        <p:nvSpPr>
          <p:cNvPr id="5" name="Shape 3"/>
          <p:cNvSpPr/>
          <p:nvPr/>
        </p:nvSpPr>
        <p:spPr>
          <a:xfrm>
            <a:off x="662940" y="1805940"/>
            <a:ext cx="10972800" cy="822960"/>
          </a:xfrm>
          <a:prstGeom prst="rect">
            <a:avLst/>
          </a:prstGeom>
          <a:solidFill>
            <a:srgbClr val="000000"/>
          </a:solidFill>
          <a:ln w="6350">
            <a:solidFill>
              <a:srgbClr val="000000"/>
            </a:solidFill>
            <a:prstDash val="solid"/>
          </a:ln>
        </p:spPr>
      </p:sp>
      <p:sp>
        <p:nvSpPr>
          <p:cNvPr id="6" name="Shape 4"/>
          <p:cNvSpPr/>
          <p:nvPr/>
        </p:nvSpPr>
        <p:spPr>
          <a:xfrm>
            <a:off x="594360" y="1737360"/>
            <a:ext cx="10972800" cy="822960"/>
          </a:xfrm>
          <a:prstGeom prst="rect">
            <a:avLst/>
          </a:prstGeom>
          <a:solidFill>
            <a:srgbClr val="FF4D8D"/>
          </a:solidFill>
          <a:ln w="34925">
            <a:solidFill>
              <a:srgbClr val="000000"/>
            </a:solidFill>
            <a:prstDash val="solid"/>
          </a:ln>
        </p:spPr>
      </p:sp>
      <p:sp>
        <p:nvSpPr>
          <p:cNvPr id="7" name="Text 5"/>
          <p:cNvSpPr/>
          <p:nvPr/>
        </p:nvSpPr>
        <p:spPr>
          <a:xfrm>
            <a:off x="914400" y="1847088"/>
            <a:ext cx="5029200" cy="310896"/>
          </a:xfrm>
          <a:prstGeom prst="rect">
            <a:avLst/>
          </a:prstGeom>
          <a:noFill/>
          <a:ln/>
        </p:spPr>
        <p:txBody>
          <a:bodyPr wrap="square" lIns="0" tIns="0" rIns="0" bIns="0" rtlCol="0" anchor="ctr"/>
          <a:lstStyle/>
          <a:p>
            <a:pPr indent="0" marL="0">
              <a:buNone/>
            </a:pPr>
            <a:r>
              <a:rPr lang="en-US" sz="1250" b="1" spc="30" kern="0" dirty="0">
                <a:solidFill>
                  <a:srgbClr val="000000"/>
                </a:solidFill>
                <a:latin typeface="Arial" pitchFamily="34" charset="0"/>
                <a:ea typeface="Arial" pitchFamily="34" charset="-122"/>
                <a:cs typeface="Arial" pitchFamily="34" charset="-120"/>
              </a:rPr>
              <a:t>ORIENTATION COMPLETE</a:t>
            </a:r>
            <a:endParaRPr lang="en-US" sz="1250" dirty="0"/>
          </a:p>
        </p:txBody>
      </p:sp>
      <p:sp>
        <p:nvSpPr>
          <p:cNvPr id="8" name="Text 6"/>
          <p:cNvSpPr/>
          <p:nvPr/>
        </p:nvSpPr>
        <p:spPr>
          <a:xfrm>
            <a:off x="914400" y="2157984"/>
            <a:ext cx="10515600" cy="310896"/>
          </a:xfrm>
          <a:prstGeom prst="rect">
            <a:avLst/>
          </a:prstGeom>
          <a:noFill/>
          <a:ln/>
        </p:spPr>
        <p:txBody>
          <a:bodyPr wrap="square" lIns="0" tIns="0" rIns="0" bIns="0" rtlCol="0" anchor="ctr"/>
          <a:lstStyle/>
          <a:p>
            <a:pPr indent="0" marL="0">
              <a:buNone/>
            </a:pPr>
            <a:r>
              <a:rPr lang="en-US" sz="1250" dirty="0">
                <a:solidFill>
                  <a:srgbClr val="000000"/>
                </a:solidFill>
                <a:latin typeface="Calibri" pitchFamily="34" charset="0"/>
                <a:ea typeface="Calibri" pitchFamily="34" charset="-122"/>
                <a:cs typeface="Calibri" pitchFamily="34" charset="-120"/>
              </a:rPr>
              <a:t>No Safety Orientation, no machine access. This was due at the end of Class 2.</a:t>
            </a:r>
            <a:endParaRPr lang="en-US" sz="1250" dirty="0"/>
          </a:p>
        </p:txBody>
      </p:sp>
      <p:sp>
        <p:nvSpPr>
          <p:cNvPr id="9" name="Shape 7"/>
          <p:cNvSpPr/>
          <p:nvPr/>
        </p:nvSpPr>
        <p:spPr>
          <a:xfrm>
            <a:off x="662940" y="2848356"/>
            <a:ext cx="10972800" cy="822960"/>
          </a:xfrm>
          <a:prstGeom prst="rect">
            <a:avLst/>
          </a:prstGeom>
          <a:solidFill>
            <a:srgbClr val="000000"/>
          </a:solidFill>
          <a:ln w="6350">
            <a:solidFill>
              <a:srgbClr val="000000"/>
            </a:solidFill>
            <a:prstDash val="solid"/>
          </a:ln>
        </p:spPr>
      </p:sp>
      <p:sp>
        <p:nvSpPr>
          <p:cNvPr id="10" name="Shape 8"/>
          <p:cNvSpPr/>
          <p:nvPr/>
        </p:nvSpPr>
        <p:spPr>
          <a:xfrm>
            <a:off x="594360" y="2779776"/>
            <a:ext cx="10972800" cy="822960"/>
          </a:xfrm>
          <a:prstGeom prst="rect">
            <a:avLst/>
          </a:prstGeom>
          <a:solidFill>
            <a:srgbClr val="FF4D8D"/>
          </a:solidFill>
          <a:ln w="34925">
            <a:solidFill>
              <a:srgbClr val="000000"/>
            </a:solidFill>
            <a:prstDash val="solid"/>
          </a:ln>
        </p:spPr>
      </p:sp>
      <p:sp>
        <p:nvSpPr>
          <p:cNvPr id="11" name="Text 9"/>
          <p:cNvSpPr/>
          <p:nvPr/>
        </p:nvSpPr>
        <p:spPr>
          <a:xfrm>
            <a:off x="914400" y="2889504"/>
            <a:ext cx="5029200" cy="310896"/>
          </a:xfrm>
          <a:prstGeom prst="rect">
            <a:avLst/>
          </a:prstGeom>
          <a:noFill/>
          <a:ln/>
        </p:spPr>
        <p:txBody>
          <a:bodyPr wrap="square" lIns="0" tIns="0" rIns="0" bIns="0" rtlCol="0" anchor="ctr"/>
          <a:lstStyle/>
          <a:p>
            <a:pPr indent="0" marL="0">
              <a:buNone/>
            </a:pPr>
            <a:r>
              <a:rPr lang="en-US" sz="1250" b="1" spc="30" kern="0" dirty="0">
                <a:solidFill>
                  <a:srgbClr val="000000"/>
                </a:solidFill>
                <a:latin typeface="Arial" pitchFamily="34" charset="0"/>
                <a:ea typeface="Arial" pitchFamily="34" charset="-122"/>
                <a:cs typeface="Arial" pitchFamily="34" charset="-120"/>
              </a:rPr>
              <a:t>NEVER TOUCH THE HOT END</a:t>
            </a:r>
            <a:endParaRPr lang="en-US" sz="1250" dirty="0"/>
          </a:p>
        </p:txBody>
      </p:sp>
      <p:sp>
        <p:nvSpPr>
          <p:cNvPr id="12" name="Text 10"/>
          <p:cNvSpPr/>
          <p:nvPr/>
        </p:nvSpPr>
        <p:spPr>
          <a:xfrm>
            <a:off x="914400" y="3200400"/>
            <a:ext cx="10515600" cy="310896"/>
          </a:xfrm>
          <a:prstGeom prst="rect">
            <a:avLst/>
          </a:prstGeom>
          <a:noFill/>
          <a:ln/>
        </p:spPr>
        <p:txBody>
          <a:bodyPr wrap="square" lIns="0" tIns="0" rIns="0" bIns="0" rtlCol="0" anchor="ctr"/>
          <a:lstStyle/>
          <a:p>
            <a:pPr indent="0" marL="0">
              <a:buNone/>
            </a:pPr>
            <a:r>
              <a:rPr lang="en-US" sz="1250" dirty="0">
                <a:solidFill>
                  <a:srgbClr val="000000"/>
                </a:solidFill>
                <a:latin typeface="Calibri" pitchFamily="34" charset="0"/>
                <a:ea typeface="Calibri" pitchFamily="34" charset="-122"/>
                <a:cs typeface="Calibri" pitchFamily="34" charset="-120"/>
              </a:rPr>
              <a:t>The nozzle runs around 200–250°C and does not look hot. The bed is hot too.</a:t>
            </a:r>
            <a:endParaRPr lang="en-US" sz="1250" dirty="0"/>
          </a:p>
        </p:txBody>
      </p:sp>
      <p:sp>
        <p:nvSpPr>
          <p:cNvPr id="13" name="Shape 11"/>
          <p:cNvSpPr/>
          <p:nvPr/>
        </p:nvSpPr>
        <p:spPr>
          <a:xfrm>
            <a:off x="662940" y="3890772"/>
            <a:ext cx="10972800" cy="822960"/>
          </a:xfrm>
          <a:prstGeom prst="rect">
            <a:avLst/>
          </a:prstGeom>
          <a:solidFill>
            <a:srgbClr val="000000"/>
          </a:solidFill>
          <a:ln w="6350">
            <a:solidFill>
              <a:srgbClr val="000000"/>
            </a:solidFill>
            <a:prstDash val="solid"/>
          </a:ln>
        </p:spPr>
      </p:sp>
      <p:sp>
        <p:nvSpPr>
          <p:cNvPr id="14" name="Shape 12"/>
          <p:cNvSpPr/>
          <p:nvPr/>
        </p:nvSpPr>
        <p:spPr>
          <a:xfrm>
            <a:off x="594360" y="3822192"/>
            <a:ext cx="10972800" cy="822960"/>
          </a:xfrm>
          <a:prstGeom prst="rect">
            <a:avLst/>
          </a:prstGeom>
          <a:solidFill>
            <a:srgbClr val="FFFDF7"/>
          </a:solidFill>
          <a:ln w="34925">
            <a:solidFill>
              <a:srgbClr val="000000"/>
            </a:solidFill>
            <a:prstDash val="solid"/>
          </a:ln>
        </p:spPr>
      </p:sp>
      <p:sp>
        <p:nvSpPr>
          <p:cNvPr id="15" name="Text 13"/>
          <p:cNvSpPr/>
          <p:nvPr/>
        </p:nvSpPr>
        <p:spPr>
          <a:xfrm>
            <a:off x="914400" y="3931920"/>
            <a:ext cx="5029200" cy="310896"/>
          </a:xfrm>
          <a:prstGeom prst="rect">
            <a:avLst/>
          </a:prstGeom>
          <a:noFill/>
          <a:ln/>
        </p:spPr>
        <p:txBody>
          <a:bodyPr wrap="square" lIns="0" tIns="0" rIns="0" bIns="0" rtlCol="0" anchor="ctr"/>
          <a:lstStyle/>
          <a:p>
            <a:pPr indent="0" marL="0">
              <a:buNone/>
            </a:pPr>
            <a:r>
              <a:rPr lang="en-US" sz="1250" b="1" spc="30" kern="0" dirty="0">
                <a:solidFill>
                  <a:srgbClr val="000000"/>
                </a:solidFill>
                <a:latin typeface="Arial" pitchFamily="34" charset="0"/>
                <a:ea typeface="Arial" pitchFamily="34" charset="-122"/>
                <a:cs typeface="Arial" pitchFamily="34" charset="-120"/>
              </a:rPr>
              <a:t>DO NOT RESTART SOMEONE'S PRINT</a:t>
            </a:r>
            <a:endParaRPr lang="en-US" sz="1250" dirty="0"/>
          </a:p>
        </p:txBody>
      </p:sp>
      <p:sp>
        <p:nvSpPr>
          <p:cNvPr id="16" name="Text 14"/>
          <p:cNvSpPr/>
          <p:nvPr/>
        </p:nvSpPr>
        <p:spPr>
          <a:xfrm>
            <a:off x="914400" y="4242816"/>
            <a:ext cx="10515600" cy="310896"/>
          </a:xfrm>
          <a:prstGeom prst="rect">
            <a:avLst/>
          </a:prstGeom>
          <a:noFill/>
          <a:ln/>
        </p:spPr>
        <p:txBody>
          <a:bodyPr wrap="square" lIns="0" tIns="0" rIns="0" bIns="0" rtlCol="0" anchor="ctr"/>
          <a:lstStyle/>
          <a:p>
            <a:pPr indent="0" marL="0">
              <a:buNone/>
            </a:pPr>
            <a:r>
              <a:rPr lang="en-US" sz="1250" dirty="0">
                <a:solidFill>
                  <a:srgbClr val="000000"/>
                </a:solidFill>
                <a:latin typeface="Calibri" pitchFamily="34" charset="0"/>
                <a:ea typeface="Calibri" pitchFamily="34" charset="-122"/>
                <a:cs typeface="Calibri" pitchFamily="34" charset="-120"/>
              </a:rPr>
              <a:t>If a job looks like it is failing, tell staff. Do not intervene.</a:t>
            </a:r>
            <a:endParaRPr lang="en-US" sz="1250" dirty="0"/>
          </a:p>
        </p:txBody>
      </p:sp>
      <p:sp>
        <p:nvSpPr>
          <p:cNvPr id="17" name="Shape 15"/>
          <p:cNvSpPr/>
          <p:nvPr/>
        </p:nvSpPr>
        <p:spPr>
          <a:xfrm>
            <a:off x="662940" y="4933188"/>
            <a:ext cx="10972800" cy="822960"/>
          </a:xfrm>
          <a:prstGeom prst="rect">
            <a:avLst/>
          </a:prstGeom>
          <a:solidFill>
            <a:srgbClr val="000000"/>
          </a:solidFill>
          <a:ln w="6350">
            <a:solidFill>
              <a:srgbClr val="000000"/>
            </a:solidFill>
            <a:prstDash val="solid"/>
          </a:ln>
        </p:spPr>
      </p:sp>
      <p:sp>
        <p:nvSpPr>
          <p:cNvPr id="18" name="Shape 16"/>
          <p:cNvSpPr/>
          <p:nvPr/>
        </p:nvSpPr>
        <p:spPr>
          <a:xfrm>
            <a:off x="594360" y="4864608"/>
            <a:ext cx="10972800" cy="822960"/>
          </a:xfrm>
          <a:prstGeom prst="rect">
            <a:avLst/>
          </a:prstGeom>
          <a:solidFill>
            <a:srgbClr val="FFFDF7"/>
          </a:solidFill>
          <a:ln w="34925">
            <a:solidFill>
              <a:srgbClr val="000000"/>
            </a:solidFill>
            <a:prstDash val="solid"/>
          </a:ln>
        </p:spPr>
      </p:sp>
      <p:sp>
        <p:nvSpPr>
          <p:cNvPr id="19" name="Text 17"/>
          <p:cNvSpPr/>
          <p:nvPr/>
        </p:nvSpPr>
        <p:spPr>
          <a:xfrm>
            <a:off x="914400" y="4974336"/>
            <a:ext cx="5029200" cy="310896"/>
          </a:xfrm>
          <a:prstGeom prst="rect">
            <a:avLst/>
          </a:prstGeom>
          <a:noFill/>
          <a:ln/>
        </p:spPr>
        <p:txBody>
          <a:bodyPr wrap="square" lIns="0" tIns="0" rIns="0" bIns="0" rtlCol="0" anchor="ctr"/>
          <a:lstStyle/>
          <a:p>
            <a:pPr indent="0" marL="0">
              <a:buNone/>
            </a:pPr>
            <a:r>
              <a:rPr lang="en-US" sz="1250" b="1" spc="30" kern="0" dirty="0">
                <a:solidFill>
                  <a:srgbClr val="000000"/>
                </a:solidFill>
                <a:latin typeface="Arial" pitchFamily="34" charset="0"/>
                <a:ea typeface="Arial" pitchFamily="34" charset="-122"/>
                <a:cs typeface="Arial" pitchFamily="34" charset="-120"/>
              </a:rPr>
              <a:t>QUEUE IS FIRST COME</a:t>
            </a:r>
            <a:endParaRPr lang="en-US" sz="1250" dirty="0"/>
          </a:p>
        </p:txBody>
      </p:sp>
      <p:sp>
        <p:nvSpPr>
          <p:cNvPr id="20" name="Text 18"/>
          <p:cNvSpPr/>
          <p:nvPr/>
        </p:nvSpPr>
        <p:spPr>
          <a:xfrm>
            <a:off x="914400" y="5285232"/>
            <a:ext cx="10515600" cy="310896"/>
          </a:xfrm>
          <a:prstGeom prst="rect">
            <a:avLst/>
          </a:prstGeom>
          <a:noFill/>
          <a:ln/>
        </p:spPr>
        <p:txBody>
          <a:bodyPr wrap="square" lIns="0" tIns="0" rIns="0" bIns="0" rtlCol="0" anchor="ctr"/>
          <a:lstStyle/>
          <a:p>
            <a:pPr indent="0" marL="0">
              <a:buNone/>
            </a:pPr>
            <a:r>
              <a:rPr lang="en-US" sz="1250" dirty="0">
                <a:solidFill>
                  <a:srgbClr val="000000"/>
                </a:solidFill>
                <a:latin typeface="Calibri" pitchFamily="34" charset="0"/>
                <a:ea typeface="Calibri" pitchFamily="34" charset="-122"/>
                <a:cs typeface="Calibri" pitchFamily="34" charset="-120"/>
              </a:rPr>
              <a:t>A print that finishes at 3am still finishes. One that starts at the deadline does not.</a:t>
            </a:r>
            <a:endParaRPr lang="en-US" sz="1250" dirty="0"/>
          </a:p>
        </p:txBody>
      </p:sp>
      <p:sp>
        <p:nvSpPr>
          <p:cNvPr id="21" name="Shape 19"/>
          <p:cNvSpPr/>
          <p:nvPr/>
        </p:nvSpPr>
        <p:spPr>
          <a:xfrm>
            <a:off x="662940" y="5920740"/>
            <a:ext cx="10972800" cy="548640"/>
          </a:xfrm>
          <a:prstGeom prst="rect">
            <a:avLst/>
          </a:prstGeom>
          <a:solidFill>
            <a:srgbClr val="000000"/>
          </a:solidFill>
          <a:ln w="6350">
            <a:solidFill>
              <a:srgbClr val="000000"/>
            </a:solidFill>
            <a:prstDash val="solid"/>
          </a:ln>
        </p:spPr>
      </p:sp>
      <p:sp>
        <p:nvSpPr>
          <p:cNvPr id="22" name="Shape 20"/>
          <p:cNvSpPr/>
          <p:nvPr/>
        </p:nvSpPr>
        <p:spPr>
          <a:xfrm>
            <a:off x="594360" y="5852160"/>
            <a:ext cx="10972800" cy="548640"/>
          </a:xfrm>
          <a:prstGeom prst="rect">
            <a:avLst/>
          </a:prstGeom>
          <a:solidFill>
            <a:srgbClr val="000000"/>
          </a:solidFill>
          <a:ln w="34925">
            <a:solidFill>
              <a:srgbClr val="000000"/>
            </a:solidFill>
            <a:prstDash val="solid"/>
          </a:ln>
        </p:spPr>
      </p:sp>
      <p:sp>
        <p:nvSpPr>
          <p:cNvPr id="23" name="Text 21"/>
          <p:cNvSpPr/>
          <p:nvPr/>
        </p:nvSpPr>
        <p:spPr>
          <a:xfrm>
            <a:off x="914400" y="5961888"/>
            <a:ext cx="10515600" cy="329184"/>
          </a:xfrm>
          <a:prstGeom prst="rect">
            <a:avLst/>
          </a:prstGeom>
          <a:noFill/>
          <a:ln/>
        </p:spPr>
        <p:txBody>
          <a:bodyPr wrap="square" lIns="0" tIns="0" rIns="0" bIns="0" rtlCol="0" anchor="ctr"/>
          <a:lstStyle/>
          <a:p>
            <a:pPr indent="0" marL="0">
              <a:buNone/>
            </a:pPr>
            <a:r>
              <a:rPr lang="en-US" sz="1100" dirty="0">
                <a:solidFill>
                  <a:srgbClr val="FFE500"/>
                </a:solidFill>
                <a:latin typeface="Courier New" pitchFamily="34" charset="0"/>
                <a:ea typeface="Courier New" pitchFamily="34" charset="-122"/>
                <a:cs typeface="Courier New" pitchFamily="34" charset="-120"/>
              </a:rPr>
              <a:t>`[CONFIRM WITH DIEGO: BOOKING METHOD, FILE NAMING, PICK-UP, MATERIAL ALLOCATION]`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000000"/>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000000"/>
                </a:solidFill>
                <a:latin typeface="Arial" pitchFamily="34" charset="0"/>
                <a:ea typeface="Arial" pitchFamily="34" charset="-122"/>
                <a:cs typeface="Arial" pitchFamily="34" charset="-120"/>
              </a:rPr>
              <a:t>SIX WAYS IT GOES WRONG</a:t>
            </a:r>
            <a:endParaRPr lang="en-US" sz="3300" dirty="0"/>
          </a:p>
        </p:txBody>
      </p:sp>
      <p:sp>
        <p:nvSpPr>
          <p:cNvPr id="4" name="Text 2"/>
          <p:cNvSpPr/>
          <p:nvPr/>
        </p:nvSpPr>
        <p:spPr>
          <a:xfrm>
            <a:off x="594360" y="1261872"/>
            <a:ext cx="10972800" cy="310896"/>
          </a:xfrm>
          <a:prstGeom prst="rect">
            <a:avLst/>
          </a:prstGeom>
          <a:noFill/>
          <a:ln/>
        </p:spPr>
        <p:txBody>
          <a:bodyPr wrap="square" lIns="0" tIns="0" rIns="0" bIns="0" rtlCol="0" anchor="ctr"/>
          <a:lstStyle/>
          <a:p>
            <a:pPr indent="0" marL="0">
              <a:buNone/>
            </a:pPr>
            <a:r>
              <a:rPr lang="en-US" sz="1350" dirty="0">
                <a:solidFill>
                  <a:srgbClr val="6B6B6B"/>
                </a:solidFill>
                <a:latin typeface="Calibri" pitchFamily="34" charset="0"/>
                <a:ea typeface="Calibri" pitchFamily="34" charset="-122"/>
                <a:cs typeface="Calibri" pitchFamily="34" charset="-120"/>
              </a:rPr>
              <a:t>Learn to name the failure. Naming it is most of the diagnosis.</a:t>
            </a:r>
            <a:endParaRPr lang="en-US" sz="1350" dirty="0"/>
          </a:p>
        </p:txBody>
      </p:sp>
      <p:sp>
        <p:nvSpPr>
          <p:cNvPr id="5" name="Shape 3"/>
          <p:cNvSpPr/>
          <p:nvPr/>
        </p:nvSpPr>
        <p:spPr>
          <a:xfrm>
            <a:off x="662940" y="1732788"/>
            <a:ext cx="3383280" cy="2148840"/>
          </a:xfrm>
          <a:prstGeom prst="rect">
            <a:avLst/>
          </a:prstGeom>
          <a:solidFill>
            <a:srgbClr val="000000"/>
          </a:solidFill>
          <a:ln w="6350">
            <a:solidFill>
              <a:srgbClr val="000000"/>
            </a:solidFill>
            <a:prstDash val="solid"/>
          </a:ln>
        </p:spPr>
      </p:sp>
      <p:sp>
        <p:nvSpPr>
          <p:cNvPr id="6" name="Shape 4"/>
          <p:cNvSpPr/>
          <p:nvPr/>
        </p:nvSpPr>
        <p:spPr>
          <a:xfrm>
            <a:off x="594360" y="1664208"/>
            <a:ext cx="3383280" cy="2148840"/>
          </a:xfrm>
          <a:prstGeom prst="rect">
            <a:avLst/>
          </a:prstGeom>
          <a:solidFill>
            <a:srgbClr val="FFFDF7"/>
          </a:solidFill>
          <a:ln w="34925">
            <a:solidFill>
              <a:srgbClr val="000000"/>
            </a:solidFill>
            <a:prstDash val="solid"/>
          </a:ln>
        </p:spPr>
      </p:sp>
      <p:sp>
        <p:nvSpPr>
          <p:cNvPr id="7" name="Shape 5"/>
          <p:cNvSpPr/>
          <p:nvPr/>
        </p:nvSpPr>
        <p:spPr>
          <a:xfrm>
            <a:off x="594360" y="1664208"/>
            <a:ext cx="3383280" cy="402336"/>
          </a:xfrm>
          <a:prstGeom prst="rect">
            <a:avLst/>
          </a:prstGeom>
          <a:solidFill>
            <a:srgbClr val="FF4D8D"/>
          </a:solidFill>
          <a:ln w="34925">
            <a:solidFill>
              <a:srgbClr val="000000"/>
            </a:solidFill>
            <a:prstDash val="solid"/>
          </a:ln>
        </p:spPr>
      </p:sp>
      <p:sp>
        <p:nvSpPr>
          <p:cNvPr id="8" name="Text 6"/>
          <p:cNvSpPr/>
          <p:nvPr/>
        </p:nvSpPr>
        <p:spPr>
          <a:xfrm>
            <a:off x="795528" y="1719072"/>
            <a:ext cx="2980944" cy="274320"/>
          </a:xfrm>
          <a:prstGeom prst="rect">
            <a:avLst/>
          </a:prstGeom>
          <a:noFill/>
          <a:ln/>
        </p:spPr>
        <p:txBody>
          <a:bodyPr wrap="square" lIns="0" tIns="0" rIns="0" bIns="0" rtlCol="0" anchor="ctr"/>
          <a:lstStyle/>
          <a:p>
            <a:pPr indent="0" marL="0">
              <a:buNone/>
            </a:pPr>
            <a:r>
              <a:rPr lang="en-US" sz="1150" b="1" spc="40" kern="0" dirty="0">
                <a:solidFill>
                  <a:srgbClr val="000000"/>
                </a:solidFill>
                <a:latin typeface="Arial" pitchFamily="34" charset="0"/>
                <a:ea typeface="Arial" pitchFamily="34" charset="-122"/>
                <a:cs typeface="Arial" pitchFamily="34" charset="-120"/>
              </a:rPr>
              <a:t>WARPING</a:t>
            </a:r>
            <a:endParaRPr lang="en-US" sz="1150" dirty="0"/>
          </a:p>
        </p:txBody>
      </p:sp>
      <p:sp>
        <p:nvSpPr>
          <p:cNvPr id="9" name="Shape 7"/>
          <p:cNvSpPr/>
          <p:nvPr/>
        </p:nvSpPr>
        <p:spPr>
          <a:xfrm>
            <a:off x="795528" y="2194560"/>
            <a:ext cx="1051560" cy="868680"/>
          </a:xfrm>
          <a:prstGeom prst="rect">
            <a:avLst/>
          </a:prstGeom>
          <a:solidFill>
            <a:srgbClr val="F4F4EE"/>
          </a:solidFill>
          <a:ln w="15875">
            <a:solidFill>
              <a:srgbClr val="C9C9C0"/>
            </a:solidFill>
            <a:prstDash val="solid"/>
          </a:ln>
        </p:spPr>
      </p:sp>
      <p:sp>
        <p:nvSpPr>
          <p:cNvPr id="10" name="Shape 8"/>
          <p:cNvSpPr/>
          <p:nvPr/>
        </p:nvSpPr>
        <p:spPr>
          <a:xfrm>
            <a:off x="868680" y="2971800"/>
            <a:ext cx="905256" cy="54864"/>
          </a:xfrm>
          <a:prstGeom prst="rect">
            <a:avLst/>
          </a:prstGeom>
          <a:solidFill>
            <a:srgbClr val="000000"/>
          </a:solidFill>
          <a:ln/>
        </p:spPr>
      </p:sp>
      <p:sp>
        <p:nvSpPr>
          <p:cNvPr id="11" name="Shape 9"/>
          <p:cNvSpPr/>
          <p:nvPr/>
        </p:nvSpPr>
        <p:spPr>
          <a:xfrm>
            <a:off x="1069848" y="2660904"/>
            <a:ext cx="502920" cy="310896"/>
          </a:xfrm>
          <a:prstGeom prst="rect">
            <a:avLst/>
          </a:prstGeom>
          <a:solidFill>
            <a:srgbClr val="FFFDF7"/>
          </a:solidFill>
          <a:ln w="22225">
            <a:solidFill>
              <a:srgbClr val="000000"/>
            </a:solidFill>
            <a:prstDash val="solid"/>
          </a:ln>
        </p:spPr>
      </p:sp>
      <p:sp>
        <p:nvSpPr>
          <p:cNvPr id="12" name="Shape 10"/>
          <p:cNvSpPr/>
          <p:nvPr/>
        </p:nvSpPr>
        <p:spPr>
          <a:xfrm>
            <a:off x="1069848" y="2971800"/>
            <a:ext cx="-146304" cy="-128016"/>
          </a:xfrm>
          <a:prstGeom prst="line">
            <a:avLst/>
          </a:prstGeom>
          <a:noFill/>
          <a:ln w="25400">
            <a:solidFill>
              <a:srgbClr val="FF4D8D"/>
            </a:solidFill>
            <a:prstDash val="solid"/>
          </a:ln>
        </p:spPr>
      </p:sp>
      <p:sp>
        <p:nvSpPr>
          <p:cNvPr id="13" name="Shape 11"/>
          <p:cNvSpPr/>
          <p:nvPr/>
        </p:nvSpPr>
        <p:spPr>
          <a:xfrm>
            <a:off x="1572768" y="2971800"/>
            <a:ext cx="146304" cy="-128016"/>
          </a:xfrm>
          <a:prstGeom prst="line">
            <a:avLst/>
          </a:prstGeom>
          <a:noFill/>
          <a:ln w="25400">
            <a:solidFill>
              <a:srgbClr val="FF4D8D"/>
            </a:solidFill>
            <a:prstDash val="solid"/>
          </a:ln>
        </p:spPr>
      </p:sp>
      <p:sp>
        <p:nvSpPr>
          <p:cNvPr id="14" name="Text 12"/>
          <p:cNvSpPr/>
          <p:nvPr/>
        </p:nvSpPr>
        <p:spPr>
          <a:xfrm>
            <a:off x="1984248" y="2176272"/>
            <a:ext cx="1792224" cy="45720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Calibri" pitchFamily="34" charset="0"/>
                <a:ea typeface="Calibri" pitchFamily="34" charset="-122"/>
                <a:cs typeface="Calibri" pitchFamily="34" charset="-120"/>
              </a:rPr>
              <a:t>Corners lift off the bed and the base curves.</a:t>
            </a:r>
            <a:endParaRPr lang="en-US" sz="1050" dirty="0"/>
          </a:p>
        </p:txBody>
      </p:sp>
      <p:sp>
        <p:nvSpPr>
          <p:cNvPr id="15" name="Text 13"/>
          <p:cNvSpPr/>
          <p:nvPr/>
        </p:nvSpPr>
        <p:spPr>
          <a:xfrm>
            <a:off x="1984248" y="2688336"/>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CAUSE</a:t>
            </a:r>
            <a:endParaRPr lang="en-US" sz="750" dirty="0"/>
          </a:p>
        </p:txBody>
      </p:sp>
      <p:sp>
        <p:nvSpPr>
          <p:cNvPr id="16" name="Text 14"/>
          <p:cNvSpPr/>
          <p:nvPr/>
        </p:nvSpPr>
        <p:spPr>
          <a:xfrm>
            <a:off x="1984248" y="2852928"/>
            <a:ext cx="1792224" cy="310896"/>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Cooling shrinkage beats bed adhesion.</a:t>
            </a:r>
            <a:endParaRPr lang="en-US" sz="1000" dirty="0"/>
          </a:p>
        </p:txBody>
      </p:sp>
      <p:sp>
        <p:nvSpPr>
          <p:cNvPr id="17" name="Text 15"/>
          <p:cNvSpPr/>
          <p:nvPr/>
        </p:nvSpPr>
        <p:spPr>
          <a:xfrm>
            <a:off x="1984248" y="3200400"/>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FIX</a:t>
            </a:r>
            <a:endParaRPr lang="en-US" sz="750" dirty="0"/>
          </a:p>
        </p:txBody>
      </p:sp>
      <p:sp>
        <p:nvSpPr>
          <p:cNvPr id="18" name="Text 16"/>
          <p:cNvSpPr/>
          <p:nvPr/>
        </p:nvSpPr>
        <p:spPr>
          <a:xfrm>
            <a:off x="1984248" y="3364992"/>
            <a:ext cx="1792224" cy="365760"/>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Clean bed, add a brim, keep drafts off it.</a:t>
            </a:r>
            <a:endParaRPr lang="en-US" sz="1000" dirty="0"/>
          </a:p>
        </p:txBody>
      </p:sp>
      <p:sp>
        <p:nvSpPr>
          <p:cNvPr id="19" name="Shape 17"/>
          <p:cNvSpPr/>
          <p:nvPr/>
        </p:nvSpPr>
        <p:spPr>
          <a:xfrm>
            <a:off x="4457700" y="1732788"/>
            <a:ext cx="3383280" cy="2148840"/>
          </a:xfrm>
          <a:prstGeom prst="rect">
            <a:avLst/>
          </a:prstGeom>
          <a:solidFill>
            <a:srgbClr val="000000"/>
          </a:solidFill>
          <a:ln w="6350">
            <a:solidFill>
              <a:srgbClr val="000000"/>
            </a:solidFill>
            <a:prstDash val="solid"/>
          </a:ln>
        </p:spPr>
      </p:sp>
      <p:sp>
        <p:nvSpPr>
          <p:cNvPr id="20" name="Shape 18"/>
          <p:cNvSpPr/>
          <p:nvPr/>
        </p:nvSpPr>
        <p:spPr>
          <a:xfrm>
            <a:off x="4389120" y="1664208"/>
            <a:ext cx="3383280" cy="2148840"/>
          </a:xfrm>
          <a:prstGeom prst="rect">
            <a:avLst/>
          </a:prstGeom>
          <a:solidFill>
            <a:srgbClr val="FFFDF7"/>
          </a:solidFill>
          <a:ln w="34925">
            <a:solidFill>
              <a:srgbClr val="000000"/>
            </a:solidFill>
            <a:prstDash val="solid"/>
          </a:ln>
        </p:spPr>
      </p:sp>
      <p:sp>
        <p:nvSpPr>
          <p:cNvPr id="21" name="Shape 19"/>
          <p:cNvSpPr/>
          <p:nvPr/>
        </p:nvSpPr>
        <p:spPr>
          <a:xfrm>
            <a:off x="4389120" y="1664208"/>
            <a:ext cx="3383280" cy="402336"/>
          </a:xfrm>
          <a:prstGeom prst="rect">
            <a:avLst/>
          </a:prstGeom>
          <a:solidFill>
            <a:srgbClr val="FFE500"/>
          </a:solidFill>
          <a:ln w="34925">
            <a:solidFill>
              <a:srgbClr val="000000"/>
            </a:solidFill>
            <a:prstDash val="solid"/>
          </a:ln>
        </p:spPr>
      </p:sp>
      <p:sp>
        <p:nvSpPr>
          <p:cNvPr id="22" name="Text 20"/>
          <p:cNvSpPr/>
          <p:nvPr/>
        </p:nvSpPr>
        <p:spPr>
          <a:xfrm>
            <a:off x="4590288" y="1719072"/>
            <a:ext cx="2980944" cy="274320"/>
          </a:xfrm>
          <a:prstGeom prst="rect">
            <a:avLst/>
          </a:prstGeom>
          <a:noFill/>
          <a:ln/>
        </p:spPr>
        <p:txBody>
          <a:bodyPr wrap="square" lIns="0" tIns="0" rIns="0" bIns="0" rtlCol="0" anchor="ctr"/>
          <a:lstStyle/>
          <a:p>
            <a:pPr indent="0" marL="0">
              <a:buNone/>
            </a:pPr>
            <a:r>
              <a:rPr lang="en-US" sz="1150" b="1" spc="40" kern="0" dirty="0">
                <a:solidFill>
                  <a:srgbClr val="000000"/>
                </a:solidFill>
                <a:latin typeface="Arial" pitchFamily="34" charset="0"/>
                <a:ea typeface="Arial" pitchFamily="34" charset="-122"/>
                <a:cs typeface="Arial" pitchFamily="34" charset="-120"/>
              </a:rPr>
              <a:t>ELEPHANT'S FOOT</a:t>
            </a:r>
            <a:endParaRPr lang="en-US" sz="1150" dirty="0"/>
          </a:p>
        </p:txBody>
      </p:sp>
      <p:sp>
        <p:nvSpPr>
          <p:cNvPr id="23" name="Shape 21"/>
          <p:cNvSpPr/>
          <p:nvPr/>
        </p:nvSpPr>
        <p:spPr>
          <a:xfrm>
            <a:off x="4590288" y="2194560"/>
            <a:ext cx="1051560" cy="868680"/>
          </a:xfrm>
          <a:prstGeom prst="rect">
            <a:avLst/>
          </a:prstGeom>
          <a:solidFill>
            <a:srgbClr val="F4F4EE"/>
          </a:solidFill>
          <a:ln w="15875">
            <a:solidFill>
              <a:srgbClr val="C9C9C0"/>
            </a:solidFill>
            <a:prstDash val="solid"/>
          </a:ln>
        </p:spPr>
      </p:sp>
      <p:sp>
        <p:nvSpPr>
          <p:cNvPr id="24" name="Shape 22"/>
          <p:cNvSpPr/>
          <p:nvPr/>
        </p:nvSpPr>
        <p:spPr>
          <a:xfrm>
            <a:off x="4663440" y="2971800"/>
            <a:ext cx="905256" cy="54864"/>
          </a:xfrm>
          <a:prstGeom prst="rect">
            <a:avLst/>
          </a:prstGeom>
          <a:solidFill>
            <a:srgbClr val="000000"/>
          </a:solidFill>
          <a:ln/>
        </p:spPr>
      </p:sp>
      <p:sp>
        <p:nvSpPr>
          <p:cNvPr id="25" name="Shape 23"/>
          <p:cNvSpPr/>
          <p:nvPr/>
        </p:nvSpPr>
        <p:spPr>
          <a:xfrm>
            <a:off x="4919472" y="2587752"/>
            <a:ext cx="402336" cy="310896"/>
          </a:xfrm>
          <a:prstGeom prst="rect">
            <a:avLst/>
          </a:prstGeom>
          <a:solidFill>
            <a:srgbClr val="FFFDF7"/>
          </a:solidFill>
          <a:ln w="22225">
            <a:solidFill>
              <a:srgbClr val="000000"/>
            </a:solidFill>
            <a:prstDash val="solid"/>
          </a:ln>
        </p:spPr>
      </p:sp>
      <p:sp>
        <p:nvSpPr>
          <p:cNvPr id="26" name="Shape 24"/>
          <p:cNvSpPr/>
          <p:nvPr/>
        </p:nvSpPr>
        <p:spPr>
          <a:xfrm>
            <a:off x="4828032" y="2880360"/>
            <a:ext cx="585216" cy="91440"/>
          </a:xfrm>
          <a:prstGeom prst="rect">
            <a:avLst/>
          </a:prstGeom>
          <a:solidFill>
            <a:srgbClr val="FFE500"/>
          </a:solidFill>
          <a:ln w="22225">
            <a:solidFill>
              <a:srgbClr val="000000"/>
            </a:solidFill>
            <a:prstDash val="solid"/>
          </a:ln>
        </p:spPr>
      </p:sp>
      <p:sp>
        <p:nvSpPr>
          <p:cNvPr id="27" name="Text 25"/>
          <p:cNvSpPr/>
          <p:nvPr/>
        </p:nvSpPr>
        <p:spPr>
          <a:xfrm>
            <a:off x="5779008" y="2176272"/>
            <a:ext cx="1792224" cy="45720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Calibri" pitchFamily="34" charset="0"/>
                <a:ea typeface="Calibri" pitchFamily="34" charset="-122"/>
                <a:cs typeface="Calibri" pitchFamily="34" charset="-120"/>
              </a:rPr>
              <a:t>The bottom few layers bulge out wider than the rest.</a:t>
            </a:r>
            <a:endParaRPr lang="en-US" sz="1050" dirty="0"/>
          </a:p>
        </p:txBody>
      </p:sp>
      <p:sp>
        <p:nvSpPr>
          <p:cNvPr id="28" name="Text 26"/>
          <p:cNvSpPr/>
          <p:nvPr/>
        </p:nvSpPr>
        <p:spPr>
          <a:xfrm>
            <a:off x="5779008" y="2688336"/>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CAUSE</a:t>
            </a:r>
            <a:endParaRPr lang="en-US" sz="750" dirty="0"/>
          </a:p>
        </p:txBody>
      </p:sp>
      <p:sp>
        <p:nvSpPr>
          <p:cNvPr id="29" name="Text 27"/>
          <p:cNvSpPr/>
          <p:nvPr/>
        </p:nvSpPr>
        <p:spPr>
          <a:xfrm>
            <a:off x="5779008" y="2852928"/>
            <a:ext cx="1792224" cy="310896"/>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Nozzle too close, or bed too hot.</a:t>
            </a:r>
            <a:endParaRPr lang="en-US" sz="1000" dirty="0"/>
          </a:p>
        </p:txBody>
      </p:sp>
      <p:sp>
        <p:nvSpPr>
          <p:cNvPr id="30" name="Text 28"/>
          <p:cNvSpPr/>
          <p:nvPr/>
        </p:nvSpPr>
        <p:spPr>
          <a:xfrm>
            <a:off x="5779008" y="3200400"/>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FIX</a:t>
            </a:r>
            <a:endParaRPr lang="en-US" sz="750" dirty="0"/>
          </a:p>
        </p:txBody>
      </p:sp>
      <p:sp>
        <p:nvSpPr>
          <p:cNvPr id="31" name="Text 29"/>
          <p:cNvSpPr/>
          <p:nvPr/>
        </p:nvSpPr>
        <p:spPr>
          <a:xfrm>
            <a:off x="5779008" y="3364992"/>
            <a:ext cx="1792224" cy="365760"/>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Slicer setting — or chamfer the base yourself.</a:t>
            </a:r>
            <a:endParaRPr lang="en-US" sz="1000" dirty="0"/>
          </a:p>
        </p:txBody>
      </p:sp>
      <p:sp>
        <p:nvSpPr>
          <p:cNvPr id="32" name="Shape 30"/>
          <p:cNvSpPr/>
          <p:nvPr/>
        </p:nvSpPr>
        <p:spPr>
          <a:xfrm>
            <a:off x="8252460" y="1732788"/>
            <a:ext cx="3383280" cy="2148840"/>
          </a:xfrm>
          <a:prstGeom prst="rect">
            <a:avLst/>
          </a:prstGeom>
          <a:solidFill>
            <a:srgbClr val="000000"/>
          </a:solidFill>
          <a:ln w="6350">
            <a:solidFill>
              <a:srgbClr val="000000"/>
            </a:solidFill>
            <a:prstDash val="solid"/>
          </a:ln>
        </p:spPr>
      </p:sp>
      <p:sp>
        <p:nvSpPr>
          <p:cNvPr id="33" name="Shape 31"/>
          <p:cNvSpPr/>
          <p:nvPr/>
        </p:nvSpPr>
        <p:spPr>
          <a:xfrm>
            <a:off x="8183880" y="1664208"/>
            <a:ext cx="3383280" cy="2148840"/>
          </a:xfrm>
          <a:prstGeom prst="rect">
            <a:avLst/>
          </a:prstGeom>
          <a:solidFill>
            <a:srgbClr val="FFFDF7"/>
          </a:solidFill>
          <a:ln w="34925">
            <a:solidFill>
              <a:srgbClr val="000000"/>
            </a:solidFill>
            <a:prstDash val="solid"/>
          </a:ln>
        </p:spPr>
      </p:sp>
      <p:sp>
        <p:nvSpPr>
          <p:cNvPr id="34" name="Shape 32"/>
          <p:cNvSpPr/>
          <p:nvPr/>
        </p:nvSpPr>
        <p:spPr>
          <a:xfrm>
            <a:off x="8183880" y="1664208"/>
            <a:ext cx="3383280" cy="402336"/>
          </a:xfrm>
          <a:prstGeom prst="rect">
            <a:avLst/>
          </a:prstGeom>
          <a:solidFill>
            <a:srgbClr val="00D9E1"/>
          </a:solidFill>
          <a:ln w="34925">
            <a:solidFill>
              <a:srgbClr val="000000"/>
            </a:solidFill>
            <a:prstDash val="solid"/>
          </a:ln>
        </p:spPr>
      </p:sp>
      <p:sp>
        <p:nvSpPr>
          <p:cNvPr id="35" name="Text 33"/>
          <p:cNvSpPr/>
          <p:nvPr/>
        </p:nvSpPr>
        <p:spPr>
          <a:xfrm>
            <a:off x="8385048" y="1719072"/>
            <a:ext cx="2980944" cy="274320"/>
          </a:xfrm>
          <a:prstGeom prst="rect">
            <a:avLst/>
          </a:prstGeom>
          <a:noFill/>
          <a:ln/>
        </p:spPr>
        <p:txBody>
          <a:bodyPr wrap="square" lIns="0" tIns="0" rIns="0" bIns="0" rtlCol="0" anchor="ctr"/>
          <a:lstStyle/>
          <a:p>
            <a:pPr indent="0" marL="0">
              <a:buNone/>
            </a:pPr>
            <a:r>
              <a:rPr lang="en-US" sz="1150" b="1" spc="40" kern="0" dirty="0">
                <a:solidFill>
                  <a:srgbClr val="000000"/>
                </a:solidFill>
                <a:latin typeface="Arial" pitchFamily="34" charset="0"/>
                <a:ea typeface="Arial" pitchFamily="34" charset="-122"/>
                <a:cs typeface="Arial" pitchFamily="34" charset="-120"/>
              </a:rPr>
              <a:t>STRINGING</a:t>
            </a:r>
            <a:endParaRPr lang="en-US" sz="1150" dirty="0"/>
          </a:p>
        </p:txBody>
      </p:sp>
      <p:sp>
        <p:nvSpPr>
          <p:cNvPr id="36" name="Shape 34"/>
          <p:cNvSpPr/>
          <p:nvPr/>
        </p:nvSpPr>
        <p:spPr>
          <a:xfrm>
            <a:off x="8385048" y="2194560"/>
            <a:ext cx="1051560" cy="868680"/>
          </a:xfrm>
          <a:prstGeom prst="rect">
            <a:avLst/>
          </a:prstGeom>
          <a:solidFill>
            <a:srgbClr val="F4F4EE"/>
          </a:solidFill>
          <a:ln w="15875">
            <a:solidFill>
              <a:srgbClr val="C9C9C0"/>
            </a:solidFill>
            <a:prstDash val="solid"/>
          </a:ln>
        </p:spPr>
      </p:sp>
      <p:sp>
        <p:nvSpPr>
          <p:cNvPr id="37" name="Shape 35"/>
          <p:cNvSpPr/>
          <p:nvPr/>
        </p:nvSpPr>
        <p:spPr>
          <a:xfrm>
            <a:off x="8458200" y="2971800"/>
            <a:ext cx="905256" cy="54864"/>
          </a:xfrm>
          <a:prstGeom prst="rect">
            <a:avLst/>
          </a:prstGeom>
          <a:solidFill>
            <a:srgbClr val="000000"/>
          </a:solidFill>
          <a:ln/>
        </p:spPr>
      </p:sp>
      <p:sp>
        <p:nvSpPr>
          <p:cNvPr id="38" name="Shape 36"/>
          <p:cNvSpPr/>
          <p:nvPr/>
        </p:nvSpPr>
        <p:spPr>
          <a:xfrm>
            <a:off x="8531352" y="2606040"/>
            <a:ext cx="256032" cy="365760"/>
          </a:xfrm>
          <a:prstGeom prst="rect">
            <a:avLst/>
          </a:prstGeom>
          <a:solidFill>
            <a:srgbClr val="FFFDF7"/>
          </a:solidFill>
          <a:ln w="22225">
            <a:solidFill>
              <a:srgbClr val="000000"/>
            </a:solidFill>
            <a:prstDash val="solid"/>
          </a:ln>
        </p:spPr>
      </p:sp>
      <p:sp>
        <p:nvSpPr>
          <p:cNvPr id="39" name="Shape 37"/>
          <p:cNvSpPr/>
          <p:nvPr/>
        </p:nvSpPr>
        <p:spPr>
          <a:xfrm>
            <a:off x="9043416" y="2606040"/>
            <a:ext cx="256032" cy="365760"/>
          </a:xfrm>
          <a:prstGeom prst="rect">
            <a:avLst/>
          </a:prstGeom>
          <a:solidFill>
            <a:srgbClr val="FFFDF7"/>
          </a:solidFill>
          <a:ln w="22225">
            <a:solidFill>
              <a:srgbClr val="000000"/>
            </a:solidFill>
            <a:prstDash val="solid"/>
          </a:ln>
        </p:spPr>
      </p:sp>
      <p:sp>
        <p:nvSpPr>
          <p:cNvPr id="40" name="Shape 38"/>
          <p:cNvSpPr/>
          <p:nvPr/>
        </p:nvSpPr>
        <p:spPr>
          <a:xfrm>
            <a:off x="8787384" y="2670048"/>
            <a:ext cx="256032" cy="18288"/>
          </a:xfrm>
          <a:prstGeom prst="line">
            <a:avLst/>
          </a:prstGeom>
          <a:noFill/>
          <a:ln w="15875">
            <a:solidFill>
              <a:srgbClr val="00D9E1"/>
            </a:solidFill>
            <a:prstDash val="solid"/>
          </a:ln>
        </p:spPr>
      </p:sp>
      <p:sp>
        <p:nvSpPr>
          <p:cNvPr id="41" name="Shape 39"/>
          <p:cNvSpPr/>
          <p:nvPr/>
        </p:nvSpPr>
        <p:spPr>
          <a:xfrm>
            <a:off x="8787384" y="2752344"/>
            <a:ext cx="256032" cy="18288"/>
          </a:xfrm>
          <a:prstGeom prst="line">
            <a:avLst/>
          </a:prstGeom>
          <a:noFill/>
          <a:ln w="15875">
            <a:solidFill>
              <a:srgbClr val="00D9E1"/>
            </a:solidFill>
            <a:prstDash val="solid"/>
          </a:ln>
        </p:spPr>
      </p:sp>
      <p:sp>
        <p:nvSpPr>
          <p:cNvPr id="42" name="Shape 40"/>
          <p:cNvSpPr/>
          <p:nvPr/>
        </p:nvSpPr>
        <p:spPr>
          <a:xfrm>
            <a:off x="8787384" y="2834640"/>
            <a:ext cx="256032" cy="18288"/>
          </a:xfrm>
          <a:prstGeom prst="line">
            <a:avLst/>
          </a:prstGeom>
          <a:noFill/>
          <a:ln w="15875">
            <a:solidFill>
              <a:srgbClr val="00D9E1"/>
            </a:solidFill>
            <a:prstDash val="solid"/>
          </a:ln>
        </p:spPr>
      </p:sp>
      <p:sp>
        <p:nvSpPr>
          <p:cNvPr id="43" name="Text 41"/>
          <p:cNvSpPr/>
          <p:nvPr/>
        </p:nvSpPr>
        <p:spPr>
          <a:xfrm>
            <a:off x="9573768" y="2176272"/>
            <a:ext cx="1792224" cy="45720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Calibri" pitchFamily="34" charset="0"/>
                <a:ea typeface="Calibri" pitchFamily="34" charset="-122"/>
                <a:cs typeface="Calibri" pitchFamily="34" charset="-120"/>
              </a:rPr>
              <a:t>Fine hairs between separate parts of the print.</a:t>
            </a:r>
            <a:endParaRPr lang="en-US" sz="1050" dirty="0"/>
          </a:p>
        </p:txBody>
      </p:sp>
      <p:sp>
        <p:nvSpPr>
          <p:cNvPr id="44" name="Text 42"/>
          <p:cNvSpPr/>
          <p:nvPr/>
        </p:nvSpPr>
        <p:spPr>
          <a:xfrm>
            <a:off x="9573768" y="2688336"/>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CAUSE</a:t>
            </a:r>
            <a:endParaRPr lang="en-US" sz="750" dirty="0"/>
          </a:p>
        </p:txBody>
      </p:sp>
      <p:sp>
        <p:nvSpPr>
          <p:cNvPr id="45" name="Text 43"/>
          <p:cNvSpPr/>
          <p:nvPr/>
        </p:nvSpPr>
        <p:spPr>
          <a:xfrm>
            <a:off x="9573768" y="2852928"/>
            <a:ext cx="1792224" cy="310896"/>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The nozzle oozes while travelling.</a:t>
            </a:r>
            <a:endParaRPr lang="en-US" sz="1000" dirty="0"/>
          </a:p>
        </p:txBody>
      </p:sp>
      <p:sp>
        <p:nvSpPr>
          <p:cNvPr id="46" name="Text 44"/>
          <p:cNvSpPr/>
          <p:nvPr/>
        </p:nvSpPr>
        <p:spPr>
          <a:xfrm>
            <a:off x="9573768" y="3200400"/>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FIX</a:t>
            </a:r>
            <a:endParaRPr lang="en-US" sz="750" dirty="0"/>
          </a:p>
        </p:txBody>
      </p:sp>
      <p:sp>
        <p:nvSpPr>
          <p:cNvPr id="47" name="Text 45"/>
          <p:cNvSpPr/>
          <p:nvPr/>
        </p:nvSpPr>
        <p:spPr>
          <a:xfrm>
            <a:off x="9573768" y="3364992"/>
            <a:ext cx="1792224" cy="365760"/>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Retraction on. Fewer travel moves — ordering again.</a:t>
            </a:r>
            <a:endParaRPr lang="en-US" sz="1000" dirty="0"/>
          </a:p>
        </p:txBody>
      </p:sp>
      <p:sp>
        <p:nvSpPr>
          <p:cNvPr id="48" name="Shape 46"/>
          <p:cNvSpPr/>
          <p:nvPr/>
        </p:nvSpPr>
        <p:spPr>
          <a:xfrm>
            <a:off x="662940" y="4174236"/>
            <a:ext cx="3383280" cy="2148840"/>
          </a:xfrm>
          <a:prstGeom prst="rect">
            <a:avLst/>
          </a:prstGeom>
          <a:solidFill>
            <a:srgbClr val="000000"/>
          </a:solidFill>
          <a:ln w="6350">
            <a:solidFill>
              <a:srgbClr val="000000"/>
            </a:solidFill>
            <a:prstDash val="solid"/>
          </a:ln>
        </p:spPr>
      </p:sp>
      <p:sp>
        <p:nvSpPr>
          <p:cNvPr id="49" name="Shape 47"/>
          <p:cNvSpPr/>
          <p:nvPr/>
        </p:nvSpPr>
        <p:spPr>
          <a:xfrm>
            <a:off x="594360" y="4105656"/>
            <a:ext cx="3383280" cy="2148840"/>
          </a:xfrm>
          <a:prstGeom prst="rect">
            <a:avLst/>
          </a:prstGeom>
          <a:solidFill>
            <a:srgbClr val="FFFDF7"/>
          </a:solidFill>
          <a:ln w="34925">
            <a:solidFill>
              <a:srgbClr val="000000"/>
            </a:solidFill>
            <a:prstDash val="solid"/>
          </a:ln>
        </p:spPr>
      </p:sp>
      <p:sp>
        <p:nvSpPr>
          <p:cNvPr id="50" name="Shape 48"/>
          <p:cNvSpPr/>
          <p:nvPr/>
        </p:nvSpPr>
        <p:spPr>
          <a:xfrm>
            <a:off x="594360" y="4105656"/>
            <a:ext cx="3383280" cy="402336"/>
          </a:xfrm>
          <a:prstGeom prst="rect">
            <a:avLst/>
          </a:prstGeom>
          <a:solidFill>
            <a:srgbClr val="FF4D8D"/>
          </a:solidFill>
          <a:ln w="34925">
            <a:solidFill>
              <a:srgbClr val="000000"/>
            </a:solidFill>
            <a:prstDash val="solid"/>
          </a:ln>
        </p:spPr>
      </p:sp>
      <p:sp>
        <p:nvSpPr>
          <p:cNvPr id="51" name="Text 49"/>
          <p:cNvSpPr/>
          <p:nvPr/>
        </p:nvSpPr>
        <p:spPr>
          <a:xfrm>
            <a:off x="795528" y="4160520"/>
            <a:ext cx="2980944" cy="274320"/>
          </a:xfrm>
          <a:prstGeom prst="rect">
            <a:avLst/>
          </a:prstGeom>
          <a:noFill/>
          <a:ln/>
        </p:spPr>
        <p:txBody>
          <a:bodyPr wrap="square" lIns="0" tIns="0" rIns="0" bIns="0" rtlCol="0" anchor="ctr"/>
          <a:lstStyle/>
          <a:p>
            <a:pPr indent="0" marL="0">
              <a:buNone/>
            </a:pPr>
            <a:r>
              <a:rPr lang="en-US" sz="1150" b="1" spc="40" kern="0" dirty="0">
                <a:solidFill>
                  <a:srgbClr val="000000"/>
                </a:solidFill>
                <a:latin typeface="Arial" pitchFamily="34" charset="0"/>
                <a:ea typeface="Arial" pitchFamily="34" charset="-122"/>
                <a:cs typeface="Arial" pitchFamily="34" charset="-120"/>
              </a:rPr>
              <a:t>LAYER SEPARATION</a:t>
            </a:r>
            <a:endParaRPr lang="en-US" sz="1150" dirty="0"/>
          </a:p>
        </p:txBody>
      </p:sp>
      <p:sp>
        <p:nvSpPr>
          <p:cNvPr id="52" name="Shape 50"/>
          <p:cNvSpPr/>
          <p:nvPr/>
        </p:nvSpPr>
        <p:spPr>
          <a:xfrm>
            <a:off x="795528" y="4636008"/>
            <a:ext cx="1051560" cy="868680"/>
          </a:xfrm>
          <a:prstGeom prst="rect">
            <a:avLst/>
          </a:prstGeom>
          <a:solidFill>
            <a:srgbClr val="F4F4EE"/>
          </a:solidFill>
          <a:ln w="15875">
            <a:solidFill>
              <a:srgbClr val="C9C9C0"/>
            </a:solidFill>
            <a:prstDash val="solid"/>
          </a:ln>
        </p:spPr>
      </p:sp>
      <p:sp>
        <p:nvSpPr>
          <p:cNvPr id="53" name="Shape 51"/>
          <p:cNvSpPr/>
          <p:nvPr/>
        </p:nvSpPr>
        <p:spPr>
          <a:xfrm>
            <a:off x="868680" y="5413248"/>
            <a:ext cx="905256" cy="54864"/>
          </a:xfrm>
          <a:prstGeom prst="rect">
            <a:avLst/>
          </a:prstGeom>
          <a:solidFill>
            <a:srgbClr val="000000"/>
          </a:solidFill>
          <a:ln/>
        </p:spPr>
      </p:sp>
      <p:sp>
        <p:nvSpPr>
          <p:cNvPr id="54" name="Shape 52"/>
          <p:cNvSpPr/>
          <p:nvPr/>
        </p:nvSpPr>
        <p:spPr>
          <a:xfrm>
            <a:off x="1124712" y="5230368"/>
            <a:ext cx="402336" cy="91440"/>
          </a:xfrm>
          <a:prstGeom prst="rect">
            <a:avLst/>
          </a:prstGeom>
          <a:solidFill>
            <a:srgbClr val="FFFDF7"/>
          </a:solidFill>
          <a:ln w="19050">
            <a:solidFill>
              <a:srgbClr val="000000"/>
            </a:solidFill>
            <a:prstDash val="solid"/>
          </a:ln>
        </p:spPr>
      </p:sp>
      <p:sp>
        <p:nvSpPr>
          <p:cNvPr id="55" name="Shape 53"/>
          <p:cNvSpPr/>
          <p:nvPr/>
        </p:nvSpPr>
        <p:spPr>
          <a:xfrm>
            <a:off x="1124712" y="5138928"/>
            <a:ext cx="402336" cy="91440"/>
          </a:xfrm>
          <a:prstGeom prst="rect">
            <a:avLst/>
          </a:prstGeom>
          <a:solidFill>
            <a:srgbClr val="FFFDF7"/>
          </a:solidFill>
          <a:ln w="19050">
            <a:solidFill>
              <a:srgbClr val="000000"/>
            </a:solidFill>
            <a:prstDash val="solid"/>
          </a:ln>
        </p:spPr>
      </p:sp>
      <p:sp>
        <p:nvSpPr>
          <p:cNvPr id="56" name="Shape 54"/>
          <p:cNvSpPr/>
          <p:nvPr/>
        </p:nvSpPr>
        <p:spPr>
          <a:xfrm>
            <a:off x="1124712" y="5047488"/>
            <a:ext cx="402336" cy="91440"/>
          </a:xfrm>
          <a:prstGeom prst="rect">
            <a:avLst/>
          </a:prstGeom>
          <a:solidFill>
            <a:srgbClr val="FFFDF7"/>
          </a:solidFill>
          <a:ln w="19050">
            <a:solidFill>
              <a:srgbClr val="000000"/>
            </a:solidFill>
            <a:prstDash val="solid"/>
          </a:ln>
        </p:spPr>
      </p:sp>
      <p:sp>
        <p:nvSpPr>
          <p:cNvPr id="57" name="Shape 55"/>
          <p:cNvSpPr/>
          <p:nvPr/>
        </p:nvSpPr>
        <p:spPr>
          <a:xfrm>
            <a:off x="1124712" y="4892040"/>
            <a:ext cx="402336" cy="91440"/>
          </a:xfrm>
          <a:prstGeom prst="rect">
            <a:avLst/>
          </a:prstGeom>
          <a:solidFill>
            <a:srgbClr val="FFFDF7"/>
          </a:solidFill>
          <a:ln w="19050">
            <a:solidFill>
              <a:srgbClr val="000000"/>
            </a:solidFill>
            <a:prstDash val="solid"/>
          </a:ln>
        </p:spPr>
      </p:sp>
      <p:sp>
        <p:nvSpPr>
          <p:cNvPr id="58" name="Shape 56"/>
          <p:cNvSpPr/>
          <p:nvPr/>
        </p:nvSpPr>
        <p:spPr>
          <a:xfrm>
            <a:off x="1124712" y="4800600"/>
            <a:ext cx="402336" cy="91440"/>
          </a:xfrm>
          <a:prstGeom prst="rect">
            <a:avLst/>
          </a:prstGeom>
          <a:solidFill>
            <a:srgbClr val="FFFDF7"/>
          </a:solidFill>
          <a:ln w="19050">
            <a:solidFill>
              <a:srgbClr val="000000"/>
            </a:solidFill>
            <a:prstDash val="solid"/>
          </a:ln>
        </p:spPr>
      </p:sp>
      <p:sp>
        <p:nvSpPr>
          <p:cNvPr id="59" name="Shape 57"/>
          <p:cNvSpPr/>
          <p:nvPr/>
        </p:nvSpPr>
        <p:spPr>
          <a:xfrm>
            <a:off x="1124712" y="4709160"/>
            <a:ext cx="402336" cy="91440"/>
          </a:xfrm>
          <a:prstGeom prst="rect">
            <a:avLst/>
          </a:prstGeom>
          <a:solidFill>
            <a:srgbClr val="FFFDF7"/>
          </a:solidFill>
          <a:ln w="19050">
            <a:solidFill>
              <a:srgbClr val="000000"/>
            </a:solidFill>
            <a:prstDash val="solid"/>
          </a:ln>
        </p:spPr>
      </p:sp>
      <p:sp>
        <p:nvSpPr>
          <p:cNvPr id="60" name="Shape 58"/>
          <p:cNvSpPr/>
          <p:nvPr/>
        </p:nvSpPr>
        <p:spPr>
          <a:xfrm>
            <a:off x="1069848" y="5084064"/>
            <a:ext cx="512064" cy="0"/>
          </a:xfrm>
          <a:prstGeom prst="line">
            <a:avLst/>
          </a:prstGeom>
          <a:noFill/>
          <a:ln w="28575">
            <a:solidFill>
              <a:srgbClr val="FF4D8D"/>
            </a:solidFill>
            <a:prstDash val="solid"/>
          </a:ln>
        </p:spPr>
      </p:sp>
      <p:sp>
        <p:nvSpPr>
          <p:cNvPr id="61" name="Text 59"/>
          <p:cNvSpPr/>
          <p:nvPr/>
        </p:nvSpPr>
        <p:spPr>
          <a:xfrm>
            <a:off x="1984248" y="4617720"/>
            <a:ext cx="1792224" cy="45720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Calibri" pitchFamily="34" charset="0"/>
                <a:ea typeface="Calibri" pitchFamily="34" charset="-122"/>
                <a:cs typeface="Calibri" pitchFamily="34" charset="-120"/>
              </a:rPr>
              <a:t>The print splits cleanly along a layer line.</a:t>
            </a:r>
            <a:endParaRPr lang="en-US" sz="1050" dirty="0"/>
          </a:p>
        </p:txBody>
      </p:sp>
      <p:sp>
        <p:nvSpPr>
          <p:cNvPr id="62" name="Text 60"/>
          <p:cNvSpPr/>
          <p:nvPr/>
        </p:nvSpPr>
        <p:spPr>
          <a:xfrm>
            <a:off x="1984248" y="5129784"/>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CAUSE</a:t>
            </a:r>
            <a:endParaRPr lang="en-US" sz="750" dirty="0"/>
          </a:p>
        </p:txBody>
      </p:sp>
      <p:sp>
        <p:nvSpPr>
          <p:cNvPr id="63" name="Text 61"/>
          <p:cNvSpPr/>
          <p:nvPr/>
        </p:nvSpPr>
        <p:spPr>
          <a:xfrm>
            <a:off x="1984248" y="5294376"/>
            <a:ext cx="1792224" cy="310896"/>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Weak bond, or the load runs across layers.</a:t>
            </a:r>
            <a:endParaRPr lang="en-US" sz="1000" dirty="0"/>
          </a:p>
        </p:txBody>
      </p:sp>
      <p:sp>
        <p:nvSpPr>
          <p:cNvPr id="64" name="Text 62"/>
          <p:cNvSpPr/>
          <p:nvPr/>
        </p:nvSpPr>
        <p:spPr>
          <a:xfrm>
            <a:off x="1984248" y="5641848"/>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FIX</a:t>
            </a:r>
            <a:endParaRPr lang="en-US" sz="750" dirty="0"/>
          </a:p>
        </p:txBody>
      </p:sp>
      <p:sp>
        <p:nvSpPr>
          <p:cNvPr id="65" name="Text 63"/>
          <p:cNvSpPr/>
          <p:nvPr/>
        </p:nvSpPr>
        <p:spPr>
          <a:xfrm>
            <a:off x="1984248" y="5806440"/>
            <a:ext cx="1792224" cy="365760"/>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Reorient so stress runs along layers, not across.</a:t>
            </a:r>
            <a:endParaRPr lang="en-US" sz="1000" dirty="0"/>
          </a:p>
        </p:txBody>
      </p:sp>
      <p:sp>
        <p:nvSpPr>
          <p:cNvPr id="66" name="Shape 64"/>
          <p:cNvSpPr/>
          <p:nvPr/>
        </p:nvSpPr>
        <p:spPr>
          <a:xfrm>
            <a:off x="4457700" y="4174236"/>
            <a:ext cx="3383280" cy="2148840"/>
          </a:xfrm>
          <a:prstGeom prst="rect">
            <a:avLst/>
          </a:prstGeom>
          <a:solidFill>
            <a:srgbClr val="000000"/>
          </a:solidFill>
          <a:ln w="6350">
            <a:solidFill>
              <a:srgbClr val="000000"/>
            </a:solidFill>
            <a:prstDash val="solid"/>
          </a:ln>
        </p:spPr>
      </p:sp>
      <p:sp>
        <p:nvSpPr>
          <p:cNvPr id="67" name="Shape 65"/>
          <p:cNvSpPr/>
          <p:nvPr/>
        </p:nvSpPr>
        <p:spPr>
          <a:xfrm>
            <a:off x="4389120" y="4105656"/>
            <a:ext cx="3383280" cy="2148840"/>
          </a:xfrm>
          <a:prstGeom prst="rect">
            <a:avLst/>
          </a:prstGeom>
          <a:solidFill>
            <a:srgbClr val="FFFDF7"/>
          </a:solidFill>
          <a:ln w="34925">
            <a:solidFill>
              <a:srgbClr val="000000"/>
            </a:solidFill>
            <a:prstDash val="solid"/>
          </a:ln>
        </p:spPr>
      </p:sp>
      <p:sp>
        <p:nvSpPr>
          <p:cNvPr id="68" name="Shape 66"/>
          <p:cNvSpPr/>
          <p:nvPr/>
        </p:nvSpPr>
        <p:spPr>
          <a:xfrm>
            <a:off x="4389120" y="4105656"/>
            <a:ext cx="3383280" cy="402336"/>
          </a:xfrm>
          <a:prstGeom prst="rect">
            <a:avLst/>
          </a:prstGeom>
          <a:solidFill>
            <a:srgbClr val="FFE500"/>
          </a:solidFill>
          <a:ln w="34925">
            <a:solidFill>
              <a:srgbClr val="000000"/>
            </a:solidFill>
            <a:prstDash val="solid"/>
          </a:ln>
        </p:spPr>
      </p:sp>
      <p:sp>
        <p:nvSpPr>
          <p:cNvPr id="69" name="Text 67"/>
          <p:cNvSpPr/>
          <p:nvPr/>
        </p:nvSpPr>
        <p:spPr>
          <a:xfrm>
            <a:off x="4590288" y="4160520"/>
            <a:ext cx="2980944" cy="274320"/>
          </a:xfrm>
          <a:prstGeom prst="rect">
            <a:avLst/>
          </a:prstGeom>
          <a:noFill/>
          <a:ln/>
        </p:spPr>
        <p:txBody>
          <a:bodyPr wrap="square" lIns="0" tIns="0" rIns="0" bIns="0" rtlCol="0" anchor="ctr"/>
          <a:lstStyle/>
          <a:p>
            <a:pPr indent="0" marL="0">
              <a:buNone/>
            </a:pPr>
            <a:r>
              <a:rPr lang="en-US" sz="1150" b="1" spc="40" kern="0" dirty="0">
                <a:solidFill>
                  <a:srgbClr val="000000"/>
                </a:solidFill>
                <a:latin typeface="Arial" pitchFamily="34" charset="0"/>
                <a:ea typeface="Arial" pitchFamily="34" charset="-122"/>
                <a:cs typeface="Arial" pitchFamily="34" charset="-120"/>
              </a:rPr>
              <a:t>DROOP</a:t>
            </a:r>
            <a:endParaRPr lang="en-US" sz="1150" dirty="0"/>
          </a:p>
        </p:txBody>
      </p:sp>
      <p:sp>
        <p:nvSpPr>
          <p:cNvPr id="70" name="Shape 68"/>
          <p:cNvSpPr/>
          <p:nvPr/>
        </p:nvSpPr>
        <p:spPr>
          <a:xfrm>
            <a:off x="4590288" y="4636008"/>
            <a:ext cx="1051560" cy="868680"/>
          </a:xfrm>
          <a:prstGeom prst="rect">
            <a:avLst/>
          </a:prstGeom>
          <a:solidFill>
            <a:srgbClr val="F4F4EE"/>
          </a:solidFill>
          <a:ln w="15875">
            <a:solidFill>
              <a:srgbClr val="C9C9C0"/>
            </a:solidFill>
            <a:prstDash val="solid"/>
          </a:ln>
        </p:spPr>
      </p:sp>
      <p:sp>
        <p:nvSpPr>
          <p:cNvPr id="71" name="Shape 69"/>
          <p:cNvSpPr/>
          <p:nvPr/>
        </p:nvSpPr>
        <p:spPr>
          <a:xfrm>
            <a:off x="4663440" y="5413248"/>
            <a:ext cx="905256" cy="54864"/>
          </a:xfrm>
          <a:prstGeom prst="rect">
            <a:avLst/>
          </a:prstGeom>
          <a:solidFill>
            <a:srgbClr val="000000"/>
          </a:solidFill>
          <a:ln/>
        </p:spPr>
      </p:sp>
      <p:sp>
        <p:nvSpPr>
          <p:cNvPr id="72" name="Shape 70"/>
          <p:cNvSpPr/>
          <p:nvPr/>
        </p:nvSpPr>
        <p:spPr>
          <a:xfrm>
            <a:off x="4791456" y="5312664"/>
            <a:ext cx="274320" cy="100584"/>
          </a:xfrm>
          <a:prstGeom prst="rect">
            <a:avLst/>
          </a:prstGeom>
          <a:solidFill>
            <a:srgbClr val="FFFDF7"/>
          </a:solidFill>
          <a:ln w="19050">
            <a:solidFill>
              <a:srgbClr val="000000"/>
            </a:solidFill>
            <a:prstDash val="solid"/>
          </a:ln>
        </p:spPr>
      </p:sp>
      <p:sp>
        <p:nvSpPr>
          <p:cNvPr id="73" name="Shape 71"/>
          <p:cNvSpPr/>
          <p:nvPr/>
        </p:nvSpPr>
        <p:spPr>
          <a:xfrm>
            <a:off x="4791456" y="5212080"/>
            <a:ext cx="274320" cy="100584"/>
          </a:xfrm>
          <a:prstGeom prst="rect">
            <a:avLst/>
          </a:prstGeom>
          <a:solidFill>
            <a:srgbClr val="FFFDF7"/>
          </a:solidFill>
          <a:ln w="19050">
            <a:solidFill>
              <a:srgbClr val="000000"/>
            </a:solidFill>
            <a:prstDash val="solid"/>
          </a:ln>
        </p:spPr>
      </p:sp>
      <p:sp>
        <p:nvSpPr>
          <p:cNvPr id="74" name="Shape 72"/>
          <p:cNvSpPr/>
          <p:nvPr/>
        </p:nvSpPr>
        <p:spPr>
          <a:xfrm>
            <a:off x="4791456" y="5111496"/>
            <a:ext cx="274320" cy="100584"/>
          </a:xfrm>
          <a:prstGeom prst="rect">
            <a:avLst/>
          </a:prstGeom>
          <a:solidFill>
            <a:srgbClr val="FFFDF7"/>
          </a:solidFill>
          <a:ln w="19050">
            <a:solidFill>
              <a:srgbClr val="000000"/>
            </a:solidFill>
            <a:prstDash val="solid"/>
          </a:ln>
        </p:spPr>
      </p:sp>
      <p:sp>
        <p:nvSpPr>
          <p:cNvPr id="75" name="Shape 73"/>
          <p:cNvSpPr/>
          <p:nvPr/>
        </p:nvSpPr>
        <p:spPr>
          <a:xfrm>
            <a:off x="4791456" y="5010912"/>
            <a:ext cx="274320" cy="100584"/>
          </a:xfrm>
          <a:prstGeom prst="rect">
            <a:avLst/>
          </a:prstGeom>
          <a:solidFill>
            <a:srgbClr val="FFFDF7"/>
          </a:solidFill>
          <a:ln w="19050">
            <a:solidFill>
              <a:srgbClr val="000000"/>
            </a:solidFill>
            <a:prstDash val="solid"/>
          </a:ln>
        </p:spPr>
      </p:sp>
      <p:sp>
        <p:nvSpPr>
          <p:cNvPr id="76" name="Shape 74"/>
          <p:cNvSpPr/>
          <p:nvPr/>
        </p:nvSpPr>
        <p:spPr>
          <a:xfrm>
            <a:off x="5047488" y="5010912"/>
            <a:ext cx="146304" cy="91440"/>
          </a:xfrm>
          <a:prstGeom prst="rect">
            <a:avLst/>
          </a:prstGeom>
          <a:solidFill>
            <a:srgbClr val="FFE500"/>
          </a:solidFill>
          <a:ln w="19050">
            <a:solidFill>
              <a:srgbClr val="000000"/>
            </a:solidFill>
            <a:prstDash val="solid"/>
          </a:ln>
        </p:spPr>
      </p:sp>
      <p:sp>
        <p:nvSpPr>
          <p:cNvPr id="77" name="Shape 75"/>
          <p:cNvSpPr/>
          <p:nvPr/>
        </p:nvSpPr>
        <p:spPr>
          <a:xfrm>
            <a:off x="5148072" y="5074920"/>
            <a:ext cx="146304" cy="91440"/>
          </a:xfrm>
          <a:prstGeom prst="rect">
            <a:avLst/>
          </a:prstGeom>
          <a:solidFill>
            <a:srgbClr val="FFE500"/>
          </a:solidFill>
          <a:ln w="19050">
            <a:solidFill>
              <a:srgbClr val="000000"/>
            </a:solidFill>
            <a:prstDash val="solid"/>
          </a:ln>
        </p:spPr>
      </p:sp>
      <p:sp>
        <p:nvSpPr>
          <p:cNvPr id="78" name="Shape 76"/>
          <p:cNvSpPr/>
          <p:nvPr/>
        </p:nvSpPr>
        <p:spPr>
          <a:xfrm>
            <a:off x="5248656" y="5138928"/>
            <a:ext cx="146304" cy="91440"/>
          </a:xfrm>
          <a:prstGeom prst="rect">
            <a:avLst/>
          </a:prstGeom>
          <a:solidFill>
            <a:srgbClr val="FFE500"/>
          </a:solidFill>
          <a:ln w="19050">
            <a:solidFill>
              <a:srgbClr val="000000"/>
            </a:solidFill>
            <a:prstDash val="solid"/>
          </a:ln>
        </p:spPr>
      </p:sp>
      <p:sp>
        <p:nvSpPr>
          <p:cNvPr id="79" name="Shape 77"/>
          <p:cNvSpPr/>
          <p:nvPr/>
        </p:nvSpPr>
        <p:spPr>
          <a:xfrm>
            <a:off x="5349240" y="5202936"/>
            <a:ext cx="146304" cy="91440"/>
          </a:xfrm>
          <a:prstGeom prst="rect">
            <a:avLst/>
          </a:prstGeom>
          <a:solidFill>
            <a:srgbClr val="FFE500"/>
          </a:solidFill>
          <a:ln w="19050">
            <a:solidFill>
              <a:srgbClr val="000000"/>
            </a:solidFill>
            <a:prstDash val="solid"/>
          </a:ln>
        </p:spPr>
      </p:sp>
      <p:sp>
        <p:nvSpPr>
          <p:cNvPr id="80" name="Text 78"/>
          <p:cNvSpPr/>
          <p:nvPr/>
        </p:nvSpPr>
        <p:spPr>
          <a:xfrm>
            <a:off x="5779008" y="4617720"/>
            <a:ext cx="1792224" cy="45720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Calibri" pitchFamily="34" charset="0"/>
                <a:ea typeface="Calibri" pitchFamily="34" charset="-122"/>
                <a:cs typeface="Calibri" pitchFamily="34" charset="-120"/>
              </a:rPr>
              <a:t>An overhang sags into the space below it.</a:t>
            </a:r>
            <a:endParaRPr lang="en-US" sz="1050" dirty="0"/>
          </a:p>
        </p:txBody>
      </p:sp>
      <p:sp>
        <p:nvSpPr>
          <p:cNvPr id="81" name="Text 79"/>
          <p:cNvSpPr/>
          <p:nvPr/>
        </p:nvSpPr>
        <p:spPr>
          <a:xfrm>
            <a:off x="5779008" y="5129784"/>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CAUSE</a:t>
            </a:r>
            <a:endParaRPr lang="en-US" sz="750" dirty="0"/>
          </a:p>
        </p:txBody>
      </p:sp>
      <p:sp>
        <p:nvSpPr>
          <p:cNvPr id="82" name="Text 80"/>
          <p:cNvSpPr/>
          <p:nvPr/>
        </p:nvSpPr>
        <p:spPr>
          <a:xfrm>
            <a:off x="5779008" y="5294376"/>
            <a:ext cx="1792224" cy="310896"/>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Nothing underneath to build on.</a:t>
            </a:r>
            <a:endParaRPr lang="en-US" sz="1000" dirty="0"/>
          </a:p>
        </p:txBody>
      </p:sp>
      <p:sp>
        <p:nvSpPr>
          <p:cNvPr id="83" name="Text 81"/>
          <p:cNvSpPr/>
          <p:nvPr/>
        </p:nvSpPr>
        <p:spPr>
          <a:xfrm>
            <a:off x="5779008" y="5641848"/>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FIX</a:t>
            </a:r>
            <a:endParaRPr lang="en-US" sz="750" dirty="0"/>
          </a:p>
        </p:txBody>
      </p:sp>
      <p:sp>
        <p:nvSpPr>
          <p:cNvPr id="84" name="Text 82"/>
          <p:cNvSpPr/>
          <p:nvPr/>
        </p:nvSpPr>
        <p:spPr>
          <a:xfrm>
            <a:off x="5779008" y="5806440"/>
            <a:ext cx="1792224" cy="365760"/>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Orientation. If that fails, change the geometry.</a:t>
            </a:r>
            <a:endParaRPr lang="en-US" sz="1000" dirty="0"/>
          </a:p>
        </p:txBody>
      </p:sp>
      <p:sp>
        <p:nvSpPr>
          <p:cNvPr id="85" name="Shape 83"/>
          <p:cNvSpPr/>
          <p:nvPr/>
        </p:nvSpPr>
        <p:spPr>
          <a:xfrm>
            <a:off x="8252460" y="4174236"/>
            <a:ext cx="3383280" cy="2148840"/>
          </a:xfrm>
          <a:prstGeom prst="rect">
            <a:avLst/>
          </a:prstGeom>
          <a:solidFill>
            <a:srgbClr val="000000"/>
          </a:solidFill>
          <a:ln w="6350">
            <a:solidFill>
              <a:srgbClr val="000000"/>
            </a:solidFill>
            <a:prstDash val="solid"/>
          </a:ln>
        </p:spPr>
      </p:sp>
      <p:sp>
        <p:nvSpPr>
          <p:cNvPr id="86" name="Shape 84"/>
          <p:cNvSpPr/>
          <p:nvPr/>
        </p:nvSpPr>
        <p:spPr>
          <a:xfrm>
            <a:off x="8183880" y="4105656"/>
            <a:ext cx="3383280" cy="2148840"/>
          </a:xfrm>
          <a:prstGeom prst="rect">
            <a:avLst/>
          </a:prstGeom>
          <a:solidFill>
            <a:srgbClr val="FFFDF7"/>
          </a:solidFill>
          <a:ln w="34925">
            <a:solidFill>
              <a:srgbClr val="000000"/>
            </a:solidFill>
            <a:prstDash val="solid"/>
          </a:ln>
        </p:spPr>
      </p:sp>
      <p:sp>
        <p:nvSpPr>
          <p:cNvPr id="87" name="Shape 85"/>
          <p:cNvSpPr/>
          <p:nvPr/>
        </p:nvSpPr>
        <p:spPr>
          <a:xfrm>
            <a:off x="8183880" y="4105656"/>
            <a:ext cx="3383280" cy="402336"/>
          </a:xfrm>
          <a:prstGeom prst="rect">
            <a:avLst/>
          </a:prstGeom>
          <a:solidFill>
            <a:srgbClr val="FF4D8D"/>
          </a:solidFill>
          <a:ln w="34925">
            <a:solidFill>
              <a:srgbClr val="000000"/>
            </a:solidFill>
            <a:prstDash val="solid"/>
          </a:ln>
        </p:spPr>
      </p:sp>
      <p:sp>
        <p:nvSpPr>
          <p:cNvPr id="88" name="Text 86"/>
          <p:cNvSpPr/>
          <p:nvPr/>
        </p:nvSpPr>
        <p:spPr>
          <a:xfrm>
            <a:off x="8385048" y="4160520"/>
            <a:ext cx="2980944" cy="274320"/>
          </a:xfrm>
          <a:prstGeom prst="rect">
            <a:avLst/>
          </a:prstGeom>
          <a:noFill/>
          <a:ln/>
        </p:spPr>
        <p:txBody>
          <a:bodyPr wrap="square" lIns="0" tIns="0" rIns="0" bIns="0" rtlCol="0" anchor="ctr"/>
          <a:lstStyle/>
          <a:p>
            <a:pPr indent="0" marL="0">
              <a:buNone/>
            </a:pPr>
            <a:r>
              <a:rPr lang="en-US" sz="1150" b="1" spc="40" kern="0" dirty="0">
                <a:solidFill>
                  <a:srgbClr val="000000"/>
                </a:solidFill>
                <a:latin typeface="Arial" pitchFamily="34" charset="0"/>
                <a:ea typeface="Arial" pitchFamily="34" charset="-122"/>
                <a:cs typeface="Arial" pitchFamily="34" charset="-120"/>
              </a:rPr>
              <a:t>SPAGHETTI</a:t>
            </a:r>
            <a:endParaRPr lang="en-US" sz="1150" dirty="0"/>
          </a:p>
        </p:txBody>
      </p:sp>
      <p:sp>
        <p:nvSpPr>
          <p:cNvPr id="89" name="Shape 87"/>
          <p:cNvSpPr/>
          <p:nvPr/>
        </p:nvSpPr>
        <p:spPr>
          <a:xfrm>
            <a:off x="8385048" y="4636008"/>
            <a:ext cx="1051560" cy="868680"/>
          </a:xfrm>
          <a:prstGeom prst="rect">
            <a:avLst/>
          </a:prstGeom>
          <a:solidFill>
            <a:srgbClr val="F4F4EE"/>
          </a:solidFill>
          <a:ln w="15875">
            <a:solidFill>
              <a:srgbClr val="C9C9C0"/>
            </a:solidFill>
            <a:prstDash val="solid"/>
          </a:ln>
        </p:spPr>
      </p:sp>
      <p:sp>
        <p:nvSpPr>
          <p:cNvPr id="90" name="Shape 88"/>
          <p:cNvSpPr/>
          <p:nvPr/>
        </p:nvSpPr>
        <p:spPr>
          <a:xfrm>
            <a:off x="8458200" y="5413248"/>
            <a:ext cx="905256" cy="54864"/>
          </a:xfrm>
          <a:prstGeom prst="rect">
            <a:avLst/>
          </a:prstGeom>
          <a:solidFill>
            <a:srgbClr val="000000"/>
          </a:solidFill>
          <a:ln/>
        </p:spPr>
      </p:sp>
      <p:sp>
        <p:nvSpPr>
          <p:cNvPr id="91" name="Shape 89"/>
          <p:cNvSpPr/>
          <p:nvPr/>
        </p:nvSpPr>
        <p:spPr>
          <a:xfrm>
            <a:off x="8567928" y="4745736"/>
            <a:ext cx="201168" cy="164592"/>
          </a:xfrm>
          <a:prstGeom prst="line">
            <a:avLst/>
          </a:prstGeom>
          <a:noFill/>
          <a:ln w="19050">
            <a:solidFill>
              <a:srgbClr val="FF4D8D"/>
            </a:solidFill>
            <a:prstDash val="solid"/>
          </a:ln>
        </p:spPr>
      </p:sp>
      <p:sp>
        <p:nvSpPr>
          <p:cNvPr id="92" name="Shape 90"/>
          <p:cNvSpPr/>
          <p:nvPr/>
        </p:nvSpPr>
        <p:spPr>
          <a:xfrm>
            <a:off x="8769096" y="4910328"/>
            <a:ext cx="-128016" cy="182880"/>
          </a:xfrm>
          <a:prstGeom prst="line">
            <a:avLst/>
          </a:prstGeom>
          <a:noFill/>
          <a:ln w="19050">
            <a:solidFill>
              <a:srgbClr val="FF4D8D"/>
            </a:solidFill>
            <a:prstDash val="solid"/>
          </a:ln>
        </p:spPr>
      </p:sp>
      <p:sp>
        <p:nvSpPr>
          <p:cNvPr id="93" name="Shape 91"/>
          <p:cNvSpPr/>
          <p:nvPr/>
        </p:nvSpPr>
        <p:spPr>
          <a:xfrm>
            <a:off x="8641080" y="5093208"/>
            <a:ext cx="310896" cy="-274320"/>
          </a:xfrm>
          <a:prstGeom prst="line">
            <a:avLst/>
          </a:prstGeom>
          <a:noFill/>
          <a:ln w="19050">
            <a:solidFill>
              <a:srgbClr val="FF4D8D"/>
            </a:solidFill>
            <a:prstDash val="solid"/>
          </a:ln>
        </p:spPr>
      </p:sp>
      <p:sp>
        <p:nvSpPr>
          <p:cNvPr id="94" name="Shape 92"/>
          <p:cNvSpPr/>
          <p:nvPr/>
        </p:nvSpPr>
        <p:spPr>
          <a:xfrm>
            <a:off x="8951976" y="4818888"/>
            <a:ext cx="-246888" cy="384048"/>
          </a:xfrm>
          <a:prstGeom prst="line">
            <a:avLst/>
          </a:prstGeom>
          <a:noFill/>
          <a:ln w="19050">
            <a:solidFill>
              <a:srgbClr val="FF4D8D"/>
            </a:solidFill>
            <a:prstDash val="solid"/>
          </a:ln>
        </p:spPr>
      </p:sp>
      <p:sp>
        <p:nvSpPr>
          <p:cNvPr id="95" name="Shape 93"/>
          <p:cNvSpPr/>
          <p:nvPr/>
        </p:nvSpPr>
        <p:spPr>
          <a:xfrm>
            <a:off x="8705088" y="5202936"/>
            <a:ext cx="393192" cy="-182880"/>
          </a:xfrm>
          <a:prstGeom prst="line">
            <a:avLst/>
          </a:prstGeom>
          <a:noFill/>
          <a:ln w="19050">
            <a:solidFill>
              <a:srgbClr val="FF4D8D"/>
            </a:solidFill>
            <a:prstDash val="solid"/>
          </a:ln>
        </p:spPr>
      </p:sp>
      <p:sp>
        <p:nvSpPr>
          <p:cNvPr id="96" name="Shape 94"/>
          <p:cNvSpPr/>
          <p:nvPr/>
        </p:nvSpPr>
        <p:spPr>
          <a:xfrm>
            <a:off x="9098280" y="5020056"/>
            <a:ext cx="-256032" cy="274320"/>
          </a:xfrm>
          <a:prstGeom prst="line">
            <a:avLst/>
          </a:prstGeom>
          <a:noFill/>
          <a:ln w="19050">
            <a:solidFill>
              <a:srgbClr val="FF4D8D"/>
            </a:solidFill>
            <a:prstDash val="solid"/>
          </a:ln>
        </p:spPr>
      </p:sp>
      <p:sp>
        <p:nvSpPr>
          <p:cNvPr id="97" name="Shape 95"/>
          <p:cNvSpPr/>
          <p:nvPr/>
        </p:nvSpPr>
        <p:spPr>
          <a:xfrm>
            <a:off x="8842248" y="5294376"/>
            <a:ext cx="365760" cy="-402336"/>
          </a:xfrm>
          <a:prstGeom prst="line">
            <a:avLst/>
          </a:prstGeom>
          <a:noFill/>
          <a:ln w="19050">
            <a:solidFill>
              <a:srgbClr val="FF4D8D"/>
            </a:solidFill>
            <a:prstDash val="solid"/>
          </a:ln>
        </p:spPr>
      </p:sp>
      <p:sp>
        <p:nvSpPr>
          <p:cNvPr id="98" name="Shape 96"/>
          <p:cNvSpPr/>
          <p:nvPr/>
        </p:nvSpPr>
        <p:spPr>
          <a:xfrm>
            <a:off x="9208008" y="4892040"/>
            <a:ext cx="-548640" cy="246888"/>
          </a:xfrm>
          <a:prstGeom prst="line">
            <a:avLst/>
          </a:prstGeom>
          <a:noFill/>
          <a:ln w="19050">
            <a:solidFill>
              <a:srgbClr val="FF4D8D"/>
            </a:solidFill>
            <a:prstDash val="solid"/>
          </a:ln>
        </p:spPr>
      </p:sp>
      <p:sp>
        <p:nvSpPr>
          <p:cNvPr id="99" name="Text 97"/>
          <p:cNvSpPr/>
          <p:nvPr/>
        </p:nvSpPr>
        <p:spPr>
          <a:xfrm>
            <a:off x="9573768" y="4617720"/>
            <a:ext cx="1792224" cy="457200"/>
          </a:xfrm>
          <a:prstGeom prst="rect">
            <a:avLst/>
          </a:prstGeom>
          <a:noFill/>
          <a:ln/>
        </p:spPr>
        <p:txBody>
          <a:bodyPr wrap="square" lIns="0" tIns="0" rIns="0" bIns="0" rtlCol="0" anchor="ctr"/>
          <a:lstStyle/>
          <a:p>
            <a:pPr indent="0" marL="0">
              <a:lnSpc>
                <a:spcPts val="1400"/>
              </a:lnSpc>
              <a:buNone/>
            </a:pPr>
            <a:r>
              <a:rPr lang="en-US" sz="1050" dirty="0">
                <a:solidFill>
                  <a:srgbClr val="000000"/>
                </a:solidFill>
                <a:latin typeface="Calibri" pitchFamily="34" charset="0"/>
                <a:ea typeface="Calibri" pitchFamily="34" charset="-122"/>
                <a:cs typeface="Calibri" pitchFamily="34" charset="-120"/>
              </a:rPr>
              <a:t>The nozzle draws in mid-air. A nest of filament.</a:t>
            </a:r>
            <a:endParaRPr lang="en-US" sz="1050" dirty="0"/>
          </a:p>
        </p:txBody>
      </p:sp>
      <p:sp>
        <p:nvSpPr>
          <p:cNvPr id="100" name="Text 98"/>
          <p:cNvSpPr/>
          <p:nvPr/>
        </p:nvSpPr>
        <p:spPr>
          <a:xfrm>
            <a:off x="9573768" y="5129784"/>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CAUSE</a:t>
            </a:r>
            <a:endParaRPr lang="en-US" sz="750" dirty="0"/>
          </a:p>
        </p:txBody>
      </p:sp>
      <p:sp>
        <p:nvSpPr>
          <p:cNvPr id="101" name="Text 99"/>
          <p:cNvSpPr/>
          <p:nvPr/>
        </p:nvSpPr>
        <p:spPr>
          <a:xfrm>
            <a:off x="9573768" y="5294376"/>
            <a:ext cx="1792224" cy="310896"/>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The part came off the bed part-way through.</a:t>
            </a:r>
            <a:endParaRPr lang="en-US" sz="1000" dirty="0"/>
          </a:p>
        </p:txBody>
      </p:sp>
      <p:sp>
        <p:nvSpPr>
          <p:cNvPr id="102" name="Text 100"/>
          <p:cNvSpPr/>
          <p:nvPr/>
        </p:nvSpPr>
        <p:spPr>
          <a:xfrm>
            <a:off x="9573768" y="5641848"/>
            <a:ext cx="1792224" cy="182880"/>
          </a:xfrm>
          <a:prstGeom prst="rect">
            <a:avLst/>
          </a:prstGeom>
          <a:noFill/>
          <a:ln/>
        </p:spPr>
        <p:txBody>
          <a:bodyPr wrap="square" lIns="0" tIns="0" rIns="0" bIns="0" rtlCol="0" anchor="ctr"/>
          <a:lstStyle/>
          <a:p>
            <a:pPr indent="0" marL="0">
              <a:buNone/>
            </a:pPr>
            <a:r>
              <a:rPr lang="en-US" sz="750" b="1" spc="100" kern="0" dirty="0">
                <a:solidFill>
                  <a:srgbClr val="6B6B6B"/>
                </a:solidFill>
                <a:latin typeface="Arial" pitchFamily="34" charset="0"/>
                <a:ea typeface="Arial" pitchFamily="34" charset="-122"/>
                <a:cs typeface="Arial" pitchFamily="34" charset="-120"/>
              </a:rPr>
              <a:t>FIX</a:t>
            </a:r>
            <a:endParaRPr lang="en-US" sz="750" dirty="0"/>
          </a:p>
        </p:txBody>
      </p:sp>
      <p:sp>
        <p:nvSpPr>
          <p:cNvPr id="103" name="Text 101"/>
          <p:cNvSpPr/>
          <p:nvPr/>
        </p:nvSpPr>
        <p:spPr>
          <a:xfrm>
            <a:off x="9573768" y="5806440"/>
            <a:ext cx="1792224" cy="365760"/>
          </a:xfrm>
          <a:prstGeom prst="rect">
            <a:avLst/>
          </a:prstGeom>
          <a:noFill/>
          <a:ln/>
        </p:spPr>
        <p:txBody>
          <a:bodyPr wrap="square" lIns="0" tIns="0" rIns="0" bIns="0" rtlCol="0" anchor="ctr"/>
          <a:lstStyle/>
          <a:p>
            <a:pPr indent="0" marL="0">
              <a:lnSpc>
                <a:spcPts val="1300"/>
              </a:lnSpc>
              <a:buNone/>
            </a:pPr>
            <a:r>
              <a:rPr lang="en-US" sz="1000" dirty="0">
                <a:solidFill>
                  <a:srgbClr val="000000"/>
                </a:solidFill>
                <a:latin typeface="Calibri" pitchFamily="34" charset="0"/>
                <a:ea typeface="Calibri" pitchFamily="34" charset="-122"/>
                <a:cs typeface="Calibri" pitchFamily="34" charset="-120"/>
              </a:rPr>
              <a:t>Adhesion. Check the first layer before walking away.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62940" y="635508"/>
            <a:ext cx="1737360" cy="384048"/>
          </a:xfrm>
          <a:prstGeom prst="rect">
            <a:avLst/>
          </a:prstGeom>
          <a:solidFill>
            <a:srgbClr val="000000"/>
          </a:solidFill>
          <a:ln w="6350">
            <a:solidFill>
              <a:srgbClr val="000000"/>
            </a:solidFill>
            <a:prstDash val="solid"/>
          </a:ln>
        </p:spPr>
      </p:sp>
      <p:sp>
        <p:nvSpPr>
          <p:cNvPr id="3" name="Shape 1"/>
          <p:cNvSpPr/>
          <p:nvPr/>
        </p:nvSpPr>
        <p:spPr>
          <a:xfrm>
            <a:off x="594360" y="566928"/>
            <a:ext cx="1737360" cy="384048"/>
          </a:xfrm>
          <a:prstGeom prst="rect">
            <a:avLst/>
          </a:prstGeom>
          <a:solidFill>
            <a:srgbClr val="00D9E1"/>
          </a:solidFill>
          <a:ln w="34925">
            <a:solidFill>
              <a:srgbClr val="000000"/>
            </a:solidFill>
            <a:prstDash val="solid"/>
          </a:ln>
        </p:spPr>
      </p:sp>
      <p:sp>
        <p:nvSpPr>
          <p:cNvPr id="4" name="Text 2"/>
          <p:cNvSpPr/>
          <p:nvPr/>
        </p:nvSpPr>
        <p:spPr>
          <a:xfrm>
            <a:off x="594360" y="630936"/>
            <a:ext cx="1737360" cy="274320"/>
          </a:xfrm>
          <a:prstGeom prst="rect">
            <a:avLst/>
          </a:prstGeom>
          <a:noFill/>
          <a:ln/>
        </p:spPr>
        <p:txBody>
          <a:bodyPr wrap="square" lIns="0" tIns="0" rIns="0" bIns="0" rtlCol="0" anchor="ctr"/>
          <a:lstStyle/>
          <a:p>
            <a:pPr algn="ctr" indent="0" marL="0">
              <a:buNone/>
            </a:pPr>
            <a:r>
              <a:rPr lang="en-US" sz="1100" b="1" spc="100" kern="0" dirty="0">
                <a:solidFill>
                  <a:srgbClr val="000000"/>
                </a:solidFill>
                <a:latin typeface="Arial" pitchFamily="34" charset="0"/>
                <a:ea typeface="Arial" pitchFamily="34" charset="-122"/>
                <a:cs typeface="Arial" pitchFamily="34" charset="-120"/>
              </a:rPr>
              <a:t>FOR 0.1</a:t>
            </a:r>
            <a:endParaRPr lang="en-US" sz="1100" dirty="0"/>
          </a:p>
        </p:txBody>
      </p:sp>
      <p:sp>
        <p:nvSpPr>
          <p:cNvPr id="5" name="Text 3"/>
          <p:cNvSpPr/>
          <p:nvPr/>
        </p:nvSpPr>
        <p:spPr>
          <a:xfrm>
            <a:off x="594360" y="1152144"/>
            <a:ext cx="10972800" cy="566928"/>
          </a:xfrm>
          <a:prstGeom prst="rect">
            <a:avLst/>
          </a:prstGeom>
          <a:noFill/>
          <a:ln/>
        </p:spPr>
        <p:txBody>
          <a:bodyPr wrap="square" lIns="0" tIns="0" rIns="0" bIns="0" rtlCol="0" anchor="ctr"/>
          <a:lstStyle/>
          <a:p>
            <a:pPr indent="0" marL="0">
              <a:buNone/>
            </a:pPr>
            <a:r>
              <a:rPr lang="en-US" sz="3200" b="1" spc="-80" kern="0" dirty="0">
                <a:solidFill>
                  <a:srgbClr val="FFFDF7"/>
                </a:solidFill>
                <a:latin typeface="Arial" pitchFamily="34" charset="0"/>
                <a:ea typeface="Arial" pitchFamily="34" charset="-122"/>
                <a:cs typeface="Arial" pitchFamily="34" charset="-120"/>
              </a:rPr>
              <a:t>YOUR PRINT</a:t>
            </a:r>
            <a:endParaRPr lang="en-US" sz="3200" dirty="0"/>
          </a:p>
        </p:txBody>
      </p:sp>
      <p:sp>
        <p:nvSpPr>
          <p:cNvPr id="6" name="Shape 4"/>
          <p:cNvSpPr/>
          <p:nvPr/>
        </p:nvSpPr>
        <p:spPr>
          <a:xfrm>
            <a:off x="594360" y="1810512"/>
            <a:ext cx="10972800" cy="0"/>
          </a:xfrm>
          <a:prstGeom prst="line">
            <a:avLst/>
          </a:prstGeom>
          <a:noFill/>
          <a:ln w="50800">
            <a:solidFill>
              <a:srgbClr val="FFFDF7"/>
            </a:solidFill>
            <a:prstDash val="solid"/>
          </a:ln>
        </p:spPr>
      </p:sp>
      <p:sp>
        <p:nvSpPr>
          <p:cNvPr id="7" name="Text 5"/>
          <p:cNvSpPr/>
          <p:nvPr/>
        </p:nvSpPr>
        <p:spPr>
          <a:xfrm>
            <a:off x="594360" y="1929384"/>
            <a:ext cx="10972800" cy="329184"/>
          </a:xfrm>
          <a:prstGeom prst="rect">
            <a:avLst/>
          </a:prstGeom>
          <a:noFill/>
          <a:ln/>
        </p:spPr>
        <p:txBody>
          <a:bodyPr wrap="square" lIns="0" tIns="0" rIns="0" bIns="0" rtlCol="0" anchor="ctr"/>
          <a:lstStyle/>
          <a:p>
            <a:pPr indent="0" marL="0">
              <a:buNone/>
            </a:pPr>
            <a:r>
              <a:rPr lang="en-US" sz="1300" b="1" spc="50" kern="0" dirty="0">
                <a:solidFill>
                  <a:srgbClr val="00D9E1"/>
                </a:solidFill>
                <a:latin typeface="Arial" pitchFamily="34" charset="0"/>
                <a:ea typeface="Arial" pitchFamily="34" charset="-122"/>
                <a:cs typeface="Arial" pitchFamily="34" charset="-120"/>
              </a:rPr>
              <a:t>PRESENTED AT THE MIDTERM — CLASS 8, OCT 13</a:t>
            </a:r>
            <a:endParaRPr lang="en-US" sz="1300" dirty="0"/>
          </a:p>
        </p:txBody>
      </p:sp>
      <p:sp>
        <p:nvSpPr>
          <p:cNvPr id="8" name="Shape 6"/>
          <p:cNvSpPr/>
          <p:nvPr/>
        </p:nvSpPr>
        <p:spPr>
          <a:xfrm>
            <a:off x="662940" y="2583180"/>
            <a:ext cx="2377440" cy="640080"/>
          </a:xfrm>
          <a:prstGeom prst="rect">
            <a:avLst/>
          </a:prstGeom>
          <a:solidFill>
            <a:srgbClr val="000000"/>
          </a:solidFill>
          <a:ln w="6350">
            <a:solidFill>
              <a:srgbClr val="000000"/>
            </a:solidFill>
            <a:prstDash val="solid"/>
          </a:ln>
        </p:spPr>
      </p:sp>
      <p:sp>
        <p:nvSpPr>
          <p:cNvPr id="9" name="Shape 7"/>
          <p:cNvSpPr/>
          <p:nvPr/>
        </p:nvSpPr>
        <p:spPr>
          <a:xfrm>
            <a:off x="594360" y="2514600"/>
            <a:ext cx="2377440" cy="640080"/>
          </a:xfrm>
          <a:prstGeom prst="rect">
            <a:avLst/>
          </a:prstGeom>
          <a:solidFill>
            <a:srgbClr val="C6F035"/>
          </a:solidFill>
          <a:ln w="34925">
            <a:solidFill>
              <a:srgbClr val="000000"/>
            </a:solidFill>
            <a:prstDash val="solid"/>
          </a:ln>
        </p:spPr>
      </p:sp>
      <p:sp>
        <p:nvSpPr>
          <p:cNvPr id="10" name="Text 8"/>
          <p:cNvSpPr/>
          <p:nvPr/>
        </p:nvSpPr>
        <p:spPr>
          <a:xfrm>
            <a:off x="594360" y="2679192"/>
            <a:ext cx="2377440" cy="329184"/>
          </a:xfrm>
          <a:prstGeom prst="rect">
            <a:avLst/>
          </a:prstGeom>
          <a:noFill/>
          <a:ln/>
        </p:spPr>
        <p:txBody>
          <a:bodyPr wrap="square" lIns="0" tIns="0" rIns="0" bIns="0" rtlCol="0" anchor="ctr"/>
          <a:lstStyle/>
          <a:p>
            <a:pPr algn="ctr" indent="0" marL="0">
              <a:buNone/>
            </a:pPr>
            <a:r>
              <a:rPr lang="en-US" sz="1350" b="1" dirty="0">
                <a:solidFill>
                  <a:srgbClr val="000000"/>
                </a:solidFill>
                <a:latin typeface="Arial" pitchFamily="34" charset="0"/>
                <a:ea typeface="Arial" pitchFamily="34" charset="-122"/>
                <a:cs typeface="Arial" pitchFamily="34" charset="-120"/>
              </a:rPr>
              <a:t>60 mm</a:t>
            </a:r>
            <a:endParaRPr lang="en-US" sz="1350" dirty="0"/>
          </a:p>
        </p:txBody>
      </p:sp>
      <p:sp>
        <p:nvSpPr>
          <p:cNvPr id="11" name="Text 9"/>
          <p:cNvSpPr/>
          <p:nvPr/>
        </p:nvSpPr>
        <p:spPr>
          <a:xfrm>
            <a:off x="3291840" y="2688336"/>
            <a:ext cx="8229600" cy="329184"/>
          </a:xfrm>
          <a:prstGeom prst="rect">
            <a:avLst/>
          </a:prstGeom>
          <a:noFill/>
          <a:ln/>
        </p:spPr>
        <p:txBody>
          <a:bodyPr wrap="square" lIns="0" tIns="0" rIns="0" bIns="0" rtlCol="0" anchor="ctr"/>
          <a:lstStyle/>
          <a:p>
            <a:pPr indent="0" marL="0">
              <a:buNone/>
            </a:pPr>
            <a:r>
              <a:rPr lang="en-US" sz="1400" dirty="0">
                <a:solidFill>
                  <a:srgbClr val="FFFDF7"/>
                </a:solidFill>
                <a:latin typeface="Calibri" pitchFamily="34" charset="0"/>
                <a:ea typeface="Calibri" pitchFamily="34" charset="-122"/>
                <a:cs typeface="Calibri" pitchFamily="34" charset="-120"/>
              </a:rPr>
              <a:t>maximum bounding box</a:t>
            </a:r>
            <a:endParaRPr lang="en-US" sz="1400" dirty="0"/>
          </a:p>
        </p:txBody>
      </p:sp>
      <p:sp>
        <p:nvSpPr>
          <p:cNvPr id="12" name="Shape 10"/>
          <p:cNvSpPr/>
          <p:nvPr/>
        </p:nvSpPr>
        <p:spPr>
          <a:xfrm>
            <a:off x="662940" y="3406140"/>
            <a:ext cx="2377440" cy="640080"/>
          </a:xfrm>
          <a:prstGeom prst="rect">
            <a:avLst/>
          </a:prstGeom>
          <a:solidFill>
            <a:srgbClr val="000000"/>
          </a:solidFill>
          <a:ln w="6350">
            <a:solidFill>
              <a:srgbClr val="000000"/>
            </a:solidFill>
            <a:prstDash val="solid"/>
          </a:ln>
        </p:spPr>
      </p:sp>
      <p:sp>
        <p:nvSpPr>
          <p:cNvPr id="13" name="Shape 11"/>
          <p:cNvSpPr/>
          <p:nvPr/>
        </p:nvSpPr>
        <p:spPr>
          <a:xfrm>
            <a:off x="594360" y="3337560"/>
            <a:ext cx="2377440" cy="640080"/>
          </a:xfrm>
          <a:prstGeom prst="rect">
            <a:avLst/>
          </a:prstGeom>
          <a:solidFill>
            <a:srgbClr val="FF4D8D"/>
          </a:solidFill>
          <a:ln w="34925">
            <a:solidFill>
              <a:srgbClr val="000000"/>
            </a:solidFill>
            <a:prstDash val="solid"/>
          </a:ln>
        </p:spPr>
      </p:sp>
      <p:sp>
        <p:nvSpPr>
          <p:cNvPr id="14" name="Text 12"/>
          <p:cNvSpPr/>
          <p:nvPr/>
        </p:nvSpPr>
        <p:spPr>
          <a:xfrm>
            <a:off x="594360" y="3502152"/>
            <a:ext cx="2377440" cy="329184"/>
          </a:xfrm>
          <a:prstGeom prst="rect">
            <a:avLst/>
          </a:prstGeom>
          <a:noFill/>
          <a:ln/>
        </p:spPr>
        <p:txBody>
          <a:bodyPr wrap="square" lIns="0" tIns="0" rIns="0" bIns="0" rtlCol="0" anchor="ctr"/>
          <a:lstStyle/>
          <a:p>
            <a:pPr algn="ctr" indent="0" marL="0">
              <a:buNone/>
            </a:pPr>
            <a:r>
              <a:rPr lang="en-US" sz="1350" b="1" dirty="0">
                <a:solidFill>
                  <a:srgbClr val="000000"/>
                </a:solidFill>
                <a:latin typeface="Arial" pitchFamily="34" charset="0"/>
                <a:ea typeface="Arial" pitchFamily="34" charset="-122"/>
                <a:cs typeface="Arial" pitchFamily="34" charset="-120"/>
              </a:rPr>
              <a:t>NO SUPPORTS</a:t>
            </a:r>
            <a:endParaRPr lang="en-US" sz="1350" dirty="0"/>
          </a:p>
        </p:txBody>
      </p:sp>
      <p:sp>
        <p:nvSpPr>
          <p:cNvPr id="15" name="Text 13"/>
          <p:cNvSpPr/>
          <p:nvPr/>
        </p:nvSpPr>
        <p:spPr>
          <a:xfrm>
            <a:off x="3291840" y="3511296"/>
            <a:ext cx="8229600" cy="329184"/>
          </a:xfrm>
          <a:prstGeom prst="rect">
            <a:avLst/>
          </a:prstGeom>
          <a:noFill/>
          <a:ln/>
        </p:spPr>
        <p:txBody>
          <a:bodyPr wrap="square" lIns="0" tIns="0" rIns="0" bIns="0" rtlCol="0" anchor="ctr"/>
          <a:lstStyle/>
          <a:p>
            <a:pPr indent="0" marL="0">
              <a:buNone/>
            </a:pPr>
            <a:r>
              <a:rPr lang="en-US" sz="1400" dirty="0">
                <a:solidFill>
                  <a:srgbClr val="FFFDF7"/>
                </a:solidFill>
                <a:latin typeface="Calibri" pitchFamily="34" charset="0"/>
                <a:ea typeface="Calibri" pitchFamily="34" charset="-122"/>
                <a:cs typeface="Calibri" pitchFamily="34" charset="-120"/>
              </a:rPr>
              <a:t>orientation is the only lever</a:t>
            </a:r>
            <a:endParaRPr lang="en-US" sz="1400" dirty="0"/>
          </a:p>
        </p:txBody>
      </p:sp>
      <p:sp>
        <p:nvSpPr>
          <p:cNvPr id="16" name="Shape 14"/>
          <p:cNvSpPr/>
          <p:nvPr/>
        </p:nvSpPr>
        <p:spPr>
          <a:xfrm>
            <a:off x="662940" y="4229100"/>
            <a:ext cx="2377440" cy="640080"/>
          </a:xfrm>
          <a:prstGeom prst="rect">
            <a:avLst/>
          </a:prstGeom>
          <a:solidFill>
            <a:srgbClr val="000000"/>
          </a:solidFill>
          <a:ln w="6350">
            <a:solidFill>
              <a:srgbClr val="000000"/>
            </a:solidFill>
            <a:prstDash val="solid"/>
          </a:ln>
        </p:spPr>
      </p:sp>
      <p:sp>
        <p:nvSpPr>
          <p:cNvPr id="17" name="Shape 15"/>
          <p:cNvSpPr/>
          <p:nvPr/>
        </p:nvSpPr>
        <p:spPr>
          <a:xfrm>
            <a:off x="594360" y="4160520"/>
            <a:ext cx="2377440" cy="640080"/>
          </a:xfrm>
          <a:prstGeom prst="rect">
            <a:avLst/>
          </a:prstGeom>
          <a:solidFill>
            <a:srgbClr val="FFE500"/>
          </a:solidFill>
          <a:ln w="34925">
            <a:solidFill>
              <a:srgbClr val="000000"/>
            </a:solidFill>
            <a:prstDash val="solid"/>
          </a:ln>
        </p:spPr>
      </p:sp>
      <p:sp>
        <p:nvSpPr>
          <p:cNvPr id="18" name="Text 16"/>
          <p:cNvSpPr/>
          <p:nvPr/>
        </p:nvSpPr>
        <p:spPr>
          <a:xfrm>
            <a:off x="594360" y="4325112"/>
            <a:ext cx="2377440" cy="329184"/>
          </a:xfrm>
          <a:prstGeom prst="rect">
            <a:avLst/>
          </a:prstGeom>
          <a:noFill/>
          <a:ln/>
        </p:spPr>
        <p:txBody>
          <a:bodyPr wrap="square" lIns="0" tIns="0" rIns="0" bIns="0" rtlCol="0" anchor="ctr"/>
          <a:lstStyle/>
          <a:p>
            <a:pPr algn="ctr" indent="0" marL="0">
              <a:buNone/>
            </a:pPr>
            <a:r>
              <a:rPr lang="en-US" sz="1350" b="1" dirty="0">
                <a:solidFill>
                  <a:srgbClr val="000000"/>
                </a:solidFill>
                <a:latin typeface="Arial" pitchFamily="34" charset="0"/>
                <a:ea typeface="Arial" pitchFamily="34" charset="-122"/>
                <a:cs typeface="Arial" pitchFamily="34" charset="-120"/>
              </a:rPr>
              <a:t>DRAFT</a:t>
            </a:r>
            <a:endParaRPr lang="en-US" sz="1350" dirty="0"/>
          </a:p>
        </p:txBody>
      </p:sp>
      <p:sp>
        <p:nvSpPr>
          <p:cNvPr id="19" name="Text 17"/>
          <p:cNvSpPr/>
          <p:nvPr/>
        </p:nvSpPr>
        <p:spPr>
          <a:xfrm>
            <a:off x="3291840" y="4334256"/>
            <a:ext cx="8229600" cy="329184"/>
          </a:xfrm>
          <a:prstGeom prst="rect">
            <a:avLst/>
          </a:prstGeom>
          <a:noFill/>
          <a:ln/>
        </p:spPr>
        <p:txBody>
          <a:bodyPr wrap="square" lIns="0" tIns="0" rIns="0" bIns="0" rtlCol="0" anchor="ctr"/>
          <a:lstStyle/>
          <a:p>
            <a:pPr indent="0" marL="0">
              <a:buNone/>
            </a:pPr>
            <a:r>
              <a:rPr lang="en-US" sz="1400" dirty="0">
                <a:solidFill>
                  <a:srgbClr val="FFFDF7"/>
                </a:solidFill>
                <a:latin typeface="Calibri" pitchFamily="34" charset="0"/>
                <a:ea typeface="Calibri" pitchFamily="34" charset="-122"/>
                <a:cs typeface="Calibri" pitchFamily="34" charset="-120"/>
              </a:rPr>
              <a:t>layer height — this is a test, not a showpiece</a:t>
            </a:r>
            <a:endParaRPr lang="en-US" sz="1400" dirty="0"/>
          </a:p>
        </p:txBody>
      </p:sp>
      <p:sp>
        <p:nvSpPr>
          <p:cNvPr id="20" name="Shape 18"/>
          <p:cNvSpPr/>
          <p:nvPr/>
        </p:nvSpPr>
        <p:spPr>
          <a:xfrm>
            <a:off x="662940" y="5052060"/>
            <a:ext cx="2377440" cy="640080"/>
          </a:xfrm>
          <a:prstGeom prst="rect">
            <a:avLst/>
          </a:prstGeom>
          <a:solidFill>
            <a:srgbClr val="000000"/>
          </a:solidFill>
          <a:ln w="6350">
            <a:solidFill>
              <a:srgbClr val="000000"/>
            </a:solidFill>
            <a:prstDash val="solid"/>
          </a:ln>
        </p:spPr>
      </p:sp>
      <p:sp>
        <p:nvSpPr>
          <p:cNvPr id="21" name="Shape 19"/>
          <p:cNvSpPr/>
          <p:nvPr/>
        </p:nvSpPr>
        <p:spPr>
          <a:xfrm>
            <a:off x="594360" y="4983480"/>
            <a:ext cx="2377440" cy="640080"/>
          </a:xfrm>
          <a:prstGeom prst="rect">
            <a:avLst/>
          </a:prstGeom>
          <a:solidFill>
            <a:srgbClr val="00D9E1"/>
          </a:solidFill>
          <a:ln w="34925">
            <a:solidFill>
              <a:srgbClr val="000000"/>
            </a:solidFill>
            <a:prstDash val="solid"/>
          </a:ln>
        </p:spPr>
      </p:sp>
      <p:sp>
        <p:nvSpPr>
          <p:cNvPr id="22" name="Text 20"/>
          <p:cNvSpPr/>
          <p:nvPr/>
        </p:nvSpPr>
        <p:spPr>
          <a:xfrm>
            <a:off x="594360" y="5148072"/>
            <a:ext cx="2377440" cy="329184"/>
          </a:xfrm>
          <a:prstGeom prst="rect">
            <a:avLst/>
          </a:prstGeom>
          <a:noFill/>
          <a:ln/>
        </p:spPr>
        <p:txBody>
          <a:bodyPr wrap="square" lIns="0" tIns="0" rIns="0" bIns="0" rtlCol="0" anchor="ctr"/>
          <a:lstStyle/>
          <a:p>
            <a:pPr algn="ctr" indent="0" marL="0">
              <a:buNone/>
            </a:pPr>
            <a:r>
              <a:rPr lang="en-US" sz="1350" b="1" dirty="0">
                <a:solidFill>
                  <a:srgbClr val="000000"/>
                </a:solidFill>
                <a:latin typeface="Arial" pitchFamily="34" charset="0"/>
                <a:ea typeface="Arial" pitchFamily="34" charset="-122"/>
                <a:cs typeface="Arial" pitchFamily="34" charset="-120"/>
              </a:rPr>
              <a:t>1 DIAGRAM</a:t>
            </a:r>
            <a:endParaRPr lang="en-US" sz="1350" dirty="0"/>
          </a:p>
        </p:txBody>
      </p:sp>
      <p:sp>
        <p:nvSpPr>
          <p:cNvPr id="23" name="Text 21"/>
          <p:cNvSpPr/>
          <p:nvPr/>
        </p:nvSpPr>
        <p:spPr>
          <a:xfrm>
            <a:off x="3291840" y="5157216"/>
            <a:ext cx="8229600" cy="329184"/>
          </a:xfrm>
          <a:prstGeom prst="rect">
            <a:avLst/>
          </a:prstGeom>
          <a:noFill/>
          <a:ln/>
        </p:spPr>
        <p:txBody>
          <a:bodyPr wrap="square" lIns="0" tIns="0" rIns="0" bIns="0" rtlCol="0" anchor="ctr"/>
          <a:lstStyle/>
          <a:p>
            <a:pPr indent="0" marL="0">
              <a:buNone/>
            </a:pPr>
            <a:r>
              <a:rPr lang="en-US" sz="1400" dirty="0">
                <a:solidFill>
                  <a:srgbClr val="FFFDF7"/>
                </a:solidFill>
                <a:latin typeface="Calibri" pitchFamily="34" charset="0"/>
                <a:ea typeface="Calibri" pitchFamily="34" charset="-122"/>
                <a:cs typeface="Calibri" pitchFamily="34" charset="-120"/>
              </a:rPr>
              <a:t>chosen orientation, the overhangs it produces, why not the alternative</a:t>
            </a:r>
            <a:endParaRPr lang="en-US" sz="1400" dirty="0"/>
          </a:p>
        </p:txBody>
      </p:sp>
      <p:sp>
        <p:nvSpPr>
          <p:cNvPr id="24" name="Shape 22"/>
          <p:cNvSpPr/>
          <p:nvPr/>
        </p:nvSpPr>
        <p:spPr>
          <a:xfrm>
            <a:off x="662940" y="5920740"/>
            <a:ext cx="10972800" cy="594360"/>
          </a:xfrm>
          <a:prstGeom prst="rect">
            <a:avLst/>
          </a:prstGeom>
          <a:solidFill>
            <a:srgbClr val="FF4D8D"/>
          </a:solidFill>
          <a:ln w="6350">
            <a:solidFill>
              <a:srgbClr val="FF4D8D"/>
            </a:solidFill>
            <a:prstDash val="solid"/>
          </a:ln>
        </p:spPr>
      </p:sp>
      <p:sp>
        <p:nvSpPr>
          <p:cNvPr id="25" name="Shape 23"/>
          <p:cNvSpPr/>
          <p:nvPr/>
        </p:nvSpPr>
        <p:spPr>
          <a:xfrm>
            <a:off x="594360" y="5852160"/>
            <a:ext cx="10972800" cy="594360"/>
          </a:xfrm>
          <a:prstGeom prst="rect">
            <a:avLst/>
          </a:prstGeom>
          <a:solidFill>
            <a:srgbClr val="FFFDF7"/>
          </a:solidFill>
          <a:ln w="34925">
            <a:solidFill>
              <a:srgbClr val="000000"/>
            </a:solidFill>
            <a:prstDash val="solid"/>
          </a:ln>
        </p:spPr>
      </p:sp>
      <p:sp>
        <p:nvSpPr>
          <p:cNvPr id="26" name="Text 24"/>
          <p:cNvSpPr/>
          <p:nvPr/>
        </p:nvSpPr>
        <p:spPr>
          <a:xfrm>
            <a:off x="914400" y="5971032"/>
            <a:ext cx="10515600" cy="365760"/>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Assessed on printability and on your reasoning. Not on craft — that is 3.2's job.</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6F035"/>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000000"/>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000000"/>
                </a:solidFill>
                <a:latin typeface="Arial" pitchFamily="34" charset="0"/>
                <a:ea typeface="Arial" pitchFamily="34" charset="-122"/>
                <a:cs typeface="Arial" pitchFamily="34" charset="-120"/>
              </a:rPr>
              <a:t>NOW — PREPARE YOUR PRINT</a:t>
            </a:r>
            <a:endParaRPr lang="en-US" sz="3300" dirty="0"/>
          </a:p>
        </p:txBody>
      </p:sp>
      <p:sp>
        <p:nvSpPr>
          <p:cNvPr id="4" name="Text 2"/>
          <p:cNvSpPr/>
          <p:nvPr/>
        </p:nvSpPr>
        <p:spPr>
          <a:xfrm>
            <a:off x="594360" y="1691640"/>
            <a:ext cx="10515600" cy="365760"/>
          </a:xfrm>
          <a:prstGeom prst="rect">
            <a:avLst/>
          </a:prstGeom>
          <a:noFill/>
          <a:ln/>
        </p:spPr>
        <p:txBody>
          <a:bodyPr wrap="square" lIns="0" tIns="0" rIns="0" bIns="0" rtlCol="0" anchor="ctr"/>
          <a:lstStyle/>
          <a:p>
            <a:pPr indent="0" marL="0">
              <a:buNone/>
            </a:pPr>
            <a:r>
              <a:rPr lang="en-US" sz="1600" dirty="0">
                <a:solidFill>
                  <a:srgbClr val="000000"/>
                </a:solidFill>
                <a:latin typeface="Calibri" pitchFamily="34" charset="0"/>
                <a:ea typeface="Calibri" pitchFamily="34" charset="-122"/>
                <a:cs typeface="Calibri" pitchFamily="34" charset="-120"/>
              </a:rPr>
              <a:t>Rest of the session: get a sliced file into the queue with help in the room.</a:t>
            </a:r>
            <a:endParaRPr lang="en-US" sz="1600" dirty="0"/>
          </a:p>
        </p:txBody>
      </p:sp>
      <p:sp>
        <p:nvSpPr>
          <p:cNvPr id="5" name="Shape 3"/>
          <p:cNvSpPr/>
          <p:nvPr/>
        </p:nvSpPr>
        <p:spPr>
          <a:xfrm>
            <a:off x="662940" y="2400300"/>
            <a:ext cx="621792" cy="566928"/>
          </a:xfrm>
          <a:prstGeom prst="rect">
            <a:avLst/>
          </a:prstGeom>
          <a:solidFill>
            <a:srgbClr val="000000"/>
          </a:solidFill>
          <a:ln w="6350">
            <a:solidFill>
              <a:srgbClr val="000000"/>
            </a:solidFill>
            <a:prstDash val="solid"/>
          </a:ln>
        </p:spPr>
      </p:sp>
      <p:sp>
        <p:nvSpPr>
          <p:cNvPr id="6" name="Shape 4"/>
          <p:cNvSpPr/>
          <p:nvPr/>
        </p:nvSpPr>
        <p:spPr>
          <a:xfrm>
            <a:off x="594360" y="2331720"/>
            <a:ext cx="621792" cy="566928"/>
          </a:xfrm>
          <a:prstGeom prst="rect">
            <a:avLst/>
          </a:prstGeom>
          <a:solidFill>
            <a:srgbClr val="FFFDF7"/>
          </a:solidFill>
          <a:ln w="34925">
            <a:solidFill>
              <a:srgbClr val="000000"/>
            </a:solidFill>
            <a:prstDash val="solid"/>
          </a:ln>
        </p:spPr>
      </p:sp>
      <p:sp>
        <p:nvSpPr>
          <p:cNvPr id="7" name="Text 5"/>
          <p:cNvSpPr/>
          <p:nvPr/>
        </p:nvSpPr>
        <p:spPr>
          <a:xfrm>
            <a:off x="594360" y="2432304"/>
            <a:ext cx="621792" cy="365760"/>
          </a:xfrm>
          <a:prstGeom prst="rect">
            <a:avLst/>
          </a:prstGeom>
          <a:noFill/>
          <a:ln/>
        </p:spPr>
        <p:txBody>
          <a:bodyPr wrap="square" lIns="0" tIns="0" rIns="0" bIns="0" rtlCol="0" anchor="ctr"/>
          <a:lstStyle/>
          <a:p>
            <a:pPr algn="ctr" indent="0" marL="0">
              <a:buNone/>
            </a:pPr>
            <a:r>
              <a:rPr lang="en-US" sz="1700" b="1" dirty="0">
                <a:solidFill>
                  <a:srgbClr val="000000"/>
                </a:solidFill>
                <a:latin typeface="Arial" pitchFamily="34" charset="0"/>
                <a:ea typeface="Arial" pitchFamily="34" charset="-122"/>
                <a:cs typeface="Arial" pitchFamily="34" charset="-120"/>
              </a:rPr>
              <a:t>✓</a:t>
            </a:r>
            <a:endParaRPr lang="en-US" sz="1700" dirty="0"/>
          </a:p>
        </p:txBody>
      </p:sp>
      <p:sp>
        <p:nvSpPr>
          <p:cNvPr id="8" name="Shape 6"/>
          <p:cNvSpPr/>
          <p:nvPr/>
        </p:nvSpPr>
        <p:spPr>
          <a:xfrm>
            <a:off x="1559052" y="2400300"/>
            <a:ext cx="10076688" cy="566928"/>
          </a:xfrm>
          <a:prstGeom prst="rect">
            <a:avLst/>
          </a:prstGeom>
          <a:solidFill>
            <a:srgbClr val="000000"/>
          </a:solidFill>
          <a:ln w="6350">
            <a:solidFill>
              <a:srgbClr val="000000"/>
            </a:solidFill>
            <a:prstDash val="solid"/>
          </a:ln>
        </p:spPr>
      </p:sp>
      <p:sp>
        <p:nvSpPr>
          <p:cNvPr id="9" name="Shape 7"/>
          <p:cNvSpPr/>
          <p:nvPr/>
        </p:nvSpPr>
        <p:spPr>
          <a:xfrm>
            <a:off x="1490472" y="2331720"/>
            <a:ext cx="10076688" cy="566928"/>
          </a:xfrm>
          <a:prstGeom prst="rect">
            <a:avLst/>
          </a:prstGeom>
          <a:solidFill>
            <a:srgbClr val="FFFDF7"/>
          </a:solidFill>
          <a:ln w="34925">
            <a:solidFill>
              <a:srgbClr val="000000"/>
            </a:solidFill>
            <a:prstDash val="solid"/>
          </a:ln>
        </p:spPr>
      </p:sp>
      <p:sp>
        <p:nvSpPr>
          <p:cNvPr id="10" name="Text 8"/>
          <p:cNvSpPr/>
          <p:nvPr/>
        </p:nvSpPr>
        <p:spPr>
          <a:xfrm>
            <a:off x="1764792" y="2468880"/>
            <a:ext cx="9326880" cy="329184"/>
          </a:xfrm>
          <a:prstGeom prst="rect">
            <a:avLst/>
          </a:prstGeom>
          <a:noFill/>
          <a:ln/>
        </p:spPr>
        <p:txBody>
          <a:bodyPr wrap="square" lIns="0" tIns="0" rIns="0" bIns="0" rtlCol="0" anchor="ctr"/>
          <a:lstStyle/>
          <a:p>
            <a:pPr indent="0" marL="0">
              <a:buNone/>
            </a:pPr>
            <a:r>
              <a:rPr lang="en-US" sz="1450" dirty="0">
                <a:solidFill>
                  <a:srgbClr val="000000"/>
                </a:solidFill>
                <a:latin typeface="Calibri" pitchFamily="34" charset="0"/>
                <a:ea typeface="Calibri" pitchFamily="34" charset="-122"/>
                <a:cs typeface="Calibri" pitchFamily="34" charset="-120"/>
              </a:rPr>
              <a:t>Model checked — manifold, watertight, normals consistent</a:t>
            </a:r>
            <a:endParaRPr lang="en-US" sz="1450" dirty="0"/>
          </a:p>
        </p:txBody>
      </p:sp>
      <p:sp>
        <p:nvSpPr>
          <p:cNvPr id="11" name="Shape 9"/>
          <p:cNvSpPr/>
          <p:nvPr/>
        </p:nvSpPr>
        <p:spPr>
          <a:xfrm>
            <a:off x="662940" y="3113532"/>
            <a:ext cx="621792" cy="566928"/>
          </a:xfrm>
          <a:prstGeom prst="rect">
            <a:avLst/>
          </a:prstGeom>
          <a:solidFill>
            <a:srgbClr val="000000"/>
          </a:solidFill>
          <a:ln w="6350">
            <a:solidFill>
              <a:srgbClr val="000000"/>
            </a:solidFill>
            <a:prstDash val="solid"/>
          </a:ln>
        </p:spPr>
      </p:sp>
      <p:sp>
        <p:nvSpPr>
          <p:cNvPr id="12" name="Shape 10"/>
          <p:cNvSpPr/>
          <p:nvPr/>
        </p:nvSpPr>
        <p:spPr>
          <a:xfrm>
            <a:off x="594360" y="3044952"/>
            <a:ext cx="621792" cy="566928"/>
          </a:xfrm>
          <a:prstGeom prst="rect">
            <a:avLst/>
          </a:prstGeom>
          <a:solidFill>
            <a:srgbClr val="FFFDF7"/>
          </a:solidFill>
          <a:ln w="34925">
            <a:solidFill>
              <a:srgbClr val="000000"/>
            </a:solidFill>
            <a:prstDash val="solid"/>
          </a:ln>
        </p:spPr>
      </p:sp>
      <p:sp>
        <p:nvSpPr>
          <p:cNvPr id="13" name="Text 11"/>
          <p:cNvSpPr/>
          <p:nvPr/>
        </p:nvSpPr>
        <p:spPr>
          <a:xfrm>
            <a:off x="594360" y="3145536"/>
            <a:ext cx="621792" cy="365760"/>
          </a:xfrm>
          <a:prstGeom prst="rect">
            <a:avLst/>
          </a:prstGeom>
          <a:noFill/>
          <a:ln/>
        </p:spPr>
        <p:txBody>
          <a:bodyPr wrap="square" lIns="0" tIns="0" rIns="0" bIns="0" rtlCol="0" anchor="ctr"/>
          <a:lstStyle/>
          <a:p>
            <a:pPr algn="ctr" indent="0" marL="0">
              <a:buNone/>
            </a:pPr>
            <a:r>
              <a:rPr lang="en-US" sz="1700" b="1" dirty="0">
                <a:solidFill>
                  <a:srgbClr val="000000"/>
                </a:solidFill>
                <a:latin typeface="Arial" pitchFamily="34" charset="0"/>
                <a:ea typeface="Arial" pitchFamily="34" charset="-122"/>
                <a:cs typeface="Arial" pitchFamily="34" charset="-120"/>
              </a:rPr>
              <a:t>✓</a:t>
            </a:r>
            <a:endParaRPr lang="en-US" sz="1700" dirty="0"/>
          </a:p>
        </p:txBody>
      </p:sp>
      <p:sp>
        <p:nvSpPr>
          <p:cNvPr id="14" name="Shape 12"/>
          <p:cNvSpPr/>
          <p:nvPr/>
        </p:nvSpPr>
        <p:spPr>
          <a:xfrm>
            <a:off x="1559052" y="3113532"/>
            <a:ext cx="10076688" cy="566928"/>
          </a:xfrm>
          <a:prstGeom prst="rect">
            <a:avLst/>
          </a:prstGeom>
          <a:solidFill>
            <a:srgbClr val="000000"/>
          </a:solidFill>
          <a:ln w="6350">
            <a:solidFill>
              <a:srgbClr val="000000"/>
            </a:solidFill>
            <a:prstDash val="solid"/>
          </a:ln>
        </p:spPr>
      </p:sp>
      <p:sp>
        <p:nvSpPr>
          <p:cNvPr id="15" name="Shape 13"/>
          <p:cNvSpPr/>
          <p:nvPr/>
        </p:nvSpPr>
        <p:spPr>
          <a:xfrm>
            <a:off x="1490472" y="3044952"/>
            <a:ext cx="10076688" cy="566928"/>
          </a:xfrm>
          <a:prstGeom prst="rect">
            <a:avLst/>
          </a:prstGeom>
          <a:solidFill>
            <a:srgbClr val="FFFDF7"/>
          </a:solidFill>
          <a:ln w="34925">
            <a:solidFill>
              <a:srgbClr val="000000"/>
            </a:solidFill>
            <a:prstDash val="solid"/>
          </a:ln>
        </p:spPr>
      </p:sp>
      <p:sp>
        <p:nvSpPr>
          <p:cNvPr id="16" name="Text 14"/>
          <p:cNvSpPr/>
          <p:nvPr/>
        </p:nvSpPr>
        <p:spPr>
          <a:xfrm>
            <a:off x="1764792" y="3182112"/>
            <a:ext cx="9326880" cy="329184"/>
          </a:xfrm>
          <a:prstGeom prst="rect">
            <a:avLst/>
          </a:prstGeom>
          <a:noFill/>
          <a:ln/>
        </p:spPr>
        <p:txBody>
          <a:bodyPr wrap="square" lIns="0" tIns="0" rIns="0" bIns="0" rtlCol="0" anchor="ctr"/>
          <a:lstStyle/>
          <a:p>
            <a:pPr indent="0" marL="0">
              <a:buNone/>
            </a:pPr>
            <a:r>
              <a:rPr lang="en-US" sz="1450" dirty="0">
                <a:solidFill>
                  <a:srgbClr val="000000"/>
                </a:solidFill>
                <a:latin typeface="Calibri" pitchFamily="34" charset="0"/>
                <a:ea typeface="Calibri" pitchFamily="34" charset="-122"/>
                <a:cs typeface="Calibri" pitchFamily="34" charset="-120"/>
              </a:rPr>
              <a:t>Scaled to fit within 60 mm</a:t>
            </a:r>
            <a:endParaRPr lang="en-US" sz="1450" dirty="0"/>
          </a:p>
        </p:txBody>
      </p:sp>
      <p:sp>
        <p:nvSpPr>
          <p:cNvPr id="17" name="Shape 15"/>
          <p:cNvSpPr/>
          <p:nvPr/>
        </p:nvSpPr>
        <p:spPr>
          <a:xfrm>
            <a:off x="662940" y="3826764"/>
            <a:ext cx="621792" cy="566928"/>
          </a:xfrm>
          <a:prstGeom prst="rect">
            <a:avLst/>
          </a:prstGeom>
          <a:solidFill>
            <a:srgbClr val="000000"/>
          </a:solidFill>
          <a:ln w="6350">
            <a:solidFill>
              <a:srgbClr val="000000"/>
            </a:solidFill>
            <a:prstDash val="solid"/>
          </a:ln>
        </p:spPr>
      </p:sp>
      <p:sp>
        <p:nvSpPr>
          <p:cNvPr id="18" name="Shape 16"/>
          <p:cNvSpPr/>
          <p:nvPr/>
        </p:nvSpPr>
        <p:spPr>
          <a:xfrm>
            <a:off x="594360" y="3758184"/>
            <a:ext cx="621792" cy="566928"/>
          </a:xfrm>
          <a:prstGeom prst="rect">
            <a:avLst/>
          </a:prstGeom>
          <a:solidFill>
            <a:srgbClr val="FFFDF7"/>
          </a:solidFill>
          <a:ln w="34925">
            <a:solidFill>
              <a:srgbClr val="000000"/>
            </a:solidFill>
            <a:prstDash val="solid"/>
          </a:ln>
        </p:spPr>
      </p:sp>
      <p:sp>
        <p:nvSpPr>
          <p:cNvPr id="19" name="Text 17"/>
          <p:cNvSpPr/>
          <p:nvPr/>
        </p:nvSpPr>
        <p:spPr>
          <a:xfrm>
            <a:off x="594360" y="3858768"/>
            <a:ext cx="621792" cy="365760"/>
          </a:xfrm>
          <a:prstGeom prst="rect">
            <a:avLst/>
          </a:prstGeom>
          <a:noFill/>
          <a:ln/>
        </p:spPr>
        <p:txBody>
          <a:bodyPr wrap="square" lIns="0" tIns="0" rIns="0" bIns="0" rtlCol="0" anchor="ctr"/>
          <a:lstStyle/>
          <a:p>
            <a:pPr algn="ctr" indent="0" marL="0">
              <a:buNone/>
            </a:pPr>
            <a:r>
              <a:rPr lang="en-US" sz="1700" b="1" dirty="0">
                <a:solidFill>
                  <a:srgbClr val="000000"/>
                </a:solidFill>
                <a:latin typeface="Arial" pitchFamily="34" charset="0"/>
                <a:ea typeface="Arial" pitchFamily="34" charset="-122"/>
                <a:cs typeface="Arial" pitchFamily="34" charset="-120"/>
              </a:rPr>
              <a:t>✓</a:t>
            </a:r>
            <a:endParaRPr lang="en-US" sz="1700" dirty="0"/>
          </a:p>
        </p:txBody>
      </p:sp>
      <p:sp>
        <p:nvSpPr>
          <p:cNvPr id="20" name="Shape 18"/>
          <p:cNvSpPr/>
          <p:nvPr/>
        </p:nvSpPr>
        <p:spPr>
          <a:xfrm>
            <a:off x="1559052" y="3826764"/>
            <a:ext cx="10076688" cy="566928"/>
          </a:xfrm>
          <a:prstGeom prst="rect">
            <a:avLst/>
          </a:prstGeom>
          <a:solidFill>
            <a:srgbClr val="000000"/>
          </a:solidFill>
          <a:ln w="6350">
            <a:solidFill>
              <a:srgbClr val="000000"/>
            </a:solidFill>
            <a:prstDash val="solid"/>
          </a:ln>
        </p:spPr>
      </p:sp>
      <p:sp>
        <p:nvSpPr>
          <p:cNvPr id="21" name="Shape 19"/>
          <p:cNvSpPr/>
          <p:nvPr/>
        </p:nvSpPr>
        <p:spPr>
          <a:xfrm>
            <a:off x="1490472" y="3758184"/>
            <a:ext cx="10076688" cy="566928"/>
          </a:xfrm>
          <a:prstGeom prst="rect">
            <a:avLst/>
          </a:prstGeom>
          <a:solidFill>
            <a:srgbClr val="FFFDF7"/>
          </a:solidFill>
          <a:ln w="34925">
            <a:solidFill>
              <a:srgbClr val="000000"/>
            </a:solidFill>
            <a:prstDash val="solid"/>
          </a:ln>
        </p:spPr>
      </p:sp>
      <p:sp>
        <p:nvSpPr>
          <p:cNvPr id="22" name="Text 20"/>
          <p:cNvSpPr/>
          <p:nvPr/>
        </p:nvSpPr>
        <p:spPr>
          <a:xfrm>
            <a:off x="1764792" y="3895344"/>
            <a:ext cx="9326880" cy="329184"/>
          </a:xfrm>
          <a:prstGeom prst="rect">
            <a:avLst/>
          </a:prstGeom>
          <a:noFill/>
          <a:ln/>
        </p:spPr>
        <p:txBody>
          <a:bodyPr wrap="square" lIns="0" tIns="0" rIns="0" bIns="0" rtlCol="0" anchor="ctr"/>
          <a:lstStyle/>
          <a:p>
            <a:pPr indent="0" marL="0">
              <a:buNone/>
            </a:pPr>
            <a:r>
              <a:rPr lang="en-US" sz="1450" dirty="0">
                <a:solidFill>
                  <a:srgbClr val="000000"/>
                </a:solidFill>
                <a:latin typeface="Calibri" pitchFamily="34" charset="0"/>
                <a:ea typeface="Calibri" pitchFamily="34" charset="-122"/>
                <a:cs typeface="Calibri" pitchFamily="34" charset="-120"/>
              </a:rPr>
              <a:t>Orientation chosen and justified — no overhang past ~45°</a:t>
            </a:r>
            <a:endParaRPr lang="en-US" sz="1450" dirty="0"/>
          </a:p>
        </p:txBody>
      </p:sp>
      <p:sp>
        <p:nvSpPr>
          <p:cNvPr id="23" name="Shape 21"/>
          <p:cNvSpPr/>
          <p:nvPr/>
        </p:nvSpPr>
        <p:spPr>
          <a:xfrm>
            <a:off x="662940" y="4539996"/>
            <a:ext cx="621792" cy="566928"/>
          </a:xfrm>
          <a:prstGeom prst="rect">
            <a:avLst/>
          </a:prstGeom>
          <a:solidFill>
            <a:srgbClr val="000000"/>
          </a:solidFill>
          <a:ln w="6350">
            <a:solidFill>
              <a:srgbClr val="000000"/>
            </a:solidFill>
            <a:prstDash val="solid"/>
          </a:ln>
        </p:spPr>
      </p:sp>
      <p:sp>
        <p:nvSpPr>
          <p:cNvPr id="24" name="Shape 22"/>
          <p:cNvSpPr/>
          <p:nvPr/>
        </p:nvSpPr>
        <p:spPr>
          <a:xfrm>
            <a:off x="594360" y="4471416"/>
            <a:ext cx="621792" cy="566928"/>
          </a:xfrm>
          <a:prstGeom prst="rect">
            <a:avLst/>
          </a:prstGeom>
          <a:solidFill>
            <a:srgbClr val="FFFDF7"/>
          </a:solidFill>
          <a:ln w="34925">
            <a:solidFill>
              <a:srgbClr val="000000"/>
            </a:solidFill>
            <a:prstDash val="solid"/>
          </a:ln>
        </p:spPr>
      </p:sp>
      <p:sp>
        <p:nvSpPr>
          <p:cNvPr id="25" name="Text 23"/>
          <p:cNvSpPr/>
          <p:nvPr/>
        </p:nvSpPr>
        <p:spPr>
          <a:xfrm>
            <a:off x="594360" y="4572000"/>
            <a:ext cx="621792" cy="365760"/>
          </a:xfrm>
          <a:prstGeom prst="rect">
            <a:avLst/>
          </a:prstGeom>
          <a:noFill/>
          <a:ln/>
        </p:spPr>
        <p:txBody>
          <a:bodyPr wrap="square" lIns="0" tIns="0" rIns="0" bIns="0" rtlCol="0" anchor="ctr"/>
          <a:lstStyle/>
          <a:p>
            <a:pPr algn="ctr" indent="0" marL="0">
              <a:buNone/>
            </a:pPr>
            <a:r>
              <a:rPr lang="en-US" sz="1700" b="1" dirty="0">
                <a:solidFill>
                  <a:srgbClr val="000000"/>
                </a:solidFill>
                <a:latin typeface="Arial" pitchFamily="34" charset="0"/>
                <a:ea typeface="Arial" pitchFamily="34" charset="-122"/>
                <a:cs typeface="Arial" pitchFamily="34" charset="-120"/>
              </a:rPr>
              <a:t>✓</a:t>
            </a:r>
            <a:endParaRPr lang="en-US" sz="1700" dirty="0"/>
          </a:p>
        </p:txBody>
      </p:sp>
      <p:sp>
        <p:nvSpPr>
          <p:cNvPr id="26" name="Shape 24"/>
          <p:cNvSpPr/>
          <p:nvPr/>
        </p:nvSpPr>
        <p:spPr>
          <a:xfrm>
            <a:off x="1559052" y="4539996"/>
            <a:ext cx="10076688" cy="566928"/>
          </a:xfrm>
          <a:prstGeom prst="rect">
            <a:avLst/>
          </a:prstGeom>
          <a:solidFill>
            <a:srgbClr val="000000"/>
          </a:solidFill>
          <a:ln w="6350">
            <a:solidFill>
              <a:srgbClr val="000000"/>
            </a:solidFill>
            <a:prstDash val="solid"/>
          </a:ln>
        </p:spPr>
      </p:sp>
      <p:sp>
        <p:nvSpPr>
          <p:cNvPr id="27" name="Shape 25"/>
          <p:cNvSpPr/>
          <p:nvPr/>
        </p:nvSpPr>
        <p:spPr>
          <a:xfrm>
            <a:off x="1490472" y="4471416"/>
            <a:ext cx="10076688" cy="566928"/>
          </a:xfrm>
          <a:prstGeom prst="rect">
            <a:avLst/>
          </a:prstGeom>
          <a:solidFill>
            <a:srgbClr val="FFFDF7"/>
          </a:solidFill>
          <a:ln w="34925">
            <a:solidFill>
              <a:srgbClr val="000000"/>
            </a:solidFill>
            <a:prstDash val="solid"/>
          </a:ln>
        </p:spPr>
      </p:sp>
      <p:sp>
        <p:nvSpPr>
          <p:cNvPr id="28" name="Text 26"/>
          <p:cNvSpPr/>
          <p:nvPr/>
        </p:nvSpPr>
        <p:spPr>
          <a:xfrm>
            <a:off x="1764792" y="4608576"/>
            <a:ext cx="9326880" cy="329184"/>
          </a:xfrm>
          <a:prstGeom prst="rect">
            <a:avLst/>
          </a:prstGeom>
          <a:noFill/>
          <a:ln/>
        </p:spPr>
        <p:txBody>
          <a:bodyPr wrap="square" lIns="0" tIns="0" rIns="0" bIns="0" rtlCol="0" anchor="ctr"/>
          <a:lstStyle/>
          <a:p>
            <a:pPr indent="0" marL="0">
              <a:buNone/>
            </a:pPr>
            <a:r>
              <a:rPr lang="en-US" sz="1450" dirty="0">
                <a:solidFill>
                  <a:srgbClr val="000000"/>
                </a:solidFill>
                <a:latin typeface="Calibri" pitchFamily="34" charset="0"/>
                <a:ea typeface="Calibri" pitchFamily="34" charset="-122"/>
                <a:cs typeface="Calibri" pitchFamily="34" charset="-120"/>
              </a:rPr>
              <a:t>Sliced. Print time and material noted.</a:t>
            </a:r>
            <a:endParaRPr lang="en-US" sz="1450" dirty="0"/>
          </a:p>
        </p:txBody>
      </p:sp>
      <p:sp>
        <p:nvSpPr>
          <p:cNvPr id="29" name="Shape 27"/>
          <p:cNvSpPr/>
          <p:nvPr/>
        </p:nvSpPr>
        <p:spPr>
          <a:xfrm>
            <a:off x="662940" y="5253228"/>
            <a:ext cx="621792" cy="566928"/>
          </a:xfrm>
          <a:prstGeom prst="rect">
            <a:avLst/>
          </a:prstGeom>
          <a:solidFill>
            <a:srgbClr val="000000"/>
          </a:solidFill>
          <a:ln w="6350">
            <a:solidFill>
              <a:srgbClr val="000000"/>
            </a:solidFill>
            <a:prstDash val="solid"/>
          </a:ln>
        </p:spPr>
      </p:sp>
      <p:sp>
        <p:nvSpPr>
          <p:cNvPr id="30" name="Shape 28"/>
          <p:cNvSpPr/>
          <p:nvPr/>
        </p:nvSpPr>
        <p:spPr>
          <a:xfrm>
            <a:off x="594360" y="5184648"/>
            <a:ext cx="621792" cy="566928"/>
          </a:xfrm>
          <a:prstGeom prst="rect">
            <a:avLst/>
          </a:prstGeom>
          <a:solidFill>
            <a:srgbClr val="FFFDF7"/>
          </a:solidFill>
          <a:ln w="34925">
            <a:solidFill>
              <a:srgbClr val="000000"/>
            </a:solidFill>
            <a:prstDash val="solid"/>
          </a:ln>
        </p:spPr>
      </p:sp>
      <p:sp>
        <p:nvSpPr>
          <p:cNvPr id="31" name="Text 29"/>
          <p:cNvSpPr/>
          <p:nvPr/>
        </p:nvSpPr>
        <p:spPr>
          <a:xfrm>
            <a:off x="594360" y="5285232"/>
            <a:ext cx="621792" cy="365760"/>
          </a:xfrm>
          <a:prstGeom prst="rect">
            <a:avLst/>
          </a:prstGeom>
          <a:noFill/>
          <a:ln/>
        </p:spPr>
        <p:txBody>
          <a:bodyPr wrap="square" lIns="0" tIns="0" rIns="0" bIns="0" rtlCol="0" anchor="ctr"/>
          <a:lstStyle/>
          <a:p>
            <a:pPr algn="ctr" indent="0" marL="0">
              <a:buNone/>
            </a:pPr>
            <a:r>
              <a:rPr lang="en-US" sz="1700" b="1" dirty="0">
                <a:solidFill>
                  <a:srgbClr val="000000"/>
                </a:solidFill>
                <a:latin typeface="Arial" pitchFamily="34" charset="0"/>
                <a:ea typeface="Arial" pitchFamily="34" charset="-122"/>
                <a:cs typeface="Arial" pitchFamily="34" charset="-120"/>
              </a:rPr>
              <a:t>✓</a:t>
            </a:r>
            <a:endParaRPr lang="en-US" sz="1700" dirty="0"/>
          </a:p>
        </p:txBody>
      </p:sp>
      <p:sp>
        <p:nvSpPr>
          <p:cNvPr id="32" name="Shape 30"/>
          <p:cNvSpPr/>
          <p:nvPr/>
        </p:nvSpPr>
        <p:spPr>
          <a:xfrm>
            <a:off x="1559052" y="5253228"/>
            <a:ext cx="10076688" cy="566928"/>
          </a:xfrm>
          <a:prstGeom prst="rect">
            <a:avLst/>
          </a:prstGeom>
          <a:solidFill>
            <a:srgbClr val="000000"/>
          </a:solidFill>
          <a:ln w="6350">
            <a:solidFill>
              <a:srgbClr val="000000"/>
            </a:solidFill>
            <a:prstDash val="solid"/>
          </a:ln>
        </p:spPr>
      </p:sp>
      <p:sp>
        <p:nvSpPr>
          <p:cNvPr id="33" name="Shape 31"/>
          <p:cNvSpPr/>
          <p:nvPr/>
        </p:nvSpPr>
        <p:spPr>
          <a:xfrm>
            <a:off x="1490472" y="5184648"/>
            <a:ext cx="10076688" cy="566928"/>
          </a:xfrm>
          <a:prstGeom prst="rect">
            <a:avLst/>
          </a:prstGeom>
          <a:solidFill>
            <a:srgbClr val="FFFDF7"/>
          </a:solidFill>
          <a:ln w="34925">
            <a:solidFill>
              <a:srgbClr val="000000"/>
            </a:solidFill>
            <a:prstDash val="solid"/>
          </a:ln>
        </p:spPr>
      </p:sp>
      <p:sp>
        <p:nvSpPr>
          <p:cNvPr id="34" name="Text 32"/>
          <p:cNvSpPr/>
          <p:nvPr/>
        </p:nvSpPr>
        <p:spPr>
          <a:xfrm>
            <a:off x="1764792" y="5321808"/>
            <a:ext cx="9326880" cy="329184"/>
          </a:xfrm>
          <a:prstGeom prst="rect">
            <a:avLst/>
          </a:prstGeom>
          <a:noFill/>
          <a:ln/>
        </p:spPr>
        <p:txBody>
          <a:bodyPr wrap="square" lIns="0" tIns="0" rIns="0" bIns="0" rtlCol="0" anchor="ctr"/>
          <a:lstStyle/>
          <a:p>
            <a:pPr indent="0" marL="0">
              <a:buNone/>
            </a:pPr>
            <a:r>
              <a:rPr lang="en-US" sz="1450" dirty="0">
                <a:solidFill>
                  <a:srgbClr val="000000"/>
                </a:solidFill>
                <a:latin typeface="Calibri" pitchFamily="34" charset="0"/>
                <a:ea typeface="Calibri" pitchFamily="34" charset="-122"/>
                <a:cs typeface="Calibri" pitchFamily="34" charset="-120"/>
              </a:rPr>
              <a:t>File named and submitted to the queue</a:t>
            </a:r>
            <a:endParaRPr lang="en-US" sz="1450" dirty="0"/>
          </a:p>
        </p:txBody>
      </p:sp>
      <p:sp>
        <p:nvSpPr>
          <p:cNvPr id="35" name="Shape 33"/>
          <p:cNvSpPr/>
          <p:nvPr/>
        </p:nvSpPr>
        <p:spPr>
          <a:xfrm>
            <a:off x="662940" y="6057900"/>
            <a:ext cx="6949440" cy="566928"/>
          </a:xfrm>
          <a:prstGeom prst="rect">
            <a:avLst/>
          </a:prstGeom>
          <a:solidFill>
            <a:srgbClr val="000000"/>
          </a:solidFill>
          <a:ln w="6350">
            <a:solidFill>
              <a:srgbClr val="000000"/>
            </a:solidFill>
            <a:prstDash val="solid"/>
          </a:ln>
        </p:spPr>
      </p:sp>
      <p:sp>
        <p:nvSpPr>
          <p:cNvPr id="36" name="Shape 34"/>
          <p:cNvSpPr/>
          <p:nvPr/>
        </p:nvSpPr>
        <p:spPr>
          <a:xfrm>
            <a:off x="594360" y="5989320"/>
            <a:ext cx="6949440" cy="566928"/>
          </a:xfrm>
          <a:prstGeom prst="rect">
            <a:avLst/>
          </a:prstGeom>
          <a:solidFill>
            <a:srgbClr val="000000"/>
          </a:solidFill>
          <a:ln w="34925">
            <a:solidFill>
              <a:srgbClr val="000000"/>
            </a:solidFill>
            <a:prstDash val="solid"/>
          </a:ln>
        </p:spPr>
      </p:sp>
      <p:sp>
        <p:nvSpPr>
          <p:cNvPr id="37" name="Text 35"/>
          <p:cNvSpPr/>
          <p:nvPr/>
        </p:nvSpPr>
        <p:spPr>
          <a:xfrm>
            <a:off x="594360" y="6126480"/>
            <a:ext cx="6949440" cy="365760"/>
          </a:xfrm>
          <a:prstGeom prst="rect">
            <a:avLst/>
          </a:prstGeom>
          <a:noFill/>
          <a:ln/>
        </p:spPr>
        <p:txBody>
          <a:bodyPr wrap="square" lIns="0" tIns="0" rIns="0" bIns="0" rtlCol="0" anchor="ctr"/>
          <a:lstStyle/>
          <a:p>
            <a:pPr algn="ctr" indent="0" marL="0">
              <a:buNone/>
            </a:pPr>
            <a:r>
              <a:rPr lang="en-US" sz="1400" b="1" spc="60" kern="0" dirty="0">
                <a:solidFill>
                  <a:srgbClr val="C6F035"/>
                </a:solidFill>
                <a:latin typeface="Arial" pitchFamily="34" charset="0"/>
                <a:ea typeface="Arial" pitchFamily="34" charset="-122"/>
                <a:cs typeface="Arial" pitchFamily="34" charset="-120"/>
              </a:rPr>
              <a:t>LEAVE WITH A FILE IN THE QUEUE.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594360" y="566928"/>
            <a:ext cx="10972800" cy="0"/>
          </a:xfrm>
          <a:prstGeom prst="line">
            <a:avLst/>
          </a:prstGeom>
          <a:noFill/>
          <a:ln w="50800">
            <a:solidFill>
              <a:srgbClr val="000000"/>
            </a:solidFill>
            <a:prstDash val="solid"/>
          </a:ln>
        </p:spPr>
      </p:sp>
      <p:sp>
        <p:nvSpPr>
          <p:cNvPr id="3" name="Text 1"/>
          <p:cNvSpPr/>
          <p:nvPr/>
        </p:nvSpPr>
        <p:spPr>
          <a:xfrm>
            <a:off x="594360" y="676656"/>
            <a:ext cx="10972800" cy="566928"/>
          </a:xfrm>
          <a:prstGeom prst="rect">
            <a:avLst/>
          </a:prstGeom>
          <a:noFill/>
          <a:ln/>
        </p:spPr>
        <p:txBody>
          <a:bodyPr wrap="square" lIns="0" tIns="0" rIns="0" bIns="0" rtlCol="0" anchor="ctr"/>
          <a:lstStyle/>
          <a:p>
            <a:pPr indent="0" marL="0">
              <a:buNone/>
            </a:pPr>
            <a:r>
              <a:rPr lang="en-US" sz="3300" b="1" spc="-60" kern="0" dirty="0">
                <a:solidFill>
                  <a:srgbClr val="000000"/>
                </a:solidFill>
                <a:latin typeface="Arial" pitchFamily="34" charset="0"/>
                <a:ea typeface="Arial" pitchFamily="34" charset="-122"/>
                <a:cs typeface="Arial" pitchFamily="34" charset="-120"/>
              </a:rPr>
              <a:t>BEFORE NEXT CLASS</a:t>
            </a:r>
            <a:endParaRPr lang="en-US" sz="3300" dirty="0"/>
          </a:p>
        </p:txBody>
      </p:sp>
      <p:sp>
        <p:nvSpPr>
          <p:cNvPr id="4" name="Shape 2"/>
          <p:cNvSpPr/>
          <p:nvPr/>
        </p:nvSpPr>
        <p:spPr>
          <a:xfrm>
            <a:off x="662940" y="1851660"/>
            <a:ext cx="1508760" cy="804672"/>
          </a:xfrm>
          <a:prstGeom prst="rect">
            <a:avLst/>
          </a:prstGeom>
          <a:solidFill>
            <a:srgbClr val="000000"/>
          </a:solidFill>
          <a:ln w="6350">
            <a:solidFill>
              <a:srgbClr val="000000"/>
            </a:solidFill>
            <a:prstDash val="solid"/>
          </a:ln>
        </p:spPr>
      </p:sp>
      <p:sp>
        <p:nvSpPr>
          <p:cNvPr id="5" name="Shape 3"/>
          <p:cNvSpPr/>
          <p:nvPr/>
        </p:nvSpPr>
        <p:spPr>
          <a:xfrm>
            <a:off x="594360" y="1783080"/>
            <a:ext cx="1508760" cy="804672"/>
          </a:xfrm>
          <a:prstGeom prst="rect">
            <a:avLst/>
          </a:prstGeom>
          <a:solidFill>
            <a:srgbClr val="00D9E1"/>
          </a:solidFill>
          <a:ln w="34925">
            <a:solidFill>
              <a:srgbClr val="000000"/>
            </a:solidFill>
            <a:prstDash val="solid"/>
          </a:ln>
        </p:spPr>
      </p:sp>
      <p:sp>
        <p:nvSpPr>
          <p:cNvPr id="6" name="Text 4"/>
          <p:cNvSpPr/>
          <p:nvPr/>
        </p:nvSpPr>
        <p:spPr>
          <a:xfrm>
            <a:off x="594360" y="2029968"/>
            <a:ext cx="1508760" cy="329184"/>
          </a:xfrm>
          <a:prstGeom prst="rect">
            <a:avLst/>
          </a:prstGeom>
          <a:noFill/>
          <a:ln/>
        </p:spPr>
        <p:txBody>
          <a:bodyPr wrap="square" lIns="0" tIns="0" rIns="0" bIns="0" rtlCol="0" anchor="ctr"/>
          <a:lstStyle/>
          <a:p>
            <a:pPr algn="ctr" indent="0" marL="0">
              <a:buNone/>
            </a:pPr>
            <a:r>
              <a:rPr lang="en-US" sz="1400" b="1" spc="80" kern="0" dirty="0">
                <a:solidFill>
                  <a:srgbClr val="000000"/>
                </a:solidFill>
                <a:latin typeface="Arial" pitchFamily="34" charset="0"/>
                <a:ea typeface="Arial" pitchFamily="34" charset="-122"/>
                <a:cs typeface="Arial" pitchFamily="34" charset="-120"/>
              </a:rPr>
              <a:t>WATCH</a:t>
            </a:r>
            <a:endParaRPr lang="en-US" sz="1400" dirty="0"/>
          </a:p>
        </p:txBody>
      </p:sp>
      <p:sp>
        <p:nvSpPr>
          <p:cNvPr id="7" name="Shape 5"/>
          <p:cNvSpPr/>
          <p:nvPr/>
        </p:nvSpPr>
        <p:spPr>
          <a:xfrm>
            <a:off x="2446020" y="1851660"/>
            <a:ext cx="9189720" cy="804672"/>
          </a:xfrm>
          <a:prstGeom prst="rect">
            <a:avLst/>
          </a:prstGeom>
          <a:solidFill>
            <a:srgbClr val="000000"/>
          </a:solidFill>
          <a:ln w="6350">
            <a:solidFill>
              <a:srgbClr val="000000"/>
            </a:solidFill>
            <a:prstDash val="solid"/>
          </a:ln>
        </p:spPr>
      </p:sp>
      <p:sp>
        <p:nvSpPr>
          <p:cNvPr id="8" name="Shape 6"/>
          <p:cNvSpPr/>
          <p:nvPr/>
        </p:nvSpPr>
        <p:spPr>
          <a:xfrm>
            <a:off x="2377440" y="1783080"/>
            <a:ext cx="9189720" cy="804672"/>
          </a:xfrm>
          <a:prstGeom prst="rect">
            <a:avLst/>
          </a:prstGeom>
          <a:solidFill>
            <a:srgbClr val="FFFDF7"/>
          </a:solidFill>
          <a:ln w="34925">
            <a:solidFill>
              <a:srgbClr val="000000"/>
            </a:solidFill>
            <a:prstDash val="solid"/>
          </a:ln>
        </p:spPr>
      </p:sp>
      <p:sp>
        <p:nvSpPr>
          <p:cNvPr id="9" name="Text 7"/>
          <p:cNvSpPr/>
          <p:nvPr/>
        </p:nvSpPr>
        <p:spPr>
          <a:xfrm>
            <a:off x="2651760" y="1911096"/>
            <a:ext cx="8595360" cy="603504"/>
          </a:xfrm>
          <a:prstGeom prst="rect">
            <a:avLst/>
          </a:prstGeom>
          <a:noFill/>
          <a:ln/>
        </p:spPr>
        <p:txBody>
          <a:bodyPr wrap="square" lIns="0" tIns="0" rIns="0" bIns="0" rtlCol="0" anchor="ctr"/>
          <a:lstStyle/>
          <a:p>
            <a:pPr indent="0" marL="0">
              <a:lnSpc>
                <a:spcPts val="1900"/>
              </a:lnSpc>
              <a:buNone/>
            </a:pPr>
            <a:r>
              <a:rPr lang="en-US" sz="1350" dirty="0">
                <a:solidFill>
                  <a:srgbClr val="000000"/>
                </a:solidFill>
                <a:latin typeface="Calibri" pitchFamily="34" charset="0"/>
                <a:ea typeface="Calibri" pitchFamily="34" charset="-122"/>
                <a:cs typeface="Calibri" pitchFamily="34" charset="-120"/>
              </a:rPr>
              <a:t>Tutorial 1.1 — arrays. Linear, grid, hexagonal, along a curve. Sent tonight.</a:t>
            </a:r>
            <a:endParaRPr lang="en-US" sz="1350" dirty="0"/>
          </a:p>
        </p:txBody>
      </p:sp>
      <p:sp>
        <p:nvSpPr>
          <p:cNvPr id="10" name="Shape 8"/>
          <p:cNvSpPr/>
          <p:nvPr/>
        </p:nvSpPr>
        <p:spPr>
          <a:xfrm>
            <a:off x="662940" y="2912364"/>
            <a:ext cx="1508760" cy="804672"/>
          </a:xfrm>
          <a:prstGeom prst="rect">
            <a:avLst/>
          </a:prstGeom>
          <a:solidFill>
            <a:srgbClr val="000000"/>
          </a:solidFill>
          <a:ln w="6350">
            <a:solidFill>
              <a:srgbClr val="000000"/>
            </a:solidFill>
            <a:prstDash val="solid"/>
          </a:ln>
        </p:spPr>
      </p:sp>
      <p:sp>
        <p:nvSpPr>
          <p:cNvPr id="11" name="Shape 9"/>
          <p:cNvSpPr/>
          <p:nvPr/>
        </p:nvSpPr>
        <p:spPr>
          <a:xfrm>
            <a:off x="594360" y="2843784"/>
            <a:ext cx="1508760" cy="804672"/>
          </a:xfrm>
          <a:prstGeom prst="rect">
            <a:avLst/>
          </a:prstGeom>
          <a:solidFill>
            <a:srgbClr val="FF4D8D"/>
          </a:solidFill>
          <a:ln w="34925">
            <a:solidFill>
              <a:srgbClr val="000000"/>
            </a:solidFill>
            <a:prstDash val="solid"/>
          </a:ln>
        </p:spPr>
      </p:sp>
      <p:sp>
        <p:nvSpPr>
          <p:cNvPr id="12" name="Text 10"/>
          <p:cNvSpPr/>
          <p:nvPr/>
        </p:nvSpPr>
        <p:spPr>
          <a:xfrm>
            <a:off x="594360" y="3090672"/>
            <a:ext cx="1508760" cy="329184"/>
          </a:xfrm>
          <a:prstGeom prst="rect">
            <a:avLst/>
          </a:prstGeom>
          <a:noFill/>
          <a:ln/>
        </p:spPr>
        <p:txBody>
          <a:bodyPr wrap="square" lIns="0" tIns="0" rIns="0" bIns="0" rtlCol="0" anchor="ctr"/>
          <a:lstStyle/>
          <a:p>
            <a:pPr algn="ctr" indent="0" marL="0">
              <a:buNone/>
            </a:pPr>
            <a:r>
              <a:rPr lang="en-US" sz="1400" b="1" spc="80" kern="0" dirty="0">
                <a:solidFill>
                  <a:srgbClr val="000000"/>
                </a:solidFill>
                <a:latin typeface="Arial" pitchFamily="34" charset="0"/>
                <a:ea typeface="Arial" pitchFamily="34" charset="-122"/>
                <a:cs typeface="Arial" pitchFamily="34" charset="-120"/>
              </a:rPr>
              <a:t>FINISH</a:t>
            </a:r>
            <a:endParaRPr lang="en-US" sz="1400" dirty="0"/>
          </a:p>
        </p:txBody>
      </p:sp>
      <p:sp>
        <p:nvSpPr>
          <p:cNvPr id="13" name="Shape 11"/>
          <p:cNvSpPr/>
          <p:nvPr/>
        </p:nvSpPr>
        <p:spPr>
          <a:xfrm>
            <a:off x="2446020" y="2912364"/>
            <a:ext cx="9189720" cy="804672"/>
          </a:xfrm>
          <a:prstGeom prst="rect">
            <a:avLst/>
          </a:prstGeom>
          <a:solidFill>
            <a:srgbClr val="000000"/>
          </a:solidFill>
          <a:ln w="6350">
            <a:solidFill>
              <a:srgbClr val="000000"/>
            </a:solidFill>
            <a:prstDash val="solid"/>
          </a:ln>
        </p:spPr>
      </p:sp>
      <p:sp>
        <p:nvSpPr>
          <p:cNvPr id="14" name="Shape 12"/>
          <p:cNvSpPr/>
          <p:nvPr/>
        </p:nvSpPr>
        <p:spPr>
          <a:xfrm>
            <a:off x="2377440" y="2843784"/>
            <a:ext cx="9189720" cy="804672"/>
          </a:xfrm>
          <a:prstGeom prst="rect">
            <a:avLst/>
          </a:prstGeom>
          <a:solidFill>
            <a:srgbClr val="FFFDF7"/>
          </a:solidFill>
          <a:ln w="34925">
            <a:solidFill>
              <a:srgbClr val="000000"/>
            </a:solidFill>
            <a:prstDash val="solid"/>
          </a:ln>
        </p:spPr>
      </p:sp>
      <p:sp>
        <p:nvSpPr>
          <p:cNvPr id="15" name="Text 13"/>
          <p:cNvSpPr/>
          <p:nvPr/>
        </p:nvSpPr>
        <p:spPr>
          <a:xfrm>
            <a:off x="2651760" y="2971800"/>
            <a:ext cx="8595360" cy="603504"/>
          </a:xfrm>
          <a:prstGeom prst="rect">
            <a:avLst/>
          </a:prstGeom>
          <a:noFill/>
          <a:ln/>
        </p:spPr>
        <p:txBody>
          <a:bodyPr wrap="square" lIns="0" tIns="0" rIns="0" bIns="0" rtlCol="0" anchor="ctr"/>
          <a:lstStyle/>
          <a:p>
            <a:pPr indent="0" marL="0">
              <a:lnSpc>
                <a:spcPts val="1900"/>
              </a:lnSpc>
              <a:buNone/>
            </a:pPr>
            <a:r>
              <a:rPr lang="en-US" sz="1350" dirty="0">
                <a:solidFill>
                  <a:srgbClr val="000000"/>
                </a:solidFill>
                <a:latin typeface="Calibri" pitchFamily="34" charset="0"/>
                <a:ea typeface="Calibri" pitchFamily="34" charset="-122"/>
                <a:cs typeface="Calibri" pitchFamily="34" charset="-120"/>
              </a:rPr>
              <a:t>0.1 is due next class: the axonometric sequence, the procedure, the precedent analysis.</a:t>
            </a:r>
            <a:endParaRPr lang="en-US" sz="1350" dirty="0"/>
          </a:p>
        </p:txBody>
      </p:sp>
      <p:sp>
        <p:nvSpPr>
          <p:cNvPr id="16" name="Shape 14"/>
          <p:cNvSpPr/>
          <p:nvPr/>
        </p:nvSpPr>
        <p:spPr>
          <a:xfrm>
            <a:off x="662940" y="3973068"/>
            <a:ext cx="1508760" cy="804672"/>
          </a:xfrm>
          <a:prstGeom prst="rect">
            <a:avLst/>
          </a:prstGeom>
          <a:solidFill>
            <a:srgbClr val="000000"/>
          </a:solidFill>
          <a:ln w="6350">
            <a:solidFill>
              <a:srgbClr val="000000"/>
            </a:solidFill>
            <a:prstDash val="solid"/>
          </a:ln>
        </p:spPr>
      </p:sp>
      <p:sp>
        <p:nvSpPr>
          <p:cNvPr id="17" name="Shape 15"/>
          <p:cNvSpPr/>
          <p:nvPr/>
        </p:nvSpPr>
        <p:spPr>
          <a:xfrm>
            <a:off x="594360" y="3904488"/>
            <a:ext cx="1508760" cy="804672"/>
          </a:xfrm>
          <a:prstGeom prst="rect">
            <a:avLst/>
          </a:prstGeom>
          <a:solidFill>
            <a:srgbClr val="FFE500"/>
          </a:solidFill>
          <a:ln w="34925">
            <a:solidFill>
              <a:srgbClr val="000000"/>
            </a:solidFill>
            <a:prstDash val="solid"/>
          </a:ln>
        </p:spPr>
      </p:sp>
      <p:sp>
        <p:nvSpPr>
          <p:cNvPr id="18" name="Text 16"/>
          <p:cNvSpPr/>
          <p:nvPr/>
        </p:nvSpPr>
        <p:spPr>
          <a:xfrm>
            <a:off x="594360" y="4151376"/>
            <a:ext cx="1508760" cy="329184"/>
          </a:xfrm>
          <a:prstGeom prst="rect">
            <a:avLst/>
          </a:prstGeom>
          <a:noFill/>
          <a:ln/>
        </p:spPr>
        <p:txBody>
          <a:bodyPr wrap="square" lIns="0" tIns="0" rIns="0" bIns="0" rtlCol="0" anchor="ctr"/>
          <a:lstStyle/>
          <a:p>
            <a:pPr algn="ctr" indent="0" marL="0">
              <a:buNone/>
            </a:pPr>
            <a:r>
              <a:rPr lang="en-US" sz="1400" b="1" spc="80" kern="0" dirty="0">
                <a:solidFill>
                  <a:srgbClr val="000000"/>
                </a:solidFill>
                <a:latin typeface="Arial" pitchFamily="34" charset="0"/>
                <a:ea typeface="Arial" pitchFamily="34" charset="-122"/>
                <a:cs typeface="Arial" pitchFamily="34" charset="-120"/>
              </a:rPr>
              <a:t>CHECK</a:t>
            </a:r>
            <a:endParaRPr lang="en-US" sz="1400" dirty="0"/>
          </a:p>
        </p:txBody>
      </p:sp>
      <p:sp>
        <p:nvSpPr>
          <p:cNvPr id="19" name="Shape 17"/>
          <p:cNvSpPr/>
          <p:nvPr/>
        </p:nvSpPr>
        <p:spPr>
          <a:xfrm>
            <a:off x="2446020" y="3973068"/>
            <a:ext cx="9189720" cy="804672"/>
          </a:xfrm>
          <a:prstGeom prst="rect">
            <a:avLst/>
          </a:prstGeom>
          <a:solidFill>
            <a:srgbClr val="000000"/>
          </a:solidFill>
          <a:ln w="6350">
            <a:solidFill>
              <a:srgbClr val="000000"/>
            </a:solidFill>
            <a:prstDash val="solid"/>
          </a:ln>
        </p:spPr>
      </p:sp>
      <p:sp>
        <p:nvSpPr>
          <p:cNvPr id="20" name="Shape 18"/>
          <p:cNvSpPr/>
          <p:nvPr/>
        </p:nvSpPr>
        <p:spPr>
          <a:xfrm>
            <a:off x="2377440" y="3904488"/>
            <a:ext cx="9189720" cy="804672"/>
          </a:xfrm>
          <a:prstGeom prst="rect">
            <a:avLst/>
          </a:prstGeom>
          <a:solidFill>
            <a:srgbClr val="FFFDF7"/>
          </a:solidFill>
          <a:ln w="34925">
            <a:solidFill>
              <a:srgbClr val="000000"/>
            </a:solidFill>
            <a:prstDash val="solid"/>
          </a:ln>
        </p:spPr>
      </p:sp>
      <p:sp>
        <p:nvSpPr>
          <p:cNvPr id="21" name="Text 19"/>
          <p:cNvSpPr/>
          <p:nvPr/>
        </p:nvSpPr>
        <p:spPr>
          <a:xfrm>
            <a:off x="2651760" y="4032504"/>
            <a:ext cx="8595360" cy="603504"/>
          </a:xfrm>
          <a:prstGeom prst="rect">
            <a:avLst/>
          </a:prstGeom>
          <a:noFill/>
          <a:ln/>
        </p:spPr>
        <p:txBody>
          <a:bodyPr wrap="square" lIns="0" tIns="0" rIns="0" bIns="0" rtlCol="0" anchor="ctr"/>
          <a:lstStyle/>
          <a:p>
            <a:pPr indent="0" marL="0">
              <a:lnSpc>
                <a:spcPts val="1900"/>
              </a:lnSpc>
              <a:buNone/>
            </a:pPr>
            <a:r>
              <a:rPr lang="en-US" sz="1350" dirty="0">
                <a:solidFill>
                  <a:srgbClr val="000000"/>
                </a:solidFill>
                <a:latin typeface="Calibri" pitchFamily="34" charset="0"/>
                <a:ea typeface="Calibri" pitchFamily="34" charset="-122"/>
                <a:cs typeface="Calibri" pitchFamily="34" charset="-120"/>
              </a:rPr>
              <a:t>Your print is in the queue. It is presented at the Midterm, not next week — but the file has to exist.</a:t>
            </a:r>
            <a:endParaRPr lang="en-US" sz="1350" dirty="0"/>
          </a:p>
        </p:txBody>
      </p:sp>
      <p:sp>
        <p:nvSpPr>
          <p:cNvPr id="22" name="Shape 20"/>
          <p:cNvSpPr/>
          <p:nvPr/>
        </p:nvSpPr>
        <p:spPr>
          <a:xfrm>
            <a:off x="662940" y="5033772"/>
            <a:ext cx="1508760" cy="804672"/>
          </a:xfrm>
          <a:prstGeom prst="rect">
            <a:avLst/>
          </a:prstGeom>
          <a:solidFill>
            <a:srgbClr val="000000"/>
          </a:solidFill>
          <a:ln w="6350">
            <a:solidFill>
              <a:srgbClr val="000000"/>
            </a:solidFill>
            <a:prstDash val="solid"/>
          </a:ln>
        </p:spPr>
      </p:sp>
      <p:sp>
        <p:nvSpPr>
          <p:cNvPr id="23" name="Shape 21"/>
          <p:cNvSpPr/>
          <p:nvPr/>
        </p:nvSpPr>
        <p:spPr>
          <a:xfrm>
            <a:off x="594360" y="4965192"/>
            <a:ext cx="1508760" cy="804672"/>
          </a:xfrm>
          <a:prstGeom prst="rect">
            <a:avLst/>
          </a:prstGeom>
          <a:solidFill>
            <a:srgbClr val="C6F035"/>
          </a:solidFill>
          <a:ln w="34925">
            <a:solidFill>
              <a:srgbClr val="000000"/>
            </a:solidFill>
            <a:prstDash val="solid"/>
          </a:ln>
        </p:spPr>
      </p:sp>
      <p:sp>
        <p:nvSpPr>
          <p:cNvPr id="24" name="Text 22"/>
          <p:cNvSpPr/>
          <p:nvPr/>
        </p:nvSpPr>
        <p:spPr>
          <a:xfrm>
            <a:off x="594360" y="5212080"/>
            <a:ext cx="1508760" cy="329184"/>
          </a:xfrm>
          <a:prstGeom prst="rect">
            <a:avLst/>
          </a:prstGeom>
          <a:noFill/>
          <a:ln/>
        </p:spPr>
        <p:txBody>
          <a:bodyPr wrap="square" lIns="0" tIns="0" rIns="0" bIns="0" rtlCol="0" anchor="ctr"/>
          <a:lstStyle/>
          <a:p>
            <a:pPr algn="ctr" indent="0" marL="0">
              <a:buNone/>
            </a:pPr>
            <a:r>
              <a:rPr lang="en-US" sz="1400" b="1" spc="80" kern="0" dirty="0">
                <a:solidFill>
                  <a:srgbClr val="000000"/>
                </a:solidFill>
                <a:latin typeface="Arial" pitchFamily="34" charset="0"/>
                <a:ea typeface="Arial" pitchFamily="34" charset="-122"/>
                <a:cs typeface="Arial" pitchFamily="34" charset="-120"/>
              </a:rPr>
              <a:t>READ</a:t>
            </a:r>
            <a:endParaRPr lang="en-US" sz="1400" dirty="0"/>
          </a:p>
        </p:txBody>
      </p:sp>
      <p:sp>
        <p:nvSpPr>
          <p:cNvPr id="25" name="Shape 23"/>
          <p:cNvSpPr/>
          <p:nvPr/>
        </p:nvSpPr>
        <p:spPr>
          <a:xfrm>
            <a:off x="2446020" y="5033772"/>
            <a:ext cx="9189720" cy="804672"/>
          </a:xfrm>
          <a:prstGeom prst="rect">
            <a:avLst/>
          </a:prstGeom>
          <a:solidFill>
            <a:srgbClr val="000000"/>
          </a:solidFill>
          <a:ln w="6350">
            <a:solidFill>
              <a:srgbClr val="000000"/>
            </a:solidFill>
            <a:prstDash val="solid"/>
          </a:ln>
        </p:spPr>
      </p:sp>
      <p:sp>
        <p:nvSpPr>
          <p:cNvPr id="26" name="Shape 24"/>
          <p:cNvSpPr/>
          <p:nvPr/>
        </p:nvSpPr>
        <p:spPr>
          <a:xfrm>
            <a:off x="2377440" y="4965192"/>
            <a:ext cx="9189720" cy="804672"/>
          </a:xfrm>
          <a:prstGeom prst="rect">
            <a:avLst/>
          </a:prstGeom>
          <a:solidFill>
            <a:srgbClr val="FFFDF7"/>
          </a:solidFill>
          <a:ln w="34925">
            <a:solidFill>
              <a:srgbClr val="000000"/>
            </a:solidFill>
            <a:prstDash val="solid"/>
          </a:ln>
        </p:spPr>
      </p:sp>
      <p:sp>
        <p:nvSpPr>
          <p:cNvPr id="27" name="Text 25"/>
          <p:cNvSpPr/>
          <p:nvPr/>
        </p:nvSpPr>
        <p:spPr>
          <a:xfrm>
            <a:off x="2651760" y="5093208"/>
            <a:ext cx="8595360" cy="603504"/>
          </a:xfrm>
          <a:prstGeom prst="rect">
            <a:avLst/>
          </a:prstGeom>
          <a:noFill/>
          <a:ln/>
        </p:spPr>
        <p:txBody>
          <a:bodyPr wrap="square" lIns="0" tIns="0" rIns="0" bIns="0" rtlCol="0" anchor="ctr"/>
          <a:lstStyle/>
          <a:p>
            <a:pPr indent="0" marL="0">
              <a:lnSpc>
                <a:spcPts val="1900"/>
              </a:lnSpc>
              <a:buNone/>
            </a:pPr>
            <a:r>
              <a:rPr lang="en-US" sz="1350" dirty="0">
                <a:solidFill>
                  <a:srgbClr val="000000"/>
                </a:solidFill>
                <a:latin typeface="Calibri" pitchFamily="34" charset="0"/>
                <a:ea typeface="Calibri" pitchFamily="34" charset="-122"/>
                <a:cs typeface="Calibri" pitchFamily="34" charset="-120"/>
              </a:rPr>
              <a:t>Your own procedure, out loud, to someone who has not seen the model. Fix what they cannot follow.</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 3133 — Class 3</dc:title>
  <dc:subject>PptxGenJS Presentation</dc:subject>
  <dc:creator>Luis Pacheco Alcala</dc:creator>
  <cp:lastModifiedBy>Luis Pacheco Alcala</cp:lastModifiedBy>
  <cp:revision>1</cp:revision>
  <dcterms:created xsi:type="dcterms:W3CDTF">2026-08-21T19:26:32Z</dcterms:created>
  <dcterms:modified xsi:type="dcterms:W3CDTF">2026-08-21T19:26:32Z</dcterms:modified>
</cp:coreProperties>
</file>