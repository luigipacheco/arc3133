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0.1 and 0.2 at the start. Quick pin-up if time — full exchange is next week.\nToday is the paradigm shift: everything from here has parameters driving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skip this slide. Students treat Module 1 as 'now we make patterns'. The real content is the transition from repetition to controlled variation.\nThe bottom line is the whole module in one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back to the Class 2 arithmetic slide — move is addition. Nothing new has happened except the counter.\nThe index point is the bridge to attractors next week: index tells you WHERE in the sequence, distance tells you HOW FAR from something. Both are just numbers driving a property.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each one live from the same starting point, so they see it is one idea with four list-generation strategies.\nOn curve is the one they will struggle with: the list comes from dividing the curve, not from adding a fixed step. The spacing is in curve parameter, not distance — worth demonstrating on a curve with uneven curvature.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right-hand grid uses r = f(index). Nothing else changed.\nThis is the single most important idea in Module 1 — say it, show it, and repeat it when you brief 1.1.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questions, every precedent, all module long. They are also the questions their own precedent analysis must answer.\nPush past 'it looks nice' — make them name the rule that would regenerate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matrix makes the assignment concrete — 16 possible combinations, they pick three.\nEmphasise that the comparison between their three is the point. Same technique, different graphic consequence.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prohibition is enforced by explanation, not by auditing files — they submit a short written statement of how their falloff is computed.\nMinimum 2 sheets. Say the C-floor line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for students duplicating a linear array to fake a grid. Make them build the second counter.\nAnyone finished early: drive spacing by the index instead of scale, and see how differently it 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printed procedure is essential — the exchange does not work if it is on a laptop.\nRemind them the 0.1 print is due at the Midterm, not next week, but the file should already be queued.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6F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051560"/>
            <a:ext cx="10972800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4813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04  /  SEP 15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62940" y="2125980"/>
            <a:ext cx="10149840" cy="21488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057400"/>
            <a:ext cx="10149840" cy="21488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8600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spc="-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— FIELDS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spc="-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62940" y="4549140"/>
            <a:ext cx="676656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4480560"/>
            <a:ext cx="6766560" cy="566928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95260" y="4549140"/>
            <a:ext cx="301752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4480560"/>
            <a:ext cx="3017520" cy="56692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994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PARAMETRIC BEGINS HERE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26680" y="45994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 + 0.2 DUE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58704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ISSUED TODAY  /  ARRAYS + ATTRACTORS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FFFD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-60" kern="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JUST MOVED TO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 is finished. The ground has changed.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2940" y="1897380"/>
            <a:ext cx="5349240" cy="3108960"/>
          </a:xfrm>
          <a:prstGeom prst="rect">
            <a:avLst/>
          </a:prstGeom>
          <a:solidFill>
            <a:srgbClr val="00D9E1"/>
          </a:solidFill>
          <a:ln w="6350">
            <a:solidFill>
              <a:srgbClr val="00D9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28800"/>
            <a:ext cx="5349240" cy="31089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828800"/>
            <a:ext cx="5349240" cy="86868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4767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PROCEDURAL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 — DONE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88036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sequence of operations.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defined the steps.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expected result.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rot="5400000">
            <a:off x="5998464" y="3154680"/>
            <a:ext cx="310896" cy="365760"/>
          </a:xfrm>
          <a:prstGeom prst="triangle">
            <a:avLst/>
          </a:prstGeom>
          <a:solidFill>
            <a:srgbClr val="FFE5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6500" y="1897380"/>
            <a:ext cx="5349240" cy="3108960"/>
          </a:xfrm>
          <a:prstGeom prst="rect">
            <a:avLst/>
          </a:prstGeom>
          <a:solidFill>
            <a:srgbClr val="C6F035"/>
          </a:solidFill>
          <a:ln w="6350">
            <a:solidFill>
              <a:srgbClr val="C6F0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5349240" cy="31089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828800"/>
            <a:ext cx="5349240" cy="86868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94767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PARAMETRIC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92240" y="23317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1–3 — NOW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288036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between inputs and form.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define the rules of variation.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family — you know the range,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each member.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2940" y="5326380"/>
            <a:ext cx="10972800" cy="777240"/>
          </a:xfrm>
          <a:prstGeom prst="rect">
            <a:avLst/>
          </a:prstGeom>
          <a:solidFill>
            <a:srgbClr val="FF4D8D"/>
          </a:solidFill>
          <a:ln w="6350">
            <a:solidFill>
              <a:srgbClr val="FF4D8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5257800"/>
            <a:ext cx="10972800" cy="77724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44982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on its own is still procedural — repeat this N times. It becomes parametric the moment a parameter governs how the copies differ.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-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ARRAY IS A LIST OF POSITIONS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command that duplicates things. A list you compute, then place geometry at.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2940" y="1851660"/>
            <a:ext cx="548640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83080"/>
            <a:ext cx="548640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 →  POSITION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377440"/>
            <a:ext cx="484632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42032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0   →   p = start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1   →   p = start + step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2   →   p = start + 2 × step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3   →   p = start + 3 × step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p[i] = start + i × step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15100" y="1851660"/>
            <a:ext cx="512064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783080"/>
            <a:ext cx="5120640" cy="320040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9933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KNOW THIS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2377440"/>
            <a:ext cx="470916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2542032"/>
            <a:ext cx="4709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is addition. An array is move, repeated, with the amount driven by the index.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is the only new idea: a counter that tells each copy how far along the sequence it is — and therefore how different it should be.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62940" y="5280660"/>
            <a:ext cx="10972800" cy="7772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5212080"/>
            <a:ext cx="10972800" cy="77724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40410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is what makes variation possible. Without it every copy is identical, because nothing distinguishes one from another.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-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ARRAYS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four ways of generating the list.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78308" y="1805940"/>
            <a:ext cx="2697480" cy="35661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1737360"/>
            <a:ext cx="2697480" cy="35661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" y="1737360"/>
            <a:ext cx="269748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82880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" y="2395728"/>
            <a:ext cx="2240280" cy="1874520"/>
          </a:xfrm>
          <a:prstGeom prst="rect">
            <a:avLst/>
          </a:prstGeom>
          <a:solidFill>
            <a:srgbClr val="F4F4EE"/>
          </a:solidFill>
          <a:ln w="19050">
            <a:solidFill>
              <a:srgbClr val="C9C9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4068" y="3282696"/>
            <a:ext cx="100584" cy="100584"/>
          </a:xfrm>
          <a:prstGeom prst="ellipse">
            <a:avLst/>
          </a:prstGeom>
          <a:solidFill>
            <a:srgbClr val="00D9E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" y="3282696"/>
            <a:ext cx="100584" cy="100584"/>
          </a:xfrm>
          <a:prstGeom prst="ellipse">
            <a:avLst/>
          </a:prstGeom>
          <a:solidFill>
            <a:srgbClr val="00D9E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9284" y="3282696"/>
            <a:ext cx="100584" cy="100584"/>
          </a:xfrm>
          <a:prstGeom prst="ellipse">
            <a:avLst/>
          </a:prstGeom>
          <a:solidFill>
            <a:srgbClr val="00D9E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21892" y="3282696"/>
            <a:ext cx="100584" cy="100584"/>
          </a:xfrm>
          <a:prstGeom prst="ellipse">
            <a:avLst/>
          </a:prstGeom>
          <a:solidFill>
            <a:srgbClr val="00D9E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14500" y="3282696"/>
            <a:ext cx="100584" cy="100584"/>
          </a:xfrm>
          <a:prstGeom prst="ellipse">
            <a:avLst/>
          </a:prstGeom>
          <a:solidFill>
            <a:srgbClr val="00D9E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07108" y="3282696"/>
            <a:ext cx="100584" cy="100584"/>
          </a:xfrm>
          <a:prstGeom prst="ellipse">
            <a:avLst/>
          </a:prstGeom>
          <a:solidFill>
            <a:srgbClr val="00D9E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99716" y="3282696"/>
            <a:ext cx="100584" cy="100584"/>
          </a:xfrm>
          <a:prstGeom prst="ellipse">
            <a:avLst/>
          </a:prstGeom>
          <a:solidFill>
            <a:srgbClr val="00D9E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440740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p[i] = p₀ + i·d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59836" y="1805940"/>
            <a:ext cx="2697480" cy="35661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91256" y="1737360"/>
            <a:ext cx="2697480" cy="35661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91256" y="1737360"/>
            <a:ext cx="269748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9856" y="182880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419856" y="2395728"/>
            <a:ext cx="2240280" cy="1874520"/>
          </a:xfrm>
          <a:prstGeom prst="rect">
            <a:avLst/>
          </a:prstGeom>
          <a:solidFill>
            <a:srgbClr val="F4F4EE"/>
          </a:solidFill>
          <a:ln w="19050">
            <a:solidFill>
              <a:srgbClr val="C9C9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62172" y="263804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62172" y="295808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62172" y="327812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62172" y="359816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62172" y="391820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63924" y="263804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63924" y="295808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63924" y="327812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63924" y="359816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63924" y="391820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65676" y="263804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65676" y="295808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65676" y="327812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65676" y="359816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65676" y="391820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67428" y="263804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67428" y="295808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67428" y="327812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67428" y="359816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67428" y="391820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69180" y="263804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69180" y="295808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69180" y="327812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69180" y="359816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69180" y="391820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170932" y="263804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70932" y="295808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70932" y="327812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70932" y="359816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70932" y="3918204"/>
            <a:ext cx="100584" cy="10058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19856" y="440740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p[i][j] = p₀ + (i·dx, j·dy)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341364" y="1805940"/>
            <a:ext cx="2697480" cy="35661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72784" y="1737360"/>
            <a:ext cx="2697480" cy="35661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72784" y="1737360"/>
            <a:ext cx="2697480" cy="50292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01384" y="182880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6501384" y="2395728"/>
            <a:ext cx="2240280" cy="1874520"/>
          </a:xfrm>
          <a:prstGeom prst="rect">
            <a:avLst/>
          </a:prstGeom>
          <a:solidFill>
            <a:srgbClr val="F4F4EE"/>
          </a:solidFill>
          <a:ln w="19050">
            <a:solidFill>
              <a:srgbClr val="C9C9C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25412" y="2656332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027164" y="2656332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328916" y="2656332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630668" y="2656332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32420" y="2656332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34172" y="2656332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76288" y="2958084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78040" y="2958084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479792" y="2958084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781544" y="2958084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83296" y="2958084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25412" y="3259836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027164" y="3259836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328916" y="3259836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630668" y="3259836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32420" y="3259836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34172" y="3259836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876288" y="3561588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178040" y="3561588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479792" y="3561588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781544" y="3561588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083296" y="3561588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725412" y="3863340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027164" y="3863340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28916" y="3863340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630668" y="3863340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932420" y="3863340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234172" y="3863340"/>
            <a:ext cx="100584" cy="100584"/>
          </a:xfrm>
          <a:prstGeom prst="ellipse">
            <a:avLst/>
          </a:prstGeom>
          <a:solidFill>
            <a:srgbClr val="FFE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501384" y="440740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 odd rows by dx/2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9422892" y="1805940"/>
            <a:ext cx="2697480" cy="35661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354312" y="1737360"/>
            <a:ext cx="2697480" cy="35661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354312" y="1737360"/>
            <a:ext cx="269748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582912" y="182880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CURVE</a:t>
            </a:r>
            <a:endParaRPr lang="en-US" sz="1250" dirty="0"/>
          </a:p>
        </p:txBody>
      </p:sp>
      <p:sp>
        <p:nvSpPr>
          <p:cNvPr id="92" name="Shape 90"/>
          <p:cNvSpPr/>
          <p:nvPr/>
        </p:nvSpPr>
        <p:spPr>
          <a:xfrm>
            <a:off x="9582912" y="2395728"/>
            <a:ext cx="2240280" cy="1874520"/>
          </a:xfrm>
          <a:prstGeom prst="rect">
            <a:avLst/>
          </a:prstGeom>
          <a:solidFill>
            <a:srgbClr val="F4F4EE"/>
          </a:solidFill>
          <a:ln w="19050">
            <a:solidFill>
              <a:srgbClr val="C9C9C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808769" y="3682289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846318" y="3606123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883866" y="3533269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921415" y="3463727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958964" y="3397496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996513" y="3334577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034061" y="3274969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071610" y="3218673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109159" y="3165688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146708" y="3116015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184256" y="3069653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221805" y="3026603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259354" y="2986865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296903" y="2950438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334452" y="2917322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372000" y="2887518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409549" y="2861026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447098" y="2837845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484647" y="2817976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0522195" y="2801418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559744" y="2788172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597293" y="2778237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634842" y="2771614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672390" y="2768303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709939" y="2768303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747488" y="2771614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0785037" y="2778237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822585" y="2788172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860134" y="2801418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897683" y="2817976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935232" y="2837845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972781" y="2861026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1010329" y="2887518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1047878" y="2917322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1085427" y="2950438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1122976" y="2986865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160524" y="3026603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1198073" y="3069653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1235622" y="3116015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1273171" y="3165688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1310719" y="3218673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1348268" y="3274969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1385817" y="3334577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1423366" y="3397496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1460915" y="3463727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1498463" y="3533269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1536012" y="3606123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1573561" y="3682289"/>
            <a:ext cx="23774" cy="23774"/>
          </a:xfrm>
          <a:prstGeom prst="ellipse">
            <a:avLst/>
          </a:prstGeom>
          <a:solidFill>
            <a:srgbClr val="B4B4AC"/>
          </a:solidFill>
          <a:ln w="12700">
            <a:solidFill>
              <a:srgbClr val="B4B4A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770364" y="3643884"/>
            <a:ext cx="100584" cy="100584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022477" y="3196015"/>
            <a:ext cx="100584" cy="100584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274590" y="2897435"/>
            <a:ext cx="100584" cy="100584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526703" y="2748145"/>
            <a:ext cx="100584" cy="100584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0778817" y="2748145"/>
            <a:ext cx="100584" cy="100584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1030930" y="2897435"/>
            <a:ext cx="100584" cy="100584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1283043" y="3196015"/>
            <a:ext cx="100584" cy="100584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1535156" y="3643884"/>
            <a:ext cx="100584" cy="100584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9582912" y="440740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p[i] = curve at t = i/n</a:t>
            </a:r>
            <a:endParaRPr lang="en-US" sz="1050" dirty="0"/>
          </a:p>
        </p:txBody>
      </p:sp>
      <p:sp>
        <p:nvSpPr>
          <p:cNvPr id="150" name="Shape 148"/>
          <p:cNvSpPr/>
          <p:nvPr/>
        </p:nvSpPr>
        <p:spPr>
          <a:xfrm>
            <a:off x="662940" y="5646420"/>
            <a:ext cx="10972800" cy="731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94360" y="5577840"/>
            <a:ext cx="10972800" cy="7315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14400" y="5760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 is a list of lists — two counters instead of one. Hold that thought; it returns in Module 3 as a panel field.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FFFD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-60" kern="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REPETITION IS NOT THE POINT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grid, twice. One is a pattern. The other is a system.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2940" y="1851660"/>
            <a:ext cx="5349240" cy="3474720"/>
          </a:xfrm>
          <a:prstGeom prst="rect">
            <a:avLst/>
          </a:prstGeom>
          <a:solidFill>
            <a:srgbClr val="FF4D8D"/>
          </a:solidFill>
          <a:ln w="6350">
            <a:solidFill>
              <a:srgbClr val="FF4D8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83080"/>
            <a:ext cx="5349240" cy="34747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83080"/>
            <a:ext cx="5349240" cy="54864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928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49040" y="19293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487168"/>
            <a:ext cx="4709160" cy="1874520"/>
          </a:xfrm>
          <a:prstGeom prst="rect">
            <a:avLst/>
          </a:prstGeom>
          <a:solidFill>
            <a:srgbClr val="F4F4EE"/>
          </a:solidFill>
          <a:ln w="19050">
            <a:solidFill>
              <a:srgbClr val="C9C9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29868" y="2738628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29868" y="3049524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9868" y="3360420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29868" y="3671316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29868" y="3982212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78508" y="2738628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78508" y="3049524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78508" y="3360420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8508" y="3671316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8508" y="3982212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27148" y="2738628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27148" y="3049524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27148" y="3360420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27148" y="3671316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27148" y="3982212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5788" y="2738628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5788" y="3049524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5788" y="3360420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5788" y="3671316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75788" y="3982212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24428" y="2738628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24428" y="3049524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24428" y="3360420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24428" y="3671316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24428" y="3982212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73068" y="2738628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73068" y="3049524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73068" y="3360420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73068" y="3671316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73068" y="3982212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21708" y="2738628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21708" y="3049524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21708" y="3360420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21708" y="3671316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21708" y="3982212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70348" y="2738628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70348" y="3049524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70348" y="3360420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70348" y="3671316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70348" y="3982212"/>
            <a:ext cx="137160" cy="137160"/>
          </a:xfrm>
          <a:prstGeom prst="ellipse">
            <a:avLst/>
          </a:prstGeom>
          <a:solidFill>
            <a:srgbClr val="FF4D8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" y="452628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identical. The index is generated and then ignored.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286500" y="1851660"/>
            <a:ext cx="5349240" cy="3474720"/>
          </a:xfrm>
          <a:prstGeom prst="rect">
            <a:avLst/>
          </a:prstGeom>
          <a:solidFill>
            <a:srgbClr val="C6F035"/>
          </a:solidFill>
          <a:ln w="6350">
            <a:solidFill>
              <a:srgbClr val="C6F0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17920" y="1783080"/>
            <a:ext cx="5349240" cy="34747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17920" y="1783080"/>
            <a:ext cx="5349240" cy="54864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92240" y="18928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9372600" y="19293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PARAMETRIC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537960" y="2487168"/>
            <a:ext cx="4709160" cy="1874520"/>
          </a:xfrm>
          <a:prstGeom prst="rect">
            <a:avLst/>
          </a:prstGeom>
          <a:solidFill>
            <a:srgbClr val="F4F4EE"/>
          </a:solidFill>
          <a:ln w="19050">
            <a:solidFill>
              <a:srgbClr val="C9C9C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94576" y="2779776"/>
            <a:ext cx="54864" cy="5486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94576" y="3090672"/>
            <a:ext cx="54864" cy="5486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94576" y="3401568"/>
            <a:ext cx="54864" cy="5486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894576" y="3712464"/>
            <a:ext cx="54864" cy="5486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94576" y="4023360"/>
            <a:ext cx="54864" cy="5486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433419" y="2769979"/>
            <a:ext cx="74458" cy="74458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433419" y="3080875"/>
            <a:ext cx="74458" cy="74458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433419" y="3391771"/>
            <a:ext cx="74458" cy="74458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33419" y="3702667"/>
            <a:ext cx="74458" cy="74458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433419" y="4013563"/>
            <a:ext cx="74458" cy="74458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972262" y="2760182"/>
            <a:ext cx="94053" cy="94053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972262" y="3071078"/>
            <a:ext cx="94053" cy="94053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72262" y="3381974"/>
            <a:ext cx="94053" cy="94053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972262" y="3692870"/>
            <a:ext cx="94053" cy="94053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972262" y="4003766"/>
            <a:ext cx="94053" cy="94053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511105" y="2750385"/>
            <a:ext cx="113647" cy="113647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511105" y="3061281"/>
            <a:ext cx="113647" cy="113647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511105" y="3372177"/>
            <a:ext cx="113647" cy="113647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511105" y="3683073"/>
            <a:ext cx="113647" cy="113647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511105" y="3993969"/>
            <a:ext cx="113647" cy="113647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049947" y="2740587"/>
            <a:ext cx="133241" cy="133241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049947" y="3051483"/>
            <a:ext cx="133241" cy="133241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049947" y="3362379"/>
            <a:ext cx="133241" cy="133241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049947" y="3673275"/>
            <a:ext cx="133241" cy="133241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049947" y="3984171"/>
            <a:ext cx="133241" cy="133241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588790" y="2730790"/>
            <a:ext cx="152835" cy="152835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588790" y="3041686"/>
            <a:ext cx="152835" cy="152835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588790" y="3352582"/>
            <a:ext cx="152835" cy="152835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588790" y="3663478"/>
            <a:ext cx="152835" cy="152835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588790" y="3974374"/>
            <a:ext cx="152835" cy="152835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127633" y="2720993"/>
            <a:ext cx="172430" cy="172430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127633" y="3031889"/>
            <a:ext cx="172430" cy="172430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127633" y="3342785"/>
            <a:ext cx="172430" cy="172430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127633" y="3653681"/>
            <a:ext cx="172430" cy="172430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127633" y="3964577"/>
            <a:ext cx="172430" cy="172430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666476" y="2711196"/>
            <a:ext cx="192024" cy="19202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666476" y="3022092"/>
            <a:ext cx="192024" cy="19202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666476" y="3332988"/>
            <a:ext cx="192024" cy="19202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666476" y="3643884"/>
            <a:ext cx="192024" cy="19202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666476" y="3954780"/>
            <a:ext cx="192024" cy="192024"/>
          </a:xfrm>
          <a:prstGeom prst="ellipse">
            <a:avLst/>
          </a:prstGeom>
          <a:solidFill>
            <a:srgbClr val="C6F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537960" y="452628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driven by the index. The same list, now doing work.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662940" y="5554980"/>
            <a:ext cx="10972800" cy="713232"/>
          </a:xfrm>
          <a:prstGeom prst="rect">
            <a:avLst/>
          </a:prstGeom>
          <a:solidFill>
            <a:srgbClr val="00D9E1"/>
          </a:solidFill>
          <a:ln w="6350">
            <a:solidFill>
              <a:srgbClr val="00D9E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94360" y="5486400"/>
            <a:ext cx="10972800" cy="71323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14400" y="566013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REQUIRES VARIATION. A FIELD OF IDENTICAL ELEMENTS DOES NOT MEET THE ASSIGNMENT.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-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 IN ARCHITECTURE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Screens, façades, structure, aggregation. Look for the rule, not the image.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2940" y="1851660"/>
            <a:ext cx="3429000" cy="2834640"/>
          </a:xfrm>
          <a:prstGeom prst="rect">
            <a:avLst/>
          </a:prstGeom>
          <a:solidFill>
            <a:srgbClr val="FFFDF7"/>
          </a:solidFill>
          <a:ln w="6350">
            <a:solidFill>
              <a:srgbClr val="FFFD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83080"/>
            <a:ext cx="3429000" cy="2834640"/>
          </a:xfrm>
          <a:prstGeom prst="rect">
            <a:avLst/>
          </a:prstGeom>
          <a:solidFill>
            <a:srgbClr val="EDEDE6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83080"/>
            <a:ext cx="3429000" cy="2834640"/>
          </a:xfrm>
          <a:prstGeom prst="line">
            <a:avLst/>
          </a:prstGeom>
          <a:noFill/>
          <a:ln w="15875">
            <a:solidFill>
              <a:srgbClr val="C9C9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4617720"/>
            <a:ext cx="3429000" cy="-2834640"/>
          </a:xfrm>
          <a:prstGeom prst="line">
            <a:avLst/>
          </a:prstGeom>
          <a:noFill/>
          <a:ln w="15875">
            <a:solidFill>
              <a:srgbClr val="C9C9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2980944"/>
            <a:ext cx="2103120" cy="438912"/>
          </a:xfrm>
          <a:prstGeom prst="rect">
            <a:avLst/>
          </a:prstGeom>
          <a:solidFill>
            <a:srgbClr val="FFFDF7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7300" y="30540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/ MASHRABIYA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469087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a perforated screen with graded aperture.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66260" y="1851660"/>
            <a:ext cx="3429000" cy="2834640"/>
          </a:xfrm>
          <a:prstGeom prst="rect">
            <a:avLst/>
          </a:prstGeom>
          <a:solidFill>
            <a:srgbClr val="FFFDF7"/>
          </a:solidFill>
          <a:ln w="6350">
            <a:solidFill>
              <a:srgbClr val="FFFD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783080"/>
            <a:ext cx="3429000" cy="2834640"/>
          </a:xfrm>
          <a:prstGeom prst="rect">
            <a:avLst/>
          </a:prstGeom>
          <a:solidFill>
            <a:srgbClr val="EDEDE6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783080"/>
            <a:ext cx="3429000" cy="2834640"/>
          </a:xfrm>
          <a:prstGeom prst="line">
            <a:avLst/>
          </a:prstGeom>
          <a:noFill/>
          <a:ln w="15875">
            <a:solidFill>
              <a:srgbClr val="C9C9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4617720"/>
            <a:ext cx="3429000" cy="-2834640"/>
          </a:xfrm>
          <a:prstGeom prst="line">
            <a:avLst/>
          </a:prstGeom>
          <a:noFill/>
          <a:ln w="15875">
            <a:solidFill>
              <a:srgbClr val="C9C9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60620" y="2980944"/>
            <a:ext cx="2103120" cy="438912"/>
          </a:xfrm>
          <a:prstGeom prst="rect">
            <a:avLst/>
          </a:prstGeom>
          <a:solidFill>
            <a:srgbClr val="FFFDF7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0620" y="30540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REPEATING FAÇADE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97680" y="469087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a façade whose module varies across the elevation.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69580" y="1851660"/>
            <a:ext cx="3566160" cy="2834640"/>
          </a:xfrm>
          <a:prstGeom prst="rect">
            <a:avLst/>
          </a:prstGeom>
          <a:solidFill>
            <a:srgbClr val="FFFDF7"/>
          </a:solidFill>
          <a:ln w="6350">
            <a:solidFill>
              <a:srgbClr val="FFFD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01000" y="1783080"/>
            <a:ext cx="3566160" cy="2834640"/>
          </a:xfrm>
          <a:prstGeom prst="rect">
            <a:avLst/>
          </a:prstGeom>
          <a:solidFill>
            <a:srgbClr val="EDEDE6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01000" y="1783080"/>
            <a:ext cx="3566160" cy="2834640"/>
          </a:xfrm>
          <a:prstGeom prst="line">
            <a:avLst/>
          </a:prstGeom>
          <a:noFill/>
          <a:ln w="15875">
            <a:solidFill>
              <a:srgbClr val="C9C9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4617720"/>
            <a:ext cx="3566160" cy="-2834640"/>
          </a:xfrm>
          <a:prstGeom prst="line">
            <a:avLst/>
          </a:prstGeom>
          <a:noFill/>
          <a:ln w="15875">
            <a:solidFill>
              <a:srgbClr val="C9C9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32520" y="2980944"/>
            <a:ext cx="2103120" cy="438912"/>
          </a:xfrm>
          <a:prstGeom prst="rect">
            <a:avLst/>
          </a:prstGeom>
          <a:solidFill>
            <a:srgbClr val="FFFDF7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2520" y="30540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AGGREGATION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01000" y="46908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a structure built from one repeated element.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2940" y="5097780"/>
            <a:ext cx="10972800" cy="10515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5029200"/>
            <a:ext cx="10972800" cy="105156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19379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ONE, ASK THREE QUESTIONS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14400" y="55595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module?     What generates the positions?     What varies across the field, and what drives it?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" y="635508"/>
            <a:ext cx="2194560" cy="38404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66928"/>
            <a:ext cx="2194560" cy="38404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309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 TODAY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15214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80" kern="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— ARRAYS + ATTRACTORS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810512"/>
            <a:ext cx="10972800" cy="0"/>
          </a:xfrm>
          <a:prstGeom prst="line">
            <a:avLst/>
          </a:prstGeom>
          <a:noFill/>
          <a:ln w="50800">
            <a:solidFill>
              <a:srgbClr val="FFFD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29384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E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CLASS 6 — SEP 29   /   8%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organizes points. An attractor differentiates them. This assignment is about what happens when you combine the two — a matrix of approaches, where different array types are driven by different attractor types.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71800" y="3291840"/>
            <a:ext cx="2377440" cy="475488"/>
          </a:xfrm>
          <a:prstGeom prst="rect">
            <a:avLst/>
          </a:prstGeom>
          <a:solidFill>
            <a:srgbClr val="00D9E1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1528" y="341985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POINT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49240" y="3291840"/>
            <a:ext cx="2377440" cy="475488"/>
          </a:xfrm>
          <a:prstGeom prst="rect">
            <a:avLst/>
          </a:prstGeom>
          <a:solidFill>
            <a:srgbClr val="00D9E1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58968" y="341985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POINTS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26680" y="3291840"/>
            <a:ext cx="2377440" cy="475488"/>
          </a:xfrm>
          <a:prstGeom prst="rect">
            <a:avLst/>
          </a:prstGeom>
          <a:solidFill>
            <a:srgbClr val="00D9E1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36408" y="341985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3767328"/>
            <a:ext cx="2377440" cy="475488"/>
          </a:xfrm>
          <a:prstGeom prst="rect">
            <a:avLst/>
          </a:prstGeom>
          <a:solidFill>
            <a:srgbClr val="00D9E1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895344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71800" y="3767328"/>
            <a:ext cx="2377440" cy="475488"/>
          </a:xfrm>
          <a:prstGeom prst="rect">
            <a:avLst/>
          </a:prstGeom>
          <a:solidFill>
            <a:srgbClr val="1C1C1C"/>
          </a:solidFill>
          <a:ln w="15875">
            <a:solidFill>
              <a:srgbClr val="3A3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3767328"/>
            <a:ext cx="2377440" cy="475488"/>
          </a:xfrm>
          <a:prstGeom prst="rect">
            <a:avLst/>
          </a:prstGeom>
          <a:solidFill>
            <a:srgbClr val="1C1C1C"/>
          </a:solidFill>
          <a:ln w="15875">
            <a:solidFill>
              <a:srgbClr val="3A3A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26680" y="3767328"/>
            <a:ext cx="2377440" cy="475488"/>
          </a:xfrm>
          <a:prstGeom prst="rect">
            <a:avLst/>
          </a:prstGeom>
          <a:solidFill>
            <a:srgbClr val="1C1C1C"/>
          </a:solidFill>
          <a:ln w="15875">
            <a:solidFill>
              <a:srgbClr val="3A3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242816"/>
            <a:ext cx="2377440" cy="475488"/>
          </a:xfrm>
          <a:prstGeom prst="rect">
            <a:avLst/>
          </a:prstGeom>
          <a:solidFill>
            <a:srgbClr val="00D9E1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437083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71800" y="4242816"/>
            <a:ext cx="2377440" cy="475488"/>
          </a:xfrm>
          <a:prstGeom prst="rect">
            <a:avLst/>
          </a:prstGeom>
          <a:solidFill>
            <a:srgbClr val="1C1C1C"/>
          </a:solidFill>
          <a:ln w="15875">
            <a:solidFill>
              <a:srgbClr val="3A3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49240" y="4242816"/>
            <a:ext cx="2377440" cy="475488"/>
          </a:xfrm>
          <a:prstGeom prst="rect">
            <a:avLst/>
          </a:prstGeom>
          <a:solidFill>
            <a:srgbClr val="1C1C1C"/>
          </a:solidFill>
          <a:ln w="15875">
            <a:solidFill>
              <a:srgbClr val="3A3A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26680" y="4242816"/>
            <a:ext cx="2377440" cy="475488"/>
          </a:xfrm>
          <a:prstGeom prst="rect">
            <a:avLst/>
          </a:prstGeom>
          <a:solidFill>
            <a:srgbClr val="1C1C1C"/>
          </a:solidFill>
          <a:ln w="15875">
            <a:solidFill>
              <a:srgbClr val="3A3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4718304"/>
            <a:ext cx="2377440" cy="475488"/>
          </a:xfrm>
          <a:prstGeom prst="rect">
            <a:avLst/>
          </a:prstGeom>
          <a:solidFill>
            <a:srgbClr val="00D9E1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484632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71800" y="4718304"/>
            <a:ext cx="2377440" cy="475488"/>
          </a:xfrm>
          <a:prstGeom prst="rect">
            <a:avLst/>
          </a:prstGeom>
          <a:solidFill>
            <a:srgbClr val="1C1C1C"/>
          </a:solidFill>
          <a:ln w="15875">
            <a:solidFill>
              <a:srgbClr val="3A3A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49240" y="4718304"/>
            <a:ext cx="2377440" cy="475488"/>
          </a:xfrm>
          <a:prstGeom prst="rect">
            <a:avLst/>
          </a:prstGeom>
          <a:solidFill>
            <a:srgbClr val="1C1C1C"/>
          </a:solidFill>
          <a:ln w="15875">
            <a:solidFill>
              <a:srgbClr val="3A3A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26680" y="4718304"/>
            <a:ext cx="2377440" cy="475488"/>
          </a:xfrm>
          <a:prstGeom prst="rect">
            <a:avLst/>
          </a:prstGeom>
          <a:solidFill>
            <a:srgbClr val="1C1C1C"/>
          </a:solidFill>
          <a:ln w="15875">
            <a:solidFill>
              <a:srgbClr val="3A3A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193792"/>
            <a:ext cx="2377440" cy="475488"/>
          </a:xfrm>
          <a:prstGeom prst="rect">
            <a:avLst/>
          </a:prstGeom>
          <a:solidFill>
            <a:srgbClr val="00D9E1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" y="5321808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CURVE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971800" y="5193792"/>
            <a:ext cx="2377440" cy="475488"/>
          </a:xfrm>
          <a:prstGeom prst="rect">
            <a:avLst/>
          </a:prstGeom>
          <a:solidFill>
            <a:srgbClr val="1C1C1C"/>
          </a:solidFill>
          <a:ln w="15875">
            <a:solidFill>
              <a:srgbClr val="3A3A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49240" y="5193792"/>
            <a:ext cx="2377440" cy="475488"/>
          </a:xfrm>
          <a:prstGeom prst="rect">
            <a:avLst/>
          </a:prstGeom>
          <a:solidFill>
            <a:srgbClr val="1C1C1C"/>
          </a:solidFill>
          <a:ln w="15875">
            <a:solidFill>
              <a:srgbClr val="3A3A3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26680" y="5193792"/>
            <a:ext cx="2377440" cy="475488"/>
          </a:xfrm>
          <a:prstGeom prst="rect">
            <a:avLst/>
          </a:prstGeom>
          <a:solidFill>
            <a:srgbClr val="1C1C1C"/>
          </a:solidFill>
          <a:ln w="15875">
            <a:solidFill>
              <a:srgbClr val="3A3A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61320" y="39319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E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3 CELLS.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E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THREE.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-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these earns a C. The rest is judgement.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2940" y="1805940"/>
            <a:ext cx="137160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37360"/>
            <a:ext cx="1371600" cy="45720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286000" y="1828800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array/attractor combinations, drawing on all array types taught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2940" y="2382012"/>
            <a:ext cx="137160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313432"/>
            <a:ext cx="1371600" cy="45720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048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286000" y="2404872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attractor types across the set: single point, multiple points, curve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2940" y="2958084"/>
            <a:ext cx="137160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889504"/>
            <a:ext cx="1371600" cy="45720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809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286000" y="2980944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driven by attractor distance — scale, rotation, density, height, colour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2940" y="3534156"/>
            <a:ext cx="137160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465576"/>
            <a:ext cx="1371600" cy="45720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5570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1,000+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286000" y="3557016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in at least one composition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" y="4110228"/>
            <a:ext cx="137160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041648"/>
            <a:ext cx="1371600" cy="45720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133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1+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286000" y="413308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resolved spatially in 3D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2940" y="4686300"/>
            <a:ext cx="137160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4617720"/>
            <a:ext cx="1371600" cy="45720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7091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VIEWS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286000" y="4709160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one combination: isometric, close-up, eye-level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62940" y="5262372"/>
            <a:ext cx="137160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193792"/>
            <a:ext cx="1371600" cy="45720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52852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286000" y="5285232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 analysis — 2–3 sentences: module, positions, what varies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62940" y="5920740"/>
            <a:ext cx="10972800" cy="62179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5852160"/>
            <a:ext cx="10972800" cy="621792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99846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 and falloff authored. Array add-ons, scatter tools and preset falloff plugins are prohibited.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D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-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— BUILD THE ARRAYS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of the session: all four array types, working, from one starting point.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2940" y="2400300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331720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43230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559052" y="2400300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90472" y="2331720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64792" y="2468880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array with a controllable count and spacing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2940" y="3113532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3044952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145536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559052" y="3113532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90472" y="3044952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64792" y="318211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array — two counters, not one array duplicated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2940" y="3826764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758184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85876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559052" y="3826764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90472" y="3758184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64792" y="3895344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array — odd rows offset by half the spacing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62940" y="4539996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4471416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57200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1559052" y="4539996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90472" y="4471416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64792" y="4608576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along a curve you drew yourself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62940" y="5253228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184648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528523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1559052" y="5253228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90472" y="5184648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64792" y="5321808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property driven by the index, so the set is not uniform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662940" y="6057900"/>
            <a:ext cx="749808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" y="5989320"/>
            <a:ext cx="7498080" cy="566928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61264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00D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ONE IS THE ASSIGNMENT. THE OTHERS ARE PRACTICE.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-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NEXT CLASS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62940" y="1851660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508760" cy="80467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0299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46020" y="1851660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1783080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91109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1.2 — attractors. Single point, multiple points, curve. Distance, falloff, remapping. Sent tonight.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62940" y="2912364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843784"/>
            <a:ext cx="1508760" cy="804672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09067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46020" y="2912364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843784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2971800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working arrays. Next week we drive them with attractors, so bring a file you can build 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62940" y="3973068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904488"/>
            <a:ext cx="1508760" cy="804672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15137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446020" y="3973068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3904488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403250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0.1 procedure, printed. Next class you build a classmate's object from theirs.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62940" y="5033772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965192"/>
            <a:ext cx="1508760" cy="80467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521208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446020" y="5033772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77440" y="4965192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5093208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precedent for 1.1. Be ready to name the module, the positions, and what varies.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 3133 — Class 4</dc:title>
  <dc:subject>PptxGenJS Presentation</dc:subject>
  <dc:creator>Luis Pacheco Alcala</dc:creator>
  <cp:lastModifiedBy>Luis Pacheco Alcala</cp:lastModifiedBy>
  <cp:revision>1</cp:revision>
  <dcterms:created xsi:type="dcterms:W3CDTF">2026-08-21T19:25:04Z</dcterms:created>
  <dcterms:modified xsi:type="dcterms:W3CDTF">2026-08-21T19:25:04Z</dcterms:modified>
</cp:coreProperties>
</file>