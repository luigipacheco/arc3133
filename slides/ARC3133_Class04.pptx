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C6F035"/>
        </a:solidFill>
        <a:effectLst/>
      </p:bgPr>
    </p:bg>
    <p:spTree>
      <p:nvGrpSpPr>
        <p:cNvPr id="1" name=""/>
        <p:cNvGrpSpPr/>
        <p:nvPr/>
      </p:nvGrpSpPr>
      <p:grpSpPr/>
      <p:sp>
        <p:nvSpPr>
          <p:cNvPr id="2" name="Rectangle 1"/>
          <p:cNvSpPr/>
          <p:nvPr/>
        </p:nvSpPr>
        <p:spPr>
          <a:xfrm>
            <a:off x="594360" y="1051560"/>
            <a:ext cx="10972800"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94360" y="1481328"/>
            <a:ext cx="7315200" cy="457200"/>
          </a:xfrm>
          <a:prstGeom prst="rect">
            <a:avLst/>
          </a:prstGeom>
          <a:noFill/>
        </p:spPr>
        <p:txBody>
          <a:bodyPr wrap="square" lIns="0" rIns="0" tIns="0" bIns="0" anchor="t">
            <a:spAutoFit/>
          </a:bodyPr>
          <a:lstStyle/>
          <a:p>
            <a:pPr algn="l"/>
            <a:r>
              <a:rPr sz="1800" b="1">
                <a:solidFill>
                  <a:srgbClr val="000000"/>
                </a:solidFill>
                <a:latin typeface="Arial"/>
              </a:rPr>
              <a:t>CLASS 04  /  SEP 15</a:t>
            </a:r>
          </a:p>
        </p:txBody>
      </p:sp>
      <p:sp>
        <p:nvSpPr>
          <p:cNvPr id="4" name="Rectangle 3"/>
          <p:cNvSpPr/>
          <p:nvPr/>
        </p:nvSpPr>
        <p:spPr>
          <a:xfrm>
            <a:off x="662940" y="2125980"/>
            <a:ext cx="10149840" cy="21488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94360" y="2057400"/>
            <a:ext cx="10149840" cy="21488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286000"/>
            <a:ext cx="9326880" cy="1737360"/>
          </a:xfrm>
          <a:prstGeom prst="rect">
            <a:avLst/>
          </a:prstGeom>
          <a:noFill/>
        </p:spPr>
        <p:txBody>
          <a:bodyPr wrap="square" lIns="0" rIns="0" tIns="0" bIns="0" anchor="ctr">
            <a:spAutoFit/>
          </a:bodyPr>
          <a:lstStyle/>
          <a:p>
            <a:pPr algn="l">
              <a:lnSpc>
                <a:spcPct val="115000"/>
              </a:lnSpc>
            </a:pPr>
            <a:r>
              <a:rPr sz="4000" b="1">
                <a:solidFill>
                  <a:srgbClr val="000000"/>
                </a:solidFill>
                <a:latin typeface="Arial"/>
              </a:rPr>
              <a:t>ARRAYS AND LISTS</a:t>
            </a:r>
          </a:p>
          <a:p>
            <a:pPr algn="l">
              <a:lnSpc>
                <a:spcPct val="115000"/>
              </a:lnSpc>
            </a:pPr>
            <a:r>
              <a:rPr sz="4000" b="1">
                <a:solidFill>
                  <a:srgbClr val="000000"/>
                </a:solidFill>
                <a:latin typeface="Arial"/>
              </a:rPr>
              <a:t>PART ONE</a:t>
            </a:r>
          </a:p>
        </p:txBody>
      </p:sp>
      <p:sp>
        <p:nvSpPr>
          <p:cNvPr id="7" name="Rectangle 6"/>
          <p:cNvSpPr/>
          <p:nvPr/>
        </p:nvSpPr>
        <p:spPr>
          <a:xfrm>
            <a:off x="662940" y="4549140"/>
            <a:ext cx="676656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94360" y="4480560"/>
            <a:ext cx="6766560" cy="566928"/>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795259" y="4549140"/>
            <a:ext cx="301752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726679" y="4480560"/>
            <a:ext cx="3017520" cy="566928"/>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4480560"/>
            <a:ext cx="6400800" cy="566928"/>
          </a:xfrm>
          <a:prstGeom prst="rect">
            <a:avLst/>
          </a:prstGeom>
          <a:noFill/>
        </p:spPr>
        <p:txBody>
          <a:bodyPr wrap="square" lIns="0" rIns="0" tIns="0" bIns="0" anchor="ctr">
            <a:spAutoFit/>
          </a:bodyPr>
          <a:lstStyle/>
          <a:p>
            <a:pPr algn="l"/>
            <a:r>
              <a:rPr sz="1300" b="1">
                <a:solidFill>
                  <a:srgbClr val="000000"/>
                </a:solidFill>
                <a:latin typeface="Arial"/>
              </a:rPr>
              <a:t>P2 BEGINS — ONE COMPONENT, MANY POSITIONS</a:t>
            </a:r>
          </a:p>
        </p:txBody>
      </p:sp>
      <p:sp>
        <p:nvSpPr>
          <p:cNvPr id="12" name="TextBox 11"/>
          <p:cNvSpPr txBox="1"/>
          <p:nvPr/>
        </p:nvSpPr>
        <p:spPr>
          <a:xfrm>
            <a:off x="7726679" y="4480560"/>
            <a:ext cx="3017520" cy="566928"/>
          </a:xfrm>
          <a:prstGeom prst="rect">
            <a:avLst/>
          </a:prstGeom>
          <a:noFill/>
        </p:spPr>
        <p:txBody>
          <a:bodyPr wrap="square" lIns="0" rIns="0" tIns="0" bIns="0" anchor="ctr">
            <a:spAutoFit/>
          </a:bodyPr>
          <a:lstStyle/>
          <a:p>
            <a:pPr algn="ctr"/>
            <a:r>
              <a:rPr sz="1300" b="1">
                <a:solidFill>
                  <a:srgbClr val="000000"/>
                </a:solidFill>
                <a:latin typeface="Arial"/>
              </a:rPr>
              <a:t>P1a DUE</a:t>
            </a:r>
          </a:p>
        </p:txBody>
      </p:sp>
      <p:sp>
        <p:nvSpPr>
          <p:cNvPr id="13" name="TextBox 12"/>
          <p:cNvSpPr txBox="1"/>
          <p:nvPr/>
        </p:nvSpPr>
        <p:spPr>
          <a:xfrm>
            <a:off x="594360" y="5870448"/>
            <a:ext cx="10972800" cy="292608"/>
          </a:xfrm>
          <a:prstGeom prst="rect">
            <a:avLst/>
          </a:prstGeom>
          <a:noFill/>
        </p:spPr>
        <p:txBody>
          <a:bodyPr wrap="square" lIns="0" rIns="0" tIns="0" bIns="0" anchor="t">
            <a:spAutoFit/>
          </a:bodyPr>
          <a:lstStyle/>
          <a:p>
            <a:pPr algn="l"/>
            <a:r>
              <a:rPr sz="1050" b="1">
                <a:solidFill>
                  <a:srgbClr val="000000"/>
                </a:solidFill>
                <a:latin typeface="Arial"/>
              </a:rPr>
              <a:t>P2a ISSUED TODAY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AN ARRAY IS A LIST OF POSITIONS</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Not a command that duplicates things. A list you compute, then place geometry at.</a:t>
            </a:r>
          </a:p>
        </p:txBody>
      </p:sp>
      <p:sp>
        <p:nvSpPr>
          <p:cNvPr id="5" name="Rectangle 4"/>
          <p:cNvSpPr/>
          <p:nvPr/>
        </p:nvSpPr>
        <p:spPr>
          <a:xfrm>
            <a:off x="662940" y="1851660"/>
            <a:ext cx="5120640" cy="32004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5120640" cy="320040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783080"/>
            <a:ext cx="512064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4663440" cy="502920"/>
          </a:xfrm>
          <a:prstGeom prst="rect">
            <a:avLst/>
          </a:prstGeom>
          <a:noFill/>
        </p:spPr>
        <p:txBody>
          <a:bodyPr wrap="square" lIns="0" rIns="0" tIns="0" bIns="0" anchor="ctr">
            <a:spAutoFit/>
          </a:bodyPr>
          <a:lstStyle/>
          <a:p>
            <a:pPr algn="l"/>
            <a:r>
              <a:rPr sz="1587" b="1">
                <a:solidFill>
                  <a:srgbClr val="000000"/>
                </a:solidFill>
                <a:latin typeface="Arial"/>
              </a:rPr>
              <a:t>INDEX  →  POSITION</a:t>
            </a:r>
          </a:p>
        </p:txBody>
      </p:sp>
      <p:sp>
        <p:nvSpPr>
          <p:cNvPr id="9" name="TextBox 8"/>
          <p:cNvSpPr txBox="1"/>
          <p:nvPr/>
        </p:nvSpPr>
        <p:spPr>
          <a:xfrm>
            <a:off x="914400" y="2514600"/>
            <a:ext cx="4572000" cy="2194560"/>
          </a:xfrm>
          <a:prstGeom prst="rect">
            <a:avLst/>
          </a:prstGeom>
          <a:noFill/>
        </p:spPr>
        <p:txBody>
          <a:bodyPr wrap="square" lIns="0" rIns="0" tIns="0" bIns="0" anchor="t">
            <a:spAutoFit/>
          </a:bodyPr>
          <a:lstStyle/>
          <a:p>
            <a:pPr algn="l">
              <a:lnSpc>
                <a:spcPct val="135000"/>
              </a:lnSpc>
            </a:pPr>
            <a:r>
              <a:rPr sz="1350">
                <a:solidFill>
                  <a:srgbClr val="000000"/>
                </a:solidFill>
                <a:latin typeface="Courier New"/>
              </a:rPr>
              <a:t>i = 0   →   p = start</a:t>
            </a:r>
          </a:p>
          <a:p>
            <a:pPr algn="l">
              <a:lnSpc>
                <a:spcPct val="135000"/>
              </a:lnSpc>
            </a:pPr>
            <a:r>
              <a:rPr sz="1350">
                <a:solidFill>
                  <a:srgbClr val="000000"/>
                </a:solidFill>
                <a:latin typeface="Courier New"/>
              </a:rPr>
              <a:t>i = 1   →   p = start + step</a:t>
            </a:r>
          </a:p>
          <a:p>
            <a:pPr algn="l">
              <a:lnSpc>
                <a:spcPct val="135000"/>
              </a:lnSpc>
            </a:pPr>
            <a:r>
              <a:rPr sz="1350">
                <a:solidFill>
                  <a:srgbClr val="000000"/>
                </a:solidFill>
                <a:latin typeface="Courier New"/>
              </a:rPr>
              <a:t>i = 2   →   p = start + 2 × step</a:t>
            </a:r>
          </a:p>
          <a:p>
            <a:pPr algn="l">
              <a:lnSpc>
                <a:spcPct val="135000"/>
              </a:lnSpc>
            </a:pPr>
            <a:r>
              <a:rPr sz="800">
                <a:solidFill>
                  <a:srgbClr val="000000"/>
                </a:solidFill>
                <a:latin typeface="Courier New"/>
              </a:rPr>
              <a:t> </a:t>
            </a:r>
          </a:p>
          <a:p>
            <a:pPr algn="l">
              <a:lnSpc>
                <a:spcPct val="135000"/>
              </a:lnSpc>
            </a:pPr>
            <a:r>
              <a:rPr sz="1350" b="1">
                <a:solidFill>
                  <a:srgbClr val="000000"/>
                </a:solidFill>
                <a:latin typeface="Courier New"/>
              </a:rPr>
              <a:t>p[i] = start + i × step</a:t>
            </a:r>
          </a:p>
        </p:txBody>
      </p:sp>
      <p:sp>
        <p:nvSpPr>
          <p:cNvPr id="10" name="Rectangle 9"/>
          <p:cNvSpPr/>
          <p:nvPr/>
        </p:nvSpPr>
        <p:spPr>
          <a:xfrm>
            <a:off x="6103620" y="1851660"/>
            <a:ext cx="5532120" cy="32004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035040" y="1783080"/>
            <a:ext cx="5532120" cy="320040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035040" y="1783080"/>
            <a:ext cx="5532120" cy="50292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63640" y="1783080"/>
            <a:ext cx="5074920" cy="502920"/>
          </a:xfrm>
          <a:prstGeom prst="rect">
            <a:avLst/>
          </a:prstGeom>
          <a:noFill/>
        </p:spPr>
        <p:txBody>
          <a:bodyPr wrap="square" lIns="0" rIns="0" tIns="0" bIns="0" anchor="ctr">
            <a:spAutoFit/>
          </a:bodyPr>
          <a:lstStyle/>
          <a:p>
            <a:pPr algn="l"/>
            <a:r>
              <a:rPr sz="1587" b="1">
                <a:solidFill>
                  <a:srgbClr val="000000"/>
                </a:solidFill>
                <a:latin typeface="Arial"/>
              </a:rPr>
              <a:t>THREE THINGS TO READ</a:t>
            </a:r>
          </a:p>
        </p:txBody>
      </p:sp>
      <p:sp>
        <p:nvSpPr>
          <p:cNvPr id="14" name="TextBox 13"/>
          <p:cNvSpPr txBox="1"/>
          <p:nvPr/>
        </p:nvSpPr>
        <p:spPr>
          <a:xfrm>
            <a:off x="6309360" y="2487168"/>
            <a:ext cx="4983480" cy="2286000"/>
          </a:xfrm>
          <a:prstGeom prst="rect">
            <a:avLst/>
          </a:prstGeom>
          <a:noFill/>
        </p:spPr>
        <p:txBody>
          <a:bodyPr wrap="square" lIns="0" rIns="0" tIns="0" bIns="0" anchor="t">
            <a:spAutoFit/>
          </a:bodyPr>
          <a:lstStyle/>
          <a:p>
            <a:pPr algn="l">
              <a:lnSpc>
                <a:spcPct val="135000"/>
              </a:lnSpc>
            </a:pPr>
            <a:r>
              <a:rPr sz="1400">
                <a:solidFill>
                  <a:srgbClr val="000000"/>
                </a:solidFill>
                <a:latin typeface="Calibri"/>
              </a:rPr>
              <a:t>THE LIST — what is in the collection.</a:t>
            </a:r>
          </a:p>
          <a:p>
            <a:pPr algn="l">
              <a:lnSpc>
                <a:spcPct val="135000"/>
              </a:lnSpc>
            </a:pPr>
            <a:r>
              <a:rPr sz="1400">
                <a:solidFill>
                  <a:srgbClr val="000000"/>
                </a:solidFill>
                <a:latin typeface="Calibri"/>
              </a:rPr>
              <a:t>THE COUNT — how many there are.</a:t>
            </a:r>
          </a:p>
          <a:p>
            <a:pPr algn="l">
              <a:lnSpc>
                <a:spcPct val="135000"/>
              </a:lnSpc>
            </a:pPr>
            <a:r>
              <a:rPr sz="1400">
                <a:solidFill>
                  <a:srgbClr val="000000"/>
                </a:solidFill>
                <a:latin typeface="Calibri"/>
              </a:rPr>
              <a:t>THE INDEX — where each one sits in the order.</a:t>
            </a:r>
          </a:p>
          <a:p>
            <a:pPr algn="l">
              <a:lnSpc>
                <a:spcPct val="135000"/>
              </a:lnSpc>
            </a:pPr>
            <a:r>
              <a:rPr sz="700">
                <a:solidFill>
                  <a:srgbClr val="000000"/>
                </a:solidFill>
                <a:latin typeface="Calibri"/>
              </a:rPr>
              <a:t> </a:t>
            </a:r>
          </a:p>
          <a:p>
            <a:pPr algn="l">
              <a:lnSpc>
                <a:spcPct val="135000"/>
              </a:lnSpc>
            </a:pPr>
            <a:r>
              <a:rPr sz="1350">
                <a:solidFill>
                  <a:srgbClr val="000000"/>
                </a:solidFill>
                <a:latin typeface="Calibri"/>
              </a:rPr>
              <a:t>The index is the only new idea. It is a counter that tells each copy how far along it is — and therefore how different it should be.</a:t>
            </a:r>
          </a:p>
        </p:txBody>
      </p:sp>
      <p:sp>
        <p:nvSpPr>
          <p:cNvPr id="15" name="Rectangle 14"/>
          <p:cNvSpPr/>
          <p:nvPr/>
        </p:nvSpPr>
        <p:spPr>
          <a:xfrm>
            <a:off x="662940" y="5326380"/>
            <a:ext cx="10972800" cy="65836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94360" y="5257800"/>
            <a:ext cx="10972800" cy="658368"/>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5257800"/>
            <a:ext cx="10332720" cy="658368"/>
          </a:xfrm>
          <a:prstGeom prst="rect">
            <a:avLst/>
          </a:prstGeom>
          <a:noFill/>
        </p:spPr>
        <p:txBody>
          <a:bodyPr wrap="square" lIns="0" rIns="0" tIns="0" bIns="0" anchor="ctr">
            <a:spAutoFit/>
          </a:bodyPr>
          <a:lstStyle/>
          <a:p>
            <a:pPr algn="l"/>
            <a:r>
              <a:rPr sz="1250" b="1">
                <a:solidFill>
                  <a:srgbClr val="000000"/>
                </a:solidFill>
                <a:latin typeface="Arial"/>
              </a:rPr>
              <a:t>Your panel is the component. It does not change today — only where it goes.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THE REPEAT ZONE</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The loop, made visible. Repeat Input, a body, Repeat Output.</a:t>
            </a:r>
          </a:p>
        </p:txBody>
      </p:sp>
      <p:sp>
        <p:nvSpPr>
          <p:cNvPr id="5" name="Rectangle 4"/>
          <p:cNvSpPr/>
          <p:nvPr/>
        </p:nvSpPr>
        <p:spPr>
          <a:xfrm>
            <a:off x="662940" y="1943100"/>
            <a:ext cx="5669280" cy="30175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874519"/>
            <a:ext cx="5669280" cy="30175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874519"/>
            <a:ext cx="566928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874519"/>
            <a:ext cx="5212080" cy="502920"/>
          </a:xfrm>
          <a:prstGeom prst="rect">
            <a:avLst/>
          </a:prstGeom>
          <a:noFill/>
        </p:spPr>
        <p:txBody>
          <a:bodyPr wrap="square" lIns="0" rIns="0" tIns="0" bIns="0" anchor="ctr">
            <a:spAutoFit/>
          </a:bodyPr>
          <a:lstStyle/>
          <a:p>
            <a:pPr algn="l"/>
            <a:r>
              <a:rPr sz="1587" b="1">
                <a:solidFill>
                  <a:srgbClr val="000000"/>
                </a:solidFill>
                <a:latin typeface="Arial"/>
              </a:rPr>
              <a:t>WHAT IT IS</a:t>
            </a:r>
          </a:p>
        </p:txBody>
      </p:sp>
      <p:sp>
        <p:nvSpPr>
          <p:cNvPr id="9" name="TextBox 8"/>
          <p:cNvSpPr txBox="1"/>
          <p:nvPr/>
        </p:nvSpPr>
        <p:spPr>
          <a:xfrm>
            <a:off x="914400" y="2560320"/>
            <a:ext cx="5029200" cy="2103120"/>
          </a:xfrm>
          <a:prstGeom prst="rect">
            <a:avLst/>
          </a:prstGeom>
          <a:noFill/>
        </p:spPr>
        <p:txBody>
          <a:bodyPr wrap="square" lIns="0" rIns="0" tIns="0" bIns="0" anchor="t">
            <a:spAutoFit/>
          </a:bodyPr>
          <a:lstStyle/>
          <a:p>
            <a:pPr algn="l">
              <a:lnSpc>
                <a:spcPct val="130000"/>
              </a:lnSpc>
            </a:pPr>
            <a:r>
              <a:rPr sz="1250" b="1">
                <a:solidFill>
                  <a:srgbClr val="000000"/>
                </a:solidFill>
                <a:latin typeface="Courier New"/>
              </a:rPr>
              <a:t>Repeat Input   →  body  →  Repeat Output</a:t>
            </a:r>
          </a:p>
          <a:p>
            <a:pPr algn="l">
              <a:lnSpc>
                <a:spcPct val="130000"/>
              </a:lnSpc>
            </a:pPr>
            <a:r>
              <a:rPr sz="800">
                <a:solidFill>
                  <a:srgbClr val="000000"/>
                </a:solidFill>
                <a:latin typeface="Courier New"/>
              </a:rPr>
              <a:t> </a:t>
            </a:r>
          </a:p>
          <a:p>
            <a:pPr algn="l">
              <a:lnSpc>
                <a:spcPct val="130000"/>
              </a:lnSpc>
            </a:pPr>
            <a:r>
              <a:rPr sz="1350">
                <a:solidFill>
                  <a:srgbClr val="000000"/>
                </a:solidFill>
                <a:latin typeface="Calibri"/>
              </a:rPr>
              <a:t>Everything between the two runs once per iteration. Whatever you hand to Repeat Input comes back changed, once for every step of the count.</a:t>
            </a:r>
          </a:p>
        </p:txBody>
      </p:sp>
      <p:sp>
        <p:nvSpPr>
          <p:cNvPr id="10" name="Rectangle 9"/>
          <p:cNvSpPr/>
          <p:nvPr/>
        </p:nvSpPr>
        <p:spPr>
          <a:xfrm>
            <a:off x="6606540" y="1943100"/>
            <a:ext cx="5029200" cy="30175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537960" y="1874519"/>
            <a:ext cx="5029200" cy="30175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37960" y="1874519"/>
            <a:ext cx="502920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0" y="1874519"/>
            <a:ext cx="4572000" cy="502920"/>
          </a:xfrm>
          <a:prstGeom prst="rect">
            <a:avLst/>
          </a:prstGeom>
          <a:noFill/>
        </p:spPr>
        <p:txBody>
          <a:bodyPr wrap="square" lIns="0" rIns="0" tIns="0" bIns="0" anchor="ctr">
            <a:spAutoFit/>
          </a:bodyPr>
          <a:lstStyle/>
          <a:p>
            <a:pPr algn="l"/>
            <a:r>
              <a:rPr sz="1587" b="1">
                <a:solidFill>
                  <a:srgbClr val="000000"/>
                </a:solidFill>
                <a:latin typeface="Arial"/>
              </a:rPr>
              <a:t>READ IT SMALL FIRST</a:t>
            </a:r>
          </a:p>
        </p:txBody>
      </p:sp>
      <p:sp>
        <p:nvSpPr>
          <p:cNvPr id="14" name="TextBox 13"/>
          <p:cNvSpPr txBox="1"/>
          <p:nvPr/>
        </p:nvSpPr>
        <p:spPr>
          <a:xfrm>
            <a:off x="6812280" y="2560320"/>
            <a:ext cx="4480560" cy="2103120"/>
          </a:xfrm>
          <a:prstGeom prst="rect">
            <a:avLst/>
          </a:prstGeom>
          <a:noFill/>
        </p:spPr>
        <p:txBody>
          <a:bodyPr wrap="square" lIns="0" rIns="0" tIns="0" bIns="0" anchor="t">
            <a:spAutoFit/>
          </a:bodyPr>
          <a:lstStyle/>
          <a:p>
            <a:pPr algn="l">
              <a:lnSpc>
                <a:spcPct val="130000"/>
              </a:lnSpc>
            </a:pPr>
            <a:r>
              <a:rPr sz="1350">
                <a:solidFill>
                  <a:srgbClr val="000000"/>
                </a:solidFill>
                <a:latin typeface="Calibri"/>
              </a:rPr>
              <a:t>Set the count to 3 and look at the spreadsheet.</a:t>
            </a:r>
          </a:p>
          <a:p>
            <a:pPr algn="l">
              <a:lnSpc>
                <a:spcPct val="130000"/>
              </a:lnSpc>
            </a:pPr>
            <a:r>
              <a:rPr sz="600">
                <a:solidFill>
                  <a:srgbClr val="000000"/>
                </a:solidFill>
                <a:latin typeface="Calibri"/>
              </a:rPr>
              <a:t> </a:t>
            </a:r>
          </a:p>
          <a:p>
            <a:pPr algn="l">
              <a:lnSpc>
                <a:spcPct val="130000"/>
              </a:lnSpc>
            </a:pPr>
            <a:r>
              <a:rPr sz="1350">
                <a:solidFill>
                  <a:srgbClr val="000000"/>
                </a:solidFill>
                <a:latin typeface="Calibri"/>
              </a:rPr>
              <a:t>Then 5. Then 20.</a:t>
            </a:r>
          </a:p>
          <a:p>
            <a:pPr algn="l">
              <a:lnSpc>
                <a:spcPct val="130000"/>
              </a:lnSpc>
            </a:pPr>
            <a:r>
              <a:rPr sz="600">
                <a:solidFill>
                  <a:srgbClr val="000000"/>
                </a:solidFill>
                <a:latin typeface="Calibri"/>
              </a:rPr>
              <a:t> </a:t>
            </a:r>
          </a:p>
          <a:p>
            <a:pPr algn="l">
              <a:lnSpc>
                <a:spcPct val="130000"/>
              </a:lnSpc>
            </a:pPr>
            <a:r>
              <a:rPr sz="1350">
                <a:solidFill>
                  <a:srgbClr val="000000"/>
                </a:solidFill>
                <a:latin typeface="Calibri"/>
              </a:rPr>
              <a:t>A collection you cannot inspect is a collection you cannot debug. There is no prize for a large count.</a:t>
            </a:r>
          </a:p>
        </p:txBody>
      </p:sp>
      <p:sp>
        <p:nvSpPr>
          <p:cNvPr id="15" name="Rectangle 14"/>
          <p:cNvSpPr/>
          <p:nvPr/>
        </p:nvSpPr>
        <p:spPr>
          <a:xfrm>
            <a:off x="662940" y="5280660"/>
            <a:ext cx="1097280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94360" y="5212080"/>
            <a:ext cx="10972800" cy="64008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5212080"/>
            <a:ext cx="10607040" cy="640080"/>
          </a:xfrm>
          <a:prstGeom prst="rect">
            <a:avLst/>
          </a:prstGeom>
          <a:noFill/>
        </p:spPr>
        <p:txBody>
          <a:bodyPr wrap="square" lIns="0" rIns="0" tIns="0" bIns="0" anchor="ctr">
            <a:spAutoFit/>
          </a:bodyPr>
          <a:lstStyle/>
          <a:p>
            <a:pPr algn="ctr"/>
            <a:r>
              <a:rPr sz="1250" b="1">
                <a:solidFill>
                  <a:srgbClr val="000000"/>
                </a:solidFill>
                <a:latin typeface="Arial"/>
              </a:rPr>
              <a:t>BUILD IT AT A COUNT YOU CAN COUNT. SCALE UP ONLY ONCE IT IS RIGHT.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COMPARE + SWITCH IS AN IF STATEMENT</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Test a value, then act on the answer. Two nodes, one idea.</a:t>
            </a:r>
          </a:p>
        </p:txBody>
      </p:sp>
      <p:sp>
        <p:nvSpPr>
          <p:cNvPr id="5" name="Rectangle 4"/>
          <p:cNvSpPr/>
          <p:nvPr/>
        </p:nvSpPr>
        <p:spPr>
          <a:xfrm>
            <a:off x="662940" y="1851660"/>
            <a:ext cx="5486400" cy="31089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5486400" cy="31089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783080"/>
            <a:ext cx="5486400" cy="50292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5029200" cy="502920"/>
          </a:xfrm>
          <a:prstGeom prst="rect">
            <a:avLst/>
          </a:prstGeom>
          <a:noFill/>
        </p:spPr>
        <p:txBody>
          <a:bodyPr wrap="square" lIns="0" rIns="0" tIns="0" bIns="0" anchor="ctr">
            <a:spAutoFit/>
          </a:bodyPr>
          <a:lstStyle/>
          <a:p>
            <a:pPr algn="l"/>
            <a:r>
              <a:rPr sz="1587" b="1">
                <a:solidFill>
                  <a:srgbClr val="000000"/>
                </a:solidFill>
                <a:latin typeface="Arial"/>
              </a:rPr>
              <a:t>THE PATTERN</a:t>
            </a:r>
          </a:p>
        </p:txBody>
      </p:sp>
      <p:sp>
        <p:nvSpPr>
          <p:cNvPr id="9" name="TextBox 8"/>
          <p:cNvSpPr txBox="1"/>
          <p:nvPr/>
        </p:nvSpPr>
        <p:spPr>
          <a:xfrm>
            <a:off x="914400" y="2468880"/>
            <a:ext cx="4846320" cy="2103120"/>
          </a:xfrm>
          <a:prstGeom prst="rect">
            <a:avLst/>
          </a:prstGeom>
          <a:noFill/>
        </p:spPr>
        <p:txBody>
          <a:bodyPr wrap="square" lIns="0" rIns="0" tIns="0" bIns="0" anchor="t">
            <a:spAutoFit/>
          </a:bodyPr>
          <a:lstStyle/>
          <a:p>
            <a:pPr algn="l">
              <a:lnSpc>
                <a:spcPct val="130000"/>
              </a:lnSpc>
            </a:pPr>
            <a:r>
              <a:rPr sz="1200">
                <a:solidFill>
                  <a:srgbClr val="000000"/>
                </a:solidFill>
                <a:latin typeface="Courier New"/>
              </a:rPr>
              <a:t>Compare   index  &gt;  4     →  True / False</a:t>
            </a:r>
          </a:p>
          <a:p>
            <a:pPr algn="l">
              <a:lnSpc>
                <a:spcPct val="130000"/>
              </a:lnSpc>
            </a:pPr>
            <a:r>
              <a:rPr sz="1200">
                <a:solidFill>
                  <a:srgbClr val="000000"/>
                </a:solidFill>
                <a:latin typeface="Courier New"/>
              </a:rPr>
              <a:t>Switch    False → a</a:t>
            </a:r>
          </a:p>
          <a:p>
            <a:pPr algn="l">
              <a:lnSpc>
                <a:spcPct val="130000"/>
              </a:lnSpc>
            </a:pPr>
            <a:r>
              <a:rPr sz="1200">
                <a:solidFill>
                  <a:srgbClr val="000000"/>
                </a:solidFill>
                <a:latin typeface="Courier New"/>
              </a:rPr>
              <a:t>          True  → b</a:t>
            </a:r>
          </a:p>
          <a:p>
            <a:pPr algn="l">
              <a:lnSpc>
                <a:spcPct val="130000"/>
              </a:lnSpc>
            </a:pPr>
            <a:r>
              <a:rPr sz="800">
                <a:solidFill>
                  <a:srgbClr val="000000"/>
                </a:solidFill>
                <a:latin typeface="Courier New"/>
              </a:rPr>
              <a:t> </a:t>
            </a:r>
          </a:p>
          <a:p>
            <a:pPr algn="l">
              <a:lnSpc>
                <a:spcPct val="130000"/>
              </a:lnSpc>
            </a:pPr>
            <a:r>
              <a:rPr sz="1350">
                <a:solidFill>
                  <a:srgbClr val="000000"/>
                </a:solidFill>
                <a:latin typeface="Calibri"/>
              </a:rPr>
              <a:t>Compare asks the question. Switch chooses between two answers. Everything conditional in this course is those two nodes.</a:t>
            </a:r>
          </a:p>
        </p:txBody>
      </p:sp>
      <p:sp>
        <p:nvSpPr>
          <p:cNvPr id="10" name="Rectangle 9"/>
          <p:cNvSpPr/>
          <p:nvPr/>
        </p:nvSpPr>
        <p:spPr>
          <a:xfrm>
            <a:off x="6469380" y="1851660"/>
            <a:ext cx="5166360" cy="31089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400800" y="1783080"/>
            <a:ext cx="5166360" cy="31089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400800" y="1783080"/>
            <a:ext cx="516636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629400" y="1783080"/>
            <a:ext cx="4709160" cy="502920"/>
          </a:xfrm>
          <a:prstGeom prst="rect">
            <a:avLst/>
          </a:prstGeom>
          <a:noFill/>
        </p:spPr>
        <p:txBody>
          <a:bodyPr wrap="square" lIns="0" rIns="0" tIns="0" bIns="0" anchor="ctr">
            <a:spAutoFit/>
          </a:bodyPr>
          <a:lstStyle/>
          <a:p>
            <a:pPr algn="l"/>
            <a:r>
              <a:rPr sz="1450" b="1">
                <a:solidFill>
                  <a:srgbClr val="000000"/>
                </a:solidFill>
                <a:latin typeface="Arial"/>
              </a:rPr>
              <a:t>WHAT IT BUYS YOU</a:t>
            </a:r>
          </a:p>
        </p:txBody>
      </p:sp>
      <p:sp>
        <p:nvSpPr>
          <p:cNvPr id="14" name="TextBox 13"/>
          <p:cNvSpPr txBox="1"/>
          <p:nvPr/>
        </p:nvSpPr>
        <p:spPr>
          <a:xfrm>
            <a:off x="6675120" y="2487168"/>
            <a:ext cx="4617720" cy="2194560"/>
          </a:xfrm>
          <a:prstGeom prst="rect">
            <a:avLst/>
          </a:prstGeom>
          <a:noFill/>
        </p:spPr>
        <p:txBody>
          <a:bodyPr wrap="square" lIns="0" rIns="0" tIns="0" bIns="0" anchor="t">
            <a:spAutoFit/>
          </a:bodyPr>
          <a:lstStyle/>
          <a:p>
            <a:pPr algn="l">
              <a:lnSpc>
                <a:spcPct val="135000"/>
              </a:lnSpc>
            </a:pPr>
            <a:r>
              <a:rPr sz="1400">
                <a:solidFill>
                  <a:srgbClr val="000000"/>
                </a:solidFill>
                <a:latin typeface="Calibri"/>
              </a:rPr>
              <a:t>Move only a range of indices.</a:t>
            </a:r>
          </a:p>
          <a:p>
            <a:pPr algn="l">
              <a:lnSpc>
                <a:spcPct val="135000"/>
              </a:lnSpc>
            </a:pPr>
            <a:r>
              <a:rPr sz="1400">
                <a:solidFill>
                  <a:srgbClr val="000000"/>
                </a:solidFill>
                <a:latin typeface="Calibri"/>
              </a:rPr>
              <a:t>Cull every third element.</a:t>
            </a:r>
          </a:p>
          <a:p>
            <a:pPr algn="l">
              <a:lnSpc>
                <a:spcPct val="135000"/>
              </a:lnSpc>
            </a:pPr>
            <a:r>
              <a:rPr sz="1400">
                <a:solidFill>
                  <a:srgbClr val="000000"/>
                </a:solidFill>
                <a:latin typeface="Calibri"/>
              </a:rPr>
              <a:t>Give the first row a different height.</a:t>
            </a:r>
          </a:p>
          <a:p>
            <a:pPr algn="l">
              <a:lnSpc>
                <a:spcPct val="135000"/>
              </a:lnSpc>
            </a:pPr>
            <a:r>
              <a:rPr sz="700">
                <a:solidFill>
                  <a:srgbClr val="000000"/>
                </a:solidFill>
                <a:latin typeface="Calibri"/>
              </a:rPr>
              <a:t> </a:t>
            </a:r>
          </a:p>
          <a:p>
            <a:pPr algn="l">
              <a:lnSpc>
                <a:spcPct val="135000"/>
              </a:lnSpc>
            </a:pPr>
            <a:r>
              <a:rPr sz="1400">
                <a:solidFill>
                  <a:srgbClr val="000000"/>
                </a:solidFill>
                <a:latin typeface="Calibri"/>
              </a:rPr>
              <a:t>The field stops being uniform the moment a test decides something.</a:t>
            </a:r>
          </a:p>
        </p:txBody>
      </p:sp>
      <p:sp>
        <p:nvSpPr>
          <p:cNvPr id="15" name="Rectangle 14"/>
          <p:cNvSpPr/>
          <p:nvPr/>
        </p:nvSpPr>
        <p:spPr>
          <a:xfrm>
            <a:off x="662940" y="5234940"/>
            <a:ext cx="10972800" cy="65836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94360" y="5166360"/>
            <a:ext cx="10972800" cy="658368"/>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5166360"/>
            <a:ext cx="10607040" cy="658368"/>
          </a:xfrm>
          <a:prstGeom prst="rect">
            <a:avLst/>
          </a:prstGeom>
          <a:noFill/>
        </p:spPr>
        <p:txBody>
          <a:bodyPr wrap="square" lIns="0" rIns="0" tIns="0" bIns="0" anchor="ctr">
            <a:spAutoFit/>
          </a:bodyPr>
          <a:lstStyle/>
          <a:p>
            <a:pPr algn="ctr"/>
            <a:r>
              <a:rPr sz="1250" b="1">
                <a:solidFill>
                  <a:srgbClr val="000000"/>
                </a:solidFill>
                <a:latin typeface="Arial"/>
              </a:rPr>
              <a:t>COMPARE THE RESULT AT TWO DIFFERENT COUNTS. IF IT ONLY WORKS AT ONE, IT IS NOT A RULE.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NEST IT AND YOU HAVE A GRID</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Two counters instead of one. A list of lists.</a:t>
            </a:r>
          </a:p>
        </p:txBody>
      </p:sp>
      <p:sp>
        <p:nvSpPr>
          <p:cNvPr id="5" name="Rectangle 4"/>
          <p:cNvSpPr/>
          <p:nvPr/>
        </p:nvSpPr>
        <p:spPr>
          <a:xfrm>
            <a:off x="662940" y="1851660"/>
            <a:ext cx="5120640" cy="32004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5120640" cy="320040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783080"/>
            <a:ext cx="512064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4663440" cy="502920"/>
          </a:xfrm>
          <a:prstGeom prst="rect">
            <a:avLst/>
          </a:prstGeom>
          <a:noFill/>
        </p:spPr>
        <p:txBody>
          <a:bodyPr wrap="square" lIns="0" rIns="0" tIns="0" bIns="0" anchor="ctr">
            <a:spAutoFit/>
          </a:bodyPr>
          <a:lstStyle/>
          <a:p>
            <a:pPr algn="l"/>
            <a:r>
              <a:rPr sz="1587" b="1">
                <a:solidFill>
                  <a:srgbClr val="000000"/>
                </a:solidFill>
                <a:latin typeface="Arial"/>
              </a:rPr>
              <a:t>ONE COUNTER</a:t>
            </a:r>
          </a:p>
        </p:txBody>
      </p:sp>
      <p:sp>
        <p:nvSpPr>
          <p:cNvPr id="9" name="Oval 8"/>
          <p:cNvSpPr/>
          <p:nvPr/>
        </p:nvSpPr>
        <p:spPr>
          <a:xfrm>
            <a:off x="1078992"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426463"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773935"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121408"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68880"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816352"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163824"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511296" y="26791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566160"/>
            <a:ext cx="4572000" cy="1097280"/>
          </a:xfrm>
          <a:prstGeom prst="rect">
            <a:avLst/>
          </a:prstGeom>
          <a:noFill/>
        </p:spPr>
        <p:txBody>
          <a:bodyPr wrap="square" lIns="0" rIns="0" tIns="0" bIns="0" anchor="t">
            <a:spAutoFit/>
          </a:bodyPr>
          <a:lstStyle/>
          <a:p>
            <a:pPr algn="l">
              <a:lnSpc>
                <a:spcPct val="130000"/>
              </a:lnSpc>
            </a:pPr>
            <a:r>
              <a:rPr sz="1200">
                <a:solidFill>
                  <a:srgbClr val="000000"/>
                </a:solidFill>
                <a:latin typeface="Courier New"/>
              </a:rPr>
              <a:t>p[i] = start + i × step</a:t>
            </a:r>
          </a:p>
          <a:p>
            <a:pPr algn="l">
              <a:lnSpc>
                <a:spcPct val="130000"/>
              </a:lnSpc>
            </a:pPr>
            <a:r>
              <a:rPr sz="700">
                <a:solidFill>
                  <a:srgbClr val="000000"/>
                </a:solidFill>
                <a:latin typeface="Courier New"/>
              </a:rPr>
              <a:t> </a:t>
            </a:r>
          </a:p>
          <a:p>
            <a:pPr algn="l">
              <a:lnSpc>
                <a:spcPct val="130000"/>
              </a:lnSpc>
            </a:pPr>
            <a:r>
              <a:rPr sz="1300">
                <a:solidFill>
                  <a:srgbClr val="000000"/>
                </a:solidFill>
                <a:latin typeface="Calibri"/>
              </a:rPr>
              <a:t>count = 8</a:t>
            </a:r>
          </a:p>
        </p:txBody>
      </p:sp>
      <p:sp>
        <p:nvSpPr>
          <p:cNvPr id="18" name="Rectangle 17"/>
          <p:cNvSpPr/>
          <p:nvPr/>
        </p:nvSpPr>
        <p:spPr>
          <a:xfrm>
            <a:off x="6103620" y="1851660"/>
            <a:ext cx="5532120" cy="32004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035040" y="1783080"/>
            <a:ext cx="5532120" cy="320040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035040" y="1783080"/>
            <a:ext cx="553212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63640" y="1783080"/>
            <a:ext cx="5074920" cy="502920"/>
          </a:xfrm>
          <a:prstGeom prst="rect">
            <a:avLst/>
          </a:prstGeom>
          <a:noFill/>
        </p:spPr>
        <p:txBody>
          <a:bodyPr wrap="square" lIns="0" rIns="0" tIns="0" bIns="0" anchor="ctr">
            <a:spAutoFit/>
          </a:bodyPr>
          <a:lstStyle/>
          <a:p>
            <a:pPr algn="l"/>
            <a:r>
              <a:rPr sz="1587" b="1">
                <a:solidFill>
                  <a:srgbClr val="000000"/>
                </a:solidFill>
                <a:latin typeface="Arial"/>
              </a:rPr>
              <a:t>TWO COUNTERS</a:t>
            </a:r>
          </a:p>
        </p:txBody>
      </p:sp>
      <p:sp>
        <p:nvSpPr>
          <p:cNvPr id="22" name="Oval 21"/>
          <p:cNvSpPr/>
          <p:nvPr/>
        </p:nvSpPr>
        <p:spPr>
          <a:xfrm>
            <a:off x="6336792"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336792"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336792"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36792"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336792"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684264"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684264"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684264"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6684264"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6684264"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7031736"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7031736"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7031736"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7031736"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7031736"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7379208"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379208"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7379208"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7379208"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7379208"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7726679"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7726679"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7726679"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7726679"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7726679"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074152"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8074152"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8074152"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8074152"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8074152"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8421624"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8421624"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8421624"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8421624"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8421624"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8769096" y="2450592"/>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8769096" y="2798064"/>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8769096" y="3145536"/>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8769096" y="3493008"/>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8769096" y="3840479"/>
            <a:ext cx="128016" cy="1280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309360" y="4389120"/>
            <a:ext cx="4983480" cy="457200"/>
          </a:xfrm>
          <a:prstGeom prst="rect">
            <a:avLst/>
          </a:prstGeom>
          <a:noFill/>
        </p:spPr>
        <p:txBody>
          <a:bodyPr wrap="square" lIns="0" rIns="0" tIns="0" bIns="0" anchor="t">
            <a:spAutoFit/>
          </a:bodyPr>
          <a:lstStyle/>
          <a:p>
            <a:pPr algn="l"/>
            <a:r>
              <a:rPr sz="1200">
                <a:solidFill>
                  <a:srgbClr val="000000"/>
                </a:solidFill>
                <a:latin typeface="Courier New"/>
              </a:rPr>
              <a:t>p[i][j] = start + (i × dx, j × dy)      count = 8 × 5 = 40</a:t>
            </a:r>
          </a:p>
        </p:txBody>
      </p:sp>
      <p:sp>
        <p:nvSpPr>
          <p:cNvPr id="63" name="Rectangle 62"/>
          <p:cNvSpPr/>
          <p:nvPr/>
        </p:nvSpPr>
        <p:spPr>
          <a:xfrm>
            <a:off x="662940" y="5326380"/>
            <a:ext cx="10972800" cy="65836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594360" y="5257800"/>
            <a:ext cx="10972800" cy="65836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77240" y="5257800"/>
            <a:ext cx="10607040" cy="658368"/>
          </a:xfrm>
          <a:prstGeom prst="rect">
            <a:avLst/>
          </a:prstGeom>
          <a:noFill/>
        </p:spPr>
        <p:txBody>
          <a:bodyPr wrap="square" lIns="0" rIns="0" tIns="0" bIns="0" anchor="ctr">
            <a:spAutoFit/>
          </a:bodyPr>
          <a:lstStyle/>
          <a:p>
            <a:pPr algn="ctr"/>
            <a:r>
              <a:rPr sz="1250" b="1">
                <a:solidFill>
                  <a:srgbClr val="000000"/>
                </a:solidFill>
                <a:latin typeface="Arial"/>
              </a:rPr>
              <a:t>PREDICT THE TOTAL BEFORE YOU LOOK. IF THE NUMBER SURPRISES YOU, THE NESTING IS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THE SAME THING, WRITTEN OUT</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Everything in U04 is in these nine lines — the nested loop, the stagger, the conditional, the sine.</a:t>
            </a:r>
          </a:p>
        </p:txBody>
      </p:sp>
      <p:sp>
        <p:nvSpPr>
          <p:cNvPr id="5" name="Rectangle 4"/>
          <p:cNvSpPr/>
          <p:nvPr/>
        </p:nvSpPr>
        <p:spPr>
          <a:xfrm>
            <a:off x="662940" y="1897380"/>
            <a:ext cx="6858000" cy="37947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828800"/>
            <a:ext cx="6858000" cy="37947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86968" y="2011680"/>
            <a:ext cx="6400800" cy="274320"/>
          </a:xfrm>
          <a:prstGeom prst="rect">
            <a:avLst/>
          </a:prstGeom>
          <a:noFill/>
        </p:spPr>
        <p:txBody>
          <a:bodyPr wrap="square" lIns="0" rIns="0" tIns="0" bIns="0" anchor="t">
            <a:spAutoFit/>
          </a:bodyPr>
          <a:lstStyle/>
          <a:p>
            <a:pPr algn="l"/>
            <a:r>
              <a:rPr sz="1250">
                <a:solidFill>
                  <a:srgbClr val="000000"/>
                </a:solidFill>
                <a:latin typeface="Courier New"/>
              </a:rPr>
              <a:t>points = []</a:t>
            </a:r>
          </a:p>
        </p:txBody>
      </p:sp>
      <p:sp>
        <p:nvSpPr>
          <p:cNvPr id="8" name="TextBox 7"/>
          <p:cNvSpPr txBox="1"/>
          <p:nvPr/>
        </p:nvSpPr>
        <p:spPr>
          <a:xfrm>
            <a:off x="886968" y="2286000"/>
            <a:ext cx="6400800" cy="274320"/>
          </a:xfrm>
          <a:prstGeom prst="rect">
            <a:avLst/>
          </a:prstGeom>
          <a:noFill/>
        </p:spPr>
        <p:txBody>
          <a:bodyPr wrap="square" lIns="0" rIns="0" tIns="0" bIns="0" anchor="t">
            <a:spAutoFit/>
          </a:bodyPr>
          <a:lstStyle/>
          <a:p>
            <a:pPr algn="l"/>
            <a:r>
              <a:rPr sz="1250">
                <a:solidFill>
                  <a:srgbClr val="000000"/>
                </a:solidFill>
                <a:latin typeface="Courier New"/>
              </a:rPr>
              <a:t> </a:t>
            </a:r>
          </a:p>
        </p:txBody>
      </p:sp>
      <p:sp>
        <p:nvSpPr>
          <p:cNvPr id="9" name="TextBox 8"/>
          <p:cNvSpPr txBox="1"/>
          <p:nvPr/>
        </p:nvSpPr>
        <p:spPr>
          <a:xfrm>
            <a:off x="886968" y="2560320"/>
            <a:ext cx="6400800" cy="274320"/>
          </a:xfrm>
          <a:prstGeom prst="rect">
            <a:avLst/>
          </a:prstGeom>
          <a:noFill/>
        </p:spPr>
        <p:txBody>
          <a:bodyPr wrap="square" lIns="0" rIns="0" tIns="0" bIns="0" anchor="t">
            <a:spAutoFit/>
          </a:bodyPr>
          <a:lstStyle/>
          <a:p>
            <a:pPr algn="l"/>
            <a:r>
              <a:rPr sz="1250">
                <a:solidFill>
                  <a:srgbClr val="000000"/>
                </a:solidFill>
                <a:latin typeface="Courier New"/>
              </a:rPr>
              <a:t>for j in range(rows):                      # nested loop = grid</a:t>
            </a:r>
          </a:p>
        </p:txBody>
      </p:sp>
      <p:sp>
        <p:nvSpPr>
          <p:cNvPr id="10" name="TextBox 9"/>
          <p:cNvSpPr txBox="1"/>
          <p:nvPr/>
        </p:nvSpPr>
        <p:spPr>
          <a:xfrm>
            <a:off x="886968" y="2834639"/>
            <a:ext cx="6400800" cy="274320"/>
          </a:xfrm>
          <a:prstGeom prst="rect">
            <a:avLst/>
          </a:prstGeom>
          <a:noFill/>
        </p:spPr>
        <p:txBody>
          <a:bodyPr wrap="square" lIns="0" rIns="0" tIns="0" bIns="0" anchor="t">
            <a:spAutoFit/>
          </a:bodyPr>
          <a:lstStyle/>
          <a:p>
            <a:pPr algn="l"/>
            <a:r>
              <a:rPr sz="1250">
                <a:solidFill>
                  <a:srgbClr val="000000"/>
                </a:solidFill>
                <a:latin typeface="Courier New"/>
              </a:rPr>
              <a:t>    offset = spacing / 2 if j % 2 else 0   # odd/even stagger</a:t>
            </a:r>
          </a:p>
        </p:txBody>
      </p:sp>
      <p:sp>
        <p:nvSpPr>
          <p:cNvPr id="11" name="TextBox 10"/>
          <p:cNvSpPr txBox="1"/>
          <p:nvPr/>
        </p:nvSpPr>
        <p:spPr>
          <a:xfrm>
            <a:off x="886968" y="3108959"/>
            <a:ext cx="6400800" cy="274320"/>
          </a:xfrm>
          <a:prstGeom prst="rect">
            <a:avLst/>
          </a:prstGeom>
          <a:noFill/>
        </p:spPr>
        <p:txBody>
          <a:bodyPr wrap="square" lIns="0" rIns="0" tIns="0" bIns="0" anchor="t">
            <a:spAutoFit/>
          </a:bodyPr>
          <a:lstStyle/>
          <a:p>
            <a:pPr algn="l"/>
            <a:r>
              <a:rPr sz="1250">
                <a:solidFill>
                  <a:srgbClr val="000000"/>
                </a:solidFill>
                <a:latin typeface="Courier New"/>
              </a:rPr>
              <a:t>    for i in range(cols):</a:t>
            </a:r>
          </a:p>
        </p:txBody>
      </p:sp>
      <p:sp>
        <p:nvSpPr>
          <p:cNvPr id="12" name="TextBox 11"/>
          <p:cNvSpPr txBox="1"/>
          <p:nvPr/>
        </p:nvSpPr>
        <p:spPr>
          <a:xfrm>
            <a:off x="886968" y="3383279"/>
            <a:ext cx="6400800" cy="274320"/>
          </a:xfrm>
          <a:prstGeom prst="rect">
            <a:avLst/>
          </a:prstGeom>
          <a:noFill/>
        </p:spPr>
        <p:txBody>
          <a:bodyPr wrap="square" lIns="0" rIns="0" tIns="0" bIns="0" anchor="t">
            <a:spAutoFit/>
          </a:bodyPr>
          <a:lstStyle/>
          <a:p>
            <a:pPr algn="l"/>
            <a:r>
              <a:rPr sz="1250">
                <a:solidFill>
                  <a:srgbClr val="000000"/>
                </a:solidFill>
                <a:latin typeface="Courier New"/>
              </a:rPr>
              <a:t>        z = amplitude * sin(i * frequency + phase)</a:t>
            </a:r>
          </a:p>
        </p:txBody>
      </p:sp>
      <p:sp>
        <p:nvSpPr>
          <p:cNvPr id="13" name="TextBox 12"/>
          <p:cNvSpPr txBox="1"/>
          <p:nvPr/>
        </p:nvSpPr>
        <p:spPr>
          <a:xfrm>
            <a:off x="886968" y="3657599"/>
            <a:ext cx="6400800" cy="274320"/>
          </a:xfrm>
          <a:prstGeom prst="rect">
            <a:avLst/>
          </a:prstGeom>
          <a:noFill/>
        </p:spPr>
        <p:txBody>
          <a:bodyPr wrap="square" lIns="0" rIns="0" tIns="0" bIns="0" anchor="t">
            <a:spAutoFit/>
          </a:bodyPr>
          <a:lstStyle/>
          <a:p>
            <a:pPr algn="l"/>
            <a:r>
              <a:rPr sz="1250">
                <a:solidFill>
                  <a:srgbClr val="000000"/>
                </a:solidFill>
                <a:latin typeface="Courier New"/>
              </a:rPr>
              <a:t>        if 3 &lt;= i &lt;= 5:                    # Compare + Switch</a:t>
            </a:r>
          </a:p>
        </p:txBody>
      </p:sp>
      <p:sp>
        <p:nvSpPr>
          <p:cNvPr id="14" name="TextBox 13"/>
          <p:cNvSpPr txBox="1"/>
          <p:nvPr/>
        </p:nvSpPr>
        <p:spPr>
          <a:xfrm>
            <a:off x="886968" y="3931919"/>
            <a:ext cx="6400800" cy="274320"/>
          </a:xfrm>
          <a:prstGeom prst="rect">
            <a:avLst/>
          </a:prstGeom>
          <a:noFill/>
        </p:spPr>
        <p:txBody>
          <a:bodyPr wrap="square" lIns="0" rIns="0" tIns="0" bIns="0" anchor="t">
            <a:spAutoFit/>
          </a:bodyPr>
          <a:lstStyle/>
          <a:p>
            <a:pPr algn="l"/>
            <a:r>
              <a:rPr sz="1250">
                <a:solidFill>
                  <a:srgbClr val="000000"/>
                </a:solidFill>
                <a:latin typeface="Courier New"/>
              </a:rPr>
              <a:t>            z = z + lift</a:t>
            </a:r>
          </a:p>
        </p:txBody>
      </p:sp>
      <p:sp>
        <p:nvSpPr>
          <p:cNvPr id="15" name="TextBox 14"/>
          <p:cNvSpPr txBox="1"/>
          <p:nvPr/>
        </p:nvSpPr>
        <p:spPr>
          <a:xfrm>
            <a:off x="886968" y="4206239"/>
            <a:ext cx="6400800" cy="274320"/>
          </a:xfrm>
          <a:prstGeom prst="rect">
            <a:avLst/>
          </a:prstGeom>
          <a:noFill/>
        </p:spPr>
        <p:txBody>
          <a:bodyPr wrap="square" lIns="0" rIns="0" tIns="0" bIns="0" anchor="t">
            <a:spAutoFit/>
          </a:bodyPr>
          <a:lstStyle/>
          <a:p>
            <a:pPr algn="l"/>
            <a:r>
              <a:rPr sz="1250">
                <a:solidFill>
                  <a:srgbClr val="000000"/>
                </a:solidFill>
                <a:latin typeface="Courier New"/>
              </a:rPr>
              <a:t>        points.append([i * spacing + offset, j * row_gap, z])</a:t>
            </a:r>
          </a:p>
        </p:txBody>
      </p:sp>
      <p:sp>
        <p:nvSpPr>
          <p:cNvPr id="16" name="Rectangle 15"/>
          <p:cNvSpPr/>
          <p:nvPr/>
        </p:nvSpPr>
        <p:spPr>
          <a:xfrm>
            <a:off x="7703819" y="1897380"/>
            <a:ext cx="3931920" cy="37947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635240" y="1828800"/>
            <a:ext cx="3931920" cy="37947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635240" y="1828800"/>
            <a:ext cx="393192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863840" y="1828800"/>
            <a:ext cx="3474720" cy="502920"/>
          </a:xfrm>
          <a:prstGeom prst="rect">
            <a:avLst/>
          </a:prstGeom>
          <a:noFill/>
        </p:spPr>
        <p:txBody>
          <a:bodyPr wrap="square" lIns="0" rIns="0" tIns="0" bIns="0" anchor="ctr">
            <a:spAutoFit/>
          </a:bodyPr>
          <a:lstStyle/>
          <a:p>
            <a:pPr algn="l"/>
            <a:r>
              <a:rPr sz="1350" b="1">
                <a:solidFill>
                  <a:srgbClr val="000000"/>
                </a:solidFill>
                <a:latin typeface="Arial"/>
              </a:rPr>
              <a:t>WHAT IT MAPS ONTO</a:t>
            </a:r>
          </a:p>
        </p:txBody>
      </p:sp>
      <p:sp>
        <p:nvSpPr>
          <p:cNvPr id="20" name="TextBox 19"/>
          <p:cNvSpPr txBox="1"/>
          <p:nvPr/>
        </p:nvSpPr>
        <p:spPr>
          <a:xfrm>
            <a:off x="7863840" y="2514600"/>
            <a:ext cx="1691640" cy="2926080"/>
          </a:xfrm>
          <a:prstGeom prst="rect">
            <a:avLst/>
          </a:prstGeom>
          <a:noFill/>
        </p:spPr>
        <p:txBody>
          <a:bodyPr wrap="square" lIns="0" rIns="0" tIns="0" bIns="0" anchor="t">
            <a:spAutoFit/>
          </a:bodyPr>
          <a:lstStyle/>
          <a:p>
            <a:pPr algn="l">
              <a:lnSpc>
                <a:spcPct val="140000"/>
              </a:lnSpc>
            </a:pPr>
            <a:r>
              <a:rPr sz="1200">
                <a:solidFill>
                  <a:srgbClr val="000000"/>
                </a:solidFill>
                <a:latin typeface="Calibri"/>
              </a:rPr>
              <a:t>list</a:t>
            </a:r>
          </a:p>
          <a:p>
            <a:pPr algn="l">
              <a:lnSpc>
                <a:spcPct val="140000"/>
              </a:lnSpc>
            </a:pPr>
            <a:r>
              <a:rPr sz="1200">
                <a:solidFill>
                  <a:srgbClr val="000000"/>
                </a:solidFill>
                <a:latin typeface="Calibri"/>
              </a:rPr>
              <a:t>index</a:t>
            </a:r>
          </a:p>
          <a:p>
            <a:pPr algn="l">
              <a:lnSpc>
                <a:spcPct val="140000"/>
              </a:lnSpc>
            </a:pPr>
            <a:r>
              <a:rPr sz="1200">
                <a:solidFill>
                  <a:srgbClr val="000000"/>
                </a:solidFill>
                <a:latin typeface="Calibri"/>
              </a:rPr>
              <a:t>count</a:t>
            </a:r>
          </a:p>
          <a:p>
            <a:pPr algn="l">
              <a:lnSpc>
                <a:spcPct val="140000"/>
              </a:lnSpc>
            </a:pPr>
            <a:r>
              <a:rPr sz="1200">
                <a:solidFill>
                  <a:srgbClr val="000000"/>
                </a:solidFill>
                <a:latin typeface="Calibri"/>
              </a:rPr>
              <a:t>loop</a:t>
            </a:r>
          </a:p>
          <a:p>
            <a:pPr algn="l">
              <a:lnSpc>
                <a:spcPct val="140000"/>
              </a:lnSpc>
            </a:pPr>
            <a:r>
              <a:rPr sz="1200">
                <a:solidFill>
                  <a:srgbClr val="000000"/>
                </a:solidFill>
                <a:latin typeface="Calibri"/>
              </a:rPr>
              <a:t>nested loop</a:t>
            </a:r>
          </a:p>
          <a:p>
            <a:pPr algn="l">
              <a:lnSpc>
                <a:spcPct val="140000"/>
              </a:lnSpc>
            </a:pPr>
            <a:r>
              <a:rPr sz="1200">
                <a:solidFill>
                  <a:srgbClr val="000000"/>
                </a:solidFill>
                <a:latin typeface="Calibri"/>
              </a:rPr>
              <a:t>conditional</a:t>
            </a:r>
          </a:p>
        </p:txBody>
      </p:sp>
      <p:sp>
        <p:nvSpPr>
          <p:cNvPr id="21" name="TextBox 20"/>
          <p:cNvSpPr txBox="1"/>
          <p:nvPr/>
        </p:nvSpPr>
        <p:spPr>
          <a:xfrm>
            <a:off x="9646920" y="2514600"/>
            <a:ext cx="1691640" cy="2926080"/>
          </a:xfrm>
          <a:prstGeom prst="rect">
            <a:avLst/>
          </a:prstGeom>
          <a:noFill/>
        </p:spPr>
        <p:txBody>
          <a:bodyPr wrap="square" lIns="0" rIns="0" tIns="0" bIns="0" anchor="t">
            <a:spAutoFit/>
          </a:bodyPr>
          <a:lstStyle/>
          <a:p>
            <a:pPr algn="l">
              <a:lnSpc>
                <a:spcPct val="140000"/>
              </a:lnSpc>
            </a:pPr>
            <a:r>
              <a:rPr sz="1200">
                <a:solidFill>
                  <a:srgbClr val="000000"/>
                </a:solidFill>
                <a:latin typeface="Calibri"/>
              </a:rPr>
              <a:t>modulo</a:t>
            </a:r>
          </a:p>
          <a:p>
            <a:pPr algn="l">
              <a:lnSpc>
                <a:spcPct val="140000"/>
              </a:lnSpc>
            </a:pPr>
            <a:r>
              <a:rPr sz="1200">
                <a:solidFill>
                  <a:srgbClr val="000000"/>
                </a:solidFill>
                <a:latin typeface="Calibri"/>
              </a:rPr>
              <a:t>sine</a:t>
            </a:r>
          </a:p>
          <a:p>
            <a:pPr algn="l">
              <a:lnSpc>
                <a:spcPct val="140000"/>
              </a:lnSpc>
            </a:pPr>
            <a:r>
              <a:rPr sz="1200">
                <a:solidFill>
                  <a:srgbClr val="000000"/>
                </a:solidFill>
                <a:latin typeface="Calibri"/>
              </a:rPr>
              <a:t>amplitude</a:t>
            </a:r>
          </a:p>
          <a:p>
            <a:pPr algn="l">
              <a:lnSpc>
                <a:spcPct val="140000"/>
              </a:lnSpc>
            </a:pPr>
            <a:r>
              <a:rPr sz="1200">
                <a:solidFill>
                  <a:srgbClr val="000000"/>
                </a:solidFill>
                <a:latin typeface="Calibri"/>
              </a:rPr>
              <a:t>frequency</a:t>
            </a:r>
          </a:p>
          <a:p>
            <a:pPr algn="l">
              <a:lnSpc>
                <a:spcPct val="140000"/>
              </a:lnSpc>
            </a:pPr>
            <a:r>
              <a:rPr sz="1200">
                <a:solidFill>
                  <a:srgbClr val="000000"/>
                </a:solidFill>
                <a:latin typeface="Calibri"/>
              </a:rPr>
              <a:t>phase</a:t>
            </a:r>
          </a:p>
        </p:txBody>
      </p:sp>
      <p:sp>
        <p:nvSpPr>
          <p:cNvPr id="22" name="Rectangle 21"/>
          <p:cNvSpPr/>
          <p:nvPr/>
        </p:nvSpPr>
        <p:spPr>
          <a:xfrm>
            <a:off x="662940" y="5966460"/>
            <a:ext cx="1097280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94360" y="5897880"/>
            <a:ext cx="10972800" cy="56692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77240" y="5897880"/>
            <a:ext cx="10607040" cy="566928"/>
          </a:xfrm>
          <a:prstGeom prst="rect">
            <a:avLst/>
          </a:prstGeom>
          <a:noFill/>
        </p:spPr>
        <p:txBody>
          <a:bodyPr wrap="square" lIns="0" rIns="0" tIns="0" bIns="0" anchor="ctr">
            <a:spAutoFit/>
          </a:bodyPr>
          <a:lstStyle/>
          <a:p>
            <a:pPr algn="ctr"/>
            <a:r>
              <a:rPr sz="1200" b="1">
                <a:solidFill>
                  <a:srgbClr val="000000"/>
                </a:solidFill>
                <a:latin typeface="Arial"/>
              </a:rPr>
              <a:t>THE INDENTATION IS THE NESTING. THAT IS WHY A GRID IS A LOOP INSIDE A LOOP.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662940" y="635508"/>
            <a:ext cx="2194560" cy="38404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94360" y="566928"/>
            <a:ext cx="2194560" cy="38404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658368"/>
            <a:ext cx="2194560" cy="274320"/>
          </a:xfrm>
          <a:prstGeom prst="rect">
            <a:avLst/>
          </a:prstGeom>
          <a:noFill/>
        </p:spPr>
        <p:txBody>
          <a:bodyPr wrap="square" lIns="0" rIns="0" tIns="0" bIns="0" anchor="t">
            <a:spAutoFit/>
          </a:bodyPr>
          <a:lstStyle/>
          <a:p>
            <a:pPr algn="ctr"/>
            <a:r>
              <a:rPr sz="1100" b="1">
                <a:solidFill>
                  <a:srgbClr val="000000"/>
                </a:solidFill>
                <a:latin typeface="Arial"/>
              </a:rPr>
              <a:t>ISSUED TODAY</a:t>
            </a:r>
          </a:p>
        </p:txBody>
      </p:sp>
      <p:sp>
        <p:nvSpPr>
          <p:cNvPr id="5" name="TextBox 4"/>
          <p:cNvSpPr txBox="1"/>
          <p:nvPr/>
        </p:nvSpPr>
        <p:spPr>
          <a:xfrm>
            <a:off x="594360" y="1152144"/>
            <a:ext cx="10972800" cy="566928"/>
          </a:xfrm>
          <a:prstGeom prst="rect">
            <a:avLst/>
          </a:prstGeom>
          <a:noFill/>
        </p:spPr>
        <p:txBody>
          <a:bodyPr wrap="square" lIns="0" rIns="0" tIns="0" bIns="0" anchor="t">
            <a:spAutoFit/>
          </a:bodyPr>
          <a:lstStyle/>
          <a:p>
            <a:pPr algn="l"/>
            <a:r>
              <a:rPr sz="3200" b="1">
                <a:solidFill>
                  <a:srgbClr val="FFFDF7"/>
                </a:solidFill>
                <a:latin typeface="Arial"/>
              </a:rPr>
              <a:t>P2a — ARRAYS AND CONDITIONAL CONTROL</a:t>
            </a:r>
          </a:p>
        </p:txBody>
      </p:sp>
      <p:sp>
        <p:nvSpPr>
          <p:cNvPr id="6" name="Rectangle 5"/>
          <p:cNvSpPr/>
          <p:nvPr/>
        </p:nvSpPr>
        <p:spPr>
          <a:xfrm>
            <a:off x="594360" y="1810512"/>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929384"/>
            <a:ext cx="10972800" cy="329184"/>
          </a:xfrm>
          <a:prstGeom prst="rect">
            <a:avLst/>
          </a:prstGeom>
          <a:noFill/>
        </p:spPr>
        <p:txBody>
          <a:bodyPr wrap="square" lIns="0" rIns="0" tIns="0" bIns="0" anchor="t">
            <a:spAutoFit/>
          </a:bodyPr>
          <a:lstStyle/>
          <a:p>
            <a:pPr algn="l"/>
            <a:r>
              <a:rPr sz="1300" b="1">
                <a:solidFill>
                  <a:srgbClr val="FFE500"/>
                </a:solidFill>
                <a:latin typeface="Arial"/>
              </a:rPr>
              <a:t>DUE WEEK 8 — Oct 13   /   7%</a:t>
            </a:r>
          </a:p>
        </p:txBody>
      </p:sp>
      <p:sp>
        <p:nvSpPr>
          <p:cNvPr id="8" name="TextBox 7"/>
          <p:cNvSpPr txBox="1"/>
          <p:nvPr/>
        </p:nvSpPr>
        <p:spPr>
          <a:xfrm>
            <a:off x="594360" y="2377440"/>
            <a:ext cx="10607040" cy="914400"/>
          </a:xfrm>
          <a:prstGeom prst="rect">
            <a:avLst/>
          </a:prstGeom>
          <a:noFill/>
        </p:spPr>
        <p:txBody>
          <a:bodyPr wrap="square" lIns="0" rIns="0" tIns="0" bIns="0" anchor="t">
            <a:spAutoFit/>
          </a:bodyPr>
          <a:lstStyle/>
          <a:p>
            <a:pPr algn="l">
              <a:lnSpc>
                <a:spcPct val="130000"/>
              </a:lnSpc>
            </a:pPr>
            <a:r>
              <a:rPr sz="1500">
                <a:solidFill>
                  <a:srgbClr val="FFFDF7"/>
                </a:solidFill>
                <a:latin typeface="Calibri"/>
              </a:rPr>
              <a:t>Take the panel you built in P1b and use it, unchanged, as the component. First design its arrangement, then vary that arrangement through external measurements.  This milestone is the arrangement half: four ways of placing the same component, three of them developed, with the repetition and selection logic built from basic nodes.</a:t>
            </a:r>
          </a:p>
        </p:txBody>
      </p:sp>
      <p:sp>
        <p:nvSpPr>
          <p:cNvPr id="9" name="Rectangle 8"/>
          <p:cNvSpPr/>
          <p:nvPr/>
        </p:nvSpPr>
        <p:spPr>
          <a:xfrm>
            <a:off x="662940" y="3680460"/>
            <a:ext cx="3517391"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94360" y="3611880"/>
            <a:ext cx="3517391" cy="41148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94360" y="3717036"/>
            <a:ext cx="3517391" cy="274320"/>
          </a:xfrm>
          <a:prstGeom prst="rect">
            <a:avLst/>
          </a:prstGeom>
          <a:noFill/>
        </p:spPr>
        <p:txBody>
          <a:bodyPr wrap="square" lIns="0" rIns="0" tIns="0" bIns="0" anchor="t">
            <a:spAutoFit/>
          </a:bodyPr>
          <a:lstStyle/>
          <a:p>
            <a:pPr algn="ctr"/>
            <a:r>
              <a:rPr sz="1100" b="1">
                <a:solidFill>
                  <a:srgbClr val="000000"/>
                </a:solidFill>
                <a:latin typeface="Arial"/>
              </a:rPr>
              <a:t>BUILD</a:t>
            </a:r>
          </a:p>
        </p:txBody>
      </p:sp>
      <p:sp>
        <p:nvSpPr>
          <p:cNvPr id="12" name="Rectangle 11"/>
          <p:cNvSpPr/>
          <p:nvPr/>
        </p:nvSpPr>
        <p:spPr>
          <a:xfrm>
            <a:off x="662940" y="4183380"/>
            <a:ext cx="3517391" cy="14630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94360" y="4114800"/>
            <a:ext cx="3517391" cy="14630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0392" y="4279392"/>
            <a:ext cx="3005327" cy="320040"/>
          </a:xfrm>
          <a:prstGeom prst="rect">
            <a:avLst/>
          </a:prstGeom>
          <a:noFill/>
        </p:spPr>
        <p:txBody>
          <a:bodyPr wrap="square" lIns="0" rIns="0" tIns="0" bIns="0" anchor="t">
            <a:spAutoFit/>
          </a:bodyPr>
          <a:lstStyle/>
          <a:p>
            <a:pPr algn="l"/>
            <a:r>
              <a:rPr sz="1400" b="1">
                <a:solidFill>
                  <a:srgbClr val="000000"/>
                </a:solidFill>
                <a:latin typeface="Arial"/>
              </a:rPr>
              <a:t>FOUR ARRANGEMENTS</a:t>
            </a:r>
          </a:p>
        </p:txBody>
      </p:sp>
      <p:sp>
        <p:nvSpPr>
          <p:cNvPr id="15" name="TextBox 14"/>
          <p:cNvSpPr txBox="1"/>
          <p:nvPr/>
        </p:nvSpPr>
        <p:spPr>
          <a:xfrm>
            <a:off x="850392" y="4663440"/>
            <a:ext cx="3005327" cy="82296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Linear, nested grid, hexagonal, radial — the grid is required.</a:t>
            </a:r>
          </a:p>
        </p:txBody>
      </p:sp>
      <p:sp>
        <p:nvSpPr>
          <p:cNvPr id="16" name="Rectangle 15"/>
          <p:cNvSpPr/>
          <p:nvPr/>
        </p:nvSpPr>
        <p:spPr>
          <a:xfrm>
            <a:off x="4390644" y="3680460"/>
            <a:ext cx="3517391"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322064" y="3611880"/>
            <a:ext cx="3517391" cy="41148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322064" y="3717036"/>
            <a:ext cx="3517391" cy="274320"/>
          </a:xfrm>
          <a:prstGeom prst="rect">
            <a:avLst/>
          </a:prstGeom>
          <a:noFill/>
        </p:spPr>
        <p:txBody>
          <a:bodyPr wrap="square" lIns="0" rIns="0" tIns="0" bIns="0" anchor="t">
            <a:spAutoFit/>
          </a:bodyPr>
          <a:lstStyle/>
          <a:p>
            <a:pPr algn="ctr"/>
            <a:r>
              <a:rPr sz="1100" b="1">
                <a:solidFill>
                  <a:srgbClr val="000000"/>
                </a:solidFill>
                <a:latin typeface="Arial"/>
              </a:rPr>
              <a:t>CONTROL</a:t>
            </a:r>
          </a:p>
        </p:txBody>
      </p:sp>
      <p:sp>
        <p:nvSpPr>
          <p:cNvPr id="19" name="Rectangle 18"/>
          <p:cNvSpPr/>
          <p:nvPr/>
        </p:nvSpPr>
        <p:spPr>
          <a:xfrm>
            <a:off x="4390644" y="4183380"/>
            <a:ext cx="3517391" cy="14630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322064" y="4114800"/>
            <a:ext cx="3517391" cy="14630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8096" y="4279392"/>
            <a:ext cx="3005327" cy="320040"/>
          </a:xfrm>
          <a:prstGeom prst="rect">
            <a:avLst/>
          </a:prstGeom>
          <a:noFill/>
        </p:spPr>
        <p:txBody>
          <a:bodyPr wrap="square" lIns="0" rIns="0" tIns="0" bIns="0" anchor="t">
            <a:spAutoFit/>
          </a:bodyPr>
          <a:lstStyle/>
          <a:p>
            <a:pPr algn="l"/>
            <a:r>
              <a:rPr sz="1400" b="1">
                <a:solidFill>
                  <a:srgbClr val="000000"/>
                </a:solidFill>
                <a:latin typeface="Arial"/>
              </a:rPr>
              <a:t>ONE CONDITIONAL</a:t>
            </a:r>
          </a:p>
        </p:txBody>
      </p:sp>
      <p:sp>
        <p:nvSpPr>
          <p:cNvPr id="22" name="TextBox 21"/>
          <p:cNvSpPr txBox="1"/>
          <p:nvPr/>
        </p:nvSpPr>
        <p:spPr>
          <a:xfrm>
            <a:off x="4578096" y="4663440"/>
            <a:ext cx="3005327" cy="82296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An index range displaced, using Compare and Switch.</a:t>
            </a:r>
          </a:p>
        </p:txBody>
      </p:sp>
      <p:sp>
        <p:nvSpPr>
          <p:cNvPr id="23" name="Rectangle 22"/>
          <p:cNvSpPr/>
          <p:nvPr/>
        </p:nvSpPr>
        <p:spPr>
          <a:xfrm>
            <a:off x="8118347" y="3680460"/>
            <a:ext cx="3517391"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49767" y="3611880"/>
            <a:ext cx="3517391" cy="41148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49767" y="3717036"/>
            <a:ext cx="3517391" cy="274320"/>
          </a:xfrm>
          <a:prstGeom prst="rect">
            <a:avLst/>
          </a:prstGeom>
          <a:noFill/>
        </p:spPr>
        <p:txBody>
          <a:bodyPr wrap="square" lIns="0" rIns="0" tIns="0" bIns="0" anchor="t">
            <a:spAutoFit/>
          </a:bodyPr>
          <a:lstStyle/>
          <a:p>
            <a:pPr algn="ctr"/>
            <a:r>
              <a:rPr sz="1100" b="1">
                <a:solidFill>
                  <a:srgbClr val="000000"/>
                </a:solidFill>
                <a:latin typeface="Arial"/>
              </a:rPr>
              <a:t>VARY</a:t>
            </a:r>
          </a:p>
        </p:txBody>
      </p:sp>
      <p:sp>
        <p:nvSpPr>
          <p:cNvPr id="26" name="Rectangle 25"/>
          <p:cNvSpPr/>
          <p:nvPr/>
        </p:nvSpPr>
        <p:spPr>
          <a:xfrm>
            <a:off x="8118347" y="4183380"/>
            <a:ext cx="3517391" cy="14630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049767" y="4114800"/>
            <a:ext cx="3517391" cy="14630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05799" y="4279392"/>
            <a:ext cx="3005327" cy="320040"/>
          </a:xfrm>
          <a:prstGeom prst="rect">
            <a:avLst/>
          </a:prstGeom>
          <a:noFill/>
        </p:spPr>
        <p:txBody>
          <a:bodyPr wrap="square" lIns="0" rIns="0" tIns="0" bIns="0" anchor="t">
            <a:spAutoFit/>
          </a:bodyPr>
          <a:lstStyle/>
          <a:p>
            <a:pPr algn="l"/>
            <a:r>
              <a:rPr sz="1400" b="1">
                <a:solidFill>
                  <a:srgbClr val="000000"/>
                </a:solidFill>
                <a:latin typeface="Arial"/>
              </a:rPr>
              <a:t>ONE SINE</a:t>
            </a:r>
          </a:p>
        </p:txBody>
      </p:sp>
      <p:sp>
        <p:nvSpPr>
          <p:cNvPr id="29" name="TextBox 28"/>
          <p:cNvSpPr txBox="1"/>
          <p:nvPr/>
        </p:nvSpPr>
        <p:spPr>
          <a:xfrm>
            <a:off x="8305799" y="4663440"/>
            <a:ext cx="3005327" cy="82296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Amplitude, frequency and phase, named and demonstrated.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REQUIREMENTS — P2a</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Visual quality 35% · computational understanding 25% · technical execution 20% · experimentation 10% · requirements and identity 10%.</a:t>
            </a:r>
          </a:p>
        </p:txBody>
      </p:sp>
      <p:sp>
        <p:nvSpPr>
          <p:cNvPr id="5" name="Rectangle 4"/>
          <p:cNvSpPr/>
          <p:nvPr/>
        </p:nvSpPr>
        <p:spPr>
          <a:xfrm>
            <a:off x="662940" y="1851660"/>
            <a:ext cx="777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777240" cy="941831"/>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2153412"/>
            <a:ext cx="777240" cy="274320"/>
          </a:xfrm>
          <a:prstGeom prst="rect">
            <a:avLst/>
          </a:prstGeom>
          <a:noFill/>
        </p:spPr>
        <p:txBody>
          <a:bodyPr wrap="square" lIns="0" rIns="0" tIns="0" bIns="0" anchor="t">
            <a:spAutoFit/>
          </a:bodyPr>
          <a:lstStyle/>
          <a:p>
            <a:pPr algn="ctr"/>
            <a:r>
              <a:rPr sz="1500" b="1">
                <a:solidFill>
                  <a:srgbClr val="000000"/>
                </a:solidFill>
                <a:latin typeface="Arial"/>
              </a:rPr>
              <a:t>01</a:t>
            </a:r>
          </a:p>
        </p:txBody>
      </p:sp>
      <p:sp>
        <p:nvSpPr>
          <p:cNvPr id="8" name="Rectangle 7"/>
          <p:cNvSpPr/>
          <p:nvPr/>
        </p:nvSpPr>
        <p:spPr>
          <a:xfrm>
            <a:off x="1714499" y="1851660"/>
            <a:ext cx="9921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645919" y="1783080"/>
            <a:ext cx="9921240" cy="941831"/>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1874519"/>
            <a:ext cx="9372600" cy="758951"/>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Array the P1b panel — linear, nested grid, hexagonal and radial — and develop three comparisons on up to two sheets, including the nested grid.</a:t>
            </a:r>
          </a:p>
        </p:txBody>
      </p:sp>
      <p:sp>
        <p:nvSpPr>
          <p:cNvPr id="11" name="Rectangle 10"/>
          <p:cNvSpPr/>
          <p:nvPr/>
        </p:nvSpPr>
        <p:spPr>
          <a:xfrm>
            <a:off x="662940" y="2939796"/>
            <a:ext cx="777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94360" y="2871215"/>
            <a:ext cx="777240" cy="941831"/>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3241547"/>
            <a:ext cx="777240" cy="274320"/>
          </a:xfrm>
          <a:prstGeom prst="rect">
            <a:avLst/>
          </a:prstGeom>
          <a:noFill/>
        </p:spPr>
        <p:txBody>
          <a:bodyPr wrap="square" lIns="0" rIns="0" tIns="0" bIns="0" anchor="t">
            <a:spAutoFit/>
          </a:bodyPr>
          <a:lstStyle/>
          <a:p>
            <a:pPr algn="ctr"/>
            <a:r>
              <a:rPr sz="1500" b="1">
                <a:solidFill>
                  <a:srgbClr val="000000"/>
                </a:solidFill>
                <a:latin typeface="Arial"/>
              </a:rPr>
              <a:t>02</a:t>
            </a:r>
          </a:p>
        </p:txBody>
      </p:sp>
      <p:sp>
        <p:nvSpPr>
          <p:cNvPr id="14" name="Rectangle 13"/>
          <p:cNvSpPr/>
          <p:nvPr/>
        </p:nvSpPr>
        <p:spPr>
          <a:xfrm>
            <a:off x="1714499" y="2939796"/>
            <a:ext cx="9921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645919" y="2871215"/>
            <a:ext cx="9921240" cy="941831"/>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2962656"/>
            <a:ext cx="9372600" cy="758951"/>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Keep the panel itself unchanged while comparing arrangements; only its positions move. Expose count and spacing or radius and explain index order.</a:t>
            </a:r>
          </a:p>
        </p:txBody>
      </p:sp>
      <p:sp>
        <p:nvSpPr>
          <p:cNvPr id="17" name="Rectangle 16"/>
          <p:cNvSpPr/>
          <p:nvPr/>
        </p:nvSpPr>
        <p:spPr>
          <a:xfrm>
            <a:off x="662940" y="4027931"/>
            <a:ext cx="777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94360" y="3959351"/>
            <a:ext cx="777240" cy="941831"/>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4329683"/>
            <a:ext cx="777240" cy="274320"/>
          </a:xfrm>
          <a:prstGeom prst="rect">
            <a:avLst/>
          </a:prstGeom>
          <a:noFill/>
        </p:spPr>
        <p:txBody>
          <a:bodyPr wrap="square" lIns="0" rIns="0" tIns="0" bIns="0" anchor="t">
            <a:spAutoFit/>
          </a:bodyPr>
          <a:lstStyle/>
          <a:p>
            <a:pPr algn="ctr"/>
            <a:r>
              <a:rPr sz="1500" b="1">
                <a:solidFill>
                  <a:srgbClr val="000000"/>
                </a:solidFill>
                <a:latin typeface="Arial"/>
              </a:rPr>
              <a:t>03</a:t>
            </a:r>
          </a:p>
        </p:txBody>
      </p:sp>
      <p:sp>
        <p:nvSpPr>
          <p:cNvPr id="20" name="Rectangle 19"/>
          <p:cNvSpPr/>
          <p:nvPr/>
        </p:nvSpPr>
        <p:spPr>
          <a:xfrm>
            <a:off x="1714499" y="4027931"/>
            <a:ext cx="9921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645919" y="3959351"/>
            <a:ext cx="9921240" cy="941831"/>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920240" y="4050791"/>
            <a:ext cx="9372600" cy="758951"/>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Show one conditional index-range displacement and one sine-driven variation; identify amplitude, frequency and phase.</a:t>
            </a:r>
          </a:p>
        </p:txBody>
      </p:sp>
      <p:sp>
        <p:nvSpPr>
          <p:cNvPr id="23" name="Rectangle 22"/>
          <p:cNvSpPr/>
          <p:nvPr/>
        </p:nvSpPr>
        <p:spPr>
          <a:xfrm>
            <a:off x="662940" y="5116067"/>
            <a:ext cx="777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5047487"/>
            <a:ext cx="777240" cy="941831"/>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4360" y="5417819"/>
            <a:ext cx="777240" cy="274320"/>
          </a:xfrm>
          <a:prstGeom prst="rect">
            <a:avLst/>
          </a:prstGeom>
          <a:noFill/>
        </p:spPr>
        <p:txBody>
          <a:bodyPr wrap="square" lIns="0" rIns="0" tIns="0" bIns="0" anchor="t">
            <a:spAutoFit/>
          </a:bodyPr>
          <a:lstStyle/>
          <a:p>
            <a:pPr algn="ctr"/>
            <a:r>
              <a:rPr sz="1500" b="1">
                <a:solidFill>
                  <a:srgbClr val="000000"/>
                </a:solidFill>
                <a:latin typeface="Arial"/>
              </a:rPr>
              <a:t>04</a:t>
            </a:r>
          </a:p>
        </p:txBody>
      </p:sp>
      <p:sp>
        <p:nvSpPr>
          <p:cNvPr id="26" name="Rectangle 25"/>
          <p:cNvSpPr/>
          <p:nvPr/>
        </p:nvSpPr>
        <p:spPr>
          <a:xfrm>
            <a:off x="1714499" y="5116067"/>
            <a:ext cx="9921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645919" y="5047487"/>
            <a:ext cx="9921240" cy="941831"/>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920240" y="5138927"/>
            <a:ext cx="9372600" cy="758951"/>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Build the repetition and selection logic from basic nodes. Show a small inspectable count before scaling up; no minimum of 1,000 elements is imposed.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D9E1"/>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NOW — YOUR FIRST ARRAY</a:t>
            </a:r>
          </a:p>
        </p:txBody>
      </p:sp>
      <p:sp>
        <p:nvSpPr>
          <p:cNvPr id="4" name="TextBox 3"/>
          <p:cNvSpPr txBox="1"/>
          <p:nvPr/>
        </p:nvSpPr>
        <p:spPr>
          <a:xfrm>
            <a:off x="594360" y="1691640"/>
            <a:ext cx="10515600" cy="365760"/>
          </a:xfrm>
          <a:prstGeom prst="rect">
            <a:avLst/>
          </a:prstGeom>
          <a:noFill/>
        </p:spPr>
        <p:txBody>
          <a:bodyPr wrap="square" lIns="0" rIns="0" tIns="0" bIns="0" anchor="t">
            <a:spAutoFit/>
          </a:bodyPr>
          <a:lstStyle/>
          <a:p>
            <a:pPr algn="l"/>
            <a:r>
              <a:rPr sz="1600">
                <a:solidFill>
                  <a:srgbClr val="000000"/>
                </a:solidFill>
                <a:latin typeface="Calibri"/>
              </a:rPr>
              <a:t>Rest of the session: a linear array, a conditional, and a grid you can predict.</a:t>
            </a:r>
          </a:p>
        </p:txBody>
      </p:sp>
      <p:sp>
        <p:nvSpPr>
          <p:cNvPr id="5" name="Rectangle 4"/>
          <p:cNvSpPr/>
          <p:nvPr/>
        </p:nvSpPr>
        <p:spPr>
          <a:xfrm>
            <a:off x="662940" y="2354580"/>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2286000"/>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2468880"/>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8" name="Rectangle 7"/>
          <p:cNvSpPr/>
          <p:nvPr/>
        </p:nvSpPr>
        <p:spPr>
          <a:xfrm>
            <a:off x="1559051" y="2354580"/>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490472" y="2286000"/>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64792" y="2286000"/>
            <a:ext cx="9528048" cy="566928"/>
          </a:xfrm>
          <a:prstGeom prst="rect">
            <a:avLst/>
          </a:prstGeom>
          <a:noFill/>
        </p:spPr>
        <p:txBody>
          <a:bodyPr wrap="square" lIns="0" rIns="0" tIns="0" bIns="0" anchor="ctr">
            <a:spAutoFit/>
          </a:bodyPr>
          <a:lstStyle/>
          <a:p>
            <a:pPr algn="l"/>
            <a:r>
              <a:rPr sz="1450">
                <a:solidFill>
                  <a:srgbClr val="000000"/>
                </a:solidFill>
                <a:latin typeface="Calibri"/>
              </a:rPr>
              <a:t>Your panel instanced along a linear array, count and spacing exposed</a:t>
            </a:r>
          </a:p>
        </p:txBody>
      </p:sp>
      <p:sp>
        <p:nvSpPr>
          <p:cNvPr id="11" name="Rectangle 10"/>
          <p:cNvSpPr/>
          <p:nvPr/>
        </p:nvSpPr>
        <p:spPr>
          <a:xfrm>
            <a:off x="662940" y="3067812"/>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94360" y="2999232"/>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3182112"/>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14" name="Rectangle 13"/>
          <p:cNvSpPr/>
          <p:nvPr/>
        </p:nvSpPr>
        <p:spPr>
          <a:xfrm>
            <a:off x="1559051" y="3067812"/>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490472" y="2999232"/>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764792" y="2999232"/>
            <a:ext cx="9528048" cy="566928"/>
          </a:xfrm>
          <a:prstGeom prst="rect">
            <a:avLst/>
          </a:prstGeom>
          <a:noFill/>
        </p:spPr>
        <p:txBody>
          <a:bodyPr wrap="square" lIns="0" rIns="0" tIns="0" bIns="0" anchor="ctr">
            <a:spAutoFit/>
          </a:bodyPr>
          <a:lstStyle/>
          <a:p>
            <a:pPr algn="l"/>
            <a:r>
              <a:rPr sz="1450">
                <a:solidFill>
                  <a:srgbClr val="000000"/>
                </a:solidFill>
                <a:latin typeface="Calibri"/>
              </a:rPr>
              <a:t>The spreadsheet open — list, count and index all readable at count = 5</a:t>
            </a:r>
          </a:p>
        </p:txBody>
      </p:sp>
      <p:sp>
        <p:nvSpPr>
          <p:cNvPr id="17" name="Rectangle 16"/>
          <p:cNvSpPr/>
          <p:nvPr/>
        </p:nvSpPr>
        <p:spPr>
          <a:xfrm>
            <a:off x="662940" y="3781044"/>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94360" y="3712464"/>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3895344"/>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20" name="Rectangle 19"/>
          <p:cNvSpPr/>
          <p:nvPr/>
        </p:nvSpPr>
        <p:spPr>
          <a:xfrm>
            <a:off x="1559051" y="3781044"/>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490472" y="3712464"/>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764792" y="3712464"/>
            <a:ext cx="9528048" cy="566928"/>
          </a:xfrm>
          <a:prstGeom prst="rect">
            <a:avLst/>
          </a:prstGeom>
          <a:noFill/>
        </p:spPr>
        <p:txBody>
          <a:bodyPr wrap="square" lIns="0" rIns="0" tIns="0" bIns="0" anchor="ctr">
            <a:spAutoFit/>
          </a:bodyPr>
          <a:lstStyle/>
          <a:p>
            <a:pPr algn="l"/>
            <a:r>
              <a:rPr sz="1450">
                <a:solidFill>
                  <a:srgbClr val="000000"/>
                </a:solidFill>
                <a:latin typeface="Calibri"/>
              </a:rPr>
              <a:t>Compare and Switch changing one range of indices</a:t>
            </a:r>
          </a:p>
        </p:txBody>
      </p:sp>
      <p:sp>
        <p:nvSpPr>
          <p:cNvPr id="23" name="Rectangle 22"/>
          <p:cNvSpPr/>
          <p:nvPr/>
        </p:nvSpPr>
        <p:spPr>
          <a:xfrm>
            <a:off x="662940" y="4494276"/>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4425696"/>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4360" y="4608576"/>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26" name="Rectangle 25"/>
          <p:cNvSpPr/>
          <p:nvPr/>
        </p:nvSpPr>
        <p:spPr>
          <a:xfrm>
            <a:off x="1559051" y="4494276"/>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490472" y="4425696"/>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764792" y="4425696"/>
            <a:ext cx="9528048" cy="566928"/>
          </a:xfrm>
          <a:prstGeom prst="rect">
            <a:avLst/>
          </a:prstGeom>
          <a:noFill/>
        </p:spPr>
        <p:txBody>
          <a:bodyPr wrap="square" lIns="0" rIns="0" tIns="0" bIns="0" anchor="ctr">
            <a:spAutoFit/>
          </a:bodyPr>
          <a:lstStyle/>
          <a:p>
            <a:pPr algn="l"/>
            <a:r>
              <a:rPr sz="1450">
                <a:solidFill>
                  <a:srgbClr val="000000"/>
                </a:solidFill>
                <a:latin typeface="Calibri"/>
              </a:rPr>
              <a:t>The array nested into a grid, and you predicted the total before looking</a:t>
            </a:r>
          </a:p>
        </p:txBody>
      </p:sp>
      <p:sp>
        <p:nvSpPr>
          <p:cNvPr id="29" name="Rectangle 28"/>
          <p:cNvSpPr/>
          <p:nvPr/>
        </p:nvSpPr>
        <p:spPr>
          <a:xfrm>
            <a:off x="662940" y="5207508"/>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94360" y="5138928"/>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94360" y="5321808"/>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32" name="Rectangle 31"/>
          <p:cNvSpPr/>
          <p:nvPr/>
        </p:nvSpPr>
        <p:spPr>
          <a:xfrm>
            <a:off x="1559051" y="5207508"/>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490472" y="5138928"/>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764792" y="5138928"/>
            <a:ext cx="9528048" cy="566928"/>
          </a:xfrm>
          <a:prstGeom prst="rect">
            <a:avLst/>
          </a:prstGeom>
          <a:noFill/>
        </p:spPr>
        <p:txBody>
          <a:bodyPr wrap="square" lIns="0" rIns="0" tIns="0" bIns="0" anchor="ctr">
            <a:spAutoFit/>
          </a:bodyPr>
          <a:lstStyle/>
          <a:p>
            <a:pPr algn="l"/>
            <a:r>
              <a:rPr sz="1450">
                <a:solidFill>
                  <a:srgbClr val="000000"/>
                </a:solidFill>
                <a:latin typeface="Calibri"/>
              </a:rPr>
              <a:t>Index order explained out loud: which way does i run, and what happens if you swap it</a:t>
            </a:r>
          </a:p>
        </p:txBody>
      </p:sp>
      <p:sp>
        <p:nvSpPr>
          <p:cNvPr id="35" name="Rectangle 34"/>
          <p:cNvSpPr/>
          <p:nvPr/>
        </p:nvSpPr>
        <p:spPr>
          <a:xfrm>
            <a:off x="662940" y="6012180"/>
            <a:ext cx="841248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94360" y="5943600"/>
            <a:ext cx="8412480" cy="566928"/>
          </a:xfrm>
          <a:prstGeom prst="rect">
            <a:avLst/>
          </a:prstGeom>
          <a:solidFill>
            <a:srgbClr val="0000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94360" y="5943600"/>
            <a:ext cx="8412480" cy="566928"/>
          </a:xfrm>
          <a:prstGeom prst="rect">
            <a:avLst/>
          </a:prstGeom>
          <a:noFill/>
        </p:spPr>
        <p:txBody>
          <a:bodyPr wrap="square" lIns="0" rIns="0" tIns="0" bIns="0" anchor="ctr">
            <a:spAutoFit/>
          </a:bodyPr>
          <a:lstStyle/>
          <a:p>
            <a:pPr algn="ctr"/>
            <a:r>
              <a:rPr sz="1300" b="1">
                <a:solidFill>
                  <a:srgbClr val="00D9E1"/>
                </a:solidFill>
                <a:latin typeface="Arial"/>
              </a:rPr>
              <a:t>A COUNT YOU CAN COUNT. NOT A THOUSAND OF ANYTHING, YET.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BEFORE NEXT CLASS</a:t>
            </a:r>
          </a:p>
        </p:txBody>
      </p:sp>
      <p:sp>
        <p:nvSpPr>
          <p:cNvPr id="4" name="Rectangle 3"/>
          <p:cNvSpPr/>
          <p:nvPr/>
        </p:nvSpPr>
        <p:spPr>
          <a:xfrm>
            <a:off x="662940" y="1851660"/>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94360" y="1783080"/>
            <a:ext cx="1508760" cy="804672"/>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4360" y="2084831"/>
            <a:ext cx="1508760" cy="274320"/>
          </a:xfrm>
          <a:prstGeom prst="rect">
            <a:avLst/>
          </a:prstGeom>
          <a:noFill/>
        </p:spPr>
        <p:txBody>
          <a:bodyPr wrap="square" lIns="0" rIns="0" tIns="0" bIns="0" anchor="t">
            <a:spAutoFit/>
          </a:bodyPr>
          <a:lstStyle/>
          <a:p>
            <a:pPr algn="ctr"/>
            <a:r>
              <a:rPr sz="1400" b="1">
                <a:solidFill>
                  <a:srgbClr val="000000"/>
                </a:solidFill>
                <a:latin typeface="Arial"/>
              </a:rPr>
              <a:t>CONTINUE</a:t>
            </a:r>
          </a:p>
        </p:txBody>
      </p:sp>
      <p:sp>
        <p:nvSpPr>
          <p:cNvPr id="7" name="Rectangle 6"/>
          <p:cNvSpPr/>
          <p:nvPr/>
        </p:nvSpPr>
        <p:spPr>
          <a:xfrm>
            <a:off x="2446020" y="1851660"/>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377440" y="1783080"/>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51760" y="1901952"/>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U04 — the same unit runs into next week. Hexagonal and radial arrangements, conditional displacement and sine control.</a:t>
            </a:r>
          </a:p>
        </p:txBody>
      </p:sp>
      <p:sp>
        <p:nvSpPr>
          <p:cNvPr id="10" name="Rectangle 9"/>
          <p:cNvSpPr/>
          <p:nvPr/>
        </p:nvSpPr>
        <p:spPr>
          <a:xfrm>
            <a:off x="662940" y="2912364"/>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94360" y="2843784"/>
            <a:ext cx="1508760" cy="804672"/>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94360" y="3145536"/>
            <a:ext cx="1508760" cy="274320"/>
          </a:xfrm>
          <a:prstGeom prst="rect">
            <a:avLst/>
          </a:prstGeom>
          <a:noFill/>
        </p:spPr>
        <p:txBody>
          <a:bodyPr wrap="square" lIns="0" rIns="0" tIns="0" bIns="0" anchor="t">
            <a:spAutoFit/>
          </a:bodyPr>
          <a:lstStyle/>
          <a:p>
            <a:pPr algn="ctr"/>
            <a:r>
              <a:rPr sz="1400" b="1">
                <a:solidFill>
                  <a:srgbClr val="000000"/>
                </a:solidFill>
                <a:latin typeface="Arial"/>
              </a:rPr>
              <a:t>BUILD</a:t>
            </a:r>
          </a:p>
        </p:txBody>
      </p:sp>
      <p:sp>
        <p:nvSpPr>
          <p:cNvPr id="13" name="Rectangle 12"/>
          <p:cNvSpPr/>
          <p:nvPr/>
        </p:nvSpPr>
        <p:spPr>
          <a:xfrm>
            <a:off x="2446020" y="2912364"/>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377440" y="2843784"/>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651760" y="2962656"/>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P2a is due at the midterm. Start the comparisons now — the sheet is easier when the graphs already exist.</a:t>
            </a:r>
          </a:p>
        </p:txBody>
      </p:sp>
      <p:sp>
        <p:nvSpPr>
          <p:cNvPr id="16" name="Rectangle 15"/>
          <p:cNvSpPr/>
          <p:nvPr/>
        </p:nvSpPr>
        <p:spPr>
          <a:xfrm>
            <a:off x="662940" y="3973068"/>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94360" y="3904487"/>
            <a:ext cx="1508760" cy="804672"/>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94360" y="4206240"/>
            <a:ext cx="1508760" cy="274320"/>
          </a:xfrm>
          <a:prstGeom prst="rect">
            <a:avLst/>
          </a:prstGeom>
          <a:noFill/>
        </p:spPr>
        <p:txBody>
          <a:bodyPr wrap="square" lIns="0" rIns="0" tIns="0" bIns="0" anchor="t">
            <a:spAutoFit/>
          </a:bodyPr>
          <a:lstStyle/>
          <a:p>
            <a:pPr algn="ctr"/>
            <a:r>
              <a:rPr sz="1400" b="1">
                <a:solidFill>
                  <a:srgbClr val="000000"/>
                </a:solidFill>
                <a:latin typeface="Arial"/>
              </a:rPr>
              <a:t>BRING</a:t>
            </a:r>
          </a:p>
        </p:txBody>
      </p:sp>
      <p:sp>
        <p:nvSpPr>
          <p:cNvPr id="19" name="Rectangle 18"/>
          <p:cNvSpPr/>
          <p:nvPr/>
        </p:nvSpPr>
        <p:spPr>
          <a:xfrm>
            <a:off x="2446020" y="3973068"/>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377440" y="3904487"/>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651760" y="4023359"/>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Your grid, working, at a small count. And P1b — the panel sheet is due next class.</a:t>
            </a:r>
          </a:p>
        </p:txBody>
      </p:sp>
      <p:sp>
        <p:nvSpPr>
          <p:cNvPr id="22" name="Rectangle 21"/>
          <p:cNvSpPr/>
          <p:nvPr/>
        </p:nvSpPr>
        <p:spPr>
          <a:xfrm>
            <a:off x="662940" y="5033772"/>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94360" y="4965192"/>
            <a:ext cx="1508760" cy="804672"/>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94360" y="5266944"/>
            <a:ext cx="1508760" cy="274320"/>
          </a:xfrm>
          <a:prstGeom prst="rect">
            <a:avLst/>
          </a:prstGeom>
          <a:noFill/>
        </p:spPr>
        <p:txBody>
          <a:bodyPr wrap="square" lIns="0" rIns="0" tIns="0" bIns="0" anchor="t">
            <a:spAutoFit/>
          </a:bodyPr>
          <a:lstStyle/>
          <a:p>
            <a:pPr algn="ctr"/>
            <a:r>
              <a:rPr sz="1400" b="1">
                <a:solidFill>
                  <a:srgbClr val="000000"/>
                </a:solidFill>
                <a:latin typeface="Arial"/>
              </a:rPr>
              <a:t>CHECK</a:t>
            </a:r>
          </a:p>
        </p:txBody>
      </p:sp>
      <p:sp>
        <p:nvSpPr>
          <p:cNvPr id="25" name="Rectangle 24"/>
          <p:cNvSpPr/>
          <p:nvPr/>
        </p:nvSpPr>
        <p:spPr>
          <a:xfrm>
            <a:off x="2446020" y="5033772"/>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2377440" y="4965192"/>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651760" y="5084064"/>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P1c: print-ready geometry, physical units and orientation get reviewed next week before anything goes in the queue.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