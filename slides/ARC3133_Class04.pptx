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E5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1051560"/>
            <a:ext cx="10972800" cy="256032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94360" y="1481328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000000"/>
                </a:solidFill>
                <a:latin typeface="Arial"/>
              </a:rPr>
              <a:t>CLASS 04  /  SEP 15  /  U03</a:t>
            </a:r>
          </a:p>
        </p:txBody>
      </p:sp>
      <p:sp>
        <p:nvSpPr>
          <p:cNvPr id="4" name="Rectangle 3"/>
          <p:cNvSpPr/>
          <p:nvPr/>
        </p:nvSpPr>
        <p:spPr>
          <a:xfrm>
            <a:off x="662940" y="2125980"/>
            <a:ext cx="10149840" cy="214884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594360" y="2057400"/>
            <a:ext cx="10149840" cy="214884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05840" y="2286000"/>
            <a:ext cx="9326880" cy="1737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000000"/>
                </a:solidFill>
                <a:latin typeface="Arial"/>
              </a:rPr>
              <a:t>DESCRIPTIVE</a:t>
            </a:r>
          </a:p>
          <a:p>
            <a:pPr algn="l">
              <a:lnSpc>
                <a:spcPct val="115000"/>
              </a:lnSpc>
            </a:pPr>
            <a:r>
              <a:rPr sz="4000" b="1">
                <a:solidFill>
                  <a:srgbClr val="000000"/>
                </a:solidFill>
                <a:latin typeface="Arial"/>
              </a:rPr>
              <a:t>GEOMETRY</a:t>
            </a:r>
          </a:p>
        </p:txBody>
      </p:sp>
      <p:sp>
        <p:nvSpPr>
          <p:cNvPr id="7" name="Rectangle 6"/>
          <p:cNvSpPr/>
          <p:nvPr/>
        </p:nvSpPr>
        <p:spPr>
          <a:xfrm>
            <a:off x="662940" y="4549140"/>
            <a:ext cx="6766560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94360" y="4480560"/>
            <a:ext cx="6766560" cy="566928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795259" y="4549140"/>
            <a:ext cx="3017520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7726679" y="4480560"/>
            <a:ext cx="3017520" cy="566928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68680" y="4480560"/>
            <a:ext cx="64008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Arial"/>
              </a:rPr>
              <a:t>P3 BEGINS — WHAT A SOLID IS MADE OF, UNDERNEATH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26679" y="4480560"/>
            <a:ext cx="30175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000000"/>
                </a:solidFill>
                <a:latin typeface="Arial"/>
              </a:rPr>
              <a:t>P2a DUE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5870448"/>
            <a:ext cx="10972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000000"/>
                </a:solidFill>
                <a:latin typeface="Arial"/>
              </a:rPr>
              <a:t>P3a ISSUED TODAY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FFFD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FFFDF7"/>
                </a:solidFill>
                <a:latin typeface="Arial"/>
              </a:rPr>
              <a:t>POINT → LINE → EDGE → FACE → SOLID → BOOLEAN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B4B4AC"/>
                </a:solidFill>
                <a:latin typeface="Calibri"/>
              </a:rPr>
              <a:t>Six steps. Each one is built from the step before it.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988820"/>
            <a:ext cx="1676400" cy="4572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920240"/>
            <a:ext cx="1676400" cy="457200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94360" y="2048256"/>
            <a:ext cx="167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50" b="1">
                <a:solidFill>
                  <a:srgbClr val="000000"/>
                </a:solidFill>
                <a:latin typeface="Arial"/>
              </a:rPr>
              <a:t>POINT</a:t>
            </a:r>
          </a:p>
        </p:txBody>
      </p:sp>
      <p:sp>
        <p:nvSpPr>
          <p:cNvPr id="8" name="Rectangle 7"/>
          <p:cNvSpPr/>
          <p:nvPr/>
        </p:nvSpPr>
        <p:spPr>
          <a:xfrm>
            <a:off x="662940" y="2537460"/>
            <a:ext cx="1676400" cy="173736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594360" y="2468880"/>
            <a:ext cx="1676400" cy="173736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31520" y="2697480"/>
            <a:ext cx="1402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50">
                <a:solidFill>
                  <a:srgbClr val="000000"/>
                </a:solidFill>
                <a:latin typeface="Calibri"/>
              </a:rPr>
              <a:t>three numbers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291840"/>
            <a:ext cx="1402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50">
                <a:solidFill>
                  <a:srgbClr val="000000"/>
                </a:solidFill>
                <a:latin typeface="Courier New"/>
              </a:rPr>
              <a:t>[x, y, z]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522220" y="1988820"/>
            <a:ext cx="1676400" cy="4572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2453640" y="1920240"/>
            <a:ext cx="1676400" cy="457200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2453640" y="2048256"/>
            <a:ext cx="167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50" b="1">
                <a:solidFill>
                  <a:srgbClr val="000000"/>
                </a:solidFill>
                <a:latin typeface="Arial"/>
              </a:rPr>
              <a:t>LINE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522220" y="2537460"/>
            <a:ext cx="1676400" cy="173736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2453640" y="2468880"/>
            <a:ext cx="1676400" cy="173736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2590799" y="2697480"/>
            <a:ext cx="1402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50">
                <a:solidFill>
                  <a:srgbClr val="000000"/>
                </a:solidFill>
                <a:latin typeface="Calibri"/>
              </a:rPr>
              <a:t>two positions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90799" y="3291840"/>
            <a:ext cx="1402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50">
                <a:solidFill>
                  <a:srgbClr val="000000"/>
                </a:solidFill>
                <a:latin typeface="Courier New"/>
              </a:rPr>
              <a:t>[p1, p2]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81500" y="1988820"/>
            <a:ext cx="1676400" cy="4572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4312920" y="1920240"/>
            <a:ext cx="1676400" cy="457200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4312920" y="2048256"/>
            <a:ext cx="167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50" b="1">
                <a:solidFill>
                  <a:srgbClr val="000000"/>
                </a:solidFill>
                <a:latin typeface="Arial"/>
              </a:rPr>
              <a:t>EDGE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1500" y="2537460"/>
            <a:ext cx="1676400" cy="173736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4312920" y="2468880"/>
            <a:ext cx="1676400" cy="173736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4450080" y="2697480"/>
            <a:ext cx="1402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50">
                <a:solidFill>
                  <a:srgbClr val="000000"/>
                </a:solidFill>
                <a:latin typeface="Calibri"/>
              </a:rPr>
              <a:t>two vertices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50080" y="3291840"/>
            <a:ext cx="1402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50">
                <a:solidFill>
                  <a:srgbClr val="000000"/>
                </a:solidFill>
                <a:latin typeface="Courier New"/>
              </a:rPr>
              <a:t>[v1, v2]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40780" y="1988820"/>
            <a:ext cx="1676400" cy="4572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6172200" y="1920240"/>
            <a:ext cx="1676400" cy="457200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172200" y="2048256"/>
            <a:ext cx="167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50" b="1">
                <a:solidFill>
                  <a:srgbClr val="000000"/>
                </a:solidFill>
                <a:latin typeface="Arial"/>
              </a:rPr>
              <a:t>FACE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40780" y="2537460"/>
            <a:ext cx="1676400" cy="173736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6172200" y="2468880"/>
            <a:ext cx="1676400" cy="173736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309360" y="2697480"/>
            <a:ext cx="1402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50">
                <a:solidFill>
                  <a:srgbClr val="000000"/>
                </a:solidFill>
                <a:latin typeface="Calibri"/>
              </a:rPr>
              <a:t>ordered corners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0" y="3291840"/>
            <a:ext cx="1402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50">
                <a:solidFill>
                  <a:srgbClr val="000000"/>
                </a:solidFill>
                <a:latin typeface="Courier New"/>
              </a:rPr>
              <a:t>[v1, v2, v3]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100059" y="1988820"/>
            <a:ext cx="1676400" cy="4572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8031480" y="1920240"/>
            <a:ext cx="1676400" cy="457200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8031480" y="2048256"/>
            <a:ext cx="167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50" b="1">
                <a:solidFill>
                  <a:srgbClr val="000000"/>
                </a:solidFill>
                <a:latin typeface="Arial"/>
              </a:rPr>
              <a:t>SOLID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100059" y="2537460"/>
            <a:ext cx="1676400" cy="173736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ectangle 36"/>
          <p:cNvSpPr/>
          <p:nvPr/>
        </p:nvSpPr>
        <p:spPr>
          <a:xfrm>
            <a:off x="8031480" y="2468880"/>
            <a:ext cx="1676400" cy="173736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8168640" y="2697480"/>
            <a:ext cx="1402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50">
                <a:solidFill>
                  <a:srgbClr val="000000"/>
                </a:solidFill>
                <a:latin typeface="Calibri"/>
              </a:rPr>
              <a:t>closed faces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168640" y="3291840"/>
            <a:ext cx="1402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50">
                <a:solidFill>
                  <a:srgbClr val="000000"/>
                </a:solidFill>
                <a:latin typeface="Courier New"/>
              </a:rPr>
              <a:t>[f1, f2, f3…]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959340" y="1988820"/>
            <a:ext cx="1676400" cy="4572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Rectangle 40"/>
          <p:cNvSpPr/>
          <p:nvPr/>
        </p:nvSpPr>
        <p:spPr>
          <a:xfrm>
            <a:off x="9890760" y="1920240"/>
            <a:ext cx="1676400" cy="457200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9890760" y="2048256"/>
            <a:ext cx="167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50" b="1">
                <a:solidFill>
                  <a:srgbClr val="000000"/>
                </a:solidFill>
                <a:latin typeface="Arial"/>
              </a:rPr>
              <a:t>BOOLEAN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959340" y="2537460"/>
            <a:ext cx="1676400" cy="173736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9890760" y="2468880"/>
            <a:ext cx="1676400" cy="173736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10027920" y="2697480"/>
            <a:ext cx="1402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50">
                <a:solidFill>
                  <a:srgbClr val="000000"/>
                </a:solidFill>
                <a:latin typeface="Calibri"/>
              </a:rPr>
              <a:t>two solids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027920" y="3291840"/>
            <a:ext cx="1402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50">
                <a:solidFill>
                  <a:srgbClr val="000000"/>
                </a:solidFill>
                <a:latin typeface="Courier New"/>
              </a:rPr>
              <a:t>A − B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62940" y="4594860"/>
            <a:ext cx="10972800" cy="62179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Rectangle 47"/>
          <p:cNvSpPr/>
          <p:nvPr/>
        </p:nvSpPr>
        <p:spPr>
          <a:xfrm>
            <a:off x="594360" y="4526280"/>
            <a:ext cx="10972800" cy="621792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777240" y="4526280"/>
            <a:ext cx="1060704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>
                <a:solidFill>
                  <a:srgbClr val="000000"/>
                </a:solidFill>
                <a:latin typeface="Arial"/>
              </a:rPr>
              <a:t>A POSITION IS NOT A DISPLACEMENT. THE SAME THREE NUMBERS MEAN DIFFERENT THINGS DEPENDING ON WHICH ONE YOU MEANT.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94360" y="539496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>
                <a:solidFill>
                  <a:srgbClr val="B4B4AC"/>
                </a:solidFill>
                <a:latin typeface="Calibri"/>
              </a:rPr>
              <a:t>Nothing here is new geometry. It is the same collection, read at a different level: a face is a list of vertices, a solid is a closed list of faces, and in Week 6 an array will be a list of copies.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000000"/>
                </a:solidFill>
                <a:latin typeface="Arial"/>
              </a:rPr>
              <a:t>A FACE IS AN ORDERED LIST OF CORNERS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6B6B6B"/>
                </a:solidFill>
                <a:latin typeface="Calibri"/>
              </a:rPr>
              <a:t>Same three vertices, two different faces. The order is the difference.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851660"/>
            <a:ext cx="5486400" cy="310896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783080"/>
            <a:ext cx="5486400" cy="310896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94360" y="1783080"/>
            <a:ext cx="5486400" cy="502920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22960" y="1783080"/>
            <a:ext cx="50292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87" b="1">
                <a:solidFill>
                  <a:srgbClr val="000000"/>
                </a:solidFill>
                <a:latin typeface="Arial"/>
              </a:rPr>
              <a:t>WINDING ORDER</a:t>
            </a:r>
          </a:p>
        </p:txBody>
      </p:sp>
      <p:sp>
        <p:nvSpPr>
          <p:cNvPr id="9" name="Oval 8"/>
          <p:cNvSpPr/>
          <p:nvPr/>
        </p:nvSpPr>
        <p:spPr>
          <a:xfrm>
            <a:off x="1801367" y="2715768"/>
            <a:ext cx="146304" cy="14630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554479" y="2404872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>
                <a:solidFill>
                  <a:srgbClr val="000000"/>
                </a:solidFill>
                <a:latin typeface="Courier New"/>
              </a:rPr>
              <a:t>v0</a:t>
            </a:r>
          </a:p>
        </p:txBody>
      </p:sp>
      <p:sp>
        <p:nvSpPr>
          <p:cNvPr id="11" name="Oval 10"/>
          <p:cNvSpPr/>
          <p:nvPr/>
        </p:nvSpPr>
        <p:spPr>
          <a:xfrm>
            <a:off x="1115567" y="3858768"/>
            <a:ext cx="146304" cy="14630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68679" y="3547872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>
                <a:solidFill>
                  <a:srgbClr val="000000"/>
                </a:solidFill>
                <a:latin typeface="Courier New"/>
              </a:rPr>
              <a:t>v1</a:t>
            </a:r>
          </a:p>
        </p:txBody>
      </p:sp>
      <p:sp>
        <p:nvSpPr>
          <p:cNvPr id="13" name="Oval 12"/>
          <p:cNvSpPr/>
          <p:nvPr/>
        </p:nvSpPr>
        <p:spPr>
          <a:xfrm>
            <a:off x="2487168" y="3858768"/>
            <a:ext cx="146304" cy="14630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2240279" y="3547872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>
                <a:solidFill>
                  <a:srgbClr val="000000"/>
                </a:solidFill>
                <a:latin typeface="Courier New"/>
              </a:rPr>
              <a:t>v2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37560" y="2514600"/>
            <a:ext cx="256032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1">
                <a:solidFill>
                  <a:srgbClr val="000000"/>
                </a:solidFill>
                <a:latin typeface="Courier New"/>
              </a:rPr>
              <a:t>f = [v0, v1, v2]</a:t>
            </a:r>
          </a:p>
          <a:p>
            <a:pPr algn="l">
              <a:lnSpc>
                <a:spcPct val="140000"/>
              </a:lnSpc>
            </a:pPr>
            <a:r>
              <a:rPr sz="1100">
                <a:solidFill>
                  <a:srgbClr val="000000"/>
                </a:solidFill>
                <a:latin typeface="Courier New"/>
              </a:rPr>
              <a:t>  normal → toward you</a:t>
            </a:r>
          </a:p>
          <a:p>
            <a:pPr algn="l">
              <a:lnSpc>
                <a:spcPct val="140000"/>
              </a:lnSpc>
            </a:pPr>
            <a:r>
              <a:rPr sz="800">
                <a:solidFill>
                  <a:srgbClr val="000000"/>
                </a:solidFill>
                <a:latin typeface="Courier New"/>
              </a:rPr>
              <a:t> </a:t>
            </a:r>
          </a:p>
          <a:p>
            <a:pPr algn="l">
              <a:lnSpc>
                <a:spcPct val="140000"/>
              </a:lnSpc>
            </a:pPr>
            <a:r>
              <a:rPr sz="1200" b="1">
                <a:solidFill>
                  <a:srgbClr val="000000"/>
                </a:solidFill>
                <a:latin typeface="Courier New"/>
              </a:rPr>
              <a:t>f = [v0, v2, v1]</a:t>
            </a:r>
          </a:p>
          <a:p>
            <a:pPr algn="l">
              <a:lnSpc>
                <a:spcPct val="140000"/>
              </a:lnSpc>
            </a:pPr>
            <a:r>
              <a:rPr sz="1100">
                <a:solidFill>
                  <a:srgbClr val="000000"/>
                </a:solidFill>
                <a:latin typeface="Courier New"/>
              </a:rPr>
              <a:t>  normal → away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69380" y="1851660"/>
            <a:ext cx="5166360" cy="310896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6400800" y="1783080"/>
            <a:ext cx="5166360" cy="310896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6400800" y="1783080"/>
            <a:ext cx="5166360" cy="502920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629400" y="1783080"/>
            <a:ext cx="4709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 b="1">
                <a:solidFill>
                  <a:srgbClr val="000000"/>
                </a:solidFill>
                <a:latin typeface="Arial"/>
              </a:rPr>
              <a:t>WHY IT MATTERS LATER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20" y="2487168"/>
            <a:ext cx="461772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>
                <a:solidFill>
                  <a:srgbClr val="000000"/>
                </a:solidFill>
                <a:latin typeface="Calibri"/>
              </a:rPr>
              <a:t>A flipped face tells a renderer the inside is the outside.</a:t>
            </a:r>
          </a:p>
          <a:p>
            <a:pPr algn="l">
              <a:lnSpc>
                <a:spcPct val="130000"/>
              </a:lnSpc>
            </a:pPr>
            <a:r>
              <a:rPr sz="700">
                <a:solidFill>
                  <a:srgbClr val="000000"/>
                </a:solidFill>
                <a:latin typeface="Calibri"/>
              </a:rPr>
              <a:t> </a:t>
            </a:r>
          </a:p>
          <a:p>
            <a:pPr algn="l">
              <a:lnSpc>
                <a:spcPct val="130000"/>
              </a:lnSpc>
            </a:pPr>
            <a:r>
              <a:rPr sz="1400">
                <a:solidFill>
                  <a:srgbClr val="000000"/>
                </a:solidFill>
                <a:latin typeface="Calibri"/>
              </a:rPr>
              <a:t>It tells a Boolean it cannot decide what to keep.</a:t>
            </a:r>
          </a:p>
          <a:p>
            <a:pPr algn="l">
              <a:lnSpc>
                <a:spcPct val="130000"/>
              </a:lnSpc>
            </a:pPr>
            <a:r>
              <a:rPr sz="700">
                <a:solidFill>
                  <a:srgbClr val="000000"/>
                </a:solidFill>
                <a:latin typeface="Calibri"/>
              </a:rPr>
              <a:t> </a:t>
            </a:r>
          </a:p>
          <a:p>
            <a:pPr algn="l">
              <a:lnSpc>
                <a:spcPct val="130000"/>
              </a:lnSpc>
            </a:pPr>
            <a:r>
              <a:rPr sz="1400">
                <a:solidFill>
                  <a:srgbClr val="000000"/>
                </a:solidFill>
                <a:latin typeface="Calibri"/>
              </a:rPr>
              <a:t>Most broken renders and failed cuts this semester will start here.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2940" y="5234940"/>
            <a:ext cx="10972800" cy="65836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594360" y="5166360"/>
            <a:ext cx="10972800" cy="658368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77240" y="5166360"/>
            <a:ext cx="1060704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>
                <a:solidFill>
                  <a:srgbClr val="000000"/>
                </a:solidFill>
                <a:latin typeface="Arial"/>
              </a:rPr>
              <a:t>CLOSED MEANS EVERY EDGE IS SHARED BY EXACTLY TWO FACES. CHECK IT BEFORE YOU BELIEVE IT.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FFFD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FFFDF7"/>
                </a:solidFill>
                <a:latin typeface="Arial"/>
              </a:rPr>
              <a:t>THE PYRAMID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B4B4AC"/>
                </a:solidFill>
                <a:latin typeface="Calibri"/>
              </a:rPr>
              <a:t>Five vertices, eight edges, five faces. Built by hand, driven by three numbers.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943100"/>
            <a:ext cx="5669280" cy="30175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874519"/>
            <a:ext cx="5669280" cy="301752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94360" y="1874519"/>
            <a:ext cx="5669280" cy="502920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22960" y="1874519"/>
            <a:ext cx="52120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87" b="1">
                <a:solidFill>
                  <a:srgbClr val="000000"/>
                </a:solidFill>
                <a:latin typeface="Arial"/>
              </a:rPr>
              <a:t>WHAT YOU ASSEMBLE</a:t>
            </a:r>
          </a:p>
        </p:txBody>
      </p:sp>
      <p:sp>
        <p:nvSpPr>
          <p:cNvPr id="9" name="Rectangle 8"/>
          <p:cNvSpPr/>
          <p:nvPr/>
        </p:nvSpPr>
        <p:spPr>
          <a:xfrm>
            <a:off x="982980" y="2674620"/>
            <a:ext cx="685800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914400" y="2606040"/>
            <a:ext cx="685800" cy="566928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14400" y="278892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2606040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>
                <a:solidFill>
                  <a:srgbClr val="000000"/>
                </a:solidFill>
                <a:latin typeface="Arial"/>
              </a:rPr>
              <a:t>VERTICES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880360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>
                <a:solidFill>
                  <a:srgbClr val="000000"/>
                </a:solidFill>
                <a:latin typeface="Calibri"/>
              </a:rPr>
              <a:t>four base corners and an apex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82980" y="3387852"/>
            <a:ext cx="685800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914400" y="3319272"/>
            <a:ext cx="685800" cy="566928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14400" y="3502152"/>
            <a:ext cx="685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319272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>
                <a:solidFill>
                  <a:srgbClr val="000000"/>
                </a:solidFill>
                <a:latin typeface="Arial"/>
              </a:rPr>
              <a:t>EDGES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3593591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>
                <a:solidFill>
                  <a:srgbClr val="000000"/>
                </a:solidFill>
                <a:latin typeface="Calibri"/>
              </a:rPr>
              <a:t>four around the base, four to the apex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82980" y="4101084"/>
            <a:ext cx="685800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914400" y="4032504"/>
            <a:ext cx="685800" cy="566928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14400" y="421538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4032504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>
                <a:solidFill>
                  <a:srgbClr val="000000"/>
                </a:solidFill>
                <a:latin typeface="Arial"/>
              </a:rPr>
              <a:t>FACES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4306824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>
                <a:solidFill>
                  <a:srgbClr val="000000"/>
                </a:solidFill>
                <a:latin typeface="Calibri"/>
              </a:rPr>
              <a:t>four triangular sides and the base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606540" y="1943100"/>
            <a:ext cx="5029200" cy="30175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/>
          <p:cNvSpPr/>
          <p:nvPr/>
        </p:nvSpPr>
        <p:spPr>
          <a:xfrm>
            <a:off x="6537960" y="1874519"/>
            <a:ext cx="5029200" cy="301752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6537960" y="1874519"/>
            <a:ext cx="5029200" cy="502920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6766560" y="1874519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87" b="1">
                <a:solidFill>
                  <a:srgbClr val="000000"/>
                </a:solidFill>
                <a:latin typeface="Arial"/>
              </a:rPr>
              <a:t>EXPOSED INPUTS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12280" y="2606040"/>
            <a:ext cx="448056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1">
                <a:solidFill>
                  <a:srgbClr val="000000"/>
                </a:solidFill>
                <a:latin typeface="Courier New"/>
              </a:rPr>
              <a:t>Width</a:t>
            </a:r>
          </a:p>
          <a:p>
            <a:pPr algn="l">
              <a:lnSpc>
                <a:spcPct val="140000"/>
              </a:lnSpc>
            </a:pPr>
            <a:r>
              <a:rPr sz="1400" b="1">
                <a:solidFill>
                  <a:srgbClr val="000000"/>
                </a:solidFill>
                <a:latin typeface="Courier New"/>
              </a:rPr>
              <a:t>Depth</a:t>
            </a:r>
          </a:p>
          <a:p>
            <a:pPr algn="l">
              <a:lnSpc>
                <a:spcPct val="140000"/>
              </a:lnSpc>
            </a:pPr>
            <a:r>
              <a:rPr sz="1400" b="1">
                <a:solidFill>
                  <a:srgbClr val="000000"/>
                </a:solidFill>
                <a:latin typeface="Courier New"/>
              </a:rPr>
              <a:t>Height</a:t>
            </a:r>
          </a:p>
          <a:p>
            <a:pPr algn="l">
              <a:lnSpc>
                <a:spcPct val="140000"/>
              </a:lnSpc>
            </a:pPr>
            <a:r>
              <a:rPr sz="800">
                <a:solidFill>
                  <a:srgbClr val="000000"/>
                </a:solidFill>
                <a:latin typeface="Courier New"/>
              </a:rPr>
              <a:t> </a:t>
            </a:r>
          </a:p>
          <a:p>
            <a:pPr algn="l">
              <a:lnSpc>
                <a:spcPct val="140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Three numbers, and the whole solid rebuilds. That is the entire point of the exercise.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2940" y="5280660"/>
            <a:ext cx="10972800" cy="6400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594360" y="5212080"/>
            <a:ext cx="10972800" cy="640080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777240" y="5212080"/>
            <a:ext cx="106070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>
                <a:solidFill>
                  <a:srgbClr val="000000"/>
                </a:solidFill>
                <a:latin typeface="Arial"/>
              </a:rPr>
              <a:t>DO NOT FORGET THE BASE FACE. A PYRAMID WITH FOUR SIDES AND NO BOTTOM IS NOT A SOLID.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000000"/>
                </a:solidFill>
                <a:latin typeface="Arial"/>
              </a:rPr>
              <a:t>THEN IT GOES INTO A BOOLEAN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6B6B6B"/>
                </a:solidFill>
                <a:latin typeface="Calibri"/>
              </a:rPr>
              <a:t>Cube minus pyramid. The same subtraction as in P2, with a solid you built point by point.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851660"/>
            <a:ext cx="2585466" cy="4572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783080"/>
            <a:ext cx="2585466" cy="457200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94360" y="1911095"/>
            <a:ext cx="258546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50" b="1">
                <a:solidFill>
                  <a:srgbClr val="000000"/>
                </a:solidFill>
                <a:latin typeface="Arial"/>
              </a:rPr>
              <a:t>01   BUILD IT</a:t>
            </a:r>
          </a:p>
        </p:txBody>
      </p:sp>
      <p:sp>
        <p:nvSpPr>
          <p:cNvPr id="8" name="Rectangle 7"/>
          <p:cNvSpPr/>
          <p:nvPr/>
        </p:nvSpPr>
        <p:spPr>
          <a:xfrm>
            <a:off x="662940" y="2400300"/>
            <a:ext cx="2585466" cy="20116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594360" y="2331720"/>
            <a:ext cx="2585466" cy="201168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22960" y="2331720"/>
            <a:ext cx="2128266" cy="2011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Five vertices, five faces, closed, with Width / Depth / Height exposed.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58718" y="1851660"/>
            <a:ext cx="2585466" cy="4572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3390138" y="1783080"/>
            <a:ext cx="2585466" cy="457200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3390138" y="1911095"/>
            <a:ext cx="258546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50" b="1">
                <a:solidFill>
                  <a:srgbClr val="000000"/>
                </a:solidFill>
                <a:latin typeface="Arial"/>
              </a:rPr>
              <a:t>02   SUBTRACT IT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58718" y="2400300"/>
            <a:ext cx="2585466" cy="20116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3390138" y="2331720"/>
            <a:ext cx="2585466" cy="201168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3618738" y="2331720"/>
            <a:ext cx="2128266" cy="2011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Cube minus pyramid. Name which solid is kept and which is removed.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54496" y="1851660"/>
            <a:ext cx="2585466" cy="4572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6185916" y="1783080"/>
            <a:ext cx="2585466" cy="457200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185916" y="1911095"/>
            <a:ext cx="258546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50" b="1">
                <a:solidFill>
                  <a:srgbClr val="000000"/>
                </a:solidFill>
                <a:latin typeface="Arial"/>
              </a:rPr>
              <a:t>03   DRIVE IT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54496" y="2400300"/>
            <a:ext cx="2585466" cy="20116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6185916" y="2331720"/>
            <a:ext cx="2585466" cy="201168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14516" y="2331720"/>
            <a:ext cx="2128266" cy="2011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Change the three inputs and show at least three settings of the result.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050274" y="1851660"/>
            <a:ext cx="2585466" cy="4572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8981694" y="1783080"/>
            <a:ext cx="2585466" cy="457200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8981694" y="1911095"/>
            <a:ext cx="258546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50" b="1">
                <a:solidFill>
                  <a:srgbClr val="000000"/>
                </a:solidFill>
                <a:latin typeface="Arial"/>
              </a:rPr>
              <a:t>04   EXPLAIN 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50274" y="2400300"/>
            <a:ext cx="2585466" cy="20116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8981694" y="2331720"/>
            <a:ext cx="2585466" cy="201168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9210294" y="2331720"/>
            <a:ext cx="2128266" cy="2011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Face order, normals, closure — why it cuts cleanly instead of failing.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2940" y="4686300"/>
            <a:ext cx="10972800" cy="62179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594360" y="4617720"/>
            <a:ext cx="10972800" cy="621792"/>
          </a:xfrm>
          <a:prstGeom prst="rect">
            <a:avLst/>
          </a:prstGeom>
          <a:solidFill>
            <a:srgbClr val="0000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777240" y="4617720"/>
            <a:ext cx="1060704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>
                <a:solidFill>
                  <a:srgbClr val="00D9E1"/>
                </a:solidFill>
                <a:latin typeface="Arial"/>
              </a:rPr>
              <a:t>AN OPEN MESH HAS NO INSIDE. A BOOLEAN NEEDS ONE.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" y="544068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>
                <a:solidFill>
                  <a:srgbClr val="6B6B6B"/>
                </a:solidFill>
                <a:latin typeface="Calibri"/>
              </a:rPr>
              <a:t>The pyramid is the warm-up. Next week the same two lists describe your own module — the one you light and render for P3a, and array for P3b.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FFFD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FFFDF7"/>
                </a:solidFill>
                <a:latin typeface="Arial"/>
              </a:rPr>
              <a:t>THE SEQUENCE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B4B4AC"/>
                </a:solidFill>
                <a:latin typeface="Calibri"/>
              </a:rPr>
              <a:t>What we build together, in order, this class.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897380"/>
            <a:ext cx="777240" cy="5638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828800"/>
            <a:ext cx="777240" cy="563880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94360" y="2010156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00000"/>
                </a:solidFill>
                <a:latin typeface="Arial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1714499" y="1897380"/>
            <a:ext cx="9921240" cy="5638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1645919" y="1828800"/>
            <a:ext cx="9921240" cy="56388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920240" y="1920240"/>
            <a:ext cx="93726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>
                <a:solidFill>
                  <a:srgbClr val="000000"/>
                </a:solidFill>
                <a:latin typeface="Calibri"/>
              </a:rPr>
              <a:t>Point — locate a point with XYZ values; distinguish position from displacement.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2940" y="2589276"/>
            <a:ext cx="777240" cy="5638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594360" y="2520696"/>
            <a:ext cx="777240" cy="563880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94360" y="270205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00000"/>
                </a:solidFill>
                <a:latin typeface="Arial"/>
              </a:rPr>
              <a:t>02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714499" y="2589276"/>
            <a:ext cx="9921240" cy="5638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1645919" y="2520696"/>
            <a:ext cx="9921240" cy="56388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920240" y="2612136"/>
            <a:ext cx="93726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>
                <a:solidFill>
                  <a:srgbClr val="000000"/>
                </a:solidFill>
                <a:latin typeface="Calibri"/>
              </a:rPr>
              <a:t>Line — connect two positions with a curve.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62940" y="3281172"/>
            <a:ext cx="777240" cy="5638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94360" y="3212592"/>
            <a:ext cx="777240" cy="563880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94360" y="3393948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00000"/>
                </a:solidFill>
                <a:latin typeface="Arial"/>
              </a:rPr>
              <a:t>03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714499" y="3281172"/>
            <a:ext cx="9921240" cy="5638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1645919" y="3212592"/>
            <a:ext cx="9921240" cy="56388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1920240" y="3304032"/>
            <a:ext cx="93726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>
                <a:solidFill>
                  <a:srgbClr val="000000"/>
                </a:solidFill>
                <a:latin typeface="Calibri"/>
              </a:rPr>
              <a:t>Edge — connect two mesh vertices.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62940" y="3973068"/>
            <a:ext cx="777240" cy="5638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594360" y="3904488"/>
            <a:ext cx="777240" cy="563880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594360" y="4085844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00000"/>
                </a:solidFill>
                <a:latin typeface="Arial"/>
              </a:rPr>
              <a:t>04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714499" y="3973068"/>
            <a:ext cx="9921240" cy="5638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1645919" y="3904488"/>
            <a:ext cx="9921240" cy="56388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1920240" y="3995928"/>
            <a:ext cx="93726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>
                <a:solidFill>
                  <a:srgbClr val="000000"/>
                </a:solidFill>
                <a:latin typeface="Calibri"/>
              </a:rPr>
              <a:t>Face — order its corners and explain the normal.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2940" y="4664964"/>
            <a:ext cx="777240" cy="5638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594360" y="4596384"/>
            <a:ext cx="777240" cy="563880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594360" y="4777740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00000"/>
                </a:solidFill>
                <a:latin typeface="Arial"/>
              </a:rPr>
              <a:t>05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714499" y="4664964"/>
            <a:ext cx="9921240" cy="5638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1645919" y="4596384"/>
            <a:ext cx="9921240" cy="56388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1920240" y="4687824"/>
            <a:ext cx="93726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>
                <a:solidFill>
                  <a:srgbClr val="000000"/>
                </a:solidFill>
                <a:latin typeface="Calibri"/>
              </a:rPr>
              <a:t>Solid — build a pyramid from four base corners and an apex. Add four side faces and a base; check closure.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62940" y="5356860"/>
            <a:ext cx="777240" cy="5638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594360" y="5288280"/>
            <a:ext cx="777240" cy="563880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594360" y="5469636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00000"/>
                </a:solidFill>
                <a:latin typeface="Arial"/>
              </a:rPr>
              <a:t>06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714499" y="5356860"/>
            <a:ext cx="9921240" cy="5638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1645919" y="5288280"/>
            <a:ext cx="9921240" cy="56388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1920240" y="5379720"/>
            <a:ext cx="93726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>
                <a:solidFill>
                  <a:srgbClr val="000000"/>
                </a:solidFill>
                <a:latin typeface="Calibri"/>
              </a:rPr>
              <a:t>Boolean — subtract the pyramid from a cube, revisiting CSG.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FFFD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FFFDF7"/>
                </a:solidFill>
                <a:latin typeface="Arial"/>
              </a:rPr>
              <a:t>THE SAME THING, WRITTEN OUT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B4B4AC"/>
                </a:solidFill>
                <a:latin typeface="Calibri"/>
              </a:rPr>
              <a:t>A mesh is two lists. That is the entire idea, and it fits on one slide.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897380"/>
            <a:ext cx="6858000" cy="379476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828800"/>
            <a:ext cx="6858000" cy="379476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86968" y="201168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ourier New"/>
              </a:rPr>
              <a:t>verts = [[-w, -d, 0],              # 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" y="228600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ourier New"/>
              </a:rPr>
              <a:t>         [ w, -d, 0],              #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560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ourier New"/>
              </a:rPr>
              <a:t>         [ w,  d, 0],              #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2834639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ourier New"/>
              </a:rPr>
              <a:t>         [-w,  d, 0],              # 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3108959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ourier New"/>
              </a:rPr>
              <a:t>         [ 0,  0, h]]              # 4  apex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" y="3383279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ourier New"/>
              </a:rPr>
              <a:t> 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6968" y="3657599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ourier New"/>
              </a:rPr>
              <a:t>faces = [[0, 1, 4], [1, 2, 4],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" y="3931919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ourier New"/>
              </a:rPr>
              <a:t>         [2, 3, 4], [3, 0, 4],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206239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ourier New"/>
              </a:rPr>
              <a:t>         [0, 3, 2, 1]]             # the base — do not forget 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6968" y="4480559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ourier New"/>
              </a:rPr>
              <a:t> 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6968" y="4754879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ourier New"/>
              </a:rPr>
              <a:t>pyramid = mesh(verts, faces)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6968" y="5029199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ourier New"/>
              </a:rPr>
              <a:t>result  = difference(cube, pyramid)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03819" y="1897380"/>
            <a:ext cx="3931920" cy="379476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7635240" y="1828800"/>
            <a:ext cx="3931920" cy="379476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7635240" y="1828800"/>
            <a:ext cx="3931920" cy="502920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7863840" y="1828800"/>
            <a:ext cx="34747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00000"/>
                </a:solidFill>
                <a:latin typeface="Arial"/>
              </a:rPr>
              <a:t>WHAT IT MAPS ONTO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63840" y="2514600"/>
            <a:ext cx="1691640" cy="2926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>
                <a:solidFill>
                  <a:srgbClr val="000000"/>
                </a:solidFill>
                <a:latin typeface="Calibri"/>
              </a:rPr>
              <a:t>point</a:t>
            </a:r>
          </a:p>
          <a:p>
            <a:pPr algn="l">
              <a:lnSpc>
                <a:spcPct val="140000"/>
              </a:lnSpc>
            </a:pPr>
            <a:r>
              <a:rPr sz="1200">
                <a:solidFill>
                  <a:srgbClr val="000000"/>
                </a:solidFill>
                <a:latin typeface="Calibri"/>
              </a:rPr>
              <a:t>vector</a:t>
            </a:r>
          </a:p>
          <a:p>
            <a:pPr algn="l">
              <a:lnSpc>
                <a:spcPct val="140000"/>
              </a:lnSpc>
            </a:pPr>
            <a:r>
              <a:rPr sz="1200">
                <a:solidFill>
                  <a:srgbClr val="000000"/>
                </a:solidFill>
                <a:latin typeface="Calibri"/>
              </a:rPr>
              <a:t>parameter</a:t>
            </a:r>
          </a:p>
          <a:p>
            <a:pPr algn="l">
              <a:lnSpc>
                <a:spcPct val="140000"/>
              </a:lnSpc>
            </a:pPr>
            <a:r>
              <a:rPr sz="1200">
                <a:solidFill>
                  <a:srgbClr val="000000"/>
                </a:solidFill>
                <a:latin typeface="Calibri"/>
              </a:rPr>
              <a:t>vertex</a:t>
            </a:r>
          </a:p>
          <a:p>
            <a:pPr algn="l">
              <a:lnSpc>
                <a:spcPct val="140000"/>
              </a:lnSpc>
            </a:pPr>
            <a:r>
              <a:rPr sz="1200">
                <a:solidFill>
                  <a:srgbClr val="000000"/>
                </a:solidFill>
                <a:latin typeface="Calibri"/>
              </a:rPr>
              <a:t>line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46920" y="2514600"/>
            <a:ext cx="1691640" cy="2926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>
                <a:solidFill>
                  <a:srgbClr val="000000"/>
                </a:solidFill>
                <a:latin typeface="Calibri"/>
              </a:rPr>
              <a:t>edge</a:t>
            </a:r>
          </a:p>
          <a:p>
            <a:pPr algn="l">
              <a:lnSpc>
                <a:spcPct val="140000"/>
              </a:lnSpc>
            </a:pPr>
            <a:r>
              <a:rPr sz="1200">
                <a:solidFill>
                  <a:srgbClr val="000000"/>
                </a:solidFill>
                <a:latin typeface="Calibri"/>
              </a:rPr>
              <a:t>face</a:t>
            </a:r>
          </a:p>
          <a:p>
            <a:pPr algn="l">
              <a:lnSpc>
                <a:spcPct val="140000"/>
              </a:lnSpc>
            </a:pPr>
            <a:r>
              <a:rPr sz="1200">
                <a:solidFill>
                  <a:srgbClr val="000000"/>
                </a:solidFill>
                <a:latin typeface="Calibri"/>
              </a:rPr>
              <a:t>mesh</a:t>
            </a:r>
          </a:p>
          <a:p>
            <a:pPr algn="l">
              <a:lnSpc>
                <a:spcPct val="140000"/>
              </a:lnSpc>
            </a:pPr>
            <a:r>
              <a:rPr sz="1200">
                <a:solidFill>
                  <a:srgbClr val="000000"/>
                </a:solidFill>
                <a:latin typeface="Calibri"/>
              </a:rPr>
              <a:t>solid</a:t>
            </a:r>
          </a:p>
          <a:p>
            <a:pPr algn="l">
              <a:lnSpc>
                <a:spcPct val="140000"/>
              </a:lnSpc>
            </a:pPr>
            <a:r>
              <a:rPr sz="1200">
                <a:solidFill>
                  <a:srgbClr val="000000"/>
                </a:solidFill>
                <a:latin typeface="Calibri"/>
              </a:rPr>
              <a:t>normal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62940" y="5966460"/>
            <a:ext cx="10972800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594360" y="5897880"/>
            <a:ext cx="10972800" cy="566928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777240" y="5897880"/>
            <a:ext cx="106070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Arial"/>
              </a:rPr>
              <a:t>verts IS A LIST OF POSITIONS. faces IS A LIST OF INDICES INTO IT.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62940" y="635508"/>
            <a:ext cx="2194560" cy="38404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94360" y="566928"/>
            <a:ext cx="2194560" cy="384048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Arial"/>
              </a:rPr>
              <a:t>ISSUED TODAY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152144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>
                <a:solidFill>
                  <a:srgbClr val="FFFDF7"/>
                </a:solidFill>
                <a:latin typeface="Arial"/>
              </a:rPr>
              <a:t>P3a — DESCRIPTIVE GEOMETRY MODULE — MATERIAL AND LIGHTING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810512"/>
            <a:ext cx="10972800" cy="0"/>
          </a:xfrm>
          <a:prstGeom prst="rect">
            <a:avLst/>
          </a:prstGeom>
          <a:noFill/>
          <a:ln w="50800">
            <a:solidFill>
              <a:srgbClr val="FFFD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929384"/>
            <a:ext cx="109728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FE500"/>
                </a:solidFill>
                <a:latin typeface="Arial"/>
              </a:rPr>
              <a:t>DUE WEEK 6 — Sep 29   /   7%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377440"/>
            <a:ext cx="106070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>
                <a:solidFill>
                  <a:srgbClr val="FFFDF7"/>
                </a:solidFill>
                <a:latin typeface="Calibri"/>
              </a:rPr>
              <a:t>Find a simple panel in a built precedent and rebuild it from two lists — points and faces — driven by parameters. Present it on one sheet: one studio render, one material and a deliberate lighting setup.</a:t>
            </a:r>
          </a:p>
        </p:txBody>
      </p:sp>
      <p:sp>
        <p:nvSpPr>
          <p:cNvPr id="9" name="Rectangle 8"/>
          <p:cNvSpPr/>
          <p:nvPr/>
        </p:nvSpPr>
        <p:spPr>
          <a:xfrm>
            <a:off x="662940" y="3680460"/>
            <a:ext cx="2585466" cy="4114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94360" y="3611880"/>
            <a:ext cx="2585466" cy="411480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94360" y="3717036"/>
            <a:ext cx="258546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Arial"/>
              </a:rPr>
              <a:t>FIND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2940" y="4183380"/>
            <a:ext cx="2585466" cy="146304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94360" y="4114800"/>
            <a:ext cx="2585466" cy="146304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50392" y="4279392"/>
            <a:ext cx="207340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Arial"/>
              </a:rPr>
              <a:t>A PANEL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" y="4663440"/>
            <a:ext cx="207340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>
                <a:solidFill>
                  <a:srgbClr val="000000"/>
                </a:solidFill>
                <a:latin typeface="Calibri"/>
              </a:rPr>
              <a:t>One precedent, simple. It has to tile 2 × 2, edge to edge.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58718" y="3680460"/>
            <a:ext cx="2585466" cy="4114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3390138" y="3611880"/>
            <a:ext cx="2585466" cy="411480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3390138" y="3717036"/>
            <a:ext cx="258546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Arial"/>
              </a:rPr>
              <a:t>DECIDE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458718" y="4183380"/>
            <a:ext cx="2585466" cy="146304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3390138" y="4114800"/>
            <a:ext cx="2585466" cy="146304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3646170" y="4279392"/>
            <a:ext cx="207340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Arial"/>
              </a:rPr>
              <a:t>WHAT MOVES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46170" y="4663440"/>
            <a:ext cx="207340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>
                <a:solidFill>
                  <a:srgbClr val="000000"/>
                </a:solidFill>
                <a:latin typeface="Calibri"/>
              </a:rPr>
              <a:t>Parameters first. One must change its shape, not its box.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54496" y="3680460"/>
            <a:ext cx="2585466" cy="4114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6185916" y="3611880"/>
            <a:ext cx="2585466" cy="411480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185916" y="3717036"/>
            <a:ext cx="258546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Arial"/>
              </a:rPr>
              <a:t>BUILD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54496" y="4183380"/>
            <a:ext cx="2585466" cy="146304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6185916" y="4114800"/>
            <a:ext cx="2585466" cy="146304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441948" y="4279392"/>
            <a:ext cx="207340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Arial"/>
              </a:rPr>
              <a:t>FROM TWO LISTS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41948" y="4663440"/>
            <a:ext cx="207340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>
                <a:solidFill>
                  <a:srgbClr val="000000"/>
                </a:solidFill>
                <a:latin typeface="Calibri"/>
              </a:rPr>
              <a:t>Every point calculated from the parameters. Closed mesh.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050274" y="3680460"/>
            <a:ext cx="2585466" cy="4114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Rectangle 30"/>
          <p:cNvSpPr/>
          <p:nvPr/>
        </p:nvSpPr>
        <p:spPr>
          <a:xfrm>
            <a:off x="8981694" y="3611880"/>
            <a:ext cx="2585466" cy="411480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8981694" y="3717036"/>
            <a:ext cx="258546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Arial"/>
              </a:rPr>
              <a:t>PRESENT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050274" y="4183380"/>
            <a:ext cx="2585466" cy="146304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8981694" y="4114800"/>
            <a:ext cx="2585466" cy="146304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9237726" y="4279392"/>
            <a:ext cx="207340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Arial"/>
              </a:rPr>
              <a:t>ONE RENDER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37726" y="4663440"/>
            <a:ext cx="207340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>
                <a:solidFill>
                  <a:srgbClr val="000000"/>
                </a:solidFill>
                <a:latin typeface="Calibri"/>
              </a:rPr>
              <a:t>Ground plane, one material, lighting chosen on purpose.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000000"/>
                </a:solidFill>
                <a:latin typeface="Arial"/>
              </a:rPr>
              <a:t>REQUIREMENTS — P3a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6B6B6B"/>
                </a:solidFill>
                <a:latin typeface="Calibri"/>
              </a:rPr>
              <a:t>Visual quality 35% · computational understanding 25% · technical execution 20% · experimentation 10% · requirements and identity 10%.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851660"/>
            <a:ext cx="777240" cy="5791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783080"/>
            <a:ext cx="777240" cy="579120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94360" y="1972056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00000"/>
                </a:solidFill>
                <a:latin typeface="Arial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1714499" y="1851660"/>
            <a:ext cx="9921240" cy="5791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1645919" y="1783080"/>
            <a:ext cx="9921240" cy="57912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920240" y="1874519"/>
            <a:ext cx="9372600" cy="39623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000000"/>
                </a:solidFill>
                <a:latin typeface="Calibri"/>
              </a:rPr>
              <a:t>Choose a simple panel from a built precedent that tiles edge to edge in a 2 × 2 grid. Credit the building, architect and source.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2940" y="2577084"/>
            <a:ext cx="777240" cy="5791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594360" y="2508504"/>
            <a:ext cx="777240" cy="579120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94360" y="2697479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00000"/>
                </a:solidFill>
                <a:latin typeface="Arial"/>
              </a:rPr>
              <a:t>02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714499" y="2577084"/>
            <a:ext cx="9921240" cy="5791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1645919" y="2508504"/>
            <a:ext cx="9921240" cy="57912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920240" y="2599944"/>
            <a:ext cx="9372600" cy="39623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000000"/>
                </a:solidFill>
                <a:latin typeface="Calibri"/>
              </a:rPr>
              <a:t>Define parameters first and explain each. Include a shape control such as aperture, fold depth or corner offset, beyond overall dimensions.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62940" y="3302508"/>
            <a:ext cx="777240" cy="5791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94360" y="3233928"/>
            <a:ext cx="777240" cy="579120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94360" y="3422904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00000"/>
                </a:solidFill>
                <a:latin typeface="Arial"/>
              </a:rPr>
              <a:t>03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714499" y="3302508"/>
            <a:ext cx="9921240" cy="5791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1645919" y="3233928"/>
            <a:ext cx="9921240" cy="57912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1920240" y="3325368"/>
            <a:ext cx="9372600" cy="39623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000000"/>
                </a:solidFill>
                <a:latin typeface="Calibri"/>
              </a:rPr>
              <a:t>Build an editable, closed mesh from explicit point and face lists. Calculate point positions from the parameters.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62940" y="4027932"/>
            <a:ext cx="777240" cy="5791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594360" y="3959352"/>
            <a:ext cx="777240" cy="579120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594360" y="4148328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00000"/>
                </a:solidFill>
                <a:latin typeface="Arial"/>
              </a:rPr>
              <a:t>04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714499" y="4027932"/>
            <a:ext cx="9921240" cy="5791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1645919" y="3959352"/>
            <a:ext cx="9921240" cy="57912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1920240" y="4050791"/>
            <a:ext cx="9372600" cy="39623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000000"/>
                </a:solidFill>
                <a:latin typeface="Calibri"/>
              </a:rPr>
              <a:t>State the ranges where the module closes and tiles. Diagram low, middle and high values of a shape parameter.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2940" y="4753356"/>
            <a:ext cx="777240" cy="5791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594360" y="4684776"/>
            <a:ext cx="777240" cy="579120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594360" y="487375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00000"/>
                </a:solidFill>
                <a:latin typeface="Arial"/>
              </a:rPr>
              <a:t>05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714499" y="4753356"/>
            <a:ext cx="9921240" cy="5791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1645919" y="4684776"/>
            <a:ext cx="9921240" cy="57912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1920240" y="4776215"/>
            <a:ext cx="9372600" cy="39623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000000"/>
                </a:solidFill>
                <a:latin typeface="Calibri"/>
              </a:rPr>
              <a:t>Use one 17 × 11 inch sheet with one studio render of the module on a ground plane — one material, a deliberate lighting setup (key, fill and rim, or one sun and sky) and no entourage. Record the material and light settings on the sheet.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62940" y="5478780"/>
            <a:ext cx="777240" cy="5791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594360" y="5410199"/>
            <a:ext cx="777240" cy="579120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594360" y="5599176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00000"/>
                </a:solidFill>
                <a:latin typeface="Arial"/>
              </a:rPr>
              <a:t>06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714499" y="5478780"/>
            <a:ext cx="9921240" cy="5791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1645919" y="5410199"/>
            <a:ext cx="9921240" cy="57912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1920240" y="5501639"/>
            <a:ext cx="9372600" cy="39623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000000"/>
                </a:solidFill>
                <a:latin typeface="Calibri"/>
              </a:rPr>
              <a:t>Beside the render, show point and face lists, a parameter table and the vertex order of one face. Explain normals, closure and reversed face winding.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D9E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000000"/>
                </a:solidFill>
                <a:latin typeface="Arial"/>
              </a:rPr>
              <a:t>NOW — BUILD THE PYRAMID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69164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>
                <a:solidFill>
                  <a:srgbClr val="000000"/>
                </a:solidFill>
                <a:latin typeface="Calibri"/>
              </a:rPr>
              <a:t>Rest of the class: from a single point to a closed solid that cuts.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2354580"/>
            <a:ext cx="621792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2286000"/>
            <a:ext cx="621792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94360" y="2468880"/>
            <a:ext cx="6217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✓</a:t>
            </a:r>
          </a:p>
        </p:txBody>
      </p:sp>
      <p:sp>
        <p:nvSpPr>
          <p:cNvPr id="8" name="Rectangle 7"/>
          <p:cNvSpPr/>
          <p:nvPr/>
        </p:nvSpPr>
        <p:spPr>
          <a:xfrm>
            <a:off x="1559051" y="2354580"/>
            <a:ext cx="10076688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1490472" y="2286000"/>
            <a:ext cx="10076688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764792" y="2286000"/>
            <a:ext cx="952804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>
                <a:solidFill>
                  <a:srgbClr val="000000"/>
                </a:solidFill>
                <a:latin typeface="Calibri"/>
              </a:rPr>
              <a:t>One point placed from an XYZ vector, and you can say why it is a position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2940" y="3067812"/>
            <a:ext cx="621792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594360" y="2999232"/>
            <a:ext cx="621792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94360" y="3182112"/>
            <a:ext cx="6217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✓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559051" y="3067812"/>
            <a:ext cx="10076688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1490472" y="2999232"/>
            <a:ext cx="10076688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764792" y="2999232"/>
            <a:ext cx="952804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>
                <a:solidFill>
                  <a:srgbClr val="000000"/>
                </a:solidFill>
                <a:latin typeface="Calibri"/>
              </a:rPr>
              <a:t>Four base corners and an apex, with Width / Depth / Height exposed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62940" y="3781044"/>
            <a:ext cx="621792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94360" y="3712464"/>
            <a:ext cx="621792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94360" y="3895344"/>
            <a:ext cx="6217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✓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559051" y="3781044"/>
            <a:ext cx="10076688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1490472" y="3712464"/>
            <a:ext cx="10076688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1764792" y="3712464"/>
            <a:ext cx="952804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>
                <a:solidFill>
                  <a:srgbClr val="000000"/>
                </a:solidFill>
                <a:latin typeface="Calibri"/>
              </a:rPr>
              <a:t>All five faces joined — four sides and the base — and closure checked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62940" y="4494276"/>
            <a:ext cx="621792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594360" y="4425696"/>
            <a:ext cx="621792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594360" y="4608576"/>
            <a:ext cx="6217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✓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559051" y="4494276"/>
            <a:ext cx="10076688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1490472" y="4425696"/>
            <a:ext cx="10076688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1764792" y="4425696"/>
            <a:ext cx="952804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>
                <a:solidFill>
                  <a:srgbClr val="000000"/>
                </a:solidFill>
                <a:latin typeface="Calibri"/>
              </a:rPr>
              <a:t>Cube minus pyramid working, off the same three inputs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2940" y="5207508"/>
            <a:ext cx="621792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594360" y="5138928"/>
            <a:ext cx="621792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594360" y="5321808"/>
            <a:ext cx="6217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✓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559051" y="5207508"/>
            <a:ext cx="10076688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1490472" y="5138928"/>
            <a:ext cx="10076688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1764792" y="5138928"/>
            <a:ext cx="952804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>
                <a:solidFill>
                  <a:srgbClr val="000000"/>
                </a:solidFill>
                <a:latin typeface="Calibri"/>
              </a:rPr>
              <a:t>P2a submitted, and your P3a precedent panel chosen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62940" y="6012180"/>
            <a:ext cx="8412480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594360" y="5943600"/>
            <a:ext cx="8412480" cy="566928"/>
          </a:xfrm>
          <a:prstGeom prst="rect">
            <a:avLst/>
          </a:prstGeom>
          <a:solidFill>
            <a:srgbClr val="0000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594360" y="5943600"/>
            <a:ext cx="841248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00D9E1"/>
                </a:solidFill>
                <a:latin typeface="Arial"/>
              </a:rPr>
              <a:t>LEAVE WITH A SOLID THAT CUTS. THE SHEET IS THE EASY PART.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000000"/>
                </a:solidFill>
                <a:latin typeface="Arial"/>
              </a:rPr>
              <a:t>BEFORE NEXT CLASS</a:t>
            </a:r>
          </a:p>
        </p:txBody>
      </p:sp>
      <p:sp>
        <p:nvSpPr>
          <p:cNvPr id="4" name="Rectangle 3"/>
          <p:cNvSpPr/>
          <p:nvPr/>
        </p:nvSpPr>
        <p:spPr>
          <a:xfrm>
            <a:off x="662940" y="1851660"/>
            <a:ext cx="150876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594360" y="1783080"/>
            <a:ext cx="1508760" cy="804672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94360" y="2084831"/>
            <a:ext cx="1508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Arial"/>
              </a:rPr>
              <a:t>NEXT</a:t>
            </a:r>
          </a:p>
        </p:txBody>
      </p:sp>
      <p:sp>
        <p:nvSpPr>
          <p:cNvPr id="7" name="Rectangle 6"/>
          <p:cNvSpPr/>
          <p:nvPr/>
        </p:nvSpPr>
        <p:spPr>
          <a:xfrm>
            <a:off x="2446020" y="1851660"/>
            <a:ext cx="918972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2377440" y="1783080"/>
            <a:ext cx="9189720" cy="804672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2651760" y="1901952"/>
            <a:ext cx="86410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Week 5 continues descriptive geometry. We move from the pyramid to your own module, then set up its material and lighting for the P3a sheet.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62940" y="2912364"/>
            <a:ext cx="150876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94360" y="2843784"/>
            <a:ext cx="1508760" cy="804672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94360" y="3145536"/>
            <a:ext cx="1508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Arial"/>
              </a:rPr>
              <a:t>FIND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446020" y="2912364"/>
            <a:ext cx="918972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2377440" y="2843784"/>
            <a:ext cx="9189720" cy="804672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2651760" y="2962656"/>
            <a:ext cx="86410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Your panel. One building, one repeating component, simple enough to write as two lists, and it has to tile 2 × 2. Credit the building, architect and source.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2940" y="3973068"/>
            <a:ext cx="150876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94360" y="3904487"/>
            <a:ext cx="1508760" cy="804672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94360" y="4206240"/>
            <a:ext cx="1508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Arial"/>
              </a:rPr>
              <a:t>BUILD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446020" y="3973068"/>
            <a:ext cx="918972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2377440" y="3904487"/>
            <a:ext cx="9189720" cy="804672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2651760" y="4023359"/>
            <a:ext cx="86410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Start your module: parameters written down first, then the point list. Bring the file — next class we close it, light it and render it.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62940" y="5033772"/>
            <a:ext cx="150876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94360" y="4965192"/>
            <a:ext cx="1508760" cy="804672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594360" y="5266944"/>
            <a:ext cx="1508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Arial"/>
              </a:rPr>
              <a:t>DUE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446020" y="5033772"/>
            <a:ext cx="918972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2377440" y="4965192"/>
            <a:ext cx="9189720" cy="804672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2651760" y="5084064"/>
            <a:ext cx="86410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P2a is due today. P3a, the module sheet: DUE WEEK 6 — Sep 29   /   7%.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