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04  /  SEP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MODULE 1 — FIELDS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TILING + ARRAYS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BRING YOUR PRECEDENT — WE MODEL IT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0.1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1.1 ISSUED TODAY  /  TILING + ARRAYS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WHERE WE JUST MOVED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Module 0 is finished. The ground has changed.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34924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34924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349240" cy="502920"/>
          </a:xfrm>
          <a:prstGeom prst="rect">
            <a:avLst/>
          </a:prstGeom>
          <a:solidFill>
            <a:srgbClr val="B4B4AC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MODULE 0 — 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PROCEDURAL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4800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A fixed sequence of operations.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You defined the steps.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One expected 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86500" y="1943100"/>
            <a:ext cx="534924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34924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17920" y="1874519"/>
            <a:ext cx="53492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46520" y="1874519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MODULES 1–3 —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14600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PARAMETRIC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4800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Relationships between inputs and form.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You define the rules of variation.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A family — you know the range,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not each member.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An array on its own is still procedural — repeat this N times. It becomes parametric the moment a parameter governs how the copies differ.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AN ARRAY IS A LIST OF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Not a command that duplicates things. A list you compute, then place geometry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1206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1206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1206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INDEX  → 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0   →   p = start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1   →   p = start + step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2   →   p = start + 2 × step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3   →   p = start + 3 × step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 b="1">
                <a:solidFill>
                  <a:srgbClr val="000000"/>
                </a:solidFill>
                <a:latin typeface="Courier New"/>
              </a:rPr>
              <a:t>p[i] = start + i ×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1851660"/>
            <a:ext cx="55321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35040" y="1783080"/>
            <a:ext cx="55321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035040" y="1783080"/>
            <a:ext cx="553212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178308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YOU ALREADY KNOW THIS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87168"/>
            <a:ext cx="49834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Move is addition. An array is move, repeated, with the amount driven by the index.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The index is the only new idea: a counter that tells each copy how far along the sequence it is — and therefore how different it should be.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The index is what makes variation possible. Without it every copy is the same copy.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 TILING IS ONE TILE PLUS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Escher fills a plane with the same shape, over and over. So does a brick wall.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THE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1488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One part, repeated. A panel, a brick, a shingle. Simple on purpose — it is about to be copied a thousand times.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186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383279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2514600"/>
            <a:ext cx="21488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How copies are placed relative to each other. Spacing, offset, rotation, course. Say it in one sentence.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78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THE SEAM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14600"/>
            <a:ext cx="21488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Where two copies meet. A tile that tiles resolves at the seam. One that merely repeats leaves a gap or a collision.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970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96112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ALWAYS THE SAME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514600"/>
            <a:ext cx="21488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Every copy is identical. Panels that change shape across a curved surface are Module 3 — a different, harder problem.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25780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D9E1"/>
                </a:solidFill>
                <a:latin typeface="Arial"/>
              </a:rPr>
              <a:t>IF YOU CANNOT DRAW ONE TILE AND SAY HOW THE NEXT ONE SITS AGAINST IT, YOU DO NOT HAVE A TILING.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FROM FAÇADE TO TILE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You brought the building. Four steps to get from it to one small object.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77724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777240" cy="8686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625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97380"/>
            <a:ext cx="992124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28800"/>
            <a:ext cx="9921240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47672"/>
            <a:ext cx="9372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FLATTEN THE ELEVATION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286000"/>
            <a:ext cx="9372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One photograph, straight on. Perspective hides the repeat — correct it or find a drawing.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2903220"/>
            <a:ext cx="77724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2834640"/>
            <a:ext cx="777240" cy="8686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" y="316839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14499" y="2903220"/>
            <a:ext cx="992124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645919" y="2834640"/>
            <a:ext cx="9921240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20240" y="2953512"/>
            <a:ext cx="9372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OUTLINE THE REPEATED PART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291840"/>
            <a:ext cx="9372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Slide a rectangle across the façade until it lands on itself. Inside it is the part you are after.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3909060"/>
            <a:ext cx="77724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3840480"/>
            <a:ext cx="777240" cy="8686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417423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499" y="3909060"/>
            <a:ext cx="992124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645919" y="3840480"/>
            <a:ext cx="9921240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20240" y="3959352"/>
            <a:ext cx="9372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DIMENSION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4297680"/>
            <a:ext cx="9372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Width, height, depth, and how the next one sits against it. Real millimetres, from a drawing or a scale figure.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" y="4914900"/>
            <a:ext cx="77724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94360" y="4846320"/>
            <a:ext cx="777240" cy="8686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60" y="518007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14499" y="4914900"/>
            <a:ext cx="992124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645919" y="4846320"/>
            <a:ext cx="9921240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920240" y="4965192"/>
            <a:ext cx="9372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DESIGN YOUR 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303520"/>
            <a:ext cx="9372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Not a trace. Your tile, driven by theirs. Three to five primitives, at the origin, manifold, closed.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" y="601218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4360" y="5943600"/>
            <a:ext cx="1097280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EVERY FACE YOU ADD IS PAID FOR A THOUSAND TIMES. KEEP THE TILE CHEAP.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FOUR ARRAYS, PICK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tile, four ways of generating the list of positions. You build three.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CARTESIAN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p[i][j] = p₀ + (i·dx, j·dy)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186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383279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RADIAL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p[i] = c + r·(cos θ, sin θ)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78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offset odd rows by dx/2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970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96112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ON CURVE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p[i] = curve at t = i/n</a:t>
            </a:r>
          </a:p>
        </p:txBody>
      </p:sp>
      <p:sp>
        <p:nvSpPr>
          <p:cNvPr id="25" name="Oval 24"/>
          <p:cNvSpPr/>
          <p:nvPr/>
        </p:nvSpPr>
        <p:spPr>
          <a:xfrm>
            <a:off x="104698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046988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04698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046988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698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357884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1357884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1357884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357884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357884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668780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1668780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1668780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668780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668780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979676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1979676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1979676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1979676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979676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2290572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2290572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2290572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2290572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2290572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260146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2601468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260146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2601468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260146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07400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073144" y="33721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5070563" y="3398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5066274" y="3424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5060296" y="34499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5052653" y="34751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5043379" y="3499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5032513" y="35237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020102" y="35469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5006199" y="3569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4990864" y="35907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4974161" y="36110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4956164" y="36302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4936948" y="3648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4916596" y="36649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4895195" y="368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4872837" y="369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4849618" y="3706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4825636" y="37174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4800996" y="37267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4775801" y="3734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4750161" y="37403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4724184" y="37446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4697983" y="37472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4671669" y="37481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4645355" y="37472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4619154" y="37446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4593177" y="37403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4567537" y="3734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4542342" y="37267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4517702" y="37174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4493720" y="3706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4470501" y="369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4448143" y="368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426742" y="36649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4406391" y="3648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4387175" y="36302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4369177" y="36110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4352474" y="35907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4337139" y="3569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4323236" y="35469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4310825" y="35237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4299959" y="3499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4290685" y="34751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4283042" y="34499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4277064" y="3424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4272775" y="3398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4270195" y="33721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4269333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4270195" y="33194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4272775" y="3293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4277064" y="3267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4283042" y="32416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4290685" y="32164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4299959" y="3191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4310825" y="31678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4323236" y="31446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4337139" y="31222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4352474" y="31008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4369177" y="30805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4387175" y="30612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4406391" y="3043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4426742" y="30265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4448143" y="301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4470501" y="299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4493720" y="2984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4517702" y="29740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4542342" y="29648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4567537" y="2957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4593177" y="29511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4619154" y="29468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4645355" y="2944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4671669" y="29434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4697983" y="2944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4724184" y="29468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4750161" y="29511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4775801" y="2957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4800996" y="29648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4825636" y="29740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4849618" y="2984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4872837" y="299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4895195" y="301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4916596" y="30265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4936948" y="3043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4956164" y="30612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4974161" y="30805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4990864" y="31008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5006199" y="31222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5020102" y="31446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5032513" y="31678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5043379" y="3191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5052653" y="32164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5060296" y="32416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5066274" y="3267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5070563" y="3293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5073144" y="33194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5403189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5401623" y="3393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5396931" y="344127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5389133" y="34885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5378263" y="35351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5364367" y="35809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5347505" y="36257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5327749" y="36693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5305184" y="37115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5279906" y="37522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5252023" y="37911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5221655" y="38281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5188932" y="38630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5153994" y="38957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5116990" y="39261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5078080" y="39540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5037429" y="3979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4995212" y="40018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4951610" y="40216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4906808" y="40384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4861000" y="40523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4814382" y="40632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4767152" y="4071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4719513" y="40757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4671669" y="40773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4623825" y="40757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4576187" y="4071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4528957" y="40632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4482338" y="40523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4436530" y="40384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4391729" y="40216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4348126" y="40018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4305909" y="3979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4265258" y="39540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4226348" y="39261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4189344" y="38957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4154406" y="38630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4121683" y="38281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4091315" y="37911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4063432" y="37522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4038154" y="37115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4015589" y="36693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3995833" y="36257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3978971" y="35809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3965075" y="35351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3954205" y="34885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3946407" y="344127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3941715" y="3393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3940149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3941715" y="3297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3946407" y="32503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3954205" y="32030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3965075" y="31564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3978971" y="31106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3995833" y="30658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4015589" y="30222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4038154" y="29800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4063432" y="29393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4091315" y="29004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4121683" y="28634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4154406" y="28285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4189344" y="27958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4226348" y="27654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4265258" y="27375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4305909" y="2712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4348126" y="26897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4391729" y="26699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4436530" y="26530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4482338" y="26391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4528957" y="26283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4576187" y="2620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4623825" y="26158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4671669" y="26142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4719513" y="26158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4767152" y="2620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4814382" y="26283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4861000" y="26391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4906808" y="26530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4951610" y="26699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4995212" y="26897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5037429" y="2712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5078080" y="27375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5116990" y="27654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5153994" y="27958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5188932" y="28285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5221655" y="28634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5252023" y="29004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5279906" y="29393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5305184" y="29800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5327749" y="30222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5347505" y="30658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5364367" y="31106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5378263" y="31564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5389133" y="32030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5396931" y="32503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5401623" y="3297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5732373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5730102" y="3415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5723299" y="34842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5711992" y="35527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5696230" y="362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5676082" y="36867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5651632" y="37517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5622986" y="38149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5590266" y="38761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5553612" y="39350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5513182" y="39915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5469149" y="4045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5421700" y="40958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5371040" y="41432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5317385" y="41873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5260965" y="42277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5202021" y="42643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5140806" y="42971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5077583" y="43257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5012621" y="4350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4946199" y="43703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4878602" y="43861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4810119" y="43974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4741042" y="440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4671669" y="44064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4602296" y="440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4533219" y="43974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4464736" y="43861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4397139" y="43703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4330717" y="4350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4265755" y="43257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4202532" y="42971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4141317" y="42643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4082374" y="42277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4025953" y="41873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Oval 281"/>
          <p:cNvSpPr/>
          <p:nvPr/>
        </p:nvSpPr>
        <p:spPr>
          <a:xfrm>
            <a:off x="3972298" y="41432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Oval 282"/>
          <p:cNvSpPr/>
          <p:nvPr/>
        </p:nvSpPr>
        <p:spPr>
          <a:xfrm>
            <a:off x="3921638" y="40958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Oval 283"/>
          <p:cNvSpPr/>
          <p:nvPr/>
        </p:nvSpPr>
        <p:spPr>
          <a:xfrm>
            <a:off x="3874190" y="4045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Oval 284"/>
          <p:cNvSpPr/>
          <p:nvPr/>
        </p:nvSpPr>
        <p:spPr>
          <a:xfrm>
            <a:off x="3830156" y="39915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Oval 285"/>
          <p:cNvSpPr/>
          <p:nvPr/>
        </p:nvSpPr>
        <p:spPr>
          <a:xfrm>
            <a:off x="3789726" y="39350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Oval 286"/>
          <p:cNvSpPr/>
          <p:nvPr/>
        </p:nvSpPr>
        <p:spPr>
          <a:xfrm>
            <a:off x="3753072" y="38761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Oval 287"/>
          <p:cNvSpPr/>
          <p:nvPr/>
        </p:nvSpPr>
        <p:spPr>
          <a:xfrm>
            <a:off x="3720353" y="38149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Oval 288"/>
          <p:cNvSpPr/>
          <p:nvPr/>
        </p:nvSpPr>
        <p:spPr>
          <a:xfrm>
            <a:off x="3691706" y="37517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Oval 289"/>
          <p:cNvSpPr/>
          <p:nvPr/>
        </p:nvSpPr>
        <p:spPr>
          <a:xfrm>
            <a:off x="3667257" y="36867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Oval 290"/>
          <p:cNvSpPr/>
          <p:nvPr/>
        </p:nvSpPr>
        <p:spPr>
          <a:xfrm>
            <a:off x="3647108" y="362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Oval 291"/>
          <p:cNvSpPr/>
          <p:nvPr/>
        </p:nvSpPr>
        <p:spPr>
          <a:xfrm>
            <a:off x="3631346" y="35527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Oval 292"/>
          <p:cNvSpPr/>
          <p:nvPr/>
        </p:nvSpPr>
        <p:spPr>
          <a:xfrm>
            <a:off x="3620040" y="34842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Oval 293"/>
          <p:cNvSpPr/>
          <p:nvPr/>
        </p:nvSpPr>
        <p:spPr>
          <a:xfrm>
            <a:off x="3613236" y="3415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Oval 294"/>
          <p:cNvSpPr/>
          <p:nvPr/>
        </p:nvSpPr>
        <p:spPr>
          <a:xfrm>
            <a:off x="361096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Oval 295"/>
          <p:cNvSpPr/>
          <p:nvPr/>
        </p:nvSpPr>
        <p:spPr>
          <a:xfrm>
            <a:off x="3613236" y="3276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Oval 296"/>
          <p:cNvSpPr/>
          <p:nvPr/>
        </p:nvSpPr>
        <p:spPr>
          <a:xfrm>
            <a:off x="3620040" y="32073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Oval 297"/>
          <p:cNvSpPr/>
          <p:nvPr/>
        </p:nvSpPr>
        <p:spPr>
          <a:xfrm>
            <a:off x="3631346" y="31388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Oval 298"/>
          <p:cNvSpPr/>
          <p:nvPr/>
        </p:nvSpPr>
        <p:spPr>
          <a:xfrm>
            <a:off x="3647108" y="307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Oval 299"/>
          <p:cNvSpPr/>
          <p:nvPr/>
        </p:nvSpPr>
        <p:spPr>
          <a:xfrm>
            <a:off x="3667257" y="30048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Oval 300"/>
          <p:cNvSpPr/>
          <p:nvPr/>
        </p:nvSpPr>
        <p:spPr>
          <a:xfrm>
            <a:off x="3691706" y="29398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Oval 301"/>
          <p:cNvSpPr/>
          <p:nvPr/>
        </p:nvSpPr>
        <p:spPr>
          <a:xfrm>
            <a:off x="3720353" y="28766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Oval 302"/>
          <p:cNvSpPr/>
          <p:nvPr/>
        </p:nvSpPr>
        <p:spPr>
          <a:xfrm>
            <a:off x="3753072" y="28154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Oval 303"/>
          <p:cNvSpPr/>
          <p:nvPr/>
        </p:nvSpPr>
        <p:spPr>
          <a:xfrm>
            <a:off x="3789726" y="27564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Oval 304"/>
          <p:cNvSpPr/>
          <p:nvPr/>
        </p:nvSpPr>
        <p:spPr>
          <a:xfrm>
            <a:off x="3830156" y="27000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Oval 305"/>
          <p:cNvSpPr/>
          <p:nvPr/>
        </p:nvSpPr>
        <p:spPr>
          <a:xfrm>
            <a:off x="3874190" y="26464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Oval 306"/>
          <p:cNvSpPr/>
          <p:nvPr/>
        </p:nvSpPr>
        <p:spPr>
          <a:xfrm>
            <a:off x="3921638" y="25957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Oval 307"/>
          <p:cNvSpPr/>
          <p:nvPr/>
        </p:nvSpPr>
        <p:spPr>
          <a:xfrm>
            <a:off x="3972298" y="2548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Oval 308"/>
          <p:cNvSpPr/>
          <p:nvPr/>
        </p:nvSpPr>
        <p:spPr>
          <a:xfrm>
            <a:off x="4025953" y="25042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Oval 309"/>
          <p:cNvSpPr/>
          <p:nvPr/>
        </p:nvSpPr>
        <p:spPr>
          <a:xfrm>
            <a:off x="4082374" y="24638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Oval 310"/>
          <p:cNvSpPr/>
          <p:nvPr/>
        </p:nvSpPr>
        <p:spPr>
          <a:xfrm>
            <a:off x="4141317" y="24271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Oval 311"/>
          <p:cNvSpPr/>
          <p:nvPr/>
        </p:nvSpPr>
        <p:spPr>
          <a:xfrm>
            <a:off x="4202532" y="23944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Oval 312"/>
          <p:cNvSpPr/>
          <p:nvPr/>
        </p:nvSpPr>
        <p:spPr>
          <a:xfrm>
            <a:off x="4265755" y="23658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Oval 313"/>
          <p:cNvSpPr/>
          <p:nvPr/>
        </p:nvSpPr>
        <p:spPr>
          <a:xfrm>
            <a:off x="4330717" y="23413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Oval 314"/>
          <p:cNvSpPr/>
          <p:nvPr/>
        </p:nvSpPr>
        <p:spPr>
          <a:xfrm>
            <a:off x="4397139" y="23212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Oval 315"/>
          <p:cNvSpPr/>
          <p:nvPr/>
        </p:nvSpPr>
        <p:spPr>
          <a:xfrm>
            <a:off x="4464736" y="23054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Oval 316"/>
          <p:cNvSpPr/>
          <p:nvPr/>
        </p:nvSpPr>
        <p:spPr>
          <a:xfrm>
            <a:off x="4533219" y="2294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Oval 317"/>
          <p:cNvSpPr/>
          <p:nvPr/>
        </p:nvSpPr>
        <p:spPr>
          <a:xfrm>
            <a:off x="4602296" y="228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Oval 318"/>
          <p:cNvSpPr/>
          <p:nvPr/>
        </p:nvSpPr>
        <p:spPr>
          <a:xfrm>
            <a:off x="4671669" y="22850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Oval 319"/>
          <p:cNvSpPr/>
          <p:nvPr/>
        </p:nvSpPr>
        <p:spPr>
          <a:xfrm>
            <a:off x="4741042" y="228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Oval 320"/>
          <p:cNvSpPr/>
          <p:nvPr/>
        </p:nvSpPr>
        <p:spPr>
          <a:xfrm>
            <a:off x="4810119" y="2294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Oval 321"/>
          <p:cNvSpPr/>
          <p:nvPr/>
        </p:nvSpPr>
        <p:spPr>
          <a:xfrm>
            <a:off x="4878602" y="23054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Oval 322"/>
          <p:cNvSpPr/>
          <p:nvPr/>
        </p:nvSpPr>
        <p:spPr>
          <a:xfrm>
            <a:off x="4946199" y="23212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Oval 323"/>
          <p:cNvSpPr/>
          <p:nvPr/>
        </p:nvSpPr>
        <p:spPr>
          <a:xfrm>
            <a:off x="5012621" y="23413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Oval 324"/>
          <p:cNvSpPr/>
          <p:nvPr/>
        </p:nvSpPr>
        <p:spPr>
          <a:xfrm>
            <a:off x="5077583" y="23658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Oval 325"/>
          <p:cNvSpPr/>
          <p:nvPr/>
        </p:nvSpPr>
        <p:spPr>
          <a:xfrm>
            <a:off x="5140806" y="23944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Oval 326"/>
          <p:cNvSpPr/>
          <p:nvPr/>
        </p:nvSpPr>
        <p:spPr>
          <a:xfrm>
            <a:off x="5202021" y="24271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Oval 327"/>
          <p:cNvSpPr/>
          <p:nvPr/>
        </p:nvSpPr>
        <p:spPr>
          <a:xfrm>
            <a:off x="5260965" y="24638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Oval 328"/>
          <p:cNvSpPr/>
          <p:nvPr/>
        </p:nvSpPr>
        <p:spPr>
          <a:xfrm>
            <a:off x="5317385" y="25042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Oval 329"/>
          <p:cNvSpPr/>
          <p:nvPr/>
        </p:nvSpPr>
        <p:spPr>
          <a:xfrm>
            <a:off x="5371040" y="2548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Oval 330"/>
          <p:cNvSpPr/>
          <p:nvPr/>
        </p:nvSpPr>
        <p:spPr>
          <a:xfrm>
            <a:off x="5421700" y="25957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Oval 331"/>
          <p:cNvSpPr/>
          <p:nvPr/>
        </p:nvSpPr>
        <p:spPr>
          <a:xfrm>
            <a:off x="5469149" y="26464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Oval 332"/>
          <p:cNvSpPr/>
          <p:nvPr/>
        </p:nvSpPr>
        <p:spPr>
          <a:xfrm>
            <a:off x="5513182" y="27000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Oval 333"/>
          <p:cNvSpPr/>
          <p:nvPr/>
        </p:nvSpPr>
        <p:spPr>
          <a:xfrm>
            <a:off x="5553612" y="27564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Oval 334"/>
          <p:cNvSpPr/>
          <p:nvPr/>
        </p:nvSpPr>
        <p:spPr>
          <a:xfrm>
            <a:off x="5590266" y="28154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Oval 335"/>
          <p:cNvSpPr/>
          <p:nvPr/>
        </p:nvSpPr>
        <p:spPr>
          <a:xfrm>
            <a:off x="5622986" y="28766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Oval 336"/>
          <p:cNvSpPr/>
          <p:nvPr/>
        </p:nvSpPr>
        <p:spPr>
          <a:xfrm>
            <a:off x="5651632" y="29398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Oval 337"/>
          <p:cNvSpPr/>
          <p:nvPr/>
        </p:nvSpPr>
        <p:spPr>
          <a:xfrm>
            <a:off x="5676082" y="30048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Oval 338"/>
          <p:cNvSpPr/>
          <p:nvPr/>
        </p:nvSpPr>
        <p:spPr>
          <a:xfrm>
            <a:off x="5696230" y="307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Oval 339"/>
          <p:cNvSpPr/>
          <p:nvPr/>
        </p:nvSpPr>
        <p:spPr>
          <a:xfrm>
            <a:off x="5711992" y="31388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Oval 340"/>
          <p:cNvSpPr/>
          <p:nvPr/>
        </p:nvSpPr>
        <p:spPr>
          <a:xfrm>
            <a:off x="5723299" y="32073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Oval 341"/>
          <p:cNvSpPr/>
          <p:nvPr/>
        </p:nvSpPr>
        <p:spPr>
          <a:xfrm>
            <a:off x="5730102" y="3276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3" name="Oval 342"/>
          <p:cNvSpPr/>
          <p:nvPr/>
        </p:nvSpPr>
        <p:spPr>
          <a:xfrm>
            <a:off x="4633721" y="290550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Oval 343"/>
          <p:cNvSpPr/>
          <p:nvPr/>
        </p:nvSpPr>
        <p:spPr>
          <a:xfrm>
            <a:off x="4834889" y="295940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Oval 344"/>
          <p:cNvSpPr/>
          <p:nvPr/>
        </p:nvSpPr>
        <p:spPr>
          <a:xfrm>
            <a:off x="4982155" y="3106673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Oval 345"/>
          <p:cNvSpPr/>
          <p:nvPr/>
        </p:nvSpPr>
        <p:spPr>
          <a:xfrm>
            <a:off x="5036057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7" name="Oval 346"/>
          <p:cNvSpPr/>
          <p:nvPr/>
        </p:nvSpPr>
        <p:spPr>
          <a:xfrm>
            <a:off x="4982155" y="3509009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Oval 347"/>
          <p:cNvSpPr/>
          <p:nvPr/>
        </p:nvSpPr>
        <p:spPr>
          <a:xfrm>
            <a:off x="4834889" y="365627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Oval 348"/>
          <p:cNvSpPr/>
          <p:nvPr/>
        </p:nvSpPr>
        <p:spPr>
          <a:xfrm>
            <a:off x="4633721" y="371017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Oval 349"/>
          <p:cNvSpPr/>
          <p:nvPr/>
        </p:nvSpPr>
        <p:spPr>
          <a:xfrm>
            <a:off x="4432553" y="365627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Oval 350"/>
          <p:cNvSpPr/>
          <p:nvPr/>
        </p:nvSpPr>
        <p:spPr>
          <a:xfrm>
            <a:off x="4285288" y="3509010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Oval 351"/>
          <p:cNvSpPr/>
          <p:nvPr/>
        </p:nvSpPr>
        <p:spPr>
          <a:xfrm>
            <a:off x="4231385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Oval 352"/>
          <p:cNvSpPr/>
          <p:nvPr/>
        </p:nvSpPr>
        <p:spPr>
          <a:xfrm>
            <a:off x="4285288" y="3106673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Oval 353"/>
          <p:cNvSpPr/>
          <p:nvPr/>
        </p:nvSpPr>
        <p:spPr>
          <a:xfrm>
            <a:off x="4432553" y="295940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Oval 354"/>
          <p:cNvSpPr/>
          <p:nvPr/>
        </p:nvSpPr>
        <p:spPr>
          <a:xfrm>
            <a:off x="4633721" y="257632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Oval 355"/>
          <p:cNvSpPr/>
          <p:nvPr/>
        </p:nvSpPr>
        <p:spPr>
          <a:xfrm>
            <a:off x="4999481" y="2674327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Oval 356"/>
          <p:cNvSpPr/>
          <p:nvPr/>
        </p:nvSpPr>
        <p:spPr>
          <a:xfrm>
            <a:off x="5267236" y="294208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Oval 357"/>
          <p:cNvSpPr/>
          <p:nvPr/>
        </p:nvSpPr>
        <p:spPr>
          <a:xfrm>
            <a:off x="5365241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9" name="Oval 358"/>
          <p:cNvSpPr/>
          <p:nvPr/>
        </p:nvSpPr>
        <p:spPr>
          <a:xfrm>
            <a:off x="5267236" y="367360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Oval 359"/>
          <p:cNvSpPr/>
          <p:nvPr/>
        </p:nvSpPr>
        <p:spPr>
          <a:xfrm>
            <a:off x="4999481" y="394135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1" name="Oval 360"/>
          <p:cNvSpPr/>
          <p:nvPr/>
        </p:nvSpPr>
        <p:spPr>
          <a:xfrm>
            <a:off x="4633721" y="403936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Oval 361"/>
          <p:cNvSpPr/>
          <p:nvPr/>
        </p:nvSpPr>
        <p:spPr>
          <a:xfrm>
            <a:off x="4267962" y="394135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Oval 362"/>
          <p:cNvSpPr/>
          <p:nvPr/>
        </p:nvSpPr>
        <p:spPr>
          <a:xfrm>
            <a:off x="4000207" y="367360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Oval 363"/>
          <p:cNvSpPr/>
          <p:nvPr/>
        </p:nvSpPr>
        <p:spPr>
          <a:xfrm>
            <a:off x="3902201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5" name="Oval 364"/>
          <p:cNvSpPr/>
          <p:nvPr/>
        </p:nvSpPr>
        <p:spPr>
          <a:xfrm>
            <a:off x="4000207" y="294208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Oval 365"/>
          <p:cNvSpPr/>
          <p:nvPr/>
        </p:nvSpPr>
        <p:spPr>
          <a:xfrm>
            <a:off x="4267961" y="2674327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7" name="Oval 366"/>
          <p:cNvSpPr/>
          <p:nvPr/>
        </p:nvSpPr>
        <p:spPr>
          <a:xfrm>
            <a:off x="4633721" y="2247137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8" name="Oval 367"/>
          <p:cNvSpPr/>
          <p:nvPr/>
        </p:nvSpPr>
        <p:spPr>
          <a:xfrm>
            <a:off x="5164073" y="238924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Oval 368"/>
          <p:cNvSpPr/>
          <p:nvPr/>
        </p:nvSpPr>
        <p:spPr>
          <a:xfrm>
            <a:off x="5552318" y="2777489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0" name="Oval 369"/>
          <p:cNvSpPr/>
          <p:nvPr/>
        </p:nvSpPr>
        <p:spPr>
          <a:xfrm>
            <a:off x="5694425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1" name="Oval 370"/>
          <p:cNvSpPr/>
          <p:nvPr/>
        </p:nvSpPr>
        <p:spPr>
          <a:xfrm>
            <a:off x="5552318" y="3838194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2" name="Oval 371"/>
          <p:cNvSpPr/>
          <p:nvPr/>
        </p:nvSpPr>
        <p:spPr>
          <a:xfrm>
            <a:off x="5164073" y="422643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3" name="Oval 372"/>
          <p:cNvSpPr/>
          <p:nvPr/>
        </p:nvSpPr>
        <p:spPr>
          <a:xfrm>
            <a:off x="4633721" y="436854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Oval 373"/>
          <p:cNvSpPr/>
          <p:nvPr/>
        </p:nvSpPr>
        <p:spPr>
          <a:xfrm>
            <a:off x="4103369" y="422643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5" name="Oval 374"/>
          <p:cNvSpPr/>
          <p:nvPr/>
        </p:nvSpPr>
        <p:spPr>
          <a:xfrm>
            <a:off x="3715125" y="3838194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Oval 375"/>
          <p:cNvSpPr/>
          <p:nvPr/>
        </p:nvSpPr>
        <p:spPr>
          <a:xfrm>
            <a:off x="3573017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Oval 376"/>
          <p:cNvSpPr/>
          <p:nvPr/>
        </p:nvSpPr>
        <p:spPr>
          <a:xfrm>
            <a:off x="3715125" y="2777489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8" name="Oval 377"/>
          <p:cNvSpPr/>
          <p:nvPr/>
        </p:nvSpPr>
        <p:spPr>
          <a:xfrm>
            <a:off x="4103369" y="238924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9" name="Oval 378"/>
          <p:cNvSpPr/>
          <p:nvPr/>
        </p:nvSpPr>
        <p:spPr>
          <a:xfrm>
            <a:off x="4608575" y="3282696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0" name="Oval 379"/>
          <p:cNvSpPr/>
          <p:nvPr/>
        </p:nvSpPr>
        <p:spPr>
          <a:xfrm>
            <a:off x="653338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1" name="Oval 380"/>
          <p:cNvSpPr/>
          <p:nvPr/>
        </p:nvSpPr>
        <p:spPr>
          <a:xfrm>
            <a:off x="6844284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Oval 381"/>
          <p:cNvSpPr/>
          <p:nvPr/>
        </p:nvSpPr>
        <p:spPr>
          <a:xfrm>
            <a:off x="7155180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3" name="Oval 382"/>
          <p:cNvSpPr/>
          <p:nvPr/>
        </p:nvSpPr>
        <p:spPr>
          <a:xfrm>
            <a:off x="7466076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Oval 383"/>
          <p:cNvSpPr/>
          <p:nvPr/>
        </p:nvSpPr>
        <p:spPr>
          <a:xfrm>
            <a:off x="7776972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5" name="Oval 384"/>
          <p:cNvSpPr/>
          <p:nvPr/>
        </p:nvSpPr>
        <p:spPr>
          <a:xfrm>
            <a:off x="808786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6" name="Oval 385"/>
          <p:cNvSpPr/>
          <p:nvPr/>
        </p:nvSpPr>
        <p:spPr>
          <a:xfrm>
            <a:off x="6688836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7" name="Oval 386"/>
          <p:cNvSpPr/>
          <p:nvPr/>
        </p:nvSpPr>
        <p:spPr>
          <a:xfrm>
            <a:off x="6999732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8" name="Oval 387"/>
          <p:cNvSpPr/>
          <p:nvPr/>
        </p:nvSpPr>
        <p:spPr>
          <a:xfrm>
            <a:off x="7310628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9" name="Oval 388"/>
          <p:cNvSpPr/>
          <p:nvPr/>
        </p:nvSpPr>
        <p:spPr>
          <a:xfrm>
            <a:off x="7621524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0" name="Oval 389"/>
          <p:cNvSpPr/>
          <p:nvPr/>
        </p:nvSpPr>
        <p:spPr>
          <a:xfrm>
            <a:off x="7932420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1" name="Oval 390"/>
          <p:cNvSpPr/>
          <p:nvPr/>
        </p:nvSpPr>
        <p:spPr>
          <a:xfrm>
            <a:off x="653338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2" name="Oval 391"/>
          <p:cNvSpPr/>
          <p:nvPr/>
        </p:nvSpPr>
        <p:spPr>
          <a:xfrm>
            <a:off x="6844284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3" name="Oval 392"/>
          <p:cNvSpPr/>
          <p:nvPr/>
        </p:nvSpPr>
        <p:spPr>
          <a:xfrm>
            <a:off x="7155180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4" name="Oval 393"/>
          <p:cNvSpPr/>
          <p:nvPr/>
        </p:nvSpPr>
        <p:spPr>
          <a:xfrm>
            <a:off x="7466076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5" name="Oval 394"/>
          <p:cNvSpPr/>
          <p:nvPr/>
        </p:nvSpPr>
        <p:spPr>
          <a:xfrm>
            <a:off x="7776972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6" name="Oval 395"/>
          <p:cNvSpPr/>
          <p:nvPr/>
        </p:nvSpPr>
        <p:spPr>
          <a:xfrm>
            <a:off x="808786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7" name="Oval 396"/>
          <p:cNvSpPr/>
          <p:nvPr/>
        </p:nvSpPr>
        <p:spPr>
          <a:xfrm>
            <a:off x="6688836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8" name="Oval 397"/>
          <p:cNvSpPr/>
          <p:nvPr/>
        </p:nvSpPr>
        <p:spPr>
          <a:xfrm>
            <a:off x="6999732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9" name="Oval 398"/>
          <p:cNvSpPr/>
          <p:nvPr/>
        </p:nvSpPr>
        <p:spPr>
          <a:xfrm>
            <a:off x="7310628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0" name="Oval 399"/>
          <p:cNvSpPr/>
          <p:nvPr/>
        </p:nvSpPr>
        <p:spPr>
          <a:xfrm>
            <a:off x="7621524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1" name="Oval 400"/>
          <p:cNvSpPr/>
          <p:nvPr/>
        </p:nvSpPr>
        <p:spPr>
          <a:xfrm>
            <a:off x="7932420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2" name="Oval 401"/>
          <p:cNvSpPr/>
          <p:nvPr/>
        </p:nvSpPr>
        <p:spPr>
          <a:xfrm>
            <a:off x="653338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3" name="Oval 402"/>
          <p:cNvSpPr/>
          <p:nvPr/>
        </p:nvSpPr>
        <p:spPr>
          <a:xfrm>
            <a:off x="6844284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4" name="Oval 403"/>
          <p:cNvSpPr/>
          <p:nvPr/>
        </p:nvSpPr>
        <p:spPr>
          <a:xfrm>
            <a:off x="7155180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5" name="Oval 404"/>
          <p:cNvSpPr/>
          <p:nvPr/>
        </p:nvSpPr>
        <p:spPr>
          <a:xfrm>
            <a:off x="7466076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6" name="Oval 405"/>
          <p:cNvSpPr/>
          <p:nvPr/>
        </p:nvSpPr>
        <p:spPr>
          <a:xfrm>
            <a:off x="7776972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7" name="Oval 406"/>
          <p:cNvSpPr/>
          <p:nvPr/>
        </p:nvSpPr>
        <p:spPr>
          <a:xfrm>
            <a:off x="808786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8" name="Oval 407"/>
          <p:cNvSpPr/>
          <p:nvPr/>
        </p:nvSpPr>
        <p:spPr>
          <a:xfrm>
            <a:off x="9222638" y="437631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9" name="Oval 408"/>
          <p:cNvSpPr/>
          <p:nvPr/>
        </p:nvSpPr>
        <p:spPr>
          <a:xfrm>
            <a:off x="9265500" y="4325484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0" name="Oval 409"/>
          <p:cNvSpPr/>
          <p:nvPr/>
        </p:nvSpPr>
        <p:spPr>
          <a:xfrm>
            <a:off x="9308363" y="427486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1" name="Oval 410"/>
          <p:cNvSpPr/>
          <p:nvPr/>
        </p:nvSpPr>
        <p:spPr>
          <a:xfrm>
            <a:off x="9351225" y="4224686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2" name="Oval 411"/>
          <p:cNvSpPr/>
          <p:nvPr/>
        </p:nvSpPr>
        <p:spPr>
          <a:xfrm>
            <a:off x="9394088" y="4175153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3" name="Oval 412"/>
          <p:cNvSpPr/>
          <p:nvPr/>
        </p:nvSpPr>
        <p:spPr>
          <a:xfrm>
            <a:off x="9436950" y="412648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4" name="Oval 413"/>
          <p:cNvSpPr/>
          <p:nvPr/>
        </p:nvSpPr>
        <p:spPr>
          <a:xfrm>
            <a:off x="9479813" y="4078881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5" name="Oval 414"/>
          <p:cNvSpPr/>
          <p:nvPr/>
        </p:nvSpPr>
        <p:spPr>
          <a:xfrm>
            <a:off x="9522675" y="4032553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6" name="Oval 415"/>
          <p:cNvSpPr/>
          <p:nvPr/>
        </p:nvSpPr>
        <p:spPr>
          <a:xfrm>
            <a:off x="9565538" y="398769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7" name="Oval 416"/>
          <p:cNvSpPr/>
          <p:nvPr/>
        </p:nvSpPr>
        <p:spPr>
          <a:xfrm>
            <a:off x="9608400" y="3944506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8" name="Oval 417"/>
          <p:cNvSpPr/>
          <p:nvPr/>
        </p:nvSpPr>
        <p:spPr>
          <a:xfrm>
            <a:off x="9651263" y="3903164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9" name="Oval 418"/>
          <p:cNvSpPr/>
          <p:nvPr/>
        </p:nvSpPr>
        <p:spPr>
          <a:xfrm>
            <a:off x="9694125" y="386384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0" name="Oval 419"/>
          <p:cNvSpPr/>
          <p:nvPr/>
        </p:nvSpPr>
        <p:spPr>
          <a:xfrm>
            <a:off x="9736988" y="3826726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1" name="Oval 420"/>
          <p:cNvSpPr/>
          <p:nvPr/>
        </p:nvSpPr>
        <p:spPr>
          <a:xfrm>
            <a:off x="9779850" y="379195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2" name="Oval 421"/>
          <p:cNvSpPr/>
          <p:nvPr/>
        </p:nvSpPr>
        <p:spPr>
          <a:xfrm>
            <a:off x="9822713" y="375969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3" name="Oval 422"/>
          <p:cNvSpPr/>
          <p:nvPr/>
        </p:nvSpPr>
        <p:spPr>
          <a:xfrm>
            <a:off x="9865575" y="3730066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4" name="Oval 423"/>
          <p:cNvSpPr/>
          <p:nvPr/>
        </p:nvSpPr>
        <p:spPr>
          <a:xfrm>
            <a:off x="9908438" y="370320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5" name="Oval 424"/>
          <p:cNvSpPr/>
          <p:nvPr/>
        </p:nvSpPr>
        <p:spPr>
          <a:xfrm>
            <a:off x="9951300" y="3679233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6" name="Oval 425"/>
          <p:cNvSpPr/>
          <p:nvPr/>
        </p:nvSpPr>
        <p:spPr>
          <a:xfrm>
            <a:off x="9994163" y="365824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7" name="Oval 426"/>
          <p:cNvSpPr/>
          <p:nvPr/>
        </p:nvSpPr>
        <p:spPr>
          <a:xfrm>
            <a:off x="10037025" y="3640326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8" name="Oval 427"/>
          <p:cNvSpPr/>
          <p:nvPr/>
        </p:nvSpPr>
        <p:spPr>
          <a:xfrm>
            <a:off x="10079888" y="362556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9" name="Oval 428"/>
          <p:cNvSpPr/>
          <p:nvPr/>
        </p:nvSpPr>
        <p:spPr>
          <a:xfrm>
            <a:off x="10122750" y="361401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0" name="Oval 429"/>
          <p:cNvSpPr/>
          <p:nvPr/>
        </p:nvSpPr>
        <p:spPr>
          <a:xfrm>
            <a:off x="10165613" y="3605727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1" name="Oval 430"/>
          <p:cNvSpPr/>
          <p:nvPr/>
        </p:nvSpPr>
        <p:spPr>
          <a:xfrm>
            <a:off x="10208475" y="360074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2" name="Oval 431"/>
          <p:cNvSpPr/>
          <p:nvPr/>
        </p:nvSpPr>
        <p:spPr>
          <a:xfrm>
            <a:off x="10251338" y="359907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3" name="Oval 432"/>
          <p:cNvSpPr/>
          <p:nvPr/>
        </p:nvSpPr>
        <p:spPr>
          <a:xfrm>
            <a:off x="10294200" y="360074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4" name="Oval 433"/>
          <p:cNvSpPr/>
          <p:nvPr/>
        </p:nvSpPr>
        <p:spPr>
          <a:xfrm>
            <a:off x="10337063" y="3605727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5" name="Oval 434"/>
          <p:cNvSpPr/>
          <p:nvPr/>
        </p:nvSpPr>
        <p:spPr>
          <a:xfrm>
            <a:off x="10379925" y="361401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6" name="Oval 435"/>
          <p:cNvSpPr/>
          <p:nvPr/>
        </p:nvSpPr>
        <p:spPr>
          <a:xfrm>
            <a:off x="10422788" y="362556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7" name="Oval 436"/>
          <p:cNvSpPr/>
          <p:nvPr/>
        </p:nvSpPr>
        <p:spPr>
          <a:xfrm>
            <a:off x="10465650" y="3640326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8" name="Oval 437"/>
          <p:cNvSpPr/>
          <p:nvPr/>
        </p:nvSpPr>
        <p:spPr>
          <a:xfrm>
            <a:off x="10508513" y="365824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9" name="Oval 438"/>
          <p:cNvSpPr/>
          <p:nvPr/>
        </p:nvSpPr>
        <p:spPr>
          <a:xfrm>
            <a:off x="10551375" y="3679233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0" name="Oval 439"/>
          <p:cNvSpPr/>
          <p:nvPr/>
        </p:nvSpPr>
        <p:spPr>
          <a:xfrm>
            <a:off x="10594238" y="370320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1" name="Oval 440"/>
          <p:cNvSpPr/>
          <p:nvPr/>
        </p:nvSpPr>
        <p:spPr>
          <a:xfrm>
            <a:off x="10637100" y="3730066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2" name="Oval 441"/>
          <p:cNvSpPr/>
          <p:nvPr/>
        </p:nvSpPr>
        <p:spPr>
          <a:xfrm>
            <a:off x="10679963" y="375969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3" name="Oval 442"/>
          <p:cNvSpPr/>
          <p:nvPr/>
        </p:nvSpPr>
        <p:spPr>
          <a:xfrm>
            <a:off x="10722825" y="379195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4" name="Oval 443"/>
          <p:cNvSpPr/>
          <p:nvPr/>
        </p:nvSpPr>
        <p:spPr>
          <a:xfrm>
            <a:off x="10765688" y="3826726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5" name="Oval 444"/>
          <p:cNvSpPr/>
          <p:nvPr/>
        </p:nvSpPr>
        <p:spPr>
          <a:xfrm>
            <a:off x="10808550" y="386384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6" name="Oval 445"/>
          <p:cNvSpPr/>
          <p:nvPr/>
        </p:nvSpPr>
        <p:spPr>
          <a:xfrm>
            <a:off x="10851413" y="3903164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7" name="Oval 446"/>
          <p:cNvSpPr/>
          <p:nvPr/>
        </p:nvSpPr>
        <p:spPr>
          <a:xfrm>
            <a:off x="10894275" y="3944506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8" name="Oval 447"/>
          <p:cNvSpPr/>
          <p:nvPr/>
        </p:nvSpPr>
        <p:spPr>
          <a:xfrm>
            <a:off x="10937138" y="398769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9" name="Oval 448"/>
          <p:cNvSpPr/>
          <p:nvPr/>
        </p:nvSpPr>
        <p:spPr>
          <a:xfrm>
            <a:off x="10980000" y="4032553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0" name="Oval 449"/>
          <p:cNvSpPr/>
          <p:nvPr/>
        </p:nvSpPr>
        <p:spPr>
          <a:xfrm>
            <a:off x="11022863" y="4078881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1" name="Oval 450"/>
          <p:cNvSpPr/>
          <p:nvPr/>
        </p:nvSpPr>
        <p:spPr>
          <a:xfrm>
            <a:off x="11065725" y="4126482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2" name="Oval 451"/>
          <p:cNvSpPr/>
          <p:nvPr/>
        </p:nvSpPr>
        <p:spPr>
          <a:xfrm>
            <a:off x="11108588" y="4175153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3" name="Oval 452"/>
          <p:cNvSpPr/>
          <p:nvPr/>
        </p:nvSpPr>
        <p:spPr>
          <a:xfrm>
            <a:off x="11151450" y="4224686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4" name="Oval 453"/>
          <p:cNvSpPr/>
          <p:nvPr/>
        </p:nvSpPr>
        <p:spPr>
          <a:xfrm>
            <a:off x="11194313" y="427486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5" name="Oval 454"/>
          <p:cNvSpPr/>
          <p:nvPr/>
        </p:nvSpPr>
        <p:spPr>
          <a:xfrm>
            <a:off x="11237175" y="4325484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6" name="Oval 455"/>
          <p:cNvSpPr/>
          <p:nvPr/>
        </p:nvSpPr>
        <p:spPr>
          <a:xfrm>
            <a:off x="11280038" y="4376318"/>
            <a:ext cx="25603" cy="25603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7" name="Oval 456"/>
          <p:cNvSpPr/>
          <p:nvPr/>
        </p:nvSpPr>
        <p:spPr>
          <a:xfrm>
            <a:off x="9180576" y="433425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8" name="Oval 457"/>
          <p:cNvSpPr/>
          <p:nvPr/>
        </p:nvSpPr>
        <p:spPr>
          <a:xfrm>
            <a:off x="9437751" y="4036819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9" name="Oval 458"/>
          <p:cNvSpPr/>
          <p:nvPr/>
        </p:nvSpPr>
        <p:spPr>
          <a:xfrm>
            <a:off x="9694926" y="3784664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0" name="Oval 459"/>
          <p:cNvSpPr/>
          <p:nvPr/>
        </p:nvSpPr>
        <p:spPr>
          <a:xfrm>
            <a:off x="9952101" y="3616179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1" name="Oval 460"/>
          <p:cNvSpPr/>
          <p:nvPr/>
        </p:nvSpPr>
        <p:spPr>
          <a:xfrm>
            <a:off x="10209276" y="355701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2" name="Oval 461"/>
          <p:cNvSpPr/>
          <p:nvPr/>
        </p:nvSpPr>
        <p:spPr>
          <a:xfrm>
            <a:off x="10466451" y="3616179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3" name="Oval 462"/>
          <p:cNvSpPr/>
          <p:nvPr/>
        </p:nvSpPr>
        <p:spPr>
          <a:xfrm>
            <a:off x="10723626" y="3784664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4" name="Oval 463"/>
          <p:cNvSpPr/>
          <p:nvPr/>
        </p:nvSpPr>
        <p:spPr>
          <a:xfrm>
            <a:off x="10980801" y="4036819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5" name="Oval 464"/>
          <p:cNvSpPr/>
          <p:nvPr/>
        </p:nvSpPr>
        <p:spPr>
          <a:xfrm>
            <a:off x="11237976" y="433425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6" name="Rectangle 465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7" name="Rectangle 466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8" name="TextBox 467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A cartesian array is a list of lists — two counters instead of one. Hold that thought; it returns in Module 3 as a panel field.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DF7"/>
                </a:solidFill>
                <a:latin typeface="Arial"/>
              </a:rPr>
              <a:t>THE TILE IS CONSTANT. THE FIELD IS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same tile, the same array, twice. One is wallpaper. The other is a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34924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34924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349240" cy="502920"/>
          </a:xfrm>
          <a:prstGeom prst="rect">
            <a:avLst/>
          </a:prstGeom>
          <a:solidFill>
            <a:srgbClr val="B4B4AC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PROCEDURAL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87168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REPETITION</a:t>
            </a:r>
          </a:p>
        </p:txBody>
      </p:sp>
      <p:sp>
        <p:nvSpPr>
          <p:cNvPr id="10" name="Oval 9"/>
          <p:cNvSpPr/>
          <p:nvPr/>
        </p:nvSpPr>
        <p:spPr>
          <a:xfrm>
            <a:off x="1005840" y="29718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05840" y="34290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05840" y="38862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05840" y="43434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508760" y="29718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508760" y="34290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508760" y="38862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508760" y="43434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2011680" y="29718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2011680" y="34290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2011680" y="38862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2011680" y="43434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514600" y="29718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2514600" y="34290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2514600" y="38862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514600" y="43434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3017520" y="29718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017520" y="34290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3017520" y="38862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3017520" y="43434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3520440" y="29718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3520440" y="34290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3520440" y="38862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520440" y="43434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4023360" y="29718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4023360" y="34290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023360" y="38862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023360" y="43434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4526280" y="29718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4526280" y="34290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4526280" y="38862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4526280" y="43434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5029200" y="29718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5029200" y="34290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5029200" y="38862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5029200" y="4343400"/>
            <a:ext cx="182880" cy="18288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68680" y="4553712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Same tile, same spacing. The index is generated and then ignored.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86500" y="1943100"/>
            <a:ext cx="534924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6217920" y="1874519"/>
            <a:ext cx="534924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217920" y="1874519"/>
            <a:ext cx="53492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446520" y="1874519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PARAMETRIC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2487168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VARIATION</a:t>
            </a:r>
          </a:p>
        </p:txBody>
      </p:sp>
      <p:sp>
        <p:nvSpPr>
          <p:cNvPr id="52" name="Oval 51"/>
          <p:cNvSpPr/>
          <p:nvPr/>
        </p:nvSpPr>
        <p:spPr>
          <a:xfrm>
            <a:off x="6414516" y="3031236"/>
            <a:ext cx="64008" cy="6400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6404274" y="3478194"/>
            <a:ext cx="84490" cy="8449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6394033" y="3925153"/>
            <a:ext cx="104973" cy="1049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6383792" y="4372112"/>
            <a:ext cx="125455" cy="12545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6902805" y="3016605"/>
            <a:ext cx="93268" cy="9326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892564" y="3463564"/>
            <a:ext cx="113751" cy="1137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6882323" y="3910523"/>
            <a:ext cx="134233" cy="13423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6872081" y="4357481"/>
            <a:ext cx="154716" cy="1547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7391095" y="3001975"/>
            <a:ext cx="122529" cy="12252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7380853" y="3448933"/>
            <a:ext cx="143012" cy="143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7370612" y="3895892"/>
            <a:ext cx="163494" cy="16349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7360371" y="4342851"/>
            <a:ext cx="183977" cy="18397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7879384" y="2987344"/>
            <a:ext cx="151790" cy="15179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7869143" y="3434303"/>
            <a:ext cx="172272" cy="1722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7858902" y="3881262"/>
            <a:ext cx="192755" cy="19275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7848660" y="4328220"/>
            <a:ext cx="213238" cy="21323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8367674" y="2972714"/>
            <a:ext cx="181051" cy="1810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57433" y="3419673"/>
            <a:ext cx="201533" cy="20153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8347191" y="3866631"/>
            <a:ext cx="222016" cy="222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8336950" y="4313590"/>
            <a:ext cx="242498" cy="24249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855964" y="2958084"/>
            <a:ext cx="210312" cy="2103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8845722" y="3405042"/>
            <a:ext cx="230794" cy="23079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8835481" y="3852001"/>
            <a:ext cx="251277" cy="25127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8825240" y="4298960"/>
            <a:ext cx="271759" cy="27175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9344253" y="2943453"/>
            <a:ext cx="239572" cy="2395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9334012" y="3390412"/>
            <a:ext cx="260055" cy="26005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9326880" y="3840479"/>
            <a:ext cx="274320" cy="2743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9326880" y="4297679"/>
            <a:ext cx="274320" cy="2743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9832543" y="2928823"/>
            <a:ext cx="268833" cy="26883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9829800" y="3383280"/>
            <a:ext cx="274320" cy="2743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9829800" y="3840479"/>
            <a:ext cx="274320" cy="2743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9829800" y="4297679"/>
            <a:ext cx="274320" cy="2743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10332719" y="2926080"/>
            <a:ext cx="274320" cy="2743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332719" y="3383280"/>
            <a:ext cx="274320" cy="2743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10332719" y="3840479"/>
            <a:ext cx="274320" cy="2743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10332719" y="4297679"/>
            <a:ext cx="274320" cy="2743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492240" y="4553712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Same tile — scale, rotation and culling driven by the index.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62940" y="569214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594360" y="5623560"/>
            <a:ext cx="10972800" cy="62179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914400" y="5623560"/>
            <a:ext cx="103327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YOU MAY NOT MODEL A SECOND TILE. EVERYTHING THAT VARIES, VARIES IN THE ARRAY.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TILED FAÇADES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Look for the part and the rule, not the image.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22402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2240280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3063240" cy="2240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>
                <a:solidFill>
                  <a:srgbClr val="6B6B6B"/>
                </a:solidFill>
                <a:latin typeface="Calibri"/>
              </a:rPr>
              <a:t>Add: a perforated screen built from one repeated block.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418338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4114800"/>
            <a:ext cx="35204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424281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SCREEN / MASHRABIYA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3692" y="1851660"/>
            <a:ext cx="3520440" cy="22402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2240280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783080"/>
            <a:ext cx="3063240" cy="2240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>
                <a:solidFill>
                  <a:srgbClr val="6B6B6B"/>
                </a:solidFill>
                <a:latin typeface="Calibri"/>
              </a:rPr>
              <a:t>Add: a brick or block wall where the bond is the whole design.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93692" y="418338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325112" y="4114800"/>
            <a:ext cx="35204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325112" y="424281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BRICK BOND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4444" y="1851660"/>
            <a:ext cx="3520440" cy="22402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55864" y="1783080"/>
            <a:ext cx="3520440" cy="2240280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84464" y="1783080"/>
            <a:ext cx="3063240" cy="2240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>
                <a:solidFill>
                  <a:srgbClr val="6B6B6B"/>
                </a:solidFill>
                <a:latin typeface="Calibri"/>
              </a:rPr>
              <a:t>Add: a façade of one repeated cast or folded panel.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4444" y="418338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055864" y="4114800"/>
            <a:ext cx="35204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055864" y="424281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CAST PANEL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960620"/>
            <a:ext cx="1097280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892040"/>
            <a:ext cx="1097280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94360" y="4892040"/>
            <a:ext cx="1097280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48920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FOR YOUR PRECEDENT, ANSWER THREE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Calibri"/>
              </a:rPr>
              <a:t>What is the tile?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5532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Calibri"/>
              </a:rPr>
              <a:t>What rule places the copies?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5532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Calibri"/>
              </a:rPr>
              <a:t>Where do two of them meet?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1.1 — TILING + ARRAYS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CLASS 6 — SEP 29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You brought a façade made of one repeated part. Design your own tile from it, model it once, then tile the plane three ways. The precedent drives the tile; you supply the systems that place it and the parameter that makes the field differ. No attractors in this one — that is next week.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589020"/>
            <a:ext cx="3520440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520440"/>
            <a:ext cx="3520440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62559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STAGE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091940"/>
            <a:ext cx="35204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023360"/>
            <a:ext cx="35204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18795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PRECEDENT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57200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building, the repeated part, the rule. Measured drawing.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3692" y="3589020"/>
            <a:ext cx="3520440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5112" y="3520440"/>
            <a:ext cx="3520440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5112" y="362559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STAGE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3692" y="4091940"/>
            <a:ext cx="35204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5112" y="4023360"/>
            <a:ext cx="35204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81144" y="418795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457200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Your design, from theirs. 3–5 primitives, at the origin, manifold.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4444" y="3589020"/>
            <a:ext cx="3520440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55864" y="3520440"/>
            <a:ext cx="3520440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55864" y="362559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STAGE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4444" y="4091940"/>
            <a:ext cx="35204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55864" y="4023360"/>
            <a:ext cx="35204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11896" y="418795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THREE ARRAYS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457200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Any three of cartesian, radial, hexagonal, on curve.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" y="578358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94360" y="5715000"/>
            <a:ext cx="10972800" cy="62179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ONE TILE.  THREE ARRAYS, YOUR CHOICE WHICH.  EVERYTHING THAT VARIES, VARIES IN THE ARRAY.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Counting these earns a C. The rest is judgement.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760220"/>
            <a:ext cx="1371600" cy="42062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1371600" cy="42062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8013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691640"/>
            <a:ext cx="92811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alibri"/>
              </a:rPr>
              <a:t>precedent analysis — building, repeated part, rule, in 3–4 sentences with a measured drawing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2258568"/>
            <a:ext cx="1371600" cy="42062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2189988"/>
            <a:ext cx="1371600" cy="42062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229971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189988"/>
            <a:ext cx="92811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alibri"/>
              </a:rPr>
              <a:t>tile designed from that precedent — 3–5 primitives, manifold, at the origin, dimensioned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" y="2756916"/>
            <a:ext cx="1371600" cy="42062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94360" y="2688336"/>
            <a:ext cx="1371600" cy="42062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279806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688336"/>
            <a:ext cx="92811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alibri"/>
              </a:rPr>
              <a:t>array types built with that tile, from cartesian, radial, hexagonal, along a curve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255264"/>
            <a:ext cx="1371600" cy="42062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186684"/>
            <a:ext cx="1371600" cy="42062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2964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3186684"/>
            <a:ext cx="92811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alibri"/>
              </a:rPr>
              <a:t>finished compositions — one per array type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3753612"/>
            <a:ext cx="1371600" cy="42062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3685032"/>
            <a:ext cx="1371600" cy="42062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4360" y="3794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1,000+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685032"/>
            <a:ext cx="92811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alibri"/>
              </a:rPr>
              <a:t>elements in at least one composition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" y="4251960"/>
            <a:ext cx="1371600" cy="42062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94360" y="4183380"/>
            <a:ext cx="1371600" cy="42062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4360" y="42931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1+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4183380"/>
            <a:ext cx="92811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alibri"/>
              </a:rPr>
              <a:t>conditional that removes or alters a subset based on a tested property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750308"/>
            <a:ext cx="1371600" cy="42062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81728"/>
            <a:ext cx="1371600" cy="42062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7914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1+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4681728"/>
            <a:ext cx="92811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alibri"/>
              </a:rPr>
              <a:t>array where changing element order visibly changes the result — paired before/after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" y="5248656"/>
            <a:ext cx="1371600" cy="42062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4360" y="5180076"/>
            <a:ext cx="1371600" cy="42062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94360" y="528980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1+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5180076"/>
            <a:ext cx="92811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alibri"/>
              </a:rPr>
              <a:t>composition resolved spatially in 3D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40" y="5747004"/>
            <a:ext cx="1371600" cy="42062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94360" y="5678424"/>
            <a:ext cx="1371600" cy="42062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9436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5678424"/>
            <a:ext cx="92811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alibri"/>
              </a:rPr>
              <a:t>sheets minimum, 17" × 11", in your visual identity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" y="6268212"/>
            <a:ext cx="10972800" cy="548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594360" y="6199632"/>
            <a:ext cx="10972800" cy="54864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4400" y="6199632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One tile only. Arrays authored from base components — array add-ons and scatter tools are prohibited.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DESIGN YOUR TILE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session: part dimensioned, tile modeled, first array running.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40030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33172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51460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40030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33172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33172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Precedent approved — a façade made of one repeated part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11353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304495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2783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11353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304495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304495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part outlined over the elevation, with dimensions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82676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5818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94106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82676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5818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5818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Your tile modeled — one object, at the origin, manifold, 3–5 primitives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53999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7141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429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53999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7141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7141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Your first array running, count and spacing controllable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5322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8464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6752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5322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8464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8464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property driven by the index, so the field is not wallpaper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57900"/>
            <a:ext cx="7498079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89320"/>
            <a:ext cx="7498079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89320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LEAVE WITH A TILE. THE ARRAYS ARE THE EASY PART.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WATCH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Tutorial 1.2 — fields and attractors. Distance, falloff, remapping — and reading the field as a 2D image before it drives anything. Sent tonight.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tile and your working arrays. Next week we drive them with attractors, so bring a file you can build 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READ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own 0.1 procedure, out loud, to someone who has not seen the model. Rewrite whatever they cannot follow.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CHOOSE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site, for next week. You will import it as a point field and diagram it with attractors — pick somewhere you know well enough to have a question about.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