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5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1051560"/>
            <a:ext cx="10972800" cy="2560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94360" y="148132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Arial"/>
              </a:rPr>
              <a:t>CLASS 04  /  SEP 15</a:t>
            </a:r>
          </a:p>
        </p:txBody>
      </p:sp>
      <p:sp>
        <p:nvSpPr>
          <p:cNvPr id="4" name="Rectangle 3"/>
          <p:cNvSpPr/>
          <p:nvPr/>
        </p:nvSpPr>
        <p:spPr>
          <a:xfrm>
            <a:off x="662940" y="2125980"/>
            <a:ext cx="10149840" cy="21488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94360" y="2057400"/>
            <a:ext cx="10149840" cy="21488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932688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0000"/>
                </a:solidFill>
                <a:latin typeface="Arial"/>
              </a:rPr>
              <a:t>GEOMETRY</a:t>
            </a:r>
          </a:p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0000"/>
                </a:solidFill>
                <a:latin typeface="Arial"/>
              </a:rPr>
              <a:t>FROM SCRATCH</a:t>
            </a:r>
          </a:p>
        </p:txBody>
      </p:sp>
      <p:sp>
        <p:nvSpPr>
          <p:cNvPr id="7" name="Rectangle 6"/>
          <p:cNvSpPr/>
          <p:nvPr/>
        </p:nvSpPr>
        <p:spPr>
          <a:xfrm>
            <a:off x="662940" y="4549140"/>
            <a:ext cx="676656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94360" y="4480560"/>
            <a:ext cx="6766560" cy="56692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795259" y="4549140"/>
            <a:ext cx="301752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726679" y="4480560"/>
            <a:ext cx="3017520" cy="566928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68680" y="4480560"/>
            <a:ext cx="6400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Arial"/>
              </a:rPr>
              <a:t>P1 CONTINUES — WHAT A SOLID IS MADE OF, UNDERNEATH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4480560"/>
            <a:ext cx="30175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P1a DUE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8704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0000"/>
                </a:solidFill>
                <a:latin typeface="Arial"/>
              </a:rPr>
              <a:t>P1b + P1c ISSUED TODAY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POINT → LINE → EDGE → FACE → SOLID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Five steps, and each one is a list of the thing before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988820"/>
            <a:ext cx="2048255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920240"/>
            <a:ext cx="2048255" cy="45720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048256"/>
            <a:ext cx="204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POINT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" y="2537460"/>
            <a:ext cx="2048255" cy="17373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94360" y="2468880"/>
            <a:ext cx="2048255" cy="17373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77240" y="2697480"/>
            <a:ext cx="16824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>
                <a:solidFill>
                  <a:srgbClr val="000000"/>
                </a:solidFill>
                <a:latin typeface="Calibri"/>
              </a:rPr>
              <a:t>three numbers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91840"/>
            <a:ext cx="16824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>
                <a:solidFill>
                  <a:srgbClr val="000000"/>
                </a:solidFill>
                <a:latin typeface="Courier New"/>
              </a:rPr>
              <a:t>[x, y, z]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94076" y="1988820"/>
            <a:ext cx="2048255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2825496" y="1920240"/>
            <a:ext cx="2048255" cy="45720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825496" y="2048256"/>
            <a:ext cx="204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LINE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94076" y="2537460"/>
            <a:ext cx="2048255" cy="17373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2825496" y="2468880"/>
            <a:ext cx="2048255" cy="17373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008376" y="2697480"/>
            <a:ext cx="16824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>
                <a:solidFill>
                  <a:srgbClr val="000000"/>
                </a:solidFill>
                <a:latin typeface="Calibri"/>
              </a:rPr>
              <a:t>two positions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08376" y="3291840"/>
            <a:ext cx="16824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>
                <a:solidFill>
                  <a:srgbClr val="000000"/>
                </a:solidFill>
                <a:latin typeface="Courier New"/>
              </a:rPr>
              <a:t>[p1, p2]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5212" y="1988820"/>
            <a:ext cx="2048255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5056631" y="1920240"/>
            <a:ext cx="2048255" cy="45720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056631" y="2048256"/>
            <a:ext cx="204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EDGE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25212" y="2537460"/>
            <a:ext cx="2048255" cy="17373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056631" y="2468880"/>
            <a:ext cx="2048255" cy="17373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239512" y="2697480"/>
            <a:ext cx="16824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>
                <a:solidFill>
                  <a:srgbClr val="000000"/>
                </a:solidFill>
                <a:latin typeface="Calibri"/>
              </a:rPr>
              <a:t>two vertices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9512" y="3291840"/>
            <a:ext cx="16824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>
                <a:solidFill>
                  <a:srgbClr val="000000"/>
                </a:solidFill>
                <a:latin typeface="Courier New"/>
              </a:rPr>
              <a:t>[v1, v2]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56347" y="1988820"/>
            <a:ext cx="2048255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7287767" y="1920240"/>
            <a:ext cx="2048255" cy="45720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287767" y="2048256"/>
            <a:ext cx="204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FACE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56347" y="2537460"/>
            <a:ext cx="2048255" cy="17373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7287767" y="2468880"/>
            <a:ext cx="2048255" cy="17373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470647" y="2697480"/>
            <a:ext cx="16824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>
                <a:solidFill>
                  <a:srgbClr val="000000"/>
                </a:solidFill>
                <a:latin typeface="Calibri"/>
              </a:rPr>
              <a:t>ordered corners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0647" y="3291840"/>
            <a:ext cx="16824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>
                <a:solidFill>
                  <a:srgbClr val="000000"/>
                </a:solidFill>
                <a:latin typeface="Courier New"/>
              </a:rPr>
              <a:t>[v1, v2, v3]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87483" y="1988820"/>
            <a:ext cx="2048255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9518903" y="1920240"/>
            <a:ext cx="2048255" cy="45720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518903" y="2048256"/>
            <a:ext cx="204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MESH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587483" y="2537460"/>
            <a:ext cx="2048255" cy="17373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9518903" y="2468880"/>
            <a:ext cx="2048255" cy="17373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9701783" y="2697480"/>
            <a:ext cx="16824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>
                <a:solidFill>
                  <a:srgbClr val="000000"/>
                </a:solidFill>
                <a:latin typeface="Calibri"/>
              </a:rPr>
              <a:t>many faces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01783" y="3291840"/>
            <a:ext cx="16824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>
                <a:solidFill>
                  <a:srgbClr val="000000"/>
                </a:solidFill>
                <a:latin typeface="Courier New"/>
              </a:rPr>
              <a:t>[f1, f2, f3…]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2940" y="4594860"/>
            <a:ext cx="10972800" cy="62179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594360" y="4526280"/>
            <a:ext cx="10972800" cy="621792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777240" y="4526280"/>
            <a:ext cx="106070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A POSITION IS NOT A DISPLACEMENT. THE SAME THREE NUMBERS MEAN DIFFERENT THINGS DEPENDING ON WHICH ONE YOU MEANT.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4360" y="53949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>
                <a:solidFill>
                  <a:srgbClr val="B4B4AC"/>
                </a:solidFill>
                <a:latin typeface="Calibri"/>
              </a:rPr>
              <a:t>Nothing here is new geometry. It is the same collection, read at a different level: a face is a list of vertices, a mesh is a list of faces, and in Week 6 an array will be a list of copies.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A FACE IS AN ORDERED LIST OF CORNERS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Same three vertices, two different faces. The order is the difference.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5486400" cy="3108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5486400" cy="31089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548640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WINDING ORDER</a:t>
            </a:r>
          </a:p>
        </p:txBody>
      </p:sp>
      <p:sp>
        <p:nvSpPr>
          <p:cNvPr id="9" name="Oval 8"/>
          <p:cNvSpPr/>
          <p:nvPr/>
        </p:nvSpPr>
        <p:spPr>
          <a:xfrm>
            <a:off x="1801367" y="2578608"/>
            <a:ext cx="146304" cy="14630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554479" y="226771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000000"/>
                </a:solidFill>
                <a:latin typeface="Courier New"/>
              </a:rPr>
              <a:t>v0</a:t>
            </a:r>
          </a:p>
        </p:txBody>
      </p:sp>
      <p:sp>
        <p:nvSpPr>
          <p:cNvPr id="11" name="Oval 10"/>
          <p:cNvSpPr/>
          <p:nvPr/>
        </p:nvSpPr>
        <p:spPr>
          <a:xfrm>
            <a:off x="1115567" y="3721608"/>
            <a:ext cx="146304" cy="14630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68679" y="341071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000000"/>
                </a:solidFill>
                <a:latin typeface="Courier New"/>
              </a:rPr>
              <a:t>v1</a:t>
            </a:r>
          </a:p>
        </p:txBody>
      </p:sp>
      <p:sp>
        <p:nvSpPr>
          <p:cNvPr id="13" name="Oval 12"/>
          <p:cNvSpPr/>
          <p:nvPr/>
        </p:nvSpPr>
        <p:spPr>
          <a:xfrm>
            <a:off x="2487168" y="3721608"/>
            <a:ext cx="146304" cy="14630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240279" y="341071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000000"/>
                </a:solidFill>
                <a:latin typeface="Courier New"/>
              </a:rPr>
              <a:t>v2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7560" y="2514600"/>
            <a:ext cx="256032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1">
                <a:solidFill>
                  <a:srgbClr val="000000"/>
                </a:solidFill>
                <a:latin typeface="Courier New"/>
              </a:rPr>
              <a:t>f = [v0, v1, v2]</a:t>
            </a:r>
          </a:p>
          <a:p>
            <a:pPr algn="l">
              <a:lnSpc>
                <a:spcPct val="140000"/>
              </a:lnSpc>
            </a:pPr>
            <a:r>
              <a:rPr sz="1100">
                <a:solidFill>
                  <a:srgbClr val="000000"/>
                </a:solidFill>
                <a:latin typeface="Courier New"/>
              </a:rPr>
              <a:t>  normal → toward you</a:t>
            </a:r>
          </a:p>
          <a:p>
            <a:pPr algn="l">
              <a:lnSpc>
                <a:spcPct val="140000"/>
              </a:lnSpc>
            </a:pPr>
            <a:r>
              <a:rPr sz="800">
                <a:solidFill>
                  <a:srgbClr val="000000"/>
                </a:solidFill>
                <a:latin typeface="Courier New"/>
              </a:rPr>
              <a:t> </a:t>
            </a:r>
          </a:p>
          <a:p>
            <a:pPr algn="l">
              <a:lnSpc>
                <a:spcPct val="140000"/>
              </a:lnSpc>
            </a:pPr>
            <a:r>
              <a:rPr sz="1200" b="1">
                <a:solidFill>
                  <a:srgbClr val="000000"/>
                </a:solidFill>
                <a:latin typeface="Courier New"/>
              </a:rPr>
              <a:t>f = [v0, v2, v1]</a:t>
            </a:r>
          </a:p>
          <a:p>
            <a:pPr algn="l">
              <a:lnSpc>
                <a:spcPct val="140000"/>
              </a:lnSpc>
            </a:pPr>
            <a:r>
              <a:rPr sz="1100">
                <a:solidFill>
                  <a:srgbClr val="000000"/>
                </a:solidFill>
                <a:latin typeface="Courier New"/>
              </a:rPr>
              <a:t>  normal → away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69380" y="1851660"/>
            <a:ext cx="5166360" cy="3108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6400800" y="1783080"/>
            <a:ext cx="5166360" cy="31089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400800" y="1783080"/>
            <a:ext cx="5166360" cy="5029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629400" y="1783080"/>
            <a:ext cx="4709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>
                <a:solidFill>
                  <a:srgbClr val="000000"/>
                </a:solidFill>
                <a:latin typeface="Arial"/>
              </a:rPr>
              <a:t>WHY IT MATTERS LATER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2487168"/>
            <a:ext cx="46177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A flipped face tells a renderer the inside is the outside.</a:t>
            </a:r>
          </a:p>
          <a:p>
            <a:pPr algn="l">
              <a:lnSpc>
                <a:spcPct val="130000"/>
              </a:lnSpc>
            </a:pPr>
            <a:r>
              <a:rPr sz="7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It tells a slicer there is nothing to fill.</a:t>
            </a:r>
          </a:p>
          <a:p>
            <a:pPr algn="l">
              <a:lnSpc>
                <a:spcPct val="130000"/>
              </a:lnSpc>
            </a:pPr>
            <a:r>
              <a:rPr sz="7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Most failed prints this semester will start here, not at the printer.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2940" y="5234940"/>
            <a:ext cx="1097280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94360" y="5166360"/>
            <a:ext cx="10972800" cy="658368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7240" y="5166360"/>
            <a:ext cx="106070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CLOSED MEANS EVERY EDGE IS SHARED BY EXACTLY TWO FACES. CHECK IT BEFORE YOU BELIEVE 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THE PYRAMID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Five vertices, eight edges, five faces. Built by hand, driven by three numbers.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943100"/>
            <a:ext cx="5669280" cy="30175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74519"/>
            <a:ext cx="5669280" cy="30175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874519"/>
            <a:ext cx="566928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874519"/>
            <a:ext cx="52120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WHAT YOU ASSEMBLE</a:t>
            </a:r>
          </a:p>
        </p:txBody>
      </p:sp>
      <p:sp>
        <p:nvSpPr>
          <p:cNvPr id="9" name="Rectangle 8"/>
          <p:cNvSpPr/>
          <p:nvPr/>
        </p:nvSpPr>
        <p:spPr>
          <a:xfrm>
            <a:off x="982980" y="2674620"/>
            <a:ext cx="68580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914400" y="2606040"/>
            <a:ext cx="685800" cy="56692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27889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60604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000000"/>
                </a:solidFill>
                <a:latin typeface="Arial"/>
              </a:rPr>
              <a:t>VERTICES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88036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>
                <a:solidFill>
                  <a:srgbClr val="000000"/>
                </a:solidFill>
                <a:latin typeface="Calibri"/>
              </a:rPr>
              <a:t>four base corners and an apex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82980" y="3387852"/>
            <a:ext cx="68580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914400" y="3319272"/>
            <a:ext cx="685800" cy="56692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14400" y="350215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319272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000000"/>
                </a:solidFill>
                <a:latin typeface="Arial"/>
              </a:rPr>
              <a:t>EDGES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593591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>
                <a:solidFill>
                  <a:srgbClr val="000000"/>
                </a:solidFill>
                <a:latin typeface="Calibri"/>
              </a:rPr>
              <a:t>four around the base, four to the apex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82980" y="4101084"/>
            <a:ext cx="68580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914400" y="4032504"/>
            <a:ext cx="685800" cy="56692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14400" y="42153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032504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000000"/>
                </a:solidFill>
                <a:latin typeface="Arial"/>
              </a:rPr>
              <a:t>FACES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4306824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>
                <a:solidFill>
                  <a:srgbClr val="000000"/>
                </a:solidFill>
                <a:latin typeface="Calibri"/>
              </a:rPr>
              <a:t>four triangular sides and the base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06540" y="1943100"/>
            <a:ext cx="5029200" cy="30175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6537960" y="1874519"/>
            <a:ext cx="5029200" cy="30175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6537960" y="1874519"/>
            <a:ext cx="5029200" cy="50292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766560" y="1874519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EXPOSED INPUTS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12280" y="2606040"/>
            <a:ext cx="44805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>
                <a:solidFill>
                  <a:srgbClr val="000000"/>
                </a:solidFill>
                <a:latin typeface="Courier New"/>
              </a:rPr>
              <a:t>Width</a:t>
            </a:r>
          </a:p>
          <a:p>
            <a:pPr algn="l">
              <a:lnSpc>
                <a:spcPct val="140000"/>
              </a:lnSpc>
            </a:pPr>
            <a:r>
              <a:rPr sz="1400" b="1">
                <a:solidFill>
                  <a:srgbClr val="000000"/>
                </a:solidFill>
                <a:latin typeface="Courier New"/>
              </a:rPr>
              <a:t>Depth</a:t>
            </a:r>
          </a:p>
          <a:p>
            <a:pPr algn="l">
              <a:lnSpc>
                <a:spcPct val="140000"/>
              </a:lnSpc>
            </a:pPr>
            <a:r>
              <a:rPr sz="1400" b="1">
                <a:solidFill>
                  <a:srgbClr val="000000"/>
                </a:solidFill>
                <a:latin typeface="Courier New"/>
              </a:rPr>
              <a:t>Height</a:t>
            </a:r>
          </a:p>
          <a:p>
            <a:pPr algn="l">
              <a:lnSpc>
                <a:spcPct val="140000"/>
              </a:lnSpc>
            </a:pPr>
            <a:r>
              <a:rPr sz="800">
                <a:solidFill>
                  <a:srgbClr val="000000"/>
                </a:solidFill>
                <a:latin typeface="Courier New"/>
              </a:rPr>
              <a:t> </a:t>
            </a:r>
          </a:p>
          <a:p>
            <a:pPr algn="l">
              <a:lnSpc>
                <a:spcPct val="14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Three numbers, and the whole solid rebuilds. That is the entire point of the exercise.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5280660"/>
            <a:ext cx="10972800" cy="640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5212080"/>
            <a:ext cx="10972800" cy="64008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77240" y="521208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DO NOT FORGET THE BASE FACE. A PYRAMID WITH FOUR SIDES AND NO BOTTOM IS NOT A SOLID.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AND THEN IT GOES BACK INTO THE CSG 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The pyramid is not an exercise. It is the cutter for the study you already built.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2585466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2585466" cy="45720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1911095"/>
            <a:ext cx="25854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01   BUILD IT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" y="2400300"/>
            <a:ext cx="2585466" cy="20116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94360" y="2331720"/>
            <a:ext cx="2585466" cy="20116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22960" y="2331720"/>
            <a:ext cx="2128266" cy="2011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Five vertices, five faces, closed, with Width / Depth / Height exposed.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58718" y="1851660"/>
            <a:ext cx="2585466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390138" y="1783080"/>
            <a:ext cx="2585466" cy="45720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390138" y="1911095"/>
            <a:ext cx="25854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02   SUBTRACT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58718" y="2400300"/>
            <a:ext cx="2585466" cy="20116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3390138" y="2331720"/>
            <a:ext cx="2585466" cy="20116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618738" y="2331720"/>
            <a:ext cx="2128266" cy="2011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Cube minus pyramid. The same Boolean from Week 2, with your own solid.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54496" y="1851660"/>
            <a:ext cx="2585466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185916" y="1783080"/>
            <a:ext cx="2585466" cy="45720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185916" y="1911095"/>
            <a:ext cx="25854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03   DRIVE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54496" y="2400300"/>
            <a:ext cx="2585466" cy="20116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185916" y="2331720"/>
            <a:ext cx="2585466" cy="20116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14516" y="2331720"/>
            <a:ext cx="2128266" cy="2011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Change the three inputs and show at least three settings of the result.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50274" y="1851660"/>
            <a:ext cx="2585466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8981694" y="1783080"/>
            <a:ext cx="2585466" cy="45720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981694" y="1911095"/>
            <a:ext cx="25854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04   EXPLAIN 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50274" y="2400300"/>
            <a:ext cx="2585466" cy="20116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8981694" y="2331720"/>
            <a:ext cx="2585466" cy="20116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210294" y="2331720"/>
            <a:ext cx="2128266" cy="2011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Face order, normals, closure — why it cuts cleanly instead of failing.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4686300"/>
            <a:ext cx="10972800" cy="62179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4617720"/>
            <a:ext cx="10972800" cy="621792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77240" y="4617720"/>
            <a:ext cx="106070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D9E1"/>
                </a:solidFill>
                <a:latin typeface="Arial"/>
              </a:rPr>
              <a:t>THIS IS WHY P1 IS ONE PROJECT AND NOT THREE ASSIGNMENTS.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544068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>
                <a:solidFill>
                  <a:srgbClr val="6B6B6B"/>
                </a:solidFill>
                <a:latin typeface="Calibri"/>
              </a:rPr>
              <a:t>Every project in this course does the same thing — the geometry you make in one milestone becomes the input to the next. You will never start from an unrelated object.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THE SAME THING, WRITTEN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A mesh is two lists. That is the entire idea, and it fits on one slide.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97380"/>
            <a:ext cx="6858000" cy="37947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28800"/>
            <a:ext cx="6858000" cy="37947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86968" y="201168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verts = [[-w, -d, 0],              #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2860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        [ w, -d, 0],              #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560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        [ w,  d, 0],              #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83463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        [-w,  d, 0],              #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10895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        [ 0,  0, h]]              # 4  apex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338327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365759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faces = [[0, 1, 4], [1, 2, 4],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393191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        [2, 3, 4], [3, 0, 4],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20623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        [0, 3, 2, 1]]             # the base — do not forget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" y="448055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475487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pyramid = mesh(verts, faces)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502919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result  = difference(cube, pyramid)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03819" y="1897380"/>
            <a:ext cx="3931920" cy="37947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635240" y="1828800"/>
            <a:ext cx="3931920" cy="37947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7635240" y="1828800"/>
            <a:ext cx="393192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863840" y="1828800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WHAT IT MAPS ONTO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0" y="2514600"/>
            <a:ext cx="169164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point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vector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parameter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vertex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46920" y="2514600"/>
            <a:ext cx="169164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edge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face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mesh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solid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normal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2940" y="5966460"/>
            <a:ext cx="1097280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594360" y="5897880"/>
            <a:ext cx="10972800" cy="56692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77240" y="5897880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verts IS A LIST OF POSITIONS. faces IS A LIST OF INDICES INTO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62940" y="635508"/>
            <a:ext cx="2194560" cy="38404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94360" y="566928"/>
            <a:ext cx="2194560" cy="38404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ISSUED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52144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FFDF7"/>
                </a:solidFill>
                <a:latin typeface="Arial"/>
              </a:rPr>
              <a:t>P1b — PANEL FROM SCRATCH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810512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929384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E500"/>
                </a:solidFill>
                <a:latin typeface="Arial"/>
              </a:rPr>
              <a:t>DUE WEEK 6 — Sep 29   /   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FFFDF7"/>
                </a:solidFill>
                <a:latin typeface="Calibri"/>
              </a:rPr>
              <a:t>Find a panel in a building you like, keep it simple, and build it out of two lists - points and faces. It is the component you will array in P2 and the object you will print, so choose something that tiles.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62940" y="3680460"/>
            <a:ext cx="2585466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94360" y="3611880"/>
            <a:ext cx="2585466" cy="41148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94360" y="3717036"/>
            <a:ext cx="25854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FIND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" y="4183380"/>
            <a:ext cx="2585466" cy="1463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94360" y="4114800"/>
            <a:ext cx="2585466" cy="1463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50392" y="4279392"/>
            <a:ext cx="207340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A PANEL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" y="4663440"/>
            <a:ext cx="207340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One precedent, simple. It has to sit beside itself and close.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58718" y="3680460"/>
            <a:ext cx="2585466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3390138" y="3611880"/>
            <a:ext cx="2585466" cy="41148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3390138" y="3717036"/>
            <a:ext cx="25854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DECIDE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58718" y="4183380"/>
            <a:ext cx="2585466" cy="1463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3390138" y="4114800"/>
            <a:ext cx="2585466" cy="1463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646170" y="4279392"/>
            <a:ext cx="207340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WHAT MOVES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46170" y="4663440"/>
            <a:ext cx="207340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The parameters, first. One has to change its shape, not its box.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54496" y="3680460"/>
            <a:ext cx="2585466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6185916" y="3611880"/>
            <a:ext cx="2585466" cy="41148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185916" y="3717036"/>
            <a:ext cx="25854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BUILD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54496" y="4183380"/>
            <a:ext cx="2585466" cy="1463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6185916" y="4114800"/>
            <a:ext cx="2585466" cy="1463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441948" y="4279392"/>
            <a:ext cx="207340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FROM TWO LISTS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1948" y="4663440"/>
            <a:ext cx="207340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Every point an expression of those numbers. Never a typed coordinate.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50274" y="3680460"/>
            <a:ext cx="2585466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8981694" y="3611880"/>
            <a:ext cx="2585466" cy="41148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981694" y="3717036"/>
            <a:ext cx="258546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SHOW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50274" y="4183380"/>
            <a:ext cx="2585466" cy="1463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8981694" y="4114800"/>
            <a:ext cx="2585466" cy="1463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237726" y="4279392"/>
            <a:ext cx="207340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THE RANGE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7726" y="4663440"/>
            <a:ext cx="207340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Low, middle, high - still closing, still tiling. P2b drives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REQUIREMENTS — P1b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Visual quality 35% · computational understanding 25% · technical execution 20% · experimentation 10% · requirements and identity 10%.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777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777240" cy="5791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1972056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714499" y="1851660"/>
            <a:ext cx="9921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645919" y="1783080"/>
            <a:ext cx="9921240" cy="579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920240" y="1874519"/>
            <a:ext cx="9372600" cy="3962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Find one panel in a built precedent and keep it simple. Choose it by one test: could you set it beside three copies of itself, edge to edge, and have the grid close? Name the building, the architect and your source on the sheet.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2577084"/>
            <a:ext cx="777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508504"/>
            <a:ext cx="777240" cy="5791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2697479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14499" y="2577084"/>
            <a:ext cx="9921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645919" y="2508504"/>
            <a:ext cx="9921240" cy="579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920240" y="2599944"/>
            <a:ext cx="9372600" cy="3962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Decide the parameters before you model anything, and say in one line what each does. At least one must change the panel's shape — an aperture, a fold depth, a corner offset — not its bounding box.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3302508"/>
            <a:ext cx="777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233928"/>
            <a:ext cx="777240" cy="57912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3422904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14499" y="3302508"/>
            <a:ext cx="9921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645919" y="3233928"/>
            <a:ext cx="9921240" cy="579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920240" y="3325368"/>
            <a:ext cx="9372600" cy="3962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Rebuild it from scratch: an explicit point list and an explicit face list, every point an expression of those parameters rather than a typed coordinate. Nothing collapsed, and it closes.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4027932"/>
            <a:ext cx="777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3959352"/>
            <a:ext cx="777240" cy="5791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414832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14499" y="4027932"/>
            <a:ext cx="9921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645919" y="3959352"/>
            <a:ext cx="9921240" cy="579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920240" y="4050791"/>
            <a:ext cx="9372600" cy="3962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State each parameter's working range — where the panel still closes and still tiles — and show it at the low, middle and high end of the one an attractor will drive in P2b.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4753356"/>
            <a:ext cx="777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4684776"/>
            <a:ext cx="777240" cy="5791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4360" y="487375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14499" y="4753356"/>
            <a:ext cx="9921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1645919" y="4684776"/>
            <a:ext cx="9921240" cy="579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920240" y="4776215"/>
            <a:ext cx="9372600" cy="3962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One 17 × 11 inch sheet, and one image on it: the panel rendered on a ground plane, one material, studio light, no context and no entourage. The object, its structure and nothing else.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2940" y="5478780"/>
            <a:ext cx="777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94360" y="5410199"/>
            <a:ext cx="777240" cy="5791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94360" y="5599176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714499" y="5478780"/>
            <a:ext cx="9921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1645919" y="5410199"/>
            <a:ext cx="9921240" cy="579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1920240" y="5501639"/>
            <a:ext cx="9372600" cy="3962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Print the point list, the face list and the parameter table beside the render, and annotate the vertex order of one face. Explain normals, closure, and what breaks when a face is wound backwards.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62940" y="635508"/>
            <a:ext cx="2194560" cy="38404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94360" y="566928"/>
            <a:ext cx="2194560" cy="384048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ALSO ISSUED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52144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FFDF7"/>
                </a:solidFill>
                <a:latin typeface="Arial"/>
              </a:rPr>
              <a:t>P1c — FIRST PRINT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810512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929384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E500"/>
                </a:solidFill>
                <a:latin typeface="Arial"/>
              </a:rPr>
              <a:t>DUE WEEK 10 — Oct 27   /   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FFFDF7"/>
                </a:solidFill>
                <a:latin typeface="Calibri"/>
              </a:rPr>
              <a:t>The same geometry, made real. A printable variant of the project you have been building since Week 2 — presented as a physical object at the midterm.</a:t>
            </a:r>
          </a:p>
        </p:txBody>
      </p:sp>
      <p:sp>
        <p:nvSpPr>
          <p:cNvPr id="9" name="Rectangle 8"/>
          <p:cNvSpPr/>
          <p:nvPr/>
        </p:nvSpPr>
        <p:spPr>
          <a:xfrm>
            <a:off x="662940" y="3680460"/>
            <a:ext cx="3517391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94360" y="3611880"/>
            <a:ext cx="3517391" cy="41148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94360" y="37170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LIMIT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" y="4183380"/>
            <a:ext cx="3517391" cy="1463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94360" y="4114800"/>
            <a:ext cx="3517391" cy="1463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50392" y="4279392"/>
            <a:ext cx="30053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60 MM, 200 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" y="4663440"/>
            <a:ext cx="30053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Each axis within 60 mm. The allocation includes failures.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0644" y="3680460"/>
            <a:ext cx="3517391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4322064" y="3611880"/>
            <a:ext cx="3517391" cy="41148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322064" y="37170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RULE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90644" y="4183380"/>
            <a:ext cx="3517391" cy="1463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4322064" y="4114800"/>
            <a:ext cx="3517391" cy="1463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578096" y="4279392"/>
            <a:ext cx="30053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NO SUPPORTS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8096" y="4663440"/>
            <a:ext cx="30053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Orientation is your only lever. Change the geometry if you must.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18347" y="3680460"/>
            <a:ext cx="3517391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8049767" y="3611880"/>
            <a:ext cx="3517391" cy="41148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049767" y="37170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DUE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18347" y="4183380"/>
            <a:ext cx="3517391" cy="1463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8049767" y="4114800"/>
            <a:ext cx="3517391" cy="1463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305799" y="4279392"/>
            <a:ext cx="30053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AT THE MIDTERM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5799" y="4663440"/>
            <a:ext cx="30053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The queue has latency the two-week cycle does not.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REQUIREMENTS — P1c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Fabrication milestone — visual documentation 20% · computational understanding 20% · technical execution 15% · fabrication quality 30% · experimentation 5% · requirements 10%.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777240" cy="960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777240" cy="9601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162556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714499" y="1851660"/>
            <a:ext cx="9921240" cy="960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645919" y="1783080"/>
            <a:ext cx="9921240" cy="960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920240" y="1874519"/>
            <a:ext cx="93726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Develop a printable variant of the geometry project, within 60 mm on each axis and the 200 g allocation, with no supports.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2958084"/>
            <a:ext cx="777240" cy="960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889504"/>
            <a:ext cx="777240" cy="9601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3268980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14499" y="2958084"/>
            <a:ext cx="9921240" cy="960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645919" y="2889504"/>
            <a:ext cx="9921240" cy="960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920240" y="2980944"/>
            <a:ext cx="93726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Present the physical print at midterm with one orientation/process sheet and a photograph.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4064508"/>
            <a:ext cx="777240" cy="960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995928"/>
            <a:ext cx="777240" cy="96012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4375404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14499" y="4064508"/>
            <a:ext cx="9921240" cy="960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645919" y="3995928"/>
            <a:ext cx="9921240" cy="960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920240" y="4087368"/>
            <a:ext cx="93726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Submit the editable source, exported mesh and slicer project. Explain any geometry changes made for printability.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5225796"/>
            <a:ext cx="10972800" cy="51206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5157216"/>
            <a:ext cx="10972800" cy="512064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14400" y="5157216"/>
            <a:ext cx="10332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000000"/>
                </a:solidFill>
                <a:latin typeface="Arial"/>
              </a:rPr>
              <a:t>CHECKPOINT · WEEK 6 — Sep 29 — Review print-ready geometry, physical units, orientation and the sliced preview before queueing.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D9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NOW — BUILD THE PYRAMID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691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000000"/>
                </a:solidFill>
                <a:latin typeface="Calibri"/>
              </a:rPr>
              <a:t>Rest of the session: from a single point to a closed solid that cuts.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2354580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2286000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468880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8" name="Rectangle 7"/>
          <p:cNvSpPr/>
          <p:nvPr/>
        </p:nvSpPr>
        <p:spPr>
          <a:xfrm>
            <a:off x="1559051" y="2354580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490472" y="2286000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764792" y="2286000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One point placed from an XYZ vector, and you can say why it is a position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2994660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926080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3108960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59051" y="2994660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490472" y="2926080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764792" y="2926080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Four base corners and an apex, with Width / Depth / Height exposed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3634740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566160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3749040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59051" y="3634740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490472" y="3566160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764792" y="3566160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All five faces joined — four sides and the base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4274820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4206240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4389120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59051" y="4274820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490472" y="4206240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764792" y="4206240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Closure checked: every edge shared by exactly two faces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4914900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4846320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4360" y="5029200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59051" y="4914900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1490472" y="4846320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764792" y="4846320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Cube minus pyramid working, off the same three inputs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2940" y="5554980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94360" y="5486400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94360" y="5669280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559051" y="5554980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1490472" y="5486400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1764792" y="5486400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Your own panel named, and the numbers that will drive it written down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2940" y="6012180"/>
            <a:ext cx="841248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594360" y="5943600"/>
            <a:ext cx="8412480" cy="566928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594360" y="5943600"/>
            <a:ext cx="84124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D9E1"/>
                </a:solidFill>
                <a:latin typeface="Arial"/>
              </a:rPr>
              <a:t>LEAVE WITH A SOLID THAT CUTS. THE SHEET IS THE EASY PART.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BEFORE NEXT CLASS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62940" y="1851660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94360" y="1783080"/>
            <a:ext cx="1508760" cy="804672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4360" y="2084831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CONTINUE</a:t>
            </a:r>
          </a:p>
        </p:txBody>
      </p:sp>
      <p:sp>
        <p:nvSpPr>
          <p:cNvPr id="7" name="Rectangle 6"/>
          <p:cNvSpPr/>
          <p:nvPr/>
        </p:nvSpPr>
        <p:spPr>
          <a:xfrm>
            <a:off x="2446020" y="1851660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2377440" y="1783080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651760" y="1901952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U03 runs into next class. Build the panel from its own point and face lists; arrays start in Week 6, once the panel closes.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2940" y="2912364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94360" y="2843784"/>
            <a:ext cx="1508760" cy="804672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94360" y="3145536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FINISH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46020" y="2912364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2377440" y="2843784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651760" y="2962656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P1a is due today. P1b — the panel sheet — is due Week 6, two weeks from now.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" y="3973068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94360" y="3904487"/>
            <a:ext cx="1508760" cy="804672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94360" y="420624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FIND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46020" y="3973068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2377440" y="3904487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651760" y="4023359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The panel. One building, one repeating component, simple enough to write as two lists, and it has to sit beside itself without a gap. Name the building and your source, and bring its point and face lists started - next class we build it.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2940" y="5033772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94360" y="4965192"/>
            <a:ext cx="1508760" cy="804672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94360" y="5266944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CHECK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46020" y="5033772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2377440" y="4965192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2651760" y="5084064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Your FabLab orientation now. P1c print-ready geometry is reviewed in Week 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