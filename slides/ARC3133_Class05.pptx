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4D8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05  /  SEP 22  /  U03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FROM THE PYRAMID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TO YOUR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BUILD IT, THEN LIGHT IT — THE P3a 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NOTHING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U03 CONTINUES  /  P3a IN PROGRESS  /  DUE WEEK 6 — SEP 29   /   7%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PARAMETERS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Before a single point: write down the numbers that drive the module, and what each one does.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76072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76072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7607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3035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A PARAMETER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NAME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6888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4688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6B6B6B"/>
                </a:solidFill>
                <a:latin typeface="Arial"/>
              </a:rPr>
              <a:t>WHAT IT CONTROLS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798064"/>
            <a:ext cx="5212080" cy="0"/>
          </a:xfrm>
          <a:prstGeom prst="rect">
            <a:avLst/>
          </a:prstGeom>
          <a:noFill/>
          <a:ln w="15875">
            <a:solidFill>
              <a:srgbClr val="E2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85292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Courier New"/>
              </a:rPr>
              <a:t>size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285292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85292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outer edge — also the tiling pitch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438144"/>
            <a:ext cx="5212080" cy="0"/>
          </a:xfrm>
          <a:prstGeom prst="rect">
            <a:avLst/>
          </a:prstGeom>
          <a:noFill/>
          <a:ln w="15875">
            <a:solidFill>
              <a:srgbClr val="E2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49300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Courier New"/>
              </a:rPr>
              <a:t>thickness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349300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0.1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349300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depth of the panel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078224"/>
            <a:ext cx="5212080" cy="0"/>
          </a:xfrm>
          <a:prstGeom prst="rect">
            <a:avLst/>
          </a:prstGeom>
          <a:noFill/>
          <a:ln w="15875">
            <a:solidFill>
              <a:srgbClr val="E2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133088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Courier New"/>
              </a:rPr>
              <a:t>aperture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4133088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4133088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hole as a share of the size, 0 &lt; k &lt;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97980" y="1851660"/>
            <a:ext cx="4937760" cy="3246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6629400" y="1783080"/>
            <a:ext cx="4937760" cy="3246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629400" y="1783080"/>
            <a:ext cx="493776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1783080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ONE MUST CHANGE THE 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2468880"/>
            <a:ext cx="438912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Size and thickness only change the box. P3a asks for a shape control beyond overall dimensions: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APERTURE  ·  FOLD DEPTH  ·  CORNER OFFSET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example here is an aperture: a square frame with a square hole. Yours comes from your precedent.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37210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30352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YOU CANNOT SAY WHAT A NUMBER CONTROLS, IT IS NOT A PARAMETER YET.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CALCULATE EVERY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Each position is an expression of the parameters. Never a typed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4663440" cy="3657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4663440" cy="3657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4663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PLAN — TOP 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2697480"/>
            <a:ext cx="2377440" cy="237744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26817" y="3386937"/>
            <a:ext cx="998524" cy="998524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1668780" y="500634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26463" y="509320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0</a:t>
            </a:r>
          </a:p>
        </p:txBody>
      </p:sp>
      <p:sp>
        <p:nvSpPr>
          <p:cNvPr id="13" name="Oval 12"/>
          <p:cNvSpPr/>
          <p:nvPr/>
        </p:nvSpPr>
        <p:spPr>
          <a:xfrm>
            <a:off x="4046220" y="500634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187952" y="5093208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4046220" y="262890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187952" y="242316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668780" y="2628900"/>
            <a:ext cx="137160" cy="137160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26463" y="2423160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2358237" y="4316882"/>
            <a:ext cx="137160" cy="13716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499969" y="411114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3356762" y="4316882"/>
            <a:ext cx="137160" cy="13716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151022" y="4111142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5</a:t>
            </a:r>
          </a:p>
        </p:txBody>
      </p:sp>
      <p:sp>
        <p:nvSpPr>
          <p:cNvPr id="23" name="Oval 22"/>
          <p:cNvSpPr/>
          <p:nvPr/>
        </p:nvSpPr>
        <p:spPr>
          <a:xfrm>
            <a:off x="3356762" y="3318357"/>
            <a:ext cx="137160" cy="13716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1022" y="3423513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6</a:t>
            </a:r>
          </a:p>
        </p:txBody>
      </p:sp>
      <p:sp>
        <p:nvSpPr>
          <p:cNvPr id="25" name="Oval 24"/>
          <p:cNvSpPr/>
          <p:nvPr/>
        </p:nvSpPr>
        <p:spPr>
          <a:xfrm>
            <a:off x="2358237" y="3318357"/>
            <a:ext cx="137160" cy="137160"/>
          </a:xfrm>
          <a:prstGeom prst="ellipse">
            <a:avLst/>
          </a:prstGeom>
          <a:solidFill>
            <a:srgbClr val="00D9E1"/>
          </a:solidFill>
          <a:ln w="6350">
            <a:solidFill>
              <a:srgbClr val="00D9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499969" y="3423513"/>
            <a:ext cx="2743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Courier New"/>
              </a:rPr>
              <a:t>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700" y="1943100"/>
            <a:ext cx="6035040" cy="3657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532120" y="1874519"/>
            <a:ext cx="6035040" cy="3657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532120" y="1874519"/>
            <a:ext cx="6035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760720" y="1874519"/>
            <a:ext cx="5577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POINT LIST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2560320"/>
            <a:ext cx="5577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h = size / 2              # half size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q = h * k                 # aperture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t = thickness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top    = [[-h,-h,t], [ h,-h,t],     # 0 1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          [ h, h,t], [-h, h,t],     # 2 3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          [-q,-q,t], [ q,-q,t],     # 4 5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          [ q, q,t], [-q, q,t]]     # 6 7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bottom = the same eight at z = 0    # 8–15</a:t>
            </a:r>
          </a:p>
          <a:p>
            <a:pPr algn="l">
              <a:lnSpc>
                <a:spcPct val="120000"/>
              </a:lnSpc>
            </a:pPr>
            <a:r>
              <a:rPr sz="1150">
                <a:solidFill>
                  <a:srgbClr val="000000"/>
                </a:solidFill>
                <a:latin typeface="Courier New"/>
              </a:rPr>
              <a:t>verts  = top + bottom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" y="5875020"/>
            <a:ext cx="10972800" cy="5486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4360" y="5806440"/>
            <a:ext cx="10972800" cy="54864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580644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WRITE THE INDEX NEXT TO EVERY POINT. THE FACES ARE LISTS OF THESE NUMBERS.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FACE ORDER AND 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Four kinds of face, each written counter-clockwise as seen from outside the solid.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630936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630936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630936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852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THE FACE LIST  —  i = 0…3,  n = (i + 1) % 4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514600"/>
            <a:ext cx="109728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197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58775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Courier New"/>
              </a:rPr>
              <a:t>[i,    n,    4+n,  4+i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58775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normal 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118104"/>
            <a:ext cx="109728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32232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BOTTOM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19125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Courier New"/>
              </a:rPr>
              <a:t>[12+i, 12+n, 8+n,  8+i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91256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normal down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721608"/>
            <a:ext cx="109728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" y="38267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OUTER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9476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Courier New"/>
              </a:rPr>
              <a:t>[i,    8+i,  8+n,  n  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794760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normal outward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4325112"/>
            <a:ext cx="1097280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443026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39826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Courier New"/>
              </a:rPr>
              <a:t>[4+i,  4+n,  12+n, 12+i]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4398264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6B6B6B"/>
                </a:solidFill>
                <a:latin typeface="Calibri"/>
              </a:rPr>
              <a:t>normal into the hole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46620" y="1851660"/>
            <a:ext cx="438912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178040" y="1783080"/>
            <a:ext cx="438912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7178040" y="1783080"/>
            <a:ext cx="438912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06640" y="1783080"/>
            <a:ext cx="3931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CHECK 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60" y="2468880"/>
            <a:ext cx="38404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16 VERTICES · 32 EDGES · 16 FACES</a:t>
            </a:r>
          </a:p>
          <a:p>
            <a:pPr algn="l">
              <a:lnSpc>
                <a:spcPct val="125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Closed: every edge is shared by exactly two faces.</a:t>
            </a:r>
          </a:p>
          <a:p>
            <a:pPr algn="l">
              <a:lnSpc>
                <a:spcPct val="125000"/>
              </a:lnSpc>
            </a:pPr>
            <a:r>
              <a:rPr sz="4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Oriented: a shared edge runs one way in one face and the other way in the next.</a:t>
            </a:r>
          </a:p>
          <a:p>
            <a:pPr algn="l">
              <a:lnSpc>
                <a:spcPct val="125000"/>
              </a:lnSpc>
            </a:pPr>
            <a:r>
              <a:rPr sz="4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reversed face flips its normal. Show one on the sheet, and say how you found it.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2940" y="541782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94360" y="5349240"/>
            <a:ext cx="10972800" cy="62179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534924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PUT ONE FACE ON THE SHEET WITH ITS VERTEX ORDER DRAWN. P3a ASKS FOR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TILE IT 2 × 2, THEN PUSH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 module that only works at one value is a drawing. Find the range where it still closes and tiles.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93192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93192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93192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2 × 2, EDGE TO EDGE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2514600"/>
            <a:ext cx="1051560" cy="105156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797938" y="2803779"/>
            <a:ext cx="473201" cy="473201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508760" y="3566160"/>
            <a:ext cx="1051560" cy="105156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797938" y="3855338"/>
            <a:ext cx="473201" cy="473201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560320" y="2514600"/>
            <a:ext cx="1051560" cy="105156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849499" y="2803779"/>
            <a:ext cx="473201" cy="473201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2560320" y="3566160"/>
            <a:ext cx="1051560" cy="1051560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2849499" y="3855338"/>
            <a:ext cx="473201" cy="473201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68680" y="4681728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>
                <a:solidFill>
                  <a:srgbClr val="000000"/>
                </a:solidFill>
                <a:latin typeface="Calibri"/>
              </a:rPr>
              <a:t>Size is the pitch. Shared edges, no gaps.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23460" y="1851660"/>
            <a:ext cx="6812280" cy="34290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754880" y="1783080"/>
            <a:ext cx="6812280" cy="34290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754880" y="1783080"/>
            <a:ext cx="681228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983480" y="1783080"/>
            <a:ext cx="6355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LOW  ·  MIDDLE  ·  HIGH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66360" y="2560320"/>
            <a:ext cx="1463040" cy="1463040"/>
          </a:xfrm>
          <a:prstGeom prst="rect">
            <a:avLst/>
          </a:prstGeom>
          <a:solidFill>
            <a:srgbClr val="00D9E1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788152" y="3182112"/>
            <a:ext cx="219456" cy="219456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83480" y="4160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Courier New"/>
              </a:rPr>
              <a:t>k = 0.15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2560320"/>
            <a:ext cx="1463040" cy="1463040"/>
          </a:xfrm>
          <a:prstGeom prst="rect">
            <a:avLst/>
          </a:prstGeom>
          <a:solidFill>
            <a:srgbClr val="C6F03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680960" y="2926079"/>
            <a:ext cx="731520" cy="731520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32320" y="4160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Courier New"/>
              </a:rPr>
              <a:t>k = 0.50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40" y="2560320"/>
            <a:ext cx="1463040" cy="1463040"/>
          </a:xfrm>
          <a:prstGeom prst="rect">
            <a:avLst/>
          </a:prstGeom>
          <a:solidFill>
            <a:srgbClr val="FF4D8D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573768" y="2670048"/>
            <a:ext cx="1243584" cy="1243584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281160" y="4160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Courier New"/>
              </a:rPr>
              <a:t>k = 0.85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57200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At k = 0 the hole is gone and the inner faces collapse. At k = 1 the frame has no width. Both ends break the mesh.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" y="5554980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94360" y="5486400"/>
            <a:ext cx="10972800" cy="621792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77240" y="5486400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E500"/>
                </a:solidFill>
                <a:latin typeface="Arial"/>
              </a:rPr>
              <a:t>STATE THE RANGE ON THE SHEET — FOR EXAMPLE 0.15 ≤ k ≤ 0.85 — AND DRAW BOTH ENDS AND THE MIDDLE.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ONE RENDER, ONE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A studio render: the module alone, on a ground plane, in one surface.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GROUND PLANE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146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The module sits on it. Its shadow tells the eye where the module is.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Make it large enough to hold the whole shadow.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ONE MATERIAL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146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One surface for the whole module: colour, roughness, metal or not.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Write the values down. They go on the sheet.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BACKGROUND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2514600"/>
            <a:ext cx="30175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Plain and continuous. The floor meets the backdrop without a visible edge.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 entourage: no people, trees or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" y="532638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94360" y="525780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THE GEOMETRY IS THE SUBJECT. THE MATERIAL SHOULD SHOW ITS FORM, NOT COMPETE WITH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LIGHT IT ON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Choose one setup. Every light has a job, and you can name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475488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475488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47548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2976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KEY · FILL · RIM  (PLAN)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3291840"/>
            <a:ext cx="640080" cy="640080"/>
          </a:xfrm>
          <a:prstGeom prst="rect">
            <a:avLst/>
          </a:prstGeom>
          <a:solidFill>
            <a:srgbClr val="C6F035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468880" y="4572000"/>
            <a:ext cx="1005840" cy="329184"/>
          </a:xfrm>
          <a:prstGeom prst="rect">
            <a:avLst/>
          </a:prstGeom>
          <a:solidFill>
            <a:srgbClr val="B4B4AC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68880" y="463600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000000"/>
                </a:solidFill>
                <a:latin typeface="Arial"/>
              </a:rPr>
              <a:t>CAMERA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3931920"/>
            <a:ext cx="914400" cy="329184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39959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3794760"/>
            <a:ext cx="914400" cy="329184"/>
          </a:xfrm>
          <a:prstGeom prst="rect">
            <a:avLst/>
          </a:prstGeom>
          <a:solidFill>
            <a:srgbClr val="F4F4EE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114800" y="38587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FILL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514600"/>
            <a:ext cx="914400" cy="32918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514600" y="25786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00000"/>
                </a:solidFill>
                <a:latin typeface="Arial"/>
              </a:rPr>
              <a:t>RIM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46420" y="1943100"/>
            <a:ext cx="5989320" cy="3291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577840" y="1874519"/>
            <a:ext cx="5989320" cy="3291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577840" y="1874519"/>
            <a:ext cx="598932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06440" y="1874519"/>
            <a:ext cx="5532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TWO SETUPS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560320"/>
            <a:ext cx="54864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KEY  </a:t>
            </a:r>
            <a:r>
              <a:rPr sz="1300">
                <a:solidFill>
                  <a:srgbClr val="000000"/>
                </a:solidFill>
                <a:latin typeface="Calibri"/>
              </a:rPr>
              <a:t>the main light. It sets the shadow direction.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FILL  </a:t>
            </a:r>
            <a:r>
              <a:rPr sz="1300">
                <a:solidFill>
                  <a:srgbClr val="000000"/>
                </a:solidFill>
                <a:latin typeface="Calibri"/>
              </a:rPr>
              <a:t>opposite side, weaker. It lifts the dark side.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RIM  </a:t>
            </a:r>
            <a:r>
              <a:rPr sz="1300">
                <a:solidFill>
                  <a:srgbClr val="000000"/>
                </a:solidFill>
                <a:latin typeface="Calibri"/>
              </a:rPr>
              <a:t>behind the module. It separates the edge from the background.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OR</a:t>
            </a:r>
          </a:p>
          <a:p>
            <a:pPr algn="l">
              <a:lnSpc>
                <a:spcPct val="130000"/>
              </a:lnSpc>
            </a:pPr>
            <a:r>
              <a:rPr sz="4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SUN  </a:t>
            </a:r>
            <a:r>
              <a:rPr sz="1300">
                <a:solidFill>
                  <a:srgbClr val="000000"/>
                </a:solidFill>
                <a:latin typeface="Calibri"/>
              </a:rPr>
              <a:t>one direction, sharp shadow.</a:t>
            </a:r>
          </a:p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Arial"/>
              </a:rPr>
              <a:t>SKY  </a:t>
            </a:r>
            <a:r>
              <a:rPr sz="1300">
                <a:solidFill>
                  <a:srgbClr val="000000"/>
                </a:solidFill>
                <a:latin typeface="Calibri"/>
              </a:rPr>
              <a:t>soft light from everywhere that fills the shadow.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50926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440680"/>
            <a:ext cx="1097280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LARGE LIGHT, SOFT SHADOW. SMALL LIGHT, SHARP SHADOW. CHOOSE ONE, SAY WHY, AND RECORD EVERY SETTING.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CAMERA AND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One fixed view, then a layout where the render leads and the lists explain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4572000" cy="397763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4572000" cy="397763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457200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4023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One view. Slightly above, three-quarter, so the top and two sides read.</a:t>
            </a:r>
          </a:p>
          <a:p>
            <a:pPr algn="l">
              <a:lnSpc>
                <a:spcPct val="125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A long enough lens that the module does not distort.</a:t>
            </a:r>
          </a:p>
          <a:p>
            <a:pPr algn="l">
              <a:lnSpc>
                <a:spcPct val="125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Frame the module and its shadow. Leave air around both.</a:t>
            </a:r>
          </a:p>
          <a:p>
            <a:pPr algn="l">
              <a:lnSpc>
                <a:spcPct val="125000"/>
              </a:lnSpc>
            </a:pPr>
            <a:r>
              <a:rPr sz="5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Render at the proportion of the space it fills on the sheet.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9260" y="1851660"/>
            <a:ext cx="6126480" cy="3977639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40680" y="1783080"/>
            <a:ext cx="6126480" cy="3977639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40680" y="1783080"/>
            <a:ext cx="612648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669280" y="1783080"/>
            <a:ext cx="5669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17 × 11 INCH 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542032"/>
            <a:ext cx="4572000" cy="2958352"/>
          </a:xfrm>
          <a:prstGeom prst="rect">
            <a:avLst/>
          </a:prstGeom>
          <a:solidFill>
            <a:srgbClr val="F4F4EE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310909" y="2635021"/>
            <a:ext cx="2595966" cy="1898542"/>
          </a:xfrm>
          <a:prstGeom prst="rect">
            <a:avLst/>
          </a:prstGeom>
          <a:solidFill>
            <a:srgbClr val="FFE500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356629" y="2635021"/>
            <a:ext cx="2504526" cy="18985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STUDIO RENDER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7614" y="2635021"/>
            <a:ext cx="1689315" cy="557938"/>
          </a:xfrm>
          <a:prstGeom prst="rect">
            <a:avLst/>
          </a:prstGeom>
          <a:solidFill>
            <a:srgbClr val="C6F035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53334" y="2635021"/>
            <a:ext cx="1597875" cy="5579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PARAMETER 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7614" y="3285950"/>
            <a:ext cx="1689315" cy="619932"/>
          </a:xfrm>
          <a:prstGeom prst="rect">
            <a:avLst/>
          </a:prstGeom>
          <a:solidFill>
            <a:srgbClr val="00D9E1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53334" y="3285950"/>
            <a:ext cx="1597875" cy="619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POINT + FACE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7614" y="3998872"/>
            <a:ext cx="1689315" cy="534691"/>
          </a:xfrm>
          <a:prstGeom prst="rect">
            <a:avLst/>
          </a:prstGeom>
          <a:solidFill>
            <a:srgbClr val="FF4D8D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53334" y="3998872"/>
            <a:ext cx="1597875" cy="534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ONE FACE, VERTEX ORDER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10909" y="4626554"/>
            <a:ext cx="2595966" cy="767166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6629" y="4626554"/>
            <a:ext cx="2504526" cy="767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LOW · MIDDLE · HIGH + 2 ×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07614" y="4626554"/>
            <a:ext cx="1689315" cy="767166"/>
          </a:xfrm>
          <a:prstGeom prst="rect">
            <a:avLst/>
          </a:prstGeom>
          <a:solidFill>
            <a:srgbClr val="FFFDF7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053334" y="4626554"/>
            <a:ext cx="1597875" cy="7671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SETTINGS · CREDIT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" y="6057900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94360" y="5989320"/>
            <a:ext cx="10972800" cy="512064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77240" y="5989320"/>
            <a:ext cx="106070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>
                <a:solidFill>
                  <a:srgbClr val="C6F035"/>
                </a:solidFill>
                <a:latin typeface="Arial"/>
              </a:rPr>
              <a:t>SETTINGS = MATERIAL VALUES AND EVERY LIGHT. CREDIT = BUILDING, ARCHITECT, SOURCE.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CRITIQUE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What we look at when your sheet goes on the wall. Check it yourself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376672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376672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376672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4919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MODULE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2651760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25880" y="2606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Tiles 2 × 2, edge to edge, with no gaps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3236976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25880" y="319125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Closed: every edge shared by two faces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3822191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25880" y="37764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One shape parameter beyond the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407407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25880" y="436168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Ranges stated; low, middle and high drawn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992623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25880" y="4946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Every point calculated, none typed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9068" y="1943100"/>
            <a:ext cx="5376672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6190488" y="1874519"/>
            <a:ext cx="5376672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90488" y="1874519"/>
            <a:ext cx="5376672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19088" y="1874519"/>
            <a:ext cx="491947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RENDER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8" y="2651760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922008" y="26060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Sits on the ground; the shadow reads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4808" y="3236976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922008" y="3191256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One material, its values recorded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808" y="3822191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922008" y="377647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Each light has a job you can name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64808" y="4407407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922008" y="4361688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Plain background, no entourage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4808" y="4992623"/>
            <a:ext cx="256032" cy="256032"/>
          </a:xfrm>
          <a:prstGeom prst="rect">
            <a:avLst/>
          </a:prstGeom>
          <a:solidFill>
            <a:srgbClr val="FFFDF7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922008" y="4946903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>
                <a:solidFill>
                  <a:srgbClr val="000000"/>
                </a:solidFill>
                <a:latin typeface="Calibri"/>
              </a:rPr>
              <a:t>The render leads the sheet; lists explain 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2940" y="6012180"/>
            <a:ext cx="10972800" cy="53035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94360" y="5943600"/>
            <a:ext cx="10972800" cy="53035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IF YOU CANNOT TICK A BOX, THAT IS WHAT YOU WORK ON THIS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REMINDER — P3a 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720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Choose a simple panel from a built precedent that tiles edge to edge in a 2 × 2 grid. Credit the building, architect and source.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577084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508504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2697479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577084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508504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599944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Define parameters first and explain each. Include a shape control such as aperture, fold depth or corner offset, beyond overall dimensions.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302508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233928"/>
            <a:ext cx="777240" cy="579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4229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3302508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233928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3325368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Build an editable, closed mesh from explicit point and face lists. Calculate point positions from the parameters.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027932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3959352"/>
            <a:ext cx="777240" cy="5791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148328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14499" y="4027932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645919" y="3959352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20240" y="4050791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State the ranges where the module closes and tiles. Diagram low, middle and high values of a shape parameter.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4753356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4684776"/>
            <a:ext cx="777240" cy="579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48737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14499" y="4753356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645919" y="4684776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920240" y="4776215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Use one 17 × 11 inch sheet with one studio render of the module on a ground plane — one material, a deliberate lighting setup (key, fill and rim, or one sun and sky) and no entourage. Record the material and light settings on the sheet.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5478780"/>
            <a:ext cx="777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410199"/>
            <a:ext cx="777240" cy="579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59917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714499" y="5478780"/>
            <a:ext cx="9921240" cy="579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1645919" y="5410199"/>
            <a:ext cx="9921240" cy="579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920240" y="5501639"/>
            <a:ext cx="9372600" cy="3962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000000"/>
                </a:solidFill>
                <a:latin typeface="Calibri"/>
              </a:rPr>
              <a:t>Beside the render, show point and face lists, a parameter table and the vertex order of one face. Explain normals, closure and reversed face winding.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BUILD IT, THEN LIGHT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class: your own module, closed and tiling, in a first test render.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Parameters written down first, with one shape control beyond the box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Point list calculated from the parameters — no typed coordinates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Faces ordered, normals out, closure checked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2 × 2 tiling working at low, middle and high values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test render: ground plane, one material, lights placed on purpose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A CLOSED MODULE AND A TEST RENDER. THE SHEET FOLLOWS.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Week 6 starts arrays: 1D, 2D and 3D — a linear array, a nested grid and an XYZ cube array. Your module is the component we repeat.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DUE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P3a is due next class: one sheet, one studio render, settings recorded. DUE WEEK 6 — Sep 29   /   7%.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PRINT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print checkpoint next class. Check geometry, units, orientation and the sliced preview before queueing.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editable module file — closed, parameterised, tiling. Next class it becomes the component of every array.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