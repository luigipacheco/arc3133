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4D8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1051560"/>
            <a:ext cx="10972800" cy="256032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94360" y="1481328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000000"/>
                </a:solidFill>
                <a:latin typeface="Arial"/>
              </a:rPr>
              <a:t>CLASS 05  /  SEP 22</a:t>
            </a:r>
          </a:p>
        </p:txBody>
      </p:sp>
      <p:sp>
        <p:nvSpPr>
          <p:cNvPr id="4" name="Rectangle 3"/>
          <p:cNvSpPr/>
          <p:nvPr/>
        </p:nvSpPr>
        <p:spPr>
          <a:xfrm>
            <a:off x="662940" y="2125980"/>
            <a:ext cx="10149840" cy="214884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594360" y="2057400"/>
            <a:ext cx="10149840" cy="214884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005840" y="2286000"/>
            <a:ext cx="9326880" cy="1737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000000"/>
                </a:solidFill>
                <a:latin typeface="Arial"/>
              </a:rPr>
              <a:t>ARRAYS AND LISTS</a:t>
            </a:r>
          </a:p>
          <a:p>
            <a:pPr algn="l">
              <a:lnSpc>
                <a:spcPct val="115000"/>
              </a:lnSpc>
            </a:pPr>
            <a:r>
              <a:rPr sz="4000" b="1">
                <a:solidFill>
                  <a:srgbClr val="000000"/>
                </a:solidFill>
                <a:latin typeface="Arial"/>
              </a:rPr>
              <a:t>PART TWO</a:t>
            </a:r>
          </a:p>
        </p:txBody>
      </p:sp>
      <p:sp>
        <p:nvSpPr>
          <p:cNvPr id="7" name="Rectangle 6"/>
          <p:cNvSpPr/>
          <p:nvPr/>
        </p:nvSpPr>
        <p:spPr>
          <a:xfrm>
            <a:off x="662940" y="4549140"/>
            <a:ext cx="6766560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94360" y="4480560"/>
            <a:ext cx="6766560" cy="566928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7795259" y="4549140"/>
            <a:ext cx="3017520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7726679" y="4480560"/>
            <a:ext cx="3017520" cy="566928"/>
          </a:xfrm>
          <a:prstGeom prst="rect">
            <a:avLst/>
          </a:prstGeom>
          <a:solidFill>
            <a:srgbClr val="FFE5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68680" y="4480560"/>
            <a:ext cx="64008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>
                <a:solidFill>
                  <a:srgbClr val="000000"/>
                </a:solidFill>
                <a:latin typeface="Arial"/>
              </a:rPr>
              <a:t>STAGGER IT, SPIN IT, BEND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26679" y="4480560"/>
            <a:ext cx="30175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>
                <a:solidFill>
                  <a:srgbClr val="000000"/>
                </a:solidFill>
                <a:latin typeface="Arial"/>
              </a:rPr>
              <a:t>P1b DUE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5870448"/>
            <a:ext cx="10972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000000"/>
                </a:solidFill>
                <a:latin typeface="Arial"/>
              </a:rPr>
              <a:t>U04 CONTINUES  /  P2a IN PROGRESS, DUE AT THE MIDTERM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566928"/>
            <a:ext cx="10972800" cy="0"/>
          </a:xfrm>
          <a:prstGeom prst="rect">
            <a:avLst/>
          </a:prstGeom>
          <a:noFill/>
          <a:ln w="508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676656"/>
            <a:ext cx="10972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000000"/>
                </a:solidFill>
                <a:latin typeface="Arial"/>
              </a:rPr>
              <a:t>FOUR ARRANGEMENTS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261872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>
                <a:solidFill>
                  <a:srgbClr val="6B6B6B"/>
                </a:solidFill>
                <a:latin typeface="Calibri"/>
              </a:rPr>
              <a:t>Same component, four rules for generating the list of positions.</a:t>
            </a:r>
          </a:p>
        </p:txBody>
      </p:sp>
      <p:sp>
        <p:nvSpPr>
          <p:cNvPr id="5" name="Rectangle 4"/>
          <p:cNvSpPr/>
          <p:nvPr/>
        </p:nvSpPr>
        <p:spPr>
          <a:xfrm>
            <a:off x="662940" y="1851660"/>
            <a:ext cx="2606040" cy="320040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594360" y="1783080"/>
            <a:ext cx="2606040" cy="320040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594360" y="1783080"/>
            <a:ext cx="2606040" cy="502920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22960" y="1783080"/>
            <a:ext cx="21488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50" b="1">
                <a:solidFill>
                  <a:srgbClr val="000000"/>
                </a:solidFill>
                <a:latin typeface="Arial"/>
              </a:rPr>
              <a:t>LINEAR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5528" y="4389120"/>
            <a:ext cx="2203704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>
                <a:solidFill>
                  <a:srgbClr val="000000"/>
                </a:solidFill>
                <a:latin typeface="Courier New"/>
              </a:rPr>
              <a:t>one counter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51860" y="1851660"/>
            <a:ext cx="2606040" cy="320040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3383279" y="1783080"/>
            <a:ext cx="2606040" cy="320040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3383279" y="1783080"/>
            <a:ext cx="2606040" cy="502920"/>
          </a:xfrm>
          <a:prstGeom prst="rect">
            <a:avLst/>
          </a:prstGeom>
          <a:solidFill>
            <a:srgbClr val="C6F035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3611879" y="1783080"/>
            <a:ext cx="21488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50" b="1">
                <a:solidFill>
                  <a:srgbClr val="000000"/>
                </a:solidFill>
                <a:latin typeface="Arial"/>
              </a:rPr>
              <a:t>GRID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84448" y="4389120"/>
            <a:ext cx="2203704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>
                <a:solidFill>
                  <a:srgbClr val="000000"/>
                </a:solidFill>
                <a:latin typeface="Courier New"/>
              </a:rPr>
              <a:t>two counters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40780" y="1851660"/>
            <a:ext cx="2606040" cy="320040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6172200" y="1783080"/>
            <a:ext cx="2606040" cy="320040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6172200" y="1783080"/>
            <a:ext cx="2606040" cy="502920"/>
          </a:xfrm>
          <a:prstGeom prst="rect">
            <a:avLst/>
          </a:prstGeom>
          <a:solidFill>
            <a:srgbClr val="FFE5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6400800" y="1783080"/>
            <a:ext cx="21488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50" b="1">
                <a:solidFill>
                  <a:srgbClr val="000000"/>
                </a:solidFill>
                <a:latin typeface="Arial"/>
              </a:rPr>
              <a:t>HEXAGONAL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73368" y="4389120"/>
            <a:ext cx="2203704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>
                <a:solidFill>
                  <a:srgbClr val="000000"/>
                </a:solidFill>
                <a:latin typeface="Courier New"/>
              </a:rPr>
              <a:t>stagger alternate rows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029700" y="1851660"/>
            <a:ext cx="2606040" cy="320040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8961120" y="1783080"/>
            <a:ext cx="2606040" cy="320040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8961120" y="1783080"/>
            <a:ext cx="2606040" cy="502920"/>
          </a:xfrm>
          <a:prstGeom prst="rect">
            <a:avLst/>
          </a:prstGeom>
          <a:solidFill>
            <a:srgbClr val="FF4D8D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189720" y="1783080"/>
            <a:ext cx="21488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50" b="1">
                <a:solidFill>
                  <a:srgbClr val="000000"/>
                </a:solidFill>
                <a:latin typeface="Arial"/>
              </a:rPr>
              <a:t>RADIAL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62288" y="4389120"/>
            <a:ext cx="2203704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>
                <a:solidFill>
                  <a:srgbClr val="000000"/>
                </a:solidFill>
                <a:latin typeface="Courier New"/>
              </a:rPr>
              <a:t>radius, count, angular step</a:t>
            </a:r>
          </a:p>
        </p:txBody>
      </p:sp>
      <p:sp>
        <p:nvSpPr>
          <p:cNvPr id="25" name="Oval 24"/>
          <p:cNvSpPr/>
          <p:nvPr/>
        </p:nvSpPr>
        <p:spPr>
          <a:xfrm>
            <a:off x="928116" y="3305556"/>
            <a:ext cx="100584" cy="100584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Oval 25"/>
          <p:cNvSpPr/>
          <p:nvPr/>
        </p:nvSpPr>
        <p:spPr>
          <a:xfrm>
            <a:off x="1239012" y="3305556"/>
            <a:ext cx="100584" cy="100584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Oval 26"/>
          <p:cNvSpPr/>
          <p:nvPr/>
        </p:nvSpPr>
        <p:spPr>
          <a:xfrm>
            <a:off x="1549908" y="3305556"/>
            <a:ext cx="100584" cy="100584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Oval 27"/>
          <p:cNvSpPr/>
          <p:nvPr/>
        </p:nvSpPr>
        <p:spPr>
          <a:xfrm>
            <a:off x="1860803" y="3305556"/>
            <a:ext cx="100584" cy="100584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Oval 28"/>
          <p:cNvSpPr/>
          <p:nvPr/>
        </p:nvSpPr>
        <p:spPr>
          <a:xfrm>
            <a:off x="2171700" y="3305556"/>
            <a:ext cx="100584" cy="100584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Oval 29"/>
          <p:cNvSpPr/>
          <p:nvPr/>
        </p:nvSpPr>
        <p:spPr>
          <a:xfrm>
            <a:off x="2482596" y="3305556"/>
            <a:ext cx="100584" cy="100584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Oval 30"/>
          <p:cNvSpPr/>
          <p:nvPr/>
        </p:nvSpPr>
        <p:spPr>
          <a:xfrm>
            <a:off x="2793492" y="3305556"/>
            <a:ext cx="100584" cy="100584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Oval 31"/>
          <p:cNvSpPr/>
          <p:nvPr/>
        </p:nvSpPr>
        <p:spPr>
          <a:xfrm>
            <a:off x="3835908" y="2601468"/>
            <a:ext cx="100584" cy="100584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Oval 32"/>
          <p:cNvSpPr/>
          <p:nvPr/>
        </p:nvSpPr>
        <p:spPr>
          <a:xfrm>
            <a:off x="3835908" y="2912363"/>
            <a:ext cx="100584" cy="100584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Oval 33"/>
          <p:cNvSpPr/>
          <p:nvPr/>
        </p:nvSpPr>
        <p:spPr>
          <a:xfrm>
            <a:off x="3835908" y="3223260"/>
            <a:ext cx="100584" cy="100584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Oval 34"/>
          <p:cNvSpPr/>
          <p:nvPr/>
        </p:nvSpPr>
        <p:spPr>
          <a:xfrm>
            <a:off x="3835908" y="3534156"/>
            <a:ext cx="100584" cy="100584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Oval 35"/>
          <p:cNvSpPr/>
          <p:nvPr/>
        </p:nvSpPr>
        <p:spPr>
          <a:xfrm>
            <a:off x="3835908" y="3845052"/>
            <a:ext cx="100584" cy="100584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Oval 36"/>
          <p:cNvSpPr/>
          <p:nvPr/>
        </p:nvSpPr>
        <p:spPr>
          <a:xfrm>
            <a:off x="4146804" y="2601468"/>
            <a:ext cx="100584" cy="100584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Oval 37"/>
          <p:cNvSpPr/>
          <p:nvPr/>
        </p:nvSpPr>
        <p:spPr>
          <a:xfrm>
            <a:off x="4146804" y="2912363"/>
            <a:ext cx="100584" cy="100584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Oval 38"/>
          <p:cNvSpPr/>
          <p:nvPr/>
        </p:nvSpPr>
        <p:spPr>
          <a:xfrm>
            <a:off x="4146804" y="3223260"/>
            <a:ext cx="100584" cy="100584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Oval 39"/>
          <p:cNvSpPr/>
          <p:nvPr/>
        </p:nvSpPr>
        <p:spPr>
          <a:xfrm>
            <a:off x="4146804" y="3534156"/>
            <a:ext cx="100584" cy="100584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Oval 40"/>
          <p:cNvSpPr/>
          <p:nvPr/>
        </p:nvSpPr>
        <p:spPr>
          <a:xfrm>
            <a:off x="4146804" y="3845052"/>
            <a:ext cx="100584" cy="100584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Oval 41"/>
          <p:cNvSpPr/>
          <p:nvPr/>
        </p:nvSpPr>
        <p:spPr>
          <a:xfrm>
            <a:off x="4457700" y="2601468"/>
            <a:ext cx="100584" cy="100584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Oval 42"/>
          <p:cNvSpPr/>
          <p:nvPr/>
        </p:nvSpPr>
        <p:spPr>
          <a:xfrm>
            <a:off x="4457700" y="2912363"/>
            <a:ext cx="100584" cy="100584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Oval 43"/>
          <p:cNvSpPr/>
          <p:nvPr/>
        </p:nvSpPr>
        <p:spPr>
          <a:xfrm>
            <a:off x="4457700" y="3223260"/>
            <a:ext cx="100584" cy="100584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Oval 44"/>
          <p:cNvSpPr/>
          <p:nvPr/>
        </p:nvSpPr>
        <p:spPr>
          <a:xfrm>
            <a:off x="4457700" y="3534156"/>
            <a:ext cx="100584" cy="100584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Oval 45"/>
          <p:cNvSpPr/>
          <p:nvPr/>
        </p:nvSpPr>
        <p:spPr>
          <a:xfrm>
            <a:off x="4457700" y="3845052"/>
            <a:ext cx="100584" cy="100584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Oval 46"/>
          <p:cNvSpPr/>
          <p:nvPr/>
        </p:nvSpPr>
        <p:spPr>
          <a:xfrm>
            <a:off x="4768596" y="2601468"/>
            <a:ext cx="100584" cy="100584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Oval 47"/>
          <p:cNvSpPr/>
          <p:nvPr/>
        </p:nvSpPr>
        <p:spPr>
          <a:xfrm>
            <a:off x="4768596" y="2912363"/>
            <a:ext cx="100584" cy="100584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Oval 48"/>
          <p:cNvSpPr/>
          <p:nvPr/>
        </p:nvSpPr>
        <p:spPr>
          <a:xfrm>
            <a:off x="4768596" y="3223260"/>
            <a:ext cx="100584" cy="100584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Oval 49"/>
          <p:cNvSpPr/>
          <p:nvPr/>
        </p:nvSpPr>
        <p:spPr>
          <a:xfrm>
            <a:off x="4768596" y="3534156"/>
            <a:ext cx="100584" cy="100584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Oval 50"/>
          <p:cNvSpPr/>
          <p:nvPr/>
        </p:nvSpPr>
        <p:spPr>
          <a:xfrm>
            <a:off x="4768596" y="3845052"/>
            <a:ext cx="100584" cy="100584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Oval 51"/>
          <p:cNvSpPr/>
          <p:nvPr/>
        </p:nvSpPr>
        <p:spPr>
          <a:xfrm>
            <a:off x="5079492" y="2601468"/>
            <a:ext cx="100584" cy="100584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3" name="Oval 52"/>
          <p:cNvSpPr/>
          <p:nvPr/>
        </p:nvSpPr>
        <p:spPr>
          <a:xfrm>
            <a:off x="5079492" y="2912363"/>
            <a:ext cx="100584" cy="100584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Oval 53"/>
          <p:cNvSpPr/>
          <p:nvPr/>
        </p:nvSpPr>
        <p:spPr>
          <a:xfrm>
            <a:off x="5079492" y="3223260"/>
            <a:ext cx="100584" cy="100584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" name="Oval 54"/>
          <p:cNvSpPr/>
          <p:nvPr/>
        </p:nvSpPr>
        <p:spPr>
          <a:xfrm>
            <a:off x="5079492" y="3534156"/>
            <a:ext cx="100584" cy="100584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" name="Oval 55"/>
          <p:cNvSpPr/>
          <p:nvPr/>
        </p:nvSpPr>
        <p:spPr>
          <a:xfrm>
            <a:off x="5079492" y="3845052"/>
            <a:ext cx="100584" cy="100584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7" name="Oval 56"/>
          <p:cNvSpPr/>
          <p:nvPr/>
        </p:nvSpPr>
        <p:spPr>
          <a:xfrm>
            <a:off x="5390388" y="2601468"/>
            <a:ext cx="100584" cy="100584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Oval 57"/>
          <p:cNvSpPr/>
          <p:nvPr/>
        </p:nvSpPr>
        <p:spPr>
          <a:xfrm>
            <a:off x="5390388" y="2912363"/>
            <a:ext cx="100584" cy="100584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9" name="Oval 58"/>
          <p:cNvSpPr/>
          <p:nvPr/>
        </p:nvSpPr>
        <p:spPr>
          <a:xfrm>
            <a:off x="5390388" y="3223260"/>
            <a:ext cx="100584" cy="100584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0" name="Oval 59"/>
          <p:cNvSpPr/>
          <p:nvPr/>
        </p:nvSpPr>
        <p:spPr>
          <a:xfrm>
            <a:off x="5390388" y="3534156"/>
            <a:ext cx="100584" cy="100584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1" name="Oval 60"/>
          <p:cNvSpPr/>
          <p:nvPr/>
        </p:nvSpPr>
        <p:spPr>
          <a:xfrm>
            <a:off x="5390388" y="3845052"/>
            <a:ext cx="100584" cy="100584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2" name="Oval 61"/>
          <p:cNvSpPr/>
          <p:nvPr/>
        </p:nvSpPr>
        <p:spPr>
          <a:xfrm>
            <a:off x="6533388" y="2601468"/>
            <a:ext cx="100584" cy="100584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3" name="Oval 62"/>
          <p:cNvSpPr/>
          <p:nvPr/>
        </p:nvSpPr>
        <p:spPr>
          <a:xfrm>
            <a:off x="6844284" y="2601468"/>
            <a:ext cx="100584" cy="100584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4" name="Oval 63"/>
          <p:cNvSpPr/>
          <p:nvPr/>
        </p:nvSpPr>
        <p:spPr>
          <a:xfrm>
            <a:off x="7155180" y="2601468"/>
            <a:ext cx="100584" cy="100584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5" name="Oval 64"/>
          <p:cNvSpPr/>
          <p:nvPr/>
        </p:nvSpPr>
        <p:spPr>
          <a:xfrm>
            <a:off x="7466076" y="2601468"/>
            <a:ext cx="100584" cy="100584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6" name="Oval 65"/>
          <p:cNvSpPr/>
          <p:nvPr/>
        </p:nvSpPr>
        <p:spPr>
          <a:xfrm>
            <a:off x="7776972" y="2601468"/>
            <a:ext cx="100584" cy="100584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7" name="Oval 66"/>
          <p:cNvSpPr/>
          <p:nvPr/>
        </p:nvSpPr>
        <p:spPr>
          <a:xfrm>
            <a:off x="8087868" y="2601468"/>
            <a:ext cx="100584" cy="100584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8" name="Oval 67"/>
          <p:cNvSpPr/>
          <p:nvPr/>
        </p:nvSpPr>
        <p:spPr>
          <a:xfrm>
            <a:off x="6688836" y="2912363"/>
            <a:ext cx="100584" cy="100584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9" name="Oval 68"/>
          <p:cNvSpPr/>
          <p:nvPr/>
        </p:nvSpPr>
        <p:spPr>
          <a:xfrm>
            <a:off x="6999732" y="2912363"/>
            <a:ext cx="100584" cy="100584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0" name="Oval 69"/>
          <p:cNvSpPr/>
          <p:nvPr/>
        </p:nvSpPr>
        <p:spPr>
          <a:xfrm>
            <a:off x="7310628" y="2912363"/>
            <a:ext cx="100584" cy="100584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1" name="Oval 70"/>
          <p:cNvSpPr/>
          <p:nvPr/>
        </p:nvSpPr>
        <p:spPr>
          <a:xfrm>
            <a:off x="7621524" y="2912363"/>
            <a:ext cx="100584" cy="100584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2" name="Oval 71"/>
          <p:cNvSpPr/>
          <p:nvPr/>
        </p:nvSpPr>
        <p:spPr>
          <a:xfrm>
            <a:off x="7932420" y="2912363"/>
            <a:ext cx="100584" cy="100584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3" name="Oval 72"/>
          <p:cNvSpPr/>
          <p:nvPr/>
        </p:nvSpPr>
        <p:spPr>
          <a:xfrm>
            <a:off x="6533388" y="3223260"/>
            <a:ext cx="100584" cy="100584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4" name="Oval 73"/>
          <p:cNvSpPr/>
          <p:nvPr/>
        </p:nvSpPr>
        <p:spPr>
          <a:xfrm>
            <a:off x="6844284" y="3223260"/>
            <a:ext cx="100584" cy="100584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5" name="Oval 74"/>
          <p:cNvSpPr/>
          <p:nvPr/>
        </p:nvSpPr>
        <p:spPr>
          <a:xfrm>
            <a:off x="7155180" y="3223260"/>
            <a:ext cx="100584" cy="100584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6" name="Oval 75"/>
          <p:cNvSpPr/>
          <p:nvPr/>
        </p:nvSpPr>
        <p:spPr>
          <a:xfrm>
            <a:off x="7466076" y="3223260"/>
            <a:ext cx="100584" cy="100584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7" name="Oval 76"/>
          <p:cNvSpPr/>
          <p:nvPr/>
        </p:nvSpPr>
        <p:spPr>
          <a:xfrm>
            <a:off x="7776972" y="3223260"/>
            <a:ext cx="100584" cy="100584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8" name="Oval 77"/>
          <p:cNvSpPr/>
          <p:nvPr/>
        </p:nvSpPr>
        <p:spPr>
          <a:xfrm>
            <a:off x="8087868" y="3223260"/>
            <a:ext cx="100584" cy="100584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9" name="Oval 78"/>
          <p:cNvSpPr/>
          <p:nvPr/>
        </p:nvSpPr>
        <p:spPr>
          <a:xfrm>
            <a:off x="6688836" y="3534156"/>
            <a:ext cx="100584" cy="100584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0" name="Oval 79"/>
          <p:cNvSpPr/>
          <p:nvPr/>
        </p:nvSpPr>
        <p:spPr>
          <a:xfrm>
            <a:off x="6999732" y="3534156"/>
            <a:ext cx="100584" cy="100584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1" name="Oval 80"/>
          <p:cNvSpPr/>
          <p:nvPr/>
        </p:nvSpPr>
        <p:spPr>
          <a:xfrm>
            <a:off x="7310628" y="3534156"/>
            <a:ext cx="100584" cy="100584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2" name="Oval 81"/>
          <p:cNvSpPr/>
          <p:nvPr/>
        </p:nvSpPr>
        <p:spPr>
          <a:xfrm>
            <a:off x="7621524" y="3534156"/>
            <a:ext cx="100584" cy="100584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3" name="Oval 82"/>
          <p:cNvSpPr/>
          <p:nvPr/>
        </p:nvSpPr>
        <p:spPr>
          <a:xfrm>
            <a:off x="7932420" y="3534156"/>
            <a:ext cx="100584" cy="100584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4" name="Oval 83"/>
          <p:cNvSpPr/>
          <p:nvPr/>
        </p:nvSpPr>
        <p:spPr>
          <a:xfrm>
            <a:off x="6533388" y="3845052"/>
            <a:ext cx="100584" cy="100584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5" name="Oval 84"/>
          <p:cNvSpPr/>
          <p:nvPr/>
        </p:nvSpPr>
        <p:spPr>
          <a:xfrm>
            <a:off x="6844284" y="3845052"/>
            <a:ext cx="100584" cy="100584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6" name="Oval 85"/>
          <p:cNvSpPr/>
          <p:nvPr/>
        </p:nvSpPr>
        <p:spPr>
          <a:xfrm>
            <a:off x="7155180" y="3845052"/>
            <a:ext cx="100584" cy="100584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7" name="Oval 86"/>
          <p:cNvSpPr/>
          <p:nvPr/>
        </p:nvSpPr>
        <p:spPr>
          <a:xfrm>
            <a:off x="7466076" y="3845052"/>
            <a:ext cx="100584" cy="100584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8" name="Oval 87"/>
          <p:cNvSpPr/>
          <p:nvPr/>
        </p:nvSpPr>
        <p:spPr>
          <a:xfrm>
            <a:off x="7776972" y="3845052"/>
            <a:ext cx="100584" cy="100584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9" name="Oval 88"/>
          <p:cNvSpPr/>
          <p:nvPr/>
        </p:nvSpPr>
        <p:spPr>
          <a:xfrm>
            <a:off x="8087868" y="3845052"/>
            <a:ext cx="100584" cy="100584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0" name="Oval 89"/>
          <p:cNvSpPr/>
          <p:nvPr/>
        </p:nvSpPr>
        <p:spPr>
          <a:xfrm>
            <a:off x="10651845" y="3345789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1" name="Oval 90"/>
          <p:cNvSpPr/>
          <p:nvPr/>
        </p:nvSpPr>
        <p:spPr>
          <a:xfrm>
            <a:off x="10650984" y="3372103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2" name="Oval 91"/>
          <p:cNvSpPr/>
          <p:nvPr/>
        </p:nvSpPr>
        <p:spPr>
          <a:xfrm>
            <a:off x="10648403" y="3398304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3" name="Oval 92"/>
          <p:cNvSpPr/>
          <p:nvPr/>
        </p:nvSpPr>
        <p:spPr>
          <a:xfrm>
            <a:off x="10644114" y="3424281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4" name="Oval 93"/>
          <p:cNvSpPr/>
          <p:nvPr/>
        </p:nvSpPr>
        <p:spPr>
          <a:xfrm>
            <a:off x="10638136" y="3449921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5" name="Oval 94"/>
          <p:cNvSpPr/>
          <p:nvPr/>
        </p:nvSpPr>
        <p:spPr>
          <a:xfrm>
            <a:off x="10630493" y="3475116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6" name="Oval 95"/>
          <p:cNvSpPr/>
          <p:nvPr/>
        </p:nvSpPr>
        <p:spPr>
          <a:xfrm>
            <a:off x="10621219" y="3499756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7" name="Oval 96"/>
          <p:cNvSpPr/>
          <p:nvPr/>
        </p:nvSpPr>
        <p:spPr>
          <a:xfrm>
            <a:off x="10610353" y="3523738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8" name="Oval 97"/>
          <p:cNvSpPr/>
          <p:nvPr/>
        </p:nvSpPr>
        <p:spPr>
          <a:xfrm>
            <a:off x="10597942" y="3546957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9" name="Oval 98"/>
          <p:cNvSpPr/>
          <p:nvPr/>
        </p:nvSpPr>
        <p:spPr>
          <a:xfrm>
            <a:off x="10584039" y="3569315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0" name="Oval 99"/>
          <p:cNvSpPr/>
          <p:nvPr/>
        </p:nvSpPr>
        <p:spPr>
          <a:xfrm>
            <a:off x="10568704" y="3590716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" name="Oval 100"/>
          <p:cNvSpPr/>
          <p:nvPr/>
        </p:nvSpPr>
        <p:spPr>
          <a:xfrm>
            <a:off x="10552001" y="3611068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" name="Oval 101"/>
          <p:cNvSpPr/>
          <p:nvPr/>
        </p:nvSpPr>
        <p:spPr>
          <a:xfrm>
            <a:off x="10534004" y="3630284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" name="Oval 102"/>
          <p:cNvSpPr/>
          <p:nvPr/>
        </p:nvSpPr>
        <p:spPr>
          <a:xfrm>
            <a:off x="10514788" y="3648281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" name="Oval 103"/>
          <p:cNvSpPr/>
          <p:nvPr/>
        </p:nvSpPr>
        <p:spPr>
          <a:xfrm>
            <a:off x="10494436" y="3664984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" name="Oval 104"/>
          <p:cNvSpPr/>
          <p:nvPr/>
        </p:nvSpPr>
        <p:spPr>
          <a:xfrm>
            <a:off x="10473035" y="3680319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" name="Oval 105"/>
          <p:cNvSpPr/>
          <p:nvPr/>
        </p:nvSpPr>
        <p:spPr>
          <a:xfrm>
            <a:off x="10450677" y="3694222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" name="Oval 106"/>
          <p:cNvSpPr/>
          <p:nvPr/>
        </p:nvSpPr>
        <p:spPr>
          <a:xfrm>
            <a:off x="10427458" y="3706633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" name="Oval 107"/>
          <p:cNvSpPr/>
          <p:nvPr/>
        </p:nvSpPr>
        <p:spPr>
          <a:xfrm>
            <a:off x="10403476" y="3717499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" name="Oval 108"/>
          <p:cNvSpPr/>
          <p:nvPr/>
        </p:nvSpPr>
        <p:spPr>
          <a:xfrm>
            <a:off x="10378836" y="3726773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" name="Oval 109"/>
          <p:cNvSpPr/>
          <p:nvPr/>
        </p:nvSpPr>
        <p:spPr>
          <a:xfrm>
            <a:off x="10353641" y="3734416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" name="Oval 110"/>
          <p:cNvSpPr/>
          <p:nvPr/>
        </p:nvSpPr>
        <p:spPr>
          <a:xfrm>
            <a:off x="10328001" y="3740394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2" name="Oval 111"/>
          <p:cNvSpPr/>
          <p:nvPr/>
        </p:nvSpPr>
        <p:spPr>
          <a:xfrm>
            <a:off x="10302024" y="3744683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3" name="Oval 112"/>
          <p:cNvSpPr/>
          <p:nvPr/>
        </p:nvSpPr>
        <p:spPr>
          <a:xfrm>
            <a:off x="10275823" y="3747264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4" name="Oval 113"/>
          <p:cNvSpPr/>
          <p:nvPr/>
        </p:nvSpPr>
        <p:spPr>
          <a:xfrm>
            <a:off x="10249509" y="3748125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5" name="Oval 114"/>
          <p:cNvSpPr/>
          <p:nvPr/>
        </p:nvSpPr>
        <p:spPr>
          <a:xfrm>
            <a:off x="10223195" y="3747264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6" name="Oval 115"/>
          <p:cNvSpPr/>
          <p:nvPr/>
        </p:nvSpPr>
        <p:spPr>
          <a:xfrm>
            <a:off x="10196994" y="3744683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7" name="Oval 116"/>
          <p:cNvSpPr/>
          <p:nvPr/>
        </p:nvSpPr>
        <p:spPr>
          <a:xfrm>
            <a:off x="10171017" y="3740394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8" name="Oval 117"/>
          <p:cNvSpPr/>
          <p:nvPr/>
        </p:nvSpPr>
        <p:spPr>
          <a:xfrm>
            <a:off x="10145377" y="3734416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9" name="Oval 118"/>
          <p:cNvSpPr/>
          <p:nvPr/>
        </p:nvSpPr>
        <p:spPr>
          <a:xfrm>
            <a:off x="10120182" y="3726773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0" name="Oval 119"/>
          <p:cNvSpPr/>
          <p:nvPr/>
        </p:nvSpPr>
        <p:spPr>
          <a:xfrm>
            <a:off x="10095542" y="3717499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1" name="Oval 120"/>
          <p:cNvSpPr/>
          <p:nvPr/>
        </p:nvSpPr>
        <p:spPr>
          <a:xfrm>
            <a:off x="10071560" y="3706633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2" name="Oval 121"/>
          <p:cNvSpPr/>
          <p:nvPr/>
        </p:nvSpPr>
        <p:spPr>
          <a:xfrm>
            <a:off x="10048341" y="3694222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3" name="Oval 122"/>
          <p:cNvSpPr/>
          <p:nvPr/>
        </p:nvSpPr>
        <p:spPr>
          <a:xfrm>
            <a:off x="10025983" y="3680319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4" name="Oval 123"/>
          <p:cNvSpPr/>
          <p:nvPr/>
        </p:nvSpPr>
        <p:spPr>
          <a:xfrm>
            <a:off x="10004582" y="3664984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5" name="Oval 124"/>
          <p:cNvSpPr/>
          <p:nvPr/>
        </p:nvSpPr>
        <p:spPr>
          <a:xfrm>
            <a:off x="9984231" y="3648281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6" name="Oval 125"/>
          <p:cNvSpPr/>
          <p:nvPr/>
        </p:nvSpPr>
        <p:spPr>
          <a:xfrm>
            <a:off x="9965015" y="3630284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7" name="Oval 126"/>
          <p:cNvSpPr/>
          <p:nvPr/>
        </p:nvSpPr>
        <p:spPr>
          <a:xfrm>
            <a:off x="9947017" y="3611068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8" name="Oval 127"/>
          <p:cNvSpPr/>
          <p:nvPr/>
        </p:nvSpPr>
        <p:spPr>
          <a:xfrm>
            <a:off x="9930314" y="3590716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9" name="Oval 128"/>
          <p:cNvSpPr/>
          <p:nvPr/>
        </p:nvSpPr>
        <p:spPr>
          <a:xfrm>
            <a:off x="9914979" y="3569315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0" name="Oval 129"/>
          <p:cNvSpPr/>
          <p:nvPr/>
        </p:nvSpPr>
        <p:spPr>
          <a:xfrm>
            <a:off x="9901076" y="3546957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1" name="Oval 130"/>
          <p:cNvSpPr/>
          <p:nvPr/>
        </p:nvSpPr>
        <p:spPr>
          <a:xfrm>
            <a:off x="9888665" y="3523738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2" name="Oval 131"/>
          <p:cNvSpPr/>
          <p:nvPr/>
        </p:nvSpPr>
        <p:spPr>
          <a:xfrm>
            <a:off x="9877799" y="3499756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3" name="Oval 132"/>
          <p:cNvSpPr/>
          <p:nvPr/>
        </p:nvSpPr>
        <p:spPr>
          <a:xfrm>
            <a:off x="9868525" y="3475116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4" name="Oval 133"/>
          <p:cNvSpPr/>
          <p:nvPr/>
        </p:nvSpPr>
        <p:spPr>
          <a:xfrm>
            <a:off x="9860882" y="3449921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5" name="Oval 134"/>
          <p:cNvSpPr/>
          <p:nvPr/>
        </p:nvSpPr>
        <p:spPr>
          <a:xfrm>
            <a:off x="9854904" y="3424281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6" name="Oval 135"/>
          <p:cNvSpPr/>
          <p:nvPr/>
        </p:nvSpPr>
        <p:spPr>
          <a:xfrm>
            <a:off x="9850615" y="3398304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7" name="Oval 136"/>
          <p:cNvSpPr/>
          <p:nvPr/>
        </p:nvSpPr>
        <p:spPr>
          <a:xfrm>
            <a:off x="9848035" y="3372103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8" name="Oval 137"/>
          <p:cNvSpPr/>
          <p:nvPr/>
        </p:nvSpPr>
        <p:spPr>
          <a:xfrm>
            <a:off x="9847173" y="3345789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9" name="Oval 138"/>
          <p:cNvSpPr/>
          <p:nvPr/>
        </p:nvSpPr>
        <p:spPr>
          <a:xfrm>
            <a:off x="9848035" y="3319475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0" name="Oval 139"/>
          <p:cNvSpPr/>
          <p:nvPr/>
        </p:nvSpPr>
        <p:spPr>
          <a:xfrm>
            <a:off x="9850615" y="3293274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1" name="Oval 140"/>
          <p:cNvSpPr/>
          <p:nvPr/>
        </p:nvSpPr>
        <p:spPr>
          <a:xfrm>
            <a:off x="9854904" y="3267297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2" name="Oval 141"/>
          <p:cNvSpPr/>
          <p:nvPr/>
        </p:nvSpPr>
        <p:spPr>
          <a:xfrm>
            <a:off x="9860882" y="3241657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3" name="Oval 142"/>
          <p:cNvSpPr/>
          <p:nvPr/>
        </p:nvSpPr>
        <p:spPr>
          <a:xfrm>
            <a:off x="9868525" y="3216462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4" name="Oval 143"/>
          <p:cNvSpPr/>
          <p:nvPr/>
        </p:nvSpPr>
        <p:spPr>
          <a:xfrm>
            <a:off x="9877799" y="3191822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5" name="Oval 144"/>
          <p:cNvSpPr/>
          <p:nvPr/>
        </p:nvSpPr>
        <p:spPr>
          <a:xfrm>
            <a:off x="9888665" y="3167840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6" name="Oval 145"/>
          <p:cNvSpPr/>
          <p:nvPr/>
        </p:nvSpPr>
        <p:spPr>
          <a:xfrm>
            <a:off x="9901076" y="3144621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7" name="Oval 146"/>
          <p:cNvSpPr/>
          <p:nvPr/>
        </p:nvSpPr>
        <p:spPr>
          <a:xfrm>
            <a:off x="9914979" y="3122263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8" name="Oval 147"/>
          <p:cNvSpPr/>
          <p:nvPr/>
        </p:nvSpPr>
        <p:spPr>
          <a:xfrm>
            <a:off x="9930314" y="3100862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9" name="Oval 148"/>
          <p:cNvSpPr/>
          <p:nvPr/>
        </p:nvSpPr>
        <p:spPr>
          <a:xfrm>
            <a:off x="9947017" y="3080511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0" name="Oval 149"/>
          <p:cNvSpPr/>
          <p:nvPr/>
        </p:nvSpPr>
        <p:spPr>
          <a:xfrm>
            <a:off x="9965015" y="3061295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1" name="Oval 150"/>
          <p:cNvSpPr/>
          <p:nvPr/>
        </p:nvSpPr>
        <p:spPr>
          <a:xfrm>
            <a:off x="9984231" y="3043297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2" name="Oval 151"/>
          <p:cNvSpPr/>
          <p:nvPr/>
        </p:nvSpPr>
        <p:spPr>
          <a:xfrm>
            <a:off x="10004582" y="3026594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3" name="Oval 152"/>
          <p:cNvSpPr/>
          <p:nvPr/>
        </p:nvSpPr>
        <p:spPr>
          <a:xfrm>
            <a:off x="10025983" y="3011259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4" name="Oval 153"/>
          <p:cNvSpPr/>
          <p:nvPr/>
        </p:nvSpPr>
        <p:spPr>
          <a:xfrm>
            <a:off x="10048341" y="2997356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5" name="Oval 154"/>
          <p:cNvSpPr/>
          <p:nvPr/>
        </p:nvSpPr>
        <p:spPr>
          <a:xfrm>
            <a:off x="10071560" y="2984945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6" name="Oval 155"/>
          <p:cNvSpPr/>
          <p:nvPr/>
        </p:nvSpPr>
        <p:spPr>
          <a:xfrm>
            <a:off x="10095542" y="2974079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7" name="Oval 156"/>
          <p:cNvSpPr/>
          <p:nvPr/>
        </p:nvSpPr>
        <p:spPr>
          <a:xfrm>
            <a:off x="10120182" y="2964805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8" name="Oval 157"/>
          <p:cNvSpPr/>
          <p:nvPr/>
        </p:nvSpPr>
        <p:spPr>
          <a:xfrm>
            <a:off x="10145377" y="2957162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9" name="Oval 158"/>
          <p:cNvSpPr/>
          <p:nvPr/>
        </p:nvSpPr>
        <p:spPr>
          <a:xfrm>
            <a:off x="10171017" y="2951184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0" name="Oval 159"/>
          <p:cNvSpPr/>
          <p:nvPr/>
        </p:nvSpPr>
        <p:spPr>
          <a:xfrm>
            <a:off x="10196994" y="2946895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1" name="Oval 160"/>
          <p:cNvSpPr/>
          <p:nvPr/>
        </p:nvSpPr>
        <p:spPr>
          <a:xfrm>
            <a:off x="10223195" y="2944315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2" name="Oval 161"/>
          <p:cNvSpPr/>
          <p:nvPr/>
        </p:nvSpPr>
        <p:spPr>
          <a:xfrm>
            <a:off x="10249509" y="2943453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3" name="Oval 162"/>
          <p:cNvSpPr/>
          <p:nvPr/>
        </p:nvSpPr>
        <p:spPr>
          <a:xfrm>
            <a:off x="10275823" y="2944315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4" name="Oval 163"/>
          <p:cNvSpPr/>
          <p:nvPr/>
        </p:nvSpPr>
        <p:spPr>
          <a:xfrm>
            <a:off x="10302024" y="2946895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5" name="Oval 164"/>
          <p:cNvSpPr/>
          <p:nvPr/>
        </p:nvSpPr>
        <p:spPr>
          <a:xfrm>
            <a:off x="10328001" y="2951184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6" name="Oval 165"/>
          <p:cNvSpPr/>
          <p:nvPr/>
        </p:nvSpPr>
        <p:spPr>
          <a:xfrm>
            <a:off x="10353641" y="2957162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7" name="Oval 166"/>
          <p:cNvSpPr/>
          <p:nvPr/>
        </p:nvSpPr>
        <p:spPr>
          <a:xfrm>
            <a:off x="10378836" y="2964805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8" name="Oval 167"/>
          <p:cNvSpPr/>
          <p:nvPr/>
        </p:nvSpPr>
        <p:spPr>
          <a:xfrm>
            <a:off x="10403476" y="2974079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9" name="Oval 168"/>
          <p:cNvSpPr/>
          <p:nvPr/>
        </p:nvSpPr>
        <p:spPr>
          <a:xfrm>
            <a:off x="10427458" y="2984945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0" name="Oval 169"/>
          <p:cNvSpPr/>
          <p:nvPr/>
        </p:nvSpPr>
        <p:spPr>
          <a:xfrm>
            <a:off x="10450677" y="2997356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1" name="Oval 170"/>
          <p:cNvSpPr/>
          <p:nvPr/>
        </p:nvSpPr>
        <p:spPr>
          <a:xfrm>
            <a:off x="10473035" y="3011259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2" name="Oval 171"/>
          <p:cNvSpPr/>
          <p:nvPr/>
        </p:nvSpPr>
        <p:spPr>
          <a:xfrm>
            <a:off x="10494436" y="3026594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3" name="Oval 172"/>
          <p:cNvSpPr/>
          <p:nvPr/>
        </p:nvSpPr>
        <p:spPr>
          <a:xfrm>
            <a:off x="10514788" y="3043297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" name="Oval 173"/>
          <p:cNvSpPr/>
          <p:nvPr/>
        </p:nvSpPr>
        <p:spPr>
          <a:xfrm>
            <a:off x="10534004" y="3061295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5" name="Oval 174"/>
          <p:cNvSpPr/>
          <p:nvPr/>
        </p:nvSpPr>
        <p:spPr>
          <a:xfrm>
            <a:off x="10552001" y="3080511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6" name="Oval 175"/>
          <p:cNvSpPr/>
          <p:nvPr/>
        </p:nvSpPr>
        <p:spPr>
          <a:xfrm>
            <a:off x="10568704" y="3100862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7" name="Oval 176"/>
          <p:cNvSpPr/>
          <p:nvPr/>
        </p:nvSpPr>
        <p:spPr>
          <a:xfrm>
            <a:off x="10584039" y="3122263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8" name="Oval 177"/>
          <p:cNvSpPr/>
          <p:nvPr/>
        </p:nvSpPr>
        <p:spPr>
          <a:xfrm>
            <a:off x="10597942" y="3144621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9" name="Oval 178"/>
          <p:cNvSpPr/>
          <p:nvPr/>
        </p:nvSpPr>
        <p:spPr>
          <a:xfrm>
            <a:off x="10610353" y="3167840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0" name="Oval 179"/>
          <p:cNvSpPr/>
          <p:nvPr/>
        </p:nvSpPr>
        <p:spPr>
          <a:xfrm>
            <a:off x="10621219" y="3191822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1" name="Oval 180"/>
          <p:cNvSpPr/>
          <p:nvPr/>
        </p:nvSpPr>
        <p:spPr>
          <a:xfrm>
            <a:off x="10630493" y="3216462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2" name="Oval 181"/>
          <p:cNvSpPr/>
          <p:nvPr/>
        </p:nvSpPr>
        <p:spPr>
          <a:xfrm>
            <a:off x="10638136" y="3241657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3" name="Oval 182"/>
          <p:cNvSpPr/>
          <p:nvPr/>
        </p:nvSpPr>
        <p:spPr>
          <a:xfrm>
            <a:off x="10644114" y="3267297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4" name="Oval 183"/>
          <p:cNvSpPr/>
          <p:nvPr/>
        </p:nvSpPr>
        <p:spPr>
          <a:xfrm>
            <a:off x="10648403" y="3293274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5" name="Oval 184"/>
          <p:cNvSpPr/>
          <p:nvPr/>
        </p:nvSpPr>
        <p:spPr>
          <a:xfrm>
            <a:off x="10650984" y="3319475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6" name="Oval 185"/>
          <p:cNvSpPr/>
          <p:nvPr/>
        </p:nvSpPr>
        <p:spPr>
          <a:xfrm>
            <a:off x="10981029" y="3345789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7" name="Oval 186"/>
          <p:cNvSpPr/>
          <p:nvPr/>
        </p:nvSpPr>
        <p:spPr>
          <a:xfrm>
            <a:off x="10979463" y="3393633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8" name="Oval 187"/>
          <p:cNvSpPr/>
          <p:nvPr/>
        </p:nvSpPr>
        <p:spPr>
          <a:xfrm>
            <a:off x="10974771" y="3441272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9" name="Oval 188"/>
          <p:cNvSpPr/>
          <p:nvPr/>
        </p:nvSpPr>
        <p:spPr>
          <a:xfrm>
            <a:off x="10966973" y="3488502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0" name="Oval 189"/>
          <p:cNvSpPr/>
          <p:nvPr/>
        </p:nvSpPr>
        <p:spPr>
          <a:xfrm>
            <a:off x="10956103" y="3535120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1" name="Oval 190"/>
          <p:cNvSpPr/>
          <p:nvPr/>
        </p:nvSpPr>
        <p:spPr>
          <a:xfrm>
            <a:off x="10942207" y="3580928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2" name="Oval 191"/>
          <p:cNvSpPr/>
          <p:nvPr/>
        </p:nvSpPr>
        <p:spPr>
          <a:xfrm>
            <a:off x="10925345" y="3625730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3" name="Oval 192"/>
          <p:cNvSpPr/>
          <p:nvPr/>
        </p:nvSpPr>
        <p:spPr>
          <a:xfrm>
            <a:off x="10905589" y="3669332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4" name="Oval 193"/>
          <p:cNvSpPr/>
          <p:nvPr/>
        </p:nvSpPr>
        <p:spPr>
          <a:xfrm>
            <a:off x="10883024" y="3711549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5" name="Oval 194"/>
          <p:cNvSpPr/>
          <p:nvPr/>
        </p:nvSpPr>
        <p:spPr>
          <a:xfrm>
            <a:off x="10857746" y="3752200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6" name="Oval 195"/>
          <p:cNvSpPr/>
          <p:nvPr/>
        </p:nvSpPr>
        <p:spPr>
          <a:xfrm>
            <a:off x="10829863" y="3791110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7" name="Oval 196"/>
          <p:cNvSpPr/>
          <p:nvPr/>
        </p:nvSpPr>
        <p:spPr>
          <a:xfrm>
            <a:off x="10799495" y="3828114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8" name="Oval 197"/>
          <p:cNvSpPr/>
          <p:nvPr/>
        </p:nvSpPr>
        <p:spPr>
          <a:xfrm>
            <a:off x="10766772" y="3863052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9" name="Oval 198"/>
          <p:cNvSpPr/>
          <p:nvPr/>
        </p:nvSpPr>
        <p:spPr>
          <a:xfrm>
            <a:off x="10731834" y="3895775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0" name="Oval 199"/>
          <p:cNvSpPr/>
          <p:nvPr/>
        </p:nvSpPr>
        <p:spPr>
          <a:xfrm>
            <a:off x="10694830" y="3926143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1" name="Oval 200"/>
          <p:cNvSpPr/>
          <p:nvPr/>
        </p:nvSpPr>
        <p:spPr>
          <a:xfrm>
            <a:off x="10655920" y="3954026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2" name="Oval 201"/>
          <p:cNvSpPr/>
          <p:nvPr/>
        </p:nvSpPr>
        <p:spPr>
          <a:xfrm>
            <a:off x="10615269" y="3979304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3" name="Oval 202"/>
          <p:cNvSpPr/>
          <p:nvPr/>
        </p:nvSpPr>
        <p:spPr>
          <a:xfrm>
            <a:off x="10573052" y="4001869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4" name="Oval 203"/>
          <p:cNvSpPr/>
          <p:nvPr/>
        </p:nvSpPr>
        <p:spPr>
          <a:xfrm>
            <a:off x="10529450" y="4021625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5" name="Oval 204"/>
          <p:cNvSpPr/>
          <p:nvPr/>
        </p:nvSpPr>
        <p:spPr>
          <a:xfrm>
            <a:off x="10484648" y="4038487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6" name="Oval 205"/>
          <p:cNvSpPr/>
          <p:nvPr/>
        </p:nvSpPr>
        <p:spPr>
          <a:xfrm>
            <a:off x="10438840" y="4052383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7" name="Oval 206"/>
          <p:cNvSpPr/>
          <p:nvPr/>
        </p:nvSpPr>
        <p:spPr>
          <a:xfrm>
            <a:off x="10392222" y="4063253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8" name="Oval 207"/>
          <p:cNvSpPr/>
          <p:nvPr/>
        </p:nvSpPr>
        <p:spPr>
          <a:xfrm>
            <a:off x="10344992" y="4071051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9" name="Oval 208"/>
          <p:cNvSpPr/>
          <p:nvPr/>
        </p:nvSpPr>
        <p:spPr>
          <a:xfrm>
            <a:off x="10297353" y="4075743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0" name="Oval 209"/>
          <p:cNvSpPr/>
          <p:nvPr/>
        </p:nvSpPr>
        <p:spPr>
          <a:xfrm>
            <a:off x="10249509" y="4077309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1" name="Oval 210"/>
          <p:cNvSpPr/>
          <p:nvPr/>
        </p:nvSpPr>
        <p:spPr>
          <a:xfrm>
            <a:off x="10201665" y="4075743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2" name="Oval 211"/>
          <p:cNvSpPr/>
          <p:nvPr/>
        </p:nvSpPr>
        <p:spPr>
          <a:xfrm>
            <a:off x="10154027" y="4071051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3" name="Oval 212"/>
          <p:cNvSpPr/>
          <p:nvPr/>
        </p:nvSpPr>
        <p:spPr>
          <a:xfrm>
            <a:off x="10106797" y="4063253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4" name="Oval 213"/>
          <p:cNvSpPr/>
          <p:nvPr/>
        </p:nvSpPr>
        <p:spPr>
          <a:xfrm>
            <a:off x="10060178" y="4052383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5" name="Oval 214"/>
          <p:cNvSpPr/>
          <p:nvPr/>
        </p:nvSpPr>
        <p:spPr>
          <a:xfrm>
            <a:off x="10014370" y="4038487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6" name="Oval 215"/>
          <p:cNvSpPr/>
          <p:nvPr/>
        </p:nvSpPr>
        <p:spPr>
          <a:xfrm>
            <a:off x="9969569" y="4021625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7" name="Oval 216"/>
          <p:cNvSpPr/>
          <p:nvPr/>
        </p:nvSpPr>
        <p:spPr>
          <a:xfrm>
            <a:off x="9925966" y="4001869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8" name="Oval 217"/>
          <p:cNvSpPr/>
          <p:nvPr/>
        </p:nvSpPr>
        <p:spPr>
          <a:xfrm>
            <a:off x="9883749" y="3979304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9" name="Oval 218"/>
          <p:cNvSpPr/>
          <p:nvPr/>
        </p:nvSpPr>
        <p:spPr>
          <a:xfrm>
            <a:off x="9843098" y="3954026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0" name="Oval 219"/>
          <p:cNvSpPr/>
          <p:nvPr/>
        </p:nvSpPr>
        <p:spPr>
          <a:xfrm>
            <a:off x="9804188" y="3926143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1" name="Oval 220"/>
          <p:cNvSpPr/>
          <p:nvPr/>
        </p:nvSpPr>
        <p:spPr>
          <a:xfrm>
            <a:off x="9767184" y="3895775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2" name="Oval 221"/>
          <p:cNvSpPr/>
          <p:nvPr/>
        </p:nvSpPr>
        <p:spPr>
          <a:xfrm>
            <a:off x="9732246" y="3863052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3" name="Oval 222"/>
          <p:cNvSpPr/>
          <p:nvPr/>
        </p:nvSpPr>
        <p:spPr>
          <a:xfrm>
            <a:off x="9699523" y="3828114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4" name="Oval 223"/>
          <p:cNvSpPr/>
          <p:nvPr/>
        </p:nvSpPr>
        <p:spPr>
          <a:xfrm>
            <a:off x="9669155" y="3791110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5" name="Oval 224"/>
          <p:cNvSpPr/>
          <p:nvPr/>
        </p:nvSpPr>
        <p:spPr>
          <a:xfrm>
            <a:off x="9641272" y="3752200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6" name="Oval 225"/>
          <p:cNvSpPr/>
          <p:nvPr/>
        </p:nvSpPr>
        <p:spPr>
          <a:xfrm>
            <a:off x="9615994" y="3711549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7" name="Oval 226"/>
          <p:cNvSpPr/>
          <p:nvPr/>
        </p:nvSpPr>
        <p:spPr>
          <a:xfrm>
            <a:off x="9593429" y="3669332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8" name="Oval 227"/>
          <p:cNvSpPr/>
          <p:nvPr/>
        </p:nvSpPr>
        <p:spPr>
          <a:xfrm>
            <a:off x="9573673" y="3625730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9" name="Oval 228"/>
          <p:cNvSpPr/>
          <p:nvPr/>
        </p:nvSpPr>
        <p:spPr>
          <a:xfrm>
            <a:off x="9556811" y="3580928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0" name="Oval 229"/>
          <p:cNvSpPr/>
          <p:nvPr/>
        </p:nvSpPr>
        <p:spPr>
          <a:xfrm>
            <a:off x="9542915" y="3535120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1" name="Oval 230"/>
          <p:cNvSpPr/>
          <p:nvPr/>
        </p:nvSpPr>
        <p:spPr>
          <a:xfrm>
            <a:off x="9532045" y="3488502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2" name="Oval 231"/>
          <p:cNvSpPr/>
          <p:nvPr/>
        </p:nvSpPr>
        <p:spPr>
          <a:xfrm>
            <a:off x="9524247" y="3441272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3" name="Oval 232"/>
          <p:cNvSpPr/>
          <p:nvPr/>
        </p:nvSpPr>
        <p:spPr>
          <a:xfrm>
            <a:off x="9519555" y="3393633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4" name="Oval 233"/>
          <p:cNvSpPr/>
          <p:nvPr/>
        </p:nvSpPr>
        <p:spPr>
          <a:xfrm>
            <a:off x="9517989" y="3345789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5" name="Oval 234"/>
          <p:cNvSpPr/>
          <p:nvPr/>
        </p:nvSpPr>
        <p:spPr>
          <a:xfrm>
            <a:off x="9519555" y="3297945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6" name="Oval 235"/>
          <p:cNvSpPr/>
          <p:nvPr/>
        </p:nvSpPr>
        <p:spPr>
          <a:xfrm>
            <a:off x="9524247" y="3250307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7" name="Oval 236"/>
          <p:cNvSpPr/>
          <p:nvPr/>
        </p:nvSpPr>
        <p:spPr>
          <a:xfrm>
            <a:off x="9532045" y="3203077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8" name="Oval 237"/>
          <p:cNvSpPr/>
          <p:nvPr/>
        </p:nvSpPr>
        <p:spPr>
          <a:xfrm>
            <a:off x="9542915" y="3156458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9" name="Oval 238"/>
          <p:cNvSpPr/>
          <p:nvPr/>
        </p:nvSpPr>
        <p:spPr>
          <a:xfrm>
            <a:off x="9556811" y="3110650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0" name="Oval 239"/>
          <p:cNvSpPr/>
          <p:nvPr/>
        </p:nvSpPr>
        <p:spPr>
          <a:xfrm>
            <a:off x="9573673" y="3065849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1" name="Oval 240"/>
          <p:cNvSpPr/>
          <p:nvPr/>
        </p:nvSpPr>
        <p:spPr>
          <a:xfrm>
            <a:off x="9593429" y="3022246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2" name="Oval 241"/>
          <p:cNvSpPr/>
          <p:nvPr/>
        </p:nvSpPr>
        <p:spPr>
          <a:xfrm>
            <a:off x="9615994" y="2980029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3" name="Oval 242"/>
          <p:cNvSpPr/>
          <p:nvPr/>
        </p:nvSpPr>
        <p:spPr>
          <a:xfrm>
            <a:off x="9641272" y="2939378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4" name="Oval 243"/>
          <p:cNvSpPr/>
          <p:nvPr/>
        </p:nvSpPr>
        <p:spPr>
          <a:xfrm>
            <a:off x="9669155" y="2900468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5" name="Oval 244"/>
          <p:cNvSpPr/>
          <p:nvPr/>
        </p:nvSpPr>
        <p:spPr>
          <a:xfrm>
            <a:off x="9699523" y="2863464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6" name="Oval 245"/>
          <p:cNvSpPr/>
          <p:nvPr/>
        </p:nvSpPr>
        <p:spPr>
          <a:xfrm>
            <a:off x="9732246" y="2828526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7" name="Oval 246"/>
          <p:cNvSpPr/>
          <p:nvPr/>
        </p:nvSpPr>
        <p:spPr>
          <a:xfrm>
            <a:off x="9767184" y="2795803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8" name="Oval 247"/>
          <p:cNvSpPr/>
          <p:nvPr/>
        </p:nvSpPr>
        <p:spPr>
          <a:xfrm>
            <a:off x="9804188" y="2765435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9" name="Oval 248"/>
          <p:cNvSpPr/>
          <p:nvPr/>
        </p:nvSpPr>
        <p:spPr>
          <a:xfrm>
            <a:off x="9843098" y="2737552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0" name="Oval 249"/>
          <p:cNvSpPr/>
          <p:nvPr/>
        </p:nvSpPr>
        <p:spPr>
          <a:xfrm>
            <a:off x="9883749" y="2712274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1" name="Oval 250"/>
          <p:cNvSpPr/>
          <p:nvPr/>
        </p:nvSpPr>
        <p:spPr>
          <a:xfrm>
            <a:off x="9925966" y="2689709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2" name="Oval 251"/>
          <p:cNvSpPr/>
          <p:nvPr/>
        </p:nvSpPr>
        <p:spPr>
          <a:xfrm>
            <a:off x="9969569" y="2669953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3" name="Oval 252"/>
          <p:cNvSpPr/>
          <p:nvPr/>
        </p:nvSpPr>
        <p:spPr>
          <a:xfrm>
            <a:off x="10014370" y="2653091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4" name="Oval 253"/>
          <p:cNvSpPr/>
          <p:nvPr/>
        </p:nvSpPr>
        <p:spPr>
          <a:xfrm>
            <a:off x="10060178" y="2639195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5" name="Oval 254"/>
          <p:cNvSpPr/>
          <p:nvPr/>
        </p:nvSpPr>
        <p:spPr>
          <a:xfrm>
            <a:off x="10106797" y="2628325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6" name="Oval 255"/>
          <p:cNvSpPr/>
          <p:nvPr/>
        </p:nvSpPr>
        <p:spPr>
          <a:xfrm>
            <a:off x="10154027" y="2620527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7" name="Oval 256"/>
          <p:cNvSpPr/>
          <p:nvPr/>
        </p:nvSpPr>
        <p:spPr>
          <a:xfrm>
            <a:off x="10201665" y="2615835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8" name="Oval 257"/>
          <p:cNvSpPr/>
          <p:nvPr/>
        </p:nvSpPr>
        <p:spPr>
          <a:xfrm>
            <a:off x="10249509" y="2614269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9" name="Oval 258"/>
          <p:cNvSpPr/>
          <p:nvPr/>
        </p:nvSpPr>
        <p:spPr>
          <a:xfrm>
            <a:off x="10297353" y="2615835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0" name="Oval 259"/>
          <p:cNvSpPr/>
          <p:nvPr/>
        </p:nvSpPr>
        <p:spPr>
          <a:xfrm>
            <a:off x="10344992" y="2620527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1" name="Oval 260"/>
          <p:cNvSpPr/>
          <p:nvPr/>
        </p:nvSpPr>
        <p:spPr>
          <a:xfrm>
            <a:off x="10392222" y="2628325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2" name="Oval 261"/>
          <p:cNvSpPr/>
          <p:nvPr/>
        </p:nvSpPr>
        <p:spPr>
          <a:xfrm>
            <a:off x="10438840" y="2639195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3" name="Oval 262"/>
          <p:cNvSpPr/>
          <p:nvPr/>
        </p:nvSpPr>
        <p:spPr>
          <a:xfrm>
            <a:off x="10484648" y="2653091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4" name="Oval 263"/>
          <p:cNvSpPr/>
          <p:nvPr/>
        </p:nvSpPr>
        <p:spPr>
          <a:xfrm>
            <a:off x="10529450" y="2669953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5" name="Oval 264"/>
          <p:cNvSpPr/>
          <p:nvPr/>
        </p:nvSpPr>
        <p:spPr>
          <a:xfrm>
            <a:off x="10573052" y="2689709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6" name="Oval 265"/>
          <p:cNvSpPr/>
          <p:nvPr/>
        </p:nvSpPr>
        <p:spPr>
          <a:xfrm>
            <a:off x="10615269" y="2712274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7" name="Oval 266"/>
          <p:cNvSpPr/>
          <p:nvPr/>
        </p:nvSpPr>
        <p:spPr>
          <a:xfrm>
            <a:off x="10655920" y="2737552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8" name="Oval 267"/>
          <p:cNvSpPr/>
          <p:nvPr/>
        </p:nvSpPr>
        <p:spPr>
          <a:xfrm>
            <a:off x="10694830" y="2765435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9" name="Oval 268"/>
          <p:cNvSpPr/>
          <p:nvPr/>
        </p:nvSpPr>
        <p:spPr>
          <a:xfrm>
            <a:off x="10731834" y="2795803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0" name="Oval 269"/>
          <p:cNvSpPr/>
          <p:nvPr/>
        </p:nvSpPr>
        <p:spPr>
          <a:xfrm>
            <a:off x="10766772" y="2828526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1" name="Oval 270"/>
          <p:cNvSpPr/>
          <p:nvPr/>
        </p:nvSpPr>
        <p:spPr>
          <a:xfrm>
            <a:off x="10799495" y="2863464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2" name="Oval 271"/>
          <p:cNvSpPr/>
          <p:nvPr/>
        </p:nvSpPr>
        <p:spPr>
          <a:xfrm>
            <a:off x="10829863" y="2900468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3" name="Oval 272"/>
          <p:cNvSpPr/>
          <p:nvPr/>
        </p:nvSpPr>
        <p:spPr>
          <a:xfrm>
            <a:off x="10857746" y="2939378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4" name="Oval 273"/>
          <p:cNvSpPr/>
          <p:nvPr/>
        </p:nvSpPr>
        <p:spPr>
          <a:xfrm>
            <a:off x="10883024" y="2980029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5" name="Oval 274"/>
          <p:cNvSpPr/>
          <p:nvPr/>
        </p:nvSpPr>
        <p:spPr>
          <a:xfrm>
            <a:off x="10905589" y="3022246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6" name="Oval 275"/>
          <p:cNvSpPr/>
          <p:nvPr/>
        </p:nvSpPr>
        <p:spPr>
          <a:xfrm>
            <a:off x="10925345" y="3065849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7" name="Oval 276"/>
          <p:cNvSpPr/>
          <p:nvPr/>
        </p:nvSpPr>
        <p:spPr>
          <a:xfrm>
            <a:off x="10942207" y="3110650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8" name="Oval 277"/>
          <p:cNvSpPr/>
          <p:nvPr/>
        </p:nvSpPr>
        <p:spPr>
          <a:xfrm>
            <a:off x="10956103" y="3156458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9" name="Oval 278"/>
          <p:cNvSpPr/>
          <p:nvPr/>
        </p:nvSpPr>
        <p:spPr>
          <a:xfrm>
            <a:off x="10966973" y="3203077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0" name="Oval 279"/>
          <p:cNvSpPr/>
          <p:nvPr/>
        </p:nvSpPr>
        <p:spPr>
          <a:xfrm>
            <a:off x="10974771" y="3250307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1" name="Oval 280"/>
          <p:cNvSpPr/>
          <p:nvPr/>
        </p:nvSpPr>
        <p:spPr>
          <a:xfrm>
            <a:off x="10979463" y="3297945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2" name="Oval 281"/>
          <p:cNvSpPr/>
          <p:nvPr/>
        </p:nvSpPr>
        <p:spPr>
          <a:xfrm>
            <a:off x="11310213" y="3345789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3" name="Oval 282"/>
          <p:cNvSpPr/>
          <p:nvPr/>
        </p:nvSpPr>
        <p:spPr>
          <a:xfrm>
            <a:off x="11307942" y="3415162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4" name="Oval 283"/>
          <p:cNvSpPr/>
          <p:nvPr/>
        </p:nvSpPr>
        <p:spPr>
          <a:xfrm>
            <a:off x="11301139" y="3484239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5" name="Oval 284"/>
          <p:cNvSpPr/>
          <p:nvPr/>
        </p:nvSpPr>
        <p:spPr>
          <a:xfrm>
            <a:off x="11289832" y="3552722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6" name="Oval 285"/>
          <p:cNvSpPr/>
          <p:nvPr/>
        </p:nvSpPr>
        <p:spPr>
          <a:xfrm>
            <a:off x="11274070" y="3620319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7" name="Oval 286"/>
          <p:cNvSpPr/>
          <p:nvPr/>
        </p:nvSpPr>
        <p:spPr>
          <a:xfrm>
            <a:off x="11253922" y="3686741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8" name="Oval 287"/>
          <p:cNvSpPr/>
          <p:nvPr/>
        </p:nvSpPr>
        <p:spPr>
          <a:xfrm>
            <a:off x="11229472" y="3751703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9" name="Oval 288"/>
          <p:cNvSpPr/>
          <p:nvPr/>
        </p:nvSpPr>
        <p:spPr>
          <a:xfrm>
            <a:off x="11200826" y="3814926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0" name="Oval 289"/>
          <p:cNvSpPr/>
          <p:nvPr/>
        </p:nvSpPr>
        <p:spPr>
          <a:xfrm>
            <a:off x="11168106" y="3876141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1" name="Oval 290"/>
          <p:cNvSpPr/>
          <p:nvPr/>
        </p:nvSpPr>
        <p:spPr>
          <a:xfrm>
            <a:off x="11131452" y="3935085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2" name="Oval 291"/>
          <p:cNvSpPr/>
          <p:nvPr/>
        </p:nvSpPr>
        <p:spPr>
          <a:xfrm>
            <a:off x="11091022" y="3991505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3" name="Oval 292"/>
          <p:cNvSpPr/>
          <p:nvPr/>
        </p:nvSpPr>
        <p:spPr>
          <a:xfrm>
            <a:off x="11046989" y="4045160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4" name="Oval 293"/>
          <p:cNvSpPr/>
          <p:nvPr/>
        </p:nvSpPr>
        <p:spPr>
          <a:xfrm>
            <a:off x="10999540" y="4095820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5" name="Oval 294"/>
          <p:cNvSpPr/>
          <p:nvPr/>
        </p:nvSpPr>
        <p:spPr>
          <a:xfrm>
            <a:off x="10948880" y="4143269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6" name="Oval 295"/>
          <p:cNvSpPr/>
          <p:nvPr/>
        </p:nvSpPr>
        <p:spPr>
          <a:xfrm>
            <a:off x="10895225" y="4187302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7" name="Oval 296"/>
          <p:cNvSpPr/>
          <p:nvPr/>
        </p:nvSpPr>
        <p:spPr>
          <a:xfrm>
            <a:off x="10838805" y="4227732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8" name="Oval 297"/>
          <p:cNvSpPr/>
          <p:nvPr/>
        </p:nvSpPr>
        <p:spPr>
          <a:xfrm>
            <a:off x="10779861" y="4264386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9" name="Oval 298"/>
          <p:cNvSpPr/>
          <p:nvPr/>
        </p:nvSpPr>
        <p:spPr>
          <a:xfrm>
            <a:off x="10718646" y="4297106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0" name="Oval 299"/>
          <p:cNvSpPr/>
          <p:nvPr/>
        </p:nvSpPr>
        <p:spPr>
          <a:xfrm>
            <a:off x="10655423" y="4325752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1" name="Oval 300"/>
          <p:cNvSpPr/>
          <p:nvPr/>
        </p:nvSpPr>
        <p:spPr>
          <a:xfrm>
            <a:off x="10590461" y="4350202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2" name="Oval 301"/>
          <p:cNvSpPr/>
          <p:nvPr/>
        </p:nvSpPr>
        <p:spPr>
          <a:xfrm>
            <a:off x="10524039" y="4370350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3" name="Oval 302"/>
          <p:cNvSpPr/>
          <p:nvPr/>
        </p:nvSpPr>
        <p:spPr>
          <a:xfrm>
            <a:off x="10456442" y="4386112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4" name="Oval 303"/>
          <p:cNvSpPr/>
          <p:nvPr/>
        </p:nvSpPr>
        <p:spPr>
          <a:xfrm>
            <a:off x="10387959" y="4397419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5" name="Oval 304"/>
          <p:cNvSpPr/>
          <p:nvPr/>
        </p:nvSpPr>
        <p:spPr>
          <a:xfrm>
            <a:off x="10318882" y="4404222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6" name="Oval 305"/>
          <p:cNvSpPr/>
          <p:nvPr/>
        </p:nvSpPr>
        <p:spPr>
          <a:xfrm>
            <a:off x="10249509" y="4406493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7" name="Oval 306"/>
          <p:cNvSpPr/>
          <p:nvPr/>
        </p:nvSpPr>
        <p:spPr>
          <a:xfrm>
            <a:off x="10180136" y="4404222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8" name="Oval 307"/>
          <p:cNvSpPr/>
          <p:nvPr/>
        </p:nvSpPr>
        <p:spPr>
          <a:xfrm>
            <a:off x="10111059" y="4397419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9" name="Oval 308"/>
          <p:cNvSpPr/>
          <p:nvPr/>
        </p:nvSpPr>
        <p:spPr>
          <a:xfrm>
            <a:off x="10042576" y="4386112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0" name="Oval 309"/>
          <p:cNvSpPr/>
          <p:nvPr/>
        </p:nvSpPr>
        <p:spPr>
          <a:xfrm>
            <a:off x="9974979" y="4370350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1" name="Oval 310"/>
          <p:cNvSpPr/>
          <p:nvPr/>
        </p:nvSpPr>
        <p:spPr>
          <a:xfrm>
            <a:off x="9908557" y="4350202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2" name="Oval 311"/>
          <p:cNvSpPr/>
          <p:nvPr/>
        </p:nvSpPr>
        <p:spPr>
          <a:xfrm>
            <a:off x="9843595" y="4325752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3" name="Oval 312"/>
          <p:cNvSpPr/>
          <p:nvPr/>
        </p:nvSpPr>
        <p:spPr>
          <a:xfrm>
            <a:off x="9780372" y="4297106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4" name="Oval 313"/>
          <p:cNvSpPr/>
          <p:nvPr/>
        </p:nvSpPr>
        <p:spPr>
          <a:xfrm>
            <a:off x="9719157" y="4264386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5" name="Oval 314"/>
          <p:cNvSpPr/>
          <p:nvPr/>
        </p:nvSpPr>
        <p:spPr>
          <a:xfrm>
            <a:off x="9660214" y="4227732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6" name="Oval 315"/>
          <p:cNvSpPr/>
          <p:nvPr/>
        </p:nvSpPr>
        <p:spPr>
          <a:xfrm>
            <a:off x="9603793" y="4187302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7" name="Oval 316"/>
          <p:cNvSpPr/>
          <p:nvPr/>
        </p:nvSpPr>
        <p:spPr>
          <a:xfrm>
            <a:off x="9550138" y="4143269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8" name="Oval 317"/>
          <p:cNvSpPr/>
          <p:nvPr/>
        </p:nvSpPr>
        <p:spPr>
          <a:xfrm>
            <a:off x="9499478" y="4095820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9" name="Oval 318"/>
          <p:cNvSpPr/>
          <p:nvPr/>
        </p:nvSpPr>
        <p:spPr>
          <a:xfrm>
            <a:off x="9452030" y="4045160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0" name="Oval 319"/>
          <p:cNvSpPr/>
          <p:nvPr/>
        </p:nvSpPr>
        <p:spPr>
          <a:xfrm>
            <a:off x="9407996" y="3991505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1" name="Oval 320"/>
          <p:cNvSpPr/>
          <p:nvPr/>
        </p:nvSpPr>
        <p:spPr>
          <a:xfrm>
            <a:off x="9367566" y="3935085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2" name="Oval 321"/>
          <p:cNvSpPr/>
          <p:nvPr/>
        </p:nvSpPr>
        <p:spPr>
          <a:xfrm>
            <a:off x="9330912" y="3876141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3" name="Oval 322"/>
          <p:cNvSpPr/>
          <p:nvPr/>
        </p:nvSpPr>
        <p:spPr>
          <a:xfrm>
            <a:off x="9298193" y="3814926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4" name="Oval 323"/>
          <p:cNvSpPr/>
          <p:nvPr/>
        </p:nvSpPr>
        <p:spPr>
          <a:xfrm>
            <a:off x="9269546" y="3751703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5" name="Oval 324"/>
          <p:cNvSpPr/>
          <p:nvPr/>
        </p:nvSpPr>
        <p:spPr>
          <a:xfrm>
            <a:off x="9245097" y="3686741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6" name="Oval 325"/>
          <p:cNvSpPr/>
          <p:nvPr/>
        </p:nvSpPr>
        <p:spPr>
          <a:xfrm>
            <a:off x="9224948" y="3620319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7" name="Oval 326"/>
          <p:cNvSpPr/>
          <p:nvPr/>
        </p:nvSpPr>
        <p:spPr>
          <a:xfrm>
            <a:off x="9209186" y="3552722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8" name="Oval 327"/>
          <p:cNvSpPr/>
          <p:nvPr/>
        </p:nvSpPr>
        <p:spPr>
          <a:xfrm>
            <a:off x="9197880" y="3484239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9" name="Oval 328"/>
          <p:cNvSpPr/>
          <p:nvPr/>
        </p:nvSpPr>
        <p:spPr>
          <a:xfrm>
            <a:off x="9191076" y="3415162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0" name="Oval 329"/>
          <p:cNvSpPr/>
          <p:nvPr/>
        </p:nvSpPr>
        <p:spPr>
          <a:xfrm>
            <a:off x="9188805" y="3345789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1" name="Oval 330"/>
          <p:cNvSpPr/>
          <p:nvPr/>
        </p:nvSpPr>
        <p:spPr>
          <a:xfrm>
            <a:off x="9191076" y="3276416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2" name="Oval 331"/>
          <p:cNvSpPr/>
          <p:nvPr/>
        </p:nvSpPr>
        <p:spPr>
          <a:xfrm>
            <a:off x="9197880" y="3207339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3" name="Oval 332"/>
          <p:cNvSpPr/>
          <p:nvPr/>
        </p:nvSpPr>
        <p:spPr>
          <a:xfrm>
            <a:off x="9209186" y="3138856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4" name="Oval 333"/>
          <p:cNvSpPr/>
          <p:nvPr/>
        </p:nvSpPr>
        <p:spPr>
          <a:xfrm>
            <a:off x="9224948" y="3071259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5" name="Oval 334"/>
          <p:cNvSpPr/>
          <p:nvPr/>
        </p:nvSpPr>
        <p:spPr>
          <a:xfrm>
            <a:off x="9245097" y="3004837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6" name="Oval 335"/>
          <p:cNvSpPr/>
          <p:nvPr/>
        </p:nvSpPr>
        <p:spPr>
          <a:xfrm>
            <a:off x="9269546" y="2939875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7" name="Oval 336"/>
          <p:cNvSpPr/>
          <p:nvPr/>
        </p:nvSpPr>
        <p:spPr>
          <a:xfrm>
            <a:off x="9298193" y="2876652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8" name="Oval 337"/>
          <p:cNvSpPr/>
          <p:nvPr/>
        </p:nvSpPr>
        <p:spPr>
          <a:xfrm>
            <a:off x="9330912" y="2815437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9" name="Oval 338"/>
          <p:cNvSpPr/>
          <p:nvPr/>
        </p:nvSpPr>
        <p:spPr>
          <a:xfrm>
            <a:off x="9367566" y="2756494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0" name="Oval 339"/>
          <p:cNvSpPr/>
          <p:nvPr/>
        </p:nvSpPr>
        <p:spPr>
          <a:xfrm>
            <a:off x="9407996" y="2700073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1" name="Oval 340"/>
          <p:cNvSpPr/>
          <p:nvPr/>
        </p:nvSpPr>
        <p:spPr>
          <a:xfrm>
            <a:off x="9452030" y="2646418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2" name="Oval 341"/>
          <p:cNvSpPr/>
          <p:nvPr/>
        </p:nvSpPr>
        <p:spPr>
          <a:xfrm>
            <a:off x="9499478" y="2595758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3" name="Oval 342"/>
          <p:cNvSpPr/>
          <p:nvPr/>
        </p:nvSpPr>
        <p:spPr>
          <a:xfrm>
            <a:off x="9550138" y="2548310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4" name="Oval 343"/>
          <p:cNvSpPr/>
          <p:nvPr/>
        </p:nvSpPr>
        <p:spPr>
          <a:xfrm>
            <a:off x="9603793" y="2504276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5" name="Oval 344"/>
          <p:cNvSpPr/>
          <p:nvPr/>
        </p:nvSpPr>
        <p:spPr>
          <a:xfrm>
            <a:off x="9660214" y="2463846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6" name="Oval 345"/>
          <p:cNvSpPr/>
          <p:nvPr/>
        </p:nvSpPr>
        <p:spPr>
          <a:xfrm>
            <a:off x="9719157" y="2427192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7" name="Oval 346"/>
          <p:cNvSpPr/>
          <p:nvPr/>
        </p:nvSpPr>
        <p:spPr>
          <a:xfrm>
            <a:off x="9780372" y="2394473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8" name="Oval 347"/>
          <p:cNvSpPr/>
          <p:nvPr/>
        </p:nvSpPr>
        <p:spPr>
          <a:xfrm>
            <a:off x="9843595" y="2365826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9" name="Oval 348"/>
          <p:cNvSpPr/>
          <p:nvPr/>
        </p:nvSpPr>
        <p:spPr>
          <a:xfrm>
            <a:off x="9908557" y="2341377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0" name="Oval 349"/>
          <p:cNvSpPr/>
          <p:nvPr/>
        </p:nvSpPr>
        <p:spPr>
          <a:xfrm>
            <a:off x="9974979" y="2321228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1" name="Oval 350"/>
          <p:cNvSpPr/>
          <p:nvPr/>
        </p:nvSpPr>
        <p:spPr>
          <a:xfrm>
            <a:off x="10042576" y="2305466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2" name="Oval 351"/>
          <p:cNvSpPr/>
          <p:nvPr/>
        </p:nvSpPr>
        <p:spPr>
          <a:xfrm>
            <a:off x="10111059" y="2294160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3" name="Oval 352"/>
          <p:cNvSpPr/>
          <p:nvPr/>
        </p:nvSpPr>
        <p:spPr>
          <a:xfrm>
            <a:off x="10180136" y="2287356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4" name="Oval 353"/>
          <p:cNvSpPr/>
          <p:nvPr/>
        </p:nvSpPr>
        <p:spPr>
          <a:xfrm>
            <a:off x="10249509" y="2285085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5" name="Oval 354"/>
          <p:cNvSpPr/>
          <p:nvPr/>
        </p:nvSpPr>
        <p:spPr>
          <a:xfrm>
            <a:off x="10318882" y="2287356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6" name="Oval 355"/>
          <p:cNvSpPr/>
          <p:nvPr/>
        </p:nvSpPr>
        <p:spPr>
          <a:xfrm>
            <a:off x="10387959" y="2294160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7" name="Oval 356"/>
          <p:cNvSpPr/>
          <p:nvPr/>
        </p:nvSpPr>
        <p:spPr>
          <a:xfrm>
            <a:off x="10456442" y="2305466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8" name="Oval 357"/>
          <p:cNvSpPr/>
          <p:nvPr/>
        </p:nvSpPr>
        <p:spPr>
          <a:xfrm>
            <a:off x="10524039" y="2321228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9" name="Oval 358"/>
          <p:cNvSpPr/>
          <p:nvPr/>
        </p:nvSpPr>
        <p:spPr>
          <a:xfrm>
            <a:off x="10590461" y="2341377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0" name="Oval 359"/>
          <p:cNvSpPr/>
          <p:nvPr/>
        </p:nvSpPr>
        <p:spPr>
          <a:xfrm>
            <a:off x="10655423" y="2365826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1" name="Oval 360"/>
          <p:cNvSpPr/>
          <p:nvPr/>
        </p:nvSpPr>
        <p:spPr>
          <a:xfrm>
            <a:off x="10718646" y="2394473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2" name="Oval 361"/>
          <p:cNvSpPr/>
          <p:nvPr/>
        </p:nvSpPr>
        <p:spPr>
          <a:xfrm>
            <a:off x="10779861" y="2427192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3" name="Oval 362"/>
          <p:cNvSpPr/>
          <p:nvPr/>
        </p:nvSpPr>
        <p:spPr>
          <a:xfrm>
            <a:off x="10838805" y="2463846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4" name="Oval 363"/>
          <p:cNvSpPr/>
          <p:nvPr/>
        </p:nvSpPr>
        <p:spPr>
          <a:xfrm>
            <a:off x="10895225" y="2504276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5" name="Oval 364"/>
          <p:cNvSpPr/>
          <p:nvPr/>
        </p:nvSpPr>
        <p:spPr>
          <a:xfrm>
            <a:off x="10948880" y="2548310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6" name="Oval 365"/>
          <p:cNvSpPr/>
          <p:nvPr/>
        </p:nvSpPr>
        <p:spPr>
          <a:xfrm>
            <a:off x="10999540" y="2595758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7" name="Oval 366"/>
          <p:cNvSpPr/>
          <p:nvPr/>
        </p:nvSpPr>
        <p:spPr>
          <a:xfrm>
            <a:off x="11046989" y="2646418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8" name="Oval 367"/>
          <p:cNvSpPr/>
          <p:nvPr/>
        </p:nvSpPr>
        <p:spPr>
          <a:xfrm>
            <a:off x="11091022" y="2700073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9" name="Oval 368"/>
          <p:cNvSpPr/>
          <p:nvPr/>
        </p:nvSpPr>
        <p:spPr>
          <a:xfrm>
            <a:off x="11131452" y="2756494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0" name="Oval 369"/>
          <p:cNvSpPr/>
          <p:nvPr/>
        </p:nvSpPr>
        <p:spPr>
          <a:xfrm>
            <a:off x="11168106" y="2815437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1" name="Oval 370"/>
          <p:cNvSpPr/>
          <p:nvPr/>
        </p:nvSpPr>
        <p:spPr>
          <a:xfrm>
            <a:off x="11200826" y="2876652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2" name="Oval 371"/>
          <p:cNvSpPr/>
          <p:nvPr/>
        </p:nvSpPr>
        <p:spPr>
          <a:xfrm>
            <a:off x="11229472" y="2939875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3" name="Oval 372"/>
          <p:cNvSpPr/>
          <p:nvPr/>
        </p:nvSpPr>
        <p:spPr>
          <a:xfrm>
            <a:off x="11253922" y="3004837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4" name="Oval 373"/>
          <p:cNvSpPr/>
          <p:nvPr/>
        </p:nvSpPr>
        <p:spPr>
          <a:xfrm>
            <a:off x="11274070" y="3071259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5" name="Oval 374"/>
          <p:cNvSpPr/>
          <p:nvPr/>
        </p:nvSpPr>
        <p:spPr>
          <a:xfrm>
            <a:off x="11289832" y="3138856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6" name="Oval 375"/>
          <p:cNvSpPr/>
          <p:nvPr/>
        </p:nvSpPr>
        <p:spPr>
          <a:xfrm>
            <a:off x="11301139" y="3207339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7" name="Oval 376"/>
          <p:cNvSpPr/>
          <p:nvPr/>
        </p:nvSpPr>
        <p:spPr>
          <a:xfrm>
            <a:off x="11307942" y="3276416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8" name="Oval 377"/>
          <p:cNvSpPr/>
          <p:nvPr/>
        </p:nvSpPr>
        <p:spPr>
          <a:xfrm>
            <a:off x="10211562" y="2905506"/>
            <a:ext cx="96012" cy="9601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9" name="Oval 378"/>
          <p:cNvSpPr/>
          <p:nvPr/>
        </p:nvSpPr>
        <p:spPr>
          <a:xfrm>
            <a:off x="10412730" y="2959408"/>
            <a:ext cx="96012" cy="9601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0" name="Oval 379"/>
          <p:cNvSpPr/>
          <p:nvPr/>
        </p:nvSpPr>
        <p:spPr>
          <a:xfrm>
            <a:off x="10559995" y="3106673"/>
            <a:ext cx="96012" cy="9601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1" name="Oval 380"/>
          <p:cNvSpPr/>
          <p:nvPr/>
        </p:nvSpPr>
        <p:spPr>
          <a:xfrm>
            <a:off x="10613898" y="3307841"/>
            <a:ext cx="96012" cy="9601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2" name="Oval 381"/>
          <p:cNvSpPr/>
          <p:nvPr/>
        </p:nvSpPr>
        <p:spPr>
          <a:xfrm>
            <a:off x="10559995" y="3509009"/>
            <a:ext cx="96012" cy="9601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3" name="Oval 382"/>
          <p:cNvSpPr/>
          <p:nvPr/>
        </p:nvSpPr>
        <p:spPr>
          <a:xfrm>
            <a:off x="10412730" y="3656275"/>
            <a:ext cx="96012" cy="9601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4" name="Oval 383"/>
          <p:cNvSpPr/>
          <p:nvPr/>
        </p:nvSpPr>
        <p:spPr>
          <a:xfrm>
            <a:off x="10211562" y="3710178"/>
            <a:ext cx="96012" cy="9601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5" name="Oval 384"/>
          <p:cNvSpPr/>
          <p:nvPr/>
        </p:nvSpPr>
        <p:spPr>
          <a:xfrm>
            <a:off x="10010394" y="3656275"/>
            <a:ext cx="96012" cy="9601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6" name="Oval 385"/>
          <p:cNvSpPr/>
          <p:nvPr/>
        </p:nvSpPr>
        <p:spPr>
          <a:xfrm>
            <a:off x="9863128" y="3509010"/>
            <a:ext cx="96012" cy="9601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7" name="Oval 386"/>
          <p:cNvSpPr/>
          <p:nvPr/>
        </p:nvSpPr>
        <p:spPr>
          <a:xfrm>
            <a:off x="9809226" y="3307841"/>
            <a:ext cx="96012" cy="9601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8" name="Oval 387"/>
          <p:cNvSpPr/>
          <p:nvPr/>
        </p:nvSpPr>
        <p:spPr>
          <a:xfrm>
            <a:off x="9863128" y="3106673"/>
            <a:ext cx="96012" cy="9601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9" name="Oval 388"/>
          <p:cNvSpPr/>
          <p:nvPr/>
        </p:nvSpPr>
        <p:spPr>
          <a:xfrm>
            <a:off x="10010394" y="2959408"/>
            <a:ext cx="96012" cy="9601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0" name="Oval 389"/>
          <p:cNvSpPr/>
          <p:nvPr/>
        </p:nvSpPr>
        <p:spPr>
          <a:xfrm>
            <a:off x="10211562" y="2576322"/>
            <a:ext cx="96012" cy="9601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1" name="Oval 390"/>
          <p:cNvSpPr/>
          <p:nvPr/>
        </p:nvSpPr>
        <p:spPr>
          <a:xfrm>
            <a:off x="10577322" y="2674327"/>
            <a:ext cx="96012" cy="9601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2" name="Oval 391"/>
          <p:cNvSpPr/>
          <p:nvPr/>
        </p:nvSpPr>
        <p:spPr>
          <a:xfrm>
            <a:off x="10845076" y="2942082"/>
            <a:ext cx="96012" cy="9601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3" name="Oval 392"/>
          <p:cNvSpPr/>
          <p:nvPr/>
        </p:nvSpPr>
        <p:spPr>
          <a:xfrm>
            <a:off x="10943082" y="3307841"/>
            <a:ext cx="96012" cy="9601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4" name="Oval 393"/>
          <p:cNvSpPr/>
          <p:nvPr/>
        </p:nvSpPr>
        <p:spPr>
          <a:xfrm>
            <a:off x="10845076" y="3673602"/>
            <a:ext cx="96012" cy="9601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5" name="Oval 394"/>
          <p:cNvSpPr/>
          <p:nvPr/>
        </p:nvSpPr>
        <p:spPr>
          <a:xfrm>
            <a:off x="10577322" y="3941356"/>
            <a:ext cx="96012" cy="9601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6" name="Oval 395"/>
          <p:cNvSpPr/>
          <p:nvPr/>
        </p:nvSpPr>
        <p:spPr>
          <a:xfrm>
            <a:off x="10211562" y="4039361"/>
            <a:ext cx="96012" cy="9601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7" name="Oval 396"/>
          <p:cNvSpPr/>
          <p:nvPr/>
        </p:nvSpPr>
        <p:spPr>
          <a:xfrm>
            <a:off x="9845802" y="3941356"/>
            <a:ext cx="96012" cy="9601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8" name="Oval 397"/>
          <p:cNvSpPr/>
          <p:nvPr/>
        </p:nvSpPr>
        <p:spPr>
          <a:xfrm>
            <a:off x="9578047" y="3673602"/>
            <a:ext cx="96012" cy="9601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9" name="Oval 398"/>
          <p:cNvSpPr/>
          <p:nvPr/>
        </p:nvSpPr>
        <p:spPr>
          <a:xfrm>
            <a:off x="9480042" y="3307841"/>
            <a:ext cx="96012" cy="9601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0" name="Oval 399"/>
          <p:cNvSpPr/>
          <p:nvPr/>
        </p:nvSpPr>
        <p:spPr>
          <a:xfrm>
            <a:off x="9578047" y="2942081"/>
            <a:ext cx="96012" cy="9601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1" name="Oval 400"/>
          <p:cNvSpPr/>
          <p:nvPr/>
        </p:nvSpPr>
        <p:spPr>
          <a:xfrm>
            <a:off x="9845802" y="2674327"/>
            <a:ext cx="96012" cy="9601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2" name="Oval 401"/>
          <p:cNvSpPr/>
          <p:nvPr/>
        </p:nvSpPr>
        <p:spPr>
          <a:xfrm>
            <a:off x="10211562" y="2247137"/>
            <a:ext cx="96012" cy="9601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3" name="Oval 402"/>
          <p:cNvSpPr/>
          <p:nvPr/>
        </p:nvSpPr>
        <p:spPr>
          <a:xfrm>
            <a:off x="10741914" y="2389245"/>
            <a:ext cx="96012" cy="9601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4" name="Oval 403"/>
          <p:cNvSpPr/>
          <p:nvPr/>
        </p:nvSpPr>
        <p:spPr>
          <a:xfrm>
            <a:off x="11130158" y="2777489"/>
            <a:ext cx="96012" cy="9601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5" name="Oval 404"/>
          <p:cNvSpPr/>
          <p:nvPr/>
        </p:nvSpPr>
        <p:spPr>
          <a:xfrm>
            <a:off x="11272266" y="3307841"/>
            <a:ext cx="96012" cy="9601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6" name="Oval 405"/>
          <p:cNvSpPr/>
          <p:nvPr/>
        </p:nvSpPr>
        <p:spPr>
          <a:xfrm>
            <a:off x="11130158" y="3838194"/>
            <a:ext cx="96012" cy="9601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7" name="Oval 406"/>
          <p:cNvSpPr/>
          <p:nvPr/>
        </p:nvSpPr>
        <p:spPr>
          <a:xfrm>
            <a:off x="10741914" y="4226438"/>
            <a:ext cx="96012" cy="9601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8" name="Oval 407"/>
          <p:cNvSpPr/>
          <p:nvPr/>
        </p:nvSpPr>
        <p:spPr>
          <a:xfrm>
            <a:off x="10211562" y="4368546"/>
            <a:ext cx="96012" cy="9601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9" name="Oval 408"/>
          <p:cNvSpPr/>
          <p:nvPr/>
        </p:nvSpPr>
        <p:spPr>
          <a:xfrm>
            <a:off x="9681210" y="4226438"/>
            <a:ext cx="96012" cy="9601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0" name="Oval 409"/>
          <p:cNvSpPr/>
          <p:nvPr/>
        </p:nvSpPr>
        <p:spPr>
          <a:xfrm>
            <a:off x="9292965" y="3838194"/>
            <a:ext cx="96012" cy="9601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1" name="Oval 410"/>
          <p:cNvSpPr/>
          <p:nvPr/>
        </p:nvSpPr>
        <p:spPr>
          <a:xfrm>
            <a:off x="9150858" y="3307841"/>
            <a:ext cx="96012" cy="9601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2" name="Oval 411"/>
          <p:cNvSpPr/>
          <p:nvPr/>
        </p:nvSpPr>
        <p:spPr>
          <a:xfrm>
            <a:off x="9292965" y="2777489"/>
            <a:ext cx="96012" cy="9601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3" name="Oval 412"/>
          <p:cNvSpPr/>
          <p:nvPr/>
        </p:nvSpPr>
        <p:spPr>
          <a:xfrm>
            <a:off x="9681210" y="2389245"/>
            <a:ext cx="96012" cy="9601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4" name="Oval 413"/>
          <p:cNvSpPr/>
          <p:nvPr/>
        </p:nvSpPr>
        <p:spPr>
          <a:xfrm>
            <a:off x="10186416" y="3282696"/>
            <a:ext cx="146304" cy="146304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5" name="Rectangle 414"/>
          <p:cNvSpPr/>
          <p:nvPr/>
        </p:nvSpPr>
        <p:spPr>
          <a:xfrm>
            <a:off x="662940" y="5326380"/>
            <a:ext cx="10972800" cy="65836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6" name="Rectangle 415"/>
          <p:cNvSpPr/>
          <p:nvPr/>
        </p:nvSpPr>
        <p:spPr>
          <a:xfrm>
            <a:off x="594360" y="5257800"/>
            <a:ext cx="10972800" cy="658368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7" name="TextBox 416"/>
          <p:cNvSpPr txBox="1"/>
          <p:nvPr/>
        </p:nvSpPr>
        <p:spPr>
          <a:xfrm>
            <a:off x="914400" y="5257800"/>
            <a:ext cx="1033272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1">
                <a:solidFill>
                  <a:srgbClr val="000000"/>
                </a:solidFill>
                <a:latin typeface="Arial"/>
              </a:rPr>
              <a:t>Every one of these is the same operation — move, repeated, with the amount driven by a counter. Only the rule for the counter changes.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566928"/>
            <a:ext cx="10972800" cy="0"/>
          </a:xfrm>
          <a:prstGeom prst="rect">
            <a:avLst/>
          </a:prstGeom>
          <a:noFill/>
          <a:ln w="50800">
            <a:solidFill>
              <a:srgbClr val="FFFD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676656"/>
            <a:ext cx="10972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FFFDF7"/>
                </a:solidFill>
                <a:latin typeface="Arial"/>
              </a:rPr>
              <a:t>HEXAGONAL IS A GRID WITH AN ODD/EVEN TEST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261872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>
                <a:solidFill>
                  <a:srgbClr val="B4B4AC"/>
                </a:solidFill>
                <a:latin typeface="Calibri"/>
              </a:rPr>
              <a:t>Stagger alternate rows by half the spacing. Keep the row spacing consistent.</a:t>
            </a:r>
          </a:p>
        </p:txBody>
      </p:sp>
      <p:sp>
        <p:nvSpPr>
          <p:cNvPr id="5" name="Rectangle 4"/>
          <p:cNvSpPr/>
          <p:nvPr/>
        </p:nvSpPr>
        <p:spPr>
          <a:xfrm>
            <a:off x="662940" y="1943100"/>
            <a:ext cx="5669280" cy="306324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594360" y="1874519"/>
            <a:ext cx="5669280" cy="306324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594360" y="1874519"/>
            <a:ext cx="5669280" cy="502920"/>
          </a:xfrm>
          <a:prstGeom prst="rect">
            <a:avLst/>
          </a:prstGeom>
          <a:solidFill>
            <a:srgbClr val="C6F035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22960" y="1874519"/>
            <a:ext cx="52120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87" b="1">
                <a:solidFill>
                  <a:srgbClr val="000000"/>
                </a:solidFill>
                <a:latin typeface="Arial"/>
              </a:rPr>
              <a:t>THE TEST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560320"/>
            <a:ext cx="502920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>
                <a:solidFill>
                  <a:srgbClr val="000000"/>
                </a:solidFill>
                <a:latin typeface="Courier New"/>
              </a:rPr>
              <a:t>offset = (j mod 2 == 0) ? 0 : dx / 2</a:t>
            </a:r>
          </a:p>
          <a:p>
            <a:pPr algn="l">
              <a:lnSpc>
                <a:spcPct val="130000"/>
              </a:lnSpc>
            </a:pPr>
            <a:r>
              <a:rPr sz="800">
                <a:solidFill>
                  <a:srgbClr val="000000"/>
                </a:solidFill>
                <a:latin typeface="Courier New"/>
              </a:rPr>
              <a:t> </a:t>
            </a:r>
          </a:p>
          <a:p>
            <a:pPr algn="l">
              <a:lnSpc>
                <a:spcPct val="130000"/>
              </a:lnSpc>
            </a:pPr>
            <a:r>
              <a:rPr sz="1350">
                <a:solidFill>
                  <a:srgbClr val="000000"/>
                </a:solidFill>
                <a:latin typeface="Calibri"/>
              </a:rPr>
              <a:t>Modulo asks: is this row odd or even? Compare turns that into True or False, and Switch picks the offset. The same two nodes as last week.</a:t>
            </a:r>
          </a:p>
          <a:p>
            <a:pPr algn="l">
              <a:lnSpc>
                <a:spcPct val="130000"/>
              </a:lnSpc>
            </a:pPr>
            <a:r>
              <a:rPr sz="600">
                <a:solidFill>
                  <a:srgbClr val="000000"/>
                </a:solidFill>
                <a:latin typeface="Calibri"/>
              </a:rPr>
              <a:t> </a:t>
            </a:r>
          </a:p>
          <a:p>
            <a:pPr algn="l">
              <a:lnSpc>
                <a:spcPct val="130000"/>
              </a:lnSpc>
            </a:pPr>
            <a:r>
              <a:rPr sz="1350">
                <a:solidFill>
                  <a:srgbClr val="000000"/>
                </a:solidFill>
                <a:latin typeface="Calibri"/>
              </a:rPr>
              <a:t>Row spacing is not dx. If you use the same number for both, you get a squashed grid, not a hex field.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606540" y="1943100"/>
            <a:ext cx="5029200" cy="306324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6537960" y="1874519"/>
            <a:ext cx="5029200" cy="306324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6537960" y="1874519"/>
            <a:ext cx="5029200" cy="502920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766560" y="1874519"/>
            <a:ext cx="45720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87" b="1">
                <a:solidFill>
                  <a:srgbClr val="000000"/>
                </a:solidFill>
                <a:latin typeface="Arial"/>
              </a:rPr>
              <a:t>WHAT IT LOOKS LIKE</a:t>
            </a:r>
          </a:p>
        </p:txBody>
      </p:sp>
      <p:sp>
        <p:nvSpPr>
          <p:cNvPr id="14" name="Oval 13"/>
          <p:cNvSpPr/>
          <p:nvPr/>
        </p:nvSpPr>
        <p:spPr>
          <a:xfrm>
            <a:off x="7027164" y="2638044"/>
            <a:ext cx="118872" cy="11887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7356348" y="2638044"/>
            <a:ext cx="118872" cy="11887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Oval 15"/>
          <p:cNvSpPr/>
          <p:nvPr/>
        </p:nvSpPr>
        <p:spPr>
          <a:xfrm>
            <a:off x="7685532" y="2638044"/>
            <a:ext cx="118872" cy="11887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Oval 16"/>
          <p:cNvSpPr/>
          <p:nvPr/>
        </p:nvSpPr>
        <p:spPr>
          <a:xfrm>
            <a:off x="8014716" y="2638044"/>
            <a:ext cx="118872" cy="11887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Oval 17"/>
          <p:cNvSpPr/>
          <p:nvPr/>
        </p:nvSpPr>
        <p:spPr>
          <a:xfrm>
            <a:off x="8343900" y="2638044"/>
            <a:ext cx="118872" cy="11887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Oval 18"/>
          <p:cNvSpPr/>
          <p:nvPr/>
        </p:nvSpPr>
        <p:spPr>
          <a:xfrm>
            <a:off x="8673084" y="2638044"/>
            <a:ext cx="118872" cy="11887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Oval 19"/>
          <p:cNvSpPr/>
          <p:nvPr/>
        </p:nvSpPr>
        <p:spPr>
          <a:xfrm>
            <a:off x="9002268" y="2638044"/>
            <a:ext cx="118872" cy="11887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Oval 20"/>
          <p:cNvSpPr/>
          <p:nvPr/>
        </p:nvSpPr>
        <p:spPr>
          <a:xfrm>
            <a:off x="7191755" y="2967228"/>
            <a:ext cx="118872" cy="11887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Oval 21"/>
          <p:cNvSpPr/>
          <p:nvPr/>
        </p:nvSpPr>
        <p:spPr>
          <a:xfrm>
            <a:off x="7520940" y="2967228"/>
            <a:ext cx="118872" cy="11887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Oval 22"/>
          <p:cNvSpPr/>
          <p:nvPr/>
        </p:nvSpPr>
        <p:spPr>
          <a:xfrm>
            <a:off x="7850124" y="2967228"/>
            <a:ext cx="118872" cy="11887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Oval 23"/>
          <p:cNvSpPr/>
          <p:nvPr/>
        </p:nvSpPr>
        <p:spPr>
          <a:xfrm>
            <a:off x="8179308" y="2967228"/>
            <a:ext cx="118872" cy="11887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Oval 24"/>
          <p:cNvSpPr/>
          <p:nvPr/>
        </p:nvSpPr>
        <p:spPr>
          <a:xfrm>
            <a:off x="8508492" y="2967228"/>
            <a:ext cx="118872" cy="11887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Oval 25"/>
          <p:cNvSpPr/>
          <p:nvPr/>
        </p:nvSpPr>
        <p:spPr>
          <a:xfrm>
            <a:off x="8837676" y="2967228"/>
            <a:ext cx="118872" cy="11887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Oval 26"/>
          <p:cNvSpPr/>
          <p:nvPr/>
        </p:nvSpPr>
        <p:spPr>
          <a:xfrm>
            <a:off x="7027164" y="3296412"/>
            <a:ext cx="118872" cy="11887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Oval 27"/>
          <p:cNvSpPr/>
          <p:nvPr/>
        </p:nvSpPr>
        <p:spPr>
          <a:xfrm>
            <a:off x="7356348" y="3296412"/>
            <a:ext cx="118872" cy="11887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Oval 28"/>
          <p:cNvSpPr/>
          <p:nvPr/>
        </p:nvSpPr>
        <p:spPr>
          <a:xfrm>
            <a:off x="7685532" y="3296412"/>
            <a:ext cx="118872" cy="11887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Oval 29"/>
          <p:cNvSpPr/>
          <p:nvPr/>
        </p:nvSpPr>
        <p:spPr>
          <a:xfrm>
            <a:off x="8014716" y="3296412"/>
            <a:ext cx="118872" cy="11887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Oval 30"/>
          <p:cNvSpPr/>
          <p:nvPr/>
        </p:nvSpPr>
        <p:spPr>
          <a:xfrm>
            <a:off x="8343900" y="3296412"/>
            <a:ext cx="118872" cy="11887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Oval 31"/>
          <p:cNvSpPr/>
          <p:nvPr/>
        </p:nvSpPr>
        <p:spPr>
          <a:xfrm>
            <a:off x="8673084" y="3296412"/>
            <a:ext cx="118872" cy="11887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Oval 32"/>
          <p:cNvSpPr/>
          <p:nvPr/>
        </p:nvSpPr>
        <p:spPr>
          <a:xfrm>
            <a:off x="9002268" y="3296412"/>
            <a:ext cx="118872" cy="11887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Oval 33"/>
          <p:cNvSpPr/>
          <p:nvPr/>
        </p:nvSpPr>
        <p:spPr>
          <a:xfrm>
            <a:off x="7191755" y="3625596"/>
            <a:ext cx="118872" cy="11887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Oval 34"/>
          <p:cNvSpPr/>
          <p:nvPr/>
        </p:nvSpPr>
        <p:spPr>
          <a:xfrm>
            <a:off x="7520940" y="3625596"/>
            <a:ext cx="118872" cy="11887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Oval 35"/>
          <p:cNvSpPr/>
          <p:nvPr/>
        </p:nvSpPr>
        <p:spPr>
          <a:xfrm>
            <a:off x="7850124" y="3625596"/>
            <a:ext cx="118872" cy="11887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Oval 36"/>
          <p:cNvSpPr/>
          <p:nvPr/>
        </p:nvSpPr>
        <p:spPr>
          <a:xfrm>
            <a:off x="8179308" y="3625596"/>
            <a:ext cx="118872" cy="11887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Oval 37"/>
          <p:cNvSpPr/>
          <p:nvPr/>
        </p:nvSpPr>
        <p:spPr>
          <a:xfrm>
            <a:off x="8508492" y="3625596"/>
            <a:ext cx="118872" cy="11887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Oval 38"/>
          <p:cNvSpPr/>
          <p:nvPr/>
        </p:nvSpPr>
        <p:spPr>
          <a:xfrm>
            <a:off x="8837676" y="3625596"/>
            <a:ext cx="118872" cy="11887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Oval 39"/>
          <p:cNvSpPr/>
          <p:nvPr/>
        </p:nvSpPr>
        <p:spPr>
          <a:xfrm>
            <a:off x="7027164" y="3954780"/>
            <a:ext cx="118872" cy="11887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Oval 40"/>
          <p:cNvSpPr/>
          <p:nvPr/>
        </p:nvSpPr>
        <p:spPr>
          <a:xfrm>
            <a:off x="7356348" y="3954780"/>
            <a:ext cx="118872" cy="11887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Oval 41"/>
          <p:cNvSpPr/>
          <p:nvPr/>
        </p:nvSpPr>
        <p:spPr>
          <a:xfrm>
            <a:off x="7685532" y="3954780"/>
            <a:ext cx="118872" cy="11887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Oval 42"/>
          <p:cNvSpPr/>
          <p:nvPr/>
        </p:nvSpPr>
        <p:spPr>
          <a:xfrm>
            <a:off x="8014716" y="3954780"/>
            <a:ext cx="118872" cy="11887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Oval 43"/>
          <p:cNvSpPr/>
          <p:nvPr/>
        </p:nvSpPr>
        <p:spPr>
          <a:xfrm>
            <a:off x="8343900" y="3954780"/>
            <a:ext cx="118872" cy="11887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Oval 44"/>
          <p:cNvSpPr/>
          <p:nvPr/>
        </p:nvSpPr>
        <p:spPr>
          <a:xfrm>
            <a:off x="8673084" y="3954780"/>
            <a:ext cx="118872" cy="11887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Oval 45"/>
          <p:cNvSpPr/>
          <p:nvPr/>
        </p:nvSpPr>
        <p:spPr>
          <a:xfrm>
            <a:off x="9002268" y="3954780"/>
            <a:ext cx="118872" cy="11887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Oval 46"/>
          <p:cNvSpPr/>
          <p:nvPr/>
        </p:nvSpPr>
        <p:spPr>
          <a:xfrm>
            <a:off x="7191755" y="4283964"/>
            <a:ext cx="118872" cy="11887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Oval 47"/>
          <p:cNvSpPr/>
          <p:nvPr/>
        </p:nvSpPr>
        <p:spPr>
          <a:xfrm>
            <a:off x="7520940" y="4283964"/>
            <a:ext cx="118872" cy="11887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Oval 48"/>
          <p:cNvSpPr/>
          <p:nvPr/>
        </p:nvSpPr>
        <p:spPr>
          <a:xfrm>
            <a:off x="7850124" y="4283964"/>
            <a:ext cx="118872" cy="11887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Oval 49"/>
          <p:cNvSpPr/>
          <p:nvPr/>
        </p:nvSpPr>
        <p:spPr>
          <a:xfrm>
            <a:off x="8179308" y="4283964"/>
            <a:ext cx="118872" cy="11887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Oval 50"/>
          <p:cNvSpPr/>
          <p:nvPr/>
        </p:nvSpPr>
        <p:spPr>
          <a:xfrm>
            <a:off x="8508492" y="4283964"/>
            <a:ext cx="118872" cy="11887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Oval 51"/>
          <p:cNvSpPr/>
          <p:nvPr/>
        </p:nvSpPr>
        <p:spPr>
          <a:xfrm>
            <a:off x="8837676" y="4283964"/>
            <a:ext cx="118872" cy="11887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3" name="Rectangle 52"/>
          <p:cNvSpPr/>
          <p:nvPr/>
        </p:nvSpPr>
        <p:spPr>
          <a:xfrm>
            <a:off x="662940" y="5326380"/>
            <a:ext cx="10972800" cy="64008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Rectangle 53"/>
          <p:cNvSpPr/>
          <p:nvPr/>
        </p:nvSpPr>
        <p:spPr>
          <a:xfrm>
            <a:off x="594360" y="5257800"/>
            <a:ext cx="10972800" cy="640080"/>
          </a:xfrm>
          <a:prstGeom prst="rect">
            <a:avLst/>
          </a:prstGeom>
          <a:solidFill>
            <a:srgbClr val="FFE5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" name="TextBox 54"/>
          <p:cNvSpPr txBox="1"/>
          <p:nvPr/>
        </p:nvSpPr>
        <p:spPr>
          <a:xfrm>
            <a:off x="777240" y="5257800"/>
            <a:ext cx="1060704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>
                <a:solidFill>
                  <a:srgbClr val="000000"/>
                </a:solidFill>
                <a:latin typeface="Arial"/>
              </a:rPr>
              <a:t>A BRICK BOND IS A HEXAGONAL ARRAY. SO IS A HONEYCOMB. SO IS HALF THE PAVING YOU WALK 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566928"/>
            <a:ext cx="10972800" cy="0"/>
          </a:xfrm>
          <a:prstGeom prst="rect">
            <a:avLst/>
          </a:prstGeom>
          <a:noFill/>
          <a:ln w="508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676656"/>
            <a:ext cx="10972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000000"/>
                </a:solidFill>
                <a:latin typeface="Arial"/>
              </a:rPr>
              <a:t>RADIAL IS POLAR ARITHMETIC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261872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>
                <a:solidFill>
                  <a:srgbClr val="6B6B6B"/>
                </a:solidFill>
                <a:latin typeface="Calibri"/>
              </a:rPr>
              <a:t>Radius, count, angular step. The index drives the angle.</a:t>
            </a:r>
          </a:p>
        </p:txBody>
      </p:sp>
      <p:sp>
        <p:nvSpPr>
          <p:cNvPr id="5" name="Rectangle 4"/>
          <p:cNvSpPr/>
          <p:nvPr/>
        </p:nvSpPr>
        <p:spPr>
          <a:xfrm>
            <a:off x="662940" y="1851660"/>
            <a:ext cx="5486400" cy="320040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594360" y="1783080"/>
            <a:ext cx="5486400" cy="320040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594360" y="1783080"/>
            <a:ext cx="5486400" cy="502920"/>
          </a:xfrm>
          <a:prstGeom prst="rect">
            <a:avLst/>
          </a:prstGeom>
          <a:solidFill>
            <a:srgbClr val="FF4D8D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22960" y="1783080"/>
            <a:ext cx="50292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87" b="1">
                <a:solidFill>
                  <a:srgbClr val="000000"/>
                </a:solidFill>
                <a:latin typeface="Arial"/>
              </a:rPr>
              <a:t>THE RULE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468880"/>
            <a:ext cx="484632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>
                <a:solidFill>
                  <a:srgbClr val="000000"/>
                </a:solidFill>
                <a:latin typeface="Courier New"/>
              </a:rPr>
              <a:t>step  = 360 / count</a:t>
            </a:r>
          </a:p>
          <a:p>
            <a:pPr algn="l">
              <a:lnSpc>
                <a:spcPct val="130000"/>
              </a:lnSpc>
            </a:pPr>
            <a:r>
              <a:rPr sz="1250">
                <a:solidFill>
                  <a:srgbClr val="000000"/>
                </a:solidFill>
                <a:latin typeface="Courier New"/>
              </a:rPr>
              <a:t>θ[i]  = i × step</a:t>
            </a:r>
          </a:p>
          <a:p>
            <a:pPr algn="l">
              <a:lnSpc>
                <a:spcPct val="130000"/>
              </a:lnSpc>
            </a:pPr>
            <a:r>
              <a:rPr sz="1250" b="1">
                <a:solidFill>
                  <a:srgbClr val="000000"/>
                </a:solidFill>
                <a:latin typeface="Courier New"/>
              </a:rPr>
              <a:t>p[i]  = c + r · (cos θ, sin θ)</a:t>
            </a:r>
          </a:p>
          <a:p>
            <a:pPr algn="l">
              <a:lnSpc>
                <a:spcPct val="130000"/>
              </a:lnSpc>
            </a:pPr>
            <a:r>
              <a:rPr sz="800">
                <a:solidFill>
                  <a:srgbClr val="000000"/>
                </a:solidFill>
                <a:latin typeface="Courier New"/>
              </a:rPr>
              <a:t> </a:t>
            </a:r>
          </a:p>
          <a:p>
            <a:pPr algn="l">
              <a:lnSpc>
                <a:spcPct val="130000"/>
              </a:lnSpc>
            </a:pPr>
            <a:r>
              <a:rPr sz="1350">
                <a:solidFill>
                  <a:srgbClr val="000000"/>
                </a:solidFill>
                <a:latin typeface="Calibri"/>
              </a:rPr>
              <a:t>The same rotation arithmetic from Week 2 — the one place where x and y have to talk to each other — now generating positions instead of moving a solid.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69380" y="1851660"/>
            <a:ext cx="5166360" cy="320040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6400800" y="1783080"/>
            <a:ext cx="5166360" cy="320040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6400800" y="1783080"/>
            <a:ext cx="5166360" cy="502920"/>
          </a:xfrm>
          <a:prstGeom prst="rect">
            <a:avLst/>
          </a:prstGeom>
          <a:solidFill>
            <a:srgbClr val="C6F035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629400" y="1783080"/>
            <a:ext cx="4709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50" b="1">
                <a:solidFill>
                  <a:srgbClr val="000000"/>
                </a:solidFill>
                <a:latin typeface="Arial"/>
              </a:rPr>
              <a:t>TWO KNOBS</a:t>
            </a:r>
          </a:p>
        </p:txBody>
      </p:sp>
      <p:sp>
        <p:nvSpPr>
          <p:cNvPr id="14" name="Oval 13"/>
          <p:cNvSpPr/>
          <p:nvPr/>
        </p:nvSpPr>
        <p:spPr>
          <a:xfrm>
            <a:off x="9380829" y="3053181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9380007" y="3078299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Oval 15"/>
          <p:cNvSpPr/>
          <p:nvPr/>
        </p:nvSpPr>
        <p:spPr>
          <a:xfrm>
            <a:off x="9377544" y="3103309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Oval 16"/>
          <p:cNvSpPr/>
          <p:nvPr/>
        </p:nvSpPr>
        <p:spPr>
          <a:xfrm>
            <a:off x="9373450" y="3128105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Oval 17"/>
          <p:cNvSpPr/>
          <p:nvPr/>
        </p:nvSpPr>
        <p:spPr>
          <a:xfrm>
            <a:off x="9367743" y="3152580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Oval 18"/>
          <p:cNvSpPr/>
          <p:nvPr/>
        </p:nvSpPr>
        <p:spPr>
          <a:xfrm>
            <a:off x="9360448" y="3176629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Oval 19"/>
          <p:cNvSpPr/>
          <p:nvPr/>
        </p:nvSpPr>
        <p:spPr>
          <a:xfrm>
            <a:off x="9351595" y="3200150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Oval 20"/>
          <p:cNvSpPr/>
          <p:nvPr/>
        </p:nvSpPr>
        <p:spPr>
          <a:xfrm>
            <a:off x="9341223" y="3223041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Oval 21"/>
          <p:cNvSpPr/>
          <p:nvPr/>
        </p:nvSpPr>
        <p:spPr>
          <a:xfrm>
            <a:off x="9329376" y="3245205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Oval 22"/>
          <p:cNvSpPr/>
          <p:nvPr/>
        </p:nvSpPr>
        <p:spPr>
          <a:xfrm>
            <a:off x="9316105" y="3266547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Oval 23"/>
          <p:cNvSpPr/>
          <p:nvPr/>
        </p:nvSpPr>
        <p:spPr>
          <a:xfrm>
            <a:off x="9301467" y="3286975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Oval 24"/>
          <p:cNvSpPr/>
          <p:nvPr/>
        </p:nvSpPr>
        <p:spPr>
          <a:xfrm>
            <a:off x="9285524" y="3306402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Oval 25"/>
          <p:cNvSpPr/>
          <p:nvPr/>
        </p:nvSpPr>
        <p:spPr>
          <a:xfrm>
            <a:off x="9268344" y="3324744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Oval 26"/>
          <p:cNvSpPr/>
          <p:nvPr/>
        </p:nvSpPr>
        <p:spPr>
          <a:xfrm>
            <a:off x="9250002" y="3341924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Oval 27"/>
          <p:cNvSpPr/>
          <p:nvPr/>
        </p:nvSpPr>
        <p:spPr>
          <a:xfrm>
            <a:off x="9230575" y="3357867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Oval 28"/>
          <p:cNvSpPr/>
          <p:nvPr/>
        </p:nvSpPr>
        <p:spPr>
          <a:xfrm>
            <a:off x="9210147" y="3372505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Oval 29"/>
          <p:cNvSpPr/>
          <p:nvPr/>
        </p:nvSpPr>
        <p:spPr>
          <a:xfrm>
            <a:off x="9188805" y="3385776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Oval 30"/>
          <p:cNvSpPr/>
          <p:nvPr/>
        </p:nvSpPr>
        <p:spPr>
          <a:xfrm>
            <a:off x="9166641" y="3397623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Oval 31"/>
          <p:cNvSpPr/>
          <p:nvPr/>
        </p:nvSpPr>
        <p:spPr>
          <a:xfrm>
            <a:off x="9143750" y="3407995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Oval 32"/>
          <p:cNvSpPr/>
          <p:nvPr/>
        </p:nvSpPr>
        <p:spPr>
          <a:xfrm>
            <a:off x="9120229" y="3416848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Oval 33"/>
          <p:cNvSpPr/>
          <p:nvPr/>
        </p:nvSpPr>
        <p:spPr>
          <a:xfrm>
            <a:off x="9096180" y="3424143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Oval 34"/>
          <p:cNvSpPr/>
          <p:nvPr/>
        </p:nvSpPr>
        <p:spPr>
          <a:xfrm>
            <a:off x="9071705" y="3429850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Oval 35"/>
          <p:cNvSpPr/>
          <p:nvPr/>
        </p:nvSpPr>
        <p:spPr>
          <a:xfrm>
            <a:off x="9046909" y="3433944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Oval 36"/>
          <p:cNvSpPr/>
          <p:nvPr/>
        </p:nvSpPr>
        <p:spPr>
          <a:xfrm>
            <a:off x="9021899" y="3436407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Oval 37"/>
          <p:cNvSpPr/>
          <p:nvPr/>
        </p:nvSpPr>
        <p:spPr>
          <a:xfrm>
            <a:off x="8996781" y="3437229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Oval 38"/>
          <p:cNvSpPr/>
          <p:nvPr/>
        </p:nvSpPr>
        <p:spPr>
          <a:xfrm>
            <a:off x="8971663" y="3436407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Oval 39"/>
          <p:cNvSpPr/>
          <p:nvPr/>
        </p:nvSpPr>
        <p:spPr>
          <a:xfrm>
            <a:off x="8946653" y="3433944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Oval 40"/>
          <p:cNvSpPr/>
          <p:nvPr/>
        </p:nvSpPr>
        <p:spPr>
          <a:xfrm>
            <a:off x="8921857" y="3429850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Oval 41"/>
          <p:cNvSpPr/>
          <p:nvPr/>
        </p:nvSpPr>
        <p:spPr>
          <a:xfrm>
            <a:off x="8897382" y="3424143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Oval 42"/>
          <p:cNvSpPr/>
          <p:nvPr/>
        </p:nvSpPr>
        <p:spPr>
          <a:xfrm>
            <a:off x="8873333" y="3416848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Oval 43"/>
          <p:cNvSpPr/>
          <p:nvPr/>
        </p:nvSpPr>
        <p:spPr>
          <a:xfrm>
            <a:off x="8849812" y="3407995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Oval 44"/>
          <p:cNvSpPr/>
          <p:nvPr/>
        </p:nvSpPr>
        <p:spPr>
          <a:xfrm>
            <a:off x="8826921" y="3397623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Oval 45"/>
          <p:cNvSpPr/>
          <p:nvPr/>
        </p:nvSpPr>
        <p:spPr>
          <a:xfrm>
            <a:off x="8804757" y="3385776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Oval 46"/>
          <p:cNvSpPr/>
          <p:nvPr/>
        </p:nvSpPr>
        <p:spPr>
          <a:xfrm>
            <a:off x="8783415" y="3372505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Oval 47"/>
          <p:cNvSpPr/>
          <p:nvPr/>
        </p:nvSpPr>
        <p:spPr>
          <a:xfrm>
            <a:off x="8762987" y="3357867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Oval 48"/>
          <p:cNvSpPr/>
          <p:nvPr/>
        </p:nvSpPr>
        <p:spPr>
          <a:xfrm>
            <a:off x="8743561" y="3341924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Oval 49"/>
          <p:cNvSpPr/>
          <p:nvPr/>
        </p:nvSpPr>
        <p:spPr>
          <a:xfrm>
            <a:off x="8725218" y="3324744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Oval 50"/>
          <p:cNvSpPr/>
          <p:nvPr/>
        </p:nvSpPr>
        <p:spPr>
          <a:xfrm>
            <a:off x="8708039" y="3306402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Oval 51"/>
          <p:cNvSpPr/>
          <p:nvPr/>
        </p:nvSpPr>
        <p:spPr>
          <a:xfrm>
            <a:off x="8692095" y="3286975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3" name="Oval 52"/>
          <p:cNvSpPr/>
          <p:nvPr/>
        </p:nvSpPr>
        <p:spPr>
          <a:xfrm>
            <a:off x="8677457" y="3266547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Oval 53"/>
          <p:cNvSpPr/>
          <p:nvPr/>
        </p:nvSpPr>
        <p:spPr>
          <a:xfrm>
            <a:off x="8664186" y="3245205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" name="Oval 54"/>
          <p:cNvSpPr/>
          <p:nvPr/>
        </p:nvSpPr>
        <p:spPr>
          <a:xfrm>
            <a:off x="8652339" y="3223041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" name="Oval 55"/>
          <p:cNvSpPr/>
          <p:nvPr/>
        </p:nvSpPr>
        <p:spPr>
          <a:xfrm>
            <a:off x="8641967" y="3200150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7" name="Oval 56"/>
          <p:cNvSpPr/>
          <p:nvPr/>
        </p:nvSpPr>
        <p:spPr>
          <a:xfrm>
            <a:off x="8633114" y="3176629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Oval 57"/>
          <p:cNvSpPr/>
          <p:nvPr/>
        </p:nvSpPr>
        <p:spPr>
          <a:xfrm>
            <a:off x="8625819" y="3152580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9" name="Oval 58"/>
          <p:cNvSpPr/>
          <p:nvPr/>
        </p:nvSpPr>
        <p:spPr>
          <a:xfrm>
            <a:off x="8620112" y="3128105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0" name="Oval 59"/>
          <p:cNvSpPr/>
          <p:nvPr/>
        </p:nvSpPr>
        <p:spPr>
          <a:xfrm>
            <a:off x="8616019" y="3103309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1" name="Oval 60"/>
          <p:cNvSpPr/>
          <p:nvPr/>
        </p:nvSpPr>
        <p:spPr>
          <a:xfrm>
            <a:off x="8613555" y="3078299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2" name="Oval 61"/>
          <p:cNvSpPr/>
          <p:nvPr/>
        </p:nvSpPr>
        <p:spPr>
          <a:xfrm>
            <a:off x="8612733" y="3053181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3" name="Oval 62"/>
          <p:cNvSpPr/>
          <p:nvPr/>
        </p:nvSpPr>
        <p:spPr>
          <a:xfrm>
            <a:off x="8613555" y="3028063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4" name="Oval 63"/>
          <p:cNvSpPr/>
          <p:nvPr/>
        </p:nvSpPr>
        <p:spPr>
          <a:xfrm>
            <a:off x="8616019" y="3003053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5" name="Oval 64"/>
          <p:cNvSpPr/>
          <p:nvPr/>
        </p:nvSpPr>
        <p:spPr>
          <a:xfrm>
            <a:off x="8620112" y="2978257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6" name="Oval 65"/>
          <p:cNvSpPr/>
          <p:nvPr/>
        </p:nvSpPr>
        <p:spPr>
          <a:xfrm>
            <a:off x="8625819" y="2953782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7" name="Oval 66"/>
          <p:cNvSpPr/>
          <p:nvPr/>
        </p:nvSpPr>
        <p:spPr>
          <a:xfrm>
            <a:off x="8633114" y="2929733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8" name="Oval 67"/>
          <p:cNvSpPr/>
          <p:nvPr/>
        </p:nvSpPr>
        <p:spPr>
          <a:xfrm>
            <a:off x="8641967" y="2906212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9" name="Oval 68"/>
          <p:cNvSpPr/>
          <p:nvPr/>
        </p:nvSpPr>
        <p:spPr>
          <a:xfrm>
            <a:off x="8652339" y="2883321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0" name="Oval 69"/>
          <p:cNvSpPr/>
          <p:nvPr/>
        </p:nvSpPr>
        <p:spPr>
          <a:xfrm>
            <a:off x="8664186" y="2861157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1" name="Oval 70"/>
          <p:cNvSpPr/>
          <p:nvPr/>
        </p:nvSpPr>
        <p:spPr>
          <a:xfrm>
            <a:off x="8677457" y="2839815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2" name="Oval 71"/>
          <p:cNvSpPr/>
          <p:nvPr/>
        </p:nvSpPr>
        <p:spPr>
          <a:xfrm>
            <a:off x="8692095" y="2819387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3" name="Oval 72"/>
          <p:cNvSpPr/>
          <p:nvPr/>
        </p:nvSpPr>
        <p:spPr>
          <a:xfrm>
            <a:off x="8708039" y="2799961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4" name="Oval 73"/>
          <p:cNvSpPr/>
          <p:nvPr/>
        </p:nvSpPr>
        <p:spPr>
          <a:xfrm>
            <a:off x="8725218" y="2781618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5" name="Oval 74"/>
          <p:cNvSpPr/>
          <p:nvPr/>
        </p:nvSpPr>
        <p:spPr>
          <a:xfrm>
            <a:off x="8743561" y="2764439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6" name="Oval 75"/>
          <p:cNvSpPr/>
          <p:nvPr/>
        </p:nvSpPr>
        <p:spPr>
          <a:xfrm>
            <a:off x="8762987" y="2748495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7" name="Oval 76"/>
          <p:cNvSpPr/>
          <p:nvPr/>
        </p:nvSpPr>
        <p:spPr>
          <a:xfrm>
            <a:off x="8783415" y="2733857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8" name="Oval 77"/>
          <p:cNvSpPr/>
          <p:nvPr/>
        </p:nvSpPr>
        <p:spPr>
          <a:xfrm>
            <a:off x="8804757" y="2720586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9" name="Oval 78"/>
          <p:cNvSpPr/>
          <p:nvPr/>
        </p:nvSpPr>
        <p:spPr>
          <a:xfrm>
            <a:off x="8826921" y="2708739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0" name="Oval 79"/>
          <p:cNvSpPr/>
          <p:nvPr/>
        </p:nvSpPr>
        <p:spPr>
          <a:xfrm>
            <a:off x="8849812" y="2698367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1" name="Oval 80"/>
          <p:cNvSpPr/>
          <p:nvPr/>
        </p:nvSpPr>
        <p:spPr>
          <a:xfrm>
            <a:off x="8873333" y="2689514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2" name="Oval 81"/>
          <p:cNvSpPr/>
          <p:nvPr/>
        </p:nvSpPr>
        <p:spPr>
          <a:xfrm>
            <a:off x="8897382" y="2682219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3" name="Oval 82"/>
          <p:cNvSpPr/>
          <p:nvPr/>
        </p:nvSpPr>
        <p:spPr>
          <a:xfrm>
            <a:off x="8921857" y="2676512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4" name="Oval 83"/>
          <p:cNvSpPr/>
          <p:nvPr/>
        </p:nvSpPr>
        <p:spPr>
          <a:xfrm>
            <a:off x="8946653" y="2672419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5" name="Oval 84"/>
          <p:cNvSpPr/>
          <p:nvPr/>
        </p:nvSpPr>
        <p:spPr>
          <a:xfrm>
            <a:off x="8971663" y="2669955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6" name="Oval 85"/>
          <p:cNvSpPr/>
          <p:nvPr/>
        </p:nvSpPr>
        <p:spPr>
          <a:xfrm>
            <a:off x="8996781" y="2669133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7" name="Oval 86"/>
          <p:cNvSpPr/>
          <p:nvPr/>
        </p:nvSpPr>
        <p:spPr>
          <a:xfrm>
            <a:off x="9021899" y="2669955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8" name="Oval 87"/>
          <p:cNvSpPr/>
          <p:nvPr/>
        </p:nvSpPr>
        <p:spPr>
          <a:xfrm>
            <a:off x="9046909" y="2672419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9" name="Oval 88"/>
          <p:cNvSpPr/>
          <p:nvPr/>
        </p:nvSpPr>
        <p:spPr>
          <a:xfrm>
            <a:off x="9071705" y="2676512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0" name="Oval 89"/>
          <p:cNvSpPr/>
          <p:nvPr/>
        </p:nvSpPr>
        <p:spPr>
          <a:xfrm>
            <a:off x="9096180" y="2682219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1" name="Oval 90"/>
          <p:cNvSpPr/>
          <p:nvPr/>
        </p:nvSpPr>
        <p:spPr>
          <a:xfrm>
            <a:off x="9120229" y="2689514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2" name="Oval 91"/>
          <p:cNvSpPr/>
          <p:nvPr/>
        </p:nvSpPr>
        <p:spPr>
          <a:xfrm>
            <a:off x="9143750" y="2698367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3" name="Oval 92"/>
          <p:cNvSpPr/>
          <p:nvPr/>
        </p:nvSpPr>
        <p:spPr>
          <a:xfrm>
            <a:off x="9166641" y="2708739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4" name="Oval 93"/>
          <p:cNvSpPr/>
          <p:nvPr/>
        </p:nvSpPr>
        <p:spPr>
          <a:xfrm>
            <a:off x="9188805" y="2720586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5" name="Oval 94"/>
          <p:cNvSpPr/>
          <p:nvPr/>
        </p:nvSpPr>
        <p:spPr>
          <a:xfrm>
            <a:off x="9210147" y="2733857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6" name="Oval 95"/>
          <p:cNvSpPr/>
          <p:nvPr/>
        </p:nvSpPr>
        <p:spPr>
          <a:xfrm>
            <a:off x="9230575" y="2748495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7" name="Oval 96"/>
          <p:cNvSpPr/>
          <p:nvPr/>
        </p:nvSpPr>
        <p:spPr>
          <a:xfrm>
            <a:off x="9250002" y="2764439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8" name="Oval 97"/>
          <p:cNvSpPr/>
          <p:nvPr/>
        </p:nvSpPr>
        <p:spPr>
          <a:xfrm>
            <a:off x="9268344" y="2781618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9" name="Oval 98"/>
          <p:cNvSpPr/>
          <p:nvPr/>
        </p:nvSpPr>
        <p:spPr>
          <a:xfrm>
            <a:off x="9285524" y="2799961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0" name="Oval 99"/>
          <p:cNvSpPr/>
          <p:nvPr/>
        </p:nvSpPr>
        <p:spPr>
          <a:xfrm>
            <a:off x="9301467" y="2819387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" name="Oval 100"/>
          <p:cNvSpPr/>
          <p:nvPr/>
        </p:nvSpPr>
        <p:spPr>
          <a:xfrm>
            <a:off x="9316105" y="2839815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" name="Oval 101"/>
          <p:cNvSpPr/>
          <p:nvPr/>
        </p:nvSpPr>
        <p:spPr>
          <a:xfrm>
            <a:off x="9329376" y="2861157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" name="Oval 102"/>
          <p:cNvSpPr/>
          <p:nvPr/>
        </p:nvSpPr>
        <p:spPr>
          <a:xfrm>
            <a:off x="9341223" y="2883321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" name="Oval 103"/>
          <p:cNvSpPr/>
          <p:nvPr/>
        </p:nvSpPr>
        <p:spPr>
          <a:xfrm>
            <a:off x="9351595" y="2906212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" name="Oval 104"/>
          <p:cNvSpPr/>
          <p:nvPr/>
        </p:nvSpPr>
        <p:spPr>
          <a:xfrm>
            <a:off x="9360448" y="2929733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" name="Oval 105"/>
          <p:cNvSpPr/>
          <p:nvPr/>
        </p:nvSpPr>
        <p:spPr>
          <a:xfrm>
            <a:off x="9367743" y="2953782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" name="Oval 106"/>
          <p:cNvSpPr/>
          <p:nvPr/>
        </p:nvSpPr>
        <p:spPr>
          <a:xfrm>
            <a:off x="9373450" y="2978257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" name="Oval 107"/>
          <p:cNvSpPr/>
          <p:nvPr/>
        </p:nvSpPr>
        <p:spPr>
          <a:xfrm>
            <a:off x="9377544" y="3003053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" name="Oval 108"/>
          <p:cNvSpPr/>
          <p:nvPr/>
        </p:nvSpPr>
        <p:spPr>
          <a:xfrm>
            <a:off x="9380007" y="3028063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" name="Oval 109"/>
          <p:cNvSpPr/>
          <p:nvPr/>
        </p:nvSpPr>
        <p:spPr>
          <a:xfrm>
            <a:off x="9710013" y="3053181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" name="Oval 110"/>
          <p:cNvSpPr/>
          <p:nvPr/>
        </p:nvSpPr>
        <p:spPr>
          <a:xfrm>
            <a:off x="9708486" y="3099829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2" name="Oval 111"/>
          <p:cNvSpPr/>
          <p:nvPr/>
        </p:nvSpPr>
        <p:spPr>
          <a:xfrm>
            <a:off x="9703911" y="3146277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3" name="Oval 112"/>
          <p:cNvSpPr/>
          <p:nvPr/>
        </p:nvSpPr>
        <p:spPr>
          <a:xfrm>
            <a:off x="9696309" y="3192326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4" name="Oval 113"/>
          <p:cNvSpPr/>
          <p:nvPr/>
        </p:nvSpPr>
        <p:spPr>
          <a:xfrm>
            <a:off x="9685710" y="3237779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5" name="Oval 114"/>
          <p:cNvSpPr/>
          <p:nvPr/>
        </p:nvSpPr>
        <p:spPr>
          <a:xfrm>
            <a:off x="9672162" y="3282442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6" name="Oval 115"/>
          <p:cNvSpPr/>
          <p:nvPr/>
        </p:nvSpPr>
        <p:spPr>
          <a:xfrm>
            <a:off x="9655722" y="3326123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7" name="Oval 116"/>
          <p:cNvSpPr/>
          <p:nvPr/>
        </p:nvSpPr>
        <p:spPr>
          <a:xfrm>
            <a:off x="9636459" y="3368636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8" name="Oval 117"/>
          <p:cNvSpPr/>
          <p:nvPr/>
        </p:nvSpPr>
        <p:spPr>
          <a:xfrm>
            <a:off x="9614458" y="3409797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9" name="Oval 118"/>
          <p:cNvSpPr/>
          <p:nvPr/>
        </p:nvSpPr>
        <p:spPr>
          <a:xfrm>
            <a:off x="9589812" y="3449432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0" name="Oval 119"/>
          <p:cNvSpPr/>
          <p:nvPr/>
        </p:nvSpPr>
        <p:spPr>
          <a:xfrm>
            <a:off x="9562626" y="3487369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1" name="Oval 120"/>
          <p:cNvSpPr/>
          <p:nvPr/>
        </p:nvSpPr>
        <p:spPr>
          <a:xfrm>
            <a:off x="9533017" y="3523448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2" name="Oval 121"/>
          <p:cNvSpPr/>
          <p:nvPr/>
        </p:nvSpPr>
        <p:spPr>
          <a:xfrm>
            <a:off x="9501112" y="3557512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3" name="Oval 122"/>
          <p:cNvSpPr/>
          <p:nvPr/>
        </p:nvSpPr>
        <p:spPr>
          <a:xfrm>
            <a:off x="9467048" y="3589417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4" name="Oval 123"/>
          <p:cNvSpPr/>
          <p:nvPr/>
        </p:nvSpPr>
        <p:spPr>
          <a:xfrm>
            <a:off x="9430969" y="3619026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5" name="Oval 124"/>
          <p:cNvSpPr/>
          <p:nvPr/>
        </p:nvSpPr>
        <p:spPr>
          <a:xfrm>
            <a:off x="9393032" y="3646212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6" name="Oval 125"/>
          <p:cNvSpPr/>
          <p:nvPr/>
        </p:nvSpPr>
        <p:spPr>
          <a:xfrm>
            <a:off x="9353397" y="3670858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7" name="Oval 126"/>
          <p:cNvSpPr/>
          <p:nvPr/>
        </p:nvSpPr>
        <p:spPr>
          <a:xfrm>
            <a:off x="9312236" y="3692859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8" name="Oval 127"/>
          <p:cNvSpPr/>
          <p:nvPr/>
        </p:nvSpPr>
        <p:spPr>
          <a:xfrm>
            <a:off x="9269723" y="3712122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9" name="Oval 128"/>
          <p:cNvSpPr/>
          <p:nvPr/>
        </p:nvSpPr>
        <p:spPr>
          <a:xfrm>
            <a:off x="9226042" y="3728562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0" name="Oval 129"/>
          <p:cNvSpPr/>
          <p:nvPr/>
        </p:nvSpPr>
        <p:spPr>
          <a:xfrm>
            <a:off x="9181379" y="3742110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1" name="Oval 130"/>
          <p:cNvSpPr/>
          <p:nvPr/>
        </p:nvSpPr>
        <p:spPr>
          <a:xfrm>
            <a:off x="9135926" y="3752709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2" name="Oval 131"/>
          <p:cNvSpPr/>
          <p:nvPr/>
        </p:nvSpPr>
        <p:spPr>
          <a:xfrm>
            <a:off x="9089877" y="3760311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3" name="Oval 132"/>
          <p:cNvSpPr/>
          <p:nvPr/>
        </p:nvSpPr>
        <p:spPr>
          <a:xfrm>
            <a:off x="9043429" y="3764886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4" name="Oval 133"/>
          <p:cNvSpPr/>
          <p:nvPr/>
        </p:nvSpPr>
        <p:spPr>
          <a:xfrm>
            <a:off x="8996781" y="3766413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5" name="Oval 134"/>
          <p:cNvSpPr/>
          <p:nvPr/>
        </p:nvSpPr>
        <p:spPr>
          <a:xfrm>
            <a:off x="8950133" y="3764886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6" name="Oval 135"/>
          <p:cNvSpPr/>
          <p:nvPr/>
        </p:nvSpPr>
        <p:spPr>
          <a:xfrm>
            <a:off x="8903686" y="3760311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7" name="Oval 136"/>
          <p:cNvSpPr/>
          <p:nvPr/>
        </p:nvSpPr>
        <p:spPr>
          <a:xfrm>
            <a:off x="8857636" y="3752709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8" name="Oval 137"/>
          <p:cNvSpPr/>
          <p:nvPr/>
        </p:nvSpPr>
        <p:spPr>
          <a:xfrm>
            <a:off x="8812183" y="3742110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9" name="Oval 138"/>
          <p:cNvSpPr/>
          <p:nvPr/>
        </p:nvSpPr>
        <p:spPr>
          <a:xfrm>
            <a:off x="8767520" y="3728562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0" name="Oval 139"/>
          <p:cNvSpPr/>
          <p:nvPr/>
        </p:nvSpPr>
        <p:spPr>
          <a:xfrm>
            <a:off x="8723839" y="3712122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1" name="Oval 140"/>
          <p:cNvSpPr/>
          <p:nvPr/>
        </p:nvSpPr>
        <p:spPr>
          <a:xfrm>
            <a:off x="8681327" y="3692859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2" name="Oval 141"/>
          <p:cNvSpPr/>
          <p:nvPr/>
        </p:nvSpPr>
        <p:spPr>
          <a:xfrm>
            <a:off x="8640165" y="3670858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3" name="Oval 142"/>
          <p:cNvSpPr/>
          <p:nvPr/>
        </p:nvSpPr>
        <p:spPr>
          <a:xfrm>
            <a:off x="8600531" y="3646212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4" name="Oval 143"/>
          <p:cNvSpPr/>
          <p:nvPr/>
        </p:nvSpPr>
        <p:spPr>
          <a:xfrm>
            <a:off x="8562593" y="3619026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5" name="Oval 144"/>
          <p:cNvSpPr/>
          <p:nvPr/>
        </p:nvSpPr>
        <p:spPr>
          <a:xfrm>
            <a:off x="8526515" y="3589417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6" name="Oval 145"/>
          <p:cNvSpPr/>
          <p:nvPr/>
        </p:nvSpPr>
        <p:spPr>
          <a:xfrm>
            <a:off x="8492450" y="3557512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7" name="Oval 146"/>
          <p:cNvSpPr/>
          <p:nvPr/>
        </p:nvSpPr>
        <p:spPr>
          <a:xfrm>
            <a:off x="8460545" y="3523448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8" name="Oval 147"/>
          <p:cNvSpPr/>
          <p:nvPr/>
        </p:nvSpPr>
        <p:spPr>
          <a:xfrm>
            <a:off x="8430936" y="3487369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9" name="Oval 148"/>
          <p:cNvSpPr/>
          <p:nvPr/>
        </p:nvSpPr>
        <p:spPr>
          <a:xfrm>
            <a:off x="8403750" y="3449432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0" name="Oval 149"/>
          <p:cNvSpPr/>
          <p:nvPr/>
        </p:nvSpPr>
        <p:spPr>
          <a:xfrm>
            <a:off x="8379104" y="3409797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1" name="Oval 150"/>
          <p:cNvSpPr/>
          <p:nvPr/>
        </p:nvSpPr>
        <p:spPr>
          <a:xfrm>
            <a:off x="8357103" y="3368636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2" name="Oval 151"/>
          <p:cNvSpPr/>
          <p:nvPr/>
        </p:nvSpPr>
        <p:spPr>
          <a:xfrm>
            <a:off x="8337841" y="3326123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3" name="Oval 152"/>
          <p:cNvSpPr/>
          <p:nvPr/>
        </p:nvSpPr>
        <p:spPr>
          <a:xfrm>
            <a:off x="8321400" y="3282442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4" name="Oval 153"/>
          <p:cNvSpPr/>
          <p:nvPr/>
        </p:nvSpPr>
        <p:spPr>
          <a:xfrm>
            <a:off x="8307852" y="3237779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5" name="Oval 154"/>
          <p:cNvSpPr/>
          <p:nvPr/>
        </p:nvSpPr>
        <p:spPr>
          <a:xfrm>
            <a:off x="8297254" y="3192326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6" name="Oval 155"/>
          <p:cNvSpPr/>
          <p:nvPr/>
        </p:nvSpPr>
        <p:spPr>
          <a:xfrm>
            <a:off x="8289651" y="3146277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7" name="Oval 156"/>
          <p:cNvSpPr/>
          <p:nvPr/>
        </p:nvSpPr>
        <p:spPr>
          <a:xfrm>
            <a:off x="8285076" y="3099829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8" name="Oval 157"/>
          <p:cNvSpPr/>
          <p:nvPr/>
        </p:nvSpPr>
        <p:spPr>
          <a:xfrm>
            <a:off x="8283549" y="3053181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9" name="Oval 158"/>
          <p:cNvSpPr/>
          <p:nvPr/>
        </p:nvSpPr>
        <p:spPr>
          <a:xfrm>
            <a:off x="8285076" y="3006533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0" name="Oval 159"/>
          <p:cNvSpPr/>
          <p:nvPr/>
        </p:nvSpPr>
        <p:spPr>
          <a:xfrm>
            <a:off x="8289651" y="2960086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1" name="Oval 160"/>
          <p:cNvSpPr/>
          <p:nvPr/>
        </p:nvSpPr>
        <p:spPr>
          <a:xfrm>
            <a:off x="8297254" y="2914036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2" name="Oval 161"/>
          <p:cNvSpPr/>
          <p:nvPr/>
        </p:nvSpPr>
        <p:spPr>
          <a:xfrm>
            <a:off x="8307852" y="2868583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3" name="Oval 162"/>
          <p:cNvSpPr/>
          <p:nvPr/>
        </p:nvSpPr>
        <p:spPr>
          <a:xfrm>
            <a:off x="8321400" y="2823920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4" name="Oval 163"/>
          <p:cNvSpPr/>
          <p:nvPr/>
        </p:nvSpPr>
        <p:spPr>
          <a:xfrm>
            <a:off x="8337841" y="2780239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5" name="Oval 164"/>
          <p:cNvSpPr/>
          <p:nvPr/>
        </p:nvSpPr>
        <p:spPr>
          <a:xfrm>
            <a:off x="8357103" y="2737727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6" name="Oval 165"/>
          <p:cNvSpPr/>
          <p:nvPr/>
        </p:nvSpPr>
        <p:spPr>
          <a:xfrm>
            <a:off x="8379104" y="2696565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7" name="Oval 166"/>
          <p:cNvSpPr/>
          <p:nvPr/>
        </p:nvSpPr>
        <p:spPr>
          <a:xfrm>
            <a:off x="8403750" y="2656931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8" name="Oval 167"/>
          <p:cNvSpPr/>
          <p:nvPr/>
        </p:nvSpPr>
        <p:spPr>
          <a:xfrm>
            <a:off x="8430936" y="2618993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9" name="Oval 168"/>
          <p:cNvSpPr/>
          <p:nvPr/>
        </p:nvSpPr>
        <p:spPr>
          <a:xfrm>
            <a:off x="8460545" y="2582915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0" name="Oval 169"/>
          <p:cNvSpPr/>
          <p:nvPr/>
        </p:nvSpPr>
        <p:spPr>
          <a:xfrm>
            <a:off x="8492450" y="2548850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1" name="Oval 170"/>
          <p:cNvSpPr/>
          <p:nvPr/>
        </p:nvSpPr>
        <p:spPr>
          <a:xfrm>
            <a:off x="8526515" y="2516945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2" name="Oval 171"/>
          <p:cNvSpPr/>
          <p:nvPr/>
        </p:nvSpPr>
        <p:spPr>
          <a:xfrm>
            <a:off x="8562593" y="2487336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3" name="Oval 172"/>
          <p:cNvSpPr/>
          <p:nvPr/>
        </p:nvSpPr>
        <p:spPr>
          <a:xfrm>
            <a:off x="8600531" y="2460150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" name="Oval 173"/>
          <p:cNvSpPr/>
          <p:nvPr/>
        </p:nvSpPr>
        <p:spPr>
          <a:xfrm>
            <a:off x="8640165" y="2435504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5" name="Oval 174"/>
          <p:cNvSpPr/>
          <p:nvPr/>
        </p:nvSpPr>
        <p:spPr>
          <a:xfrm>
            <a:off x="8681327" y="2413503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6" name="Oval 175"/>
          <p:cNvSpPr/>
          <p:nvPr/>
        </p:nvSpPr>
        <p:spPr>
          <a:xfrm>
            <a:off x="8723839" y="2394241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7" name="Oval 176"/>
          <p:cNvSpPr/>
          <p:nvPr/>
        </p:nvSpPr>
        <p:spPr>
          <a:xfrm>
            <a:off x="8767520" y="2377800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8" name="Oval 177"/>
          <p:cNvSpPr/>
          <p:nvPr/>
        </p:nvSpPr>
        <p:spPr>
          <a:xfrm>
            <a:off x="8812183" y="2364252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9" name="Oval 178"/>
          <p:cNvSpPr/>
          <p:nvPr/>
        </p:nvSpPr>
        <p:spPr>
          <a:xfrm>
            <a:off x="8857636" y="2353654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0" name="Oval 179"/>
          <p:cNvSpPr/>
          <p:nvPr/>
        </p:nvSpPr>
        <p:spPr>
          <a:xfrm>
            <a:off x="8903686" y="2346051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1" name="Oval 180"/>
          <p:cNvSpPr/>
          <p:nvPr/>
        </p:nvSpPr>
        <p:spPr>
          <a:xfrm>
            <a:off x="8950133" y="2341476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2" name="Oval 181"/>
          <p:cNvSpPr/>
          <p:nvPr/>
        </p:nvSpPr>
        <p:spPr>
          <a:xfrm>
            <a:off x="8996781" y="2339949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3" name="Oval 182"/>
          <p:cNvSpPr/>
          <p:nvPr/>
        </p:nvSpPr>
        <p:spPr>
          <a:xfrm>
            <a:off x="9043429" y="2341476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4" name="Oval 183"/>
          <p:cNvSpPr/>
          <p:nvPr/>
        </p:nvSpPr>
        <p:spPr>
          <a:xfrm>
            <a:off x="9089877" y="2346051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5" name="Oval 184"/>
          <p:cNvSpPr/>
          <p:nvPr/>
        </p:nvSpPr>
        <p:spPr>
          <a:xfrm>
            <a:off x="9135926" y="2353654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6" name="Oval 185"/>
          <p:cNvSpPr/>
          <p:nvPr/>
        </p:nvSpPr>
        <p:spPr>
          <a:xfrm>
            <a:off x="9181379" y="2364252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7" name="Oval 186"/>
          <p:cNvSpPr/>
          <p:nvPr/>
        </p:nvSpPr>
        <p:spPr>
          <a:xfrm>
            <a:off x="9226042" y="2377800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8" name="Oval 187"/>
          <p:cNvSpPr/>
          <p:nvPr/>
        </p:nvSpPr>
        <p:spPr>
          <a:xfrm>
            <a:off x="9269723" y="2394241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9" name="Oval 188"/>
          <p:cNvSpPr/>
          <p:nvPr/>
        </p:nvSpPr>
        <p:spPr>
          <a:xfrm>
            <a:off x="9312236" y="2413503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0" name="Oval 189"/>
          <p:cNvSpPr/>
          <p:nvPr/>
        </p:nvSpPr>
        <p:spPr>
          <a:xfrm>
            <a:off x="9353397" y="2435504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1" name="Oval 190"/>
          <p:cNvSpPr/>
          <p:nvPr/>
        </p:nvSpPr>
        <p:spPr>
          <a:xfrm>
            <a:off x="9393032" y="2460150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2" name="Oval 191"/>
          <p:cNvSpPr/>
          <p:nvPr/>
        </p:nvSpPr>
        <p:spPr>
          <a:xfrm>
            <a:off x="9430969" y="2487336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3" name="Oval 192"/>
          <p:cNvSpPr/>
          <p:nvPr/>
        </p:nvSpPr>
        <p:spPr>
          <a:xfrm>
            <a:off x="9467048" y="2516945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4" name="Oval 193"/>
          <p:cNvSpPr/>
          <p:nvPr/>
        </p:nvSpPr>
        <p:spPr>
          <a:xfrm>
            <a:off x="9501112" y="2548850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5" name="Oval 194"/>
          <p:cNvSpPr/>
          <p:nvPr/>
        </p:nvSpPr>
        <p:spPr>
          <a:xfrm>
            <a:off x="9533017" y="2582915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6" name="Oval 195"/>
          <p:cNvSpPr/>
          <p:nvPr/>
        </p:nvSpPr>
        <p:spPr>
          <a:xfrm>
            <a:off x="9562626" y="2618993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7" name="Oval 196"/>
          <p:cNvSpPr/>
          <p:nvPr/>
        </p:nvSpPr>
        <p:spPr>
          <a:xfrm>
            <a:off x="9589812" y="2656931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8" name="Oval 197"/>
          <p:cNvSpPr/>
          <p:nvPr/>
        </p:nvSpPr>
        <p:spPr>
          <a:xfrm>
            <a:off x="9614458" y="2696565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9" name="Oval 198"/>
          <p:cNvSpPr/>
          <p:nvPr/>
        </p:nvSpPr>
        <p:spPr>
          <a:xfrm>
            <a:off x="9636459" y="2737727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0" name="Oval 199"/>
          <p:cNvSpPr/>
          <p:nvPr/>
        </p:nvSpPr>
        <p:spPr>
          <a:xfrm>
            <a:off x="9655722" y="2780239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1" name="Oval 200"/>
          <p:cNvSpPr/>
          <p:nvPr/>
        </p:nvSpPr>
        <p:spPr>
          <a:xfrm>
            <a:off x="9672162" y="2823920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2" name="Oval 201"/>
          <p:cNvSpPr/>
          <p:nvPr/>
        </p:nvSpPr>
        <p:spPr>
          <a:xfrm>
            <a:off x="9685710" y="2868583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3" name="Oval 202"/>
          <p:cNvSpPr/>
          <p:nvPr/>
        </p:nvSpPr>
        <p:spPr>
          <a:xfrm>
            <a:off x="9696309" y="2914036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4" name="Oval 203"/>
          <p:cNvSpPr/>
          <p:nvPr/>
        </p:nvSpPr>
        <p:spPr>
          <a:xfrm>
            <a:off x="9703911" y="2960086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5" name="Oval 204"/>
          <p:cNvSpPr/>
          <p:nvPr/>
        </p:nvSpPr>
        <p:spPr>
          <a:xfrm>
            <a:off x="9708486" y="3006533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6" name="Oval 205"/>
          <p:cNvSpPr/>
          <p:nvPr/>
        </p:nvSpPr>
        <p:spPr>
          <a:xfrm>
            <a:off x="10039197" y="3053181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7" name="Oval 206"/>
          <p:cNvSpPr/>
          <p:nvPr/>
        </p:nvSpPr>
        <p:spPr>
          <a:xfrm>
            <a:off x="10036965" y="3121358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8" name="Oval 207"/>
          <p:cNvSpPr/>
          <p:nvPr/>
        </p:nvSpPr>
        <p:spPr>
          <a:xfrm>
            <a:off x="10030279" y="3189244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9" name="Oval 208"/>
          <p:cNvSpPr/>
          <p:nvPr/>
        </p:nvSpPr>
        <p:spPr>
          <a:xfrm>
            <a:off x="10019167" y="3256546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0" name="Oval 209"/>
          <p:cNvSpPr/>
          <p:nvPr/>
        </p:nvSpPr>
        <p:spPr>
          <a:xfrm>
            <a:off x="10003678" y="3322978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1" name="Oval 210"/>
          <p:cNvSpPr/>
          <p:nvPr/>
        </p:nvSpPr>
        <p:spPr>
          <a:xfrm>
            <a:off x="9983876" y="3388255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2" name="Oval 211"/>
          <p:cNvSpPr/>
          <p:nvPr/>
        </p:nvSpPr>
        <p:spPr>
          <a:xfrm>
            <a:off x="9959848" y="3452096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3" name="Oval 212"/>
          <p:cNvSpPr/>
          <p:nvPr/>
        </p:nvSpPr>
        <p:spPr>
          <a:xfrm>
            <a:off x="9931696" y="3514230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4" name="Oval 213"/>
          <p:cNvSpPr/>
          <p:nvPr/>
        </p:nvSpPr>
        <p:spPr>
          <a:xfrm>
            <a:off x="9899540" y="3574389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5" name="Oval 214"/>
          <p:cNvSpPr/>
          <p:nvPr/>
        </p:nvSpPr>
        <p:spPr>
          <a:xfrm>
            <a:off x="9863518" y="3632316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6" name="Oval 215"/>
          <p:cNvSpPr/>
          <p:nvPr/>
        </p:nvSpPr>
        <p:spPr>
          <a:xfrm>
            <a:off x="9823785" y="3687764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7" name="Oval 216"/>
          <p:cNvSpPr/>
          <p:nvPr/>
        </p:nvSpPr>
        <p:spPr>
          <a:xfrm>
            <a:off x="9780511" y="3740494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8" name="Oval 217"/>
          <p:cNvSpPr/>
          <p:nvPr/>
        </p:nvSpPr>
        <p:spPr>
          <a:xfrm>
            <a:off x="9733881" y="3790281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9" name="Oval 218"/>
          <p:cNvSpPr/>
          <p:nvPr/>
        </p:nvSpPr>
        <p:spPr>
          <a:xfrm>
            <a:off x="9684094" y="3836911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0" name="Oval 219"/>
          <p:cNvSpPr/>
          <p:nvPr/>
        </p:nvSpPr>
        <p:spPr>
          <a:xfrm>
            <a:off x="9631364" y="3880185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1" name="Oval 220"/>
          <p:cNvSpPr/>
          <p:nvPr/>
        </p:nvSpPr>
        <p:spPr>
          <a:xfrm>
            <a:off x="9575916" y="3919918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2" name="Oval 221"/>
          <p:cNvSpPr/>
          <p:nvPr/>
        </p:nvSpPr>
        <p:spPr>
          <a:xfrm>
            <a:off x="9517989" y="3955940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3" name="Oval 222"/>
          <p:cNvSpPr/>
          <p:nvPr/>
        </p:nvSpPr>
        <p:spPr>
          <a:xfrm>
            <a:off x="9457830" y="3988096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4" name="Oval 223"/>
          <p:cNvSpPr/>
          <p:nvPr/>
        </p:nvSpPr>
        <p:spPr>
          <a:xfrm>
            <a:off x="9395696" y="4016248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5" name="Oval 224"/>
          <p:cNvSpPr/>
          <p:nvPr/>
        </p:nvSpPr>
        <p:spPr>
          <a:xfrm>
            <a:off x="9331855" y="4040276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6" name="Oval 225"/>
          <p:cNvSpPr/>
          <p:nvPr/>
        </p:nvSpPr>
        <p:spPr>
          <a:xfrm>
            <a:off x="9266578" y="4060078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7" name="Oval 226"/>
          <p:cNvSpPr/>
          <p:nvPr/>
        </p:nvSpPr>
        <p:spPr>
          <a:xfrm>
            <a:off x="9200146" y="4075567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8" name="Oval 227"/>
          <p:cNvSpPr/>
          <p:nvPr/>
        </p:nvSpPr>
        <p:spPr>
          <a:xfrm>
            <a:off x="9132844" y="4086679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9" name="Oval 228"/>
          <p:cNvSpPr/>
          <p:nvPr/>
        </p:nvSpPr>
        <p:spPr>
          <a:xfrm>
            <a:off x="9064958" y="4093365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0" name="Oval 229"/>
          <p:cNvSpPr/>
          <p:nvPr/>
        </p:nvSpPr>
        <p:spPr>
          <a:xfrm>
            <a:off x="8996781" y="4095597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1" name="Oval 230"/>
          <p:cNvSpPr/>
          <p:nvPr/>
        </p:nvSpPr>
        <p:spPr>
          <a:xfrm>
            <a:off x="8928604" y="4093365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2" name="Oval 231"/>
          <p:cNvSpPr/>
          <p:nvPr/>
        </p:nvSpPr>
        <p:spPr>
          <a:xfrm>
            <a:off x="8860719" y="4086679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3" name="Oval 232"/>
          <p:cNvSpPr/>
          <p:nvPr/>
        </p:nvSpPr>
        <p:spPr>
          <a:xfrm>
            <a:off x="8793416" y="4075567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4" name="Oval 233"/>
          <p:cNvSpPr/>
          <p:nvPr/>
        </p:nvSpPr>
        <p:spPr>
          <a:xfrm>
            <a:off x="8726984" y="4060078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5" name="Oval 234"/>
          <p:cNvSpPr/>
          <p:nvPr/>
        </p:nvSpPr>
        <p:spPr>
          <a:xfrm>
            <a:off x="8661707" y="4040276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6" name="Oval 235"/>
          <p:cNvSpPr/>
          <p:nvPr/>
        </p:nvSpPr>
        <p:spPr>
          <a:xfrm>
            <a:off x="8597866" y="4016248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7" name="Oval 236"/>
          <p:cNvSpPr/>
          <p:nvPr/>
        </p:nvSpPr>
        <p:spPr>
          <a:xfrm>
            <a:off x="8535732" y="3988096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8" name="Oval 237"/>
          <p:cNvSpPr/>
          <p:nvPr/>
        </p:nvSpPr>
        <p:spPr>
          <a:xfrm>
            <a:off x="8475573" y="3955940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9" name="Oval 238"/>
          <p:cNvSpPr/>
          <p:nvPr/>
        </p:nvSpPr>
        <p:spPr>
          <a:xfrm>
            <a:off x="8417646" y="3919918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0" name="Oval 239"/>
          <p:cNvSpPr/>
          <p:nvPr/>
        </p:nvSpPr>
        <p:spPr>
          <a:xfrm>
            <a:off x="8362198" y="3880185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1" name="Oval 240"/>
          <p:cNvSpPr/>
          <p:nvPr/>
        </p:nvSpPr>
        <p:spPr>
          <a:xfrm>
            <a:off x="8309468" y="3836911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2" name="Oval 241"/>
          <p:cNvSpPr/>
          <p:nvPr/>
        </p:nvSpPr>
        <p:spPr>
          <a:xfrm>
            <a:off x="8259682" y="3790281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3" name="Oval 242"/>
          <p:cNvSpPr/>
          <p:nvPr/>
        </p:nvSpPr>
        <p:spPr>
          <a:xfrm>
            <a:off x="8213051" y="3740494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4" name="Oval 243"/>
          <p:cNvSpPr/>
          <p:nvPr/>
        </p:nvSpPr>
        <p:spPr>
          <a:xfrm>
            <a:off x="8169777" y="3687764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5" name="Oval 244"/>
          <p:cNvSpPr/>
          <p:nvPr/>
        </p:nvSpPr>
        <p:spPr>
          <a:xfrm>
            <a:off x="8130044" y="3632316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6" name="Oval 245"/>
          <p:cNvSpPr/>
          <p:nvPr/>
        </p:nvSpPr>
        <p:spPr>
          <a:xfrm>
            <a:off x="8094022" y="3574389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7" name="Oval 246"/>
          <p:cNvSpPr/>
          <p:nvPr/>
        </p:nvSpPr>
        <p:spPr>
          <a:xfrm>
            <a:off x="8061867" y="3514230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8" name="Oval 247"/>
          <p:cNvSpPr/>
          <p:nvPr/>
        </p:nvSpPr>
        <p:spPr>
          <a:xfrm>
            <a:off x="8033714" y="3452096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9" name="Oval 248"/>
          <p:cNvSpPr/>
          <p:nvPr/>
        </p:nvSpPr>
        <p:spPr>
          <a:xfrm>
            <a:off x="8009686" y="3388255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0" name="Oval 249"/>
          <p:cNvSpPr/>
          <p:nvPr/>
        </p:nvSpPr>
        <p:spPr>
          <a:xfrm>
            <a:off x="7989885" y="3322978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1" name="Oval 250"/>
          <p:cNvSpPr/>
          <p:nvPr/>
        </p:nvSpPr>
        <p:spPr>
          <a:xfrm>
            <a:off x="7974395" y="3256546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2" name="Oval 251"/>
          <p:cNvSpPr/>
          <p:nvPr/>
        </p:nvSpPr>
        <p:spPr>
          <a:xfrm>
            <a:off x="7963283" y="3189244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3" name="Oval 252"/>
          <p:cNvSpPr/>
          <p:nvPr/>
        </p:nvSpPr>
        <p:spPr>
          <a:xfrm>
            <a:off x="7956597" y="3121358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4" name="Oval 253"/>
          <p:cNvSpPr/>
          <p:nvPr/>
        </p:nvSpPr>
        <p:spPr>
          <a:xfrm>
            <a:off x="7954365" y="3053181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5" name="Oval 254"/>
          <p:cNvSpPr/>
          <p:nvPr/>
        </p:nvSpPr>
        <p:spPr>
          <a:xfrm>
            <a:off x="7956597" y="2985004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6" name="Oval 255"/>
          <p:cNvSpPr/>
          <p:nvPr/>
        </p:nvSpPr>
        <p:spPr>
          <a:xfrm>
            <a:off x="7963283" y="2917119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7" name="Oval 256"/>
          <p:cNvSpPr/>
          <p:nvPr/>
        </p:nvSpPr>
        <p:spPr>
          <a:xfrm>
            <a:off x="7974395" y="2849816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8" name="Oval 257"/>
          <p:cNvSpPr/>
          <p:nvPr/>
        </p:nvSpPr>
        <p:spPr>
          <a:xfrm>
            <a:off x="7989885" y="2783384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9" name="Oval 258"/>
          <p:cNvSpPr/>
          <p:nvPr/>
        </p:nvSpPr>
        <p:spPr>
          <a:xfrm>
            <a:off x="8009686" y="2718107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0" name="Oval 259"/>
          <p:cNvSpPr/>
          <p:nvPr/>
        </p:nvSpPr>
        <p:spPr>
          <a:xfrm>
            <a:off x="8033714" y="2654266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1" name="Oval 260"/>
          <p:cNvSpPr/>
          <p:nvPr/>
        </p:nvSpPr>
        <p:spPr>
          <a:xfrm>
            <a:off x="8061867" y="2592132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2" name="Oval 261"/>
          <p:cNvSpPr/>
          <p:nvPr/>
        </p:nvSpPr>
        <p:spPr>
          <a:xfrm>
            <a:off x="8094022" y="2531973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3" name="Oval 262"/>
          <p:cNvSpPr/>
          <p:nvPr/>
        </p:nvSpPr>
        <p:spPr>
          <a:xfrm>
            <a:off x="8130044" y="2474046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4" name="Oval 263"/>
          <p:cNvSpPr/>
          <p:nvPr/>
        </p:nvSpPr>
        <p:spPr>
          <a:xfrm>
            <a:off x="8169777" y="2418598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5" name="Oval 264"/>
          <p:cNvSpPr/>
          <p:nvPr/>
        </p:nvSpPr>
        <p:spPr>
          <a:xfrm>
            <a:off x="8213051" y="2365868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6" name="Oval 265"/>
          <p:cNvSpPr/>
          <p:nvPr/>
        </p:nvSpPr>
        <p:spPr>
          <a:xfrm>
            <a:off x="8259682" y="2316082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7" name="Oval 266"/>
          <p:cNvSpPr/>
          <p:nvPr/>
        </p:nvSpPr>
        <p:spPr>
          <a:xfrm>
            <a:off x="8309468" y="2269451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8" name="Oval 267"/>
          <p:cNvSpPr/>
          <p:nvPr/>
        </p:nvSpPr>
        <p:spPr>
          <a:xfrm>
            <a:off x="8362198" y="2226177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9" name="Oval 268"/>
          <p:cNvSpPr/>
          <p:nvPr/>
        </p:nvSpPr>
        <p:spPr>
          <a:xfrm>
            <a:off x="8417646" y="2186444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0" name="Oval 269"/>
          <p:cNvSpPr/>
          <p:nvPr/>
        </p:nvSpPr>
        <p:spPr>
          <a:xfrm>
            <a:off x="8475573" y="2150422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1" name="Oval 270"/>
          <p:cNvSpPr/>
          <p:nvPr/>
        </p:nvSpPr>
        <p:spPr>
          <a:xfrm>
            <a:off x="8535732" y="2118267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2" name="Oval 271"/>
          <p:cNvSpPr/>
          <p:nvPr/>
        </p:nvSpPr>
        <p:spPr>
          <a:xfrm>
            <a:off x="8597866" y="2090114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3" name="Oval 272"/>
          <p:cNvSpPr/>
          <p:nvPr/>
        </p:nvSpPr>
        <p:spPr>
          <a:xfrm>
            <a:off x="8661707" y="2066086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4" name="Oval 273"/>
          <p:cNvSpPr/>
          <p:nvPr/>
        </p:nvSpPr>
        <p:spPr>
          <a:xfrm>
            <a:off x="8726984" y="2046285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5" name="Oval 274"/>
          <p:cNvSpPr/>
          <p:nvPr/>
        </p:nvSpPr>
        <p:spPr>
          <a:xfrm>
            <a:off x="8793416" y="2030795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6" name="Oval 275"/>
          <p:cNvSpPr/>
          <p:nvPr/>
        </p:nvSpPr>
        <p:spPr>
          <a:xfrm>
            <a:off x="8860719" y="2019683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7" name="Oval 276"/>
          <p:cNvSpPr/>
          <p:nvPr/>
        </p:nvSpPr>
        <p:spPr>
          <a:xfrm>
            <a:off x="8928604" y="2012997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8" name="Oval 277"/>
          <p:cNvSpPr/>
          <p:nvPr/>
        </p:nvSpPr>
        <p:spPr>
          <a:xfrm>
            <a:off x="8996781" y="2010765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9" name="Oval 278"/>
          <p:cNvSpPr/>
          <p:nvPr/>
        </p:nvSpPr>
        <p:spPr>
          <a:xfrm>
            <a:off x="9064958" y="2012997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0" name="Oval 279"/>
          <p:cNvSpPr/>
          <p:nvPr/>
        </p:nvSpPr>
        <p:spPr>
          <a:xfrm>
            <a:off x="9132844" y="2019683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1" name="Oval 280"/>
          <p:cNvSpPr/>
          <p:nvPr/>
        </p:nvSpPr>
        <p:spPr>
          <a:xfrm>
            <a:off x="9200146" y="2030795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2" name="Oval 281"/>
          <p:cNvSpPr/>
          <p:nvPr/>
        </p:nvSpPr>
        <p:spPr>
          <a:xfrm>
            <a:off x="9266578" y="2046285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3" name="Oval 282"/>
          <p:cNvSpPr/>
          <p:nvPr/>
        </p:nvSpPr>
        <p:spPr>
          <a:xfrm>
            <a:off x="9331855" y="2066086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4" name="Oval 283"/>
          <p:cNvSpPr/>
          <p:nvPr/>
        </p:nvSpPr>
        <p:spPr>
          <a:xfrm>
            <a:off x="9395696" y="2090114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5" name="Oval 284"/>
          <p:cNvSpPr/>
          <p:nvPr/>
        </p:nvSpPr>
        <p:spPr>
          <a:xfrm>
            <a:off x="9457830" y="2118267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6" name="Oval 285"/>
          <p:cNvSpPr/>
          <p:nvPr/>
        </p:nvSpPr>
        <p:spPr>
          <a:xfrm>
            <a:off x="9517989" y="2150422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7" name="Oval 286"/>
          <p:cNvSpPr/>
          <p:nvPr/>
        </p:nvSpPr>
        <p:spPr>
          <a:xfrm>
            <a:off x="9575916" y="2186444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8" name="Oval 287"/>
          <p:cNvSpPr/>
          <p:nvPr/>
        </p:nvSpPr>
        <p:spPr>
          <a:xfrm>
            <a:off x="9631364" y="2226177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9" name="Oval 288"/>
          <p:cNvSpPr/>
          <p:nvPr/>
        </p:nvSpPr>
        <p:spPr>
          <a:xfrm>
            <a:off x="9684094" y="2269451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0" name="Oval 289"/>
          <p:cNvSpPr/>
          <p:nvPr/>
        </p:nvSpPr>
        <p:spPr>
          <a:xfrm>
            <a:off x="9733881" y="2316082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1" name="Oval 290"/>
          <p:cNvSpPr/>
          <p:nvPr/>
        </p:nvSpPr>
        <p:spPr>
          <a:xfrm>
            <a:off x="9780511" y="2365868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2" name="Oval 291"/>
          <p:cNvSpPr/>
          <p:nvPr/>
        </p:nvSpPr>
        <p:spPr>
          <a:xfrm>
            <a:off x="9823785" y="2418598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3" name="Oval 292"/>
          <p:cNvSpPr/>
          <p:nvPr/>
        </p:nvSpPr>
        <p:spPr>
          <a:xfrm>
            <a:off x="9863518" y="2474046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4" name="Oval 293"/>
          <p:cNvSpPr/>
          <p:nvPr/>
        </p:nvSpPr>
        <p:spPr>
          <a:xfrm>
            <a:off x="9899540" y="2531973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5" name="Oval 294"/>
          <p:cNvSpPr/>
          <p:nvPr/>
        </p:nvSpPr>
        <p:spPr>
          <a:xfrm>
            <a:off x="9931696" y="2592132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6" name="Oval 295"/>
          <p:cNvSpPr/>
          <p:nvPr/>
        </p:nvSpPr>
        <p:spPr>
          <a:xfrm>
            <a:off x="9959848" y="2654266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7" name="Oval 296"/>
          <p:cNvSpPr/>
          <p:nvPr/>
        </p:nvSpPr>
        <p:spPr>
          <a:xfrm>
            <a:off x="9983876" y="2718107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8" name="Oval 297"/>
          <p:cNvSpPr/>
          <p:nvPr/>
        </p:nvSpPr>
        <p:spPr>
          <a:xfrm>
            <a:off x="10003678" y="2783384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9" name="Oval 298"/>
          <p:cNvSpPr/>
          <p:nvPr/>
        </p:nvSpPr>
        <p:spPr>
          <a:xfrm>
            <a:off x="10019167" y="2849816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0" name="Oval 299"/>
          <p:cNvSpPr/>
          <p:nvPr/>
        </p:nvSpPr>
        <p:spPr>
          <a:xfrm>
            <a:off x="10030279" y="2917119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1" name="Oval 300"/>
          <p:cNvSpPr/>
          <p:nvPr/>
        </p:nvSpPr>
        <p:spPr>
          <a:xfrm>
            <a:off x="10036965" y="2985004"/>
            <a:ext cx="20116" cy="20116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2" name="Oval 301"/>
          <p:cNvSpPr/>
          <p:nvPr/>
        </p:nvSpPr>
        <p:spPr>
          <a:xfrm>
            <a:off x="8961119" y="2633472"/>
            <a:ext cx="91440" cy="9144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3" name="Oval 302"/>
          <p:cNvSpPr/>
          <p:nvPr/>
        </p:nvSpPr>
        <p:spPr>
          <a:xfrm>
            <a:off x="9153143" y="2684924"/>
            <a:ext cx="91440" cy="9144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4" name="Oval 303"/>
          <p:cNvSpPr/>
          <p:nvPr/>
        </p:nvSpPr>
        <p:spPr>
          <a:xfrm>
            <a:off x="9293715" y="2825496"/>
            <a:ext cx="91440" cy="9144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5" name="Oval 304"/>
          <p:cNvSpPr/>
          <p:nvPr/>
        </p:nvSpPr>
        <p:spPr>
          <a:xfrm>
            <a:off x="9345167" y="3017520"/>
            <a:ext cx="91440" cy="9144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6" name="Oval 305"/>
          <p:cNvSpPr/>
          <p:nvPr/>
        </p:nvSpPr>
        <p:spPr>
          <a:xfrm>
            <a:off x="9293715" y="3209544"/>
            <a:ext cx="91440" cy="9144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7" name="Oval 306"/>
          <p:cNvSpPr/>
          <p:nvPr/>
        </p:nvSpPr>
        <p:spPr>
          <a:xfrm>
            <a:off x="9153143" y="3350115"/>
            <a:ext cx="91440" cy="9144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8" name="Oval 307"/>
          <p:cNvSpPr/>
          <p:nvPr/>
        </p:nvSpPr>
        <p:spPr>
          <a:xfrm>
            <a:off x="8961119" y="3401568"/>
            <a:ext cx="91440" cy="9144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9" name="Oval 308"/>
          <p:cNvSpPr/>
          <p:nvPr/>
        </p:nvSpPr>
        <p:spPr>
          <a:xfrm>
            <a:off x="8769096" y="3350115"/>
            <a:ext cx="91440" cy="9144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0" name="Oval 309"/>
          <p:cNvSpPr/>
          <p:nvPr/>
        </p:nvSpPr>
        <p:spPr>
          <a:xfrm>
            <a:off x="8628524" y="3209544"/>
            <a:ext cx="91440" cy="9144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1" name="Oval 310"/>
          <p:cNvSpPr/>
          <p:nvPr/>
        </p:nvSpPr>
        <p:spPr>
          <a:xfrm>
            <a:off x="8577072" y="3017520"/>
            <a:ext cx="91440" cy="9144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2" name="Oval 311"/>
          <p:cNvSpPr/>
          <p:nvPr/>
        </p:nvSpPr>
        <p:spPr>
          <a:xfrm>
            <a:off x="8628524" y="2825496"/>
            <a:ext cx="91440" cy="9144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3" name="Oval 312"/>
          <p:cNvSpPr/>
          <p:nvPr/>
        </p:nvSpPr>
        <p:spPr>
          <a:xfrm>
            <a:off x="8769095" y="2684924"/>
            <a:ext cx="91440" cy="9144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4" name="Oval 313"/>
          <p:cNvSpPr/>
          <p:nvPr/>
        </p:nvSpPr>
        <p:spPr>
          <a:xfrm>
            <a:off x="8961119" y="2304288"/>
            <a:ext cx="91440" cy="9144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5" name="Oval 314"/>
          <p:cNvSpPr/>
          <p:nvPr/>
        </p:nvSpPr>
        <p:spPr>
          <a:xfrm>
            <a:off x="9317736" y="2399842"/>
            <a:ext cx="91440" cy="9144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6" name="Oval 315"/>
          <p:cNvSpPr/>
          <p:nvPr/>
        </p:nvSpPr>
        <p:spPr>
          <a:xfrm>
            <a:off x="9578797" y="2660904"/>
            <a:ext cx="91440" cy="9144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7" name="Oval 316"/>
          <p:cNvSpPr/>
          <p:nvPr/>
        </p:nvSpPr>
        <p:spPr>
          <a:xfrm>
            <a:off x="9674351" y="3017520"/>
            <a:ext cx="91440" cy="9144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8" name="Oval 317"/>
          <p:cNvSpPr/>
          <p:nvPr/>
        </p:nvSpPr>
        <p:spPr>
          <a:xfrm>
            <a:off x="9578797" y="3374136"/>
            <a:ext cx="91440" cy="9144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9" name="Oval 318"/>
          <p:cNvSpPr/>
          <p:nvPr/>
        </p:nvSpPr>
        <p:spPr>
          <a:xfrm>
            <a:off x="9317736" y="3635197"/>
            <a:ext cx="91440" cy="9144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0" name="Oval 319"/>
          <p:cNvSpPr/>
          <p:nvPr/>
        </p:nvSpPr>
        <p:spPr>
          <a:xfrm>
            <a:off x="8961119" y="3730752"/>
            <a:ext cx="91440" cy="9144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1" name="Oval 320"/>
          <p:cNvSpPr/>
          <p:nvPr/>
        </p:nvSpPr>
        <p:spPr>
          <a:xfrm>
            <a:off x="8604503" y="3635197"/>
            <a:ext cx="91440" cy="9144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2" name="Oval 321"/>
          <p:cNvSpPr/>
          <p:nvPr/>
        </p:nvSpPr>
        <p:spPr>
          <a:xfrm>
            <a:off x="8343442" y="3374136"/>
            <a:ext cx="91440" cy="9144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3" name="Oval 322"/>
          <p:cNvSpPr/>
          <p:nvPr/>
        </p:nvSpPr>
        <p:spPr>
          <a:xfrm>
            <a:off x="8247888" y="3017520"/>
            <a:ext cx="91440" cy="9144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4" name="Oval 323"/>
          <p:cNvSpPr/>
          <p:nvPr/>
        </p:nvSpPr>
        <p:spPr>
          <a:xfrm>
            <a:off x="8343442" y="2660904"/>
            <a:ext cx="91440" cy="9144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5" name="Oval 324"/>
          <p:cNvSpPr/>
          <p:nvPr/>
        </p:nvSpPr>
        <p:spPr>
          <a:xfrm>
            <a:off x="8604503" y="2399842"/>
            <a:ext cx="91440" cy="9144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6" name="Oval 325"/>
          <p:cNvSpPr/>
          <p:nvPr/>
        </p:nvSpPr>
        <p:spPr>
          <a:xfrm>
            <a:off x="8961119" y="1975104"/>
            <a:ext cx="91440" cy="9144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7" name="Oval 326"/>
          <p:cNvSpPr/>
          <p:nvPr/>
        </p:nvSpPr>
        <p:spPr>
          <a:xfrm>
            <a:off x="9482328" y="2114761"/>
            <a:ext cx="91440" cy="9144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8" name="Oval 327"/>
          <p:cNvSpPr/>
          <p:nvPr/>
        </p:nvSpPr>
        <p:spPr>
          <a:xfrm>
            <a:off x="9863878" y="2496312"/>
            <a:ext cx="91440" cy="9144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9" name="Oval 328"/>
          <p:cNvSpPr/>
          <p:nvPr/>
        </p:nvSpPr>
        <p:spPr>
          <a:xfrm>
            <a:off x="10003536" y="3017520"/>
            <a:ext cx="91440" cy="9144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0" name="Oval 329"/>
          <p:cNvSpPr/>
          <p:nvPr/>
        </p:nvSpPr>
        <p:spPr>
          <a:xfrm>
            <a:off x="9863878" y="3538728"/>
            <a:ext cx="91440" cy="9144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1" name="Oval 330"/>
          <p:cNvSpPr/>
          <p:nvPr/>
        </p:nvSpPr>
        <p:spPr>
          <a:xfrm>
            <a:off x="9482328" y="3920278"/>
            <a:ext cx="91440" cy="9144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2" name="Oval 331"/>
          <p:cNvSpPr/>
          <p:nvPr/>
        </p:nvSpPr>
        <p:spPr>
          <a:xfrm>
            <a:off x="8961119" y="4059936"/>
            <a:ext cx="91440" cy="9144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3" name="Oval 332"/>
          <p:cNvSpPr/>
          <p:nvPr/>
        </p:nvSpPr>
        <p:spPr>
          <a:xfrm>
            <a:off x="8439911" y="3920278"/>
            <a:ext cx="91440" cy="9144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4" name="Oval 333"/>
          <p:cNvSpPr/>
          <p:nvPr/>
        </p:nvSpPr>
        <p:spPr>
          <a:xfrm>
            <a:off x="8058361" y="3538728"/>
            <a:ext cx="91440" cy="9144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5" name="Oval 334"/>
          <p:cNvSpPr/>
          <p:nvPr/>
        </p:nvSpPr>
        <p:spPr>
          <a:xfrm>
            <a:off x="7918703" y="3017520"/>
            <a:ext cx="91440" cy="9144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6" name="Oval 335"/>
          <p:cNvSpPr/>
          <p:nvPr/>
        </p:nvSpPr>
        <p:spPr>
          <a:xfrm>
            <a:off x="8058361" y="2496312"/>
            <a:ext cx="91440" cy="9144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7" name="Oval 336"/>
          <p:cNvSpPr/>
          <p:nvPr/>
        </p:nvSpPr>
        <p:spPr>
          <a:xfrm>
            <a:off x="8439911" y="2114761"/>
            <a:ext cx="91440" cy="9144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8" name="Oval 337"/>
          <p:cNvSpPr/>
          <p:nvPr/>
        </p:nvSpPr>
        <p:spPr>
          <a:xfrm>
            <a:off x="8933688" y="2990088"/>
            <a:ext cx="146304" cy="146304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9" name="TextBox 338"/>
          <p:cNvSpPr txBox="1"/>
          <p:nvPr/>
        </p:nvSpPr>
        <p:spPr>
          <a:xfrm>
            <a:off x="6675120" y="4434840"/>
            <a:ext cx="46177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>
                <a:solidFill>
                  <a:srgbClr val="000000"/>
                </a:solidFill>
                <a:latin typeface="Calibri"/>
              </a:rPr>
              <a:t>Change the count and the step changes with it. Change the radius per ring and it opens up.</a:t>
            </a:r>
          </a:p>
        </p:txBody>
      </p:sp>
      <p:sp>
        <p:nvSpPr>
          <p:cNvPr id="340" name="Rectangle 339"/>
          <p:cNvSpPr/>
          <p:nvPr/>
        </p:nvSpPr>
        <p:spPr>
          <a:xfrm>
            <a:off x="662940" y="5234940"/>
            <a:ext cx="10972800" cy="65836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1" name="Rectangle 340"/>
          <p:cNvSpPr/>
          <p:nvPr/>
        </p:nvSpPr>
        <p:spPr>
          <a:xfrm>
            <a:off x="594360" y="5166360"/>
            <a:ext cx="10972800" cy="658368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2" name="TextBox 341"/>
          <p:cNvSpPr txBox="1"/>
          <p:nvPr/>
        </p:nvSpPr>
        <p:spPr>
          <a:xfrm>
            <a:off x="777240" y="5166360"/>
            <a:ext cx="1060704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>
                <a:solidFill>
                  <a:srgbClr val="000000"/>
                </a:solidFill>
                <a:latin typeface="Arial"/>
              </a:rPr>
              <a:t>IF YOUR LAST ELEMENT LANDS ON TOP OF YOUR FIRST, YOU DIVIDED BY THE WRONG NUMBER.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566928"/>
            <a:ext cx="10972800" cy="0"/>
          </a:xfrm>
          <a:prstGeom prst="rect">
            <a:avLst/>
          </a:prstGeom>
          <a:noFill/>
          <a:ln w="508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676656"/>
            <a:ext cx="10972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000000"/>
                </a:solidFill>
                <a:latin typeface="Arial"/>
              </a:rPr>
              <a:t>MOVE ONLY SOME OF THEM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261872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>
                <a:solidFill>
                  <a:srgbClr val="6B6B6B"/>
                </a:solidFill>
                <a:latin typeface="Calibri"/>
              </a:rPr>
              <a:t>Select a range of indices with comparisons, and displace just those.</a:t>
            </a:r>
          </a:p>
        </p:txBody>
      </p:sp>
      <p:sp>
        <p:nvSpPr>
          <p:cNvPr id="5" name="Rectangle 4"/>
          <p:cNvSpPr/>
          <p:nvPr/>
        </p:nvSpPr>
        <p:spPr>
          <a:xfrm>
            <a:off x="662940" y="1851660"/>
            <a:ext cx="5120640" cy="320040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594360" y="1783080"/>
            <a:ext cx="5120640" cy="320040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594360" y="1783080"/>
            <a:ext cx="5120640" cy="502920"/>
          </a:xfrm>
          <a:prstGeom prst="rect">
            <a:avLst/>
          </a:prstGeom>
          <a:solidFill>
            <a:srgbClr val="B4B4AC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22960" y="1783080"/>
            <a:ext cx="46634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87" b="1">
                <a:solidFill>
                  <a:srgbClr val="000000"/>
                </a:solidFill>
                <a:latin typeface="Arial"/>
              </a:rPr>
              <a:t>BEFORE</a:t>
            </a:r>
          </a:p>
        </p:txBody>
      </p:sp>
      <p:sp>
        <p:nvSpPr>
          <p:cNvPr id="9" name="Oval 8"/>
          <p:cNvSpPr/>
          <p:nvPr/>
        </p:nvSpPr>
        <p:spPr>
          <a:xfrm>
            <a:off x="1257300" y="2674620"/>
            <a:ext cx="137160" cy="13716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Oval 9"/>
          <p:cNvSpPr/>
          <p:nvPr/>
        </p:nvSpPr>
        <p:spPr>
          <a:xfrm>
            <a:off x="1257300" y="3058668"/>
            <a:ext cx="137160" cy="13716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1257300" y="3442715"/>
            <a:ext cx="137160" cy="13716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Oval 11"/>
          <p:cNvSpPr/>
          <p:nvPr/>
        </p:nvSpPr>
        <p:spPr>
          <a:xfrm>
            <a:off x="1257300" y="3826763"/>
            <a:ext cx="137160" cy="13716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Oval 12"/>
          <p:cNvSpPr/>
          <p:nvPr/>
        </p:nvSpPr>
        <p:spPr>
          <a:xfrm>
            <a:off x="1641348" y="2674620"/>
            <a:ext cx="137160" cy="13716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Oval 13"/>
          <p:cNvSpPr/>
          <p:nvPr/>
        </p:nvSpPr>
        <p:spPr>
          <a:xfrm>
            <a:off x="1641348" y="3058668"/>
            <a:ext cx="137160" cy="13716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1641348" y="3442715"/>
            <a:ext cx="137160" cy="13716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Oval 15"/>
          <p:cNvSpPr/>
          <p:nvPr/>
        </p:nvSpPr>
        <p:spPr>
          <a:xfrm>
            <a:off x="1641348" y="3826763"/>
            <a:ext cx="137160" cy="13716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Oval 16"/>
          <p:cNvSpPr/>
          <p:nvPr/>
        </p:nvSpPr>
        <p:spPr>
          <a:xfrm>
            <a:off x="2025395" y="2674620"/>
            <a:ext cx="137160" cy="13716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Oval 17"/>
          <p:cNvSpPr/>
          <p:nvPr/>
        </p:nvSpPr>
        <p:spPr>
          <a:xfrm>
            <a:off x="2025395" y="3058668"/>
            <a:ext cx="137160" cy="13716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Oval 18"/>
          <p:cNvSpPr/>
          <p:nvPr/>
        </p:nvSpPr>
        <p:spPr>
          <a:xfrm>
            <a:off x="2025395" y="3442715"/>
            <a:ext cx="137160" cy="13716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Oval 19"/>
          <p:cNvSpPr/>
          <p:nvPr/>
        </p:nvSpPr>
        <p:spPr>
          <a:xfrm>
            <a:off x="2025395" y="3826763"/>
            <a:ext cx="137160" cy="13716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Oval 20"/>
          <p:cNvSpPr/>
          <p:nvPr/>
        </p:nvSpPr>
        <p:spPr>
          <a:xfrm>
            <a:off x="2409444" y="2674620"/>
            <a:ext cx="137160" cy="13716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Oval 21"/>
          <p:cNvSpPr/>
          <p:nvPr/>
        </p:nvSpPr>
        <p:spPr>
          <a:xfrm>
            <a:off x="2409444" y="3058668"/>
            <a:ext cx="137160" cy="13716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Oval 22"/>
          <p:cNvSpPr/>
          <p:nvPr/>
        </p:nvSpPr>
        <p:spPr>
          <a:xfrm>
            <a:off x="2409444" y="3442715"/>
            <a:ext cx="137160" cy="13716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Oval 23"/>
          <p:cNvSpPr/>
          <p:nvPr/>
        </p:nvSpPr>
        <p:spPr>
          <a:xfrm>
            <a:off x="2409444" y="3826763"/>
            <a:ext cx="137160" cy="13716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Oval 24"/>
          <p:cNvSpPr/>
          <p:nvPr/>
        </p:nvSpPr>
        <p:spPr>
          <a:xfrm>
            <a:off x="2793491" y="2674620"/>
            <a:ext cx="137160" cy="13716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Oval 25"/>
          <p:cNvSpPr/>
          <p:nvPr/>
        </p:nvSpPr>
        <p:spPr>
          <a:xfrm>
            <a:off x="2793491" y="3058668"/>
            <a:ext cx="137160" cy="13716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Oval 26"/>
          <p:cNvSpPr/>
          <p:nvPr/>
        </p:nvSpPr>
        <p:spPr>
          <a:xfrm>
            <a:off x="2793491" y="3442715"/>
            <a:ext cx="137160" cy="13716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Oval 27"/>
          <p:cNvSpPr/>
          <p:nvPr/>
        </p:nvSpPr>
        <p:spPr>
          <a:xfrm>
            <a:off x="2793491" y="3826763"/>
            <a:ext cx="137160" cy="13716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Oval 28"/>
          <p:cNvSpPr/>
          <p:nvPr/>
        </p:nvSpPr>
        <p:spPr>
          <a:xfrm>
            <a:off x="3177540" y="2674620"/>
            <a:ext cx="137160" cy="13716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Oval 29"/>
          <p:cNvSpPr/>
          <p:nvPr/>
        </p:nvSpPr>
        <p:spPr>
          <a:xfrm>
            <a:off x="3177540" y="3058668"/>
            <a:ext cx="137160" cy="13716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Oval 30"/>
          <p:cNvSpPr/>
          <p:nvPr/>
        </p:nvSpPr>
        <p:spPr>
          <a:xfrm>
            <a:off x="3177540" y="3442715"/>
            <a:ext cx="137160" cy="13716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Oval 31"/>
          <p:cNvSpPr/>
          <p:nvPr/>
        </p:nvSpPr>
        <p:spPr>
          <a:xfrm>
            <a:off x="3177540" y="3826763"/>
            <a:ext cx="137160" cy="13716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Oval 32"/>
          <p:cNvSpPr/>
          <p:nvPr/>
        </p:nvSpPr>
        <p:spPr>
          <a:xfrm>
            <a:off x="3561588" y="2674620"/>
            <a:ext cx="137160" cy="13716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Oval 33"/>
          <p:cNvSpPr/>
          <p:nvPr/>
        </p:nvSpPr>
        <p:spPr>
          <a:xfrm>
            <a:off x="3561588" y="3058668"/>
            <a:ext cx="137160" cy="13716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Oval 34"/>
          <p:cNvSpPr/>
          <p:nvPr/>
        </p:nvSpPr>
        <p:spPr>
          <a:xfrm>
            <a:off x="3561588" y="3442715"/>
            <a:ext cx="137160" cy="13716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Oval 35"/>
          <p:cNvSpPr/>
          <p:nvPr/>
        </p:nvSpPr>
        <p:spPr>
          <a:xfrm>
            <a:off x="3561588" y="3826763"/>
            <a:ext cx="137160" cy="13716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Oval 36"/>
          <p:cNvSpPr/>
          <p:nvPr/>
        </p:nvSpPr>
        <p:spPr>
          <a:xfrm>
            <a:off x="3945636" y="2674620"/>
            <a:ext cx="137160" cy="13716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Oval 37"/>
          <p:cNvSpPr/>
          <p:nvPr/>
        </p:nvSpPr>
        <p:spPr>
          <a:xfrm>
            <a:off x="3945636" y="3058668"/>
            <a:ext cx="137160" cy="13716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Oval 38"/>
          <p:cNvSpPr/>
          <p:nvPr/>
        </p:nvSpPr>
        <p:spPr>
          <a:xfrm>
            <a:off x="3945636" y="3442715"/>
            <a:ext cx="137160" cy="13716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Oval 39"/>
          <p:cNvSpPr/>
          <p:nvPr/>
        </p:nvSpPr>
        <p:spPr>
          <a:xfrm>
            <a:off x="3945636" y="3826763"/>
            <a:ext cx="137160" cy="13716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Oval 40"/>
          <p:cNvSpPr/>
          <p:nvPr/>
        </p:nvSpPr>
        <p:spPr>
          <a:xfrm>
            <a:off x="4329684" y="2674620"/>
            <a:ext cx="137160" cy="13716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Oval 41"/>
          <p:cNvSpPr/>
          <p:nvPr/>
        </p:nvSpPr>
        <p:spPr>
          <a:xfrm>
            <a:off x="4329684" y="3058668"/>
            <a:ext cx="137160" cy="13716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Oval 42"/>
          <p:cNvSpPr/>
          <p:nvPr/>
        </p:nvSpPr>
        <p:spPr>
          <a:xfrm>
            <a:off x="4329684" y="3442715"/>
            <a:ext cx="137160" cy="13716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Oval 43"/>
          <p:cNvSpPr/>
          <p:nvPr/>
        </p:nvSpPr>
        <p:spPr>
          <a:xfrm>
            <a:off x="4329684" y="3826763"/>
            <a:ext cx="137160" cy="13716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914400" y="44348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>
                <a:solidFill>
                  <a:srgbClr val="000000"/>
                </a:solidFill>
                <a:latin typeface="Calibri"/>
              </a:rPr>
              <a:t>Every element identical. The index is computed, then ignored.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103620" y="1851660"/>
            <a:ext cx="5532120" cy="320040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Rectangle 46"/>
          <p:cNvSpPr/>
          <p:nvPr/>
        </p:nvSpPr>
        <p:spPr>
          <a:xfrm>
            <a:off x="6035040" y="1783080"/>
            <a:ext cx="5532120" cy="320040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Rectangle 47"/>
          <p:cNvSpPr/>
          <p:nvPr/>
        </p:nvSpPr>
        <p:spPr>
          <a:xfrm>
            <a:off x="6035040" y="1783080"/>
            <a:ext cx="5532120" cy="502920"/>
          </a:xfrm>
          <a:prstGeom prst="rect">
            <a:avLst/>
          </a:prstGeom>
          <a:solidFill>
            <a:srgbClr val="C6F035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TextBox 48"/>
          <p:cNvSpPr txBox="1"/>
          <p:nvPr/>
        </p:nvSpPr>
        <p:spPr>
          <a:xfrm>
            <a:off x="6263640" y="1783080"/>
            <a:ext cx="5074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87" b="1">
                <a:solidFill>
                  <a:srgbClr val="000000"/>
                </a:solidFill>
                <a:latin typeface="Arial"/>
              </a:rPr>
              <a:t>AFTER</a:t>
            </a:r>
          </a:p>
        </p:txBody>
      </p:sp>
      <p:sp>
        <p:nvSpPr>
          <p:cNvPr id="50" name="Oval 49"/>
          <p:cNvSpPr/>
          <p:nvPr/>
        </p:nvSpPr>
        <p:spPr>
          <a:xfrm>
            <a:off x="6332220" y="2674620"/>
            <a:ext cx="137160" cy="13716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Oval 50"/>
          <p:cNvSpPr/>
          <p:nvPr/>
        </p:nvSpPr>
        <p:spPr>
          <a:xfrm>
            <a:off x="6332220" y="3058668"/>
            <a:ext cx="137160" cy="13716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Oval 51"/>
          <p:cNvSpPr/>
          <p:nvPr/>
        </p:nvSpPr>
        <p:spPr>
          <a:xfrm>
            <a:off x="6332220" y="3442715"/>
            <a:ext cx="137160" cy="13716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3" name="Oval 52"/>
          <p:cNvSpPr/>
          <p:nvPr/>
        </p:nvSpPr>
        <p:spPr>
          <a:xfrm>
            <a:off x="6332220" y="3826763"/>
            <a:ext cx="137160" cy="13716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Oval 53"/>
          <p:cNvSpPr/>
          <p:nvPr/>
        </p:nvSpPr>
        <p:spPr>
          <a:xfrm>
            <a:off x="6716268" y="2674620"/>
            <a:ext cx="137160" cy="13716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" name="Oval 54"/>
          <p:cNvSpPr/>
          <p:nvPr/>
        </p:nvSpPr>
        <p:spPr>
          <a:xfrm>
            <a:off x="6716268" y="3058668"/>
            <a:ext cx="137160" cy="13716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" name="Oval 55"/>
          <p:cNvSpPr/>
          <p:nvPr/>
        </p:nvSpPr>
        <p:spPr>
          <a:xfrm>
            <a:off x="6716268" y="3442715"/>
            <a:ext cx="137160" cy="13716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7" name="Oval 56"/>
          <p:cNvSpPr/>
          <p:nvPr/>
        </p:nvSpPr>
        <p:spPr>
          <a:xfrm>
            <a:off x="6716268" y="3826763"/>
            <a:ext cx="137160" cy="13716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Oval 57"/>
          <p:cNvSpPr/>
          <p:nvPr/>
        </p:nvSpPr>
        <p:spPr>
          <a:xfrm>
            <a:off x="7100316" y="2674620"/>
            <a:ext cx="137160" cy="13716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9" name="Oval 58"/>
          <p:cNvSpPr/>
          <p:nvPr/>
        </p:nvSpPr>
        <p:spPr>
          <a:xfrm>
            <a:off x="7100316" y="3058668"/>
            <a:ext cx="137160" cy="13716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0" name="Oval 59"/>
          <p:cNvSpPr/>
          <p:nvPr/>
        </p:nvSpPr>
        <p:spPr>
          <a:xfrm>
            <a:off x="7100316" y="3442715"/>
            <a:ext cx="137160" cy="13716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1" name="Oval 60"/>
          <p:cNvSpPr/>
          <p:nvPr/>
        </p:nvSpPr>
        <p:spPr>
          <a:xfrm>
            <a:off x="7100316" y="3826763"/>
            <a:ext cx="137160" cy="13716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2" name="Oval 61"/>
          <p:cNvSpPr/>
          <p:nvPr/>
        </p:nvSpPr>
        <p:spPr>
          <a:xfrm>
            <a:off x="7484364" y="2382012"/>
            <a:ext cx="137160" cy="137160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3" name="Oval 62"/>
          <p:cNvSpPr/>
          <p:nvPr/>
        </p:nvSpPr>
        <p:spPr>
          <a:xfrm>
            <a:off x="7484364" y="2766060"/>
            <a:ext cx="137160" cy="137160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4" name="Oval 63"/>
          <p:cNvSpPr/>
          <p:nvPr/>
        </p:nvSpPr>
        <p:spPr>
          <a:xfrm>
            <a:off x="7484364" y="3150108"/>
            <a:ext cx="137160" cy="137160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5" name="Oval 64"/>
          <p:cNvSpPr/>
          <p:nvPr/>
        </p:nvSpPr>
        <p:spPr>
          <a:xfrm>
            <a:off x="7484364" y="3534156"/>
            <a:ext cx="137160" cy="137160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6" name="Oval 65"/>
          <p:cNvSpPr/>
          <p:nvPr/>
        </p:nvSpPr>
        <p:spPr>
          <a:xfrm>
            <a:off x="7868412" y="2382012"/>
            <a:ext cx="137160" cy="137160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7" name="Oval 66"/>
          <p:cNvSpPr/>
          <p:nvPr/>
        </p:nvSpPr>
        <p:spPr>
          <a:xfrm>
            <a:off x="7868412" y="2766060"/>
            <a:ext cx="137160" cy="137160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8" name="Oval 67"/>
          <p:cNvSpPr/>
          <p:nvPr/>
        </p:nvSpPr>
        <p:spPr>
          <a:xfrm>
            <a:off x="7868412" y="3150108"/>
            <a:ext cx="137160" cy="137160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9" name="Oval 68"/>
          <p:cNvSpPr/>
          <p:nvPr/>
        </p:nvSpPr>
        <p:spPr>
          <a:xfrm>
            <a:off x="7868412" y="3534156"/>
            <a:ext cx="137160" cy="137160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0" name="Oval 69"/>
          <p:cNvSpPr/>
          <p:nvPr/>
        </p:nvSpPr>
        <p:spPr>
          <a:xfrm>
            <a:off x="8252460" y="2382012"/>
            <a:ext cx="137160" cy="137160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1" name="Oval 70"/>
          <p:cNvSpPr/>
          <p:nvPr/>
        </p:nvSpPr>
        <p:spPr>
          <a:xfrm>
            <a:off x="8252460" y="2766060"/>
            <a:ext cx="137160" cy="137160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2" name="Oval 71"/>
          <p:cNvSpPr/>
          <p:nvPr/>
        </p:nvSpPr>
        <p:spPr>
          <a:xfrm>
            <a:off x="8252460" y="3150108"/>
            <a:ext cx="137160" cy="137160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3" name="Oval 72"/>
          <p:cNvSpPr/>
          <p:nvPr/>
        </p:nvSpPr>
        <p:spPr>
          <a:xfrm>
            <a:off x="8252460" y="3534156"/>
            <a:ext cx="137160" cy="137160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4" name="Oval 73"/>
          <p:cNvSpPr/>
          <p:nvPr/>
        </p:nvSpPr>
        <p:spPr>
          <a:xfrm>
            <a:off x="8636508" y="2674620"/>
            <a:ext cx="137160" cy="13716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5" name="Oval 74"/>
          <p:cNvSpPr/>
          <p:nvPr/>
        </p:nvSpPr>
        <p:spPr>
          <a:xfrm>
            <a:off x="8636508" y="3058668"/>
            <a:ext cx="137160" cy="13716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6" name="Oval 75"/>
          <p:cNvSpPr/>
          <p:nvPr/>
        </p:nvSpPr>
        <p:spPr>
          <a:xfrm>
            <a:off x="8636508" y="3442715"/>
            <a:ext cx="137160" cy="13716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7" name="Oval 76"/>
          <p:cNvSpPr/>
          <p:nvPr/>
        </p:nvSpPr>
        <p:spPr>
          <a:xfrm>
            <a:off x="8636508" y="3826763"/>
            <a:ext cx="137160" cy="13716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8" name="Oval 77"/>
          <p:cNvSpPr/>
          <p:nvPr/>
        </p:nvSpPr>
        <p:spPr>
          <a:xfrm>
            <a:off x="9020556" y="2674620"/>
            <a:ext cx="137160" cy="13716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9" name="Oval 78"/>
          <p:cNvSpPr/>
          <p:nvPr/>
        </p:nvSpPr>
        <p:spPr>
          <a:xfrm>
            <a:off x="9020556" y="3058668"/>
            <a:ext cx="137160" cy="13716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0" name="Oval 79"/>
          <p:cNvSpPr/>
          <p:nvPr/>
        </p:nvSpPr>
        <p:spPr>
          <a:xfrm>
            <a:off x="9020556" y="3442715"/>
            <a:ext cx="137160" cy="13716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1" name="Oval 80"/>
          <p:cNvSpPr/>
          <p:nvPr/>
        </p:nvSpPr>
        <p:spPr>
          <a:xfrm>
            <a:off x="9020556" y="3826763"/>
            <a:ext cx="137160" cy="13716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2" name="Oval 81"/>
          <p:cNvSpPr/>
          <p:nvPr/>
        </p:nvSpPr>
        <p:spPr>
          <a:xfrm>
            <a:off x="9404604" y="2674620"/>
            <a:ext cx="137160" cy="13716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3" name="Oval 82"/>
          <p:cNvSpPr/>
          <p:nvPr/>
        </p:nvSpPr>
        <p:spPr>
          <a:xfrm>
            <a:off x="9404604" y="3058668"/>
            <a:ext cx="137160" cy="13716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4" name="Oval 83"/>
          <p:cNvSpPr/>
          <p:nvPr/>
        </p:nvSpPr>
        <p:spPr>
          <a:xfrm>
            <a:off x="9404604" y="3442715"/>
            <a:ext cx="137160" cy="13716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5" name="Oval 84"/>
          <p:cNvSpPr/>
          <p:nvPr/>
        </p:nvSpPr>
        <p:spPr>
          <a:xfrm>
            <a:off x="9404604" y="3826763"/>
            <a:ext cx="137160" cy="13716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6" name="TextBox 85"/>
          <p:cNvSpPr txBox="1"/>
          <p:nvPr/>
        </p:nvSpPr>
        <p:spPr>
          <a:xfrm>
            <a:off x="6309360" y="4434840"/>
            <a:ext cx="4983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>
                <a:solidFill>
                  <a:srgbClr val="000000"/>
                </a:solidFill>
                <a:latin typeface="Calibri"/>
              </a:rPr>
              <a:t>Indices 3 to 5 lifted. One Compare, one Switch, one Set Position.</a:t>
            </a:r>
          </a:p>
        </p:txBody>
      </p:sp>
      <p:sp>
        <p:nvSpPr>
          <p:cNvPr id="87" name="Rectangle 86"/>
          <p:cNvSpPr/>
          <p:nvPr/>
        </p:nvSpPr>
        <p:spPr>
          <a:xfrm>
            <a:off x="662940" y="5326380"/>
            <a:ext cx="10972800" cy="65836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8" name="Rectangle 87"/>
          <p:cNvSpPr/>
          <p:nvPr/>
        </p:nvSpPr>
        <p:spPr>
          <a:xfrm>
            <a:off x="594360" y="5257800"/>
            <a:ext cx="10972800" cy="658368"/>
          </a:xfrm>
          <a:prstGeom prst="rect">
            <a:avLst/>
          </a:prstGeom>
          <a:solidFill>
            <a:srgbClr val="FFE5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9" name="TextBox 88"/>
          <p:cNvSpPr txBox="1"/>
          <p:nvPr/>
        </p:nvSpPr>
        <p:spPr>
          <a:xfrm>
            <a:off x="777240" y="5257800"/>
            <a:ext cx="1060704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>
                <a:solidFill>
                  <a:srgbClr val="000000"/>
                </a:solidFill>
                <a:latin typeface="Arial"/>
              </a:rPr>
              <a:t>THE FIELD STOPS BEING WALLPAPER THE MOMENT A TEST DECIDES SOMETHING.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566928"/>
            <a:ext cx="10972800" cy="0"/>
          </a:xfrm>
          <a:prstGeom prst="rect">
            <a:avLst/>
          </a:prstGeom>
          <a:noFill/>
          <a:ln w="50800">
            <a:solidFill>
              <a:srgbClr val="FFFD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676656"/>
            <a:ext cx="10972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FFFDF7"/>
                </a:solidFill>
                <a:latin typeface="Arial"/>
              </a:rPr>
              <a:t>SINE GIVES YOU A SMOOTH RULE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261872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>
                <a:solidFill>
                  <a:srgbClr val="B4B4AC"/>
                </a:solidFill>
                <a:latin typeface="Calibri"/>
              </a:rPr>
              <a:t>Math set to Sine, driven by the index. Three words describe the whole curve.</a:t>
            </a:r>
          </a:p>
        </p:txBody>
      </p:sp>
      <p:sp>
        <p:nvSpPr>
          <p:cNvPr id="5" name="Rectangle 4"/>
          <p:cNvSpPr/>
          <p:nvPr/>
        </p:nvSpPr>
        <p:spPr>
          <a:xfrm>
            <a:off x="662940" y="1943100"/>
            <a:ext cx="5669280" cy="301752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594360" y="1874519"/>
            <a:ext cx="5669280" cy="301752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594360" y="1874519"/>
            <a:ext cx="5669280" cy="502920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22960" y="1874519"/>
            <a:ext cx="52120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87" b="1">
                <a:solidFill>
                  <a:srgbClr val="000000"/>
                </a:solidFill>
                <a:latin typeface="Arial"/>
              </a:rPr>
              <a:t>THREE PARAMETERS</a:t>
            </a:r>
          </a:p>
        </p:txBody>
      </p:sp>
      <p:sp>
        <p:nvSpPr>
          <p:cNvPr id="9" name="Rectangle 8"/>
          <p:cNvSpPr/>
          <p:nvPr/>
        </p:nvSpPr>
        <p:spPr>
          <a:xfrm>
            <a:off x="982980" y="2674620"/>
            <a:ext cx="1828800" cy="50292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914400" y="2606040"/>
            <a:ext cx="1828800" cy="502920"/>
          </a:xfrm>
          <a:prstGeom prst="rect">
            <a:avLst/>
          </a:prstGeom>
          <a:solidFill>
            <a:srgbClr val="C6F035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14400" y="2756916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000000"/>
                </a:solidFill>
                <a:latin typeface="Arial"/>
              </a:rPr>
              <a:t>AMPLITUDE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71800" y="2606040"/>
            <a:ext cx="30175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>
                <a:solidFill>
                  <a:srgbClr val="000000"/>
                </a:solidFill>
                <a:latin typeface="Calibri"/>
              </a:rPr>
              <a:t>how far it swings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82980" y="3332988"/>
            <a:ext cx="1828800" cy="50292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914400" y="3264408"/>
            <a:ext cx="1828800" cy="502920"/>
          </a:xfrm>
          <a:prstGeom prst="rect">
            <a:avLst/>
          </a:prstGeom>
          <a:solidFill>
            <a:srgbClr val="C6F035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14400" y="3415284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000000"/>
                </a:solidFill>
                <a:latin typeface="Arial"/>
              </a:rPr>
              <a:t>FREQUENCY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71800" y="3264408"/>
            <a:ext cx="30175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>
                <a:solidFill>
                  <a:srgbClr val="000000"/>
                </a:solidFill>
                <a:latin typeface="Calibri"/>
              </a:rPr>
              <a:t>how many swings across the set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82980" y="3991356"/>
            <a:ext cx="1828800" cy="50292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914400" y="3922776"/>
            <a:ext cx="1828800" cy="502920"/>
          </a:xfrm>
          <a:prstGeom prst="rect">
            <a:avLst/>
          </a:prstGeom>
          <a:solidFill>
            <a:srgbClr val="C6F035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14400" y="407365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000000"/>
                </a:solidFill>
                <a:latin typeface="Arial"/>
              </a:rPr>
              <a:t>PHASE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71800" y="3922776"/>
            <a:ext cx="30175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>
                <a:solidFill>
                  <a:srgbClr val="000000"/>
                </a:solidFill>
                <a:latin typeface="Calibri"/>
              </a:rPr>
              <a:t>where in the swing it starts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457200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>
                <a:solidFill>
                  <a:srgbClr val="000000"/>
                </a:solidFill>
                <a:latin typeface="Courier New"/>
              </a:rPr>
              <a:t>h[i] = amp × sin(i × freq + phase)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606540" y="1943100"/>
            <a:ext cx="5029200" cy="301752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6537960" y="1874519"/>
            <a:ext cx="5029200" cy="301752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6537960" y="1874519"/>
            <a:ext cx="5029200" cy="502920"/>
          </a:xfrm>
          <a:prstGeom prst="rect">
            <a:avLst/>
          </a:prstGeom>
          <a:solidFill>
            <a:srgbClr val="FFE5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6766560" y="1874519"/>
            <a:ext cx="45720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87" b="1">
                <a:solidFill>
                  <a:srgbClr val="000000"/>
                </a:solidFill>
                <a:latin typeface="Arial"/>
              </a:rPr>
              <a:t>READ IT AS A CURVE</a:t>
            </a:r>
          </a:p>
        </p:txBody>
      </p:sp>
      <p:sp>
        <p:nvSpPr>
          <p:cNvPr id="26" name="Oval 25"/>
          <p:cNvSpPr/>
          <p:nvPr/>
        </p:nvSpPr>
        <p:spPr>
          <a:xfrm>
            <a:off x="6938009" y="3006089"/>
            <a:ext cx="22860" cy="22860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Oval 26"/>
          <p:cNvSpPr/>
          <p:nvPr/>
        </p:nvSpPr>
        <p:spPr>
          <a:xfrm>
            <a:off x="6991253" y="2966132"/>
            <a:ext cx="22860" cy="22860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Oval 27"/>
          <p:cNvSpPr/>
          <p:nvPr/>
        </p:nvSpPr>
        <p:spPr>
          <a:xfrm>
            <a:off x="7044497" y="2926428"/>
            <a:ext cx="22860" cy="22860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Oval 28"/>
          <p:cNvSpPr/>
          <p:nvPr/>
        </p:nvSpPr>
        <p:spPr>
          <a:xfrm>
            <a:off x="7097740" y="2887227"/>
            <a:ext cx="22860" cy="22860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Oval 29"/>
          <p:cNvSpPr/>
          <p:nvPr/>
        </p:nvSpPr>
        <p:spPr>
          <a:xfrm>
            <a:off x="7150984" y="2848778"/>
            <a:ext cx="22860" cy="22860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Oval 30"/>
          <p:cNvSpPr/>
          <p:nvPr/>
        </p:nvSpPr>
        <p:spPr>
          <a:xfrm>
            <a:off x="7204227" y="2811323"/>
            <a:ext cx="22860" cy="22860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Oval 31"/>
          <p:cNvSpPr/>
          <p:nvPr/>
        </p:nvSpPr>
        <p:spPr>
          <a:xfrm>
            <a:off x="7257471" y="2775100"/>
            <a:ext cx="22860" cy="22860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Oval 32"/>
          <p:cNvSpPr/>
          <p:nvPr/>
        </p:nvSpPr>
        <p:spPr>
          <a:xfrm>
            <a:off x="7310714" y="2740337"/>
            <a:ext cx="22860" cy="22860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Oval 33"/>
          <p:cNvSpPr/>
          <p:nvPr/>
        </p:nvSpPr>
        <p:spPr>
          <a:xfrm>
            <a:off x="7363958" y="2707254"/>
            <a:ext cx="22860" cy="22860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Oval 34"/>
          <p:cNvSpPr/>
          <p:nvPr/>
        </p:nvSpPr>
        <p:spPr>
          <a:xfrm>
            <a:off x="7417201" y="2676060"/>
            <a:ext cx="22860" cy="22860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Oval 35"/>
          <p:cNvSpPr/>
          <p:nvPr/>
        </p:nvSpPr>
        <p:spPr>
          <a:xfrm>
            <a:off x="7470445" y="2646954"/>
            <a:ext cx="22860" cy="22860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Oval 36"/>
          <p:cNvSpPr/>
          <p:nvPr/>
        </p:nvSpPr>
        <p:spPr>
          <a:xfrm>
            <a:off x="7523688" y="2620117"/>
            <a:ext cx="22860" cy="22860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Oval 37"/>
          <p:cNvSpPr/>
          <p:nvPr/>
        </p:nvSpPr>
        <p:spPr>
          <a:xfrm>
            <a:off x="7576932" y="2595721"/>
            <a:ext cx="22860" cy="22860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Oval 38"/>
          <p:cNvSpPr/>
          <p:nvPr/>
        </p:nvSpPr>
        <p:spPr>
          <a:xfrm>
            <a:off x="7630176" y="2573919"/>
            <a:ext cx="22860" cy="22860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Oval 39"/>
          <p:cNvSpPr/>
          <p:nvPr/>
        </p:nvSpPr>
        <p:spPr>
          <a:xfrm>
            <a:off x="7683419" y="2554850"/>
            <a:ext cx="22860" cy="22860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Oval 40"/>
          <p:cNvSpPr/>
          <p:nvPr/>
        </p:nvSpPr>
        <p:spPr>
          <a:xfrm>
            <a:off x="7736663" y="2538634"/>
            <a:ext cx="22860" cy="22860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Oval 41"/>
          <p:cNvSpPr/>
          <p:nvPr/>
        </p:nvSpPr>
        <p:spPr>
          <a:xfrm>
            <a:off x="7789906" y="2525373"/>
            <a:ext cx="22860" cy="22860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Oval 42"/>
          <p:cNvSpPr/>
          <p:nvPr/>
        </p:nvSpPr>
        <p:spPr>
          <a:xfrm>
            <a:off x="7843150" y="2515151"/>
            <a:ext cx="22860" cy="22860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Oval 43"/>
          <p:cNvSpPr/>
          <p:nvPr/>
        </p:nvSpPr>
        <p:spPr>
          <a:xfrm>
            <a:off x="7896393" y="2508033"/>
            <a:ext cx="22860" cy="22860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Oval 44"/>
          <p:cNvSpPr/>
          <p:nvPr/>
        </p:nvSpPr>
        <p:spPr>
          <a:xfrm>
            <a:off x="7949637" y="2504064"/>
            <a:ext cx="22860" cy="22860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Oval 45"/>
          <p:cNvSpPr/>
          <p:nvPr/>
        </p:nvSpPr>
        <p:spPr>
          <a:xfrm>
            <a:off x="8002880" y="2503269"/>
            <a:ext cx="22860" cy="22860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Oval 46"/>
          <p:cNvSpPr/>
          <p:nvPr/>
        </p:nvSpPr>
        <p:spPr>
          <a:xfrm>
            <a:off x="8056124" y="2505653"/>
            <a:ext cx="22860" cy="22860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Oval 47"/>
          <p:cNvSpPr/>
          <p:nvPr/>
        </p:nvSpPr>
        <p:spPr>
          <a:xfrm>
            <a:off x="8109367" y="2511201"/>
            <a:ext cx="22860" cy="22860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Oval 48"/>
          <p:cNvSpPr/>
          <p:nvPr/>
        </p:nvSpPr>
        <p:spPr>
          <a:xfrm>
            <a:off x="8162611" y="2519877"/>
            <a:ext cx="22860" cy="22860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Oval 49"/>
          <p:cNvSpPr/>
          <p:nvPr/>
        </p:nvSpPr>
        <p:spPr>
          <a:xfrm>
            <a:off x="8215855" y="2531628"/>
            <a:ext cx="22860" cy="22860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Oval 50"/>
          <p:cNvSpPr/>
          <p:nvPr/>
        </p:nvSpPr>
        <p:spPr>
          <a:xfrm>
            <a:off x="8269098" y="2546378"/>
            <a:ext cx="22860" cy="22860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Oval 51"/>
          <p:cNvSpPr/>
          <p:nvPr/>
        </p:nvSpPr>
        <p:spPr>
          <a:xfrm>
            <a:off x="8322342" y="2564035"/>
            <a:ext cx="22860" cy="22860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3" name="Oval 52"/>
          <p:cNvSpPr/>
          <p:nvPr/>
        </p:nvSpPr>
        <p:spPr>
          <a:xfrm>
            <a:off x="8375585" y="2584487"/>
            <a:ext cx="22860" cy="22860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Oval 53"/>
          <p:cNvSpPr/>
          <p:nvPr/>
        </p:nvSpPr>
        <p:spPr>
          <a:xfrm>
            <a:off x="8428829" y="2607604"/>
            <a:ext cx="22860" cy="22860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" name="Oval 54"/>
          <p:cNvSpPr/>
          <p:nvPr/>
        </p:nvSpPr>
        <p:spPr>
          <a:xfrm>
            <a:off x="8482072" y="2633241"/>
            <a:ext cx="22860" cy="22860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" name="Oval 55"/>
          <p:cNvSpPr/>
          <p:nvPr/>
        </p:nvSpPr>
        <p:spPr>
          <a:xfrm>
            <a:off x="8535316" y="2661234"/>
            <a:ext cx="22860" cy="22860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7" name="Oval 56"/>
          <p:cNvSpPr/>
          <p:nvPr/>
        </p:nvSpPr>
        <p:spPr>
          <a:xfrm>
            <a:off x="8588559" y="2691408"/>
            <a:ext cx="22860" cy="22860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Oval 57"/>
          <p:cNvSpPr/>
          <p:nvPr/>
        </p:nvSpPr>
        <p:spPr>
          <a:xfrm>
            <a:off x="8641803" y="2723572"/>
            <a:ext cx="22860" cy="22860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9" name="Oval 58"/>
          <p:cNvSpPr/>
          <p:nvPr/>
        </p:nvSpPr>
        <p:spPr>
          <a:xfrm>
            <a:off x="8695046" y="2757522"/>
            <a:ext cx="22860" cy="22860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0" name="Oval 59"/>
          <p:cNvSpPr/>
          <p:nvPr/>
        </p:nvSpPr>
        <p:spPr>
          <a:xfrm>
            <a:off x="8748290" y="2793043"/>
            <a:ext cx="22860" cy="22860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1" name="Oval 60"/>
          <p:cNvSpPr/>
          <p:nvPr/>
        </p:nvSpPr>
        <p:spPr>
          <a:xfrm>
            <a:off x="8801534" y="2829911"/>
            <a:ext cx="22860" cy="22860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2" name="Oval 61"/>
          <p:cNvSpPr/>
          <p:nvPr/>
        </p:nvSpPr>
        <p:spPr>
          <a:xfrm>
            <a:off x="8854777" y="2867893"/>
            <a:ext cx="22860" cy="22860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3" name="Oval 62"/>
          <p:cNvSpPr/>
          <p:nvPr/>
        </p:nvSpPr>
        <p:spPr>
          <a:xfrm>
            <a:off x="8908021" y="2906749"/>
            <a:ext cx="22860" cy="22860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4" name="Oval 63"/>
          <p:cNvSpPr/>
          <p:nvPr/>
        </p:nvSpPr>
        <p:spPr>
          <a:xfrm>
            <a:off x="8961264" y="2946233"/>
            <a:ext cx="22860" cy="22860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5" name="Oval 64"/>
          <p:cNvSpPr/>
          <p:nvPr/>
        </p:nvSpPr>
        <p:spPr>
          <a:xfrm>
            <a:off x="9014508" y="2986095"/>
            <a:ext cx="22860" cy="22860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6" name="Oval 65"/>
          <p:cNvSpPr/>
          <p:nvPr/>
        </p:nvSpPr>
        <p:spPr>
          <a:xfrm>
            <a:off x="9067751" y="3026084"/>
            <a:ext cx="22860" cy="22860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7" name="Oval 66"/>
          <p:cNvSpPr/>
          <p:nvPr/>
        </p:nvSpPr>
        <p:spPr>
          <a:xfrm>
            <a:off x="9120995" y="3065946"/>
            <a:ext cx="22860" cy="22860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8" name="Oval 67"/>
          <p:cNvSpPr/>
          <p:nvPr/>
        </p:nvSpPr>
        <p:spPr>
          <a:xfrm>
            <a:off x="9174238" y="3105430"/>
            <a:ext cx="22860" cy="22860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9" name="Oval 68"/>
          <p:cNvSpPr/>
          <p:nvPr/>
        </p:nvSpPr>
        <p:spPr>
          <a:xfrm>
            <a:off x="9227482" y="3144286"/>
            <a:ext cx="22860" cy="22860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0" name="Oval 69"/>
          <p:cNvSpPr/>
          <p:nvPr/>
        </p:nvSpPr>
        <p:spPr>
          <a:xfrm>
            <a:off x="9280725" y="3182268"/>
            <a:ext cx="22860" cy="22860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1" name="Oval 70"/>
          <p:cNvSpPr/>
          <p:nvPr/>
        </p:nvSpPr>
        <p:spPr>
          <a:xfrm>
            <a:off x="9333969" y="3219136"/>
            <a:ext cx="22860" cy="22860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2" name="Oval 71"/>
          <p:cNvSpPr/>
          <p:nvPr/>
        </p:nvSpPr>
        <p:spPr>
          <a:xfrm>
            <a:off x="9387213" y="3254657"/>
            <a:ext cx="22860" cy="22860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3" name="Oval 72"/>
          <p:cNvSpPr/>
          <p:nvPr/>
        </p:nvSpPr>
        <p:spPr>
          <a:xfrm>
            <a:off x="9440456" y="3288607"/>
            <a:ext cx="22860" cy="22860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4" name="Oval 73"/>
          <p:cNvSpPr/>
          <p:nvPr/>
        </p:nvSpPr>
        <p:spPr>
          <a:xfrm>
            <a:off x="9493700" y="3320771"/>
            <a:ext cx="22860" cy="22860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5" name="Oval 74"/>
          <p:cNvSpPr/>
          <p:nvPr/>
        </p:nvSpPr>
        <p:spPr>
          <a:xfrm>
            <a:off x="9546943" y="3350945"/>
            <a:ext cx="22860" cy="22860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6" name="Oval 75"/>
          <p:cNvSpPr/>
          <p:nvPr/>
        </p:nvSpPr>
        <p:spPr>
          <a:xfrm>
            <a:off x="9600187" y="3378938"/>
            <a:ext cx="22860" cy="22860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7" name="Oval 76"/>
          <p:cNvSpPr/>
          <p:nvPr/>
        </p:nvSpPr>
        <p:spPr>
          <a:xfrm>
            <a:off x="9653430" y="3404575"/>
            <a:ext cx="22860" cy="22860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8" name="Oval 77"/>
          <p:cNvSpPr/>
          <p:nvPr/>
        </p:nvSpPr>
        <p:spPr>
          <a:xfrm>
            <a:off x="9706674" y="3427692"/>
            <a:ext cx="22860" cy="22860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9" name="Oval 78"/>
          <p:cNvSpPr/>
          <p:nvPr/>
        </p:nvSpPr>
        <p:spPr>
          <a:xfrm>
            <a:off x="9759917" y="3448144"/>
            <a:ext cx="22860" cy="22860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0" name="Oval 79"/>
          <p:cNvSpPr/>
          <p:nvPr/>
        </p:nvSpPr>
        <p:spPr>
          <a:xfrm>
            <a:off x="9813161" y="3465801"/>
            <a:ext cx="22860" cy="22860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1" name="Oval 80"/>
          <p:cNvSpPr/>
          <p:nvPr/>
        </p:nvSpPr>
        <p:spPr>
          <a:xfrm>
            <a:off x="9866404" y="3480551"/>
            <a:ext cx="22860" cy="22860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2" name="Oval 81"/>
          <p:cNvSpPr/>
          <p:nvPr/>
        </p:nvSpPr>
        <p:spPr>
          <a:xfrm>
            <a:off x="9919648" y="3492302"/>
            <a:ext cx="22860" cy="22860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3" name="Oval 82"/>
          <p:cNvSpPr/>
          <p:nvPr/>
        </p:nvSpPr>
        <p:spPr>
          <a:xfrm>
            <a:off x="9972892" y="3500978"/>
            <a:ext cx="22860" cy="22860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4" name="Oval 83"/>
          <p:cNvSpPr/>
          <p:nvPr/>
        </p:nvSpPr>
        <p:spPr>
          <a:xfrm>
            <a:off x="10026135" y="3506526"/>
            <a:ext cx="22860" cy="22860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5" name="Oval 84"/>
          <p:cNvSpPr/>
          <p:nvPr/>
        </p:nvSpPr>
        <p:spPr>
          <a:xfrm>
            <a:off x="10079379" y="3508910"/>
            <a:ext cx="22860" cy="22860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6" name="Oval 85"/>
          <p:cNvSpPr/>
          <p:nvPr/>
        </p:nvSpPr>
        <p:spPr>
          <a:xfrm>
            <a:off x="10132622" y="3508115"/>
            <a:ext cx="22860" cy="22860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7" name="Oval 86"/>
          <p:cNvSpPr/>
          <p:nvPr/>
        </p:nvSpPr>
        <p:spPr>
          <a:xfrm>
            <a:off x="10185866" y="3504146"/>
            <a:ext cx="22860" cy="22860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8" name="Oval 87"/>
          <p:cNvSpPr/>
          <p:nvPr/>
        </p:nvSpPr>
        <p:spPr>
          <a:xfrm>
            <a:off x="10239109" y="3497028"/>
            <a:ext cx="22860" cy="22860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9" name="Oval 88"/>
          <p:cNvSpPr/>
          <p:nvPr/>
        </p:nvSpPr>
        <p:spPr>
          <a:xfrm>
            <a:off x="10292353" y="3486806"/>
            <a:ext cx="22860" cy="22860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0" name="Oval 89"/>
          <p:cNvSpPr/>
          <p:nvPr/>
        </p:nvSpPr>
        <p:spPr>
          <a:xfrm>
            <a:off x="10345596" y="3473545"/>
            <a:ext cx="22860" cy="22860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1" name="Oval 90"/>
          <p:cNvSpPr/>
          <p:nvPr/>
        </p:nvSpPr>
        <p:spPr>
          <a:xfrm>
            <a:off x="10398840" y="3457329"/>
            <a:ext cx="22860" cy="22860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2" name="Oval 91"/>
          <p:cNvSpPr/>
          <p:nvPr/>
        </p:nvSpPr>
        <p:spPr>
          <a:xfrm>
            <a:off x="10452083" y="3438260"/>
            <a:ext cx="22860" cy="22860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3" name="Oval 92"/>
          <p:cNvSpPr/>
          <p:nvPr/>
        </p:nvSpPr>
        <p:spPr>
          <a:xfrm>
            <a:off x="10505327" y="3416458"/>
            <a:ext cx="22860" cy="22860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4" name="Oval 93"/>
          <p:cNvSpPr/>
          <p:nvPr/>
        </p:nvSpPr>
        <p:spPr>
          <a:xfrm>
            <a:off x="10558571" y="3392062"/>
            <a:ext cx="22860" cy="22860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5" name="Oval 94"/>
          <p:cNvSpPr/>
          <p:nvPr/>
        </p:nvSpPr>
        <p:spPr>
          <a:xfrm>
            <a:off x="10611814" y="3365225"/>
            <a:ext cx="22860" cy="22860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6" name="Oval 95"/>
          <p:cNvSpPr/>
          <p:nvPr/>
        </p:nvSpPr>
        <p:spPr>
          <a:xfrm>
            <a:off x="10665058" y="3336119"/>
            <a:ext cx="22860" cy="22860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7" name="Oval 96"/>
          <p:cNvSpPr/>
          <p:nvPr/>
        </p:nvSpPr>
        <p:spPr>
          <a:xfrm>
            <a:off x="10718301" y="3304925"/>
            <a:ext cx="22860" cy="22860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8" name="Oval 97"/>
          <p:cNvSpPr/>
          <p:nvPr/>
        </p:nvSpPr>
        <p:spPr>
          <a:xfrm>
            <a:off x="10771545" y="3271842"/>
            <a:ext cx="22860" cy="22860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9" name="Oval 98"/>
          <p:cNvSpPr/>
          <p:nvPr/>
        </p:nvSpPr>
        <p:spPr>
          <a:xfrm>
            <a:off x="10824788" y="3237079"/>
            <a:ext cx="22860" cy="22860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0" name="Oval 99"/>
          <p:cNvSpPr/>
          <p:nvPr/>
        </p:nvSpPr>
        <p:spPr>
          <a:xfrm>
            <a:off x="10878032" y="3200856"/>
            <a:ext cx="22860" cy="22860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" name="Oval 100"/>
          <p:cNvSpPr/>
          <p:nvPr/>
        </p:nvSpPr>
        <p:spPr>
          <a:xfrm>
            <a:off x="10931275" y="3163401"/>
            <a:ext cx="22860" cy="22860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" name="Oval 101"/>
          <p:cNvSpPr/>
          <p:nvPr/>
        </p:nvSpPr>
        <p:spPr>
          <a:xfrm>
            <a:off x="10984519" y="3124952"/>
            <a:ext cx="22860" cy="22860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" name="Oval 102"/>
          <p:cNvSpPr/>
          <p:nvPr/>
        </p:nvSpPr>
        <p:spPr>
          <a:xfrm>
            <a:off x="11037762" y="3085751"/>
            <a:ext cx="22860" cy="22860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" name="Oval 103"/>
          <p:cNvSpPr/>
          <p:nvPr/>
        </p:nvSpPr>
        <p:spPr>
          <a:xfrm>
            <a:off x="11091006" y="3046047"/>
            <a:ext cx="22860" cy="22860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" name="Oval 104"/>
          <p:cNvSpPr/>
          <p:nvPr/>
        </p:nvSpPr>
        <p:spPr>
          <a:xfrm>
            <a:off x="11144250" y="3006089"/>
            <a:ext cx="22860" cy="22860"/>
          </a:xfrm>
          <a:prstGeom prst="ellipse">
            <a:avLst/>
          </a:prstGeom>
          <a:solidFill>
            <a:srgbClr val="B4B4AC"/>
          </a:solidFill>
          <a:ln w="63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" name="Oval 105"/>
          <p:cNvSpPr/>
          <p:nvPr/>
        </p:nvSpPr>
        <p:spPr>
          <a:xfrm>
            <a:off x="6894576" y="2962656"/>
            <a:ext cx="109728" cy="109728"/>
          </a:xfrm>
          <a:prstGeom prst="ellipse">
            <a:avLst/>
          </a:prstGeom>
          <a:solidFill>
            <a:srgbClr val="FFE500"/>
          </a:solidFill>
          <a:ln w="6350">
            <a:solidFill>
              <a:srgbClr val="FFE5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" name="Oval 106"/>
          <p:cNvSpPr/>
          <p:nvPr/>
        </p:nvSpPr>
        <p:spPr>
          <a:xfrm>
            <a:off x="7195021" y="2744447"/>
            <a:ext cx="109728" cy="109728"/>
          </a:xfrm>
          <a:prstGeom prst="ellipse">
            <a:avLst/>
          </a:prstGeom>
          <a:solidFill>
            <a:srgbClr val="FFE500"/>
          </a:solidFill>
          <a:ln w="6350">
            <a:solidFill>
              <a:srgbClr val="FFE5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" name="Oval 107"/>
          <p:cNvSpPr/>
          <p:nvPr/>
        </p:nvSpPr>
        <p:spPr>
          <a:xfrm>
            <a:off x="7495467" y="2569457"/>
            <a:ext cx="109728" cy="109728"/>
          </a:xfrm>
          <a:prstGeom prst="ellipse">
            <a:avLst/>
          </a:prstGeom>
          <a:solidFill>
            <a:srgbClr val="FFE500"/>
          </a:solidFill>
          <a:ln w="6350">
            <a:solidFill>
              <a:srgbClr val="FFE5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" name="Oval 108"/>
          <p:cNvSpPr/>
          <p:nvPr/>
        </p:nvSpPr>
        <p:spPr>
          <a:xfrm>
            <a:off x="7795913" y="2472345"/>
            <a:ext cx="109728" cy="109728"/>
          </a:xfrm>
          <a:prstGeom prst="ellipse">
            <a:avLst/>
          </a:prstGeom>
          <a:solidFill>
            <a:srgbClr val="FFE500"/>
          </a:solidFill>
          <a:ln w="6350">
            <a:solidFill>
              <a:srgbClr val="FFE5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" name="Oval 109"/>
          <p:cNvSpPr/>
          <p:nvPr/>
        </p:nvSpPr>
        <p:spPr>
          <a:xfrm>
            <a:off x="8096358" y="2472345"/>
            <a:ext cx="109728" cy="109728"/>
          </a:xfrm>
          <a:prstGeom prst="ellipse">
            <a:avLst/>
          </a:prstGeom>
          <a:solidFill>
            <a:srgbClr val="FFE500"/>
          </a:solidFill>
          <a:ln w="6350">
            <a:solidFill>
              <a:srgbClr val="FFE5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" name="Oval 110"/>
          <p:cNvSpPr/>
          <p:nvPr/>
        </p:nvSpPr>
        <p:spPr>
          <a:xfrm>
            <a:off x="8396804" y="2569457"/>
            <a:ext cx="109728" cy="109728"/>
          </a:xfrm>
          <a:prstGeom prst="ellipse">
            <a:avLst/>
          </a:prstGeom>
          <a:solidFill>
            <a:srgbClr val="FFE500"/>
          </a:solidFill>
          <a:ln w="6350">
            <a:solidFill>
              <a:srgbClr val="FFE5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2" name="Oval 111"/>
          <p:cNvSpPr/>
          <p:nvPr/>
        </p:nvSpPr>
        <p:spPr>
          <a:xfrm>
            <a:off x="8697250" y="2744447"/>
            <a:ext cx="109728" cy="109728"/>
          </a:xfrm>
          <a:prstGeom prst="ellipse">
            <a:avLst/>
          </a:prstGeom>
          <a:solidFill>
            <a:srgbClr val="FFE500"/>
          </a:solidFill>
          <a:ln w="6350">
            <a:solidFill>
              <a:srgbClr val="FFE5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3" name="Oval 112"/>
          <p:cNvSpPr/>
          <p:nvPr/>
        </p:nvSpPr>
        <p:spPr>
          <a:xfrm>
            <a:off x="8997695" y="2962656"/>
            <a:ext cx="109728" cy="109728"/>
          </a:xfrm>
          <a:prstGeom prst="ellipse">
            <a:avLst/>
          </a:prstGeom>
          <a:solidFill>
            <a:srgbClr val="FFE500"/>
          </a:solidFill>
          <a:ln w="6350">
            <a:solidFill>
              <a:srgbClr val="FFE5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4" name="Oval 113"/>
          <p:cNvSpPr/>
          <p:nvPr/>
        </p:nvSpPr>
        <p:spPr>
          <a:xfrm>
            <a:off x="9298141" y="3180864"/>
            <a:ext cx="109728" cy="109728"/>
          </a:xfrm>
          <a:prstGeom prst="ellipse">
            <a:avLst/>
          </a:prstGeom>
          <a:solidFill>
            <a:srgbClr val="FFE500"/>
          </a:solidFill>
          <a:ln w="6350">
            <a:solidFill>
              <a:srgbClr val="FFE5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5" name="Oval 114"/>
          <p:cNvSpPr/>
          <p:nvPr/>
        </p:nvSpPr>
        <p:spPr>
          <a:xfrm>
            <a:off x="9598587" y="3355854"/>
            <a:ext cx="109728" cy="109728"/>
          </a:xfrm>
          <a:prstGeom prst="ellipse">
            <a:avLst/>
          </a:prstGeom>
          <a:solidFill>
            <a:srgbClr val="FFE500"/>
          </a:solidFill>
          <a:ln w="6350">
            <a:solidFill>
              <a:srgbClr val="FFE5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6" name="Oval 115"/>
          <p:cNvSpPr/>
          <p:nvPr/>
        </p:nvSpPr>
        <p:spPr>
          <a:xfrm>
            <a:off x="9899033" y="3452966"/>
            <a:ext cx="109728" cy="109728"/>
          </a:xfrm>
          <a:prstGeom prst="ellipse">
            <a:avLst/>
          </a:prstGeom>
          <a:solidFill>
            <a:srgbClr val="FFE500"/>
          </a:solidFill>
          <a:ln w="6350">
            <a:solidFill>
              <a:srgbClr val="FFE5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7" name="Oval 116"/>
          <p:cNvSpPr/>
          <p:nvPr/>
        </p:nvSpPr>
        <p:spPr>
          <a:xfrm>
            <a:off x="10199478" y="3452966"/>
            <a:ext cx="109728" cy="109728"/>
          </a:xfrm>
          <a:prstGeom prst="ellipse">
            <a:avLst/>
          </a:prstGeom>
          <a:solidFill>
            <a:srgbClr val="FFE500"/>
          </a:solidFill>
          <a:ln w="6350">
            <a:solidFill>
              <a:srgbClr val="FFE5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8" name="Oval 117"/>
          <p:cNvSpPr/>
          <p:nvPr/>
        </p:nvSpPr>
        <p:spPr>
          <a:xfrm>
            <a:off x="10499924" y="3355854"/>
            <a:ext cx="109728" cy="109728"/>
          </a:xfrm>
          <a:prstGeom prst="ellipse">
            <a:avLst/>
          </a:prstGeom>
          <a:solidFill>
            <a:srgbClr val="FFE500"/>
          </a:solidFill>
          <a:ln w="6350">
            <a:solidFill>
              <a:srgbClr val="FFE5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9" name="Oval 118"/>
          <p:cNvSpPr/>
          <p:nvPr/>
        </p:nvSpPr>
        <p:spPr>
          <a:xfrm>
            <a:off x="10800370" y="3180864"/>
            <a:ext cx="109728" cy="109728"/>
          </a:xfrm>
          <a:prstGeom prst="ellipse">
            <a:avLst/>
          </a:prstGeom>
          <a:solidFill>
            <a:srgbClr val="FFE500"/>
          </a:solidFill>
          <a:ln w="6350">
            <a:solidFill>
              <a:srgbClr val="FFE5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0" name="Oval 119"/>
          <p:cNvSpPr/>
          <p:nvPr/>
        </p:nvSpPr>
        <p:spPr>
          <a:xfrm>
            <a:off x="11100815" y="2962656"/>
            <a:ext cx="109728" cy="109728"/>
          </a:xfrm>
          <a:prstGeom prst="ellipse">
            <a:avLst/>
          </a:prstGeom>
          <a:solidFill>
            <a:srgbClr val="FFE500"/>
          </a:solidFill>
          <a:ln w="6350">
            <a:solidFill>
              <a:srgbClr val="FFE5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1" name="TextBox 120"/>
          <p:cNvSpPr txBox="1"/>
          <p:nvPr/>
        </p:nvSpPr>
        <p:spPr>
          <a:xfrm>
            <a:off x="6812280" y="3977639"/>
            <a:ext cx="44805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>
                <a:solidFill>
                  <a:srgbClr val="000000"/>
                </a:solidFill>
                <a:latin typeface="Calibri"/>
              </a:rPr>
              <a:t>Connect the ordered points and the list becomes a curve. That is the same list — read as a shape instead of as positions.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662940" y="5280660"/>
            <a:ext cx="10972800" cy="64008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3" name="Rectangle 122"/>
          <p:cNvSpPr/>
          <p:nvPr/>
        </p:nvSpPr>
        <p:spPr>
          <a:xfrm>
            <a:off x="594360" y="5212080"/>
            <a:ext cx="10972800" cy="640080"/>
          </a:xfrm>
          <a:prstGeom prst="rect">
            <a:avLst/>
          </a:prstGeom>
          <a:solidFill>
            <a:srgbClr val="FF4D8D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4" name="TextBox 123"/>
          <p:cNvSpPr txBox="1"/>
          <p:nvPr/>
        </p:nvSpPr>
        <p:spPr>
          <a:xfrm>
            <a:off x="777240" y="5212080"/>
            <a:ext cx="1060704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>
                <a:solidFill>
                  <a:srgbClr val="000000"/>
                </a:solidFill>
                <a:latin typeface="Arial"/>
              </a:rPr>
              <a:t>NAME THE THREE VALUES ON YOUR SHEET. P2a ASKS FOR THEM EXPLICITLY.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566928"/>
            <a:ext cx="10972800" cy="0"/>
          </a:xfrm>
          <a:prstGeom prst="rect">
            <a:avLst/>
          </a:prstGeom>
          <a:noFill/>
          <a:ln w="508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676656"/>
            <a:ext cx="10972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000000"/>
                </a:solidFill>
                <a:latin typeface="Arial"/>
              </a:rPr>
              <a:t>TWO WAYS TO REPEAT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261872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>
                <a:solidFill>
                  <a:srgbClr val="6B6B6B"/>
                </a:solidFill>
                <a:latin typeface="Calibri"/>
              </a:rPr>
              <a:t>Worth being precise about, because they look alike and are not.</a:t>
            </a:r>
          </a:p>
        </p:txBody>
      </p:sp>
      <p:sp>
        <p:nvSpPr>
          <p:cNvPr id="5" name="Rectangle 4"/>
          <p:cNvSpPr/>
          <p:nvPr/>
        </p:nvSpPr>
        <p:spPr>
          <a:xfrm>
            <a:off x="662940" y="1851660"/>
            <a:ext cx="5486400" cy="310896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594360" y="1783080"/>
            <a:ext cx="5486400" cy="310896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594360" y="1783080"/>
            <a:ext cx="5486400" cy="502920"/>
          </a:xfrm>
          <a:prstGeom prst="rect">
            <a:avLst/>
          </a:prstGeom>
          <a:solidFill>
            <a:srgbClr val="FF4D8D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22960" y="1783080"/>
            <a:ext cx="50292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87" b="1">
                <a:solidFill>
                  <a:srgbClr val="000000"/>
                </a:solidFill>
                <a:latin typeface="Arial"/>
              </a:rPr>
              <a:t>EXPLICIT ITERATION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468880"/>
            <a:ext cx="484632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>
                <a:solidFill>
                  <a:srgbClr val="000000"/>
                </a:solidFill>
                <a:latin typeface="Calibri"/>
              </a:rPr>
              <a:t>A Repeat Zone runs a body once per step, in order, carrying a value forward.</a:t>
            </a:r>
          </a:p>
          <a:p>
            <a:pPr algn="l">
              <a:lnSpc>
                <a:spcPct val="130000"/>
              </a:lnSpc>
            </a:pPr>
            <a:r>
              <a:rPr sz="700">
                <a:solidFill>
                  <a:srgbClr val="000000"/>
                </a:solidFill>
                <a:latin typeface="Calibri"/>
              </a:rPr>
              <a:t> </a:t>
            </a:r>
          </a:p>
          <a:p>
            <a:pPr algn="l">
              <a:lnSpc>
                <a:spcPct val="130000"/>
              </a:lnSpc>
            </a:pPr>
            <a:r>
              <a:rPr sz="1400">
                <a:solidFill>
                  <a:srgbClr val="000000"/>
                </a:solidFill>
                <a:latin typeface="Calibri"/>
              </a:rPr>
              <a:t>Use it when step n depends on step n−1 — and when you want to watch the loop happen.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69380" y="1851660"/>
            <a:ext cx="5166360" cy="310896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6400800" y="1783080"/>
            <a:ext cx="5166360" cy="310896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6400800" y="1783080"/>
            <a:ext cx="5166360" cy="502920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629400" y="1783080"/>
            <a:ext cx="4709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87" b="1">
                <a:solidFill>
                  <a:srgbClr val="000000"/>
                </a:solidFill>
                <a:latin typeface="Arial"/>
              </a:rPr>
              <a:t>PER-ELEMENT EVALUATION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5120" y="2468880"/>
            <a:ext cx="461772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>
                <a:solidFill>
                  <a:srgbClr val="000000"/>
                </a:solidFill>
                <a:latin typeface="Calibri"/>
              </a:rPr>
              <a:t>The other kind is evaluated across every element at once. There is no order and no carry.</a:t>
            </a:r>
          </a:p>
          <a:p>
            <a:pPr algn="l">
              <a:lnSpc>
                <a:spcPct val="130000"/>
              </a:lnSpc>
            </a:pPr>
            <a:r>
              <a:rPr sz="700">
                <a:solidFill>
                  <a:srgbClr val="000000"/>
                </a:solidFill>
                <a:latin typeface="Calibri"/>
              </a:rPr>
              <a:t> </a:t>
            </a:r>
          </a:p>
          <a:p>
            <a:pPr algn="l">
              <a:lnSpc>
                <a:spcPct val="130000"/>
              </a:lnSpc>
            </a:pPr>
            <a:r>
              <a:rPr sz="1400">
                <a:solidFill>
                  <a:srgbClr val="000000"/>
                </a:solidFill>
                <a:latin typeface="Calibri"/>
              </a:rPr>
              <a:t>It is faster and it is usually what you want — but nothing on screen tells you a loop happened, which is exactly why we built the explicit one first.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62940" y="5234940"/>
            <a:ext cx="10972800" cy="65836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94360" y="5166360"/>
            <a:ext cx="10972800" cy="658368"/>
          </a:xfrm>
          <a:prstGeom prst="rect">
            <a:avLst/>
          </a:prstGeom>
          <a:solidFill>
            <a:srgbClr val="0000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777240" y="5166360"/>
            <a:ext cx="1060704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>
                <a:solidFill>
                  <a:srgbClr val="00D9E1"/>
                </a:solidFill>
                <a:latin typeface="Arial"/>
              </a:rPr>
              <a:t>NEXT WEEK THIS GETS A NAME. FOR NOW: ONE CARRIES A VALUE FORWARD, THE OTHER DOES NOT.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566928"/>
            <a:ext cx="10972800" cy="0"/>
          </a:xfrm>
          <a:prstGeom prst="rect">
            <a:avLst/>
          </a:prstGeom>
          <a:noFill/>
          <a:ln w="50800">
            <a:solidFill>
              <a:srgbClr val="FFFD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676656"/>
            <a:ext cx="10972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FFFDF7"/>
                </a:solidFill>
                <a:latin typeface="Arial"/>
              </a:rPr>
              <a:t>THE SAME NINE LINES, A WEEK LATER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261872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>
                <a:solidFill>
                  <a:srgbClr val="B4B4AC"/>
                </a:solidFill>
                <a:latin typeface="Calibri"/>
              </a:rPr>
              <a:t>Last week you could read the first three lines. Today you can read all of it.</a:t>
            </a:r>
          </a:p>
        </p:txBody>
      </p:sp>
      <p:sp>
        <p:nvSpPr>
          <p:cNvPr id="5" name="Rectangle 4"/>
          <p:cNvSpPr/>
          <p:nvPr/>
        </p:nvSpPr>
        <p:spPr>
          <a:xfrm>
            <a:off x="662940" y="1897380"/>
            <a:ext cx="6858000" cy="379476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594360" y="1828800"/>
            <a:ext cx="6858000" cy="379476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86968" y="201168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>
                <a:solidFill>
                  <a:srgbClr val="000000"/>
                </a:solidFill>
                <a:latin typeface="Courier New"/>
              </a:rPr>
              <a:t>points = []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6968" y="228600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>
                <a:solidFill>
                  <a:srgbClr val="000000"/>
                </a:solidFill>
                <a:latin typeface="Courier New"/>
              </a:rPr>
              <a:t> 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560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>
                <a:solidFill>
                  <a:srgbClr val="000000"/>
                </a:solidFill>
                <a:latin typeface="Courier New"/>
              </a:rPr>
              <a:t>for j in range(rows):                      # nested loop = grid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" y="2834639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>
                <a:solidFill>
                  <a:srgbClr val="000000"/>
                </a:solidFill>
                <a:latin typeface="Courier New"/>
              </a:rPr>
              <a:t>    offset = spacing / 2 if j % 2 else 0   # odd/even stagger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" y="3108959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>
                <a:solidFill>
                  <a:srgbClr val="000000"/>
                </a:solidFill>
                <a:latin typeface="Courier New"/>
              </a:rPr>
              <a:t>    for i in range(cols):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6968" y="3383279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>
                <a:solidFill>
                  <a:srgbClr val="000000"/>
                </a:solidFill>
                <a:latin typeface="Courier New"/>
              </a:rPr>
              <a:t>        z = amplitude * sin(i * frequency + phase)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6968" y="3657599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>
                <a:solidFill>
                  <a:srgbClr val="000000"/>
                </a:solidFill>
                <a:latin typeface="Courier New"/>
              </a:rPr>
              <a:t>        if 3 &lt;= i &lt;= 5:                    # Compare + Switch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6968" y="3931919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>
                <a:solidFill>
                  <a:srgbClr val="000000"/>
                </a:solidFill>
                <a:latin typeface="Courier New"/>
              </a:rPr>
              <a:t>            z = z + lift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206239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>
                <a:solidFill>
                  <a:srgbClr val="000000"/>
                </a:solidFill>
                <a:latin typeface="Courier New"/>
              </a:rPr>
              <a:t>        points.append([i * spacing + offset, j * row_gap, z])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03819" y="1897380"/>
            <a:ext cx="3931920" cy="379476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7635240" y="1828800"/>
            <a:ext cx="3931920" cy="379476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7635240" y="1828800"/>
            <a:ext cx="3931920" cy="502920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7863840" y="1828800"/>
            <a:ext cx="34747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00000"/>
                </a:solidFill>
                <a:latin typeface="Arial"/>
              </a:rPr>
              <a:t>WHAT IT MAPS ONTO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63840" y="2514600"/>
            <a:ext cx="1691640" cy="2926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>
                <a:solidFill>
                  <a:srgbClr val="000000"/>
                </a:solidFill>
                <a:latin typeface="Calibri"/>
              </a:rPr>
              <a:t>list</a:t>
            </a:r>
          </a:p>
          <a:p>
            <a:pPr algn="l">
              <a:lnSpc>
                <a:spcPct val="140000"/>
              </a:lnSpc>
            </a:pPr>
            <a:r>
              <a:rPr sz="1200">
                <a:solidFill>
                  <a:srgbClr val="000000"/>
                </a:solidFill>
                <a:latin typeface="Calibri"/>
              </a:rPr>
              <a:t>index</a:t>
            </a:r>
          </a:p>
          <a:p>
            <a:pPr algn="l">
              <a:lnSpc>
                <a:spcPct val="140000"/>
              </a:lnSpc>
            </a:pPr>
            <a:r>
              <a:rPr sz="1200">
                <a:solidFill>
                  <a:srgbClr val="000000"/>
                </a:solidFill>
                <a:latin typeface="Calibri"/>
              </a:rPr>
              <a:t>count</a:t>
            </a:r>
          </a:p>
          <a:p>
            <a:pPr algn="l">
              <a:lnSpc>
                <a:spcPct val="140000"/>
              </a:lnSpc>
            </a:pPr>
            <a:r>
              <a:rPr sz="1200">
                <a:solidFill>
                  <a:srgbClr val="000000"/>
                </a:solidFill>
                <a:latin typeface="Calibri"/>
              </a:rPr>
              <a:t>loop</a:t>
            </a:r>
          </a:p>
          <a:p>
            <a:pPr algn="l">
              <a:lnSpc>
                <a:spcPct val="140000"/>
              </a:lnSpc>
            </a:pPr>
            <a:r>
              <a:rPr sz="1200">
                <a:solidFill>
                  <a:srgbClr val="000000"/>
                </a:solidFill>
                <a:latin typeface="Calibri"/>
              </a:rPr>
              <a:t>nested loop</a:t>
            </a:r>
          </a:p>
          <a:p>
            <a:pPr algn="l">
              <a:lnSpc>
                <a:spcPct val="140000"/>
              </a:lnSpc>
            </a:pPr>
            <a:r>
              <a:rPr sz="1200">
                <a:solidFill>
                  <a:srgbClr val="000000"/>
                </a:solidFill>
                <a:latin typeface="Calibri"/>
              </a:rPr>
              <a:t>conditional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46920" y="2514600"/>
            <a:ext cx="1691640" cy="2926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>
                <a:solidFill>
                  <a:srgbClr val="000000"/>
                </a:solidFill>
                <a:latin typeface="Calibri"/>
              </a:rPr>
              <a:t>modulo</a:t>
            </a:r>
          </a:p>
          <a:p>
            <a:pPr algn="l">
              <a:lnSpc>
                <a:spcPct val="140000"/>
              </a:lnSpc>
            </a:pPr>
            <a:r>
              <a:rPr sz="1200">
                <a:solidFill>
                  <a:srgbClr val="000000"/>
                </a:solidFill>
                <a:latin typeface="Calibri"/>
              </a:rPr>
              <a:t>sine</a:t>
            </a:r>
          </a:p>
          <a:p>
            <a:pPr algn="l">
              <a:lnSpc>
                <a:spcPct val="140000"/>
              </a:lnSpc>
            </a:pPr>
            <a:r>
              <a:rPr sz="1200">
                <a:solidFill>
                  <a:srgbClr val="000000"/>
                </a:solidFill>
                <a:latin typeface="Calibri"/>
              </a:rPr>
              <a:t>amplitude</a:t>
            </a:r>
          </a:p>
          <a:p>
            <a:pPr algn="l">
              <a:lnSpc>
                <a:spcPct val="140000"/>
              </a:lnSpc>
            </a:pPr>
            <a:r>
              <a:rPr sz="1200">
                <a:solidFill>
                  <a:srgbClr val="000000"/>
                </a:solidFill>
                <a:latin typeface="Calibri"/>
              </a:rPr>
              <a:t>frequency</a:t>
            </a:r>
          </a:p>
          <a:p>
            <a:pPr algn="l">
              <a:lnSpc>
                <a:spcPct val="140000"/>
              </a:lnSpc>
            </a:pPr>
            <a:r>
              <a:rPr sz="1200">
                <a:solidFill>
                  <a:srgbClr val="000000"/>
                </a:solidFill>
                <a:latin typeface="Calibri"/>
              </a:rPr>
              <a:t>phase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62940" y="5966460"/>
            <a:ext cx="10972800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594360" y="5897880"/>
            <a:ext cx="10972800" cy="566928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777240" y="5897880"/>
            <a:ext cx="1060704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000000"/>
                </a:solidFill>
                <a:latin typeface="Arial"/>
              </a:rPr>
              <a:t>j % 2 IS THE ODD/EVEN TEST · if IS COMPARE AND SWITCH · sin IS THE MATH NODE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6F03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566928"/>
            <a:ext cx="10972800" cy="0"/>
          </a:xfrm>
          <a:prstGeom prst="rect">
            <a:avLst/>
          </a:prstGeom>
          <a:noFill/>
          <a:ln w="508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676656"/>
            <a:ext cx="10972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000000"/>
                </a:solidFill>
                <a:latin typeface="Arial"/>
              </a:rPr>
              <a:t>NOW — FINISH THE FOUR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69164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>
                <a:solidFill>
                  <a:srgbClr val="000000"/>
                </a:solidFill>
                <a:latin typeface="Calibri"/>
              </a:rPr>
              <a:t>Rest of the session: hexagonal, radial, the conditional and the sine.</a:t>
            </a:r>
          </a:p>
        </p:txBody>
      </p:sp>
      <p:sp>
        <p:nvSpPr>
          <p:cNvPr id="5" name="Rectangle 4"/>
          <p:cNvSpPr/>
          <p:nvPr/>
        </p:nvSpPr>
        <p:spPr>
          <a:xfrm>
            <a:off x="662940" y="2354580"/>
            <a:ext cx="621792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594360" y="2286000"/>
            <a:ext cx="621792" cy="566928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94360" y="2468880"/>
            <a:ext cx="6217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1">
                <a:solidFill>
                  <a:srgbClr val="000000"/>
                </a:solidFill>
                <a:latin typeface="Arial"/>
              </a:rPr>
              <a:t>✓</a:t>
            </a:r>
          </a:p>
        </p:txBody>
      </p:sp>
      <p:sp>
        <p:nvSpPr>
          <p:cNvPr id="8" name="Rectangle 7"/>
          <p:cNvSpPr/>
          <p:nvPr/>
        </p:nvSpPr>
        <p:spPr>
          <a:xfrm>
            <a:off x="1559051" y="2354580"/>
            <a:ext cx="10076688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1490472" y="2286000"/>
            <a:ext cx="10076688" cy="566928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1764792" y="2286000"/>
            <a:ext cx="952804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50">
                <a:solidFill>
                  <a:srgbClr val="000000"/>
                </a:solidFill>
                <a:latin typeface="Calibri"/>
              </a:rPr>
              <a:t>Hexagonal array working, with the odd/even test visible and row spacing correct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62940" y="3067812"/>
            <a:ext cx="621792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594360" y="2999232"/>
            <a:ext cx="621792" cy="566928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594360" y="3182112"/>
            <a:ext cx="6217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1">
                <a:solidFill>
                  <a:srgbClr val="000000"/>
                </a:solidFill>
                <a:latin typeface="Arial"/>
              </a:rPr>
              <a:t>✓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559051" y="3067812"/>
            <a:ext cx="10076688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1490472" y="2999232"/>
            <a:ext cx="10076688" cy="566928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1764792" y="2999232"/>
            <a:ext cx="952804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50">
                <a:solidFill>
                  <a:srgbClr val="000000"/>
                </a:solidFill>
                <a:latin typeface="Calibri"/>
              </a:rPr>
              <a:t>Radial array working from radius, count and angular step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62940" y="3781044"/>
            <a:ext cx="621792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94360" y="3712464"/>
            <a:ext cx="621792" cy="566928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94360" y="3895344"/>
            <a:ext cx="6217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1">
                <a:solidFill>
                  <a:srgbClr val="000000"/>
                </a:solidFill>
                <a:latin typeface="Arial"/>
              </a:rPr>
              <a:t>✓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559051" y="3781044"/>
            <a:ext cx="10076688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1490472" y="3712464"/>
            <a:ext cx="10076688" cy="566928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1764792" y="3712464"/>
            <a:ext cx="952804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50">
                <a:solidFill>
                  <a:srgbClr val="000000"/>
                </a:solidFill>
                <a:latin typeface="Calibri"/>
              </a:rPr>
              <a:t>One index range displaced — and you can say which indices and why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62940" y="4494276"/>
            <a:ext cx="621792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594360" y="4425696"/>
            <a:ext cx="621792" cy="566928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594360" y="4608576"/>
            <a:ext cx="6217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1">
                <a:solidFill>
                  <a:srgbClr val="000000"/>
                </a:solidFill>
                <a:latin typeface="Arial"/>
              </a:rPr>
              <a:t>✓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559051" y="4494276"/>
            <a:ext cx="10076688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ectangle 26"/>
          <p:cNvSpPr/>
          <p:nvPr/>
        </p:nvSpPr>
        <p:spPr>
          <a:xfrm>
            <a:off x="1490472" y="4425696"/>
            <a:ext cx="10076688" cy="566928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1764792" y="4425696"/>
            <a:ext cx="952804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50">
                <a:solidFill>
                  <a:srgbClr val="000000"/>
                </a:solidFill>
                <a:latin typeface="Calibri"/>
              </a:rPr>
              <a:t>Sine driving height, with amplitude, frequency and phase written down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62940" y="5207508"/>
            <a:ext cx="621792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ectangle 29"/>
          <p:cNvSpPr/>
          <p:nvPr/>
        </p:nvSpPr>
        <p:spPr>
          <a:xfrm>
            <a:off x="594360" y="5138928"/>
            <a:ext cx="621792" cy="566928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594360" y="5321808"/>
            <a:ext cx="6217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1">
                <a:solidFill>
                  <a:srgbClr val="000000"/>
                </a:solidFill>
                <a:latin typeface="Arial"/>
              </a:rPr>
              <a:t>✓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559051" y="5207508"/>
            <a:ext cx="10076688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ectangle 32"/>
          <p:cNvSpPr/>
          <p:nvPr/>
        </p:nvSpPr>
        <p:spPr>
          <a:xfrm>
            <a:off x="1490472" y="5138928"/>
            <a:ext cx="10076688" cy="566928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1764792" y="5138928"/>
            <a:ext cx="952804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50">
                <a:solidFill>
                  <a:srgbClr val="000000"/>
                </a:solidFill>
                <a:latin typeface="Calibri"/>
              </a:rPr>
              <a:t>Three of the four chosen for the sheet, including the nested grid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62940" y="6012180"/>
            <a:ext cx="8412480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Rectangle 35"/>
          <p:cNvSpPr/>
          <p:nvPr/>
        </p:nvSpPr>
        <p:spPr>
          <a:xfrm>
            <a:off x="594360" y="5943600"/>
            <a:ext cx="8412480" cy="566928"/>
          </a:xfrm>
          <a:prstGeom prst="rect">
            <a:avLst/>
          </a:prstGeom>
          <a:solidFill>
            <a:srgbClr val="0000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594360" y="5943600"/>
            <a:ext cx="841248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>
                <a:solidFill>
                  <a:srgbClr val="C6F035"/>
                </a:solidFill>
                <a:latin typeface="Arial"/>
              </a:rPr>
              <a:t>P2a IS THREE COMPARISONS, NOT FOUR UNRELATED PICTURES.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566928"/>
            <a:ext cx="10972800" cy="0"/>
          </a:xfrm>
          <a:prstGeom prst="rect">
            <a:avLst/>
          </a:prstGeom>
          <a:noFill/>
          <a:ln w="508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676656"/>
            <a:ext cx="10972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000000"/>
                </a:solidFill>
                <a:latin typeface="Arial"/>
              </a:rPr>
              <a:t>BEFORE NEXT CLASS</a:t>
            </a:r>
          </a:p>
        </p:txBody>
      </p:sp>
      <p:sp>
        <p:nvSpPr>
          <p:cNvPr id="4" name="Rectangle 3"/>
          <p:cNvSpPr/>
          <p:nvPr/>
        </p:nvSpPr>
        <p:spPr>
          <a:xfrm>
            <a:off x="662940" y="1851660"/>
            <a:ext cx="1508760" cy="804672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594360" y="1783080"/>
            <a:ext cx="1508760" cy="804672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94360" y="2084831"/>
            <a:ext cx="1508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Arial"/>
              </a:rPr>
              <a:t>WATCH</a:t>
            </a:r>
          </a:p>
        </p:txBody>
      </p:sp>
      <p:sp>
        <p:nvSpPr>
          <p:cNvPr id="7" name="Rectangle 6"/>
          <p:cNvSpPr/>
          <p:nvPr/>
        </p:nvSpPr>
        <p:spPr>
          <a:xfrm>
            <a:off x="2446020" y="1851660"/>
            <a:ext cx="9189720" cy="804672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2377440" y="1783080"/>
            <a:ext cx="9189720" cy="804672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2651760" y="1901952"/>
            <a:ext cx="864108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>
                <a:solidFill>
                  <a:srgbClr val="000000"/>
                </a:solidFill>
                <a:latin typeface="Calibri"/>
              </a:rPr>
              <a:t>U05 — Attractors. Distance, remap, clamp and falloff. Next week the rule stops coming from the index and starts coming from a measurement.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62940" y="2912364"/>
            <a:ext cx="1508760" cy="804672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94360" y="2843784"/>
            <a:ext cx="1508760" cy="804672"/>
          </a:xfrm>
          <a:prstGeom prst="rect">
            <a:avLst/>
          </a:prstGeom>
          <a:solidFill>
            <a:srgbClr val="C6F035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594360" y="3145536"/>
            <a:ext cx="1508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Arial"/>
              </a:rPr>
              <a:t>BRING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446020" y="2912364"/>
            <a:ext cx="9189720" cy="804672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2377440" y="2843784"/>
            <a:ext cx="9189720" cy="804672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2651760" y="2962656"/>
            <a:ext cx="864108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>
                <a:solidFill>
                  <a:srgbClr val="000000"/>
                </a:solidFill>
                <a:latin typeface="Calibri"/>
              </a:rPr>
              <a:t>Your four arrangements, working. We drive them with attractors next class, so bring a file you can build on.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62940" y="3973068"/>
            <a:ext cx="1508760" cy="804672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594360" y="3904487"/>
            <a:ext cx="1508760" cy="804672"/>
          </a:xfrm>
          <a:prstGeom prst="rect">
            <a:avLst/>
          </a:prstGeom>
          <a:solidFill>
            <a:srgbClr val="FFE5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594360" y="4206240"/>
            <a:ext cx="1508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Arial"/>
              </a:rPr>
              <a:t>CHECK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446020" y="3973068"/>
            <a:ext cx="9189720" cy="804672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2377440" y="3904487"/>
            <a:ext cx="9189720" cy="804672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2651760" y="4023359"/>
            <a:ext cx="864108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>
                <a:solidFill>
                  <a:srgbClr val="000000"/>
                </a:solidFill>
                <a:latin typeface="Calibri"/>
              </a:rPr>
              <a:t>P1c — print-ready geometry, physical units, orientation and the sliced preview get reviewed today before anything is queued.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62940" y="5033772"/>
            <a:ext cx="1508760" cy="804672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594360" y="4965192"/>
            <a:ext cx="1508760" cy="804672"/>
          </a:xfrm>
          <a:prstGeom prst="rect">
            <a:avLst/>
          </a:prstGeom>
          <a:solidFill>
            <a:srgbClr val="FF4D8D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594360" y="5266944"/>
            <a:ext cx="1508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Arial"/>
              </a:rPr>
              <a:t>FINISH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446020" y="5033772"/>
            <a:ext cx="9189720" cy="804672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ectangle 25"/>
          <p:cNvSpPr/>
          <p:nvPr/>
        </p:nvSpPr>
        <p:spPr>
          <a:xfrm>
            <a:off x="2377440" y="4965192"/>
            <a:ext cx="9189720" cy="804672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2651760" y="5084064"/>
            <a:ext cx="864108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>
                <a:solidFill>
                  <a:srgbClr val="000000"/>
                </a:solidFill>
                <a:latin typeface="Calibri"/>
              </a:rPr>
              <a:t>P1b is due today. P2a is due at the midterm; keep the comparisons moving.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