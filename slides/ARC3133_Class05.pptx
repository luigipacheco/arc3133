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4D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05  /  SEP 22  /  U04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ARRAYS AND LISTS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PART TWO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STAGGER IT, SPIN IT, BEND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P1b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U04 CONTINUES  /  P2a IN PROGRESS, DUE AT THE MIDTERM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FOUR ARRANGEMENTS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component, four rules for generating the list of positions.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LINEAR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one counter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186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383279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two counters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78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stagger alternate rows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970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96112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RADIAL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radius, count, angular step</a:t>
            </a:r>
          </a:p>
        </p:txBody>
      </p:sp>
      <p:sp>
        <p:nvSpPr>
          <p:cNvPr id="25" name="Oval 24"/>
          <p:cNvSpPr/>
          <p:nvPr/>
        </p:nvSpPr>
        <p:spPr>
          <a:xfrm>
            <a:off x="928116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239012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49908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860803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171700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2482596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2793492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383590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835908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83590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3835908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83590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146804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4146804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4146804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4146804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4146804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4457700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4457700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4457700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4457700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457700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4768596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4768596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4768596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4768596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4768596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5079492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5079492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5079492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079492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079492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539038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5390388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539038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5390388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539038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653338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6844284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7155180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7466076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7776972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808786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6688836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6999732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7310628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7621524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7932420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653338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6844284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7155180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7466076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7776972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808786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6688836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6999732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7310628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7621524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7932420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653338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6844284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7155180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7466076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7776972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808786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1065184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10650984" y="33721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10648403" y="3398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644114" y="3424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10638136" y="34499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10630493" y="34751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10621219" y="3499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10610353" y="35237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10597942" y="35469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10584039" y="3569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10568704" y="35907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10552001" y="36110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10534004" y="36302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10514788" y="3648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10494436" y="36649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10473035" y="368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10450677" y="369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10427458" y="3706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10403476" y="37174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10378836" y="37267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10353641" y="3734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10328001" y="37403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10302024" y="37446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10275823" y="37472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10249509" y="37481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10223195" y="37472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10196994" y="37446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10171017" y="37403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10145377" y="3734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10120182" y="37267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10095542" y="37174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10071560" y="3706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10048341" y="369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10025983" y="368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10004582" y="36649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9984231" y="3648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9965015" y="36302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9947017" y="36110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9930314" y="35907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9914979" y="3569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9901076" y="35469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9888665" y="35237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9877799" y="3499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9868525" y="34751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9860882" y="34499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9854904" y="3424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9850615" y="3398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9848035" y="33721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9847173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9848035" y="33194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9850615" y="3293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9854904" y="3267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9860882" y="32416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9868525" y="32164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9877799" y="3191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9888665" y="31678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9901076" y="31446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9914979" y="31222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9930314" y="31008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9947017" y="30805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9965015" y="30612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9984231" y="3043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10004582" y="30265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10025983" y="301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10048341" y="299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10071560" y="2984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10095542" y="29740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0120182" y="29648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10145377" y="2957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10171017" y="29511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10196994" y="29468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0223195" y="2944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10249509" y="29434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0275823" y="2944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10302024" y="29468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0328001" y="29511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10353641" y="2957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10378836" y="29648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10403476" y="29740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10427458" y="2984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10450677" y="299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10473035" y="301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10494436" y="30265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10514788" y="3043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10534004" y="30612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10552001" y="30805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10568704" y="31008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10584039" y="31222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10597942" y="31446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10610353" y="31678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10621219" y="3191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10630493" y="32164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10638136" y="32416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10644114" y="3267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10648403" y="3293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10650984" y="33194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10981029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10979463" y="3393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10974771" y="344127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10966973" y="34885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10956103" y="35351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10942207" y="35809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10925345" y="36257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10905589" y="36693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10883024" y="37115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10857746" y="37522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10829863" y="37911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10799495" y="38281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10766772" y="38630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10731834" y="38957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10694830" y="39261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10655920" y="39540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10615269" y="3979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10573052" y="40018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10529450" y="40216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10484648" y="40384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10438840" y="40523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10392222" y="40632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10344992" y="4071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10297353" y="40757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10249509" y="40773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10201665" y="40757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10154027" y="4071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10106797" y="40632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10060178" y="40523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10014370" y="40384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9969569" y="40216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9925966" y="40018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9883749" y="3979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9843098" y="39540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9804188" y="39261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9767184" y="38957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9732246" y="38630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9699523" y="38281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9669155" y="37911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9641272" y="37522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9615994" y="37115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9593429" y="36693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9573673" y="36257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9556811" y="35809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9542915" y="35351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9532045" y="34885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9524247" y="344127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9519555" y="3393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9517989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9519555" y="3297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9524247" y="32503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9532045" y="32030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9542915" y="31564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9556811" y="31106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9573673" y="30658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9593429" y="30222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9615994" y="29800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9641272" y="29393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9669155" y="29004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9699523" y="28634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9732246" y="28285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9767184" y="27958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9804188" y="27654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9843098" y="27375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9883749" y="2712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9925966" y="26897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9969569" y="26699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10014370" y="26530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10060178" y="26391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10106797" y="26283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10154027" y="2620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10201665" y="26158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10249509" y="26142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10297353" y="26158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10344992" y="2620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10392222" y="26283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10438840" y="26391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10484648" y="26530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10529450" y="26699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10573052" y="26897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10615269" y="2712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10655920" y="27375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10694830" y="27654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10731834" y="27958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10766772" y="28285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10799495" y="28634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10829863" y="29004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10857746" y="29393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10883024" y="29800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10905589" y="30222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10925345" y="30658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10942207" y="31106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10956103" y="31564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10966973" y="32030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10974771" y="32503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10979463" y="3297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Oval 281"/>
          <p:cNvSpPr/>
          <p:nvPr/>
        </p:nvSpPr>
        <p:spPr>
          <a:xfrm>
            <a:off x="11310213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Oval 282"/>
          <p:cNvSpPr/>
          <p:nvPr/>
        </p:nvSpPr>
        <p:spPr>
          <a:xfrm>
            <a:off x="11307942" y="3415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Oval 283"/>
          <p:cNvSpPr/>
          <p:nvPr/>
        </p:nvSpPr>
        <p:spPr>
          <a:xfrm>
            <a:off x="11301139" y="34842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Oval 284"/>
          <p:cNvSpPr/>
          <p:nvPr/>
        </p:nvSpPr>
        <p:spPr>
          <a:xfrm>
            <a:off x="11289832" y="35527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Oval 285"/>
          <p:cNvSpPr/>
          <p:nvPr/>
        </p:nvSpPr>
        <p:spPr>
          <a:xfrm>
            <a:off x="11274070" y="362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Oval 286"/>
          <p:cNvSpPr/>
          <p:nvPr/>
        </p:nvSpPr>
        <p:spPr>
          <a:xfrm>
            <a:off x="11253922" y="36867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Oval 287"/>
          <p:cNvSpPr/>
          <p:nvPr/>
        </p:nvSpPr>
        <p:spPr>
          <a:xfrm>
            <a:off x="11229472" y="37517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Oval 288"/>
          <p:cNvSpPr/>
          <p:nvPr/>
        </p:nvSpPr>
        <p:spPr>
          <a:xfrm>
            <a:off x="11200826" y="38149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Oval 289"/>
          <p:cNvSpPr/>
          <p:nvPr/>
        </p:nvSpPr>
        <p:spPr>
          <a:xfrm>
            <a:off x="11168106" y="38761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Oval 290"/>
          <p:cNvSpPr/>
          <p:nvPr/>
        </p:nvSpPr>
        <p:spPr>
          <a:xfrm>
            <a:off x="11131452" y="39350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Oval 291"/>
          <p:cNvSpPr/>
          <p:nvPr/>
        </p:nvSpPr>
        <p:spPr>
          <a:xfrm>
            <a:off x="11091022" y="39915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Oval 292"/>
          <p:cNvSpPr/>
          <p:nvPr/>
        </p:nvSpPr>
        <p:spPr>
          <a:xfrm>
            <a:off x="11046989" y="4045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Oval 293"/>
          <p:cNvSpPr/>
          <p:nvPr/>
        </p:nvSpPr>
        <p:spPr>
          <a:xfrm>
            <a:off x="10999540" y="40958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Oval 294"/>
          <p:cNvSpPr/>
          <p:nvPr/>
        </p:nvSpPr>
        <p:spPr>
          <a:xfrm>
            <a:off x="10948880" y="41432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Oval 295"/>
          <p:cNvSpPr/>
          <p:nvPr/>
        </p:nvSpPr>
        <p:spPr>
          <a:xfrm>
            <a:off x="10895225" y="41873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Oval 296"/>
          <p:cNvSpPr/>
          <p:nvPr/>
        </p:nvSpPr>
        <p:spPr>
          <a:xfrm>
            <a:off x="10838805" y="42277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Oval 297"/>
          <p:cNvSpPr/>
          <p:nvPr/>
        </p:nvSpPr>
        <p:spPr>
          <a:xfrm>
            <a:off x="10779861" y="42643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Oval 298"/>
          <p:cNvSpPr/>
          <p:nvPr/>
        </p:nvSpPr>
        <p:spPr>
          <a:xfrm>
            <a:off x="10718646" y="42971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Oval 299"/>
          <p:cNvSpPr/>
          <p:nvPr/>
        </p:nvSpPr>
        <p:spPr>
          <a:xfrm>
            <a:off x="10655423" y="43257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Oval 300"/>
          <p:cNvSpPr/>
          <p:nvPr/>
        </p:nvSpPr>
        <p:spPr>
          <a:xfrm>
            <a:off x="10590461" y="4350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Oval 301"/>
          <p:cNvSpPr/>
          <p:nvPr/>
        </p:nvSpPr>
        <p:spPr>
          <a:xfrm>
            <a:off x="10524039" y="43703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Oval 302"/>
          <p:cNvSpPr/>
          <p:nvPr/>
        </p:nvSpPr>
        <p:spPr>
          <a:xfrm>
            <a:off x="10456442" y="43861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Oval 303"/>
          <p:cNvSpPr/>
          <p:nvPr/>
        </p:nvSpPr>
        <p:spPr>
          <a:xfrm>
            <a:off x="10387959" y="43974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Oval 304"/>
          <p:cNvSpPr/>
          <p:nvPr/>
        </p:nvSpPr>
        <p:spPr>
          <a:xfrm>
            <a:off x="10318882" y="440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Oval 305"/>
          <p:cNvSpPr/>
          <p:nvPr/>
        </p:nvSpPr>
        <p:spPr>
          <a:xfrm>
            <a:off x="10249509" y="44064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Oval 306"/>
          <p:cNvSpPr/>
          <p:nvPr/>
        </p:nvSpPr>
        <p:spPr>
          <a:xfrm>
            <a:off x="10180136" y="440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Oval 307"/>
          <p:cNvSpPr/>
          <p:nvPr/>
        </p:nvSpPr>
        <p:spPr>
          <a:xfrm>
            <a:off x="10111059" y="43974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Oval 308"/>
          <p:cNvSpPr/>
          <p:nvPr/>
        </p:nvSpPr>
        <p:spPr>
          <a:xfrm>
            <a:off x="10042576" y="43861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Oval 309"/>
          <p:cNvSpPr/>
          <p:nvPr/>
        </p:nvSpPr>
        <p:spPr>
          <a:xfrm>
            <a:off x="9974979" y="43703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Oval 310"/>
          <p:cNvSpPr/>
          <p:nvPr/>
        </p:nvSpPr>
        <p:spPr>
          <a:xfrm>
            <a:off x="9908557" y="4350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Oval 311"/>
          <p:cNvSpPr/>
          <p:nvPr/>
        </p:nvSpPr>
        <p:spPr>
          <a:xfrm>
            <a:off x="9843595" y="43257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Oval 312"/>
          <p:cNvSpPr/>
          <p:nvPr/>
        </p:nvSpPr>
        <p:spPr>
          <a:xfrm>
            <a:off x="9780372" y="42971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Oval 313"/>
          <p:cNvSpPr/>
          <p:nvPr/>
        </p:nvSpPr>
        <p:spPr>
          <a:xfrm>
            <a:off x="9719157" y="42643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Oval 314"/>
          <p:cNvSpPr/>
          <p:nvPr/>
        </p:nvSpPr>
        <p:spPr>
          <a:xfrm>
            <a:off x="9660214" y="42277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Oval 315"/>
          <p:cNvSpPr/>
          <p:nvPr/>
        </p:nvSpPr>
        <p:spPr>
          <a:xfrm>
            <a:off x="9603793" y="41873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Oval 316"/>
          <p:cNvSpPr/>
          <p:nvPr/>
        </p:nvSpPr>
        <p:spPr>
          <a:xfrm>
            <a:off x="9550138" y="41432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Oval 317"/>
          <p:cNvSpPr/>
          <p:nvPr/>
        </p:nvSpPr>
        <p:spPr>
          <a:xfrm>
            <a:off x="9499478" y="40958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Oval 318"/>
          <p:cNvSpPr/>
          <p:nvPr/>
        </p:nvSpPr>
        <p:spPr>
          <a:xfrm>
            <a:off x="9452030" y="4045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Oval 319"/>
          <p:cNvSpPr/>
          <p:nvPr/>
        </p:nvSpPr>
        <p:spPr>
          <a:xfrm>
            <a:off x="9407996" y="39915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Oval 320"/>
          <p:cNvSpPr/>
          <p:nvPr/>
        </p:nvSpPr>
        <p:spPr>
          <a:xfrm>
            <a:off x="9367566" y="39350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Oval 321"/>
          <p:cNvSpPr/>
          <p:nvPr/>
        </p:nvSpPr>
        <p:spPr>
          <a:xfrm>
            <a:off x="9330912" y="38761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Oval 322"/>
          <p:cNvSpPr/>
          <p:nvPr/>
        </p:nvSpPr>
        <p:spPr>
          <a:xfrm>
            <a:off x="9298193" y="38149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Oval 323"/>
          <p:cNvSpPr/>
          <p:nvPr/>
        </p:nvSpPr>
        <p:spPr>
          <a:xfrm>
            <a:off x="9269546" y="37517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Oval 324"/>
          <p:cNvSpPr/>
          <p:nvPr/>
        </p:nvSpPr>
        <p:spPr>
          <a:xfrm>
            <a:off x="9245097" y="36867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Oval 325"/>
          <p:cNvSpPr/>
          <p:nvPr/>
        </p:nvSpPr>
        <p:spPr>
          <a:xfrm>
            <a:off x="9224948" y="362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Oval 326"/>
          <p:cNvSpPr/>
          <p:nvPr/>
        </p:nvSpPr>
        <p:spPr>
          <a:xfrm>
            <a:off x="9209186" y="35527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Oval 327"/>
          <p:cNvSpPr/>
          <p:nvPr/>
        </p:nvSpPr>
        <p:spPr>
          <a:xfrm>
            <a:off x="9197880" y="34842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Oval 328"/>
          <p:cNvSpPr/>
          <p:nvPr/>
        </p:nvSpPr>
        <p:spPr>
          <a:xfrm>
            <a:off x="9191076" y="3415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Oval 329"/>
          <p:cNvSpPr/>
          <p:nvPr/>
        </p:nvSpPr>
        <p:spPr>
          <a:xfrm>
            <a:off x="918880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Oval 330"/>
          <p:cNvSpPr/>
          <p:nvPr/>
        </p:nvSpPr>
        <p:spPr>
          <a:xfrm>
            <a:off x="9191076" y="3276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Oval 331"/>
          <p:cNvSpPr/>
          <p:nvPr/>
        </p:nvSpPr>
        <p:spPr>
          <a:xfrm>
            <a:off x="9197880" y="32073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Oval 332"/>
          <p:cNvSpPr/>
          <p:nvPr/>
        </p:nvSpPr>
        <p:spPr>
          <a:xfrm>
            <a:off x="9209186" y="31388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Oval 333"/>
          <p:cNvSpPr/>
          <p:nvPr/>
        </p:nvSpPr>
        <p:spPr>
          <a:xfrm>
            <a:off x="9224948" y="307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Oval 334"/>
          <p:cNvSpPr/>
          <p:nvPr/>
        </p:nvSpPr>
        <p:spPr>
          <a:xfrm>
            <a:off x="9245097" y="30048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Oval 335"/>
          <p:cNvSpPr/>
          <p:nvPr/>
        </p:nvSpPr>
        <p:spPr>
          <a:xfrm>
            <a:off x="9269546" y="29398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Oval 336"/>
          <p:cNvSpPr/>
          <p:nvPr/>
        </p:nvSpPr>
        <p:spPr>
          <a:xfrm>
            <a:off x="9298193" y="28766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Oval 337"/>
          <p:cNvSpPr/>
          <p:nvPr/>
        </p:nvSpPr>
        <p:spPr>
          <a:xfrm>
            <a:off x="9330912" y="28154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Oval 338"/>
          <p:cNvSpPr/>
          <p:nvPr/>
        </p:nvSpPr>
        <p:spPr>
          <a:xfrm>
            <a:off x="9367566" y="27564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Oval 339"/>
          <p:cNvSpPr/>
          <p:nvPr/>
        </p:nvSpPr>
        <p:spPr>
          <a:xfrm>
            <a:off x="9407996" y="27000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Oval 340"/>
          <p:cNvSpPr/>
          <p:nvPr/>
        </p:nvSpPr>
        <p:spPr>
          <a:xfrm>
            <a:off x="9452030" y="26464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Oval 341"/>
          <p:cNvSpPr/>
          <p:nvPr/>
        </p:nvSpPr>
        <p:spPr>
          <a:xfrm>
            <a:off x="9499478" y="25957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3" name="Oval 342"/>
          <p:cNvSpPr/>
          <p:nvPr/>
        </p:nvSpPr>
        <p:spPr>
          <a:xfrm>
            <a:off x="9550138" y="2548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Oval 343"/>
          <p:cNvSpPr/>
          <p:nvPr/>
        </p:nvSpPr>
        <p:spPr>
          <a:xfrm>
            <a:off x="9603793" y="25042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Oval 344"/>
          <p:cNvSpPr/>
          <p:nvPr/>
        </p:nvSpPr>
        <p:spPr>
          <a:xfrm>
            <a:off x="9660214" y="24638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Oval 345"/>
          <p:cNvSpPr/>
          <p:nvPr/>
        </p:nvSpPr>
        <p:spPr>
          <a:xfrm>
            <a:off x="9719157" y="24271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7" name="Oval 346"/>
          <p:cNvSpPr/>
          <p:nvPr/>
        </p:nvSpPr>
        <p:spPr>
          <a:xfrm>
            <a:off x="9780372" y="23944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Oval 347"/>
          <p:cNvSpPr/>
          <p:nvPr/>
        </p:nvSpPr>
        <p:spPr>
          <a:xfrm>
            <a:off x="9843595" y="23658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Oval 348"/>
          <p:cNvSpPr/>
          <p:nvPr/>
        </p:nvSpPr>
        <p:spPr>
          <a:xfrm>
            <a:off x="9908557" y="23413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Oval 349"/>
          <p:cNvSpPr/>
          <p:nvPr/>
        </p:nvSpPr>
        <p:spPr>
          <a:xfrm>
            <a:off x="9974979" y="23212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Oval 350"/>
          <p:cNvSpPr/>
          <p:nvPr/>
        </p:nvSpPr>
        <p:spPr>
          <a:xfrm>
            <a:off x="10042576" y="23054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Oval 351"/>
          <p:cNvSpPr/>
          <p:nvPr/>
        </p:nvSpPr>
        <p:spPr>
          <a:xfrm>
            <a:off x="10111059" y="2294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Oval 352"/>
          <p:cNvSpPr/>
          <p:nvPr/>
        </p:nvSpPr>
        <p:spPr>
          <a:xfrm>
            <a:off x="10180136" y="228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Oval 353"/>
          <p:cNvSpPr/>
          <p:nvPr/>
        </p:nvSpPr>
        <p:spPr>
          <a:xfrm>
            <a:off x="10249509" y="22850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Oval 354"/>
          <p:cNvSpPr/>
          <p:nvPr/>
        </p:nvSpPr>
        <p:spPr>
          <a:xfrm>
            <a:off x="10318882" y="228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Oval 355"/>
          <p:cNvSpPr/>
          <p:nvPr/>
        </p:nvSpPr>
        <p:spPr>
          <a:xfrm>
            <a:off x="10387959" y="2294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Oval 356"/>
          <p:cNvSpPr/>
          <p:nvPr/>
        </p:nvSpPr>
        <p:spPr>
          <a:xfrm>
            <a:off x="10456442" y="23054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Oval 357"/>
          <p:cNvSpPr/>
          <p:nvPr/>
        </p:nvSpPr>
        <p:spPr>
          <a:xfrm>
            <a:off x="10524039" y="23212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9" name="Oval 358"/>
          <p:cNvSpPr/>
          <p:nvPr/>
        </p:nvSpPr>
        <p:spPr>
          <a:xfrm>
            <a:off x="10590461" y="23413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Oval 359"/>
          <p:cNvSpPr/>
          <p:nvPr/>
        </p:nvSpPr>
        <p:spPr>
          <a:xfrm>
            <a:off x="10655423" y="23658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1" name="Oval 360"/>
          <p:cNvSpPr/>
          <p:nvPr/>
        </p:nvSpPr>
        <p:spPr>
          <a:xfrm>
            <a:off x="10718646" y="23944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Oval 361"/>
          <p:cNvSpPr/>
          <p:nvPr/>
        </p:nvSpPr>
        <p:spPr>
          <a:xfrm>
            <a:off x="10779861" y="24271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Oval 362"/>
          <p:cNvSpPr/>
          <p:nvPr/>
        </p:nvSpPr>
        <p:spPr>
          <a:xfrm>
            <a:off x="10838805" y="24638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Oval 363"/>
          <p:cNvSpPr/>
          <p:nvPr/>
        </p:nvSpPr>
        <p:spPr>
          <a:xfrm>
            <a:off x="10895225" y="25042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5" name="Oval 364"/>
          <p:cNvSpPr/>
          <p:nvPr/>
        </p:nvSpPr>
        <p:spPr>
          <a:xfrm>
            <a:off x="10948880" y="2548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Oval 365"/>
          <p:cNvSpPr/>
          <p:nvPr/>
        </p:nvSpPr>
        <p:spPr>
          <a:xfrm>
            <a:off x="10999540" y="25957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7" name="Oval 366"/>
          <p:cNvSpPr/>
          <p:nvPr/>
        </p:nvSpPr>
        <p:spPr>
          <a:xfrm>
            <a:off x="11046989" y="26464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8" name="Oval 367"/>
          <p:cNvSpPr/>
          <p:nvPr/>
        </p:nvSpPr>
        <p:spPr>
          <a:xfrm>
            <a:off x="11091022" y="27000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Oval 368"/>
          <p:cNvSpPr/>
          <p:nvPr/>
        </p:nvSpPr>
        <p:spPr>
          <a:xfrm>
            <a:off x="11131452" y="27564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0" name="Oval 369"/>
          <p:cNvSpPr/>
          <p:nvPr/>
        </p:nvSpPr>
        <p:spPr>
          <a:xfrm>
            <a:off x="11168106" y="28154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1" name="Oval 370"/>
          <p:cNvSpPr/>
          <p:nvPr/>
        </p:nvSpPr>
        <p:spPr>
          <a:xfrm>
            <a:off x="11200826" y="28766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2" name="Oval 371"/>
          <p:cNvSpPr/>
          <p:nvPr/>
        </p:nvSpPr>
        <p:spPr>
          <a:xfrm>
            <a:off x="11229472" y="29398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3" name="Oval 372"/>
          <p:cNvSpPr/>
          <p:nvPr/>
        </p:nvSpPr>
        <p:spPr>
          <a:xfrm>
            <a:off x="11253922" y="30048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Oval 373"/>
          <p:cNvSpPr/>
          <p:nvPr/>
        </p:nvSpPr>
        <p:spPr>
          <a:xfrm>
            <a:off x="11274070" y="307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5" name="Oval 374"/>
          <p:cNvSpPr/>
          <p:nvPr/>
        </p:nvSpPr>
        <p:spPr>
          <a:xfrm>
            <a:off x="11289832" y="31388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Oval 375"/>
          <p:cNvSpPr/>
          <p:nvPr/>
        </p:nvSpPr>
        <p:spPr>
          <a:xfrm>
            <a:off x="11301139" y="32073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Oval 376"/>
          <p:cNvSpPr/>
          <p:nvPr/>
        </p:nvSpPr>
        <p:spPr>
          <a:xfrm>
            <a:off x="11307942" y="3276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8" name="Oval 377"/>
          <p:cNvSpPr/>
          <p:nvPr/>
        </p:nvSpPr>
        <p:spPr>
          <a:xfrm>
            <a:off x="10211562" y="290550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9" name="Oval 378"/>
          <p:cNvSpPr/>
          <p:nvPr/>
        </p:nvSpPr>
        <p:spPr>
          <a:xfrm>
            <a:off x="10412730" y="295940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0" name="Oval 379"/>
          <p:cNvSpPr/>
          <p:nvPr/>
        </p:nvSpPr>
        <p:spPr>
          <a:xfrm>
            <a:off x="10559995" y="3106673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1" name="Oval 380"/>
          <p:cNvSpPr/>
          <p:nvPr/>
        </p:nvSpPr>
        <p:spPr>
          <a:xfrm>
            <a:off x="10613898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Oval 381"/>
          <p:cNvSpPr/>
          <p:nvPr/>
        </p:nvSpPr>
        <p:spPr>
          <a:xfrm>
            <a:off x="10559995" y="3509009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3" name="Oval 382"/>
          <p:cNvSpPr/>
          <p:nvPr/>
        </p:nvSpPr>
        <p:spPr>
          <a:xfrm>
            <a:off x="10412730" y="365627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Oval 383"/>
          <p:cNvSpPr/>
          <p:nvPr/>
        </p:nvSpPr>
        <p:spPr>
          <a:xfrm>
            <a:off x="10211562" y="371017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5" name="Oval 384"/>
          <p:cNvSpPr/>
          <p:nvPr/>
        </p:nvSpPr>
        <p:spPr>
          <a:xfrm>
            <a:off x="10010394" y="365627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6" name="Oval 385"/>
          <p:cNvSpPr/>
          <p:nvPr/>
        </p:nvSpPr>
        <p:spPr>
          <a:xfrm>
            <a:off x="9863128" y="3509010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7" name="Oval 386"/>
          <p:cNvSpPr/>
          <p:nvPr/>
        </p:nvSpPr>
        <p:spPr>
          <a:xfrm>
            <a:off x="9809226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8" name="Oval 387"/>
          <p:cNvSpPr/>
          <p:nvPr/>
        </p:nvSpPr>
        <p:spPr>
          <a:xfrm>
            <a:off x="9863128" y="3106673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9" name="Oval 388"/>
          <p:cNvSpPr/>
          <p:nvPr/>
        </p:nvSpPr>
        <p:spPr>
          <a:xfrm>
            <a:off x="10010394" y="295940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0" name="Oval 389"/>
          <p:cNvSpPr/>
          <p:nvPr/>
        </p:nvSpPr>
        <p:spPr>
          <a:xfrm>
            <a:off x="10211562" y="257632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1" name="Oval 390"/>
          <p:cNvSpPr/>
          <p:nvPr/>
        </p:nvSpPr>
        <p:spPr>
          <a:xfrm>
            <a:off x="10577322" y="2674327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2" name="Oval 391"/>
          <p:cNvSpPr/>
          <p:nvPr/>
        </p:nvSpPr>
        <p:spPr>
          <a:xfrm>
            <a:off x="10845076" y="294208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3" name="Oval 392"/>
          <p:cNvSpPr/>
          <p:nvPr/>
        </p:nvSpPr>
        <p:spPr>
          <a:xfrm>
            <a:off x="10943082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4" name="Oval 393"/>
          <p:cNvSpPr/>
          <p:nvPr/>
        </p:nvSpPr>
        <p:spPr>
          <a:xfrm>
            <a:off x="10845076" y="367360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5" name="Oval 394"/>
          <p:cNvSpPr/>
          <p:nvPr/>
        </p:nvSpPr>
        <p:spPr>
          <a:xfrm>
            <a:off x="10577322" y="394135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6" name="Oval 395"/>
          <p:cNvSpPr/>
          <p:nvPr/>
        </p:nvSpPr>
        <p:spPr>
          <a:xfrm>
            <a:off x="10211562" y="403936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7" name="Oval 396"/>
          <p:cNvSpPr/>
          <p:nvPr/>
        </p:nvSpPr>
        <p:spPr>
          <a:xfrm>
            <a:off x="9845802" y="394135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8" name="Oval 397"/>
          <p:cNvSpPr/>
          <p:nvPr/>
        </p:nvSpPr>
        <p:spPr>
          <a:xfrm>
            <a:off x="9578047" y="367360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9" name="Oval 398"/>
          <p:cNvSpPr/>
          <p:nvPr/>
        </p:nvSpPr>
        <p:spPr>
          <a:xfrm>
            <a:off x="9480042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0" name="Oval 399"/>
          <p:cNvSpPr/>
          <p:nvPr/>
        </p:nvSpPr>
        <p:spPr>
          <a:xfrm>
            <a:off x="9578047" y="294208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1" name="Oval 400"/>
          <p:cNvSpPr/>
          <p:nvPr/>
        </p:nvSpPr>
        <p:spPr>
          <a:xfrm>
            <a:off x="9845802" y="2674327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2" name="Oval 401"/>
          <p:cNvSpPr/>
          <p:nvPr/>
        </p:nvSpPr>
        <p:spPr>
          <a:xfrm>
            <a:off x="10211562" y="2247137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3" name="Oval 402"/>
          <p:cNvSpPr/>
          <p:nvPr/>
        </p:nvSpPr>
        <p:spPr>
          <a:xfrm>
            <a:off x="10741914" y="238924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4" name="Oval 403"/>
          <p:cNvSpPr/>
          <p:nvPr/>
        </p:nvSpPr>
        <p:spPr>
          <a:xfrm>
            <a:off x="11130158" y="2777489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5" name="Oval 404"/>
          <p:cNvSpPr/>
          <p:nvPr/>
        </p:nvSpPr>
        <p:spPr>
          <a:xfrm>
            <a:off x="11272266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6" name="Oval 405"/>
          <p:cNvSpPr/>
          <p:nvPr/>
        </p:nvSpPr>
        <p:spPr>
          <a:xfrm>
            <a:off x="11130158" y="3838194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7" name="Oval 406"/>
          <p:cNvSpPr/>
          <p:nvPr/>
        </p:nvSpPr>
        <p:spPr>
          <a:xfrm>
            <a:off x="10741914" y="422643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8" name="Oval 407"/>
          <p:cNvSpPr/>
          <p:nvPr/>
        </p:nvSpPr>
        <p:spPr>
          <a:xfrm>
            <a:off x="10211562" y="436854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9" name="Oval 408"/>
          <p:cNvSpPr/>
          <p:nvPr/>
        </p:nvSpPr>
        <p:spPr>
          <a:xfrm>
            <a:off x="9681210" y="422643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0" name="Oval 409"/>
          <p:cNvSpPr/>
          <p:nvPr/>
        </p:nvSpPr>
        <p:spPr>
          <a:xfrm>
            <a:off x="9292965" y="3838194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1" name="Oval 410"/>
          <p:cNvSpPr/>
          <p:nvPr/>
        </p:nvSpPr>
        <p:spPr>
          <a:xfrm>
            <a:off x="9150858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2" name="Oval 411"/>
          <p:cNvSpPr/>
          <p:nvPr/>
        </p:nvSpPr>
        <p:spPr>
          <a:xfrm>
            <a:off x="9292965" y="2777489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3" name="Oval 412"/>
          <p:cNvSpPr/>
          <p:nvPr/>
        </p:nvSpPr>
        <p:spPr>
          <a:xfrm>
            <a:off x="9681210" y="238924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4" name="Oval 413"/>
          <p:cNvSpPr/>
          <p:nvPr/>
        </p:nvSpPr>
        <p:spPr>
          <a:xfrm>
            <a:off x="10186416" y="3282696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5" name="Rectangle 414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6" name="Rectangle 415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7" name="TextBox 416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Every one of these is the same operation — move, repeated, with the amount driven by a counter. Only the rule for the counter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HEXAGONAL IS A GRID WITH AN ODD/EVEN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Stagger alternate rows by half the spacing. Keep the row spacing consistent.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Courier New"/>
              </a:rPr>
              <a:t>offset = (j mod 2 == 0) ? 0 : dx / 2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Modulo asks: is this row odd or even? Compare turns that into True or False, and Switch picks the offset. The same two nodes as last week.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Row spacing is not dx. If you use the same number for both, you get a squashed grid, not a hex field.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IT LOOKS LIKE</a:t>
            </a:r>
          </a:p>
        </p:txBody>
      </p:sp>
      <p:sp>
        <p:nvSpPr>
          <p:cNvPr id="14" name="Oval 13"/>
          <p:cNvSpPr/>
          <p:nvPr/>
        </p:nvSpPr>
        <p:spPr>
          <a:xfrm>
            <a:off x="702716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356348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685532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014716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343900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67308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002268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191755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520940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850124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179308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508492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837676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027164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356348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685532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014716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8343900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673084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002268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191755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520940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7850124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179308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508492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837676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027164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7356348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685532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014716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343900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8673084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9002268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7191755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7520940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7850124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179308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8508492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8837676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62940" y="532638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594360" y="525780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77240" y="52578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A BRICK BOND IS A HEXAGONAL ARRAY. SO IS A HONEYCOMB. SO IS HALF THE PAVING YOU WALK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RADIAL IS POLAR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Radius, count, angular step. The index drives the angle.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ourier New"/>
              </a:rPr>
              <a:t>step  = 360 / count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ourier New"/>
              </a:rPr>
              <a:t>θ[i]  = i × step</a:t>
            </a:r>
          </a:p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Courier New"/>
              </a:rPr>
              <a:t>p[i]  = c + r · (cos θ, sin θ)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same rotation arithmetic from Week 2 — the one place where x and y have to talk to each other — now generating positions instead of moving a solid.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TWO KNOBS</a:t>
            </a:r>
          </a:p>
        </p:txBody>
      </p:sp>
      <p:sp>
        <p:nvSpPr>
          <p:cNvPr id="14" name="Oval 13"/>
          <p:cNvSpPr/>
          <p:nvPr/>
        </p:nvSpPr>
        <p:spPr>
          <a:xfrm>
            <a:off x="9380829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380007" y="30782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9377544" y="31033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9373450" y="31281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67743" y="315258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360448" y="31766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351595" y="32001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341223" y="32230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9376" y="32452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316105" y="32665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301467" y="32869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285524" y="33064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68344" y="33247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250002" y="33419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230575" y="33578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210147" y="33725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188805" y="33857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166641" y="33976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143750" y="34079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120229" y="34168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9096180" y="34241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9071705" y="34298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9046909" y="34339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9021899" y="34364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996781" y="34372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971663" y="34364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946653" y="34339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8921857" y="34298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897382" y="34241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873333" y="34168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849812" y="34079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8826921" y="33976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8804757" y="33857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8783415" y="33725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8762987" y="33578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8743561" y="33419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725218" y="33247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8708039" y="33064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8692095" y="32869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8677457" y="32665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664186" y="32452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652339" y="32230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8641967" y="32001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633114" y="31766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8625819" y="315258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620112" y="31281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8616019" y="31033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8613555" y="30782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8612733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8613555" y="30280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8616019" y="30030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8620112" y="29782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8625819" y="29537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8633114" y="29297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8641967" y="29062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652339" y="28833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8664186" y="28611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8677457" y="28398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692095" y="28193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8708039" y="279996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8725218" y="27816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8743561" y="27644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762987" y="27484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8783415" y="27338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8804757" y="27205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8826921" y="27087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8849812" y="26983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8873333" y="26895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8897382" y="26822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8921857" y="26765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946653" y="26724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8971663" y="26699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8996781" y="26691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9021899" y="26699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9046909" y="26724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9071705" y="26765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9096180" y="26822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9120229" y="26895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9143750" y="26983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9166641" y="27087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9188805" y="27205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9210147" y="27338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9230575" y="27484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9250002" y="27644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9268344" y="27816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9285524" y="279996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9301467" y="28193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9316105" y="28398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9329376" y="28611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9341223" y="28833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9351595" y="29062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9360448" y="29297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9367743" y="29537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9373450" y="29782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9377544" y="30030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9380007" y="30280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9710013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9708486" y="30998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9703911" y="31462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9696309" y="31923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685710" y="32377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672162" y="328244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9655722" y="33261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9636459" y="33686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9614458" y="34097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9589812" y="34494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9562626" y="34873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9533017" y="35234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9501112" y="35575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9467048" y="358941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9430969" y="36190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9393032" y="36462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9353397" y="36708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9312236" y="36928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9269723" y="37121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9226042" y="37285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9181379" y="37421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9135926" y="37527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9089877" y="37603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9043429" y="37648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8996781" y="37664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950133" y="37648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8903686" y="37603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8857636" y="37527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8812183" y="37421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8767520" y="37285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8723839" y="37121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8681327" y="36928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8640165" y="36708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8600531" y="36462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8562593" y="36190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8526515" y="358941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8492450" y="35575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8460545" y="35234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8430936" y="34873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8403750" y="34494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8379104" y="34097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8357103" y="33686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8337841" y="33261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8321400" y="328244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8307852" y="32377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8297254" y="31923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8289651" y="31462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8285076" y="30998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8283549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285076" y="30065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8289651" y="2960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8297254" y="29140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8307852" y="28685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8321400" y="28239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8337841" y="27802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8357103" y="27377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8379104" y="26965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8403750" y="26569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8430936" y="26189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8460545" y="25829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8492450" y="25488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8526515" y="2516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8562593" y="24873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8600531" y="24601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8640165" y="24355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8681327" y="24135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8723839" y="23942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8767520" y="23778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8812183" y="23642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8857636" y="23536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8903686" y="2346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8950133" y="23414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8996781" y="23399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9043429" y="23414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9089877" y="2346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9135926" y="23536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9181379" y="23642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9226042" y="23778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9269723" y="23942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9312236" y="24135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9353397" y="24355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9393032" y="24601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9430969" y="24873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9467048" y="2516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9501112" y="25488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9533017" y="25829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9562626" y="26189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9589812" y="26569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9614458" y="26965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9636459" y="27377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9655722" y="27802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9672162" y="28239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9685710" y="28685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9696309" y="29140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9703911" y="2960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9708486" y="30065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10039197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10036965" y="31213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10030279" y="31892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10019167" y="32565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10003678" y="33229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9983876" y="33882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9959848" y="3452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9931696" y="35142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9899540" y="35743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9863518" y="36323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9823785" y="36877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9780511" y="37404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9733881" y="3790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9684094" y="38369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9631364" y="38801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9575916" y="39199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9517989" y="39559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9457830" y="3988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9395696" y="40162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9331855" y="40402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9266578" y="4060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9200146" y="40755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9132844" y="40866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9064958" y="40933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8996781" y="40955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8928604" y="40933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8860719" y="40866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8793416" y="40755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8726984" y="4060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8661707" y="40402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8597866" y="40162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8535732" y="3988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8475573" y="39559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8417646" y="39199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8362198" y="38801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8309468" y="38369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8259682" y="3790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8213051" y="37404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8169777" y="36877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8130044" y="36323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8094022" y="35743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8061867" y="35142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8033714" y="3452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8009686" y="33882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7989885" y="33229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7974395" y="32565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7963283" y="31892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7956597" y="31213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7954365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7956597" y="29850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7963283" y="29171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7974395" y="28498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7989885" y="27833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8009686" y="27181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8033714" y="26542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8061867" y="25921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8094022" y="25319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8130044" y="24740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8169777" y="241859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8213051" y="23658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8259682" y="23160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8309468" y="22694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8362198" y="22261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8417646" y="21864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8475573" y="21504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8535732" y="21182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8597866" y="20901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8661707" y="2066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8726984" y="20462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8793416" y="20307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8860719" y="20196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8928604" y="20129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8996781" y="20107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9064958" y="20129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9132844" y="20196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9200146" y="20307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Oval 281"/>
          <p:cNvSpPr/>
          <p:nvPr/>
        </p:nvSpPr>
        <p:spPr>
          <a:xfrm>
            <a:off x="9266578" y="20462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Oval 282"/>
          <p:cNvSpPr/>
          <p:nvPr/>
        </p:nvSpPr>
        <p:spPr>
          <a:xfrm>
            <a:off x="9331855" y="2066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Oval 283"/>
          <p:cNvSpPr/>
          <p:nvPr/>
        </p:nvSpPr>
        <p:spPr>
          <a:xfrm>
            <a:off x="9395696" y="20901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Oval 284"/>
          <p:cNvSpPr/>
          <p:nvPr/>
        </p:nvSpPr>
        <p:spPr>
          <a:xfrm>
            <a:off x="9457830" y="21182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Oval 285"/>
          <p:cNvSpPr/>
          <p:nvPr/>
        </p:nvSpPr>
        <p:spPr>
          <a:xfrm>
            <a:off x="9517989" y="21504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Oval 286"/>
          <p:cNvSpPr/>
          <p:nvPr/>
        </p:nvSpPr>
        <p:spPr>
          <a:xfrm>
            <a:off x="9575916" y="21864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Oval 287"/>
          <p:cNvSpPr/>
          <p:nvPr/>
        </p:nvSpPr>
        <p:spPr>
          <a:xfrm>
            <a:off x="9631364" y="22261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Oval 288"/>
          <p:cNvSpPr/>
          <p:nvPr/>
        </p:nvSpPr>
        <p:spPr>
          <a:xfrm>
            <a:off x="9684094" y="22694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Oval 289"/>
          <p:cNvSpPr/>
          <p:nvPr/>
        </p:nvSpPr>
        <p:spPr>
          <a:xfrm>
            <a:off x="9733881" y="23160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Oval 290"/>
          <p:cNvSpPr/>
          <p:nvPr/>
        </p:nvSpPr>
        <p:spPr>
          <a:xfrm>
            <a:off x="9780511" y="23658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Oval 291"/>
          <p:cNvSpPr/>
          <p:nvPr/>
        </p:nvSpPr>
        <p:spPr>
          <a:xfrm>
            <a:off x="9823785" y="241859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Oval 292"/>
          <p:cNvSpPr/>
          <p:nvPr/>
        </p:nvSpPr>
        <p:spPr>
          <a:xfrm>
            <a:off x="9863518" y="24740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Oval 293"/>
          <p:cNvSpPr/>
          <p:nvPr/>
        </p:nvSpPr>
        <p:spPr>
          <a:xfrm>
            <a:off x="9899540" y="25319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Oval 294"/>
          <p:cNvSpPr/>
          <p:nvPr/>
        </p:nvSpPr>
        <p:spPr>
          <a:xfrm>
            <a:off x="9931696" y="25921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Oval 295"/>
          <p:cNvSpPr/>
          <p:nvPr/>
        </p:nvSpPr>
        <p:spPr>
          <a:xfrm>
            <a:off x="9959848" y="26542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Oval 296"/>
          <p:cNvSpPr/>
          <p:nvPr/>
        </p:nvSpPr>
        <p:spPr>
          <a:xfrm>
            <a:off x="9983876" y="27181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Oval 297"/>
          <p:cNvSpPr/>
          <p:nvPr/>
        </p:nvSpPr>
        <p:spPr>
          <a:xfrm>
            <a:off x="10003678" y="27833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Oval 298"/>
          <p:cNvSpPr/>
          <p:nvPr/>
        </p:nvSpPr>
        <p:spPr>
          <a:xfrm>
            <a:off x="10019167" y="28498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Oval 299"/>
          <p:cNvSpPr/>
          <p:nvPr/>
        </p:nvSpPr>
        <p:spPr>
          <a:xfrm>
            <a:off x="10030279" y="29171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Oval 300"/>
          <p:cNvSpPr/>
          <p:nvPr/>
        </p:nvSpPr>
        <p:spPr>
          <a:xfrm>
            <a:off x="10036965" y="29850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Oval 301"/>
          <p:cNvSpPr/>
          <p:nvPr/>
        </p:nvSpPr>
        <p:spPr>
          <a:xfrm>
            <a:off x="8961119" y="263347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Oval 302"/>
          <p:cNvSpPr/>
          <p:nvPr/>
        </p:nvSpPr>
        <p:spPr>
          <a:xfrm>
            <a:off x="9153143" y="268492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Oval 303"/>
          <p:cNvSpPr/>
          <p:nvPr/>
        </p:nvSpPr>
        <p:spPr>
          <a:xfrm>
            <a:off x="9293715" y="282549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Oval 304"/>
          <p:cNvSpPr/>
          <p:nvPr/>
        </p:nvSpPr>
        <p:spPr>
          <a:xfrm>
            <a:off x="9345167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Oval 305"/>
          <p:cNvSpPr/>
          <p:nvPr/>
        </p:nvSpPr>
        <p:spPr>
          <a:xfrm>
            <a:off x="9293715" y="320954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Oval 306"/>
          <p:cNvSpPr/>
          <p:nvPr/>
        </p:nvSpPr>
        <p:spPr>
          <a:xfrm>
            <a:off x="9153143" y="3350115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Oval 307"/>
          <p:cNvSpPr/>
          <p:nvPr/>
        </p:nvSpPr>
        <p:spPr>
          <a:xfrm>
            <a:off x="8961119" y="340156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Oval 308"/>
          <p:cNvSpPr/>
          <p:nvPr/>
        </p:nvSpPr>
        <p:spPr>
          <a:xfrm>
            <a:off x="8769096" y="3350115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Oval 309"/>
          <p:cNvSpPr/>
          <p:nvPr/>
        </p:nvSpPr>
        <p:spPr>
          <a:xfrm>
            <a:off x="8628524" y="320954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Oval 310"/>
          <p:cNvSpPr/>
          <p:nvPr/>
        </p:nvSpPr>
        <p:spPr>
          <a:xfrm>
            <a:off x="8577072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Oval 311"/>
          <p:cNvSpPr/>
          <p:nvPr/>
        </p:nvSpPr>
        <p:spPr>
          <a:xfrm>
            <a:off x="8628524" y="282549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Oval 312"/>
          <p:cNvSpPr/>
          <p:nvPr/>
        </p:nvSpPr>
        <p:spPr>
          <a:xfrm>
            <a:off x="8769095" y="268492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Oval 313"/>
          <p:cNvSpPr/>
          <p:nvPr/>
        </p:nvSpPr>
        <p:spPr>
          <a:xfrm>
            <a:off x="8961119" y="230428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Oval 314"/>
          <p:cNvSpPr/>
          <p:nvPr/>
        </p:nvSpPr>
        <p:spPr>
          <a:xfrm>
            <a:off x="9317736" y="239984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Oval 315"/>
          <p:cNvSpPr/>
          <p:nvPr/>
        </p:nvSpPr>
        <p:spPr>
          <a:xfrm>
            <a:off x="9578797" y="266090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Oval 316"/>
          <p:cNvSpPr/>
          <p:nvPr/>
        </p:nvSpPr>
        <p:spPr>
          <a:xfrm>
            <a:off x="9674351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Oval 317"/>
          <p:cNvSpPr/>
          <p:nvPr/>
        </p:nvSpPr>
        <p:spPr>
          <a:xfrm>
            <a:off x="9578797" y="33741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Oval 318"/>
          <p:cNvSpPr/>
          <p:nvPr/>
        </p:nvSpPr>
        <p:spPr>
          <a:xfrm>
            <a:off x="9317736" y="363519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Oval 319"/>
          <p:cNvSpPr/>
          <p:nvPr/>
        </p:nvSpPr>
        <p:spPr>
          <a:xfrm>
            <a:off x="8961119" y="373075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Oval 320"/>
          <p:cNvSpPr/>
          <p:nvPr/>
        </p:nvSpPr>
        <p:spPr>
          <a:xfrm>
            <a:off x="8604503" y="363519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Oval 321"/>
          <p:cNvSpPr/>
          <p:nvPr/>
        </p:nvSpPr>
        <p:spPr>
          <a:xfrm>
            <a:off x="8343442" y="33741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Oval 322"/>
          <p:cNvSpPr/>
          <p:nvPr/>
        </p:nvSpPr>
        <p:spPr>
          <a:xfrm>
            <a:off x="8247888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Oval 323"/>
          <p:cNvSpPr/>
          <p:nvPr/>
        </p:nvSpPr>
        <p:spPr>
          <a:xfrm>
            <a:off x="8343442" y="266090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Oval 324"/>
          <p:cNvSpPr/>
          <p:nvPr/>
        </p:nvSpPr>
        <p:spPr>
          <a:xfrm>
            <a:off x="8604503" y="239984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Oval 325"/>
          <p:cNvSpPr/>
          <p:nvPr/>
        </p:nvSpPr>
        <p:spPr>
          <a:xfrm>
            <a:off x="8961119" y="197510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Oval 326"/>
          <p:cNvSpPr/>
          <p:nvPr/>
        </p:nvSpPr>
        <p:spPr>
          <a:xfrm>
            <a:off x="9482328" y="2114761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Oval 327"/>
          <p:cNvSpPr/>
          <p:nvPr/>
        </p:nvSpPr>
        <p:spPr>
          <a:xfrm>
            <a:off x="9863878" y="249631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Oval 328"/>
          <p:cNvSpPr/>
          <p:nvPr/>
        </p:nvSpPr>
        <p:spPr>
          <a:xfrm>
            <a:off x="10003536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Oval 329"/>
          <p:cNvSpPr/>
          <p:nvPr/>
        </p:nvSpPr>
        <p:spPr>
          <a:xfrm>
            <a:off x="9863878" y="35387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Oval 330"/>
          <p:cNvSpPr/>
          <p:nvPr/>
        </p:nvSpPr>
        <p:spPr>
          <a:xfrm>
            <a:off x="9482328" y="392027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Oval 331"/>
          <p:cNvSpPr/>
          <p:nvPr/>
        </p:nvSpPr>
        <p:spPr>
          <a:xfrm>
            <a:off x="8961119" y="40599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Oval 332"/>
          <p:cNvSpPr/>
          <p:nvPr/>
        </p:nvSpPr>
        <p:spPr>
          <a:xfrm>
            <a:off x="8439911" y="392027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Oval 333"/>
          <p:cNvSpPr/>
          <p:nvPr/>
        </p:nvSpPr>
        <p:spPr>
          <a:xfrm>
            <a:off x="8058361" y="35387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Oval 334"/>
          <p:cNvSpPr/>
          <p:nvPr/>
        </p:nvSpPr>
        <p:spPr>
          <a:xfrm>
            <a:off x="7918703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Oval 335"/>
          <p:cNvSpPr/>
          <p:nvPr/>
        </p:nvSpPr>
        <p:spPr>
          <a:xfrm>
            <a:off x="8058361" y="249631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Oval 336"/>
          <p:cNvSpPr/>
          <p:nvPr/>
        </p:nvSpPr>
        <p:spPr>
          <a:xfrm>
            <a:off x="8439911" y="2114761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Oval 337"/>
          <p:cNvSpPr/>
          <p:nvPr/>
        </p:nvSpPr>
        <p:spPr>
          <a:xfrm>
            <a:off x="8933688" y="2990088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TextBox 338"/>
          <p:cNvSpPr txBox="1"/>
          <p:nvPr/>
        </p:nvSpPr>
        <p:spPr>
          <a:xfrm>
            <a:off x="6675120" y="443484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Change the count and the step changes with it. Change the radius per ring and it opens up.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Rectangle 340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TextBox 341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IF YOUR LAST ELEMENT LANDS ON TOP OF YOUR FIRST, YOU DIVIDED BY THE WRONG NUMBER.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MOVE ONLY SOME OF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Select a range of indices with comparisons, and displace just those.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1206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1206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120640" cy="502920"/>
          </a:xfrm>
          <a:prstGeom prst="rect">
            <a:avLst/>
          </a:prstGeom>
          <a:solidFill>
            <a:srgbClr val="B4B4AC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BEFORE</a:t>
            </a:r>
          </a:p>
        </p:txBody>
      </p:sp>
      <p:sp>
        <p:nvSpPr>
          <p:cNvPr id="9" name="Oval 8"/>
          <p:cNvSpPr/>
          <p:nvPr/>
        </p:nvSpPr>
        <p:spPr>
          <a:xfrm>
            <a:off x="1257300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257300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257300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257300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641348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641348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641348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641348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025395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2025395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2025395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2025395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2409444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409444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2409444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2409444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793491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2793491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2793491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793491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3177540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3177540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3177540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3177540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561588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561588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3561588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561588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45636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3945636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3945636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3945636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4329684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4329684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4329684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4329684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14400" y="4434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Every element identical. The index is computed, then ignored.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3620" y="1851660"/>
            <a:ext cx="55321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035040" y="1783080"/>
            <a:ext cx="55321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6035040" y="1783080"/>
            <a:ext cx="553212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63640" y="178308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AFTER</a:t>
            </a:r>
          </a:p>
        </p:txBody>
      </p:sp>
      <p:sp>
        <p:nvSpPr>
          <p:cNvPr id="50" name="Oval 49"/>
          <p:cNvSpPr/>
          <p:nvPr/>
        </p:nvSpPr>
        <p:spPr>
          <a:xfrm>
            <a:off x="6332220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6332220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6332220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6332220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6716268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6716268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6716268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716268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7100316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7100316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7100316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7100316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7484364" y="2382012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7484364" y="2766060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7484364" y="3150108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7484364" y="3534156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7868412" y="2382012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7868412" y="2766060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7868412" y="3150108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7868412" y="3534156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8252460" y="2382012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8252460" y="2766060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252460" y="3150108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8252460" y="3534156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8636508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8636508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636508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8636508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9020556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9020556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9020556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9020556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9404604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9404604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9404604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9404604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6309360" y="44348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Indices 3 to 5 lifted. One Compare, one Switch, one Set Position.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777240" y="525780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THE FIELD STOPS BEING WALLPAPER THE MOMENT A TEST DECIDES SOMETHING.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SINE GIVES YOU A SMOOTH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Math set to Sine, driven by the index. Three words describe the whole curve.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982980" y="2674620"/>
            <a:ext cx="1828800" cy="5029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14400" y="2606040"/>
            <a:ext cx="18288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7569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AMPLITUDE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60604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how far it swings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2980" y="3332988"/>
            <a:ext cx="1828800" cy="5029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14400" y="3264408"/>
            <a:ext cx="18288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34152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FREQUENCY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264408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how many swings across the 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2980" y="3991356"/>
            <a:ext cx="1828800" cy="5029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914400" y="3922776"/>
            <a:ext cx="18288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40736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PHASE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922776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where in the swing it starts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720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Courier New"/>
              </a:rPr>
              <a:t>h[i] = amp × sin(i × freq + phase)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READ IT AS A CURVE</a:t>
            </a:r>
          </a:p>
        </p:txBody>
      </p:sp>
      <p:sp>
        <p:nvSpPr>
          <p:cNvPr id="26" name="Oval 25"/>
          <p:cNvSpPr/>
          <p:nvPr/>
        </p:nvSpPr>
        <p:spPr>
          <a:xfrm>
            <a:off x="6938009" y="300608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991253" y="296613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044497" y="292642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097740" y="288722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150984" y="284877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7204227" y="281132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7257471" y="277510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7310714" y="274033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363958" y="270725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17201" y="267606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7470445" y="264695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523688" y="262011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7576932" y="259572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630176" y="257391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683419" y="255485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7736663" y="253863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789906" y="252537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7843150" y="251515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7896393" y="250803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7949637" y="250406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8002880" y="250326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8056124" y="250565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8109367" y="251120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8162611" y="251987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215855" y="253162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8269098" y="254637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8322342" y="256403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8375585" y="258448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428829" y="260760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482072" y="263324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8535316" y="266123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588559" y="269140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8641803" y="272357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695046" y="275752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8748290" y="279304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8801534" y="282991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8854777" y="286789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8908021" y="290674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8961264" y="294623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9014508" y="298609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9067751" y="302608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9120995" y="306594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9174238" y="310543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9227482" y="314428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9280725" y="318226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9333969" y="321913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9387213" y="325465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9440456" y="328860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9493700" y="332077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9546943" y="335094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9600187" y="337893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9653430" y="340457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9706674" y="342769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9759917" y="344814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9813161" y="346580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9866404" y="348055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9919648" y="349230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9972892" y="350097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10026135" y="350652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079379" y="350891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10132622" y="350811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10185866" y="350414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10239109" y="349702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10292353" y="348680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10345596" y="347354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10398840" y="345732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10452083" y="343826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505327" y="341645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10558571" y="339206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10611814" y="336522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10665058" y="333611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10718301" y="330492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10771545" y="327184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10824788" y="323707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10878032" y="320085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10931275" y="316340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10984519" y="312495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11037762" y="308575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11091006" y="304604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11144250" y="300608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6894576" y="296265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7195021" y="2744447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7495467" y="2569457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7795913" y="2472345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8096358" y="2472345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8396804" y="2569457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8697250" y="2744447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8997695" y="296265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298141" y="3180864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598587" y="3355854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9899033" y="345296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10199478" y="345296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10499924" y="3355854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10800370" y="3180864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11100815" y="296265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6812280" y="3977639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Connect the ordered points and the list becomes a curve. That is the same list — read as a shape instead of as positions.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NAME THE THREE VALUES ON YOUR SHEET. P2a ASKS FOR THEM EXPLICITLY.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TWO WAYS TO REPEAT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Worth being precise about, because they look alike and are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EXPLICIT ITERATION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Repeat Zone runs a body once per step, in order, carrying a value forward.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Use it when step n depends on step n−1 — and when you want to watch the loop happen.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PER-ELEMENT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other kind is evaluated across every element at once. There is no order and no carry.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It is faster and it is usually what you want — but nothing on screen tells you a loop happened, which is exactly why we built the explicit one first.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D9E1"/>
                </a:solidFill>
                <a:latin typeface="Arial"/>
              </a:rPr>
              <a:t>NEXT WEEK THIS GETS A NAME. FOR NOW: ONE CARRIES A VALUE FORWARD, THE OTHER DOES NOT.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SAME NINE LINES, A WEEK LATER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Last week you could read the first three lines. Today you can read all of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points = []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j in range(rows):                      # nested loop = grid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offset = spacing / 2 if j % 2 else 0   # odd/even stagger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for i in range(cols):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z = amplitude * sin(i * frequency + phase)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if 3 &lt;= i &lt;= 5:                    # Compare + Switch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   z = z + lift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points.append([i * spacing + offset, j * row_gap, z])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list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index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count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loop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nested loop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conditional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modulo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sine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amplitude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frequency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j % 2 IS THE ODD/EVEN TEST · if IS COMPARE AND SWITCH · sin IS THE MATH NODE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FINISH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session: hexagonal, radial, the conditional and the sine.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Hexagonal array working, with the odd/even test visible and row spacing correct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Radial array working from radius, count and angular step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index range displaced — and you can say which indices and why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Sine driving height, with amplitude, frequency and phase written down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Three of the four chosen for the sheet, including the nested grid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P2a IS THREE COMPARISONS, NOT FOUR UNRELATED PICTURES.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WATCH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U05 — Attractors. Distance, remap, clamp and falloff. Next week the rule stops coming from the index and starts coming from a measurement.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four arrangements, working. We drive them with attractors next class, so bring a file you can build 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CHECK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P1c — print-ready geometry, physical units, orientation and the sliced preview get reviewed today before anything is queued.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FINISH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P1b is due today. P2a is due at the midterm; keep the comparisons moving.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