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D9E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1051560"/>
            <a:ext cx="10972800" cy="25603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1481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CLASS 06  /  SEP 29  /  U05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2125980"/>
            <a:ext cx="10149840" cy="21488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2057400"/>
            <a:ext cx="10149840" cy="21488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932688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00000"/>
                </a:solidFill>
                <a:latin typeface="Arial"/>
              </a:rPr>
              <a:t>ATTRACTORS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" y="4549140"/>
            <a:ext cx="676656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94360" y="4480560"/>
            <a:ext cx="6766560" cy="56692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7795259" y="4549140"/>
            <a:ext cx="301752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4480560"/>
            <a:ext cx="64008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Arial"/>
              </a:rPr>
              <a:t>P2 CONTINUES — THE RULE STOPS COMING FROM THE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4480560"/>
            <a:ext cx="3017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Arial"/>
              </a:rPr>
              <a:t>NOTHING DUE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8704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Arial"/>
              </a:rPr>
              <a:t>P2b ISSUED TODAY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AN ATTRACTOR IS A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For every point: how far is it from something? Use that number to drive a property.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943100"/>
            <a:ext cx="566928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66928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66928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874519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WHOLE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9377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for each point p: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d = distance(p, attractor)</a:t>
            </a:r>
          </a:p>
          <a:p>
            <a:pPr algn="l">
              <a:lnSpc>
                <a:spcPct val="135000"/>
              </a:lnSpc>
            </a:pPr>
            <a:r>
              <a:rPr sz="1500">
                <a:solidFill>
                  <a:srgbClr val="000000"/>
                </a:solidFill>
                <a:latin typeface="Courier New"/>
              </a:rPr>
              <a:t>    size = f(d)</a:t>
            </a:r>
          </a:p>
          <a:p>
            <a:pPr algn="l">
              <a:lnSpc>
                <a:spcPct val="135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That is it. Everything else</a:t>
            </a:r>
          </a:p>
          <a:p>
            <a:pPr algn="l">
              <a:lnSpc>
                <a:spcPct val="135000"/>
              </a:lnSpc>
            </a:pPr>
            <a:r>
              <a:rPr sz="1350">
                <a:solidFill>
                  <a:srgbClr val="000000"/>
                </a:solidFill>
                <a:latin typeface="Courier New"/>
              </a:rPr>
              <a:t>is a choice of 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6540" y="1943100"/>
            <a:ext cx="5029200" cy="30175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537960" y="1874519"/>
            <a:ext cx="5029200" cy="30175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37960" y="1874519"/>
            <a:ext cx="50292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766560" y="1874519"/>
            <a:ext cx="4572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TWO NUMBERS, SAME JOB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606040"/>
            <a:ext cx="44805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INDEX told you where in the sequence.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DISTANCE tells you how far from something outside the collection.</a:t>
            </a:r>
          </a:p>
          <a:p>
            <a:pPr algn="l">
              <a:lnSpc>
                <a:spcPct val="130000"/>
              </a:lnSpc>
            </a:pPr>
            <a:r>
              <a:rPr sz="6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Both are numbers driving a property. That is the only idea this week.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80660"/>
            <a:ext cx="10972800" cy="6400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212080"/>
            <a:ext cx="10972800" cy="6400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21208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LAST WEEK YOU BUILT THE POSITIONS. THIS WEEK YOU MEASURE THEM.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READ THE FIELD BEFORE YOU CHANGE 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Distance is a value at every point. Look at it as grey before it becomes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06040" cy="45720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01   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94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9436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Every point gets a number: how far to the attractor.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186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383279" y="1828800"/>
            <a:ext cx="2606040" cy="45720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383279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02   DISPLAY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5186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3383279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11879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Show those numbers as grey. This is a drawing already.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4078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1828800"/>
            <a:ext cx="2606040" cy="45720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7220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03   REMAP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078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17220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Push that range into the range your property needs.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29700" y="1897380"/>
            <a:ext cx="2606040" cy="4572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961120" y="1828800"/>
            <a:ext cx="2606040" cy="45720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961120" y="1956816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04   DRIVE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29700" y="2446020"/>
            <a:ext cx="2606040" cy="13716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961120" y="2377440"/>
            <a:ext cx="2606040" cy="13716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189720" y="2377440"/>
            <a:ext cx="214884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Only now does the component change. The field was finished first.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069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4B4AC"/>
                </a:solidFill>
                <a:latin typeface="Arial"/>
              </a:rPr>
              <a:t>THE FIELD, READ AS A GREY VALUE ACROSS THE PLANE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370832"/>
            <a:ext cx="1219200" cy="457200"/>
          </a:xfrm>
          <a:prstGeom prst="rect">
            <a:avLst/>
          </a:prstGeom>
          <a:solidFill>
            <a:srgbClr val="FFFDF7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813560" y="4370832"/>
            <a:ext cx="1219200" cy="457200"/>
          </a:xfrm>
          <a:prstGeom prst="rect">
            <a:avLst/>
          </a:prstGeom>
          <a:solidFill>
            <a:srgbClr val="E8E8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3032760" y="4370832"/>
            <a:ext cx="1219200" cy="457200"/>
          </a:xfrm>
          <a:prstGeom prst="rect">
            <a:avLst/>
          </a:prstGeom>
          <a:solidFill>
            <a:srgbClr val="CFCFC6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4251960" y="4370832"/>
            <a:ext cx="1219200" cy="457200"/>
          </a:xfrm>
          <a:prstGeom prst="rect">
            <a:avLst/>
          </a:prstGeom>
          <a:solidFill>
            <a:srgbClr val="B4B4A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5471160" y="4370832"/>
            <a:ext cx="1219200" cy="457200"/>
          </a:xfrm>
          <a:prstGeom prst="rect">
            <a:avLst/>
          </a:prstGeom>
          <a:solidFill>
            <a:srgbClr val="96969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690360" y="4370832"/>
            <a:ext cx="1219200" cy="457200"/>
          </a:xfrm>
          <a:prstGeom prst="rect">
            <a:avLst/>
          </a:prstGeom>
          <a:solidFill>
            <a:srgbClr val="75757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909560" y="4370832"/>
            <a:ext cx="1219200" cy="457200"/>
          </a:xfrm>
          <a:prstGeom prst="rect">
            <a:avLst/>
          </a:prstGeom>
          <a:solidFill>
            <a:srgbClr val="52525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9128760" y="4370832"/>
            <a:ext cx="1219200" cy="457200"/>
          </a:xfrm>
          <a:prstGeom prst="rect">
            <a:avLst/>
          </a:prstGeom>
          <a:solidFill>
            <a:srgbClr val="32323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0347960" y="4370832"/>
            <a:ext cx="1219200" cy="457200"/>
          </a:xfrm>
          <a:prstGeom prst="rect">
            <a:avLst/>
          </a:prstGeom>
          <a:solidFill>
            <a:srgbClr val="1C1C1C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62940" y="5207508"/>
            <a:ext cx="10972800" cy="62179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94360" y="5138928"/>
            <a:ext cx="10972800" cy="62179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138928"/>
            <a:ext cx="1060704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IF THE GREY IMAGE IS NOT ALREADY A GOOD DRAWING, THE COMPONENT WILL NOT SAVE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P2b requires the measured field shown before the geometric result. That order is the assignment.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THREE KINDS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Same arithmetic. What changes is what you measure the distance 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35204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SINGLE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distance(p, 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3692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25112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25112" y="1783080"/>
            <a:ext cx="35204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3712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MULTIPLE 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nearest of several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4444" y="1851660"/>
            <a:ext cx="3520440" cy="31546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055864" y="1783080"/>
            <a:ext cx="3520440" cy="315468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55864" y="1783080"/>
            <a:ext cx="35204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84464" y="1783080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CURVE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4343400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nearest location on a curve</a:t>
            </a:r>
          </a:p>
        </p:txBody>
      </p:sp>
      <p:sp>
        <p:nvSpPr>
          <p:cNvPr id="20" name="Oval 19"/>
          <p:cNvSpPr/>
          <p:nvPr/>
        </p:nvSpPr>
        <p:spPr>
          <a:xfrm>
            <a:off x="1076706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76706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76706" y="293293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76706" y="3152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076706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07670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07670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1387602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1387602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1378708" y="2924044"/>
            <a:ext cx="58935" cy="589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1373857" y="3138649"/>
            <a:ext cx="68637" cy="6863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1376803" y="3361051"/>
            <a:ext cx="62744" cy="627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386771" y="3590475"/>
            <a:ext cx="42809" cy="428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138760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169849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1681978" y="2696962"/>
            <a:ext cx="74187" cy="7418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1666896" y="2901336"/>
            <a:ext cx="104350" cy="1043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Oval 36"/>
          <p:cNvSpPr/>
          <p:nvPr/>
        </p:nvSpPr>
        <p:spPr>
          <a:xfrm>
            <a:off x="1659912" y="3113808"/>
            <a:ext cx="118319" cy="1183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664209" y="3337561"/>
            <a:ext cx="109724" cy="1097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1677693" y="3570501"/>
            <a:ext cx="82757" cy="8275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1696184" y="3808448"/>
            <a:ext cx="45775" cy="457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2001204" y="2485836"/>
            <a:ext cx="57527" cy="575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Oval 41"/>
          <p:cNvSpPr/>
          <p:nvPr/>
        </p:nvSpPr>
        <p:spPr>
          <a:xfrm>
            <a:off x="1978408" y="2682496"/>
            <a:ext cx="103119" cy="1031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957924" y="2881468"/>
            <a:ext cx="144086" cy="1440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946026" y="3089026"/>
            <a:ext cx="167882" cy="1678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1953677" y="3316133"/>
            <a:ext cx="152581" cy="1525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1972960" y="3554872"/>
            <a:ext cx="114015" cy="1140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1995400" y="3796768"/>
            <a:ext cx="69135" cy="691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2307949" y="2481685"/>
            <a:ext cx="65829" cy="6582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2283371" y="2676563"/>
            <a:ext cx="114984" cy="1149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2258797" y="2871445"/>
            <a:ext cx="164133" cy="16413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234294" y="3066398"/>
            <a:ext cx="213139" cy="21313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2252655" y="3304215"/>
            <a:ext cx="176417" cy="1764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2277227" y="3548243"/>
            <a:ext cx="127272" cy="1272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2301804" y="3792276"/>
            <a:ext cx="78118" cy="7811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2622545" y="2485385"/>
            <a:ext cx="58428" cy="584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2599571" y="2681867"/>
            <a:ext cx="104377" cy="1043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578738" y="2880490"/>
            <a:ext cx="146043" cy="1460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2566366" y="3087574"/>
            <a:ext cx="170786" cy="1707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2574362" y="3315026"/>
            <a:ext cx="154794" cy="15479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2594057" y="3554177"/>
            <a:ext cx="115405" cy="11540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2616706" y="3796282"/>
            <a:ext cx="70107" cy="701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2942082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2924553" y="2695953"/>
            <a:ext cx="76205" cy="7620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2909202" y="2900058"/>
            <a:ext cx="106907" cy="10690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2902036" y="3112348"/>
            <a:ext cx="121239" cy="12123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2906450" y="3336218"/>
            <a:ext cx="112410" cy="11241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920203" y="3569427"/>
            <a:ext cx="84904" cy="8490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938926" y="3807606"/>
            <a:ext cx="47459" cy="474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325297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3252978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3242712" y="2922672"/>
            <a:ext cx="61679" cy="616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3237771" y="3137187"/>
            <a:ext cx="71561" cy="715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3240774" y="3359646"/>
            <a:ext cx="65555" cy="6555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3250902" y="3589230"/>
            <a:ext cx="45298" cy="452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325297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3563874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63874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3563874" y="2932938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3563874" y="3152394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3563874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356387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356387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2290572" y="314096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4774907" y="2461475"/>
            <a:ext cx="106249" cy="10624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4765604" y="2671628"/>
            <a:ext cx="124855" cy="12485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4768937" y="2894417"/>
            <a:ext cx="118188" cy="1181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4782664" y="3127600"/>
            <a:ext cx="90735" cy="907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4801192" y="3365584"/>
            <a:ext cx="53679" cy="536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4807458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480745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5070547" y="2446219"/>
            <a:ext cx="136761" cy="1367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5053855" y="2648983"/>
            <a:ext cx="170145" cy="17014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5060840" y="2875424"/>
            <a:ext cx="156175" cy="1561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5081163" y="3115203"/>
            <a:ext cx="115528" cy="1155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5103327" y="3356823"/>
            <a:ext cx="71200" cy="7120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511835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511835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5379391" y="2444167"/>
            <a:ext cx="140864" cy="14086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5359854" y="2644086"/>
            <a:ext cx="179938" cy="17993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5368686" y="2872374"/>
            <a:ext cx="162275" cy="1622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5390538" y="3113682"/>
            <a:ext cx="118570" cy="1185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5413232" y="3355832"/>
            <a:ext cx="73183" cy="7318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5429250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5429250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Oval 104"/>
          <p:cNvSpPr/>
          <p:nvPr/>
        </p:nvSpPr>
        <p:spPr>
          <a:xfrm>
            <a:off x="5703363" y="2457243"/>
            <a:ext cx="114713" cy="1147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Oval 105"/>
          <p:cNvSpPr/>
          <p:nvPr/>
        </p:nvSpPr>
        <p:spPr>
          <a:xfrm>
            <a:off x="5692879" y="2666215"/>
            <a:ext cx="135681" cy="1356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Oval 106"/>
          <p:cNvSpPr/>
          <p:nvPr/>
        </p:nvSpPr>
        <p:spPr>
          <a:xfrm>
            <a:off x="5696709" y="2889501"/>
            <a:ext cx="128021" cy="1280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Oval 107"/>
          <p:cNvSpPr/>
          <p:nvPr/>
        </p:nvSpPr>
        <p:spPr>
          <a:xfrm>
            <a:off x="5711760" y="3124008"/>
            <a:ext cx="97919" cy="979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5731230" y="3362934"/>
            <a:ext cx="58978" cy="589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574014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Oval 110"/>
          <p:cNvSpPr/>
          <p:nvPr/>
        </p:nvSpPr>
        <p:spPr>
          <a:xfrm>
            <a:off x="574014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Oval 111"/>
          <p:cNvSpPr/>
          <p:nvPr/>
        </p:nvSpPr>
        <p:spPr>
          <a:xfrm>
            <a:off x="6033605" y="2476589"/>
            <a:ext cx="76021" cy="7602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6026879" y="2689319"/>
            <a:ext cx="89472" cy="8947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029208" y="2911104"/>
            <a:ext cx="84815" cy="848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6039675" y="3141027"/>
            <a:ext cx="63881" cy="638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6033076" y="3353884"/>
            <a:ext cx="77078" cy="770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6028639" y="3568903"/>
            <a:ext cx="85953" cy="8595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6033076" y="3792796"/>
            <a:ext cx="77078" cy="7707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636193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6361005" y="2712549"/>
            <a:ext cx="43013" cy="4301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6359093" y="2930093"/>
            <a:ext cx="46836" cy="468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6339371" y="3129827"/>
            <a:ext cx="86281" cy="8628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6323241" y="3333153"/>
            <a:ext cx="118541" cy="1185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6316218" y="3545586"/>
            <a:ext cx="132588" cy="13258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6323241" y="3772065"/>
            <a:ext cx="118541" cy="1185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6672834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6672834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6662818" y="2922922"/>
            <a:ext cx="61179" cy="611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6640198" y="3119758"/>
            <a:ext cx="106419" cy="10641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6618346" y="3317362"/>
            <a:ext cx="150123" cy="1501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6603796" y="3522268"/>
            <a:ext cx="179222" cy="17922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6618346" y="3756274"/>
            <a:ext cx="150123" cy="1501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6983730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6983730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6973942" y="2923150"/>
            <a:ext cx="60723" cy="607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6951430" y="3120094"/>
            <a:ext cx="105747" cy="10574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929861" y="3317981"/>
            <a:ext cx="148885" cy="1488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6916064" y="3523640"/>
            <a:ext cx="176479" cy="17647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Oval 138"/>
          <p:cNvSpPr/>
          <p:nvPr/>
        </p:nvSpPr>
        <p:spPr>
          <a:xfrm>
            <a:off x="6929861" y="3756893"/>
            <a:ext cx="148885" cy="14888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7294626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Oval 140"/>
          <p:cNvSpPr/>
          <p:nvPr/>
        </p:nvSpPr>
        <p:spPr>
          <a:xfrm>
            <a:off x="7294626" y="2713482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7292401" y="2930713"/>
            <a:ext cx="45597" cy="4559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7272888" y="3130656"/>
            <a:ext cx="84623" cy="8462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7257074" y="3334298"/>
            <a:ext cx="116251" cy="1162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Oval 144"/>
          <p:cNvSpPr/>
          <p:nvPr/>
        </p:nvSpPr>
        <p:spPr>
          <a:xfrm>
            <a:off x="7250277" y="3546957"/>
            <a:ext cx="129844" cy="1298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7257074" y="3773210"/>
            <a:ext cx="116251" cy="11625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5271516" y="272948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Oval 147"/>
          <p:cNvSpPr/>
          <p:nvPr/>
        </p:nvSpPr>
        <p:spPr>
          <a:xfrm>
            <a:off x="6780276" y="3552444"/>
            <a:ext cx="118872" cy="11887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Oval 148"/>
          <p:cNvSpPr/>
          <p:nvPr/>
        </p:nvSpPr>
        <p:spPr>
          <a:xfrm>
            <a:off x="8545068" y="323240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Oval 149"/>
          <p:cNvSpPr/>
          <p:nvPr/>
        </p:nvSpPr>
        <p:spPr>
          <a:xfrm>
            <a:off x="8583499" y="320660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8621930" y="318085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8660361" y="315520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8698793" y="312972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Oval 153"/>
          <p:cNvSpPr/>
          <p:nvPr/>
        </p:nvSpPr>
        <p:spPr>
          <a:xfrm>
            <a:off x="8737224" y="310445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Oval 154"/>
          <p:cNvSpPr/>
          <p:nvPr/>
        </p:nvSpPr>
        <p:spPr>
          <a:xfrm>
            <a:off x="8775655" y="307944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Oval 155"/>
          <p:cNvSpPr/>
          <p:nvPr/>
        </p:nvSpPr>
        <p:spPr>
          <a:xfrm>
            <a:off x="8814087" y="305476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8852518" y="30304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8890949" y="30065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Oval 158"/>
          <p:cNvSpPr/>
          <p:nvPr/>
        </p:nvSpPr>
        <p:spPr>
          <a:xfrm>
            <a:off x="8929381" y="298310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Oval 159"/>
          <p:cNvSpPr/>
          <p:nvPr/>
        </p:nvSpPr>
        <p:spPr>
          <a:xfrm>
            <a:off x="8967812" y="29601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9006243" y="29378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9044674" y="291609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Oval 162"/>
          <p:cNvSpPr/>
          <p:nvPr/>
        </p:nvSpPr>
        <p:spPr>
          <a:xfrm>
            <a:off x="9083106" y="28950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Oval 163"/>
          <p:cNvSpPr/>
          <p:nvPr/>
        </p:nvSpPr>
        <p:spPr>
          <a:xfrm>
            <a:off x="9121537" y="2874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9159968" y="285497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Oval 165"/>
          <p:cNvSpPr/>
          <p:nvPr/>
        </p:nvSpPr>
        <p:spPr>
          <a:xfrm>
            <a:off x="9198400" y="283611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9236831" y="2818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Oval 167"/>
          <p:cNvSpPr/>
          <p:nvPr/>
        </p:nvSpPr>
        <p:spPr>
          <a:xfrm>
            <a:off x="9275262" y="28008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9313694" y="2784601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Oval 169"/>
          <p:cNvSpPr/>
          <p:nvPr/>
        </p:nvSpPr>
        <p:spPr>
          <a:xfrm>
            <a:off x="9352125" y="27692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Oval 170"/>
          <p:cNvSpPr/>
          <p:nvPr/>
        </p:nvSpPr>
        <p:spPr>
          <a:xfrm>
            <a:off x="9390556" y="27548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Oval 171"/>
          <p:cNvSpPr/>
          <p:nvPr/>
        </p:nvSpPr>
        <p:spPr>
          <a:xfrm>
            <a:off x="9428988" y="27414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9467419" y="27290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Oval 173"/>
          <p:cNvSpPr/>
          <p:nvPr/>
        </p:nvSpPr>
        <p:spPr>
          <a:xfrm>
            <a:off x="9505850" y="27176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Oval 174"/>
          <p:cNvSpPr/>
          <p:nvPr/>
        </p:nvSpPr>
        <p:spPr>
          <a:xfrm>
            <a:off x="9544281" y="270740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Oval 175"/>
          <p:cNvSpPr/>
          <p:nvPr/>
        </p:nvSpPr>
        <p:spPr>
          <a:xfrm>
            <a:off x="9582713" y="26982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Oval 176"/>
          <p:cNvSpPr/>
          <p:nvPr/>
        </p:nvSpPr>
        <p:spPr>
          <a:xfrm>
            <a:off x="9621144" y="26901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Oval 177"/>
          <p:cNvSpPr/>
          <p:nvPr/>
        </p:nvSpPr>
        <p:spPr>
          <a:xfrm>
            <a:off x="9659575" y="26831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Oval 178"/>
          <p:cNvSpPr/>
          <p:nvPr/>
        </p:nvSpPr>
        <p:spPr>
          <a:xfrm>
            <a:off x="9698007" y="26773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Oval 179"/>
          <p:cNvSpPr/>
          <p:nvPr/>
        </p:nvSpPr>
        <p:spPr>
          <a:xfrm>
            <a:off x="9736438" y="267265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Oval 180"/>
          <p:cNvSpPr/>
          <p:nvPr/>
        </p:nvSpPr>
        <p:spPr>
          <a:xfrm>
            <a:off x="9774869" y="266914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Oval 181"/>
          <p:cNvSpPr/>
          <p:nvPr/>
        </p:nvSpPr>
        <p:spPr>
          <a:xfrm>
            <a:off x="9813301" y="266679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Oval 182"/>
          <p:cNvSpPr/>
          <p:nvPr/>
        </p:nvSpPr>
        <p:spPr>
          <a:xfrm>
            <a:off x="9851732" y="2665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Oval 183"/>
          <p:cNvSpPr/>
          <p:nvPr/>
        </p:nvSpPr>
        <p:spPr>
          <a:xfrm>
            <a:off x="9890163" y="2665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Oval 184"/>
          <p:cNvSpPr/>
          <p:nvPr/>
        </p:nvSpPr>
        <p:spPr>
          <a:xfrm>
            <a:off x="9928594" y="266679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Oval 185"/>
          <p:cNvSpPr/>
          <p:nvPr/>
        </p:nvSpPr>
        <p:spPr>
          <a:xfrm>
            <a:off x="9967026" y="266914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Oval 186"/>
          <p:cNvSpPr/>
          <p:nvPr/>
        </p:nvSpPr>
        <p:spPr>
          <a:xfrm>
            <a:off x="10005457" y="267265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Oval 187"/>
          <p:cNvSpPr/>
          <p:nvPr/>
        </p:nvSpPr>
        <p:spPr>
          <a:xfrm>
            <a:off x="10043888" y="267733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Oval 188"/>
          <p:cNvSpPr/>
          <p:nvPr/>
        </p:nvSpPr>
        <p:spPr>
          <a:xfrm>
            <a:off x="10082320" y="268315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Oval 189"/>
          <p:cNvSpPr/>
          <p:nvPr/>
        </p:nvSpPr>
        <p:spPr>
          <a:xfrm>
            <a:off x="10120751" y="26901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Oval 190"/>
          <p:cNvSpPr/>
          <p:nvPr/>
        </p:nvSpPr>
        <p:spPr>
          <a:xfrm>
            <a:off x="10159182" y="26982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Oval 191"/>
          <p:cNvSpPr/>
          <p:nvPr/>
        </p:nvSpPr>
        <p:spPr>
          <a:xfrm>
            <a:off x="10197614" y="270740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Oval 192"/>
          <p:cNvSpPr/>
          <p:nvPr/>
        </p:nvSpPr>
        <p:spPr>
          <a:xfrm>
            <a:off x="10236045" y="271768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Oval 193"/>
          <p:cNvSpPr/>
          <p:nvPr/>
        </p:nvSpPr>
        <p:spPr>
          <a:xfrm>
            <a:off x="10274476" y="27290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Oval 194"/>
          <p:cNvSpPr/>
          <p:nvPr/>
        </p:nvSpPr>
        <p:spPr>
          <a:xfrm>
            <a:off x="10312908" y="274142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Oval 195"/>
          <p:cNvSpPr/>
          <p:nvPr/>
        </p:nvSpPr>
        <p:spPr>
          <a:xfrm>
            <a:off x="10351339" y="27548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Oval 196"/>
          <p:cNvSpPr/>
          <p:nvPr/>
        </p:nvSpPr>
        <p:spPr>
          <a:xfrm>
            <a:off x="10389770" y="27692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Oval 197"/>
          <p:cNvSpPr/>
          <p:nvPr/>
        </p:nvSpPr>
        <p:spPr>
          <a:xfrm>
            <a:off x="10428201" y="2784601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Oval 198"/>
          <p:cNvSpPr/>
          <p:nvPr/>
        </p:nvSpPr>
        <p:spPr>
          <a:xfrm>
            <a:off x="10466633" y="28008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Oval 199"/>
          <p:cNvSpPr/>
          <p:nvPr/>
        </p:nvSpPr>
        <p:spPr>
          <a:xfrm>
            <a:off x="10505064" y="281807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Oval 200"/>
          <p:cNvSpPr/>
          <p:nvPr/>
        </p:nvSpPr>
        <p:spPr>
          <a:xfrm>
            <a:off x="10543495" y="283611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Oval 201"/>
          <p:cNvSpPr/>
          <p:nvPr/>
        </p:nvSpPr>
        <p:spPr>
          <a:xfrm>
            <a:off x="10581927" y="285497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Oval 202"/>
          <p:cNvSpPr/>
          <p:nvPr/>
        </p:nvSpPr>
        <p:spPr>
          <a:xfrm>
            <a:off x="10620358" y="2874622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Oval 203"/>
          <p:cNvSpPr/>
          <p:nvPr/>
        </p:nvSpPr>
        <p:spPr>
          <a:xfrm>
            <a:off x="10658789" y="289500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Oval 204"/>
          <p:cNvSpPr/>
          <p:nvPr/>
        </p:nvSpPr>
        <p:spPr>
          <a:xfrm>
            <a:off x="10697221" y="2916095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Oval 205"/>
          <p:cNvSpPr/>
          <p:nvPr/>
        </p:nvSpPr>
        <p:spPr>
          <a:xfrm>
            <a:off x="10735652" y="293783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Oval 206"/>
          <p:cNvSpPr/>
          <p:nvPr/>
        </p:nvSpPr>
        <p:spPr>
          <a:xfrm>
            <a:off x="10774083" y="296018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Oval 207"/>
          <p:cNvSpPr/>
          <p:nvPr/>
        </p:nvSpPr>
        <p:spPr>
          <a:xfrm>
            <a:off x="10812514" y="2983106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Oval 208"/>
          <p:cNvSpPr/>
          <p:nvPr/>
        </p:nvSpPr>
        <p:spPr>
          <a:xfrm>
            <a:off x="10850946" y="3006539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Oval 209"/>
          <p:cNvSpPr/>
          <p:nvPr/>
        </p:nvSpPr>
        <p:spPr>
          <a:xfrm>
            <a:off x="10889377" y="303044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Oval 210"/>
          <p:cNvSpPr/>
          <p:nvPr/>
        </p:nvSpPr>
        <p:spPr>
          <a:xfrm>
            <a:off x="10927808" y="305476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Oval 211"/>
          <p:cNvSpPr/>
          <p:nvPr/>
        </p:nvSpPr>
        <p:spPr>
          <a:xfrm>
            <a:off x="10966240" y="3079448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Oval 212"/>
          <p:cNvSpPr/>
          <p:nvPr/>
        </p:nvSpPr>
        <p:spPr>
          <a:xfrm>
            <a:off x="11004671" y="310445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Oval 213"/>
          <p:cNvSpPr/>
          <p:nvPr/>
        </p:nvSpPr>
        <p:spPr>
          <a:xfrm>
            <a:off x="11043102" y="3129724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Oval 214"/>
          <p:cNvSpPr/>
          <p:nvPr/>
        </p:nvSpPr>
        <p:spPr>
          <a:xfrm>
            <a:off x="11081534" y="3155207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Oval 215"/>
          <p:cNvSpPr/>
          <p:nvPr/>
        </p:nvSpPr>
        <p:spPr>
          <a:xfrm>
            <a:off x="11119965" y="318085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Oval 216"/>
          <p:cNvSpPr/>
          <p:nvPr/>
        </p:nvSpPr>
        <p:spPr>
          <a:xfrm>
            <a:off x="11158396" y="3206600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Oval 217"/>
          <p:cNvSpPr/>
          <p:nvPr/>
        </p:nvSpPr>
        <p:spPr>
          <a:xfrm>
            <a:off x="11196828" y="3232403"/>
            <a:ext cx="27432" cy="27432"/>
          </a:xfrm>
          <a:prstGeom prst="ellipse">
            <a:avLst/>
          </a:prstGeom>
          <a:solidFill>
            <a:srgbClr val="FF4D8D"/>
          </a:solidFill>
          <a:ln w="6350">
            <a:solidFill>
              <a:srgbClr val="FF4D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Oval 218"/>
          <p:cNvSpPr/>
          <p:nvPr/>
        </p:nvSpPr>
        <p:spPr>
          <a:xfrm>
            <a:off x="8538210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Oval 219"/>
          <p:cNvSpPr/>
          <p:nvPr/>
        </p:nvSpPr>
        <p:spPr>
          <a:xfrm>
            <a:off x="8524768" y="2700040"/>
            <a:ext cx="68031" cy="6803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Oval 220"/>
          <p:cNvSpPr/>
          <p:nvPr/>
        </p:nvSpPr>
        <p:spPr>
          <a:xfrm>
            <a:off x="8496239" y="2890967"/>
            <a:ext cx="125089" cy="12508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Oval 221"/>
          <p:cNvSpPr/>
          <p:nvPr/>
        </p:nvSpPr>
        <p:spPr>
          <a:xfrm>
            <a:off x="8467709" y="3081893"/>
            <a:ext cx="182148" cy="182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Oval 222"/>
          <p:cNvSpPr/>
          <p:nvPr/>
        </p:nvSpPr>
        <p:spPr>
          <a:xfrm>
            <a:off x="8477219" y="3310859"/>
            <a:ext cx="163128" cy="1631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Oval 223"/>
          <p:cNvSpPr/>
          <p:nvPr/>
        </p:nvSpPr>
        <p:spPr>
          <a:xfrm>
            <a:off x="8505748" y="3558844"/>
            <a:ext cx="106070" cy="10607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Oval 224"/>
          <p:cNvSpPr/>
          <p:nvPr/>
        </p:nvSpPr>
        <p:spPr>
          <a:xfrm>
            <a:off x="8534278" y="3806830"/>
            <a:ext cx="49011" cy="4901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Oval 225"/>
          <p:cNvSpPr/>
          <p:nvPr/>
        </p:nvSpPr>
        <p:spPr>
          <a:xfrm>
            <a:off x="8837657" y="2482577"/>
            <a:ext cx="64045" cy="6404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Oval 226"/>
          <p:cNvSpPr/>
          <p:nvPr/>
        </p:nvSpPr>
        <p:spPr>
          <a:xfrm>
            <a:off x="8809128" y="2673504"/>
            <a:ext cx="121103" cy="121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Oval 227"/>
          <p:cNvSpPr/>
          <p:nvPr/>
        </p:nvSpPr>
        <p:spPr>
          <a:xfrm>
            <a:off x="8780598" y="2864430"/>
            <a:ext cx="178162" cy="17816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Oval 228"/>
          <p:cNvSpPr/>
          <p:nvPr/>
        </p:nvSpPr>
        <p:spPr>
          <a:xfrm>
            <a:off x="8786122" y="3089410"/>
            <a:ext cx="167115" cy="16711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Oval 229"/>
          <p:cNvSpPr/>
          <p:nvPr/>
        </p:nvSpPr>
        <p:spPr>
          <a:xfrm>
            <a:off x="8814651" y="3337395"/>
            <a:ext cx="110056" cy="1100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Oval 230"/>
          <p:cNvSpPr/>
          <p:nvPr/>
        </p:nvSpPr>
        <p:spPr>
          <a:xfrm>
            <a:off x="8843180" y="3585380"/>
            <a:ext cx="52998" cy="529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Oval 231"/>
          <p:cNvSpPr/>
          <p:nvPr/>
        </p:nvSpPr>
        <p:spPr>
          <a:xfrm>
            <a:off x="884910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Oval 232"/>
          <p:cNvSpPr/>
          <p:nvPr/>
        </p:nvSpPr>
        <p:spPr>
          <a:xfrm>
            <a:off x="9125576" y="2459600"/>
            <a:ext cx="109998" cy="10999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Oval 233"/>
          <p:cNvSpPr/>
          <p:nvPr/>
        </p:nvSpPr>
        <p:spPr>
          <a:xfrm>
            <a:off x="9097047" y="2650527"/>
            <a:ext cx="167056" cy="16705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Oval 234"/>
          <p:cNvSpPr/>
          <p:nvPr/>
        </p:nvSpPr>
        <p:spPr>
          <a:xfrm>
            <a:off x="9091465" y="2864401"/>
            <a:ext cx="178220" cy="1782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Oval 235"/>
          <p:cNvSpPr/>
          <p:nvPr/>
        </p:nvSpPr>
        <p:spPr>
          <a:xfrm>
            <a:off x="9119995" y="3112387"/>
            <a:ext cx="121161" cy="12116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Oval 236"/>
          <p:cNvSpPr/>
          <p:nvPr/>
        </p:nvSpPr>
        <p:spPr>
          <a:xfrm>
            <a:off x="9148524" y="3360372"/>
            <a:ext cx="64103" cy="641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Oval 237"/>
          <p:cNvSpPr/>
          <p:nvPr/>
        </p:nvSpPr>
        <p:spPr>
          <a:xfrm>
            <a:off x="9160002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Oval 238"/>
          <p:cNvSpPr/>
          <p:nvPr/>
        </p:nvSpPr>
        <p:spPr>
          <a:xfrm>
            <a:off x="916000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Oval 239"/>
          <p:cNvSpPr/>
          <p:nvPr/>
        </p:nvSpPr>
        <p:spPr>
          <a:xfrm>
            <a:off x="9420137" y="2443265"/>
            <a:ext cx="142668" cy="1426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Oval 240"/>
          <p:cNvSpPr/>
          <p:nvPr/>
        </p:nvSpPr>
        <p:spPr>
          <a:xfrm>
            <a:off x="9391608" y="2634192"/>
            <a:ext cx="199727" cy="19972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Oval 241"/>
          <p:cNvSpPr/>
          <p:nvPr/>
        </p:nvSpPr>
        <p:spPr>
          <a:xfrm>
            <a:off x="9418696" y="2880736"/>
            <a:ext cx="145550" cy="1455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Oval 242"/>
          <p:cNvSpPr/>
          <p:nvPr/>
        </p:nvSpPr>
        <p:spPr>
          <a:xfrm>
            <a:off x="9447226" y="3128722"/>
            <a:ext cx="88491" cy="8849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Oval 243"/>
          <p:cNvSpPr/>
          <p:nvPr/>
        </p:nvSpPr>
        <p:spPr>
          <a:xfrm>
            <a:off x="9470898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Oval 244"/>
          <p:cNvSpPr/>
          <p:nvPr/>
        </p:nvSpPr>
        <p:spPr>
          <a:xfrm>
            <a:off x="9470898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Oval 245"/>
          <p:cNvSpPr/>
          <p:nvPr/>
        </p:nvSpPr>
        <p:spPr>
          <a:xfrm>
            <a:off x="947089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Oval 246"/>
          <p:cNvSpPr/>
          <p:nvPr/>
        </p:nvSpPr>
        <p:spPr>
          <a:xfrm>
            <a:off x="9723530" y="2435762"/>
            <a:ext cx="157674" cy="15767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Oval 247"/>
          <p:cNvSpPr/>
          <p:nvPr/>
        </p:nvSpPr>
        <p:spPr>
          <a:xfrm>
            <a:off x="9708566" y="2640254"/>
            <a:ext cx="187603" cy="18760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Oval 248"/>
          <p:cNvSpPr/>
          <p:nvPr/>
        </p:nvSpPr>
        <p:spPr>
          <a:xfrm>
            <a:off x="9737095" y="2888239"/>
            <a:ext cx="130544" cy="13054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Oval 249"/>
          <p:cNvSpPr/>
          <p:nvPr/>
        </p:nvSpPr>
        <p:spPr>
          <a:xfrm>
            <a:off x="9765624" y="3136224"/>
            <a:ext cx="73486" cy="7348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Oval 250"/>
          <p:cNvSpPr/>
          <p:nvPr/>
        </p:nvSpPr>
        <p:spPr>
          <a:xfrm>
            <a:off x="9781794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Oval 251"/>
          <p:cNvSpPr/>
          <p:nvPr/>
        </p:nvSpPr>
        <p:spPr>
          <a:xfrm>
            <a:off x="9781794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Oval 252"/>
          <p:cNvSpPr/>
          <p:nvPr/>
        </p:nvSpPr>
        <p:spPr>
          <a:xfrm>
            <a:off x="9781794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Oval 253"/>
          <p:cNvSpPr/>
          <p:nvPr/>
        </p:nvSpPr>
        <p:spPr>
          <a:xfrm>
            <a:off x="10036763" y="2438099"/>
            <a:ext cx="153001" cy="15300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Oval 254"/>
          <p:cNvSpPr/>
          <p:nvPr/>
        </p:nvSpPr>
        <p:spPr>
          <a:xfrm>
            <a:off x="10017125" y="2637917"/>
            <a:ext cx="192276" cy="19227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Oval 255"/>
          <p:cNvSpPr/>
          <p:nvPr/>
        </p:nvSpPr>
        <p:spPr>
          <a:xfrm>
            <a:off x="10045655" y="2885903"/>
            <a:ext cx="135217" cy="1352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Oval 256"/>
          <p:cNvSpPr/>
          <p:nvPr/>
        </p:nvSpPr>
        <p:spPr>
          <a:xfrm>
            <a:off x="10074184" y="3133888"/>
            <a:ext cx="78159" cy="7815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Oval 257"/>
          <p:cNvSpPr/>
          <p:nvPr/>
        </p:nvSpPr>
        <p:spPr>
          <a:xfrm>
            <a:off x="10092690" y="3371850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Oval 258"/>
          <p:cNvSpPr/>
          <p:nvPr/>
        </p:nvSpPr>
        <p:spPr>
          <a:xfrm>
            <a:off x="10092690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Oval 259"/>
          <p:cNvSpPr/>
          <p:nvPr/>
        </p:nvSpPr>
        <p:spPr>
          <a:xfrm>
            <a:off x="10092690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Oval 260"/>
          <p:cNvSpPr/>
          <p:nvPr/>
        </p:nvSpPr>
        <p:spPr>
          <a:xfrm>
            <a:off x="10359521" y="2449961"/>
            <a:ext cx="129277" cy="12927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Oval 261"/>
          <p:cNvSpPr/>
          <p:nvPr/>
        </p:nvSpPr>
        <p:spPr>
          <a:xfrm>
            <a:off x="10330992" y="2640888"/>
            <a:ext cx="186335" cy="18633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Oval 262"/>
          <p:cNvSpPr/>
          <p:nvPr/>
        </p:nvSpPr>
        <p:spPr>
          <a:xfrm>
            <a:off x="10344689" y="2874041"/>
            <a:ext cx="158941" cy="158941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Oval 263"/>
          <p:cNvSpPr/>
          <p:nvPr/>
        </p:nvSpPr>
        <p:spPr>
          <a:xfrm>
            <a:off x="10373218" y="3122026"/>
            <a:ext cx="101882" cy="10188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Oval 264"/>
          <p:cNvSpPr/>
          <p:nvPr/>
        </p:nvSpPr>
        <p:spPr>
          <a:xfrm>
            <a:off x="10401747" y="3370011"/>
            <a:ext cx="44824" cy="4482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Oval 265"/>
          <p:cNvSpPr/>
          <p:nvPr/>
        </p:nvSpPr>
        <p:spPr>
          <a:xfrm>
            <a:off x="10403586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Oval 266"/>
          <p:cNvSpPr/>
          <p:nvPr/>
        </p:nvSpPr>
        <p:spPr>
          <a:xfrm>
            <a:off x="10403586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Oval 267"/>
          <p:cNvSpPr/>
          <p:nvPr/>
        </p:nvSpPr>
        <p:spPr>
          <a:xfrm>
            <a:off x="10690213" y="2469757"/>
            <a:ext cx="89684" cy="8968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Oval 268"/>
          <p:cNvSpPr/>
          <p:nvPr/>
        </p:nvSpPr>
        <p:spPr>
          <a:xfrm>
            <a:off x="10661684" y="2660684"/>
            <a:ext cx="146743" cy="146743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Oval 269"/>
          <p:cNvSpPr/>
          <p:nvPr/>
        </p:nvSpPr>
        <p:spPr>
          <a:xfrm>
            <a:off x="10635788" y="2854244"/>
            <a:ext cx="198534" cy="198534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Oval 270"/>
          <p:cNvSpPr/>
          <p:nvPr/>
        </p:nvSpPr>
        <p:spPr>
          <a:xfrm>
            <a:off x="10664318" y="3102230"/>
            <a:ext cx="141475" cy="141475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Oval 271"/>
          <p:cNvSpPr/>
          <p:nvPr/>
        </p:nvSpPr>
        <p:spPr>
          <a:xfrm>
            <a:off x="10692847" y="3350215"/>
            <a:ext cx="84417" cy="84417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Oval 272"/>
          <p:cNvSpPr/>
          <p:nvPr/>
        </p:nvSpPr>
        <p:spPr>
          <a:xfrm>
            <a:off x="10714482" y="359130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Oval 273"/>
          <p:cNvSpPr/>
          <p:nvPr/>
        </p:nvSpPr>
        <p:spPr>
          <a:xfrm>
            <a:off x="10714482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Oval 274"/>
          <p:cNvSpPr/>
          <p:nvPr/>
        </p:nvSpPr>
        <p:spPr>
          <a:xfrm>
            <a:off x="11025378" y="2494026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Oval 275"/>
          <p:cNvSpPr/>
          <p:nvPr/>
        </p:nvSpPr>
        <p:spPr>
          <a:xfrm>
            <a:off x="10997655" y="2685759"/>
            <a:ext cx="96592" cy="965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Oval 276"/>
          <p:cNvSpPr/>
          <p:nvPr/>
        </p:nvSpPr>
        <p:spPr>
          <a:xfrm>
            <a:off x="10969126" y="2876686"/>
            <a:ext cx="153650" cy="15365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Oval 277"/>
          <p:cNvSpPr/>
          <p:nvPr/>
        </p:nvSpPr>
        <p:spPr>
          <a:xfrm>
            <a:off x="10950138" y="3077154"/>
            <a:ext cx="191626" cy="19162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Oval 278"/>
          <p:cNvSpPr/>
          <p:nvPr/>
        </p:nvSpPr>
        <p:spPr>
          <a:xfrm>
            <a:off x="10978667" y="3325139"/>
            <a:ext cx="134568" cy="13456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Oval 279"/>
          <p:cNvSpPr/>
          <p:nvPr/>
        </p:nvSpPr>
        <p:spPr>
          <a:xfrm>
            <a:off x="11007197" y="3573125"/>
            <a:ext cx="77509" cy="77509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Oval 280"/>
          <p:cNvSpPr/>
          <p:nvPr/>
        </p:nvSpPr>
        <p:spPr>
          <a:xfrm>
            <a:off x="11025378" y="3810761"/>
            <a:ext cx="41148" cy="4114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TextBox 283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Whatever you measure to, the output is the same thing: one number per point. The attractor is not an object — it is a question you ask of every point.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REMAP, AND SAY WHERE YOU CLAMPED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Distance comes out in model units. Your property needs a specific range.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548640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0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548640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87" b="1">
                <a:solidFill>
                  <a:srgbClr val="000000"/>
                </a:solidFill>
                <a:latin typeface="Arial"/>
              </a:rPr>
              <a:t>THE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68880"/>
            <a:ext cx="48463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t   = (d − dmin) / (dmax − dmin)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out = outmin + t × (outmax − outmin)</a:t>
            </a:r>
          </a:p>
          <a:p>
            <a:pPr algn="l">
              <a:lnSpc>
                <a:spcPct val="140000"/>
              </a:lnSpc>
            </a:pPr>
            <a:r>
              <a:rPr sz="800">
                <a:solidFill>
                  <a:srgbClr val="000000"/>
                </a:solidFill>
                <a:latin typeface="Courier New"/>
              </a:rPr>
              <a:t> 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d    0 … 8.4 units      ← source</a:t>
            </a:r>
          </a:p>
          <a:p>
            <a:pPr algn="l">
              <a:lnSpc>
                <a:spcPct val="140000"/>
              </a:lnSpc>
            </a:pPr>
            <a:r>
              <a:rPr sz="1300">
                <a:solidFill>
                  <a:srgbClr val="000000"/>
                </a:solidFill>
                <a:latin typeface="Courier New"/>
              </a:rPr>
              <a:t>out  0.1 … 1.0 radius   ←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69380" y="1851660"/>
            <a:ext cx="5166360" cy="31089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166360" cy="31089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16636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29400" y="1783080"/>
            <a:ext cx="4709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SUBTRACT. DIVIDE. MULTIPLY. ADD.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68880"/>
            <a:ext cx="46177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Nothing here is new — it is the arithmetic from Week 2 applied to a distance instead of a coordinate.</a:t>
            </a:r>
          </a:p>
          <a:p>
            <a:pPr algn="l">
              <a:lnSpc>
                <a:spcPct val="130000"/>
              </a:lnSpc>
            </a:pPr>
            <a:r>
              <a:rPr sz="70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Clamping is a decision, not a safety net. Decide what happens past the end of your range and say 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" y="523494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94360" y="5166360"/>
            <a:ext cx="10972800" cy="65836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07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1">
                <a:solidFill>
                  <a:srgbClr val="000000"/>
                </a:solidFill>
                <a:latin typeface="Arial"/>
              </a:rPr>
              <a:t>P2b REQUIRES SOURCE AND TARGET RANGES, CLAMPING AND FALLOFF STATED ON THE SHEET.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FALLOFF IS THE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f is your decision. It is where the graphic quality actually comes from.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260604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LINEAR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v = d</a:t>
            </a:r>
          </a:p>
        </p:txBody>
      </p:sp>
      <p:sp>
        <p:nvSpPr>
          <p:cNvPr id="10" name="Oval 9"/>
          <p:cNvSpPr/>
          <p:nvPr/>
        </p:nvSpPr>
        <p:spPr>
          <a:xfrm>
            <a:off x="86182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942289" y="288264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1022756" y="291007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1103223" y="293751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183690" y="296494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1264158" y="299237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344625" y="301980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425092" y="304723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505559" y="30746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1586026" y="310210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666494" y="312953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746961" y="315696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827428" y="318439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907895" y="321183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1988362" y="323926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2068830" y="326669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2149297" y="329412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2229764" y="332155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2310231" y="334899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2390698" y="337642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2471166" y="340385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551633" y="34312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2632100" y="34587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2712567" y="34861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2793034" y="351358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87350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039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Even change all the way across.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5186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3383279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3383279" y="1783080"/>
            <a:ext cx="2606040" cy="502920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611879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INVERSE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8444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v = 1 / d</a:t>
            </a:r>
          </a:p>
        </p:txBody>
      </p:sp>
      <p:sp>
        <p:nvSpPr>
          <p:cNvPr id="44" name="Oval 43"/>
          <p:cNvSpPr/>
          <p:nvPr/>
        </p:nvSpPr>
        <p:spPr>
          <a:xfrm>
            <a:off x="3650741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3731209" y="298794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Oval 45"/>
          <p:cNvSpPr/>
          <p:nvPr/>
        </p:nvSpPr>
        <p:spPr>
          <a:xfrm>
            <a:off x="3811676" y="307763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3892143" y="314229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Oval 47"/>
          <p:cNvSpPr/>
          <p:nvPr/>
        </p:nvSpPr>
        <p:spPr>
          <a:xfrm>
            <a:off x="3972610" y="319111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4053078" y="3229286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Oval 49"/>
          <p:cNvSpPr/>
          <p:nvPr/>
        </p:nvSpPr>
        <p:spPr>
          <a:xfrm>
            <a:off x="4133545" y="325994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4214012" y="32851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Oval 51"/>
          <p:cNvSpPr/>
          <p:nvPr/>
        </p:nvSpPr>
        <p:spPr>
          <a:xfrm>
            <a:off x="4294479" y="33061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4374946" y="332398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4455414" y="333930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4535881" y="335260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Oval 55"/>
          <p:cNvSpPr/>
          <p:nvPr/>
        </p:nvSpPr>
        <p:spPr>
          <a:xfrm>
            <a:off x="4616348" y="3364261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4696815" y="33745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4777282" y="338372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4857750" y="339192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4938217" y="339931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5018684" y="3406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Oval 61"/>
          <p:cNvSpPr/>
          <p:nvPr/>
        </p:nvSpPr>
        <p:spPr>
          <a:xfrm>
            <a:off x="5099151" y="341210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5179618" y="34176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Oval 63"/>
          <p:cNvSpPr/>
          <p:nvPr/>
        </p:nvSpPr>
        <p:spPr>
          <a:xfrm>
            <a:off x="5260086" y="342277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5340553" y="34274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Oval 65"/>
          <p:cNvSpPr/>
          <p:nvPr/>
        </p:nvSpPr>
        <p:spPr>
          <a:xfrm>
            <a:off x="5421020" y="343181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5501487" y="343582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5581954" y="343956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5662422" y="344304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3639311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1879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1879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Sharp near the attractor, flat far off.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078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17220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172200" y="1783080"/>
            <a:ext cx="2606040" cy="5029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640080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SMOOTH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7336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eased</a:t>
            </a:r>
          </a:p>
        </p:txBody>
      </p:sp>
      <p:sp>
        <p:nvSpPr>
          <p:cNvPr id="78" name="Oval 77"/>
          <p:cNvSpPr/>
          <p:nvPr/>
        </p:nvSpPr>
        <p:spPr>
          <a:xfrm>
            <a:off x="643966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Oval 78"/>
          <p:cNvSpPr/>
          <p:nvPr/>
        </p:nvSpPr>
        <p:spPr>
          <a:xfrm>
            <a:off x="6520129" y="285841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Oval 79"/>
          <p:cNvSpPr/>
          <p:nvPr/>
        </p:nvSpPr>
        <p:spPr>
          <a:xfrm>
            <a:off x="6600596" y="286767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6681063" y="288247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761530" y="290226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Oval 82"/>
          <p:cNvSpPr/>
          <p:nvPr/>
        </p:nvSpPr>
        <p:spPr>
          <a:xfrm>
            <a:off x="6841998" y="292653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6922465" y="295475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Oval 84"/>
          <p:cNvSpPr/>
          <p:nvPr/>
        </p:nvSpPr>
        <p:spPr>
          <a:xfrm>
            <a:off x="7002932" y="298640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7083399" y="302094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163866" y="305785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7244334" y="3096615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7324801" y="313668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7405268" y="317755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Oval 90"/>
          <p:cNvSpPr/>
          <p:nvPr/>
        </p:nvSpPr>
        <p:spPr>
          <a:xfrm>
            <a:off x="7485735" y="321867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Oval 91"/>
          <p:cNvSpPr/>
          <p:nvPr/>
        </p:nvSpPr>
        <p:spPr>
          <a:xfrm>
            <a:off x="7566202" y="325953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Oval 92"/>
          <p:cNvSpPr/>
          <p:nvPr/>
        </p:nvSpPr>
        <p:spPr>
          <a:xfrm>
            <a:off x="7646670" y="329961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7727137" y="33383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7807604" y="337528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Oval 95"/>
          <p:cNvSpPr/>
          <p:nvPr/>
        </p:nvSpPr>
        <p:spPr>
          <a:xfrm>
            <a:off x="7888071" y="3409823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Oval 96"/>
          <p:cNvSpPr/>
          <p:nvPr/>
        </p:nvSpPr>
        <p:spPr>
          <a:xfrm>
            <a:off x="7968538" y="344146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Oval 97"/>
          <p:cNvSpPr/>
          <p:nvPr/>
        </p:nvSpPr>
        <p:spPr>
          <a:xfrm>
            <a:off x="8049006" y="3469690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8129473" y="3493962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Oval 99"/>
          <p:cNvSpPr/>
          <p:nvPr/>
        </p:nvSpPr>
        <p:spPr>
          <a:xfrm>
            <a:off x="8209940" y="3513757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Oval 100"/>
          <p:cNvSpPr/>
          <p:nvPr/>
        </p:nvSpPr>
        <p:spPr>
          <a:xfrm>
            <a:off x="8290407" y="3528548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Oval 101"/>
          <p:cNvSpPr/>
          <p:nvPr/>
        </p:nvSpPr>
        <p:spPr>
          <a:xfrm>
            <a:off x="8370874" y="3537809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Oval 102"/>
          <p:cNvSpPr/>
          <p:nvPr/>
        </p:nvSpPr>
        <p:spPr>
          <a:xfrm>
            <a:off x="845134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642823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Soft at both ends. Usually the best-looking.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029700" y="1851660"/>
            <a:ext cx="2606040" cy="32004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8961120" y="1783080"/>
            <a:ext cx="2606040" cy="320040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8961120" y="1783080"/>
            <a:ext cx="2606040" cy="5029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9189720" y="1783080"/>
            <a:ext cx="21488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 b="1">
                <a:solidFill>
                  <a:srgbClr val="000000"/>
                </a:solidFill>
                <a:latin typeface="Arial"/>
              </a:rPr>
              <a:t>THRESHOLD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162288" y="2450592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>
                <a:solidFill>
                  <a:srgbClr val="000000"/>
                </a:solidFill>
                <a:latin typeface="Courier New"/>
              </a:rPr>
              <a:t>on / off at a cut</a:t>
            </a:r>
          </a:p>
        </p:txBody>
      </p:sp>
      <p:sp>
        <p:nvSpPr>
          <p:cNvPr id="112" name="Oval 111"/>
          <p:cNvSpPr/>
          <p:nvPr/>
        </p:nvSpPr>
        <p:spPr>
          <a:xfrm>
            <a:off x="922858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9309049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9389516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Oval 114"/>
          <p:cNvSpPr/>
          <p:nvPr/>
        </p:nvSpPr>
        <p:spPr>
          <a:xfrm>
            <a:off x="9469983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9550450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Oval 116"/>
          <p:cNvSpPr/>
          <p:nvPr/>
        </p:nvSpPr>
        <p:spPr>
          <a:xfrm>
            <a:off x="9630918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9711385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9791852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Oval 119"/>
          <p:cNvSpPr/>
          <p:nvPr/>
        </p:nvSpPr>
        <p:spPr>
          <a:xfrm>
            <a:off x="9872319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Oval 120"/>
          <p:cNvSpPr/>
          <p:nvPr/>
        </p:nvSpPr>
        <p:spPr>
          <a:xfrm>
            <a:off x="9952786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10033254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10113721" y="28552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Oval 123"/>
          <p:cNvSpPr/>
          <p:nvPr/>
        </p:nvSpPr>
        <p:spPr>
          <a:xfrm>
            <a:off x="10194188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Oval 124"/>
          <p:cNvSpPr/>
          <p:nvPr/>
        </p:nvSpPr>
        <p:spPr>
          <a:xfrm>
            <a:off x="10274655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Oval 125"/>
          <p:cNvSpPr/>
          <p:nvPr/>
        </p:nvSpPr>
        <p:spPr>
          <a:xfrm>
            <a:off x="1035512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435590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10516057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Oval 128"/>
          <p:cNvSpPr/>
          <p:nvPr/>
        </p:nvSpPr>
        <p:spPr>
          <a:xfrm>
            <a:off x="10596524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10676991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Oval 130"/>
          <p:cNvSpPr/>
          <p:nvPr/>
        </p:nvSpPr>
        <p:spPr>
          <a:xfrm>
            <a:off x="10757458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10837926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10918393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10998860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Oval 134"/>
          <p:cNvSpPr/>
          <p:nvPr/>
        </p:nvSpPr>
        <p:spPr>
          <a:xfrm>
            <a:off x="11079327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Oval 135"/>
          <p:cNvSpPr/>
          <p:nvPr/>
        </p:nvSpPr>
        <p:spPr>
          <a:xfrm>
            <a:off x="11159794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11240262" y="3541014"/>
            <a:ext cx="50292" cy="5029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9217152" y="3675887"/>
            <a:ext cx="2103120" cy="0"/>
          </a:xfrm>
          <a:prstGeom prst="rect">
            <a:avLst/>
          </a:prstGeom>
          <a:noFill/>
          <a:ln w="12700">
            <a:solidFill>
              <a:srgbClr val="B4B4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189720" y="379476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>
                <a:solidFill>
                  <a:srgbClr val="6B6B6B"/>
                </a:solidFill>
                <a:latin typeface="Calibri"/>
              </a:rPr>
              <a:t>distance →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189720" y="4160520"/>
            <a:ext cx="2148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No gradient at all. Two populations.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62940" y="5326380"/>
            <a:ext cx="1097280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94360" y="5257800"/>
            <a:ext cx="10972800" cy="658368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914400" y="5257800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>
                <a:solidFill>
                  <a:srgbClr val="000000"/>
                </a:solidFill>
                <a:latin typeface="Arial"/>
              </a:rPr>
              <a:t>Two students with the same attractor and different falloff produce completely different images. This is a design decision, not a setting.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FFFDF7"/>
                </a:solidFill>
                <a:latin typeface="Arial"/>
              </a:rPr>
              <a:t>THE SAME THING, WRITTEN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B4B4AC"/>
                </a:solidFill>
                <a:latin typeface="Calibri"/>
              </a:rPr>
              <a:t>Measure, remap, clamp, shape the falloff, then place. In that order.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97380"/>
            <a:ext cx="685800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685800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86968" y="2011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for p in points: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28600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d = distance(p, attractor)             # or min(...) over several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5603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t = (d - d_min) / (d_max - d_min)      # remap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3463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t = clamp(t, 0,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10895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t = falloff(t)                         # linear, inverse, smooth, step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38327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size = out_min + t * (out_max - out_min)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57599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>
                <a:solidFill>
                  <a:srgbClr val="000000"/>
                </a:solidFill>
                <a:latin typeface="Courier New"/>
              </a:rPr>
              <a:t>    place(component, p, scale=size)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03819" y="1897380"/>
            <a:ext cx="3931920" cy="379476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7635240" y="1828800"/>
            <a:ext cx="3931920" cy="379476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7635240" y="1828800"/>
            <a:ext cx="3931920" cy="5029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863840" y="18288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000000"/>
                </a:solidFill>
                <a:latin typeface="Arial"/>
              </a:rPr>
              <a:t>WHAT IT MAPS ONTO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51460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distance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external condition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field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remap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clamp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falloff</a:t>
            </a:r>
          </a:p>
          <a:p>
            <a:pPr algn="l">
              <a:lnSpc>
                <a:spcPct val="14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nearest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" y="5966460"/>
            <a:ext cx="1097280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94360" y="5897880"/>
            <a:ext cx="10972800" cy="56692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</a:rPr>
              <a:t>LINE 2 IS THE ONLY LINE THAT CHANGES BETWEEN THE THREE ATTRACTOR TYPES.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2940" y="635508"/>
            <a:ext cx="2194560" cy="38404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94360" y="566928"/>
            <a:ext cx="2194560" cy="384048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ISSUED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52144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>
                <a:solidFill>
                  <a:srgbClr val="FFFDF7"/>
                </a:solidFill>
                <a:latin typeface="Arial"/>
              </a:rPr>
              <a:t>P2b — ATTRACTOR FIELD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10512"/>
            <a:ext cx="10972800" cy="0"/>
          </a:xfrm>
          <a:prstGeom prst="rect">
            <a:avLst/>
          </a:prstGeom>
          <a:noFill/>
          <a:ln w="50800">
            <a:solidFill>
              <a:srgbClr val="FFFD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29384"/>
            <a:ext cx="10972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FE500"/>
                </a:solidFill>
                <a:latin typeface="Arial"/>
              </a:rPr>
              <a:t>DUE WEEK 9 — Oct 20   /   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3774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FFFDF7"/>
                </a:solidFill>
                <a:latin typeface="Calibri"/>
              </a:rPr>
              <a:t>Hold the component and the arrangement constant, and change only what you measure against. The comparison is the assignment: three attractor types, one field logic, and an architectural intention you can defend.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94360" y="3611880"/>
            <a:ext cx="3517391" cy="41148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94360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COMPARE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2940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0392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THREE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Single point, multiple points, and a curve — same array.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90644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4322064" y="3611880"/>
            <a:ext cx="3517391" cy="41148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22064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SHOW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0644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22064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78096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FIELD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8096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The measured field, then the geometric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8347" y="3680460"/>
            <a:ext cx="3517391" cy="41148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49767" y="3611880"/>
            <a:ext cx="3517391" cy="41148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49767" y="3717036"/>
            <a:ext cx="35173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ARGUE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18347" y="4183380"/>
            <a:ext cx="3517391" cy="146304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49767" y="4114800"/>
            <a:ext cx="3517391" cy="146304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05799" y="4279392"/>
            <a:ext cx="3005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ONE INTENTION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5799" y="4663440"/>
            <a:ext cx="30053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>
                <a:solidFill>
                  <a:srgbClr val="000000"/>
                </a:solidFill>
                <a:latin typeface="Calibri"/>
              </a:rPr>
              <a:t>A spatial or architectural reason, demonstrated live.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REQUIREMENTS — P2b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61872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>
                <a:solidFill>
                  <a:srgbClr val="6B6B6B"/>
                </a:solidFill>
                <a:latin typeface="Calibri"/>
              </a:rPr>
              <a:t>Visual quality 35% · computational understanding 25% · technical execution 20% · experimentation 10% · requirements and identity 10%.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1851660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777240" cy="960120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162556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4499" y="1851660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45919" y="1783080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920240" y="1874519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On up to two sheets, compare single-point, multiple-point and curve attractors using the same component and arrangement.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2958084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889504"/>
            <a:ext cx="777240" cy="960120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268980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4499" y="2958084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645919" y="2889504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920240" y="2980944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Show the measured field before the geometric result. State source and target ranges, clamping and falloff.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4064508"/>
            <a:ext cx="777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995928"/>
            <a:ext cx="777240" cy="960120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4375404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00000"/>
                </a:solidFill>
                <a:latin typeface="Arial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14499" y="4064508"/>
            <a:ext cx="9921240" cy="96012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645919" y="3995928"/>
            <a:ext cx="9921240" cy="960120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920240" y="4087368"/>
            <a:ext cx="9372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000000"/>
                </a:solidFill>
                <a:latin typeface="Calibri"/>
              </a:rPr>
              <a:t>Develop one spatial or architectural intention and demonstrate a live change to the attractor or mapping.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5225796"/>
            <a:ext cx="10972800" cy="512064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5157216"/>
            <a:ext cx="10972800" cy="512064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14400" y="5157216"/>
            <a:ext cx="1033272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000000"/>
                </a:solidFill>
                <a:latin typeface="Arial"/>
              </a:rPr>
              <a:t>CHECKPOINT · WEEK 8 — Oct 13 — Bring the grayscale field and a first geometric response to midterm as work in progress.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F0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NOW — YOUR FIRST FIELD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>
                <a:solidFill>
                  <a:srgbClr val="000000"/>
                </a:solidFill>
                <a:latin typeface="Calibri"/>
              </a:rPr>
              <a:t>Rest of the session: measure, look, remap, and only then attach geometry.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62940" y="2354580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94360" y="2286000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9051" y="2354580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490472" y="2286000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764792" y="2286000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Distance to one point measured across your existing array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" y="3067812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594360" y="2999232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9051" y="3067812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490472" y="2999232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64792" y="2999232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field displayed as grey, on its own, before anything changes shape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" y="3781044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94360" y="3712464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94360" y="3895344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9051" y="3781044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1490472" y="3712464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764792" y="3712464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Source and target ranges written down — actual numbers, not guesses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" y="4494276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94360" y="4425696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94360" y="4608576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559051" y="4494276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490472" y="4425696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764792" y="4425696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One property driven: size, height or rotation. Just one, for now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" y="5207508"/>
            <a:ext cx="621792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94360" y="5138928"/>
            <a:ext cx="621792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94360" y="5321808"/>
            <a:ext cx="6217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000000"/>
                </a:solidFill>
                <a:latin typeface="Arial"/>
              </a:rPr>
              <a:t>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9051" y="5207508"/>
            <a:ext cx="10076688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490472" y="5138928"/>
            <a:ext cx="10076688" cy="566928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764792" y="5138928"/>
            <a:ext cx="95280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50">
                <a:solidFill>
                  <a:srgbClr val="000000"/>
                </a:solidFill>
                <a:latin typeface="Calibri"/>
              </a:rPr>
              <a:t>The attractor moved, and you can explain the response without looking at the graph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940" y="6012180"/>
            <a:ext cx="8412480" cy="56692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solidFill>
            <a:srgbClr val="0000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5943600"/>
            <a:ext cx="84124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C6F035"/>
                </a:solidFill>
                <a:latin typeface="Arial"/>
              </a:rPr>
              <a:t>MOVE THE ATTRACTOR. IF YOU CANNOT PREDICT WHAT HAPPENS, STOP AND READ THE FIELD.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566928"/>
            <a:ext cx="10972800" cy="0"/>
          </a:xfrm>
          <a:prstGeom prst="rect">
            <a:avLst/>
          </a:prstGeom>
          <a:noFill/>
          <a:ln w="508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300" b="1">
                <a:solidFill>
                  <a:srgbClr val="000000"/>
                </a:solidFill>
                <a:latin typeface="Arial"/>
              </a:rPr>
              <a:t>BEFORE NEXT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62940" y="1851660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94360" y="1783080"/>
            <a:ext cx="1508760" cy="804672"/>
          </a:xfrm>
          <a:prstGeom prst="rect">
            <a:avLst/>
          </a:prstGeom>
          <a:solidFill>
            <a:srgbClr val="00D9E1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94360" y="2084831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WATCH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446020" y="1851660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2377440" y="1783080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651760" y="1901952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U06 — Tessellation and lattices. The same measurement-and-remap logic, applied to a connected system instead of loose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2940" y="2912364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94360" y="2843784"/>
            <a:ext cx="1508760" cy="804672"/>
          </a:xfrm>
          <a:prstGeom prst="rect">
            <a:avLst/>
          </a:prstGeom>
          <a:solidFill>
            <a:srgbClr val="C6F035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4360" y="3145536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6020" y="2912364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377440" y="2843784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51760" y="2962656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P2b is due Week 9. Get all three attractor types running on the same array — the comparison is what is being graded.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2940" y="3973068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94360" y="3904487"/>
            <a:ext cx="1508760" cy="804672"/>
          </a:xfrm>
          <a:prstGeom prst="rect">
            <a:avLst/>
          </a:prstGeom>
          <a:solidFill>
            <a:srgbClr val="FFE500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4360" y="420624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BRING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46020" y="3973068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77440" y="3904487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651760" y="4023359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To the midterm: the grayscale field and a first geometric response, as work in progress.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" y="5033772"/>
            <a:ext cx="150876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594360" y="4965192"/>
            <a:ext cx="1508760" cy="804672"/>
          </a:xfrm>
          <a:prstGeom prst="rect">
            <a:avLst/>
          </a:prstGeom>
          <a:solidFill>
            <a:srgbClr val="FF4D8D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4360" y="5266944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Arial"/>
              </a:rPr>
              <a:t>FINISH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46020" y="5033772"/>
            <a:ext cx="9189720" cy="80467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377440" y="4965192"/>
            <a:ext cx="9189720" cy="804672"/>
          </a:xfrm>
          <a:prstGeom prst="rect">
            <a:avLst/>
          </a:prstGeom>
          <a:solidFill>
            <a:srgbClr val="FFFDF7"/>
          </a:solidFill>
          <a:ln w="349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2651760" y="5084064"/>
            <a:ext cx="8641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>
                <a:solidFill>
                  <a:srgbClr val="000000"/>
                </a:solidFill>
                <a:latin typeface="Calibri"/>
              </a:rPr>
              <a:t>P2a and P1c are both due at the midterm, along with the GSM. Do not leave the print to the last week — the queue is shared.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