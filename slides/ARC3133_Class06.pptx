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6F0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1051560"/>
            <a:ext cx="10972800" cy="2560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148132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Arial"/>
              </a:rPr>
              <a:t>CLASS 06  /  SEP 29  /  U04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2125980"/>
            <a:ext cx="10149840" cy="2148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2057400"/>
            <a:ext cx="10149840" cy="2148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93268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ARRAYS 1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LINE · GRID · CUBE · CURVE</a:t>
            </a:r>
          </a:p>
        </p:txBody>
      </p:sp>
      <p:sp>
        <p:nvSpPr>
          <p:cNvPr id="7" name="Rectangle 6"/>
          <p:cNvSpPr/>
          <p:nvPr/>
        </p:nvSpPr>
        <p:spPr>
          <a:xfrm>
            <a:off x="662940" y="4549140"/>
            <a:ext cx="676656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94360" y="4480560"/>
            <a:ext cx="6766560" cy="56692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795259" y="4549140"/>
            <a:ext cx="301752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4480560"/>
            <a:ext cx="6400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ONE MODULE, MANY POSITIONS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2.1 DUE TONIGHT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704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rial"/>
              </a:rPr>
              <a:t>3.2 ISSUED TODAY  /  2.2 PRINT CHECK TODAY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AN ARRAY IS A LIST OF POSITIONS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Not a command that duplicates things. A list you compute, then place your module at.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1206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1206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1206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46634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INDEX  →  POSITION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4572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D7263D"/>
                </a:solidFill>
                <a:latin typeface="Courier New"/>
              </a:rPr>
              <a:t>i</a:t>
            </a:r>
            <a:r>
              <a:rPr sz="1350">
                <a:solidFill>
                  <a:srgbClr val="000000"/>
                </a:solidFill>
                <a:latin typeface="Courier New"/>
              </a:rPr>
              <a:t> = 0   →   p = start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43784"/>
            <a:ext cx="4572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D7263D"/>
                </a:solidFill>
                <a:latin typeface="Courier New"/>
              </a:rPr>
              <a:t>i</a:t>
            </a:r>
            <a:r>
              <a:rPr sz="1350">
                <a:solidFill>
                  <a:srgbClr val="000000"/>
                </a:solidFill>
                <a:latin typeface="Courier New"/>
              </a:rPr>
              <a:t> = 1   →   p = start + step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72968"/>
            <a:ext cx="4572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D7263D"/>
                </a:solidFill>
                <a:latin typeface="Courier New"/>
              </a:rPr>
              <a:t>i</a:t>
            </a:r>
            <a:r>
              <a:rPr sz="1350">
                <a:solidFill>
                  <a:srgbClr val="000000"/>
                </a:solidFill>
                <a:latin typeface="Courier New"/>
              </a:rPr>
              <a:t> = 2   →   p = start + 2 × step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502151"/>
            <a:ext cx="4572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31335"/>
            <a:ext cx="4572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000000"/>
                </a:solidFill>
                <a:latin typeface="Courier New"/>
              </a:rPr>
              <a:t>p[</a:t>
            </a:r>
            <a:r>
              <a:rPr sz="1350" b="1">
                <a:solidFill>
                  <a:srgbClr val="D7263D"/>
                </a:solidFill>
                <a:latin typeface="Courier New"/>
              </a:rPr>
              <a:t>i</a:t>
            </a:r>
            <a:r>
              <a:rPr sz="1350">
                <a:solidFill>
                  <a:srgbClr val="000000"/>
                </a:solidFill>
                <a:latin typeface="Courier New"/>
              </a:rPr>
              <a:t>] = start + </a:t>
            </a:r>
            <a:r>
              <a:rPr sz="1350" b="1">
                <a:solidFill>
                  <a:srgbClr val="D7263D"/>
                </a:solidFill>
                <a:latin typeface="Courier New"/>
              </a:rPr>
              <a:t>i</a:t>
            </a:r>
            <a:r>
              <a:rPr sz="1350">
                <a:solidFill>
                  <a:srgbClr val="000000"/>
                </a:solidFill>
                <a:latin typeface="Courier New"/>
              </a:rPr>
              <a:t> × step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03620" y="1851660"/>
            <a:ext cx="553212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035040" y="1783080"/>
            <a:ext cx="553212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035040" y="1783080"/>
            <a:ext cx="553212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63640" y="1783080"/>
            <a:ext cx="5074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THREE THINGS TO READ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487168"/>
            <a:ext cx="49834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THE LIST — what is in the collection.</a:t>
            </a:r>
          </a:p>
          <a:p>
            <a:pPr algn="l">
              <a:lnSpc>
                <a:spcPct val="135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THE COUNT — how many there are.</a:t>
            </a:r>
          </a:p>
          <a:p>
            <a:pPr algn="l">
              <a:lnSpc>
                <a:spcPct val="135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THE INDEX — where each one sits in the order.</a:t>
            </a:r>
          </a:p>
          <a:p>
            <a:pPr algn="l">
              <a:lnSpc>
                <a:spcPct val="135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5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The index is the only new idea. It is a counter that tells each copy how far along it is — and therefore where it goes.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2940" y="532638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94360" y="5257800"/>
            <a:ext cx="10972800" cy="65836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4400" y="5257800"/>
            <a:ext cx="103327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Your 3.1 module is the component. On Sheet 1 it does not change — only where it goes.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TODAY: ONE LOOP, FOUR 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Class file Arrays Part 1, scenes 01–04. Colour is position: X red, Y green, Z blue.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2571750" cy="43891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2571750" cy="438912"/>
          </a:xfrm>
          <a:prstGeom prst="rect">
            <a:avLst/>
          </a:prstGeom>
          <a:solidFill>
            <a:srgbClr val="FF3352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947672"/>
            <a:ext cx="257175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01  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381" y="2395728"/>
            <a:ext cx="2553706" cy="1607343"/>
          </a:xfrm>
          <a:prstGeom prst="rect">
            <a:avLst/>
          </a:prstGeom>
          <a:noFill/>
          <a:ln w="34925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c01_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381" y="2395728"/>
            <a:ext cx="2553706" cy="160734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4094511"/>
            <a:ext cx="257175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>
                <a:solidFill>
                  <a:srgbClr val="B4B4AC"/>
                </a:solidFill>
                <a:latin typeface="Courier New"/>
              </a:rPr>
              <a:t>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63290" y="1897380"/>
            <a:ext cx="2571750" cy="43891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394710" y="1828800"/>
            <a:ext cx="2571750" cy="438912"/>
          </a:xfrm>
          <a:prstGeom prst="rect">
            <a:avLst/>
          </a:prstGeom>
          <a:solidFill>
            <a:srgbClr val="8BDC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394710" y="1947672"/>
            <a:ext cx="257175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02  GRID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94710" y="2457319"/>
            <a:ext cx="2571750" cy="1484160"/>
          </a:xfrm>
          <a:prstGeom prst="rect">
            <a:avLst/>
          </a:prstGeom>
          <a:noFill/>
          <a:ln w="34925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c02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4710" y="2457319"/>
            <a:ext cx="2571750" cy="14841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94710" y="4094511"/>
            <a:ext cx="257175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>
                <a:solidFill>
                  <a:srgbClr val="B4B4AC"/>
                </a:solidFill>
                <a:latin typeface="Courier New"/>
              </a:rPr>
              <a:t>i, j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7380"/>
            <a:ext cx="2571750" cy="43891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95060" y="1828800"/>
            <a:ext cx="2571750" cy="438912"/>
          </a:xfrm>
          <a:prstGeom prst="rect">
            <a:avLst/>
          </a:prstGeom>
          <a:solidFill>
            <a:srgbClr val="2890FF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195060" y="1947672"/>
            <a:ext cx="257175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03  CUBE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5697" y="2395728"/>
            <a:ext cx="2570474" cy="1607343"/>
          </a:xfrm>
          <a:prstGeom prst="rect">
            <a:avLst/>
          </a:prstGeom>
          <a:noFill/>
          <a:ln w="34925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c03_cube_n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5697" y="2395728"/>
            <a:ext cx="2570474" cy="160734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195060" y="4094511"/>
            <a:ext cx="257175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>
                <a:solidFill>
                  <a:srgbClr val="B4B4AC"/>
                </a:solidFill>
                <a:latin typeface="Courier New"/>
              </a:rPr>
              <a:t>i, j, 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63990" y="1897380"/>
            <a:ext cx="2571750" cy="43891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995410" y="1828800"/>
            <a:ext cx="2571750" cy="43891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995410" y="1947672"/>
            <a:ext cx="257175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04  CURVE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02585" y="2395728"/>
            <a:ext cx="2557398" cy="1607343"/>
          </a:xfrm>
          <a:prstGeom prst="rect">
            <a:avLst/>
          </a:prstGeom>
          <a:noFill/>
          <a:ln w="34925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c04_curve_modu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2585" y="2395728"/>
            <a:ext cx="2557398" cy="160734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995410" y="4094511"/>
            <a:ext cx="257175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>
                <a:solidFill>
                  <a:srgbClr val="B4B4AC"/>
                </a:solidFill>
                <a:latin typeface="Courier New"/>
              </a:rPr>
              <a:t>i along a curve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45720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FFFDF7"/>
                </a:solidFill>
                <a:latin typeface="Calibri"/>
              </a:rPr>
              <a:t>Line, grid and cube add one counter at a time. The curve changes where a position comes from. No rules yet: every copy is treated the same. Patterns start next week.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2940" y="564642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594360" y="5577840"/>
            <a:ext cx="10972800" cy="6400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EVERY STEP IS THE SAME LOOP. ONLY THE COUNTERS AND THE SOURCE OF POSITION CHANGE.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THE LOOP, WRITTEN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Scene 01 — Linear loop, as a script you can read aloud.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6492240" cy="3246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6492240" cy="3246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1965960"/>
            <a:ext cx="6126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count   =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95144"/>
            <a:ext cx="6126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spacing = 0.8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24327"/>
            <a:ext cx="6126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points  = []                  </a:t>
            </a:r>
            <a:r>
              <a:rPr sz="1250">
                <a:solidFill>
                  <a:srgbClr val="6B6B6B"/>
                </a:solidFill>
                <a:latin typeface="Courier New"/>
              </a:rPr>
              <a:t># the list starts empty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53511"/>
            <a:ext cx="6126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82695"/>
            <a:ext cx="6126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for </a:t>
            </a:r>
            <a:r>
              <a:rPr sz="1250" b="1">
                <a:solidFill>
                  <a:srgbClr val="D7263D"/>
                </a:solidFill>
                <a:latin typeface="Courier New"/>
              </a:rPr>
              <a:t>i</a:t>
            </a:r>
            <a:r>
              <a:rPr sz="1250">
                <a:solidFill>
                  <a:srgbClr val="000000"/>
                </a:solidFill>
                <a:latin typeface="Courier New"/>
              </a:rPr>
              <a:t> in range(count):        </a:t>
            </a:r>
            <a:r>
              <a:rPr sz="1250">
                <a:solidFill>
                  <a:srgbClr val="6B6B6B"/>
                </a:solidFill>
                <a:latin typeface="Courier New"/>
              </a:rPr>
              <a:t># i = 0, 1, 2 …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11879"/>
            <a:ext cx="6126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x = </a:t>
            </a:r>
            <a:r>
              <a:rPr sz="1250" b="1">
                <a:solidFill>
                  <a:srgbClr val="D7263D"/>
                </a:solidFill>
                <a:latin typeface="Courier New"/>
              </a:rPr>
              <a:t>i</a:t>
            </a:r>
            <a:r>
              <a:rPr sz="1250">
                <a:solidFill>
                  <a:srgbClr val="000000"/>
                </a:solidFill>
                <a:latin typeface="Courier New"/>
              </a:rPr>
              <a:t> * spacing           </a:t>
            </a:r>
            <a:r>
              <a:rPr sz="1250">
                <a:solidFill>
                  <a:srgbClr val="6B6B6B"/>
                </a:solidFill>
                <a:latin typeface="Courier New"/>
              </a:rPr>
              <a:t># position from the index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941063"/>
            <a:ext cx="6126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points.append((x, 0, 0))  </a:t>
            </a:r>
            <a:r>
              <a:rPr sz="1250">
                <a:solidFill>
                  <a:srgbClr val="6B6B6B"/>
                </a:solidFill>
                <a:latin typeface="Courier New"/>
              </a:rPr>
              <a:t># one more item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70248"/>
            <a:ext cx="6126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599432"/>
            <a:ext cx="6126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place(module, points)         </a:t>
            </a:r>
            <a:r>
              <a:rPr sz="1250">
                <a:solidFill>
                  <a:srgbClr val="6B6B6B"/>
                </a:solidFill>
                <a:latin typeface="Courier New"/>
              </a:rPr>
              <a:t># a copy at every point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83779" y="1851660"/>
            <a:ext cx="4251960" cy="3246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315200" y="1783080"/>
            <a:ext cx="4251960" cy="3246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7315200" y="1783080"/>
            <a:ext cx="4251960" cy="502920"/>
          </a:xfrm>
          <a:prstGeom prst="rect">
            <a:avLst/>
          </a:prstGeom>
          <a:solidFill>
            <a:srgbClr val="FF3352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543800" y="1783080"/>
            <a:ext cx="37947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READ IT AS A SENTENCE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2468880"/>
            <a:ext cx="3749039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  <a:latin typeface="Calibri"/>
              </a:rPr>
              <a:t>Start with an empty list.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  <a:latin typeface="Calibri"/>
              </a:rPr>
              <a:t>Count times: work out x from i, and add that point to the list. Each pass, i is one bigger.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  <a:latin typeface="Calibri"/>
              </a:rPr>
              <a:t>Then put the module at every point.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1663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>
                <a:solidFill>
                  <a:srgbClr val="6B6B6B"/>
                </a:solidFill>
                <a:latin typeface="Calibri"/>
              </a:rPr>
              <a:t>In the class file:  for → Repeat Zone   ·   i → Iteration   ·   append → Join Geometry   ·   place → Instance on Points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783580"/>
            <a:ext cx="10972800" cy="6035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5715000"/>
            <a:ext cx="10972800" cy="603504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77240" y="5715000"/>
            <a:ext cx="10607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i IS THE INDEX. EVERYTHING ELSE IN THE LOOP IS ARITHMETIC ON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READ IT SMALL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The loop, and a spreadsheet open beside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48640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48640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48640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WHAT THE LOOP 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48463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Everything inside the loop runs once per pass. Whatever goes in comes back with one more item, once for every step of the count.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69380" y="1851660"/>
            <a:ext cx="516636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0" y="1783080"/>
            <a:ext cx="516636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400800" y="1783080"/>
            <a:ext cx="516636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29400" y="1783080"/>
            <a:ext cx="4709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HOW TO CHECK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468880"/>
            <a:ext cx="46177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Set Count to 3 and read the spreadsheet: three rows, three positions.</a:t>
            </a:r>
          </a:p>
          <a:p>
            <a:pPr algn="l">
              <a:lnSpc>
                <a:spcPct val="130000"/>
              </a:lnSpc>
            </a:pPr>
            <a:r>
              <a:rPr sz="6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Then 4. Then 5. Say the last X before you look.</a:t>
            </a:r>
          </a:p>
          <a:p>
            <a:pPr algn="l">
              <a:lnSpc>
                <a:spcPct val="130000"/>
              </a:lnSpc>
            </a:pPr>
            <a:r>
              <a:rPr sz="6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A list you cannot inspect is a list you cannot debug. There is no minimum count.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23494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166360"/>
            <a:ext cx="10972800" cy="6400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516636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BUILD IT AT A COUNT YOU CAN COUNT. SCALE UP ONLY ONCE IT IS RIGHT.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01 ·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Scene 01 — Linear loop · Count 8 · Spacing 0.8</a:t>
            </a:r>
          </a:p>
        </p:txBody>
      </p:sp>
      <p:sp>
        <p:nvSpPr>
          <p:cNvPr id="5" name="Rectangle 4"/>
          <p:cNvSpPr/>
          <p:nvPr/>
        </p:nvSpPr>
        <p:spPr>
          <a:xfrm>
            <a:off x="616814" y="1783080"/>
            <a:ext cx="6355891" cy="4000500"/>
          </a:xfrm>
          <a:prstGeom prst="rect">
            <a:avLst/>
          </a:prstGeom>
          <a:noFill/>
          <a:ln w="34925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c01_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814" y="1783080"/>
            <a:ext cx="6355891" cy="4000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83779" y="1851660"/>
            <a:ext cx="4251960" cy="40005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315200" y="1783080"/>
            <a:ext cx="4251960" cy="40005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315200" y="1783080"/>
            <a:ext cx="4251960" cy="502920"/>
          </a:xfrm>
          <a:prstGeom prst="rect">
            <a:avLst/>
          </a:prstGeom>
          <a:solidFill>
            <a:srgbClr val="FF3352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543800" y="1783080"/>
            <a:ext cx="37947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READ THE ROW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2468880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D7263D"/>
                </a:solidFill>
                <a:latin typeface="Courier New"/>
              </a:rPr>
              <a:t>i</a:t>
            </a:r>
            <a:r>
              <a:rPr sz="1300">
                <a:solidFill>
                  <a:srgbClr val="000000"/>
                </a:solidFill>
                <a:latin typeface="Courier New"/>
              </a:rPr>
              <a:t>   0    1    2   …  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798064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  <a:latin typeface="Courier New"/>
              </a:rPr>
              <a:t>x   0.0  0.8  1.6 …   5.6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3127248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3456432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  <a:latin typeface="Courier New"/>
              </a:rPr>
              <a:t>count =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785615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  <a:latin typeface="Courier New"/>
              </a:rPr>
              <a:t>last  = 7 × 0.8 = 5.6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4251960"/>
            <a:ext cx="374903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Colour is position: X → red. The darkest copy is i = 0, the brightest i = 7.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6103620"/>
            <a:ext cx="10972800" cy="53035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6035040"/>
            <a:ext cx="10972800" cy="53035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7240" y="6035040"/>
            <a:ext cx="106070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THE LAST COPY IS AT 7 × SPACING, NOT 8. COUNTING STARTS AT ZERO.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02 · GRID — A LOOP INSIDE A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Scene 02 — Nested grid · Rows 5 · Columns 5 · Spacing 0.8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936375"/>
            <a:ext cx="6400800" cy="3693909"/>
          </a:xfrm>
          <a:prstGeom prst="rect">
            <a:avLst/>
          </a:prstGeom>
          <a:noFill/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c02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936375"/>
            <a:ext cx="6400800" cy="369390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83779" y="1851660"/>
            <a:ext cx="4251960" cy="40005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315200" y="1783080"/>
            <a:ext cx="4251960" cy="40005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315200" y="1783080"/>
            <a:ext cx="4251960" cy="502920"/>
          </a:xfrm>
          <a:prstGeom prst="rect">
            <a:avLst/>
          </a:prstGeom>
          <a:solidFill>
            <a:srgbClr val="8BDC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543800" y="1783080"/>
            <a:ext cx="37947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TWO COUNTERS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2468880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for </a:t>
            </a:r>
            <a:r>
              <a:rPr sz="1250" b="1">
                <a:solidFill>
                  <a:srgbClr val="3E8E00"/>
                </a:solidFill>
                <a:latin typeface="Courier New"/>
              </a:rPr>
              <a:t>j</a:t>
            </a:r>
            <a:r>
              <a:rPr sz="1250">
                <a:solidFill>
                  <a:srgbClr val="000000"/>
                </a:solidFill>
                <a:latin typeface="Courier New"/>
              </a:rPr>
              <a:t> in range(rows):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798064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for </a:t>
            </a:r>
            <a:r>
              <a:rPr sz="1250" b="1">
                <a:solidFill>
                  <a:srgbClr val="D7263D"/>
                </a:solidFill>
                <a:latin typeface="Courier New"/>
              </a:rPr>
              <a:t>i</a:t>
            </a:r>
            <a:r>
              <a:rPr sz="1250">
                <a:solidFill>
                  <a:srgbClr val="000000"/>
                </a:solidFill>
                <a:latin typeface="Courier New"/>
              </a:rPr>
              <a:t> in range(columns):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3127248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place(</a:t>
            </a:r>
            <a:r>
              <a:rPr sz="1250" b="1">
                <a:solidFill>
                  <a:srgbClr val="D7263D"/>
                </a:solidFill>
                <a:latin typeface="Courier New"/>
              </a:rPr>
              <a:t>i</a:t>
            </a:r>
            <a:r>
              <a:rPr sz="1250">
                <a:solidFill>
                  <a:srgbClr val="000000"/>
                </a:solidFill>
                <a:latin typeface="Courier New"/>
              </a:rPr>
              <a:t>*dx, </a:t>
            </a:r>
            <a:r>
              <a:rPr sz="1250" b="1">
                <a:solidFill>
                  <a:srgbClr val="3E8E00"/>
                </a:solidFill>
                <a:latin typeface="Courier New"/>
              </a:rPr>
              <a:t>j</a:t>
            </a:r>
            <a:r>
              <a:rPr sz="1250">
                <a:solidFill>
                  <a:srgbClr val="000000"/>
                </a:solidFill>
                <a:latin typeface="Courier New"/>
              </a:rPr>
              <a:t>*dy, 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3456432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785615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5 × 5 = 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4251960"/>
            <a:ext cx="374903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i runs along the row; j picks which row. Red grows with X, green with 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6103620"/>
            <a:ext cx="10972800" cy="53035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6035040"/>
            <a:ext cx="10972800" cy="53035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7240" y="6035040"/>
            <a:ext cx="106070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THE INNER LOOP MAKES A ROW. THE OUTER LOOP COLLECTS THE ROWS.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INDEX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Which counter runs inside decides the order. Label it on the sheet.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5669280" cy="33375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5669280" cy="33375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566928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A 4 × 3 GRID, i INSIDE j</a:t>
            </a:r>
          </a:p>
        </p:txBody>
      </p:sp>
      <p:sp>
        <p:nvSpPr>
          <p:cNvPr id="9" name="Rectangle 8"/>
          <p:cNvSpPr/>
          <p:nvPr/>
        </p:nvSpPr>
        <p:spPr>
          <a:xfrm>
            <a:off x="1417320" y="3968496"/>
            <a:ext cx="658368" cy="658368"/>
          </a:xfrm>
          <a:prstGeom prst="rect">
            <a:avLst/>
          </a:prstGeom>
          <a:solidFill>
            <a:srgbClr val="FFFDF7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417320" y="396849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75688" y="3968496"/>
            <a:ext cx="658368" cy="658368"/>
          </a:xfrm>
          <a:prstGeom prst="rect">
            <a:avLst/>
          </a:prstGeom>
          <a:solidFill>
            <a:srgbClr val="FFFDF7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75688" y="396849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34056" y="3968496"/>
            <a:ext cx="658368" cy="658368"/>
          </a:xfrm>
          <a:prstGeom prst="rect">
            <a:avLst/>
          </a:prstGeom>
          <a:solidFill>
            <a:srgbClr val="FFFDF7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734056" y="396849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2424" y="3968496"/>
            <a:ext cx="658368" cy="658368"/>
          </a:xfrm>
          <a:prstGeom prst="rect">
            <a:avLst/>
          </a:prstGeom>
          <a:solidFill>
            <a:srgbClr val="FFFDF7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392424" y="396849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17320" y="3310128"/>
            <a:ext cx="658368" cy="658368"/>
          </a:xfrm>
          <a:prstGeom prst="rect">
            <a:avLst/>
          </a:prstGeom>
          <a:solidFill>
            <a:srgbClr val="FFFDF7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417320" y="331012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75688" y="3310128"/>
            <a:ext cx="658368" cy="658368"/>
          </a:xfrm>
          <a:prstGeom prst="rect">
            <a:avLst/>
          </a:prstGeom>
          <a:solidFill>
            <a:srgbClr val="FFFDF7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075688" y="331012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34056" y="3310128"/>
            <a:ext cx="658368" cy="658368"/>
          </a:xfrm>
          <a:prstGeom prst="rect">
            <a:avLst/>
          </a:prstGeom>
          <a:solidFill>
            <a:srgbClr val="FFFDF7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734056" y="331012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92424" y="3310128"/>
            <a:ext cx="658368" cy="658368"/>
          </a:xfrm>
          <a:prstGeom prst="rect">
            <a:avLst/>
          </a:prstGeom>
          <a:solidFill>
            <a:srgbClr val="FFFDF7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392424" y="331012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17320" y="2651760"/>
            <a:ext cx="658368" cy="658368"/>
          </a:xfrm>
          <a:prstGeom prst="rect">
            <a:avLst/>
          </a:prstGeom>
          <a:solidFill>
            <a:srgbClr val="FFFDF7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417320" y="265176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75688" y="2651760"/>
            <a:ext cx="658368" cy="658368"/>
          </a:xfrm>
          <a:prstGeom prst="rect">
            <a:avLst/>
          </a:prstGeom>
          <a:solidFill>
            <a:srgbClr val="FFFDF7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075688" y="265176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34056" y="2651760"/>
            <a:ext cx="658368" cy="658368"/>
          </a:xfrm>
          <a:prstGeom prst="rect">
            <a:avLst/>
          </a:prstGeom>
          <a:solidFill>
            <a:srgbClr val="FFFDF7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2734056" y="265176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10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92424" y="2651760"/>
            <a:ext cx="658368" cy="658368"/>
          </a:xfrm>
          <a:prstGeom prst="rect">
            <a:avLst/>
          </a:prstGeom>
          <a:solidFill>
            <a:srgbClr val="FFFDF7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392424" y="265176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33672" y="3968496"/>
            <a:ext cx="10972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3E8E00"/>
                </a:solidFill>
                <a:latin typeface="Courier New"/>
              </a:rPr>
              <a:t>j =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33672" y="3310128"/>
            <a:ext cx="10972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3E8E00"/>
                </a:solidFill>
                <a:latin typeface="Courier New"/>
              </a:rPr>
              <a:t>j =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33672" y="2651760"/>
            <a:ext cx="10972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3E8E00"/>
                </a:solidFill>
                <a:latin typeface="Courier New"/>
              </a:rPr>
              <a:t>j =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4718304"/>
            <a:ext cx="2633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>
                <a:solidFill>
                  <a:srgbClr val="D7263D"/>
                </a:solidFill>
                <a:latin typeface="Courier New"/>
              </a:rPr>
              <a:t>i →  0 · 1 · 2 · 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06540" y="1943100"/>
            <a:ext cx="5029200" cy="33375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537960" y="1874519"/>
            <a:ext cx="5029200" cy="33375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6537960" y="1874519"/>
            <a:ext cx="502920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766560" y="187451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THE FLAT INDEX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12280" y="2560320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ourier New"/>
              </a:rPr>
              <a:t>2D:  index = </a:t>
            </a:r>
            <a:r>
              <a:rPr sz="1200" b="1">
                <a:solidFill>
                  <a:srgbClr val="D7263D"/>
                </a:solidFill>
                <a:latin typeface="Courier New"/>
              </a:rPr>
              <a:t>i</a:t>
            </a:r>
            <a:r>
              <a:rPr sz="1200">
                <a:solidFill>
                  <a:srgbClr val="000000"/>
                </a:solidFill>
                <a:latin typeface="Courier New"/>
              </a:rPr>
              <a:t> + </a:t>
            </a:r>
            <a:r>
              <a:rPr sz="1200" b="1">
                <a:solidFill>
                  <a:srgbClr val="3E8E00"/>
                </a:solidFill>
                <a:latin typeface="Courier New"/>
              </a:rPr>
              <a:t>j</a:t>
            </a:r>
            <a:r>
              <a:rPr sz="1200">
                <a:solidFill>
                  <a:srgbClr val="000000"/>
                </a:solidFill>
                <a:latin typeface="Courier New"/>
              </a:rPr>
              <a:t> × nx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12280" y="2871215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ourier New"/>
              </a:rPr>
              <a:t>3D:  index = </a:t>
            </a:r>
            <a:r>
              <a:rPr sz="1200" b="1">
                <a:solidFill>
                  <a:srgbClr val="D7263D"/>
                </a:solidFill>
                <a:latin typeface="Courier New"/>
              </a:rPr>
              <a:t>i</a:t>
            </a:r>
            <a:r>
              <a:rPr sz="1200">
                <a:solidFill>
                  <a:srgbClr val="000000"/>
                </a:solidFill>
                <a:latin typeface="Courier New"/>
              </a:rPr>
              <a:t> + </a:t>
            </a:r>
            <a:r>
              <a:rPr sz="1200" b="1">
                <a:solidFill>
                  <a:srgbClr val="3E8E00"/>
                </a:solidFill>
                <a:latin typeface="Courier New"/>
              </a:rPr>
              <a:t>j</a:t>
            </a:r>
            <a:r>
              <a:rPr sz="1200">
                <a:solidFill>
                  <a:srgbClr val="000000"/>
                </a:solidFill>
                <a:latin typeface="Courier New"/>
              </a:rPr>
              <a:t> × nx + </a:t>
            </a:r>
            <a:r>
              <a:rPr sz="1200" b="1">
                <a:solidFill>
                  <a:srgbClr val="1F6FD1"/>
                </a:solidFill>
                <a:latin typeface="Courier New"/>
              </a:rPr>
              <a:t>k</a:t>
            </a:r>
            <a:r>
              <a:rPr sz="1200">
                <a:solidFill>
                  <a:srgbClr val="000000"/>
                </a:solidFill>
                <a:latin typeface="Courier New"/>
              </a:rPr>
              <a:t> × nx × ny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291840"/>
            <a:ext cx="44805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Swap the loops and the same positions get different numbers. The picture looks the same; any rule that reads the index — next week's if/Switch — does not.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2940" y="5554980"/>
            <a:ext cx="10972800" cy="62179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594360" y="5486400"/>
            <a:ext cx="10972800" cy="62179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77240" y="5486400"/>
            <a:ext cx="106070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SAY IT OUT LOUD: WHICH WAY DOES i RUN, AND WHAT HAPPENS IF YOU SWAP THE LOOPS?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03 · CUBE — THE GRID, REPEATED IN 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Scene 03 — 3D array · Spacing 1.25 · Cube Size 0.75 · one camera for all three</a:t>
            </a:r>
          </a:p>
        </p:txBody>
      </p:sp>
      <p:sp>
        <p:nvSpPr>
          <p:cNvPr id="5" name="Rectangle 4"/>
          <p:cNvSpPr/>
          <p:nvPr/>
        </p:nvSpPr>
        <p:spPr>
          <a:xfrm>
            <a:off x="595232" y="1783080"/>
            <a:ext cx="3515647" cy="2198369"/>
          </a:xfrm>
          <a:prstGeom prst="rect">
            <a:avLst/>
          </a:prstGeom>
          <a:noFill/>
          <a:ln w="34925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c03_cube_n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232" y="1783080"/>
            <a:ext cx="3515647" cy="219836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62940" y="4229100"/>
            <a:ext cx="3517391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94360" y="4160520"/>
            <a:ext cx="3517391" cy="45720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94360" y="42885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COUNT 3  →  3 × 3 × 3 =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2936" y="1783080"/>
            <a:ext cx="3515647" cy="2198369"/>
          </a:xfrm>
          <a:prstGeom prst="rect">
            <a:avLst/>
          </a:prstGeom>
          <a:noFill/>
          <a:ln w="34925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c03_cube_n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2936" y="1783080"/>
            <a:ext cx="3515647" cy="2198369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390644" y="4229100"/>
            <a:ext cx="3517391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322064" y="4160520"/>
            <a:ext cx="3517391" cy="45720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322064" y="42885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COUNT 4  →  4 × 4 × 4 = 64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50640" y="1783080"/>
            <a:ext cx="3515647" cy="2198369"/>
          </a:xfrm>
          <a:prstGeom prst="rect">
            <a:avLst/>
          </a:prstGeom>
          <a:noFill/>
          <a:ln w="34925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c03_cube_n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0640" y="1783080"/>
            <a:ext cx="3515647" cy="2198369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8118347" y="4229100"/>
            <a:ext cx="3517391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049767" y="4160520"/>
            <a:ext cx="3517391" cy="45720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049767" y="42885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COUNT 5  →  5 × 5 × 5 = 125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4846320"/>
            <a:ext cx="10972800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68680" y="4965192"/>
            <a:ext cx="10424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for </a:t>
            </a:r>
            <a:r>
              <a:rPr sz="1250" b="1">
                <a:solidFill>
                  <a:srgbClr val="1F6FD1"/>
                </a:solidFill>
                <a:latin typeface="Courier New"/>
              </a:rPr>
              <a:t>k</a:t>
            </a:r>
            <a:r>
              <a:rPr sz="1250">
                <a:solidFill>
                  <a:srgbClr val="000000"/>
                </a:solidFill>
                <a:latin typeface="Courier New"/>
              </a:rPr>
              <a:t> in range(n):  for </a:t>
            </a:r>
            <a:r>
              <a:rPr sz="1250" b="1">
                <a:solidFill>
                  <a:srgbClr val="3E8E00"/>
                </a:solidFill>
                <a:latin typeface="Courier New"/>
              </a:rPr>
              <a:t>j</a:t>
            </a:r>
            <a:r>
              <a:rPr sz="1250">
                <a:solidFill>
                  <a:srgbClr val="000000"/>
                </a:solidFill>
                <a:latin typeface="Courier New"/>
              </a:rPr>
              <a:t> in range(n):  for </a:t>
            </a:r>
            <a:r>
              <a:rPr sz="1250" b="1">
                <a:solidFill>
                  <a:srgbClr val="D7263D"/>
                </a:solidFill>
                <a:latin typeface="Courier New"/>
              </a:rPr>
              <a:t>i</a:t>
            </a:r>
            <a:r>
              <a:rPr sz="1250">
                <a:solidFill>
                  <a:srgbClr val="000000"/>
                </a:solidFill>
                <a:latin typeface="Courier New"/>
              </a:rPr>
              <a:t> in range(n):   place(</a:t>
            </a:r>
            <a:r>
              <a:rPr sz="1250" b="1">
                <a:solidFill>
                  <a:srgbClr val="D7263D"/>
                </a:solidFill>
                <a:latin typeface="Courier New"/>
              </a:rPr>
              <a:t>i</a:t>
            </a:r>
            <a:r>
              <a:rPr sz="1250">
                <a:solidFill>
                  <a:srgbClr val="000000"/>
                </a:solidFill>
                <a:latin typeface="Courier New"/>
              </a:rPr>
              <a:t>*dx, </a:t>
            </a:r>
            <a:r>
              <a:rPr sz="1250" b="1">
                <a:solidFill>
                  <a:srgbClr val="3E8E00"/>
                </a:solidFill>
                <a:latin typeface="Courier New"/>
              </a:rPr>
              <a:t>j</a:t>
            </a:r>
            <a:r>
              <a:rPr sz="1250">
                <a:solidFill>
                  <a:srgbClr val="000000"/>
                </a:solidFill>
                <a:latin typeface="Courier New"/>
              </a:rPr>
              <a:t>*dy, </a:t>
            </a:r>
            <a:r>
              <a:rPr sz="1250" b="1">
                <a:solidFill>
                  <a:srgbClr val="1F6FD1"/>
                </a:solidFill>
                <a:latin typeface="Courier New"/>
              </a:rPr>
              <a:t>k</a:t>
            </a:r>
            <a:r>
              <a:rPr sz="1250">
                <a:solidFill>
                  <a:srgbClr val="000000"/>
                </a:solidFill>
                <a:latin typeface="Courier New"/>
              </a:rPr>
              <a:t>*dz)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737860"/>
            <a:ext cx="10972800" cy="6035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5669280"/>
            <a:ext cx="10972800" cy="603504"/>
          </a:xfrm>
          <a:prstGeom prst="rect">
            <a:avLst/>
          </a:prstGeom>
          <a:solidFill>
            <a:srgbClr val="2890FF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77240" y="5669280"/>
            <a:ext cx="10607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PREDICT THE TOTAL BEFORE YOU LOOK: 27, 64, 125. X, Y AND Z TOGETHER MAKE THE RGB CUBE.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04 · CURVE — THE ROW BENDS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Scene 04 — Along a curve · Spacing 0.8 · the same module as the line. Edit the curve; the row follows.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1198" y="1783080"/>
            <a:ext cx="6001362" cy="3771900"/>
          </a:xfrm>
          <a:prstGeom prst="rect">
            <a:avLst/>
          </a:prstGeom>
          <a:noFill/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c04_curve_mo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198" y="1783080"/>
            <a:ext cx="6001362" cy="37719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72300" y="1851660"/>
            <a:ext cx="4663440" cy="37719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903720" y="1783080"/>
            <a:ext cx="4663440" cy="37719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903720" y="1783080"/>
            <a:ext cx="466344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0" y="178308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WHERE IS COPY i?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468880"/>
            <a:ext cx="429768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count = int(length / spacing) + 1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770632"/>
            <a:ext cx="429768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for </a:t>
            </a:r>
            <a:r>
              <a:rPr sz="1150" b="1">
                <a:solidFill>
                  <a:srgbClr val="D7263D"/>
                </a:solidFill>
                <a:latin typeface="Courier New"/>
              </a:rPr>
              <a:t>i</a:t>
            </a:r>
            <a:r>
              <a:rPr sz="1150">
                <a:solidFill>
                  <a:srgbClr val="000000"/>
                </a:solidFill>
                <a:latin typeface="Courier New"/>
              </a:rPr>
              <a:t> in range(count):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072384"/>
            <a:ext cx="429768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    t = </a:t>
            </a:r>
            <a:r>
              <a:rPr sz="1150" b="1">
                <a:solidFill>
                  <a:srgbClr val="D7263D"/>
                </a:solidFill>
                <a:latin typeface="Courier New"/>
              </a:rPr>
              <a:t>i</a:t>
            </a:r>
            <a:r>
              <a:rPr sz="1150">
                <a:solidFill>
                  <a:srgbClr val="000000"/>
                </a:solidFill>
                <a:latin typeface="Courier New"/>
              </a:rPr>
              <a:t> / (count - 1)  </a:t>
            </a:r>
            <a:r>
              <a:rPr sz="1150">
                <a:solidFill>
                  <a:srgbClr val="6B6B6B"/>
                </a:solidFill>
                <a:latin typeface="Courier New"/>
              </a:rPr>
              <a:t># 0 →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3374136"/>
            <a:ext cx="429768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    p = point_on(curve, 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675888"/>
            <a:ext cx="429768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    d = direction_on(curve, 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3977640"/>
            <a:ext cx="429768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    place(module, p, facing=d)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4434840"/>
            <a:ext cx="4206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The line said x = i × spacing. Here the curve answers the same question, and also says which way to face.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2940" y="5920740"/>
            <a:ext cx="10972800" cy="6035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94360" y="5852160"/>
            <a:ext cx="10972800" cy="603504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7240" y="5852160"/>
            <a:ext cx="10607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SAME LOOP AS THE LINE. THE CURVE GIVES THE POSITION INSTEAD OF i × SPACING.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THE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Line to curve, one change at a 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05939"/>
            <a:ext cx="150876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37360"/>
            <a:ext cx="1508760" cy="713232"/>
          </a:xfrm>
          <a:prstGeom prst="rect">
            <a:avLst/>
          </a:prstGeom>
          <a:solidFill>
            <a:srgbClr val="FF3352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993391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01 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2446020" y="1805939"/>
            <a:ext cx="918972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2377440" y="1737360"/>
            <a:ext cx="9189720" cy="71323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651760" y="1856231"/>
            <a:ext cx="86410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One counter, i. Position = i × spacing.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628900"/>
            <a:ext cx="150876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560320"/>
            <a:ext cx="1508760" cy="713232"/>
          </a:xfrm>
          <a:prstGeom prst="rect">
            <a:avLst/>
          </a:prstGeom>
          <a:solidFill>
            <a:srgbClr val="8BDC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2816352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02 GRID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46020" y="2628900"/>
            <a:ext cx="918972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2377440" y="2560320"/>
            <a:ext cx="9189720" cy="71323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651760" y="2679191"/>
            <a:ext cx="86410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i inside j. Total = rows × columns.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451860"/>
            <a:ext cx="150876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383279"/>
            <a:ext cx="1508760" cy="713232"/>
          </a:xfrm>
          <a:prstGeom prst="rect">
            <a:avLst/>
          </a:prstGeom>
          <a:solidFill>
            <a:srgbClr val="2890FF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639311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03 CUBE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46020" y="3451860"/>
            <a:ext cx="918972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2377440" y="3383279"/>
            <a:ext cx="9189720" cy="71323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651760" y="3502151"/>
            <a:ext cx="86410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i inside j inside k. Total = count cubed.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274820"/>
            <a:ext cx="150876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206240"/>
            <a:ext cx="1508760" cy="71323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462272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04 CURVE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46020" y="4274820"/>
            <a:ext cx="918972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2377440" y="4206240"/>
            <a:ext cx="9189720" cy="71323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651760" y="4325112"/>
            <a:ext cx="86410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One counter again — but the curve gives the position and the direction.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097780"/>
            <a:ext cx="150876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029200"/>
            <a:ext cx="1508760" cy="71323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285232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NEXT WEEK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46020" y="5097780"/>
            <a:ext cx="918972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2377440" y="5029200"/>
            <a:ext cx="9189720" cy="71323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651760" y="5148072"/>
            <a:ext cx="86410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Patterns: a rule that reads the index. First example — a brick wall, every other course shifted.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012180"/>
            <a:ext cx="10972800" cy="5486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943600"/>
            <a:ext cx="10972800" cy="54864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77240" y="594360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ONE LOOP. EACH STEP ADDS A COUNTER OR CHANGES WHERE THE POSITION COMES FROM.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TODAY, STEP BY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Plain repetition: every copy treated the same. The curve is in-class practice; Sheet 1 is your module, then 1D, 2D, 3D.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777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777240" cy="9098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183130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97380"/>
            <a:ext cx="9921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828800"/>
            <a:ext cx="9921240" cy="9098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920240"/>
            <a:ext cx="937260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1D: build a small linear array with Repeat Input and Repeat Output. Identify list, count and index.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935224"/>
            <a:ext cx="777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866644"/>
            <a:ext cx="777240" cy="90982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220974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935224"/>
            <a:ext cx="9921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866644"/>
            <a:ext cx="9921240" cy="9098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958084"/>
            <a:ext cx="937260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2D: nest repetition into a grid. Identify rows and columns; predict the total count.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973068"/>
            <a:ext cx="777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904488"/>
            <a:ext cx="777240" cy="90982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425881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3973068"/>
            <a:ext cx="9921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904488"/>
            <a:ext cx="9921240" cy="9098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3995928"/>
            <a:ext cx="937260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3D: repeat the grid in Z for a cube array. Predict Count cubed; distinguish instances from a sampled volume.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5010912"/>
            <a:ext cx="777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942332"/>
            <a:ext cx="777240" cy="90982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529666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14499" y="5010912"/>
            <a:ext cx="9921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645919" y="4942332"/>
            <a:ext cx="9921240" cy="9098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20240" y="5033772"/>
            <a:ext cx="937260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Curve: bend the row. Sample a curve at even spacing and place your module at each point, turned to follow the curve's direction. The count comes from curve length ÷ spacing.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2.2 PRINT CHECK — BEFORE YOU QUEUE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Check geometry, units, orientation and the sliced preview before queueing.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23774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2377440" cy="65836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0116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GEOMETRY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4700" y="1851660"/>
            <a:ext cx="83210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246120" y="1783080"/>
            <a:ext cx="8321040" cy="65836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20440" y="1783080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Closed and solid. Every edge shared by two faces, no stray pieces.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692908"/>
            <a:ext cx="23774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624328"/>
            <a:ext cx="2377440" cy="65836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285292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UNITS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4700" y="2692908"/>
            <a:ext cx="83210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246120" y="2624328"/>
            <a:ext cx="8321040" cy="65836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520440" y="2624328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Real millimetres. Within 60 mm on each axis.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534156"/>
            <a:ext cx="23774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465576"/>
            <a:ext cx="2377440" cy="65836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69417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ORIENTATION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14700" y="3534156"/>
            <a:ext cx="83210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246120" y="3465576"/>
            <a:ext cx="8321040" cy="65836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520440" y="3465576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No supports. Orientation is your lever; change the geometry if you must.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375404"/>
            <a:ext cx="23774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306824"/>
            <a:ext cx="2377440" cy="65836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53542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SLICED PREVIEW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14700" y="4375404"/>
            <a:ext cx="83210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3246120" y="4306824"/>
            <a:ext cx="8321040" cy="65836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520440" y="4306824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Read it layer by layer before queueing. Stay within the 200 g allocation.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41782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349240"/>
            <a:ext cx="10972800" cy="640080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77240" y="53492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C6F035"/>
                </a:solidFill>
                <a:latin typeface="Arial"/>
              </a:rPr>
              <a:t>2.2: HAND IN THE PRINT IN CLASS, WEEK 8 — OCT 13. DIGITAL FILES AND NOTES BY 11:59 PM THAT NIGHT.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2940" y="635508"/>
            <a:ext cx="2194560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94360" y="566928"/>
            <a:ext cx="2194560" cy="38404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ISSUED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52144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DF7"/>
                </a:solidFill>
                <a:latin typeface="Arial"/>
              </a:rPr>
              <a:t>3.2 — ARRAYS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810512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29384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E500"/>
                </a:solidFill>
                <a:latin typeface="Arial"/>
              </a:rPr>
              <a:t>DUE WEEK 10 — Oct 27   /   10%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FFFDF7"/>
                </a:solidFill>
                <a:latin typeface="Calibri"/>
              </a:rPr>
              <a:t>Three 17 × 11 sheets, submitted together as one assignment. Sheet 1 is today; Sheets 2 and 3 are next week's class.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94360" y="3611880"/>
            <a:ext cx="3517391" cy="4114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SHEET 1 · TODAY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" y="4183380"/>
            <a:ext cx="3517391" cy="1600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94360" y="4114800"/>
            <a:ext cx="3517391" cy="16002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0392" y="4261104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MODULE, 1D, 2D, 3D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4626864"/>
            <a:ext cx="300532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Your 3.1 module alone, then in a row, a grid and layers. Label counts, spacing, axes and totals.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0644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322064" y="3611880"/>
            <a:ext cx="3517391" cy="4114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322064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SHEET 2 · WEEK 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90644" y="4183380"/>
            <a:ext cx="3517391" cy="1600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322064" y="4114800"/>
            <a:ext cx="3517391" cy="16002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78096" y="4261104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FOUR FAÇADE PATTERNS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8096" y="4626864"/>
            <a:ext cx="300532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Your module in a 2D array, changed by if/Switch conditions. Each rule and its outcome captioned.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18347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049767" y="3611880"/>
            <a:ext cx="3517391" cy="41148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49767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SHEET 3 · WEEK 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18347" y="4183380"/>
            <a:ext cx="3517391" cy="1600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049767" y="4114800"/>
            <a:ext cx="3517391" cy="16002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305799" y="4261104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MATH SHAPES A VOLUME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5799" y="4626864"/>
            <a:ext cx="300532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Layered cubes, height driven by a function of X and Y. One isometric, formula and settings stated.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REQUIREMENTS — 3.2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Computational understanding 30% · Visual communication 30% · Technical execution 25% · Exploration 15%.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777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777240" cy="397763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88137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51660"/>
            <a:ext cx="9921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783080"/>
            <a:ext cx="9921240" cy="397763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874519"/>
            <a:ext cx="9372600" cy="2148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50">
                <a:solidFill>
                  <a:srgbClr val="000000"/>
                </a:solidFill>
                <a:latin typeface="Calibri"/>
              </a:rPr>
              <a:t>Submit exactly three 17 x 11 inch landscape sheets together as one assignment.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395728"/>
            <a:ext cx="777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327148"/>
            <a:ext cx="777240" cy="397763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242544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395728"/>
            <a:ext cx="9921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327148"/>
            <a:ext cx="9921240" cy="397763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418588"/>
            <a:ext cx="9372600" cy="2148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50">
                <a:solidFill>
                  <a:srgbClr val="000000"/>
                </a:solidFill>
                <a:latin typeface="Calibri"/>
              </a:rPr>
              <a:t>Sheet 1 — four diagrams: your 3.1 module alone, your module in a 1D array, your module in a 2D array, and your module in a 3D array. Use the same module and label counts, spacing and axes.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2939796"/>
            <a:ext cx="777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2871215"/>
            <a:ext cx="777240" cy="397763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2969513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2939796"/>
            <a:ext cx="9921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2871215"/>
            <a:ext cx="9921240" cy="397763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2962656"/>
            <a:ext cx="9372600" cy="2148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50">
                <a:solidFill>
                  <a:srgbClr val="000000"/>
                </a:solidFill>
                <a:latin typeface="Calibri"/>
              </a:rPr>
              <a:t>Sheet 2 — four façade-pattern diagrams: use your module in a 2D array and if/Switch conditions to generate four different patterns. Each diagram must identify its condition and resulting modification.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3483863"/>
            <a:ext cx="777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3415283"/>
            <a:ext cx="777240" cy="397763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3513581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14499" y="3483863"/>
            <a:ext cx="9921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645919" y="3415283"/>
            <a:ext cx="9921240" cy="397763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20240" y="3506723"/>
            <a:ext cx="9372600" cy="2148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50">
                <a:solidFill>
                  <a:srgbClr val="000000"/>
                </a:solidFill>
                <a:latin typeface="Calibri"/>
              </a:rPr>
              <a:t>Sheet 3 — volumetric exploration: use cubes in a 3D array and present an isometric view. Drive vertical variation with a mathematical function of both X and Y, such as sine or cosine. Explore the resulting spatial form; optionally combine it with Switch conditions to generate voids.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4027931"/>
            <a:ext cx="777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3959351"/>
            <a:ext cx="777240" cy="397763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4057649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14499" y="4027931"/>
            <a:ext cx="9921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645919" y="3959351"/>
            <a:ext cx="9921240" cy="397763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920240" y="4050791"/>
            <a:ext cx="9372600" cy="2148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50">
                <a:solidFill>
                  <a:srgbClr val="000000"/>
                </a:solidFill>
                <a:latin typeface="Calibri"/>
              </a:rPr>
              <a:t>Reuse the 3.1 panel definition on Sheets 1–2. Sheet 2 may transform or omit selected instances to make a pattern. Use cubes, rather than the panel, for the volumetric exercise on Sheet 3.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4571999"/>
            <a:ext cx="777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4503419"/>
            <a:ext cx="777240" cy="397763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4601717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714499" y="4571999"/>
            <a:ext cx="9921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1645919" y="4503419"/>
            <a:ext cx="9921240" cy="397763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920240" y="4594859"/>
            <a:ext cx="9372600" cy="2148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50">
                <a:solidFill>
                  <a:srgbClr val="000000"/>
                </a:solidFill>
                <a:latin typeface="Calibri"/>
              </a:rPr>
              <a:t>Present simple diagrams using one consistent view and material for comparable studies. Keep lighting consistent; separate polished render setups for the four façade patterns are not required. Choose an appropriate view for each dimensional array and use isometric for the cube volume.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2940" y="5116067"/>
            <a:ext cx="777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594360" y="5047487"/>
            <a:ext cx="777240" cy="397763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594360" y="5145785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714499" y="5116067"/>
            <a:ext cx="9921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1645919" y="5047487"/>
            <a:ext cx="9921240" cy="397763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1920240" y="5138927"/>
            <a:ext cx="9372600" cy="2148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50">
                <a:solidFill>
                  <a:srgbClr val="000000"/>
                </a:solidFill>
                <a:latin typeface="Calibri"/>
              </a:rPr>
              <a:t>Build repetition from basic nodes and begin with a count you can inspect; there is no minimum element count.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62940" y="5660135"/>
            <a:ext cx="777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94360" y="5591555"/>
            <a:ext cx="777240" cy="397763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594360" y="5689853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714499" y="5660135"/>
            <a:ext cx="9921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1645919" y="5591555"/>
            <a:ext cx="9921240" cy="397763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920240" y="5682995"/>
            <a:ext cx="9372600" cy="2148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50">
                <a:solidFill>
                  <a:srgbClr val="000000"/>
                </a:solidFill>
                <a:latin typeface="Calibri"/>
              </a:rPr>
              <a:t>Use materials from the instructor-provided library or create your own. Record which materials you used and any edits; package required textures. Material choice must keep array spacing, depth and repetition readable. The library will be posted before this assignment is due; creating your own remains an equally valid route.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D9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NOW — SHEET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alibri"/>
              </a:rPr>
              <a:t>Predict every total before you look.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235458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228600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9051" y="235458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490472" y="228600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764792" y="228600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A row: Count and Spacing exposed, spreadsheet open, the last X said out loud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3067812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999232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182112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9051" y="3067812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490472" y="2999232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764792" y="2999232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The row nested into a grid: rows × columns predicted first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781044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712464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895344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9051" y="3781044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490472" y="3712464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764792" y="3712464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The grid repeated in Z — 3, 4 and 5 per axis compared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94276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425696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08576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59051" y="4494276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490472" y="4425696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764792" y="4425696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Your row bent onto a curve: edit the curve and watch the row follow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207508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138928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321808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9051" y="5207508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490472" y="5138928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764792" y="5138928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2.1 uploaded by 11:59 PM tonight; 2.2 print checked before you queue it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012180"/>
            <a:ext cx="841248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D9E1"/>
                </a:solidFill>
                <a:latin typeface="Arial"/>
              </a:rPr>
              <a:t>A COUNT YOU CAN COUNT. NOT A THOUSAND OF ANYTHING,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BEFORE NEXT CLASS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1851660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1783080"/>
            <a:ext cx="1508760" cy="80467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NEXT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6020" y="1851660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377440" y="1783080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51760" y="1901952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Week 7 — Oct 6: patterns — a brick wall with every other course shifted, if/Switch façade patterns, and a cube volume from X and Y (Sheets 2 and 3). Bring Sheet 1's graph working; we build on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" y="2912364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94360" y="2843784"/>
            <a:ext cx="1508760" cy="80467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3145536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DUE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6020" y="2912364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377440" y="2843784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651760" y="2962656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Nothing graded next week (studio reviews). 2.2 print in class Oct 13. 3.2, all three sheets: Oct 27.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" y="3973068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94360" y="3904487"/>
            <a:ext cx="1508760" cy="80467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20624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BUILD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6020" y="3973068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377440" y="3904487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651760" y="4023359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Finish Sheet 1: module alone, then 1D, 2D and 3D — counts, spacing, axes and totals labelled.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033772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4965192"/>
            <a:ext cx="1508760" cy="80467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526694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PRINT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6020" y="5033772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377440" y="4965192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51760" y="5084064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Fix anything today's check flagged, then queue 2.2.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