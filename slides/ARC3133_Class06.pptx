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06  /  SEP 29  /  U04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ARRAYS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1D · 2D · 3D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P3b BEGINS — SHEET 1: ONE MODULE, MANY POSITIONS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P3a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P3b ISSUED TODAY  /  P2b PRINT CHECKPOINT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AN ARRAY IS A LIST OF POSITIONS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Not a command that duplicates things. A list you compute, then place your module 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1206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1206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1206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INDEX  →  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5720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ourier New"/>
              </a:rPr>
              <a:t>i = 0   →   p = start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ourier New"/>
              </a:rPr>
              <a:t>i = 1   →   p = start + step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ourier New"/>
              </a:rPr>
              <a:t>i = 2   →   p = start + 2 × step</a:t>
            </a:r>
          </a:p>
          <a:p>
            <a:pPr algn="l">
              <a:lnSpc>
                <a:spcPct val="135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5000"/>
              </a:lnSpc>
            </a:pPr>
            <a:r>
              <a:rPr sz="1350" b="1">
                <a:solidFill>
                  <a:srgbClr val="000000"/>
                </a:solidFill>
                <a:latin typeface="Courier New"/>
              </a:rPr>
              <a:t>p[i] = start + i ×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03620" y="1851660"/>
            <a:ext cx="553212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035040" y="1783080"/>
            <a:ext cx="553212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035040" y="1783080"/>
            <a:ext cx="553212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63640" y="1783080"/>
            <a:ext cx="5074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THREE THINGS TO 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487168"/>
            <a:ext cx="49834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THE LIST — what is in the collection.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THE COUNT — how many there are.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THE INDEX — where each one sits in the order.</a:t>
            </a:r>
          </a:p>
          <a:p>
            <a:pPr algn="l">
              <a:lnSpc>
                <a:spcPct val="135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index is the only new idea. It is a counter that tells each copy how far along it is — and therefore where it goes.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52578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Your P3a module is the component. It does not change in P3b — only where it goes.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REPEAT ZONE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The loop, made visible. Repeat Input, a body, Repeat Output.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5029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000000"/>
                </a:solidFill>
                <a:latin typeface="Courier New"/>
              </a:rPr>
              <a:t>Repeat Input   →  body  →  Repeat Output</a:t>
            </a:r>
          </a:p>
          <a:p>
            <a:pPr algn="l">
              <a:lnSpc>
                <a:spcPct val="13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Everything between the two runs once per iteration. Whatever you hand to Repeat Input comes back changed, once for every step of the count.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06540" y="1943100"/>
            <a:ext cx="502920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37960" y="1874519"/>
            <a:ext cx="502920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READ IT SMALL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56032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Set the count to 3 and look at the spreadsheet.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Then 4. Then 5.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A collection you cannot inspect is a collection you cannot debug. There is no minimum count and no prize for a large one.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8066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21208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21208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BUILD IT AT A COUNT YOU CAN COUNT. SCALE UP ONLY ONCE IT IS RIGHT.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ONE COUNTER, TWO,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Linear, nested grid, XYZ cube. Each one is the last one, repeated along a new axis.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3291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3291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35204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1D — LINEAR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41605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Courier New"/>
              </a:rPr>
              <a:t>count = 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480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>
                <a:solidFill>
                  <a:srgbClr val="000000"/>
                </a:solidFill>
                <a:latin typeface="Courier New"/>
              </a:rPr>
              <a:t>n = 5  → 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3692" y="1851660"/>
            <a:ext cx="3520440" cy="3291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25112" y="1783080"/>
            <a:ext cx="3520440" cy="3291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25112" y="1783080"/>
            <a:ext cx="35204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53712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2D — NESTED GRID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41605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Courier New"/>
              </a:rPr>
              <a:t>count = n ×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4480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>
                <a:solidFill>
                  <a:srgbClr val="000000"/>
                </a:solidFill>
                <a:latin typeface="Courier New"/>
              </a:rPr>
              <a:t>n = 5  →  25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4444" y="1851660"/>
            <a:ext cx="3520440" cy="3291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55864" y="1783080"/>
            <a:ext cx="3520440" cy="3291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55864" y="1783080"/>
            <a:ext cx="35204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284464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3D — XYZ CUBE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1896" y="41605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Courier New"/>
              </a:rPr>
              <a:t>count = n³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4480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>
                <a:solidFill>
                  <a:srgbClr val="000000"/>
                </a:solidFill>
                <a:latin typeface="Courier New"/>
              </a:rPr>
              <a:t>n = 3  →  27</a:t>
            </a:r>
          </a:p>
        </p:txBody>
      </p:sp>
      <p:sp>
        <p:nvSpPr>
          <p:cNvPr id="23" name="Oval 22"/>
          <p:cNvSpPr/>
          <p:nvPr/>
        </p:nvSpPr>
        <p:spPr>
          <a:xfrm>
            <a:off x="1389888" y="299008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1828800" y="299008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2267712" y="299008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2706624" y="299008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3145536" y="299008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5129784" y="2423160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5129784" y="277063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5129784" y="3118104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5129784" y="3465576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5129784" y="3813048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5477256" y="2423160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5477256" y="277063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5477256" y="3118104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5477256" y="3465576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5477256" y="3813048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5824728" y="2423160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5824728" y="277063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5824728" y="3118104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5824728" y="3465576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5824728" y="3813048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6172200" y="2423160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6172200" y="277063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6172200" y="3118104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6172200" y="3465576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6172200" y="3813048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6519672" y="2423160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6519672" y="2770632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6519672" y="3118104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6519672" y="3465576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6519672" y="3813048"/>
            <a:ext cx="128016" cy="12801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8526780" y="26837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8526780" y="2958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8526780" y="32324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8801100" y="26837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8801100" y="2958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8801100" y="32324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9075420" y="26837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9075420" y="2958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9075420" y="32324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8403336" y="35204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>
                <a:solidFill>
                  <a:srgbClr val="000000"/>
                </a:solidFill>
                <a:latin typeface="Courier New"/>
              </a:rPr>
              <a:t>k = 0</a:t>
            </a:r>
          </a:p>
        </p:txBody>
      </p:sp>
      <p:sp>
        <p:nvSpPr>
          <p:cNvPr id="63" name="Oval 62"/>
          <p:cNvSpPr/>
          <p:nvPr/>
        </p:nvSpPr>
        <p:spPr>
          <a:xfrm>
            <a:off x="9486900" y="26837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9486900" y="2958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9486900" y="32324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9761220" y="26837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9761220" y="2958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9761220" y="32324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10035540" y="26837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10035540" y="2958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10035540" y="32324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363456" y="35204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>
                <a:solidFill>
                  <a:srgbClr val="000000"/>
                </a:solidFill>
                <a:latin typeface="Courier New"/>
              </a:rPr>
              <a:t>k = 1</a:t>
            </a:r>
          </a:p>
        </p:txBody>
      </p:sp>
      <p:sp>
        <p:nvSpPr>
          <p:cNvPr id="73" name="Oval 72"/>
          <p:cNvSpPr/>
          <p:nvPr/>
        </p:nvSpPr>
        <p:spPr>
          <a:xfrm>
            <a:off x="10447020" y="26837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10447020" y="2958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10447020" y="32324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10721340" y="26837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10721340" y="2958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10721340" y="32324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10995660" y="26837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10995660" y="295808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10995660" y="323240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10323576" y="35204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>
                <a:solidFill>
                  <a:srgbClr val="000000"/>
                </a:solidFill>
                <a:latin typeface="Courier New"/>
              </a:rPr>
              <a:t>k = 2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62940" y="541782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ectangle 83"/>
          <p:cNvSpPr/>
          <p:nvPr/>
        </p:nvSpPr>
        <p:spPr>
          <a:xfrm>
            <a:off x="594360" y="534924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777240" y="53492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PREDICT THE TOTAL BEFORE YOU LOOK. COMPARE 3, 4 AND 5 PER AXIS: 27, 64, 125.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INDEX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Which counter runs inside decides the order. Label it on the sheet.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3375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3375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A 4 × 3 GRID, i INSIDE j</a:t>
            </a:r>
          </a:p>
        </p:txBody>
      </p:sp>
      <p:sp>
        <p:nvSpPr>
          <p:cNvPr id="9" name="Rectangle 8"/>
          <p:cNvSpPr/>
          <p:nvPr/>
        </p:nvSpPr>
        <p:spPr>
          <a:xfrm>
            <a:off x="1417320" y="3968496"/>
            <a:ext cx="658368" cy="658368"/>
          </a:xfrm>
          <a:prstGeom prst="rect">
            <a:avLst/>
          </a:prstGeom>
          <a:solidFill>
            <a:srgbClr val="00D9E1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417320" y="396849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75688" y="3968496"/>
            <a:ext cx="658368" cy="658368"/>
          </a:xfrm>
          <a:prstGeom prst="rect">
            <a:avLst/>
          </a:prstGeom>
          <a:solidFill>
            <a:srgbClr val="00D9E1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75688" y="396849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34056" y="3968496"/>
            <a:ext cx="658368" cy="658368"/>
          </a:xfrm>
          <a:prstGeom prst="rect">
            <a:avLst/>
          </a:prstGeom>
          <a:solidFill>
            <a:srgbClr val="00D9E1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734056" y="396849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2424" y="3968496"/>
            <a:ext cx="658368" cy="658368"/>
          </a:xfrm>
          <a:prstGeom prst="rect">
            <a:avLst/>
          </a:prstGeom>
          <a:solidFill>
            <a:srgbClr val="00D9E1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392424" y="396849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310128"/>
            <a:ext cx="658368" cy="6583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417320" y="331012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75688" y="3310128"/>
            <a:ext cx="658368" cy="6583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075688" y="331012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34056" y="3310128"/>
            <a:ext cx="658368" cy="6583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734056" y="331012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92424" y="3310128"/>
            <a:ext cx="658368" cy="65836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392424" y="331012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2651760"/>
            <a:ext cx="658368" cy="658368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417320" y="265176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75688" y="2651760"/>
            <a:ext cx="658368" cy="658368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075688" y="265176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34056" y="2651760"/>
            <a:ext cx="658368" cy="658368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734056" y="265176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10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92424" y="2651760"/>
            <a:ext cx="658368" cy="658368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392424" y="265176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33672" y="2743200"/>
            <a:ext cx="1280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>
                <a:solidFill>
                  <a:srgbClr val="000000"/>
                </a:solidFill>
                <a:latin typeface="Courier New"/>
              </a:rPr>
              <a:t>j = 2</a:t>
            </a:r>
          </a:p>
          <a:p>
            <a:pPr algn="l">
              <a:lnSpc>
                <a:spcPct val="155000"/>
              </a:lnSpc>
            </a:pPr>
            <a:r>
              <a:rPr sz="11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55000"/>
              </a:lnSpc>
            </a:pPr>
            <a:r>
              <a:rPr sz="1100">
                <a:solidFill>
                  <a:srgbClr val="000000"/>
                </a:solidFill>
                <a:latin typeface="Courier New"/>
              </a:rPr>
              <a:t>j = 1</a:t>
            </a:r>
          </a:p>
          <a:p>
            <a:pPr algn="l">
              <a:lnSpc>
                <a:spcPct val="155000"/>
              </a:lnSpc>
            </a:pPr>
            <a:r>
              <a:rPr sz="11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55000"/>
              </a:lnSpc>
            </a:pPr>
            <a:r>
              <a:rPr sz="1100">
                <a:solidFill>
                  <a:srgbClr val="000000"/>
                </a:solidFill>
                <a:latin typeface="Courier New"/>
              </a:rPr>
              <a:t>j =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4718304"/>
            <a:ext cx="2633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000000"/>
                </a:solidFill>
                <a:latin typeface="Courier New"/>
              </a:rPr>
              <a:t>i →  0 · 1 · 2 · 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06540" y="1943100"/>
            <a:ext cx="5029200" cy="33375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537960" y="1874519"/>
            <a:ext cx="5029200" cy="33375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FLAT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2280" y="2560320"/>
            <a:ext cx="44805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Courier New"/>
              </a:rPr>
              <a:t>2D:  index = i + j × cols</a:t>
            </a: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Courier New"/>
              </a:rPr>
              <a:t>3D:  index = i + j × n + k × n²</a:t>
            </a:r>
          </a:p>
          <a:p>
            <a:pPr algn="l">
              <a:lnSpc>
                <a:spcPct val="135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Swap the loops and the same positions get different numbers. The picture looks the same; any rule that reads the index does not.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2940" y="5554980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94360" y="5486400"/>
            <a:ext cx="10972800" cy="62179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77240" y="5486400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SAY IT OUT LOUD: WHICH WAY DOES i RUN, AND WHAT HAPPENS IF YOU SWAP THE LOOPS?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COMPARE + SWITCH IS AN IF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Test the index, then act on the answer. One conditional selection is encouraged in P3b.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PATTERN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Compare   3 &lt;= i &lt;= 5    →  True / False</a:t>
            </a:r>
          </a:p>
          <a:p>
            <a:pPr algn="l">
              <a:lnSpc>
                <a:spcPct val="130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Switch    False → stay</a:t>
            </a:r>
          </a:p>
          <a:p>
            <a:pPr algn="l">
              <a:lnSpc>
                <a:spcPct val="130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          True  → lift</a:t>
            </a:r>
          </a:p>
          <a:p>
            <a:pPr algn="l">
              <a:lnSpc>
                <a:spcPct val="13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Compare asks the question. Switch chooses between two answers. Everything conditional in this course is those two nodes.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80" y="1851660"/>
            <a:ext cx="516636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16636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AN INDEX RANGE, LIFTED</a:t>
            </a:r>
          </a:p>
        </p:txBody>
      </p:sp>
      <p:sp>
        <p:nvSpPr>
          <p:cNvPr id="14" name="Oval 13"/>
          <p:cNvSpPr/>
          <p:nvPr/>
        </p:nvSpPr>
        <p:spPr>
          <a:xfrm>
            <a:off x="6739128" y="271576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739128" y="3136391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739128" y="3557015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214616" y="271576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7214616" y="3136391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214616" y="3557015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7690104" y="271576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690104" y="3136391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7690104" y="3557015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165592" y="2441448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165592" y="2862072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165592" y="3282696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8641080" y="2441448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641080" y="2862072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8641080" y="3282696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116568" y="2441448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9116568" y="2862072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9116568" y="3282696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9592056" y="271576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9592056" y="3136391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9592056" y="3557015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10067544" y="271576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10067544" y="3136391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10067544" y="3557015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10543032" y="2715768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10543032" y="3136391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10543032" y="3557015"/>
            <a:ext cx="146304" cy="1463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675120" y="4160520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Indices 3 to 5 moved. The module is the same; only its placement changed.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77240" y="516636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CHECK THE RESULT AT TWO DIFFERENT COUNTS. IF IT ONLY WORKS AT ONE, IT IS NOT A RULE.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SHEET 1,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What we build together today: 1D, 2D, 3D, then one conditional.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777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777240" cy="9098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8313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97380"/>
            <a:ext cx="9921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828800"/>
            <a:ext cx="9921240" cy="9098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920240"/>
            <a:ext cx="93726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Week 6 · 1D: build a small linear array with Repeat Input and Repeat Output. Identify list, count and index.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935224"/>
            <a:ext cx="777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866644"/>
            <a:ext cx="777240" cy="90982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22097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935224"/>
            <a:ext cx="9921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866644"/>
            <a:ext cx="9921240" cy="9098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958084"/>
            <a:ext cx="93726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Week 6 · 2D: nest repetition into a grid. Identify rows and columns; predict the total count.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973068"/>
            <a:ext cx="777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904488"/>
            <a:ext cx="777240" cy="9098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425881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973068"/>
            <a:ext cx="9921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904488"/>
            <a:ext cx="9921240" cy="9098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995928"/>
            <a:ext cx="93726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Week 6 · 3D: repeat the grid in Z for a cube array. Predict Count cubed; distinguish instances from a sampled volume.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5010912"/>
            <a:ext cx="777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942332"/>
            <a:ext cx="777240" cy="9098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529666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5010912"/>
            <a:ext cx="9921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4942332"/>
            <a:ext cx="9921240" cy="9098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5033772"/>
            <a:ext cx="93726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Use Compare and Switch for an if condition; select an index range and move only those copies.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P2b CHECKPOINT — PRINT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Check geometry, units, orientation and the sliced preview before queueing.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23774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2377440" cy="65836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116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GEOMETRY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4700" y="1851660"/>
            <a:ext cx="83210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246120" y="1783080"/>
            <a:ext cx="8321040" cy="65836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20440" y="1783080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Closed and solid. Every edge shared by two faces, no stray pieces.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692908"/>
            <a:ext cx="23774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624328"/>
            <a:ext cx="2377440" cy="65836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8529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UNITS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4700" y="2692908"/>
            <a:ext cx="83210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246120" y="2624328"/>
            <a:ext cx="8321040" cy="65836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20440" y="2624328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Real millimetres. Within 60 mm on each axis.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534156"/>
            <a:ext cx="23774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465576"/>
            <a:ext cx="237744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6941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ORIENTATION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14700" y="3534156"/>
            <a:ext cx="83210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246120" y="3465576"/>
            <a:ext cx="8321040" cy="65836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520440" y="3465576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No supports. Orientation is your lever; change the geometry if you must.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375404"/>
            <a:ext cx="23774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306824"/>
            <a:ext cx="2377440" cy="65836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53542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SLICED PREVIEW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4700" y="4375404"/>
            <a:ext cx="83210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3246120" y="4306824"/>
            <a:ext cx="8321040" cy="65836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20440" y="4306824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Read it layer by layer before queueing. Stay within the 200 g allocation.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41782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349240"/>
            <a:ext cx="10972800" cy="640080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77240" y="53492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C6F035"/>
                </a:solidFill>
                <a:latin typeface="Arial"/>
              </a:rPr>
              <a:t>P2b IS DUE AT THE MIDTERM, WEEK 10 — OCT 27. BRING THE PRINT AND ITS PROCESS SHEET.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P3b — ARRAYS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8 — Oct 13   /   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One assignment, exactly two 17 × 11 sheets, submitted together. Array your P3a module without changing it: sheet 1 today, sheet 2 next week.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3517391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SHEET 1 · TODAY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1D · 2D · 3D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Linear, nested grid, XYZ cube. Count, spacing, index order and predicted totals labelled.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0644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2064" y="3611880"/>
            <a:ext cx="3517391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2064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SHEET 2 · WEEK 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0644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22064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8096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HEX · RADIAL · CURVE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8096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Staggered grid, radial array, and an array along a sine-driven curve.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8347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9767" y="3611880"/>
            <a:ext cx="3517391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9767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THE RULE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8347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49767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05799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THE MODULE STAYS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799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Vary only its placement. Expose count and spacing or radius in the graph.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P3b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Visual quality 35% · computational understanding 25% · technical execution 20% · experimentation 10% · requirements and identity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4459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Array your P3a module across exactly two 17 × 11 inch sheets, submitted together as one assignment.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722168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653588"/>
            <a:ext cx="777240" cy="724204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915107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722168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653588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745028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Sheet 1 — 1D, 2D and 3D arrays: a linear array, a nested grid and an XYZ cube array. Label count, spacing and index order; show the predicted total for each.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592677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524097"/>
            <a:ext cx="777240" cy="72420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78561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592677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524097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615537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Sheet 2 — hexagonal, radial and curve arrays: a staggered hexagonal grid, a radial array (radius, count, angular step) and an array along a curve, including one sine-driven curve with amplitude, frequency and phase labelled.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63186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394606"/>
            <a:ext cx="777240" cy="72420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5612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4463186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4394606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4486046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Keep the module unchanged; vary only its placement. Expose count and spacing or radius in the graph.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333695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265115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52663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5333695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5265115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5356555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Build repetition from basic nodes and begin with a count you can inspect; there is no minimum element count. One conditional (index-range) selection is encouraged on either sheet.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SHEET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class: three arrays you can predict, and one conditional.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Your module on a linear array, count and spacing exposed, spreadsheet open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The array nested into a grid, total predicted before you looked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The grid repeated in Z: 3, 4 and 5 per axis compared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Index order labelled, and one index range moved with Compare and Switch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P3a submitted, and your P2b print geometry checked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D9E1"/>
                </a:solidFill>
                <a:latin typeface="Arial"/>
              </a:rPr>
              <a:t>A COUNT YOU CAN COUNT. NOT A THOUSAND OF ANYTHING, YET.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Week 7: hexagonal, radial and curve arrays — sheet 2 of P3b. Bring sheet 1's graph working; we build on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DUE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Nothing is due next week; it is a studio-review week. P3b, both sheets together, is DUE WEEK 8 — Oct 13   /   7%.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BUILD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Finish sheet 1: linear, nested grid and XYZ cube, with count, spacing, index order and predicted totals labelled.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PRINT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P2b: fix anything flagged at today's checkpoint, then queue it. It is due at the midterm, WEEK 10 — Oct 27.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