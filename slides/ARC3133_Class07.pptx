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DEFAULT">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4D8D"/>
        </a:solidFill>
        <a:effectLst/>
      </p:bgPr>
    </p:bg>
    <p:spTree>
      <p:nvGrpSpPr>
        <p:cNvPr id="1" name=""/>
        <p:cNvGrpSpPr/>
        <p:nvPr/>
      </p:nvGrpSpPr>
      <p:grpSpPr/>
      <p:sp>
        <p:nvSpPr>
          <p:cNvPr id="2" name="Rectangle 1"/>
          <p:cNvSpPr/>
          <p:nvPr/>
        </p:nvSpPr>
        <p:spPr>
          <a:xfrm>
            <a:off x="594360" y="1051560"/>
            <a:ext cx="10972800" cy="25603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94360" y="1481328"/>
            <a:ext cx="7315200" cy="457200"/>
          </a:xfrm>
          <a:prstGeom prst="rect">
            <a:avLst/>
          </a:prstGeom>
          <a:noFill/>
        </p:spPr>
        <p:txBody>
          <a:bodyPr wrap="square" lIns="0" rIns="0" tIns="0" bIns="0" anchor="t">
            <a:spAutoFit/>
          </a:bodyPr>
          <a:lstStyle/>
          <a:p>
            <a:pPr algn="l"/>
            <a:r>
              <a:rPr sz="1800" b="1">
                <a:solidFill>
                  <a:srgbClr val="000000"/>
                </a:solidFill>
                <a:latin typeface="Arial"/>
              </a:rPr>
              <a:t>CLASS 07  /  OCT 6  /  U04</a:t>
            </a:r>
          </a:p>
        </p:txBody>
      </p:sp>
      <p:sp>
        <p:nvSpPr>
          <p:cNvPr id="4" name="Rectangle 3"/>
          <p:cNvSpPr/>
          <p:nvPr/>
        </p:nvSpPr>
        <p:spPr>
          <a:xfrm>
            <a:off x="662940" y="2125980"/>
            <a:ext cx="10149840" cy="214884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594360" y="2057400"/>
            <a:ext cx="10149840" cy="214884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286000"/>
            <a:ext cx="9326880" cy="1737360"/>
          </a:xfrm>
          <a:prstGeom prst="rect">
            <a:avLst/>
          </a:prstGeom>
          <a:noFill/>
        </p:spPr>
        <p:txBody>
          <a:bodyPr wrap="square" lIns="0" rIns="0" tIns="0" bIns="0" anchor="ctr">
            <a:spAutoFit/>
          </a:bodyPr>
          <a:lstStyle/>
          <a:p>
            <a:pPr algn="l">
              <a:lnSpc>
                <a:spcPct val="115000"/>
              </a:lnSpc>
            </a:pPr>
            <a:r>
              <a:rPr sz="4000" b="1">
                <a:solidFill>
                  <a:srgbClr val="000000"/>
                </a:solidFill>
                <a:latin typeface="Arial"/>
              </a:rPr>
              <a:t>ARRAYS 2</a:t>
            </a:r>
          </a:p>
          <a:p>
            <a:pPr algn="l">
              <a:lnSpc>
                <a:spcPct val="115000"/>
              </a:lnSpc>
            </a:pPr>
            <a:r>
              <a:rPr sz="4000" b="1">
                <a:solidFill>
                  <a:srgbClr val="000000"/>
                </a:solidFill>
                <a:latin typeface="Arial"/>
              </a:rPr>
              <a:t>IF · SWITCH · PATTERN</a:t>
            </a:r>
          </a:p>
        </p:txBody>
      </p:sp>
      <p:sp>
        <p:nvSpPr>
          <p:cNvPr id="7" name="Rectangle 6"/>
          <p:cNvSpPr/>
          <p:nvPr/>
        </p:nvSpPr>
        <p:spPr>
          <a:xfrm>
            <a:off x="662940" y="4549140"/>
            <a:ext cx="676656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94360" y="4480560"/>
            <a:ext cx="6766560" cy="566928"/>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795259" y="4549140"/>
            <a:ext cx="301752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726679" y="4480560"/>
            <a:ext cx="3017520" cy="566928"/>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8680" y="4480560"/>
            <a:ext cx="6400800" cy="566928"/>
          </a:xfrm>
          <a:prstGeom prst="rect">
            <a:avLst/>
          </a:prstGeom>
          <a:noFill/>
        </p:spPr>
        <p:txBody>
          <a:bodyPr wrap="square" lIns="0" rIns="0" tIns="0" bIns="0" anchor="ctr">
            <a:spAutoFit/>
          </a:bodyPr>
          <a:lstStyle/>
          <a:p>
            <a:pPr algn="l"/>
            <a:r>
              <a:rPr sz="1300" b="1">
                <a:solidFill>
                  <a:srgbClr val="000000"/>
                </a:solidFill>
                <a:latin typeface="Arial"/>
              </a:rPr>
              <a:t>A RULE THAT READS THE INDEX</a:t>
            </a:r>
          </a:p>
        </p:txBody>
      </p:sp>
      <p:sp>
        <p:nvSpPr>
          <p:cNvPr id="12" name="TextBox 11"/>
          <p:cNvSpPr txBox="1"/>
          <p:nvPr/>
        </p:nvSpPr>
        <p:spPr>
          <a:xfrm>
            <a:off x="7726679" y="4480560"/>
            <a:ext cx="3017520" cy="566928"/>
          </a:xfrm>
          <a:prstGeom prst="rect">
            <a:avLst/>
          </a:prstGeom>
          <a:noFill/>
        </p:spPr>
        <p:txBody>
          <a:bodyPr wrap="square" lIns="0" rIns="0" tIns="0" bIns="0" anchor="ctr">
            <a:spAutoFit/>
          </a:bodyPr>
          <a:lstStyle/>
          <a:p>
            <a:pPr algn="ctr"/>
            <a:r>
              <a:rPr sz="1300" b="1">
                <a:solidFill>
                  <a:srgbClr val="000000"/>
                </a:solidFill>
                <a:latin typeface="Arial"/>
              </a:rPr>
              <a:t>NOTHING DUE TODAY</a:t>
            </a:r>
          </a:p>
        </p:txBody>
      </p:sp>
      <p:sp>
        <p:nvSpPr>
          <p:cNvPr id="13" name="TextBox 12"/>
          <p:cNvSpPr txBox="1"/>
          <p:nvPr/>
        </p:nvSpPr>
        <p:spPr>
          <a:xfrm>
            <a:off x="594360" y="5870448"/>
            <a:ext cx="10972800" cy="292608"/>
          </a:xfrm>
          <a:prstGeom prst="rect">
            <a:avLst/>
          </a:prstGeom>
          <a:noFill/>
        </p:spPr>
        <p:txBody>
          <a:bodyPr wrap="square" lIns="0" rIns="0" tIns="0" bIns="0" anchor="t">
            <a:spAutoFit/>
          </a:bodyPr>
          <a:lstStyle/>
          <a:p>
            <a:pPr algn="l"/>
            <a:r>
              <a:rPr sz="1050" b="1">
                <a:solidFill>
                  <a:srgbClr val="000000"/>
                </a:solidFill>
                <a:latin typeface="Arial"/>
              </a:rPr>
              <a:t>1 · 2.1 · 2.2 · 3.1 · 3.2 DUE ON TEAMS SUN OCT 18, 11:59 PM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LAST WEEK: EVERY COPY THE SAME</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Line, grid, cube, curve — the loop placed one module at every position.</a:t>
            </a:r>
          </a:p>
        </p:txBody>
      </p:sp>
      <p:sp>
        <p:nvSpPr>
          <p:cNvPr id="5" name="Rectangle 4"/>
          <p:cNvSpPr/>
          <p:nvPr/>
        </p:nvSpPr>
        <p:spPr>
          <a:xfrm>
            <a:off x="662940" y="1851660"/>
            <a:ext cx="5120640" cy="320040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5120640" cy="320040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94360" y="1783080"/>
            <a:ext cx="5120640" cy="50292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783080"/>
            <a:ext cx="4663440" cy="502920"/>
          </a:xfrm>
          <a:prstGeom prst="rect">
            <a:avLst/>
          </a:prstGeom>
          <a:noFill/>
        </p:spPr>
        <p:txBody>
          <a:bodyPr wrap="square" lIns="0" rIns="0" tIns="0" bIns="0" anchor="ctr">
            <a:spAutoFit/>
          </a:bodyPr>
          <a:lstStyle/>
          <a:p>
            <a:pPr algn="l"/>
            <a:r>
              <a:rPr sz="1450" b="1">
                <a:solidFill>
                  <a:srgbClr val="000000"/>
                </a:solidFill>
                <a:latin typeface="Arial"/>
              </a:rPr>
              <a:t>THE COUNTERS YOU ALREADY HAVE</a:t>
            </a:r>
          </a:p>
        </p:txBody>
      </p:sp>
      <p:sp>
        <p:nvSpPr>
          <p:cNvPr id="9" name="TextBox 8"/>
          <p:cNvSpPr txBox="1"/>
          <p:nvPr/>
        </p:nvSpPr>
        <p:spPr>
          <a:xfrm>
            <a:off x="914400" y="2514600"/>
            <a:ext cx="4572000" cy="347472"/>
          </a:xfrm>
          <a:prstGeom prst="rect">
            <a:avLst/>
          </a:prstGeom>
          <a:noFill/>
        </p:spPr>
        <p:txBody>
          <a:bodyPr wrap="square" lIns="0" rIns="0" tIns="0" bIns="0" anchor="t">
            <a:spAutoFit/>
          </a:bodyPr>
          <a:lstStyle/>
          <a:p>
            <a:pPr algn="l"/>
            <a:r>
              <a:rPr sz="1350" b="1">
                <a:solidFill>
                  <a:srgbClr val="D7263D"/>
                </a:solidFill>
                <a:latin typeface="Courier New"/>
              </a:rPr>
              <a:t>i</a:t>
            </a:r>
            <a:r>
              <a:rPr sz="1350">
                <a:solidFill>
                  <a:srgbClr val="000000"/>
                </a:solidFill>
                <a:latin typeface="Courier New"/>
              </a:rPr>
              <a:t>   →  along the row</a:t>
            </a:r>
          </a:p>
        </p:txBody>
      </p:sp>
      <p:sp>
        <p:nvSpPr>
          <p:cNvPr id="10" name="TextBox 9"/>
          <p:cNvSpPr txBox="1"/>
          <p:nvPr/>
        </p:nvSpPr>
        <p:spPr>
          <a:xfrm>
            <a:off x="914400" y="2862072"/>
            <a:ext cx="4572000" cy="347472"/>
          </a:xfrm>
          <a:prstGeom prst="rect">
            <a:avLst/>
          </a:prstGeom>
          <a:noFill/>
        </p:spPr>
        <p:txBody>
          <a:bodyPr wrap="square" lIns="0" rIns="0" tIns="0" bIns="0" anchor="t">
            <a:spAutoFit/>
          </a:bodyPr>
          <a:lstStyle/>
          <a:p>
            <a:pPr algn="l"/>
            <a:r>
              <a:rPr sz="1350" b="1">
                <a:solidFill>
                  <a:srgbClr val="3E8E00"/>
                </a:solidFill>
                <a:latin typeface="Courier New"/>
              </a:rPr>
              <a:t>j</a:t>
            </a:r>
            <a:r>
              <a:rPr sz="1350">
                <a:solidFill>
                  <a:srgbClr val="000000"/>
                </a:solidFill>
                <a:latin typeface="Courier New"/>
              </a:rPr>
              <a:t>   →  which row</a:t>
            </a:r>
          </a:p>
        </p:txBody>
      </p:sp>
      <p:sp>
        <p:nvSpPr>
          <p:cNvPr id="11" name="TextBox 10"/>
          <p:cNvSpPr txBox="1"/>
          <p:nvPr/>
        </p:nvSpPr>
        <p:spPr>
          <a:xfrm>
            <a:off x="914400" y="3209544"/>
            <a:ext cx="4572000" cy="347472"/>
          </a:xfrm>
          <a:prstGeom prst="rect">
            <a:avLst/>
          </a:prstGeom>
          <a:noFill/>
        </p:spPr>
        <p:txBody>
          <a:bodyPr wrap="square" lIns="0" rIns="0" tIns="0" bIns="0" anchor="t">
            <a:spAutoFit/>
          </a:bodyPr>
          <a:lstStyle/>
          <a:p>
            <a:pPr algn="l"/>
            <a:r>
              <a:rPr sz="1350" b="1">
                <a:solidFill>
                  <a:srgbClr val="1F6FD1"/>
                </a:solidFill>
                <a:latin typeface="Courier New"/>
              </a:rPr>
              <a:t>k</a:t>
            </a:r>
            <a:r>
              <a:rPr sz="1350">
                <a:solidFill>
                  <a:srgbClr val="000000"/>
                </a:solidFill>
                <a:latin typeface="Courier New"/>
              </a:rPr>
              <a:t>   →  which layer</a:t>
            </a:r>
          </a:p>
        </p:txBody>
      </p:sp>
      <p:sp>
        <p:nvSpPr>
          <p:cNvPr id="12" name="TextBox 11"/>
          <p:cNvSpPr txBox="1"/>
          <p:nvPr/>
        </p:nvSpPr>
        <p:spPr>
          <a:xfrm>
            <a:off x="914400" y="3557015"/>
            <a:ext cx="4572000" cy="347472"/>
          </a:xfrm>
          <a:prstGeom prst="rect">
            <a:avLst/>
          </a:prstGeom>
          <a:noFill/>
        </p:spPr>
        <p:txBody>
          <a:bodyPr wrap="square" lIns="0" rIns="0" tIns="0" bIns="0" anchor="t">
            <a:spAutoFit/>
          </a:bodyPr>
          <a:lstStyle/>
          <a:p>
            <a:pPr algn="l"/>
            <a:r>
              <a:rPr sz="1350">
                <a:solidFill>
                  <a:srgbClr val="000000"/>
                </a:solidFill>
                <a:latin typeface="Courier New"/>
              </a:rPr>
              <a:t> </a:t>
            </a:r>
          </a:p>
        </p:txBody>
      </p:sp>
      <p:sp>
        <p:nvSpPr>
          <p:cNvPr id="13" name="TextBox 12"/>
          <p:cNvSpPr txBox="1"/>
          <p:nvPr/>
        </p:nvSpPr>
        <p:spPr>
          <a:xfrm>
            <a:off x="914400" y="3904487"/>
            <a:ext cx="4572000" cy="347472"/>
          </a:xfrm>
          <a:prstGeom prst="rect">
            <a:avLst/>
          </a:prstGeom>
          <a:noFill/>
        </p:spPr>
        <p:txBody>
          <a:bodyPr wrap="square" lIns="0" rIns="0" tIns="0" bIns="0" anchor="t">
            <a:spAutoFit/>
          </a:bodyPr>
          <a:lstStyle/>
          <a:p>
            <a:pPr algn="l"/>
            <a:r>
              <a:rPr sz="1350">
                <a:solidFill>
                  <a:srgbClr val="000000"/>
                </a:solidFill>
                <a:latin typeface="Courier New"/>
              </a:rPr>
              <a:t>index = </a:t>
            </a:r>
            <a:r>
              <a:rPr sz="1350" b="1">
                <a:solidFill>
                  <a:srgbClr val="D7263D"/>
                </a:solidFill>
                <a:latin typeface="Courier New"/>
              </a:rPr>
              <a:t>i</a:t>
            </a:r>
            <a:r>
              <a:rPr sz="1350">
                <a:solidFill>
                  <a:srgbClr val="000000"/>
                </a:solidFill>
                <a:latin typeface="Courier New"/>
              </a:rPr>
              <a:t> + </a:t>
            </a:r>
            <a:r>
              <a:rPr sz="1350" b="1">
                <a:solidFill>
                  <a:srgbClr val="3E8E00"/>
                </a:solidFill>
                <a:latin typeface="Courier New"/>
              </a:rPr>
              <a:t>j</a:t>
            </a:r>
            <a:r>
              <a:rPr sz="1350">
                <a:solidFill>
                  <a:srgbClr val="000000"/>
                </a:solidFill>
                <a:latin typeface="Courier New"/>
              </a:rPr>
              <a:t>*nx + </a:t>
            </a:r>
            <a:r>
              <a:rPr sz="1350" b="1">
                <a:solidFill>
                  <a:srgbClr val="1F6FD1"/>
                </a:solidFill>
                <a:latin typeface="Courier New"/>
              </a:rPr>
              <a:t>k</a:t>
            </a:r>
            <a:r>
              <a:rPr sz="1350">
                <a:solidFill>
                  <a:srgbClr val="000000"/>
                </a:solidFill>
                <a:latin typeface="Courier New"/>
              </a:rPr>
              <a:t>*nx*ny</a:t>
            </a:r>
          </a:p>
        </p:txBody>
      </p:sp>
      <p:sp>
        <p:nvSpPr>
          <p:cNvPr id="14" name="Rectangle 13"/>
          <p:cNvSpPr/>
          <p:nvPr/>
        </p:nvSpPr>
        <p:spPr>
          <a:xfrm>
            <a:off x="6103620" y="1851660"/>
            <a:ext cx="5532120" cy="320040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035040" y="1783080"/>
            <a:ext cx="5532120" cy="320040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035040" y="1783080"/>
            <a:ext cx="5532120" cy="502920"/>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63640" y="1783080"/>
            <a:ext cx="5074920" cy="502920"/>
          </a:xfrm>
          <a:prstGeom prst="rect">
            <a:avLst/>
          </a:prstGeom>
          <a:noFill/>
        </p:spPr>
        <p:txBody>
          <a:bodyPr wrap="square" lIns="0" rIns="0" tIns="0" bIns="0" anchor="ctr">
            <a:spAutoFit/>
          </a:bodyPr>
          <a:lstStyle/>
          <a:p>
            <a:pPr algn="l"/>
            <a:r>
              <a:rPr sz="1587" b="1">
                <a:solidFill>
                  <a:srgbClr val="000000"/>
                </a:solidFill>
                <a:latin typeface="Arial"/>
              </a:rPr>
              <a:t>TODAY</a:t>
            </a:r>
          </a:p>
        </p:txBody>
      </p:sp>
      <p:sp>
        <p:nvSpPr>
          <p:cNvPr id="18" name="TextBox 17"/>
          <p:cNvSpPr txBox="1"/>
          <p:nvPr/>
        </p:nvSpPr>
        <p:spPr>
          <a:xfrm>
            <a:off x="6309360" y="2487168"/>
            <a:ext cx="4983480" cy="2377440"/>
          </a:xfrm>
          <a:prstGeom prst="rect">
            <a:avLst/>
          </a:prstGeom>
          <a:noFill/>
        </p:spPr>
        <p:txBody>
          <a:bodyPr wrap="square" lIns="0" rIns="0" tIns="0" bIns="0" anchor="t">
            <a:spAutoFit/>
          </a:bodyPr>
          <a:lstStyle/>
          <a:p>
            <a:pPr algn="l">
              <a:lnSpc>
                <a:spcPct val="135000"/>
              </a:lnSpc>
            </a:pPr>
            <a:r>
              <a:rPr sz="1400">
                <a:solidFill>
                  <a:srgbClr val="000000"/>
                </a:solidFill>
                <a:latin typeface="Calibri"/>
              </a:rPr>
              <a:t>A rule reads those counters and decides something about each copy.</a:t>
            </a:r>
          </a:p>
          <a:p>
            <a:pPr algn="l">
              <a:lnSpc>
                <a:spcPct val="135000"/>
              </a:lnSpc>
            </a:pPr>
            <a:r>
              <a:rPr sz="700">
                <a:solidFill>
                  <a:srgbClr val="000000"/>
                </a:solidFill>
                <a:latin typeface="Calibri"/>
              </a:rPr>
              <a:t> </a:t>
            </a:r>
          </a:p>
          <a:p>
            <a:pPr algn="l">
              <a:lnSpc>
                <a:spcPct val="135000"/>
              </a:lnSpc>
            </a:pPr>
            <a:r>
              <a:rPr sz="1400">
                <a:solidFill>
                  <a:srgbClr val="000000"/>
                </a:solidFill>
                <a:latin typeface="Calibri"/>
              </a:rPr>
              <a:t>Same loop, same positions. The only new thing is a question asked of every copy — and an answer that changes one of its parameters.</a:t>
            </a:r>
          </a:p>
        </p:txBody>
      </p:sp>
      <p:sp>
        <p:nvSpPr>
          <p:cNvPr id="19" name="Rectangle 18"/>
          <p:cNvSpPr/>
          <p:nvPr/>
        </p:nvSpPr>
        <p:spPr>
          <a:xfrm>
            <a:off x="662940" y="5326380"/>
            <a:ext cx="10972800" cy="65836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594360" y="5257800"/>
            <a:ext cx="10972800" cy="658368"/>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07040" cy="658368"/>
          </a:xfrm>
          <a:prstGeom prst="rect">
            <a:avLst/>
          </a:prstGeom>
          <a:noFill/>
        </p:spPr>
        <p:txBody>
          <a:bodyPr wrap="square" lIns="0" rIns="0" tIns="0" bIns="0" anchor="ctr">
            <a:spAutoFit/>
          </a:bodyPr>
          <a:lstStyle/>
          <a:p>
            <a:pPr algn="ctr"/>
            <a:r>
              <a:rPr sz="1250" b="1">
                <a:solidFill>
                  <a:srgbClr val="000000"/>
                </a:solidFill>
                <a:latin typeface="Arial"/>
              </a:rPr>
              <a:t>THE INDEX WAS A COUNTER. TODAY IT BECOMES AN INPUT.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FFFDF7"/>
                </a:solidFill>
                <a:latin typeface="Arial"/>
              </a:rPr>
              <a:t>A CONDITION, A SWITCH, A VALUE</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B4B4AC"/>
                </a:solidFill>
                <a:latin typeface="Calibri"/>
              </a:rPr>
              <a:t>Three nodes. In the class file: Compare → Switch → the input it drives.</a:t>
            </a:r>
          </a:p>
        </p:txBody>
      </p:sp>
      <p:sp>
        <p:nvSpPr>
          <p:cNvPr id="5" name="Rectangle 4"/>
          <p:cNvSpPr/>
          <p:nvPr/>
        </p:nvSpPr>
        <p:spPr>
          <a:xfrm>
            <a:off x="662940" y="1851660"/>
            <a:ext cx="3246120" cy="45720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3246120" cy="45720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94360" y="1911095"/>
            <a:ext cx="3246120" cy="274320"/>
          </a:xfrm>
          <a:prstGeom prst="rect">
            <a:avLst/>
          </a:prstGeom>
          <a:noFill/>
        </p:spPr>
        <p:txBody>
          <a:bodyPr wrap="square" lIns="0" rIns="0" tIns="0" bIns="0" anchor="t">
            <a:spAutoFit/>
          </a:bodyPr>
          <a:lstStyle/>
          <a:p>
            <a:pPr algn="ctr"/>
            <a:r>
              <a:rPr sz="1250" b="1">
                <a:solidFill>
                  <a:srgbClr val="000000"/>
                </a:solidFill>
                <a:latin typeface="Arial"/>
              </a:rPr>
              <a:t>CONDITION</a:t>
            </a:r>
          </a:p>
        </p:txBody>
      </p:sp>
      <p:sp>
        <p:nvSpPr>
          <p:cNvPr id="8" name="Rectangle 7"/>
          <p:cNvSpPr/>
          <p:nvPr/>
        </p:nvSpPr>
        <p:spPr>
          <a:xfrm>
            <a:off x="662940" y="2400300"/>
            <a:ext cx="3246120" cy="22402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94360" y="2331720"/>
            <a:ext cx="3246120" cy="224028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68680" y="2514600"/>
            <a:ext cx="2788920" cy="365760"/>
          </a:xfrm>
          <a:prstGeom prst="rect">
            <a:avLst/>
          </a:prstGeom>
          <a:noFill/>
        </p:spPr>
        <p:txBody>
          <a:bodyPr wrap="square" lIns="0" rIns="0" tIns="0" bIns="0" anchor="t">
            <a:spAutoFit/>
          </a:bodyPr>
          <a:lstStyle/>
          <a:p>
            <a:pPr algn="l"/>
            <a:r>
              <a:rPr sz="1400" b="1">
                <a:solidFill>
                  <a:srgbClr val="1F6FD1"/>
                </a:solidFill>
                <a:latin typeface="Courier New"/>
              </a:rPr>
              <a:t>k</a:t>
            </a:r>
            <a:r>
              <a:rPr sz="1400">
                <a:solidFill>
                  <a:srgbClr val="000000"/>
                </a:solidFill>
                <a:latin typeface="Courier New"/>
              </a:rPr>
              <a:t> % 2 == 0</a:t>
            </a:r>
          </a:p>
        </p:txBody>
      </p:sp>
      <p:sp>
        <p:nvSpPr>
          <p:cNvPr id="11" name="TextBox 10"/>
          <p:cNvSpPr txBox="1"/>
          <p:nvPr/>
        </p:nvSpPr>
        <p:spPr>
          <a:xfrm>
            <a:off x="868680" y="3429000"/>
            <a:ext cx="2697479" cy="1051560"/>
          </a:xfrm>
          <a:prstGeom prst="rect">
            <a:avLst/>
          </a:prstGeom>
          <a:noFill/>
        </p:spPr>
        <p:txBody>
          <a:bodyPr wrap="square" lIns="0" rIns="0" tIns="0" bIns="0" anchor="t">
            <a:spAutoFit/>
          </a:bodyPr>
          <a:lstStyle/>
          <a:p>
            <a:pPr algn="l">
              <a:lnSpc>
                <a:spcPct val="125000"/>
              </a:lnSpc>
            </a:pPr>
            <a:r>
              <a:rPr sz="1300">
                <a:solidFill>
                  <a:srgbClr val="000000"/>
                </a:solidFill>
                <a:latin typeface="Calibri"/>
              </a:rPr>
              <a:t>Compare asks a yes/no question of this copy's index.</a:t>
            </a:r>
          </a:p>
        </p:txBody>
      </p:sp>
      <p:sp>
        <p:nvSpPr>
          <p:cNvPr id="12" name="TextBox 11"/>
          <p:cNvSpPr txBox="1"/>
          <p:nvPr/>
        </p:nvSpPr>
        <p:spPr>
          <a:xfrm>
            <a:off x="3886200" y="2926080"/>
            <a:ext cx="548640" cy="548640"/>
          </a:xfrm>
          <a:prstGeom prst="rect">
            <a:avLst/>
          </a:prstGeom>
          <a:noFill/>
        </p:spPr>
        <p:txBody>
          <a:bodyPr wrap="square" lIns="0" rIns="0" tIns="0" bIns="0" anchor="t">
            <a:spAutoFit/>
          </a:bodyPr>
          <a:lstStyle/>
          <a:p>
            <a:pPr algn="ctr"/>
            <a:r>
              <a:rPr sz="3000" b="1">
                <a:solidFill>
                  <a:srgbClr val="FFFDF7"/>
                </a:solidFill>
                <a:latin typeface="Arial"/>
              </a:rPr>
              <a:t>→</a:t>
            </a:r>
          </a:p>
        </p:txBody>
      </p:sp>
      <p:sp>
        <p:nvSpPr>
          <p:cNvPr id="13" name="Rectangle 12"/>
          <p:cNvSpPr/>
          <p:nvPr/>
        </p:nvSpPr>
        <p:spPr>
          <a:xfrm>
            <a:off x="4521708" y="1851660"/>
            <a:ext cx="3246120" cy="45720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453128" y="1783080"/>
            <a:ext cx="3246120" cy="457200"/>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53128" y="1911095"/>
            <a:ext cx="3246120" cy="274320"/>
          </a:xfrm>
          <a:prstGeom prst="rect">
            <a:avLst/>
          </a:prstGeom>
          <a:noFill/>
        </p:spPr>
        <p:txBody>
          <a:bodyPr wrap="square" lIns="0" rIns="0" tIns="0" bIns="0" anchor="t">
            <a:spAutoFit/>
          </a:bodyPr>
          <a:lstStyle/>
          <a:p>
            <a:pPr algn="ctr"/>
            <a:r>
              <a:rPr sz="1250" b="1">
                <a:solidFill>
                  <a:srgbClr val="000000"/>
                </a:solidFill>
                <a:latin typeface="Arial"/>
              </a:rPr>
              <a:t>SWITCH</a:t>
            </a:r>
          </a:p>
        </p:txBody>
      </p:sp>
      <p:sp>
        <p:nvSpPr>
          <p:cNvPr id="16" name="Rectangle 15"/>
          <p:cNvSpPr/>
          <p:nvPr/>
        </p:nvSpPr>
        <p:spPr>
          <a:xfrm>
            <a:off x="4521708" y="2400300"/>
            <a:ext cx="3246120" cy="22402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4453128" y="2331720"/>
            <a:ext cx="3246120" cy="224028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727448" y="2514600"/>
            <a:ext cx="2788920" cy="365760"/>
          </a:xfrm>
          <a:prstGeom prst="rect">
            <a:avLst/>
          </a:prstGeom>
          <a:noFill/>
        </p:spPr>
        <p:txBody>
          <a:bodyPr wrap="square" lIns="0" rIns="0" tIns="0" bIns="0" anchor="t">
            <a:spAutoFit/>
          </a:bodyPr>
          <a:lstStyle/>
          <a:p>
            <a:pPr algn="l"/>
            <a:r>
              <a:rPr sz="1400">
                <a:solidFill>
                  <a:srgbClr val="000000"/>
                </a:solidFill>
                <a:latin typeface="Courier New"/>
              </a:rPr>
              <a:t>true → A</a:t>
            </a:r>
          </a:p>
        </p:txBody>
      </p:sp>
      <p:sp>
        <p:nvSpPr>
          <p:cNvPr id="19" name="TextBox 18"/>
          <p:cNvSpPr txBox="1"/>
          <p:nvPr/>
        </p:nvSpPr>
        <p:spPr>
          <a:xfrm>
            <a:off x="4727448" y="2880360"/>
            <a:ext cx="2788920" cy="365760"/>
          </a:xfrm>
          <a:prstGeom prst="rect">
            <a:avLst/>
          </a:prstGeom>
          <a:noFill/>
        </p:spPr>
        <p:txBody>
          <a:bodyPr wrap="square" lIns="0" rIns="0" tIns="0" bIns="0" anchor="t">
            <a:spAutoFit/>
          </a:bodyPr>
          <a:lstStyle/>
          <a:p>
            <a:pPr algn="l"/>
            <a:r>
              <a:rPr sz="1400">
                <a:solidFill>
                  <a:srgbClr val="000000"/>
                </a:solidFill>
                <a:latin typeface="Courier New"/>
              </a:rPr>
              <a:t>false → B</a:t>
            </a:r>
          </a:p>
        </p:txBody>
      </p:sp>
      <p:sp>
        <p:nvSpPr>
          <p:cNvPr id="20" name="TextBox 19"/>
          <p:cNvSpPr txBox="1"/>
          <p:nvPr/>
        </p:nvSpPr>
        <p:spPr>
          <a:xfrm>
            <a:off x="4727448" y="3429000"/>
            <a:ext cx="2697479" cy="1051560"/>
          </a:xfrm>
          <a:prstGeom prst="rect">
            <a:avLst/>
          </a:prstGeom>
          <a:noFill/>
        </p:spPr>
        <p:txBody>
          <a:bodyPr wrap="square" lIns="0" rIns="0" tIns="0" bIns="0" anchor="t">
            <a:spAutoFit/>
          </a:bodyPr>
          <a:lstStyle/>
          <a:p>
            <a:pPr algn="l">
              <a:lnSpc>
                <a:spcPct val="125000"/>
              </a:lnSpc>
            </a:pPr>
            <a:r>
              <a:rPr sz="1300">
                <a:solidFill>
                  <a:srgbClr val="000000"/>
                </a:solidFill>
                <a:latin typeface="Calibri"/>
              </a:rPr>
              <a:t>Switch passes one of its two inputs, chosen by the answer.</a:t>
            </a:r>
          </a:p>
        </p:txBody>
      </p:sp>
      <p:sp>
        <p:nvSpPr>
          <p:cNvPr id="21" name="TextBox 20"/>
          <p:cNvSpPr txBox="1"/>
          <p:nvPr/>
        </p:nvSpPr>
        <p:spPr>
          <a:xfrm>
            <a:off x="7744968" y="2926080"/>
            <a:ext cx="548640" cy="548640"/>
          </a:xfrm>
          <a:prstGeom prst="rect">
            <a:avLst/>
          </a:prstGeom>
          <a:noFill/>
        </p:spPr>
        <p:txBody>
          <a:bodyPr wrap="square" lIns="0" rIns="0" tIns="0" bIns="0" anchor="t">
            <a:spAutoFit/>
          </a:bodyPr>
          <a:lstStyle/>
          <a:p>
            <a:pPr algn="ctr"/>
            <a:r>
              <a:rPr sz="3000" b="1">
                <a:solidFill>
                  <a:srgbClr val="FFFDF7"/>
                </a:solidFill>
                <a:latin typeface="Arial"/>
              </a:rPr>
              <a:t>→</a:t>
            </a:r>
          </a:p>
        </p:txBody>
      </p:sp>
      <p:sp>
        <p:nvSpPr>
          <p:cNvPr id="22" name="Rectangle 21"/>
          <p:cNvSpPr/>
          <p:nvPr/>
        </p:nvSpPr>
        <p:spPr>
          <a:xfrm>
            <a:off x="8380475" y="1851660"/>
            <a:ext cx="3246120" cy="45720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8311896" y="1783080"/>
            <a:ext cx="3246120" cy="45720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311896" y="1911095"/>
            <a:ext cx="3246120" cy="274320"/>
          </a:xfrm>
          <a:prstGeom prst="rect">
            <a:avLst/>
          </a:prstGeom>
          <a:noFill/>
        </p:spPr>
        <p:txBody>
          <a:bodyPr wrap="square" lIns="0" rIns="0" tIns="0" bIns="0" anchor="t">
            <a:spAutoFit/>
          </a:bodyPr>
          <a:lstStyle/>
          <a:p>
            <a:pPr algn="ctr"/>
            <a:r>
              <a:rPr sz="1250" b="1">
                <a:solidFill>
                  <a:srgbClr val="000000"/>
                </a:solidFill>
                <a:latin typeface="Arial"/>
              </a:rPr>
              <a:t>VALUE</a:t>
            </a:r>
          </a:p>
        </p:txBody>
      </p:sp>
      <p:sp>
        <p:nvSpPr>
          <p:cNvPr id="25" name="Rectangle 24"/>
          <p:cNvSpPr/>
          <p:nvPr/>
        </p:nvSpPr>
        <p:spPr>
          <a:xfrm>
            <a:off x="8380475" y="2400300"/>
            <a:ext cx="3246120" cy="224028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311896" y="2331720"/>
            <a:ext cx="3246120" cy="224028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586216" y="2514600"/>
            <a:ext cx="2788920" cy="365760"/>
          </a:xfrm>
          <a:prstGeom prst="rect">
            <a:avLst/>
          </a:prstGeom>
          <a:noFill/>
        </p:spPr>
        <p:txBody>
          <a:bodyPr wrap="square" lIns="0" rIns="0" tIns="0" bIns="0" anchor="t">
            <a:spAutoFit/>
          </a:bodyPr>
          <a:lstStyle/>
          <a:p>
            <a:pPr algn="l"/>
            <a:r>
              <a:rPr sz="1400">
                <a:solidFill>
                  <a:srgbClr val="000000"/>
                </a:solidFill>
                <a:latin typeface="Courier New"/>
              </a:rPr>
              <a:t>shift · size · turn</a:t>
            </a:r>
          </a:p>
        </p:txBody>
      </p:sp>
      <p:sp>
        <p:nvSpPr>
          <p:cNvPr id="28" name="TextBox 27"/>
          <p:cNvSpPr txBox="1"/>
          <p:nvPr/>
        </p:nvSpPr>
        <p:spPr>
          <a:xfrm>
            <a:off x="8586216" y="2880360"/>
            <a:ext cx="2788920" cy="365760"/>
          </a:xfrm>
          <a:prstGeom prst="rect">
            <a:avLst/>
          </a:prstGeom>
          <a:noFill/>
        </p:spPr>
        <p:txBody>
          <a:bodyPr wrap="square" lIns="0" rIns="0" tIns="0" bIns="0" anchor="t">
            <a:spAutoFit/>
          </a:bodyPr>
          <a:lstStyle/>
          <a:p>
            <a:pPr algn="l"/>
            <a:r>
              <a:rPr sz="1400">
                <a:solidFill>
                  <a:srgbClr val="000000"/>
                </a:solidFill>
                <a:latin typeface="Courier New"/>
              </a:rPr>
              <a:t>depth · keep</a:t>
            </a:r>
          </a:p>
        </p:txBody>
      </p:sp>
      <p:sp>
        <p:nvSpPr>
          <p:cNvPr id="29" name="TextBox 28"/>
          <p:cNvSpPr txBox="1"/>
          <p:nvPr/>
        </p:nvSpPr>
        <p:spPr>
          <a:xfrm>
            <a:off x="8586216" y="3429000"/>
            <a:ext cx="2697479" cy="1051560"/>
          </a:xfrm>
          <a:prstGeom prst="rect">
            <a:avLst/>
          </a:prstGeom>
          <a:noFill/>
        </p:spPr>
        <p:txBody>
          <a:bodyPr wrap="square" lIns="0" rIns="0" tIns="0" bIns="0" anchor="t">
            <a:spAutoFit/>
          </a:bodyPr>
          <a:lstStyle/>
          <a:p>
            <a:pPr algn="l">
              <a:lnSpc>
                <a:spcPct val="125000"/>
              </a:lnSpc>
            </a:pPr>
            <a:r>
              <a:rPr sz="1300">
                <a:solidFill>
                  <a:srgbClr val="000000"/>
                </a:solidFill>
                <a:latin typeface="Calibri"/>
              </a:rPr>
              <a:t>The chosen value drives one parameter of that copy.</a:t>
            </a:r>
          </a:p>
        </p:txBody>
      </p:sp>
      <p:sp>
        <p:nvSpPr>
          <p:cNvPr id="30" name="Rectangle 29"/>
          <p:cNvSpPr/>
          <p:nvPr/>
        </p:nvSpPr>
        <p:spPr>
          <a:xfrm>
            <a:off x="594360" y="4800600"/>
            <a:ext cx="10972800" cy="65836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14400" y="4956048"/>
            <a:ext cx="10424160" cy="365760"/>
          </a:xfrm>
          <a:prstGeom prst="rect">
            <a:avLst/>
          </a:prstGeom>
          <a:noFill/>
        </p:spPr>
        <p:txBody>
          <a:bodyPr wrap="square" lIns="0" rIns="0" tIns="0" bIns="0" anchor="t">
            <a:spAutoFit/>
          </a:bodyPr>
          <a:lstStyle/>
          <a:p>
            <a:pPr algn="l"/>
            <a:r>
              <a:rPr sz="1500">
                <a:solidFill>
                  <a:srgbClr val="000000"/>
                </a:solidFill>
                <a:latin typeface="Courier New"/>
              </a:rPr>
              <a:t>value = A if condition else B        </a:t>
            </a:r>
            <a:r>
              <a:rPr sz="1500">
                <a:solidFill>
                  <a:srgbClr val="6B6B6B"/>
                </a:solidFill>
                <a:latin typeface="Courier New"/>
              </a:rPr>
              <a:t># the whole idea, in one line</a:t>
            </a:r>
          </a:p>
        </p:txBody>
      </p:sp>
      <p:sp>
        <p:nvSpPr>
          <p:cNvPr id="32" name="Rectangle 31"/>
          <p:cNvSpPr/>
          <p:nvPr/>
        </p:nvSpPr>
        <p:spPr>
          <a:xfrm>
            <a:off x="662940" y="5829300"/>
            <a:ext cx="1097280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94360" y="5760720"/>
            <a:ext cx="10972800" cy="566928"/>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77240" y="5760720"/>
            <a:ext cx="10607040" cy="566928"/>
          </a:xfrm>
          <a:prstGeom prst="rect">
            <a:avLst/>
          </a:prstGeom>
          <a:noFill/>
        </p:spPr>
        <p:txBody>
          <a:bodyPr wrap="square" lIns="0" rIns="0" tIns="0" bIns="0" anchor="ctr">
            <a:spAutoFit/>
          </a:bodyPr>
          <a:lstStyle/>
          <a:p>
            <a:pPr algn="ctr"/>
            <a:r>
              <a:rPr sz="1250" b="1">
                <a:solidFill>
                  <a:srgbClr val="000000"/>
                </a:solidFill>
                <a:latin typeface="Arial"/>
              </a:rPr>
              <a:t>A CONDITION IS TRUE OR FALSE. A SWITCH TURNS THAT INTO ONE OF TWO VALUES.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MODULO — THE TEST THAT REPEATS</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 gives the remainder. It turns a counter that keeps growing into one that cycles.</a:t>
            </a:r>
          </a:p>
        </p:txBody>
      </p:sp>
      <p:sp>
        <p:nvSpPr>
          <p:cNvPr id="5" name="Rectangle 4"/>
          <p:cNvSpPr/>
          <p:nvPr/>
        </p:nvSpPr>
        <p:spPr>
          <a:xfrm>
            <a:off x="594360" y="1874519"/>
            <a:ext cx="1965960" cy="676656"/>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4360" y="2112263"/>
            <a:ext cx="1965960" cy="274320"/>
          </a:xfrm>
          <a:prstGeom prst="rect">
            <a:avLst/>
          </a:prstGeom>
          <a:noFill/>
        </p:spPr>
        <p:txBody>
          <a:bodyPr wrap="square" lIns="0" rIns="0" tIns="0" bIns="0" anchor="t">
            <a:spAutoFit/>
          </a:bodyPr>
          <a:lstStyle/>
          <a:p>
            <a:pPr algn="ctr"/>
            <a:r>
              <a:rPr sz="1250" b="1">
                <a:solidFill>
                  <a:srgbClr val="000000"/>
                </a:solidFill>
                <a:latin typeface="Arial"/>
              </a:rPr>
              <a:t>i</a:t>
            </a:r>
          </a:p>
        </p:txBody>
      </p:sp>
      <p:sp>
        <p:nvSpPr>
          <p:cNvPr id="7" name="Rectangle 6"/>
          <p:cNvSpPr/>
          <p:nvPr/>
        </p:nvSpPr>
        <p:spPr>
          <a:xfrm>
            <a:off x="2743200" y="1874519"/>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43200" y="187451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0</a:t>
            </a:r>
          </a:p>
        </p:txBody>
      </p:sp>
      <p:sp>
        <p:nvSpPr>
          <p:cNvPr id="9" name="Rectangle 8"/>
          <p:cNvSpPr/>
          <p:nvPr/>
        </p:nvSpPr>
        <p:spPr>
          <a:xfrm>
            <a:off x="3493008" y="1874519"/>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93008" y="187451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1</a:t>
            </a:r>
          </a:p>
        </p:txBody>
      </p:sp>
      <p:sp>
        <p:nvSpPr>
          <p:cNvPr id="11" name="Rectangle 10"/>
          <p:cNvSpPr/>
          <p:nvPr/>
        </p:nvSpPr>
        <p:spPr>
          <a:xfrm>
            <a:off x="4242816" y="1874519"/>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242816" y="187451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2</a:t>
            </a:r>
          </a:p>
        </p:txBody>
      </p:sp>
      <p:sp>
        <p:nvSpPr>
          <p:cNvPr id="13" name="Rectangle 12"/>
          <p:cNvSpPr/>
          <p:nvPr/>
        </p:nvSpPr>
        <p:spPr>
          <a:xfrm>
            <a:off x="4992624" y="1874519"/>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992624" y="187451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3</a:t>
            </a:r>
          </a:p>
        </p:txBody>
      </p:sp>
      <p:sp>
        <p:nvSpPr>
          <p:cNvPr id="15" name="Rectangle 14"/>
          <p:cNvSpPr/>
          <p:nvPr/>
        </p:nvSpPr>
        <p:spPr>
          <a:xfrm>
            <a:off x="5742431" y="1874519"/>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742431" y="187451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4</a:t>
            </a:r>
          </a:p>
        </p:txBody>
      </p:sp>
      <p:sp>
        <p:nvSpPr>
          <p:cNvPr id="17" name="Rectangle 16"/>
          <p:cNvSpPr/>
          <p:nvPr/>
        </p:nvSpPr>
        <p:spPr>
          <a:xfrm>
            <a:off x="6492240" y="1874519"/>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0" y="187451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5</a:t>
            </a:r>
          </a:p>
        </p:txBody>
      </p:sp>
      <p:sp>
        <p:nvSpPr>
          <p:cNvPr id="19" name="Rectangle 18"/>
          <p:cNvSpPr/>
          <p:nvPr/>
        </p:nvSpPr>
        <p:spPr>
          <a:xfrm>
            <a:off x="7242048" y="1874519"/>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242048" y="187451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6</a:t>
            </a:r>
          </a:p>
        </p:txBody>
      </p:sp>
      <p:sp>
        <p:nvSpPr>
          <p:cNvPr id="21" name="Rectangle 20"/>
          <p:cNvSpPr/>
          <p:nvPr/>
        </p:nvSpPr>
        <p:spPr>
          <a:xfrm>
            <a:off x="7991855" y="1874519"/>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991855" y="187451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7</a:t>
            </a:r>
          </a:p>
        </p:txBody>
      </p:sp>
      <p:sp>
        <p:nvSpPr>
          <p:cNvPr id="23" name="Rectangle 22"/>
          <p:cNvSpPr/>
          <p:nvPr/>
        </p:nvSpPr>
        <p:spPr>
          <a:xfrm>
            <a:off x="8741663" y="1874519"/>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741663" y="187451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8</a:t>
            </a:r>
          </a:p>
        </p:txBody>
      </p:sp>
      <p:sp>
        <p:nvSpPr>
          <p:cNvPr id="25" name="Rectangle 24"/>
          <p:cNvSpPr/>
          <p:nvPr/>
        </p:nvSpPr>
        <p:spPr>
          <a:xfrm>
            <a:off x="594360" y="2697479"/>
            <a:ext cx="1965960" cy="676656"/>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94360" y="2935224"/>
            <a:ext cx="1965960" cy="274320"/>
          </a:xfrm>
          <a:prstGeom prst="rect">
            <a:avLst/>
          </a:prstGeom>
          <a:noFill/>
        </p:spPr>
        <p:txBody>
          <a:bodyPr wrap="square" lIns="0" rIns="0" tIns="0" bIns="0" anchor="t">
            <a:spAutoFit/>
          </a:bodyPr>
          <a:lstStyle/>
          <a:p>
            <a:pPr algn="ctr"/>
            <a:r>
              <a:rPr sz="1250" b="1">
                <a:solidFill>
                  <a:srgbClr val="000000"/>
                </a:solidFill>
                <a:latin typeface="Arial"/>
              </a:rPr>
              <a:t>i % 2</a:t>
            </a:r>
          </a:p>
        </p:txBody>
      </p:sp>
      <p:sp>
        <p:nvSpPr>
          <p:cNvPr id="27" name="Rectangle 26"/>
          <p:cNvSpPr/>
          <p:nvPr/>
        </p:nvSpPr>
        <p:spPr>
          <a:xfrm>
            <a:off x="2743200" y="2697479"/>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2743200" y="269747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0</a:t>
            </a:r>
          </a:p>
        </p:txBody>
      </p:sp>
      <p:sp>
        <p:nvSpPr>
          <p:cNvPr id="29" name="Rectangle 28"/>
          <p:cNvSpPr/>
          <p:nvPr/>
        </p:nvSpPr>
        <p:spPr>
          <a:xfrm>
            <a:off x="3493008" y="2697479"/>
            <a:ext cx="749808" cy="676656"/>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493008" y="269747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1</a:t>
            </a:r>
          </a:p>
        </p:txBody>
      </p:sp>
      <p:sp>
        <p:nvSpPr>
          <p:cNvPr id="31" name="Rectangle 30"/>
          <p:cNvSpPr/>
          <p:nvPr/>
        </p:nvSpPr>
        <p:spPr>
          <a:xfrm>
            <a:off x="4242816" y="2697479"/>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242816" y="269747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0</a:t>
            </a:r>
          </a:p>
        </p:txBody>
      </p:sp>
      <p:sp>
        <p:nvSpPr>
          <p:cNvPr id="33" name="Rectangle 32"/>
          <p:cNvSpPr/>
          <p:nvPr/>
        </p:nvSpPr>
        <p:spPr>
          <a:xfrm>
            <a:off x="4992624" y="2697479"/>
            <a:ext cx="749808" cy="676656"/>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4992624" y="269747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1</a:t>
            </a:r>
          </a:p>
        </p:txBody>
      </p:sp>
      <p:sp>
        <p:nvSpPr>
          <p:cNvPr id="35" name="Rectangle 34"/>
          <p:cNvSpPr/>
          <p:nvPr/>
        </p:nvSpPr>
        <p:spPr>
          <a:xfrm>
            <a:off x="5742431" y="2697479"/>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5742431" y="269747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0</a:t>
            </a:r>
          </a:p>
        </p:txBody>
      </p:sp>
      <p:sp>
        <p:nvSpPr>
          <p:cNvPr id="37" name="Rectangle 36"/>
          <p:cNvSpPr/>
          <p:nvPr/>
        </p:nvSpPr>
        <p:spPr>
          <a:xfrm>
            <a:off x="6492240" y="2697479"/>
            <a:ext cx="749808" cy="676656"/>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92240" y="269747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1</a:t>
            </a:r>
          </a:p>
        </p:txBody>
      </p:sp>
      <p:sp>
        <p:nvSpPr>
          <p:cNvPr id="39" name="Rectangle 38"/>
          <p:cNvSpPr/>
          <p:nvPr/>
        </p:nvSpPr>
        <p:spPr>
          <a:xfrm>
            <a:off x="7242048" y="2697479"/>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242048" y="269747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0</a:t>
            </a:r>
          </a:p>
        </p:txBody>
      </p:sp>
      <p:sp>
        <p:nvSpPr>
          <p:cNvPr id="41" name="Rectangle 40"/>
          <p:cNvSpPr/>
          <p:nvPr/>
        </p:nvSpPr>
        <p:spPr>
          <a:xfrm>
            <a:off x="7991855" y="2697479"/>
            <a:ext cx="749808" cy="676656"/>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991855" y="269747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1</a:t>
            </a:r>
          </a:p>
        </p:txBody>
      </p:sp>
      <p:sp>
        <p:nvSpPr>
          <p:cNvPr id="43" name="Rectangle 42"/>
          <p:cNvSpPr/>
          <p:nvPr/>
        </p:nvSpPr>
        <p:spPr>
          <a:xfrm>
            <a:off x="8741663" y="2697479"/>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741663" y="269747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0</a:t>
            </a:r>
          </a:p>
        </p:txBody>
      </p:sp>
      <p:sp>
        <p:nvSpPr>
          <p:cNvPr id="45" name="Rectangle 44"/>
          <p:cNvSpPr/>
          <p:nvPr/>
        </p:nvSpPr>
        <p:spPr>
          <a:xfrm>
            <a:off x="594360" y="3520439"/>
            <a:ext cx="1965960" cy="676656"/>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594360" y="3758183"/>
            <a:ext cx="1965960" cy="274320"/>
          </a:xfrm>
          <a:prstGeom prst="rect">
            <a:avLst/>
          </a:prstGeom>
          <a:noFill/>
        </p:spPr>
        <p:txBody>
          <a:bodyPr wrap="square" lIns="0" rIns="0" tIns="0" bIns="0" anchor="t">
            <a:spAutoFit/>
          </a:bodyPr>
          <a:lstStyle/>
          <a:p>
            <a:pPr algn="ctr"/>
            <a:r>
              <a:rPr sz="1250" b="1">
                <a:solidFill>
                  <a:srgbClr val="000000"/>
                </a:solidFill>
                <a:latin typeface="Arial"/>
              </a:rPr>
              <a:t>i % 3</a:t>
            </a:r>
          </a:p>
        </p:txBody>
      </p:sp>
      <p:sp>
        <p:nvSpPr>
          <p:cNvPr id="47" name="Rectangle 46"/>
          <p:cNvSpPr/>
          <p:nvPr/>
        </p:nvSpPr>
        <p:spPr>
          <a:xfrm>
            <a:off x="2743200" y="3520439"/>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2743200" y="352043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0</a:t>
            </a:r>
          </a:p>
        </p:txBody>
      </p:sp>
      <p:sp>
        <p:nvSpPr>
          <p:cNvPr id="49" name="Rectangle 48"/>
          <p:cNvSpPr/>
          <p:nvPr/>
        </p:nvSpPr>
        <p:spPr>
          <a:xfrm>
            <a:off x="3493008" y="3520439"/>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3493008" y="352043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1</a:t>
            </a:r>
          </a:p>
        </p:txBody>
      </p:sp>
      <p:sp>
        <p:nvSpPr>
          <p:cNvPr id="51" name="Rectangle 50"/>
          <p:cNvSpPr/>
          <p:nvPr/>
        </p:nvSpPr>
        <p:spPr>
          <a:xfrm>
            <a:off x="4242816" y="3520439"/>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4242816" y="352043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2</a:t>
            </a:r>
          </a:p>
        </p:txBody>
      </p:sp>
      <p:sp>
        <p:nvSpPr>
          <p:cNvPr id="53" name="Rectangle 52"/>
          <p:cNvSpPr/>
          <p:nvPr/>
        </p:nvSpPr>
        <p:spPr>
          <a:xfrm>
            <a:off x="4992624" y="3520439"/>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4992624" y="352043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0</a:t>
            </a:r>
          </a:p>
        </p:txBody>
      </p:sp>
      <p:sp>
        <p:nvSpPr>
          <p:cNvPr id="55" name="Rectangle 54"/>
          <p:cNvSpPr/>
          <p:nvPr/>
        </p:nvSpPr>
        <p:spPr>
          <a:xfrm>
            <a:off x="5742431" y="3520439"/>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5742431" y="352043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1</a:t>
            </a:r>
          </a:p>
        </p:txBody>
      </p:sp>
      <p:sp>
        <p:nvSpPr>
          <p:cNvPr id="57" name="Rectangle 56"/>
          <p:cNvSpPr/>
          <p:nvPr/>
        </p:nvSpPr>
        <p:spPr>
          <a:xfrm>
            <a:off x="6492240" y="3520439"/>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6492240" y="352043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2</a:t>
            </a:r>
          </a:p>
        </p:txBody>
      </p:sp>
      <p:sp>
        <p:nvSpPr>
          <p:cNvPr id="59" name="Rectangle 58"/>
          <p:cNvSpPr/>
          <p:nvPr/>
        </p:nvSpPr>
        <p:spPr>
          <a:xfrm>
            <a:off x="7242048" y="3520439"/>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242048" y="352043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0</a:t>
            </a:r>
          </a:p>
        </p:txBody>
      </p:sp>
      <p:sp>
        <p:nvSpPr>
          <p:cNvPr id="61" name="Rectangle 60"/>
          <p:cNvSpPr/>
          <p:nvPr/>
        </p:nvSpPr>
        <p:spPr>
          <a:xfrm>
            <a:off x="7991855" y="3520439"/>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91855" y="352043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1</a:t>
            </a:r>
          </a:p>
        </p:txBody>
      </p:sp>
      <p:sp>
        <p:nvSpPr>
          <p:cNvPr id="63" name="Rectangle 62"/>
          <p:cNvSpPr/>
          <p:nvPr/>
        </p:nvSpPr>
        <p:spPr>
          <a:xfrm>
            <a:off x="8741663" y="3520439"/>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8741663" y="3520439"/>
            <a:ext cx="749808" cy="676656"/>
          </a:xfrm>
          <a:prstGeom prst="rect">
            <a:avLst/>
          </a:prstGeom>
          <a:noFill/>
        </p:spPr>
        <p:txBody>
          <a:bodyPr wrap="square" lIns="0" rIns="0" tIns="0" bIns="0" anchor="ctr">
            <a:spAutoFit/>
          </a:bodyPr>
          <a:lstStyle/>
          <a:p>
            <a:pPr algn="ctr"/>
            <a:r>
              <a:rPr sz="1500" b="1">
                <a:solidFill>
                  <a:srgbClr val="000000"/>
                </a:solidFill>
                <a:latin typeface="Courier New"/>
              </a:rPr>
              <a:t>2</a:t>
            </a:r>
          </a:p>
        </p:txBody>
      </p:sp>
      <p:sp>
        <p:nvSpPr>
          <p:cNvPr id="65" name="Rectangle 64"/>
          <p:cNvSpPr/>
          <p:nvPr/>
        </p:nvSpPr>
        <p:spPr>
          <a:xfrm>
            <a:off x="594360" y="4343400"/>
            <a:ext cx="1965960" cy="676656"/>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594360" y="4581144"/>
            <a:ext cx="1965960" cy="274320"/>
          </a:xfrm>
          <a:prstGeom prst="rect">
            <a:avLst/>
          </a:prstGeom>
          <a:noFill/>
        </p:spPr>
        <p:txBody>
          <a:bodyPr wrap="square" lIns="0" rIns="0" tIns="0" bIns="0" anchor="t">
            <a:spAutoFit/>
          </a:bodyPr>
          <a:lstStyle/>
          <a:p>
            <a:pPr algn="ctr"/>
            <a:r>
              <a:rPr sz="1250" b="1">
                <a:solidFill>
                  <a:srgbClr val="000000"/>
                </a:solidFill>
                <a:latin typeface="Arial"/>
              </a:rPr>
              <a:t>i % 3 == 0</a:t>
            </a:r>
          </a:p>
        </p:txBody>
      </p:sp>
      <p:sp>
        <p:nvSpPr>
          <p:cNvPr id="67" name="Rectangle 66"/>
          <p:cNvSpPr/>
          <p:nvPr/>
        </p:nvSpPr>
        <p:spPr>
          <a:xfrm>
            <a:off x="2743200" y="4343400"/>
            <a:ext cx="749808" cy="676656"/>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2743200" y="4343400"/>
            <a:ext cx="749808" cy="676656"/>
          </a:xfrm>
          <a:prstGeom prst="rect">
            <a:avLst/>
          </a:prstGeom>
          <a:noFill/>
        </p:spPr>
        <p:txBody>
          <a:bodyPr wrap="square" lIns="0" rIns="0" tIns="0" bIns="0" anchor="ctr">
            <a:spAutoFit/>
          </a:bodyPr>
          <a:lstStyle/>
          <a:p>
            <a:pPr algn="ctr"/>
            <a:r>
              <a:rPr sz="1500" b="1">
                <a:solidFill>
                  <a:srgbClr val="000000"/>
                </a:solidFill>
                <a:latin typeface="Courier New"/>
              </a:rPr>
              <a:t>T</a:t>
            </a:r>
          </a:p>
        </p:txBody>
      </p:sp>
      <p:sp>
        <p:nvSpPr>
          <p:cNvPr id="69" name="Rectangle 68"/>
          <p:cNvSpPr/>
          <p:nvPr/>
        </p:nvSpPr>
        <p:spPr>
          <a:xfrm>
            <a:off x="3493008" y="4343400"/>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3493008" y="4343400"/>
            <a:ext cx="749808" cy="676656"/>
          </a:xfrm>
          <a:prstGeom prst="rect">
            <a:avLst/>
          </a:prstGeom>
          <a:noFill/>
        </p:spPr>
        <p:txBody>
          <a:bodyPr wrap="square" lIns="0" rIns="0" tIns="0" bIns="0" anchor="ctr">
            <a:spAutoFit/>
          </a:bodyPr>
          <a:lstStyle/>
          <a:p>
            <a:pPr algn="ctr"/>
            <a:r>
              <a:rPr sz="1500" b="1">
                <a:solidFill>
                  <a:srgbClr val="000000"/>
                </a:solidFill>
                <a:latin typeface="Courier New"/>
              </a:rPr>
              <a:t>F</a:t>
            </a:r>
          </a:p>
        </p:txBody>
      </p:sp>
      <p:sp>
        <p:nvSpPr>
          <p:cNvPr id="71" name="Rectangle 70"/>
          <p:cNvSpPr/>
          <p:nvPr/>
        </p:nvSpPr>
        <p:spPr>
          <a:xfrm>
            <a:off x="4242816" y="4343400"/>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4242816" y="4343400"/>
            <a:ext cx="749808" cy="676656"/>
          </a:xfrm>
          <a:prstGeom prst="rect">
            <a:avLst/>
          </a:prstGeom>
          <a:noFill/>
        </p:spPr>
        <p:txBody>
          <a:bodyPr wrap="square" lIns="0" rIns="0" tIns="0" bIns="0" anchor="ctr">
            <a:spAutoFit/>
          </a:bodyPr>
          <a:lstStyle/>
          <a:p>
            <a:pPr algn="ctr"/>
            <a:r>
              <a:rPr sz="1500" b="1">
                <a:solidFill>
                  <a:srgbClr val="000000"/>
                </a:solidFill>
                <a:latin typeface="Courier New"/>
              </a:rPr>
              <a:t>F</a:t>
            </a:r>
          </a:p>
        </p:txBody>
      </p:sp>
      <p:sp>
        <p:nvSpPr>
          <p:cNvPr id="73" name="Rectangle 72"/>
          <p:cNvSpPr/>
          <p:nvPr/>
        </p:nvSpPr>
        <p:spPr>
          <a:xfrm>
            <a:off x="4992624" y="4343400"/>
            <a:ext cx="749808" cy="676656"/>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4992624" y="4343400"/>
            <a:ext cx="749808" cy="676656"/>
          </a:xfrm>
          <a:prstGeom prst="rect">
            <a:avLst/>
          </a:prstGeom>
          <a:noFill/>
        </p:spPr>
        <p:txBody>
          <a:bodyPr wrap="square" lIns="0" rIns="0" tIns="0" bIns="0" anchor="ctr">
            <a:spAutoFit/>
          </a:bodyPr>
          <a:lstStyle/>
          <a:p>
            <a:pPr algn="ctr"/>
            <a:r>
              <a:rPr sz="1500" b="1">
                <a:solidFill>
                  <a:srgbClr val="000000"/>
                </a:solidFill>
                <a:latin typeface="Courier New"/>
              </a:rPr>
              <a:t>T</a:t>
            </a:r>
          </a:p>
        </p:txBody>
      </p:sp>
      <p:sp>
        <p:nvSpPr>
          <p:cNvPr id="75" name="Rectangle 74"/>
          <p:cNvSpPr/>
          <p:nvPr/>
        </p:nvSpPr>
        <p:spPr>
          <a:xfrm>
            <a:off x="5742431" y="4343400"/>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5742431" y="4343400"/>
            <a:ext cx="749808" cy="676656"/>
          </a:xfrm>
          <a:prstGeom prst="rect">
            <a:avLst/>
          </a:prstGeom>
          <a:noFill/>
        </p:spPr>
        <p:txBody>
          <a:bodyPr wrap="square" lIns="0" rIns="0" tIns="0" bIns="0" anchor="ctr">
            <a:spAutoFit/>
          </a:bodyPr>
          <a:lstStyle/>
          <a:p>
            <a:pPr algn="ctr"/>
            <a:r>
              <a:rPr sz="1500" b="1">
                <a:solidFill>
                  <a:srgbClr val="000000"/>
                </a:solidFill>
                <a:latin typeface="Courier New"/>
              </a:rPr>
              <a:t>F</a:t>
            </a:r>
          </a:p>
        </p:txBody>
      </p:sp>
      <p:sp>
        <p:nvSpPr>
          <p:cNvPr id="77" name="Rectangle 76"/>
          <p:cNvSpPr/>
          <p:nvPr/>
        </p:nvSpPr>
        <p:spPr>
          <a:xfrm>
            <a:off x="6492240" y="4343400"/>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6492240" y="4343400"/>
            <a:ext cx="749808" cy="676656"/>
          </a:xfrm>
          <a:prstGeom prst="rect">
            <a:avLst/>
          </a:prstGeom>
          <a:noFill/>
        </p:spPr>
        <p:txBody>
          <a:bodyPr wrap="square" lIns="0" rIns="0" tIns="0" bIns="0" anchor="ctr">
            <a:spAutoFit/>
          </a:bodyPr>
          <a:lstStyle/>
          <a:p>
            <a:pPr algn="ctr"/>
            <a:r>
              <a:rPr sz="1500" b="1">
                <a:solidFill>
                  <a:srgbClr val="000000"/>
                </a:solidFill>
                <a:latin typeface="Courier New"/>
              </a:rPr>
              <a:t>F</a:t>
            </a:r>
          </a:p>
        </p:txBody>
      </p:sp>
      <p:sp>
        <p:nvSpPr>
          <p:cNvPr id="79" name="Rectangle 78"/>
          <p:cNvSpPr/>
          <p:nvPr/>
        </p:nvSpPr>
        <p:spPr>
          <a:xfrm>
            <a:off x="7242048" y="4343400"/>
            <a:ext cx="749808" cy="676656"/>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7242048" y="4343400"/>
            <a:ext cx="749808" cy="676656"/>
          </a:xfrm>
          <a:prstGeom prst="rect">
            <a:avLst/>
          </a:prstGeom>
          <a:noFill/>
        </p:spPr>
        <p:txBody>
          <a:bodyPr wrap="square" lIns="0" rIns="0" tIns="0" bIns="0" anchor="ctr">
            <a:spAutoFit/>
          </a:bodyPr>
          <a:lstStyle/>
          <a:p>
            <a:pPr algn="ctr"/>
            <a:r>
              <a:rPr sz="1500" b="1">
                <a:solidFill>
                  <a:srgbClr val="000000"/>
                </a:solidFill>
                <a:latin typeface="Courier New"/>
              </a:rPr>
              <a:t>T</a:t>
            </a:r>
          </a:p>
        </p:txBody>
      </p:sp>
      <p:sp>
        <p:nvSpPr>
          <p:cNvPr id="81" name="Rectangle 80"/>
          <p:cNvSpPr/>
          <p:nvPr/>
        </p:nvSpPr>
        <p:spPr>
          <a:xfrm>
            <a:off x="7991855" y="4343400"/>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7991855" y="4343400"/>
            <a:ext cx="749808" cy="676656"/>
          </a:xfrm>
          <a:prstGeom prst="rect">
            <a:avLst/>
          </a:prstGeom>
          <a:noFill/>
        </p:spPr>
        <p:txBody>
          <a:bodyPr wrap="square" lIns="0" rIns="0" tIns="0" bIns="0" anchor="ctr">
            <a:spAutoFit/>
          </a:bodyPr>
          <a:lstStyle/>
          <a:p>
            <a:pPr algn="ctr"/>
            <a:r>
              <a:rPr sz="1500" b="1">
                <a:solidFill>
                  <a:srgbClr val="000000"/>
                </a:solidFill>
                <a:latin typeface="Courier New"/>
              </a:rPr>
              <a:t>F</a:t>
            </a:r>
          </a:p>
        </p:txBody>
      </p:sp>
      <p:sp>
        <p:nvSpPr>
          <p:cNvPr id="83" name="Rectangle 82"/>
          <p:cNvSpPr/>
          <p:nvPr/>
        </p:nvSpPr>
        <p:spPr>
          <a:xfrm>
            <a:off x="8741663" y="4343400"/>
            <a:ext cx="749808" cy="676656"/>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8741663" y="4343400"/>
            <a:ext cx="749808" cy="676656"/>
          </a:xfrm>
          <a:prstGeom prst="rect">
            <a:avLst/>
          </a:prstGeom>
          <a:noFill/>
        </p:spPr>
        <p:txBody>
          <a:bodyPr wrap="square" lIns="0" rIns="0" tIns="0" bIns="0" anchor="ctr">
            <a:spAutoFit/>
          </a:bodyPr>
          <a:lstStyle/>
          <a:p>
            <a:pPr algn="ctr"/>
            <a:r>
              <a:rPr sz="1500" b="1">
                <a:solidFill>
                  <a:srgbClr val="000000"/>
                </a:solidFill>
                <a:latin typeface="Courier New"/>
              </a:rPr>
              <a:t>F</a:t>
            </a:r>
          </a:p>
        </p:txBody>
      </p:sp>
      <p:sp>
        <p:nvSpPr>
          <p:cNvPr id="85" name="TextBox 84"/>
          <p:cNvSpPr txBox="1"/>
          <p:nvPr/>
        </p:nvSpPr>
        <p:spPr>
          <a:xfrm>
            <a:off x="594360" y="5257800"/>
            <a:ext cx="10972800" cy="640080"/>
          </a:xfrm>
          <a:prstGeom prst="rect">
            <a:avLst/>
          </a:prstGeom>
          <a:noFill/>
        </p:spPr>
        <p:txBody>
          <a:bodyPr wrap="square" lIns="0" rIns="0" tIns="0" bIns="0" anchor="t">
            <a:spAutoFit/>
          </a:bodyPr>
          <a:lstStyle/>
          <a:p>
            <a:pPr algn="l">
              <a:lnSpc>
                <a:spcPct val="130000"/>
              </a:lnSpc>
            </a:pPr>
            <a:r>
              <a:rPr sz="1400">
                <a:solidFill>
                  <a:srgbClr val="000000"/>
                </a:solidFill>
                <a:latin typeface="Calibri"/>
              </a:rPr>
              <a:t>Pink is where the test is true: every odd copy, then every third copy. Read the row before you build the rule.</a:t>
            </a:r>
          </a:p>
        </p:txBody>
      </p:sp>
      <p:sp>
        <p:nvSpPr>
          <p:cNvPr id="86" name="Rectangle 85"/>
          <p:cNvSpPr/>
          <p:nvPr/>
        </p:nvSpPr>
        <p:spPr>
          <a:xfrm>
            <a:off x="662940" y="5875020"/>
            <a:ext cx="1097280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ectangle 86"/>
          <p:cNvSpPr/>
          <p:nvPr/>
        </p:nvSpPr>
        <p:spPr>
          <a:xfrm>
            <a:off x="594360" y="5806440"/>
            <a:ext cx="10972800" cy="566928"/>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777240" y="5806440"/>
            <a:ext cx="10607040" cy="566928"/>
          </a:xfrm>
          <a:prstGeom prst="rect">
            <a:avLst/>
          </a:prstGeom>
          <a:noFill/>
        </p:spPr>
        <p:txBody>
          <a:bodyPr wrap="square" lIns="0" rIns="0" tIns="0" bIns="0" anchor="ctr">
            <a:spAutoFit/>
          </a:bodyPr>
          <a:lstStyle/>
          <a:p>
            <a:pPr algn="ctr"/>
            <a:r>
              <a:rPr sz="1250" b="1">
                <a:solidFill>
                  <a:srgbClr val="000000"/>
                </a:solidFill>
                <a:latin typeface="Arial"/>
              </a:rPr>
              <a:t>ODD/EVEN IS % 2. EVERY THIRD IS % 3 == 0. EVERY PATTERN TODAY STARTS 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FFFDF7"/>
                </a:solidFill>
                <a:latin typeface="Arial"/>
              </a:rPr>
              <a:t>01 · BRICK WALL — EVERY OTHER COURSE SHIFTS</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B4B4AC"/>
                </a:solidFill>
                <a:latin typeface="Calibri"/>
              </a:rPr>
              <a:t>Arrays Part 2 · Brick wall · the row from last week, stacked in courses along a curve.</a:t>
            </a:r>
          </a:p>
        </p:txBody>
      </p:sp>
      <p:sp>
        <p:nvSpPr>
          <p:cNvPr id="5" name="Rectangle 4"/>
          <p:cNvSpPr/>
          <p:nvPr/>
        </p:nvSpPr>
        <p:spPr>
          <a:xfrm>
            <a:off x="652816" y="1783080"/>
            <a:ext cx="5918127" cy="3749039"/>
          </a:xfrm>
          <a:prstGeom prst="rect">
            <a:avLst/>
          </a:prstGeom>
          <a:noFill/>
          <a:ln w="34925">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c05_wall_curve.png"/>
          <p:cNvPicPr>
            <a:picLocks noChangeAspect="1"/>
          </p:cNvPicPr>
          <p:nvPr/>
        </p:nvPicPr>
        <p:blipFill>
          <a:blip r:embed="rId2"/>
          <a:stretch>
            <a:fillRect/>
          </a:stretch>
        </p:blipFill>
        <p:spPr>
          <a:xfrm>
            <a:off x="652816" y="1783080"/>
            <a:ext cx="5918127" cy="3749039"/>
          </a:xfrm>
          <a:prstGeom prst="rect">
            <a:avLst/>
          </a:prstGeom>
        </p:spPr>
      </p:pic>
      <p:sp>
        <p:nvSpPr>
          <p:cNvPr id="7" name="Rectangle 6"/>
          <p:cNvSpPr/>
          <p:nvPr/>
        </p:nvSpPr>
        <p:spPr>
          <a:xfrm>
            <a:off x="6972300" y="1851660"/>
            <a:ext cx="4663440" cy="3749039"/>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6903720" y="1783080"/>
            <a:ext cx="4663440" cy="3749039"/>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903720" y="1783080"/>
            <a:ext cx="4663440" cy="502920"/>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0" y="1783080"/>
            <a:ext cx="4206240" cy="502920"/>
          </a:xfrm>
          <a:prstGeom prst="rect">
            <a:avLst/>
          </a:prstGeom>
          <a:noFill/>
        </p:spPr>
        <p:txBody>
          <a:bodyPr wrap="square" lIns="0" rIns="0" tIns="0" bIns="0" anchor="ctr">
            <a:spAutoFit/>
          </a:bodyPr>
          <a:lstStyle/>
          <a:p>
            <a:pPr algn="l"/>
            <a:r>
              <a:rPr sz="1450" b="1">
                <a:solidFill>
                  <a:srgbClr val="000000"/>
                </a:solidFill>
                <a:latin typeface="Arial"/>
              </a:rPr>
              <a:t>ONE RULE ON k</a:t>
            </a:r>
          </a:p>
        </p:txBody>
      </p:sp>
      <p:sp>
        <p:nvSpPr>
          <p:cNvPr id="11" name="TextBox 10"/>
          <p:cNvSpPr txBox="1"/>
          <p:nvPr/>
        </p:nvSpPr>
        <p:spPr>
          <a:xfrm>
            <a:off x="7132320" y="2468880"/>
            <a:ext cx="4343400" cy="301752"/>
          </a:xfrm>
          <a:prstGeom prst="rect">
            <a:avLst/>
          </a:prstGeom>
          <a:noFill/>
        </p:spPr>
        <p:txBody>
          <a:bodyPr wrap="square" lIns="0" rIns="0" tIns="0" bIns="0" anchor="t">
            <a:spAutoFit/>
          </a:bodyPr>
          <a:lstStyle/>
          <a:p>
            <a:pPr algn="l"/>
            <a:r>
              <a:rPr sz="1150">
                <a:solidFill>
                  <a:srgbClr val="000000"/>
                </a:solidFill>
                <a:latin typeface="Courier New"/>
              </a:rPr>
              <a:t>for </a:t>
            </a:r>
            <a:r>
              <a:rPr sz="1150" b="1">
                <a:solidFill>
                  <a:srgbClr val="1F6FD1"/>
                </a:solidFill>
                <a:latin typeface="Courier New"/>
              </a:rPr>
              <a:t>k</a:t>
            </a:r>
            <a:r>
              <a:rPr sz="1150">
                <a:solidFill>
                  <a:srgbClr val="000000"/>
                </a:solidFill>
                <a:latin typeface="Courier New"/>
              </a:rPr>
              <a:t> in range(courses):</a:t>
            </a:r>
          </a:p>
        </p:txBody>
      </p:sp>
      <p:sp>
        <p:nvSpPr>
          <p:cNvPr id="12" name="TextBox 11"/>
          <p:cNvSpPr txBox="1"/>
          <p:nvPr/>
        </p:nvSpPr>
        <p:spPr>
          <a:xfrm>
            <a:off x="7132320" y="2770632"/>
            <a:ext cx="4343400" cy="301752"/>
          </a:xfrm>
          <a:prstGeom prst="rect">
            <a:avLst/>
          </a:prstGeom>
          <a:noFill/>
        </p:spPr>
        <p:txBody>
          <a:bodyPr wrap="square" lIns="0" rIns="0" tIns="0" bIns="0" anchor="t">
            <a:spAutoFit/>
          </a:bodyPr>
          <a:lstStyle/>
          <a:p>
            <a:pPr algn="l"/>
            <a:r>
              <a:rPr sz="1150">
                <a:solidFill>
                  <a:srgbClr val="000000"/>
                </a:solidFill>
                <a:latin typeface="Courier New"/>
              </a:rPr>
              <a:t>    shift = (</a:t>
            </a:r>
            <a:r>
              <a:rPr sz="1150" b="1">
                <a:solidFill>
                  <a:srgbClr val="1F6FD1"/>
                </a:solidFill>
                <a:latin typeface="Courier New"/>
              </a:rPr>
              <a:t>k</a:t>
            </a:r>
            <a:r>
              <a:rPr sz="1150">
                <a:solidFill>
                  <a:srgbClr val="000000"/>
                </a:solidFill>
                <a:latin typeface="Courier New"/>
              </a:rPr>
              <a:t> % 2) * brick / 2</a:t>
            </a:r>
          </a:p>
        </p:txBody>
      </p:sp>
      <p:sp>
        <p:nvSpPr>
          <p:cNvPr id="13" name="TextBox 12"/>
          <p:cNvSpPr txBox="1"/>
          <p:nvPr/>
        </p:nvSpPr>
        <p:spPr>
          <a:xfrm>
            <a:off x="7132320" y="3072384"/>
            <a:ext cx="4343400" cy="301752"/>
          </a:xfrm>
          <a:prstGeom prst="rect">
            <a:avLst/>
          </a:prstGeom>
          <a:noFill/>
        </p:spPr>
        <p:txBody>
          <a:bodyPr wrap="square" lIns="0" rIns="0" tIns="0" bIns="0" anchor="t">
            <a:spAutoFit/>
          </a:bodyPr>
          <a:lstStyle/>
          <a:p>
            <a:pPr algn="l"/>
            <a:r>
              <a:rPr sz="1150">
                <a:solidFill>
                  <a:srgbClr val="000000"/>
                </a:solidFill>
                <a:latin typeface="Courier New"/>
              </a:rPr>
              <a:t>    for </a:t>
            </a:r>
            <a:r>
              <a:rPr sz="1150" b="1">
                <a:solidFill>
                  <a:srgbClr val="D7263D"/>
                </a:solidFill>
                <a:latin typeface="Courier New"/>
              </a:rPr>
              <a:t>i</a:t>
            </a:r>
            <a:r>
              <a:rPr sz="1150">
                <a:solidFill>
                  <a:srgbClr val="000000"/>
                </a:solidFill>
                <a:latin typeface="Courier New"/>
              </a:rPr>
              <a:t> in range(count):</a:t>
            </a:r>
          </a:p>
        </p:txBody>
      </p:sp>
      <p:sp>
        <p:nvSpPr>
          <p:cNvPr id="14" name="TextBox 13"/>
          <p:cNvSpPr txBox="1"/>
          <p:nvPr/>
        </p:nvSpPr>
        <p:spPr>
          <a:xfrm>
            <a:off x="7132320" y="3374136"/>
            <a:ext cx="4343400" cy="301752"/>
          </a:xfrm>
          <a:prstGeom prst="rect">
            <a:avLst/>
          </a:prstGeom>
          <a:noFill/>
        </p:spPr>
        <p:txBody>
          <a:bodyPr wrap="square" lIns="0" rIns="0" tIns="0" bIns="0" anchor="t">
            <a:spAutoFit/>
          </a:bodyPr>
          <a:lstStyle/>
          <a:p>
            <a:pPr algn="l"/>
            <a:r>
              <a:rPr sz="1150">
                <a:solidFill>
                  <a:srgbClr val="000000"/>
                </a:solidFill>
                <a:latin typeface="Courier New"/>
              </a:rPr>
              <a:t>        p = point_on(curve, t)</a:t>
            </a:r>
          </a:p>
        </p:txBody>
      </p:sp>
      <p:sp>
        <p:nvSpPr>
          <p:cNvPr id="15" name="TextBox 14"/>
          <p:cNvSpPr txBox="1"/>
          <p:nvPr/>
        </p:nvSpPr>
        <p:spPr>
          <a:xfrm>
            <a:off x="7132320" y="3675888"/>
            <a:ext cx="4343400" cy="301752"/>
          </a:xfrm>
          <a:prstGeom prst="rect">
            <a:avLst/>
          </a:prstGeom>
          <a:noFill/>
        </p:spPr>
        <p:txBody>
          <a:bodyPr wrap="square" lIns="0" rIns="0" tIns="0" bIns="0" anchor="t">
            <a:spAutoFit/>
          </a:bodyPr>
          <a:lstStyle/>
          <a:p>
            <a:pPr algn="l"/>
            <a:r>
              <a:rPr sz="1150">
                <a:solidFill>
                  <a:srgbClr val="000000"/>
                </a:solidFill>
                <a:latin typeface="Courier New"/>
              </a:rPr>
              <a:t>        p = p + d * shift</a:t>
            </a:r>
          </a:p>
        </p:txBody>
      </p:sp>
      <p:sp>
        <p:nvSpPr>
          <p:cNvPr id="16" name="TextBox 15"/>
          <p:cNvSpPr txBox="1"/>
          <p:nvPr/>
        </p:nvSpPr>
        <p:spPr>
          <a:xfrm>
            <a:off x="7132320" y="3977640"/>
            <a:ext cx="4343400" cy="301752"/>
          </a:xfrm>
          <a:prstGeom prst="rect">
            <a:avLst/>
          </a:prstGeom>
          <a:noFill/>
        </p:spPr>
        <p:txBody>
          <a:bodyPr wrap="square" lIns="0" rIns="0" tIns="0" bIns="0" anchor="t">
            <a:spAutoFit/>
          </a:bodyPr>
          <a:lstStyle/>
          <a:p>
            <a:pPr algn="l"/>
            <a:r>
              <a:rPr sz="1150">
                <a:solidFill>
                  <a:srgbClr val="000000"/>
                </a:solidFill>
                <a:latin typeface="Courier New"/>
              </a:rPr>
              <a:t>        place(brick, p, z=</a:t>
            </a:r>
            <a:r>
              <a:rPr sz="1150" b="1">
                <a:solidFill>
                  <a:srgbClr val="1F6FD1"/>
                </a:solidFill>
                <a:latin typeface="Courier New"/>
              </a:rPr>
              <a:t>k</a:t>
            </a:r>
            <a:r>
              <a:rPr sz="1150">
                <a:solidFill>
                  <a:srgbClr val="000000"/>
                </a:solidFill>
                <a:latin typeface="Courier New"/>
              </a:rPr>
              <a:t>*h)</a:t>
            </a:r>
          </a:p>
        </p:txBody>
      </p:sp>
      <p:sp>
        <p:nvSpPr>
          <p:cNvPr id="17" name="TextBox 16"/>
          <p:cNvSpPr txBox="1"/>
          <p:nvPr/>
        </p:nvSpPr>
        <p:spPr>
          <a:xfrm>
            <a:off x="7132320" y="4434840"/>
            <a:ext cx="4206240" cy="1005840"/>
          </a:xfrm>
          <a:prstGeom prst="rect">
            <a:avLst/>
          </a:prstGeom>
          <a:noFill/>
        </p:spPr>
        <p:txBody>
          <a:bodyPr wrap="square" lIns="0" rIns="0" tIns="0" bIns="0" anchor="t">
            <a:spAutoFit/>
          </a:bodyPr>
          <a:lstStyle/>
          <a:p>
            <a:pPr algn="l">
              <a:lnSpc>
                <a:spcPct val="125000"/>
              </a:lnSpc>
            </a:pPr>
            <a:r>
              <a:rPr sz="1250">
                <a:solidFill>
                  <a:srgbClr val="000000"/>
                </a:solidFill>
                <a:latin typeface="Calibri"/>
              </a:rPr>
              <a:t>k is the course. Odd courses slide half a brick, even ones don't. That single rule is what makes it a bond.</a:t>
            </a:r>
          </a:p>
        </p:txBody>
      </p:sp>
      <p:sp>
        <p:nvSpPr>
          <p:cNvPr id="18" name="Rectangle 17"/>
          <p:cNvSpPr/>
          <p:nvPr/>
        </p:nvSpPr>
        <p:spPr>
          <a:xfrm>
            <a:off x="662940" y="5920740"/>
            <a:ext cx="1097280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94360" y="5852160"/>
            <a:ext cx="10972800" cy="566928"/>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7240" y="5852160"/>
            <a:ext cx="10607040" cy="566928"/>
          </a:xfrm>
          <a:prstGeom prst="rect">
            <a:avLst/>
          </a:prstGeom>
          <a:noFill/>
        </p:spPr>
        <p:txBody>
          <a:bodyPr wrap="square" lIns="0" rIns="0" tIns="0" bIns="0" anchor="ctr">
            <a:spAutoFit/>
          </a:bodyPr>
          <a:lstStyle/>
          <a:p>
            <a:pPr algn="ctr"/>
            <a:r>
              <a:rPr sz="1200" b="1">
                <a:solidFill>
                  <a:srgbClr val="000000"/>
                </a:solidFill>
                <a:latin typeface="Arial"/>
              </a:rPr>
              <a:t>THE FIRST PATTERN: ONE CONDITION ON THE LAYER INDEX, ONE VALUE IT CHANGES.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SWAP THE CURVE FOR A CIRCLE</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Same scene, same rule. Only the path that supplies the positions changed.</a:t>
            </a:r>
          </a:p>
        </p:txBody>
      </p:sp>
      <p:sp>
        <p:nvSpPr>
          <p:cNvPr id="5" name="Rectangle 4"/>
          <p:cNvSpPr/>
          <p:nvPr/>
        </p:nvSpPr>
        <p:spPr>
          <a:xfrm>
            <a:off x="616553" y="1783080"/>
            <a:ext cx="5990653" cy="3749039"/>
          </a:xfrm>
          <a:prstGeom prst="rect">
            <a:avLst/>
          </a:prstGeom>
          <a:no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c05_wall_circle.png"/>
          <p:cNvPicPr>
            <a:picLocks noChangeAspect="1"/>
          </p:cNvPicPr>
          <p:nvPr/>
        </p:nvPicPr>
        <p:blipFill>
          <a:blip r:embed="rId2"/>
          <a:stretch>
            <a:fillRect/>
          </a:stretch>
        </p:blipFill>
        <p:spPr>
          <a:xfrm>
            <a:off x="616553" y="1783080"/>
            <a:ext cx="5990653" cy="3749039"/>
          </a:xfrm>
          <a:prstGeom prst="rect">
            <a:avLst/>
          </a:prstGeom>
        </p:spPr>
      </p:pic>
      <p:sp>
        <p:nvSpPr>
          <p:cNvPr id="7" name="Rectangle 6"/>
          <p:cNvSpPr/>
          <p:nvPr/>
        </p:nvSpPr>
        <p:spPr>
          <a:xfrm>
            <a:off x="6972300" y="1851660"/>
            <a:ext cx="4663440" cy="3749039"/>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6903720" y="1783080"/>
            <a:ext cx="4663440" cy="3749039"/>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903720" y="1783080"/>
            <a:ext cx="4663440" cy="50292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0" y="1783080"/>
            <a:ext cx="4206240" cy="502920"/>
          </a:xfrm>
          <a:prstGeom prst="rect">
            <a:avLst/>
          </a:prstGeom>
          <a:noFill/>
        </p:spPr>
        <p:txBody>
          <a:bodyPr wrap="square" lIns="0" rIns="0" tIns="0" bIns="0" anchor="ctr">
            <a:spAutoFit/>
          </a:bodyPr>
          <a:lstStyle/>
          <a:p>
            <a:pPr algn="l"/>
            <a:r>
              <a:rPr sz="1450" b="1">
                <a:solidFill>
                  <a:srgbClr val="000000"/>
                </a:solidFill>
                <a:latin typeface="Arial"/>
              </a:rPr>
              <a:t>TWO JOBS, KEPT APART</a:t>
            </a:r>
          </a:p>
        </p:txBody>
      </p:sp>
      <p:sp>
        <p:nvSpPr>
          <p:cNvPr id="11" name="TextBox 10"/>
          <p:cNvSpPr txBox="1"/>
          <p:nvPr/>
        </p:nvSpPr>
        <p:spPr>
          <a:xfrm>
            <a:off x="7178040" y="2487168"/>
            <a:ext cx="4114800" cy="2926080"/>
          </a:xfrm>
          <a:prstGeom prst="rect">
            <a:avLst/>
          </a:prstGeom>
          <a:noFill/>
        </p:spPr>
        <p:txBody>
          <a:bodyPr wrap="square" lIns="0" rIns="0" tIns="0" bIns="0" anchor="t">
            <a:spAutoFit/>
          </a:bodyPr>
          <a:lstStyle/>
          <a:p>
            <a:pPr algn="l">
              <a:lnSpc>
                <a:spcPct val="130000"/>
              </a:lnSpc>
            </a:pPr>
            <a:r>
              <a:rPr sz="1400">
                <a:solidFill>
                  <a:srgbClr val="000000"/>
                </a:solidFill>
                <a:latin typeface="Calibri"/>
              </a:rPr>
              <a:t>The curve answers: where is copy i?</a:t>
            </a:r>
          </a:p>
          <a:p>
            <a:pPr algn="l">
              <a:lnSpc>
                <a:spcPct val="130000"/>
              </a:lnSpc>
            </a:pPr>
            <a:r>
              <a:rPr sz="600">
                <a:solidFill>
                  <a:srgbClr val="000000"/>
                </a:solidFill>
                <a:latin typeface="Calibri"/>
              </a:rPr>
              <a:t> </a:t>
            </a:r>
          </a:p>
          <a:p>
            <a:pPr algn="l">
              <a:lnSpc>
                <a:spcPct val="130000"/>
              </a:lnSpc>
            </a:pPr>
            <a:r>
              <a:rPr sz="1400">
                <a:solidFill>
                  <a:srgbClr val="000000"/>
                </a:solidFill>
                <a:latin typeface="Calibri"/>
              </a:rPr>
              <a:t>The rule answers: what is different about this copy?</a:t>
            </a:r>
          </a:p>
          <a:p>
            <a:pPr algn="l">
              <a:lnSpc>
                <a:spcPct val="130000"/>
              </a:lnSpc>
            </a:pPr>
            <a:r>
              <a:rPr sz="600">
                <a:solidFill>
                  <a:srgbClr val="000000"/>
                </a:solidFill>
                <a:latin typeface="Calibri"/>
              </a:rPr>
              <a:t> </a:t>
            </a:r>
          </a:p>
          <a:p>
            <a:pPr algn="l">
              <a:lnSpc>
                <a:spcPct val="130000"/>
              </a:lnSpc>
            </a:pPr>
            <a:r>
              <a:rPr sz="1350">
                <a:solidFill>
                  <a:srgbClr val="000000"/>
                </a:solidFill>
                <a:latin typeface="Calibri"/>
              </a:rPr>
              <a:t>Because they are separate, you can change either one without touching the other. That is what makes a rule reusable.</a:t>
            </a:r>
          </a:p>
        </p:txBody>
      </p:sp>
      <p:sp>
        <p:nvSpPr>
          <p:cNvPr id="12" name="Rectangle 11"/>
          <p:cNvSpPr/>
          <p:nvPr/>
        </p:nvSpPr>
        <p:spPr>
          <a:xfrm>
            <a:off x="662940" y="5920740"/>
            <a:ext cx="1097280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94360" y="5852160"/>
            <a:ext cx="10972800" cy="566928"/>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852160"/>
            <a:ext cx="10607040" cy="566928"/>
          </a:xfrm>
          <a:prstGeom prst="rect">
            <a:avLst/>
          </a:prstGeom>
          <a:noFill/>
        </p:spPr>
        <p:txBody>
          <a:bodyPr wrap="square" lIns="0" rIns="0" tIns="0" bIns="0" anchor="ctr">
            <a:spAutoFit/>
          </a:bodyPr>
          <a:lstStyle/>
          <a:p>
            <a:pPr algn="ctr"/>
            <a:r>
              <a:rPr sz="1250" b="1">
                <a:solidFill>
                  <a:srgbClr val="000000"/>
                </a:solidFill>
                <a:latin typeface="Arial"/>
              </a:rPr>
              <a:t>POSITION FROM THE LOOP. DIFFERENCE FROM THE RULE.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SHEET 2 · FOUR FAÇADE PATTERNS</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Your 3.1 module in a 2D array. Pink = the rule is true for that copy.</a:t>
            </a:r>
          </a:p>
        </p:txBody>
      </p:sp>
      <p:sp>
        <p:nvSpPr>
          <p:cNvPr id="5" name="Rectangle 4"/>
          <p:cNvSpPr/>
          <p:nvPr/>
        </p:nvSpPr>
        <p:spPr>
          <a:xfrm>
            <a:off x="662940" y="1851660"/>
            <a:ext cx="2537460" cy="42062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2537460" cy="420624"/>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94360" y="1892807"/>
            <a:ext cx="2537460" cy="274320"/>
          </a:xfrm>
          <a:prstGeom prst="rect">
            <a:avLst/>
          </a:prstGeom>
          <a:noFill/>
        </p:spPr>
        <p:txBody>
          <a:bodyPr wrap="square" lIns="0" rIns="0" tIns="0" bIns="0" anchor="t">
            <a:spAutoFit/>
          </a:bodyPr>
          <a:lstStyle/>
          <a:p>
            <a:pPr algn="ctr"/>
            <a:r>
              <a:rPr sz="1100" b="1">
                <a:solidFill>
                  <a:srgbClr val="000000"/>
                </a:solidFill>
                <a:latin typeface="Arial"/>
              </a:rPr>
              <a:t>ALTERNATE ROWS</a:t>
            </a:r>
          </a:p>
        </p:txBody>
      </p:sp>
      <p:sp>
        <p:nvSpPr>
          <p:cNvPr id="8" name="Rectangle 7"/>
          <p:cNvSpPr/>
          <p:nvPr/>
        </p:nvSpPr>
        <p:spPr>
          <a:xfrm>
            <a:off x="710946" y="3913632"/>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094994" y="3913632"/>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479042" y="3913632"/>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863090" y="3913632"/>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247138" y="3913632"/>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631186" y="3913632"/>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10946" y="3529584"/>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094994" y="3529584"/>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479042" y="3529584"/>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863090" y="3529584"/>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2247138" y="3529584"/>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2631186" y="3529584"/>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10946" y="3145536"/>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094994" y="3145536"/>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479042" y="3145536"/>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863090" y="3145536"/>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2247138" y="3145536"/>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2631186" y="3145536"/>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710946" y="2761488"/>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094994" y="2761488"/>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479042" y="2761488"/>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863090" y="2761488"/>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2247138" y="2761488"/>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2631186" y="2761488"/>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10946" y="2377440"/>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094994" y="2377440"/>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479042" y="2377440"/>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863090" y="2377440"/>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2247138" y="2377440"/>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2631186" y="2377440"/>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94360" y="4389120"/>
            <a:ext cx="2537460" cy="292608"/>
          </a:xfrm>
          <a:prstGeom prst="rect">
            <a:avLst/>
          </a:prstGeom>
          <a:noFill/>
        </p:spPr>
        <p:txBody>
          <a:bodyPr wrap="square" lIns="0" rIns="0" tIns="0" bIns="0" anchor="t">
            <a:spAutoFit/>
          </a:bodyPr>
          <a:lstStyle/>
          <a:p>
            <a:pPr algn="l"/>
            <a:r>
              <a:rPr sz="1200" b="1">
                <a:solidFill>
                  <a:srgbClr val="3E8E00"/>
                </a:solidFill>
                <a:latin typeface="Courier New"/>
              </a:rPr>
              <a:t>j</a:t>
            </a:r>
            <a:r>
              <a:rPr sz="1200">
                <a:solidFill>
                  <a:srgbClr val="000000"/>
                </a:solidFill>
                <a:latin typeface="Courier New"/>
              </a:rPr>
              <a:t> % 2 == 1</a:t>
            </a:r>
          </a:p>
        </p:txBody>
      </p:sp>
      <p:sp>
        <p:nvSpPr>
          <p:cNvPr id="39" name="TextBox 38"/>
          <p:cNvSpPr txBox="1"/>
          <p:nvPr/>
        </p:nvSpPr>
        <p:spPr>
          <a:xfrm>
            <a:off x="594360" y="4709160"/>
            <a:ext cx="2537460" cy="320040"/>
          </a:xfrm>
          <a:prstGeom prst="rect">
            <a:avLst/>
          </a:prstGeom>
          <a:noFill/>
        </p:spPr>
        <p:txBody>
          <a:bodyPr wrap="square" lIns="0" rIns="0" tIns="0" bIns="0" anchor="t">
            <a:spAutoFit/>
          </a:bodyPr>
          <a:lstStyle/>
          <a:p>
            <a:pPr algn="l"/>
            <a:r>
              <a:rPr sz="1250">
                <a:solidFill>
                  <a:srgbClr val="6B6B6B"/>
                </a:solidFill>
                <a:latin typeface="Calibri"/>
              </a:rPr>
              <a:t>true → turn 90°</a:t>
            </a:r>
          </a:p>
        </p:txBody>
      </p:sp>
      <p:sp>
        <p:nvSpPr>
          <p:cNvPr id="40" name="Rectangle 39"/>
          <p:cNvSpPr/>
          <p:nvPr/>
        </p:nvSpPr>
        <p:spPr>
          <a:xfrm>
            <a:off x="3474720" y="1851660"/>
            <a:ext cx="2537460" cy="42062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3406139" y="1783080"/>
            <a:ext cx="2537460" cy="420624"/>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3406139" y="1892807"/>
            <a:ext cx="2537460" cy="274320"/>
          </a:xfrm>
          <a:prstGeom prst="rect">
            <a:avLst/>
          </a:prstGeom>
          <a:noFill/>
        </p:spPr>
        <p:txBody>
          <a:bodyPr wrap="square" lIns="0" rIns="0" tIns="0" bIns="0" anchor="t">
            <a:spAutoFit/>
          </a:bodyPr>
          <a:lstStyle/>
          <a:p>
            <a:pPr algn="ctr"/>
            <a:r>
              <a:rPr sz="1100" b="1">
                <a:solidFill>
                  <a:srgbClr val="000000"/>
                </a:solidFill>
                <a:latin typeface="Arial"/>
              </a:rPr>
              <a:t>CHECKERBOARD</a:t>
            </a:r>
          </a:p>
        </p:txBody>
      </p:sp>
      <p:sp>
        <p:nvSpPr>
          <p:cNvPr id="43" name="Rectangle 42"/>
          <p:cNvSpPr/>
          <p:nvPr/>
        </p:nvSpPr>
        <p:spPr>
          <a:xfrm>
            <a:off x="3522725" y="3913632"/>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3906774" y="3913632"/>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4290822" y="3913632"/>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4674870" y="3913632"/>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5058918" y="3913632"/>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442966" y="3913632"/>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3522725" y="3529584"/>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3906774" y="3529584"/>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4290822" y="3529584"/>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4674870" y="3529584"/>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5058918" y="3529584"/>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442966" y="3529584"/>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3522725" y="3145536"/>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3906774" y="3145536"/>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4290822" y="3145536"/>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4674870" y="3145536"/>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5058918" y="3145536"/>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5442966" y="3145536"/>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3522725" y="2761488"/>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3906774" y="2761488"/>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4290822" y="2761488"/>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4674870" y="2761488"/>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ectangle 64"/>
          <p:cNvSpPr/>
          <p:nvPr/>
        </p:nvSpPr>
        <p:spPr>
          <a:xfrm>
            <a:off x="5058918" y="2761488"/>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ectangle 65"/>
          <p:cNvSpPr/>
          <p:nvPr/>
        </p:nvSpPr>
        <p:spPr>
          <a:xfrm>
            <a:off x="5442966" y="2761488"/>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ectangle 66"/>
          <p:cNvSpPr/>
          <p:nvPr/>
        </p:nvSpPr>
        <p:spPr>
          <a:xfrm>
            <a:off x="3522725" y="2377440"/>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ectangle 67"/>
          <p:cNvSpPr/>
          <p:nvPr/>
        </p:nvSpPr>
        <p:spPr>
          <a:xfrm>
            <a:off x="3906774" y="2377440"/>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ectangle 68"/>
          <p:cNvSpPr/>
          <p:nvPr/>
        </p:nvSpPr>
        <p:spPr>
          <a:xfrm>
            <a:off x="4290822" y="2377440"/>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Rectangle 69"/>
          <p:cNvSpPr/>
          <p:nvPr/>
        </p:nvSpPr>
        <p:spPr>
          <a:xfrm>
            <a:off x="4674870" y="2377440"/>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ectangle 70"/>
          <p:cNvSpPr/>
          <p:nvPr/>
        </p:nvSpPr>
        <p:spPr>
          <a:xfrm>
            <a:off x="5058918" y="2377440"/>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ectangle 71"/>
          <p:cNvSpPr/>
          <p:nvPr/>
        </p:nvSpPr>
        <p:spPr>
          <a:xfrm>
            <a:off x="5442966" y="2377440"/>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3406139" y="4389120"/>
            <a:ext cx="2537460" cy="292608"/>
          </a:xfrm>
          <a:prstGeom prst="rect">
            <a:avLst/>
          </a:prstGeom>
          <a:noFill/>
        </p:spPr>
        <p:txBody>
          <a:bodyPr wrap="square" lIns="0" rIns="0" tIns="0" bIns="0" anchor="t">
            <a:spAutoFit/>
          </a:bodyPr>
          <a:lstStyle/>
          <a:p>
            <a:pPr algn="l"/>
            <a:r>
              <a:rPr sz="1200">
                <a:solidFill>
                  <a:srgbClr val="000000"/>
                </a:solidFill>
                <a:latin typeface="Courier New"/>
              </a:rPr>
              <a:t>(</a:t>
            </a:r>
            <a:r>
              <a:rPr sz="1200" b="1">
                <a:solidFill>
                  <a:srgbClr val="D7263D"/>
                </a:solidFill>
                <a:latin typeface="Courier New"/>
              </a:rPr>
              <a:t>i</a:t>
            </a:r>
            <a:r>
              <a:rPr sz="1200">
                <a:solidFill>
                  <a:srgbClr val="000000"/>
                </a:solidFill>
                <a:latin typeface="Courier New"/>
              </a:rPr>
              <a:t> + </a:t>
            </a:r>
            <a:r>
              <a:rPr sz="1200" b="1">
                <a:solidFill>
                  <a:srgbClr val="3E8E00"/>
                </a:solidFill>
                <a:latin typeface="Courier New"/>
              </a:rPr>
              <a:t>j</a:t>
            </a:r>
            <a:r>
              <a:rPr sz="1200">
                <a:solidFill>
                  <a:srgbClr val="000000"/>
                </a:solidFill>
                <a:latin typeface="Courier New"/>
              </a:rPr>
              <a:t>) % 2 == 0</a:t>
            </a:r>
          </a:p>
        </p:txBody>
      </p:sp>
      <p:sp>
        <p:nvSpPr>
          <p:cNvPr id="74" name="TextBox 73"/>
          <p:cNvSpPr txBox="1"/>
          <p:nvPr/>
        </p:nvSpPr>
        <p:spPr>
          <a:xfrm>
            <a:off x="3406139" y="4709160"/>
            <a:ext cx="2537460" cy="320040"/>
          </a:xfrm>
          <a:prstGeom prst="rect">
            <a:avLst/>
          </a:prstGeom>
          <a:noFill/>
        </p:spPr>
        <p:txBody>
          <a:bodyPr wrap="square" lIns="0" rIns="0" tIns="0" bIns="0" anchor="t">
            <a:spAutoFit/>
          </a:bodyPr>
          <a:lstStyle/>
          <a:p>
            <a:pPr algn="l"/>
            <a:r>
              <a:rPr sz="1250">
                <a:solidFill>
                  <a:srgbClr val="6B6B6B"/>
                </a:solidFill>
                <a:latin typeface="Calibri"/>
              </a:rPr>
              <a:t>true → scale up</a:t>
            </a:r>
          </a:p>
        </p:txBody>
      </p:sp>
      <p:sp>
        <p:nvSpPr>
          <p:cNvPr id="75" name="Rectangle 74"/>
          <p:cNvSpPr/>
          <p:nvPr/>
        </p:nvSpPr>
        <p:spPr>
          <a:xfrm>
            <a:off x="6286499" y="1851660"/>
            <a:ext cx="2537460" cy="42062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ectangle 75"/>
          <p:cNvSpPr/>
          <p:nvPr/>
        </p:nvSpPr>
        <p:spPr>
          <a:xfrm>
            <a:off x="6217919" y="1783080"/>
            <a:ext cx="2537460" cy="420624"/>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6217919" y="1892807"/>
            <a:ext cx="2537460" cy="274320"/>
          </a:xfrm>
          <a:prstGeom prst="rect">
            <a:avLst/>
          </a:prstGeom>
          <a:noFill/>
        </p:spPr>
        <p:txBody>
          <a:bodyPr wrap="square" lIns="0" rIns="0" tIns="0" bIns="0" anchor="t">
            <a:spAutoFit/>
          </a:bodyPr>
          <a:lstStyle/>
          <a:p>
            <a:pPr algn="ctr"/>
            <a:r>
              <a:rPr sz="1100" b="1">
                <a:solidFill>
                  <a:srgbClr val="000000"/>
                </a:solidFill>
                <a:latin typeface="Arial"/>
              </a:rPr>
              <a:t>DIAGONAL BANDS</a:t>
            </a:r>
          </a:p>
        </p:txBody>
      </p:sp>
      <p:sp>
        <p:nvSpPr>
          <p:cNvPr id="78" name="Rectangle 77"/>
          <p:cNvSpPr/>
          <p:nvPr/>
        </p:nvSpPr>
        <p:spPr>
          <a:xfrm>
            <a:off x="6334505" y="3913632"/>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6718553" y="3913632"/>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7102601" y="3913632"/>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ectangle 80"/>
          <p:cNvSpPr/>
          <p:nvPr/>
        </p:nvSpPr>
        <p:spPr>
          <a:xfrm>
            <a:off x="7486649" y="3913632"/>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ectangle 81"/>
          <p:cNvSpPr/>
          <p:nvPr/>
        </p:nvSpPr>
        <p:spPr>
          <a:xfrm>
            <a:off x="7870697" y="3913632"/>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8254745" y="3913632"/>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Rectangle 83"/>
          <p:cNvSpPr/>
          <p:nvPr/>
        </p:nvSpPr>
        <p:spPr>
          <a:xfrm>
            <a:off x="6334505" y="3529584"/>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ectangle 84"/>
          <p:cNvSpPr/>
          <p:nvPr/>
        </p:nvSpPr>
        <p:spPr>
          <a:xfrm>
            <a:off x="6718553" y="3529584"/>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Rectangle 85"/>
          <p:cNvSpPr/>
          <p:nvPr/>
        </p:nvSpPr>
        <p:spPr>
          <a:xfrm>
            <a:off x="7102601" y="3529584"/>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ectangle 86"/>
          <p:cNvSpPr/>
          <p:nvPr/>
        </p:nvSpPr>
        <p:spPr>
          <a:xfrm>
            <a:off x="7486649" y="3529584"/>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ectangle 87"/>
          <p:cNvSpPr/>
          <p:nvPr/>
        </p:nvSpPr>
        <p:spPr>
          <a:xfrm>
            <a:off x="7870697" y="3529584"/>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8254745" y="3529584"/>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ectangle 89"/>
          <p:cNvSpPr/>
          <p:nvPr/>
        </p:nvSpPr>
        <p:spPr>
          <a:xfrm>
            <a:off x="6334505" y="3145536"/>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ectangle 90"/>
          <p:cNvSpPr/>
          <p:nvPr/>
        </p:nvSpPr>
        <p:spPr>
          <a:xfrm>
            <a:off x="6718553" y="3145536"/>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ectangle 91"/>
          <p:cNvSpPr/>
          <p:nvPr/>
        </p:nvSpPr>
        <p:spPr>
          <a:xfrm>
            <a:off x="7102601" y="3145536"/>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ectangle 92"/>
          <p:cNvSpPr/>
          <p:nvPr/>
        </p:nvSpPr>
        <p:spPr>
          <a:xfrm>
            <a:off x="7486649" y="3145536"/>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Rectangle 93"/>
          <p:cNvSpPr/>
          <p:nvPr/>
        </p:nvSpPr>
        <p:spPr>
          <a:xfrm>
            <a:off x="7870697" y="3145536"/>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Rectangle 94"/>
          <p:cNvSpPr/>
          <p:nvPr/>
        </p:nvSpPr>
        <p:spPr>
          <a:xfrm>
            <a:off x="8254745" y="3145536"/>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Rectangle 95"/>
          <p:cNvSpPr/>
          <p:nvPr/>
        </p:nvSpPr>
        <p:spPr>
          <a:xfrm>
            <a:off x="6334505" y="2761488"/>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Rectangle 96"/>
          <p:cNvSpPr/>
          <p:nvPr/>
        </p:nvSpPr>
        <p:spPr>
          <a:xfrm>
            <a:off x="6718553" y="2761488"/>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ectangle 97"/>
          <p:cNvSpPr/>
          <p:nvPr/>
        </p:nvSpPr>
        <p:spPr>
          <a:xfrm>
            <a:off x="7102601" y="2761488"/>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ectangle 98"/>
          <p:cNvSpPr/>
          <p:nvPr/>
        </p:nvSpPr>
        <p:spPr>
          <a:xfrm>
            <a:off x="7486649" y="2761488"/>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Rectangle 99"/>
          <p:cNvSpPr/>
          <p:nvPr/>
        </p:nvSpPr>
        <p:spPr>
          <a:xfrm>
            <a:off x="7870697" y="2761488"/>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Rectangle 100"/>
          <p:cNvSpPr/>
          <p:nvPr/>
        </p:nvSpPr>
        <p:spPr>
          <a:xfrm>
            <a:off x="8254745" y="2761488"/>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Rectangle 101"/>
          <p:cNvSpPr/>
          <p:nvPr/>
        </p:nvSpPr>
        <p:spPr>
          <a:xfrm>
            <a:off x="6334505" y="2377440"/>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Rectangle 102"/>
          <p:cNvSpPr/>
          <p:nvPr/>
        </p:nvSpPr>
        <p:spPr>
          <a:xfrm>
            <a:off x="6718553" y="2377440"/>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Rectangle 103"/>
          <p:cNvSpPr/>
          <p:nvPr/>
        </p:nvSpPr>
        <p:spPr>
          <a:xfrm>
            <a:off x="7102601" y="2377440"/>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ectangle 104"/>
          <p:cNvSpPr/>
          <p:nvPr/>
        </p:nvSpPr>
        <p:spPr>
          <a:xfrm>
            <a:off x="7486649" y="2377440"/>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ectangle 105"/>
          <p:cNvSpPr/>
          <p:nvPr/>
        </p:nvSpPr>
        <p:spPr>
          <a:xfrm>
            <a:off x="7870697" y="2377440"/>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Rectangle 106"/>
          <p:cNvSpPr/>
          <p:nvPr/>
        </p:nvSpPr>
        <p:spPr>
          <a:xfrm>
            <a:off x="8254745" y="2377440"/>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6217919" y="4389120"/>
            <a:ext cx="2537460" cy="292608"/>
          </a:xfrm>
          <a:prstGeom prst="rect">
            <a:avLst/>
          </a:prstGeom>
          <a:noFill/>
        </p:spPr>
        <p:txBody>
          <a:bodyPr wrap="square" lIns="0" rIns="0" tIns="0" bIns="0" anchor="t">
            <a:spAutoFit/>
          </a:bodyPr>
          <a:lstStyle/>
          <a:p>
            <a:pPr algn="l"/>
            <a:r>
              <a:rPr sz="1200">
                <a:solidFill>
                  <a:srgbClr val="000000"/>
                </a:solidFill>
                <a:latin typeface="Courier New"/>
              </a:rPr>
              <a:t>(</a:t>
            </a:r>
            <a:r>
              <a:rPr sz="1200" b="1">
                <a:solidFill>
                  <a:srgbClr val="D7263D"/>
                </a:solidFill>
                <a:latin typeface="Courier New"/>
              </a:rPr>
              <a:t>i</a:t>
            </a:r>
            <a:r>
              <a:rPr sz="1200">
                <a:solidFill>
                  <a:srgbClr val="000000"/>
                </a:solidFill>
                <a:latin typeface="Courier New"/>
              </a:rPr>
              <a:t> + </a:t>
            </a:r>
            <a:r>
              <a:rPr sz="1200" b="1">
                <a:solidFill>
                  <a:srgbClr val="3E8E00"/>
                </a:solidFill>
                <a:latin typeface="Courier New"/>
              </a:rPr>
              <a:t>j</a:t>
            </a:r>
            <a:r>
              <a:rPr sz="1200">
                <a:solidFill>
                  <a:srgbClr val="000000"/>
                </a:solidFill>
                <a:latin typeface="Courier New"/>
              </a:rPr>
              <a:t>) % 3 == 0</a:t>
            </a:r>
          </a:p>
        </p:txBody>
      </p:sp>
      <p:sp>
        <p:nvSpPr>
          <p:cNvPr id="109" name="TextBox 108"/>
          <p:cNvSpPr txBox="1"/>
          <p:nvPr/>
        </p:nvSpPr>
        <p:spPr>
          <a:xfrm>
            <a:off x="6217919" y="4709160"/>
            <a:ext cx="2537460" cy="320040"/>
          </a:xfrm>
          <a:prstGeom prst="rect">
            <a:avLst/>
          </a:prstGeom>
          <a:noFill/>
        </p:spPr>
        <p:txBody>
          <a:bodyPr wrap="square" lIns="0" rIns="0" tIns="0" bIns="0" anchor="t">
            <a:spAutoFit/>
          </a:bodyPr>
          <a:lstStyle/>
          <a:p>
            <a:pPr algn="l"/>
            <a:r>
              <a:rPr sz="1250">
                <a:solidFill>
                  <a:srgbClr val="6B6B6B"/>
                </a:solidFill>
                <a:latin typeface="Calibri"/>
              </a:rPr>
              <a:t>true → push out</a:t>
            </a:r>
          </a:p>
        </p:txBody>
      </p:sp>
      <p:sp>
        <p:nvSpPr>
          <p:cNvPr id="110" name="Rectangle 109"/>
          <p:cNvSpPr/>
          <p:nvPr/>
        </p:nvSpPr>
        <p:spPr>
          <a:xfrm>
            <a:off x="9098279" y="1851660"/>
            <a:ext cx="2537460" cy="42062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Rectangle 110"/>
          <p:cNvSpPr/>
          <p:nvPr/>
        </p:nvSpPr>
        <p:spPr>
          <a:xfrm>
            <a:off x="9029699" y="1783080"/>
            <a:ext cx="2537460" cy="420624"/>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9029699" y="1892807"/>
            <a:ext cx="2537460" cy="274320"/>
          </a:xfrm>
          <a:prstGeom prst="rect">
            <a:avLst/>
          </a:prstGeom>
          <a:noFill/>
        </p:spPr>
        <p:txBody>
          <a:bodyPr wrap="square" lIns="0" rIns="0" tIns="0" bIns="0" anchor="t">
            <a:spAutoFit/>
          </a:bodyPr>
          <a:lstStyle/>
          <a:p>
            <a:pPr algn="ctr"/>
            <a:r>
              <a:rPr sz="1100" b="1">
                <a:solidFill>
                  <a:srgbClr val="000000"/>
                </a:solidFill>
                <a:latin typeface="Arial"/>
              </a:rPr>
              <a:t>EVERY THIRD COLUMN</a:t>
            </a:r>
          </a:p>
        </p:txBody>
      </p:sp>
      <p:sp>
        <p:nvSpPr>
          <p:cNvPr id="113" name="Rectangle 112"/>
          <p:cNvSpPr/>
          <p:nvPr/>
        </p:nvSpPr>
        <p:spPr>
          <a:xfrm>
            <a:off x="9146285" y="3913632"/>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Rectangle 113"/>
          <p:cNvSpPr/>
          <p:nvPr/>
        </p:nvSpPr>
        <p:spPr>
          <a:xfrm>
            <a:off x="9530333" y="3913632"/>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Rectangle 114"/>
          <p:cNvSpPr/>
          <p:nvPr/>
        </p:nvSpPr>
        <p:spPr>
          <a:xfrm>
            <a:off x="9914381" y="3913632"/>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Rectangle 115"/>
          <p:cNvSpPr/>
          <p:nvPr/>
        </p:nvSpPr>
        <p:spPr>
          <a:xfrm>
            <a:off x="10298429" y="3913632"/>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ectangle 116"/>
          <p:cNvSpPr/>
          <p:nvPr/>
        </p:nvSpPr>
        <p:spPr>
          <a:xfrm>
            <a:off x="10682477" y="3913632"/>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Rectangle 117"/>
          <p:cNvSpPr/>
          <p:nvPr/>
        </p:nvSpPr>
        <p:spPr>
          <a:xfrm>
            <a:off x="11066525" y="3913632"/>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Rectangle 118"/>
          <p:cNvSpPr/>
          <p:nvPr/>
        </p:nvSpPr>
        <p:spPr>
          <a:xfrm>
            <a:off x="9146285" y="3529584"/>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Rectangle 119"/>
          <p:cNvSpPr/>
          <p:nvPr/>
        </p:nvSpPr>
        <p:spPr>
          <a:xfrm>
            <a:off x="9530333" y="3529584"/>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ectangle 120"/>
          <p:cNvSpPr/>
          <p:nvPr/>
        </p:nvSpPr>
        <p:spPr>
          <a:xfrm>
            <a:off x="9914381" y="3529584"/>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Rectangle 121"/>
          <p:cNvSpPr/>
          <p:nvPr/>
        </p:nvSpPr>
        <p:spPr>
          <a:xfrm>
            <a:off x="10298429" y="3529584"/>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Rectangle 122"/>
          <p:cNvSpPr/>
          <p:nvPr/>
        </p:nvSpPr>
        <p:spPr>
          <a:xfrm>
            <a:off x="10682477" y="3529584"/>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Rectangle 123"/>
          <p:cNvSpPr/>
          <p:nvPr/>
        </p:nvSpPr>
        <p:spPr>
          <a:xfrm>
            <a:off x="11066525" y="3529584"/>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Rectangle 124"/>
          <p:cNvSpPr/>
          <p:nvPr/>
        </p:nvSpPr>
        <p:spPr>
          <a:xfrm>
            <a:off x="9146285" y="3145536"/>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Rectangle 125"/>
          <p:cNvSpPr/>
          <p:nvPr/>
        </p:nvSpPr>
        <p:spPr>
          <a:xfrm>
            <a:off x="9530333" y="3145536"/>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Rectangle 126"/>
          <p:cNvSpPr/>
          <p:nvPr/>
        </p:nvSpPr>
        <p:spPr>
          <a:xfrm>
            <a:off x="9914381" y="3145536"/>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Rectangle 127"/>
          <p:cNvSpPr/>
          <p:nvPr/>
        </p:nvSpPr>
        <p:spPr>
          <a:xfrm>
            <a:off x="10298429" y="3145536"/>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ectangle 128"/>
          <p:cNvSpPr/>
          <p:nvPr/>
        </p:nvSpPr>
        <p:spPr>
          <a:xfrm>
            <a:off x="10682477" y="3145536"/>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Rectangle 129"/>
          <p:cNvSpPr/>
          <p:nvPr/>
        </p:nvSpPr>
        <p:spPr>
          <a:xfrm>
            <a:off x="11066525" y="3145536"/>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Rectangle 130"/>
          <p:cNvSpPr/>
          <p:nvPr/>
        </p:nvSpPr>
        <p:spPr>
          <a:xfrm>
            <a:off x="9146285" y="2761488"/>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Rectangle 131"/>
          <p:cNvSpPr/>
          <p:nvPr/>
        </p:nvSpPr>
        <p:spPr>
          <a:xfrm>
            <a:off x="9530333" y="2761488"/>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Rectangle 132"/>
          <p:cNvSpPr/>
          <p:nvPr/>
        </p:nvSpPr>
        <p:spPr>
          <a:xfrm>
            <a:off x="9914381" y="2761488"/>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Rectangle 133"/>
          <p:cNvSpPr/>
          <p:nvPr/>
        </p:nvSpPr>
        <p:spPr>
          <a:xfrm>
            <a:off x="10298429" y="2761488"/>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Rectangle 134"/>
          <p:cNvSpPr/>
          <p:nvPr/>
        </p:nvSpPr>
        <p:spPr>
          <a:xfrm>
            <a:off x="10682477" y="2761488"/>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Rectangle 135"/>
          <p:cNvSpPr/>
          <p:nvPr/>
        </p:nvSpPr>
        <p:spPr>
          <a:xfrm>
            <a:off x="11066525" y="2761488"/>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ectangle 136"/>
          <p:cNvSpPr/>
          <p:nvPr/>
        </p:nvSpPr>
        <p:spPr>
          <a:xfrm>
            <a:off x="9146285" y="2377440"/>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ectangle 137"/>
          <p:cNvSpPr/>
          <p:nvPr/>
        </p:nvSpPr>
        <p:spPr>
          <a:xfrm>
            <a:off x="9530333" y="2377440"/>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ectangle 138"/>
          <p:cNvSpPr/>
          <p:nvPr/>
        </p:nvSpPr>
        <p:spPr>
          <a:xfrm>
            <a:off x="9914381" y="2377440"/>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ectangle 139"/>
          <p:cNvSpPr/>
          <p:nvPr/>
        </p:nvSpPr>
        <p:spPr>
          <a:xfrm>
            <a:off x="10298429" y="2377440"/>
            <a:ext cx="384048" cy="384048"/>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Rectangle 140"/>
          <p:cNvSpPr/>
          <p:nvPr/>
        </p:nvSpPr>
        <p:spPr>
          <a:xfrm>
            <a:off x="10682477" y="2377440"/>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Rectangle 141"/>
          <p:cNvSpPr/>
          <p:nvPr/>
        </p:nvSpPr>
        <p:spPr>
          <a:xfrm>
            <a:off x="11066525" y="2377440"/>
            <a:ext cx="384048" cy="384048"/>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Box 142"/>
          <p:cNvSpPr txBox="1"/>
          <p:nvPr/>
        </p:nvSpPr>
        <p:spPr>
          <a:xfrm>
            <a:off x="9029699" y="4389120"/>
            <a:ext cx="2537460" cy="292608"/>
          </a:xfrm>
          <a:prstGeom prst="rect">
            <a:avLst/>
          </a:prstGeom>
          <a:noFill/>
        </p:spPr>
        <p:txBody>
          <a:bodyPr wrap="square" lIns="0" rIns="0" tIns="0" bIns="0" anchor="t">
            <a:spAutoFit/>
          </a:bodyPr>
          <a:lstStyle/>
          <a:p>
            <a:pPr algn="l"/>
            <a:r>
              <a:rPr sz="1200" b="1">
                <a:solidFill>
                  <a:srgbClr val="D7263D"/>
                </a:solidFill>
                <a:latin typeface="Courier New"/>
              </a:rPr>
              <a:t>i</a:t>
            </a:r>
            <a:r>
              <a:rPr sz="1200">
                <a:solidFill>
                  <a:srgbClr val="000000"/>
                </a:solidFill>
                <a:latin typeface="Courier New"/>
              </a:rPr>
              <a:t> % 3 == 0</a:t>
            </a:r>
          </a:p>
        </p:txBody>
      </p:sp>
      <p:sp>
        <p:nvSpPr>
          <p:cNvPr id="144" name="TextBox 143"/>
          <p:cNvSpPr txBox="1"/>
          <p:nvPr/>
        </p:nvSpPr>
        <p:spPr>
          <a:xfrm>
            <a:off x="9029699" y="4709160"/>
            <a:ext cx="2537460" cy="320040"/>
          </a:xfrm>
          <a:prstGeom prst="rect">
            <a:avLst/>
          </a:prstGeom>
          <a:noFill/>
        </p:spPr>
        <p:txBody>
          <a:bodyPr wrap="square" lIns="0" rIns="0" tIns="0" bIns="0" anchor="t">
            <a:spAutoFit/>
          </a:bodyPr>
          <a:lstStyle/>
          <a:p>
            <a:pPr algn="l"/>
            <a:r>
              <a:rPr sz="1250">
                <a:solidFill>
                  <a:srgbClr val="6B6B6B"/>
                </a:solidFill>
                <a:latin typeface="Calibri"/>
              </a:rPr>
              <a:t>true → remove</a:t>
            </a:r>
          </a:p>
        </p:txBody>
      </p:sp>
      <p:sp>
        <p:nvSpPr>
          <p:cNvPr id="145" name="Rectangle 144"/>
          <p:cNvSpPr/>
          <p:nvPr/>
        </p:nvSpPr>
        <p:spPr>
          <a:xfrm>
            <a:off x="662940" y="5417820"/>
            <a:ext cx="10972800" cy="62179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Rectangle 145"/>
          <p:cNvSpPr/>
          <p:nvPr/>
        </p:nvSpPr>
        <p:spPr>
          <a:xfrm>
            <a:off x="594360" y="5349240"/>
            <a:ext cx="10972800" cy="621792"/>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777240" y="5349240"/>
            <a:ext cx="10607040" cy="621792"/>
          </a:xfrm>
          <a:prstGeom prst="rect">
            <a:avLst/>
          </a:prstGeom>
          <a:noFill/>
        </p:spPr>
        <p:txBody>
          <a:bodyPr wrap="square" lIns="0" rIns="0" tIns="0" bIns="0" anchor="ctr">
            <a:spAutoFit/>
          </a:bodyPr>
          <a:lstStyle/>
          <a:p>
            <a:pPr algn="ctr"/>
            <a:r>
              <a:rPr sz="1250" b="1">
                <a:solidFill>
                  <a:srgbClr val="000000"/>
                </a:solidFill>
                <a:latin typeface="Arial"/>
              </a:rPr>
              <a:t>CAPTION EACH ONE: THE RULE, AND WHAT IT DOES WHEN IT IS TRUE AND WHEN IT IS FALSE.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FFFDF7"/>
                </a:solidFill>
                <a:latin typeface="Arial"/>
              </a:rPr>
              <a:t>A RULE PICKS ONE OF TWO VALUES</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B4B4AC"/>
                </a:solidFill>
                <a:latin typeface="Calibri"/>
              </a:rPr>
              <a:t>Keep or remove is only one case. Any parameter with two settings can be switched.</a:t>
            </a:r>
          </a:p>
        </p:txBody>
      </p:sp>
      <p:sp>
        <p:nvSpPr>
          <p:cNvPr id="5" name="Rectangle 4"/>
          <p:cNvSpPr/>
          <p:nvPr/>
        </p:nvSpPr>
        <p:spPr>
          <a:xfrm>
            <a:off x="662940" y="1851660"/>
            <a:ext cx="5486400" cy="3749039"/>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5486400" cy="3749039"/>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93474" y="4631618"/>
            <a:ext cx="529986" cy="529986"/>
          </a:xfrm>
          <a:prstGeom prst="rect">
            <a:avLst/>
          </a:prstGeom>
          <a:solidFill>
            <a:srgbClr val="C6F035"/>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963216" y="4770424"/>
            <a:ext cx="252374" cy="252374"/>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2455346" y="4631618"/>
            <a:ext cx="529986" cy="529986"/>
          </a:xfrm>
          <a:prstGeom prst="rect">
            <a:avLst/>
          </a:prstGeom>
          <a:solidFill>
            <a:srgbClr val="C6F035"/>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225088" y="4770424"/>
            <a:ext cx="252374" cy="252374"/>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717218" y="4631618"/>
            <a:ext cx="529986" cy="529986"/>
          </a:xfrm>
          <a:prstGeom prst="rect">
            <a:avLst/>
          </a:prstGeom>
          <a:solidFill>
            <a:srgbClr val="C6F035"/>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86960" y="4770424"/>
            <a:ext cx="252374" cy="252374"/>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979090" y="4631618"/>
            <a:ext cx="529986" cy="529986"/>
          </a:xfrm>
          <a:prstGeom prst="rect">
            <a:avLst/>
          </a:prstGeom>
          <a:solidFill>
            <a:srgbClr val="C6F035"/>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332280" y="4139488"/>
            <a:ext cx="252374" cy="252374"/>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824410" y="4000682"/>
            <a:ext cx="529986" cy="529986"/>
          </a:xfrm>
          <a:prstGeom prst="rect">
            <a:avLst/>
          </a:prstGeom>
          <a:solidFill>
            <a:srgbClr val="C6F035"/>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2594152" y="4139488"/>
            <a:ext cx="252374" cy="252374"/>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3086282" y="4000682"/>
            <a:ext cx="529986" cy="529986"/>
          </a:xfrm>
          <a:prstGeom prst="rect">
            <a:avLst/>
          </a:prstGeom>
          <a:solidFill>
            <a:srgbClr val="C6F035"/>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856024" y="4139488"/>
            <a:ext cx="252374" cy="252374"/>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348154" y="4000682"/>
            <a:ext cx="529986" cy="529986"/>
          </a:xfrm>
          <a:prstGeom prst="rect">
            <a:avLst/>
          </a:prstGeom>
          <a:solidFill>
            <a:srgbClr val="C6F035"/>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5117896" y="4139488"/>
            <a:ext cx="252374" cy="252374"/>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193474" y="3369746"/>
            <a:ext cx="529986" cy="529986"/>
          </a:xfrm>
          <a:prstGeom prst="rect">
            <a:avLst/>
          </a:prstGeom>
          <a:solidFill>
            <a:srgbClr val="C6F035"/>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963216" y="3508552"/>
            <a:ext cx="252374" cy="252374"/>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2455346" y="3369746"/>
            <a:ext cx="529986" cy="529986"/>
          </a:xfrm>
          <a:prstGeom prst="rect">
            <a:avLst/>
          </a:prstGeom>
          <a:solidFill>
            <a:srgbClr val="C6F035"/>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3225088" y="3508552"/>
            <a:ext cx="252374" cy="252374"/>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3717218" y="3369746"/>
            <a:ext cx="529986" cy="529986"/>
          </a:xfrm>
          <a:prstGeom prst="rect">
            <a:avLst/>
          </a:prstGeom>
          <a:solidFill>
            <a:srgbClr val="C6F035"/>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4486960" y="3508552"/>
            <a:ext cx="252374" cy="252374"/>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4979090" y="3369746"/>
            <a:ext cx="529986" cy="529986"/>
          </a:xfrm>
          <a:prstGeom prst="rect">
            <a:avLst/>
          </a:prstGeom>
          <a:solidFill>
            <a:srgbClr val="C6F035"/>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332280" y="2877616"/>
            <a:ext cx="252374" cy="252374"/>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824410" y="2738810"/>
            <a:ext cx="529986" cy="529986"/>
          </a:xfrm>
          <a:prstGeom prst="rect">
            <a:avLst/>
          </a:prstGeom>
          <a:solidFill>
            <a:srgbClr val="C6F035"/>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2594152" y="2877616"/>
            <a:ext cx="252374" cy="252374"/>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3086282" y="2738810"/>
            <a:ext cx="529986" cy="529986"/>
          </a:xfrm>
          <a:prstGeom prst="rect">
            <a:avLst/>
          </a:prstGeom>
          <a:solidFill>
            <a:srgbClr val="C6F035"/>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3856024" y="2877616"/>
            <a:ext cx="252374" cy="252374"/>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4348154" y="2738810"/>
            <a:ext cx="529986" cy="529986"/>
          </a:xfrm>
          <a:prstGeom prst="rect">
            <a:avLst/>
          </a:prstGeom>
          <a:solidFill>
            <a:srgbClr val="C6F035"/>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117896" y="2877616"/>
            <a:ext cx="252374" cy="252374"/>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93474" y="2107874"/>
            <a:ext cx="529986" cy="529986"/>
          </a:xfrm>
          <a:prstGeom prst="rect">
            <a:avLst/>
          </a:prstGeom>
          <a:solidFill>
            <a:srgbClr val="C6F035"/>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963216" y="2246680"/>
            <a:ext cx="252374" cy="252374"/>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2455346" y="2107874"/>
            <a:ext cx="529986" cy="529986"/>
          </a:xfrm>
          <a:prstGeom prst="rect">
            <a:avLst/>
          </a:prstGeom>
          <a:solidFill>
            <a:srgbClr val="C6F035"/>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3225088" y="2246680"/>
            <a:ext cx="252374" cy="252374"/>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3717218" y="2107874"/>
            <a:ext cx="529986" cy="529986"/>
          </a:xfrm>
          <a:prstGeom prst="rect">
            <a:avLst/>
          </a:prstGeom>
          <a:solidFill>
            <a:srgbClr val="C6F035"/>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4486960" y="2246680"/>
            <a:ext cx="252374" cy="252374"/>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4979090" y="2107874"/>
            <a:ext cx="529986" cy="529986"/>
          </a:xfrm>
          <a:prstGeom prst="rect">
            <a:avLst/>
          </a:prstGeom>
          <a:solidFill>
            <a:srgbClr val="C6F035"/>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469380" y="1851660"/>
            <a:ext cx="5166360" cy="3749039"/>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6400800" y="1783080"/>
            <a:ext cx="5166360" cy="3749039"/>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6400800" y="1783080"/>
            <a:ext cx="5166360" cy="50292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629400" y="1783080"/>
            <a:ext cx="4709160" cy="502920"/>
          </a:xfrm>
          <a:prstGeom prst="rect">
            <a:avLst/>
          </a:prstGeom>
          <a:noFill/>
        </p:spPr>
        <p:txBody>
          <a:bodyPr wrap="square" lIns="0" rIns="0" tIns="0" bIns="0" anchor="ctr">
            <a:spAutoFit/>
          </a:bodyPr>
          <a:lstStyle/>
          <a:p>
            <a:pPr algn="l"/>
            <a:r>
              <a:rPr sz="1400" b="1">
                <a:solidFill>
                  <a:srgbClr val="000000"/>
                </a:solidFill>
                <a:latin typeface="Arial"/>
              </a:rPr>
              <a:t>THE CHECKERBOARD, DRIVING SIZE</a:t>
            </a:r>
          </a:p>
        </p:txBody>
      </p:sp>
      <p:sp>
        <p:nvSpPr>
          <p:cNvPr id="46" name="TextBox 45"/>
          <p:cNvSpPr txBox="1"/>
          <p:nvPr/>
        </p:nvSpPr>
        <p:spPr>
          <a:xfrm>
            <a:off x="6675120" y="2487168"/>
            <a:ext cx="4663440" cy="347472"/>
          </a:xfrm>
          <a:prstGeom prst="rect">
            <a:avLst/>
          </a:prstGeom>
          <a:noFill/>
        </p:spPr>
        <p:txBody>
          <a:bodyPr wrap="square" lIns="0" rIns="0" tIns="0" bIns="0" anchor="t">
            <a:spAutoFit/>
          </a:bodyPr>
          <a:lstStyle/>
          <a:p>
            <a:pPr algn="l"/>
            <a:r>
              <a:rPr sz="1250">
                <a:solidFill>
                  <a:srgbClr val="000000"/>
                </a:solidFill>
                <a:latin typeface="Courier New"/>
              </a:rPr>
              <a:t>checker = (</a:t>
            </a:r>
            <a:r>
              <a:rPr sz="1250" b="1">
                <a:solidFill>
                  <a:srgbClr val="D7263D"/>
                </a:solidFill>
                <a:latin typeface="Courier New"/>
              </a:rPr>
              <a:t>i</a:t>
            </a:r>
            <a:r>
              <a:rPr sz="1250">
                <a:solidFill>
                  <a:srgbClr val="000000"/>
                </a:solidFill>
                <a:latin typeface="Courier New"/>
              </a:rPr>
              <a:t> + </a:t>
            </a:r>
            <a:r>
              <a:rPr sz="1250" b="1">
                <a:solidFill>
                  <a:srgbClr val="3E8E00"/>
                </a:solidFill>
                <a:latin typeface="Courier New"/>
              </a:rPr>
              <a:t>j</a:t>
            </a:r>
            <a:r>
              <a:rPr sz="1250">
                <a:solidFill>
                  <a:srgbClr val="000000"/>
                </a:solidFill>
                <a:latin typeface="Courier New"/>
              </a:rPr>
              <a:t>) % 2 == 0</a:t>
            </a:r>
          </a:p>
        </p:txBody>
      </p:sp>
      <p:sp>
        <p:nvSpPr>
          <p:cNvPr id="47" name="TextBox 46"/>
          <p:cNvSpPr txBox="1"/>
          <p:nvPr/>
        </p:nvSpPr>
        <p:spPr>
          <a:xfrm>
            <a:off x="6675120" y="2834640"/>
            <a:ext cx="4663440" cy="347472"/>
          </a:xfrm>
          <a:prstGeom prst="rect">
            <a:avLst/>
          </a:prstGeom>
          <a:noFill/>
        </p:spPr>
        <p:txBody>
          <a:bodyPr wrap="square" lIns="0" rIns="0" tIns="0" bIns="0" anchor="t">
            <a:spAutoFit/>
          </a:bodyPr>
          <a:lstStyle/>
          <a:p>
            <a:pPr algn="l"/>
            <a:r>
              <a:rPr sz="1250">
                <a:solidFill>
                  <a:srgbClr val="000000"/>
                </a:solidFill>
                <a:latin typeface="Courier New"/>
              </a:rPr>
              <a:t>size = big if checker else small</a:t>
            </a:r>
          </a:p>
        </p:txBody>
      </p:sp>
      <p:sp>
        <p:nvSpPr>
          <p:cNvPr id="48" name="TextBox 47"/>
          <p:cNvSpPr txBox="1"/>
          <p:nvPr/>
        </p:nvSpPr>
        <p:spPr>
          <a:xfrm>
            <a:off x="6675120" y="3337560"/>
            <a:ext cx="4663440" cy="2103120"/>
          </a:xfrm>
          <a:prstGeom prst="rect">
            <a:avLst/>
          </a:prstGeom>
          <a:noFill/>
        </p:spPr>
        <p:txBody>
          <a:bodyPr wrap="square" lIns="0" rIns="0" tIns="0" bIns="0" anchor="t">
            <a:spAutoFit/>
          </a:bodyPr>
          <a:lstStyle/>
          <a:p>
            <a:pPr algn="l">
              <a:lnSpc>
                <a:spcPct val="130000"/>
              </a:lnSpc>
            </a:pPr>
            <a:r>
              <a:rPr sz="1350">
                <a:solidFill>
                  <a:srgbClr val="000000"/>
                </a:solidFill>
                <a:latin typeface="Calibri"/>
              </a:rPr>
              <a:t>Two values: large and small. The rule decides which one each copy gets.</a:t>
            </a:r>
          </a:p>
          <a:p>
            <a:pPr algn="l">
              <a:lnSpc>
                <a:spcPct val="130000"/>
              </a:lnSpc>
            </a:pPr>
            <a:r>
              <a:rPr sz="600">
                <a:solidFill>
                  <a:srgbClr val="000000"/>
                </a:solidFill>
                <a:latin typeface="Calibri"/>
              </a:rPr>
              <a:t> </a:t>
            </a:r>
          </a:p>
          <a:p>
            <a:pPr algn="l">
              <a:lnSpc>
                <a:spcPct val="130000"/>
              </a:lnSpc>
            </a:pPr>
            <a:r>
              <a:rPr sz="1350">
                <a:solidFill>
                  <a:srgbClr val="000000"/>
                </a:solidFill>
                <a:latin typeface="Calibri"/>
              </a:rPr>
              <a:t>Swap size for rotation (0° or 45°), depth, an aperture — or 'there' and 'not there'. Same rule, different parameter.</a:t>
            </a:r>
          </a:p>
        </p:txBody>
      </p:sp>
      <p:sp>
        <p:nvSpPr>
          <p:cNvPr id="49" name="Rectangle 48"/>
          <p:cNvSpPr/>
          <p:nvPr/>
        </p:nvSpPr>
        <p:spPr>
          <a:xfrm>
            <a:off x="662940" y="5875020"/>
            <a:ext cx="1097280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594360" y="5806440"/>
            <a:ext cx="10972800" cy="566928"/>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777240" y="5806440"/>
            <a:ext cx="10607040" cy="566928"/>
          </a:xfrm>
          <a:prstGeom prst="rect">
            <a:avLst/>
          </a:prstGeom>
          <a:noFill/>
        </p:spPr>
        <p:txBody>
          <a:bodyPr wrap="square" lIns="0" rIns="0" tIns="0" bIns="0" anchor="ctr">
            <a:spAutoFit/>
          </a:bodyPr>
          <a:lstStyle/>
          <a:p>
            <a:pPr algn="ctr"/>
            <a:r>
              <a:rPr sz="1250" b="1">
                <a:solidFill>
                  <a:srgbClr val="000000"/>
                </a:solidFill>
                <a:latin typeface="Arial"/>
              </a:rPr>
              <a:t>TRUE → ONE VALUE. FALSE → THE OTHER. ONE RULE DRIVES ONE PARAMETER.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SHEET 3 · THE SAME RULES IN 3D</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A 3D array of cubes, read one layer at a time. Two rules: size from i + j + k, turn from k.</a:t>
            </a:r>
          </a:p>
        </p:txBody>
      </p:sp>
      <p:sp>
        <p:nvSpPr>
          <p:cNvPr id="5" name="Rectangle 4"/>
          <p:cNvSpPr/>
          <p:nvPr/>
        </p:nvSpPr>
        <p:spPr>
          <a:xfrm>
            <a:off x="662940" y="1851660"/>
            <a:ext cx="2267712" cy="42062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2267712" cy="420624"/>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94360" y="1892807"/>
            <a:ext cx="2267712" cy="274320"/>
          </a:xfrm>
          <a:prstGeom prst="rect">
            <a:avLst/>
          </a:prstGeom>
          <a:noFill/>
        </p:spPr>
        <p:txBody>
          <a:bodyPr wrap="square" lIns="0" rIns="0" tIns="0" bIns="0" anchor="t">
            <a:spAutoFit/>
          </a:bodyPr>
          <a:lstStyle/>
          <a:p>
            <a:pPr algn="ctr"/>
            <a:r>
              <a:rPr sz="1150" b="1">
                <a:solidFill>
                  <a:srgbClr val="000000"/>
                </a:solidFill>
                <a:latin typeface="Arial"/>
              </a:rPr>
              <a:t>LAYER  k = 0</a:t>
            </a:r>
          </a:p>
        </p:txBody>
      </p:sp>
      <p:sp>
        <p:nvSpPr>
          <p:cNvPr id="8" name="Rectangle 7"/>
          <p:cNvSpPr/>
          <p:nvPr/>
        </p:nvSpPr>
        <p:spPr>
          <a:xfrm>
            <a:off x="662940" y="2400300"/>
            <a:ext cx="2267712" cy="226771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94360" y="2331720"/>
            <a:ext cx="2267712" cy="226771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15279" y="3979103"/>
            <a:ext cx="399409" cy="399409"/>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395374" y="4083710"/>
            <a:ext cx="190195" cy="190195"/>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766255" y="3979103"/>
            <a:ext cx="399409" cy="399409"/>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346350" y="4083710"/>
            <a:ext cx="190195" cy="190195"/>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19886" y="3608222"/>
            <a:ext cx="190195" cy="190195"/>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290767" y="3503615"/>
            <a:ext cx="399409" cy="399409"/>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870862" y="3608222"/>
            <a:ext cx="190195" cy="190195"/>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2241743" y="3503615"/>
            <a:ext cx="399409" cy="399409"/>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15279" y="3028127"/>
            <a:ext cx="399409" cy="399409"/>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395374" y="3132734"/>
            <a:ext cx="190195" cy="190195"/>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766255" y="3028127"/>
            <a:ext cx="399409" cy="399409"/>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2346350" y="3132734"/>
            <a:ext cx="190195" cy="190195"/>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19886" y="2657246"/>
            <a:ext cx="190195" cy="190195"/>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90767" y="2552639"/>
            <a:ext cx="399409" cy="399409"/>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870862" y="2657246"/>
            <a:ext cx="190195" cy="190195"/>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2241743" y="2552639"/>
            <a:ext cx="399409" cy="399409"/>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3204972" y="1851660"/>
            <a:ext cx="2267712" cy="42062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3136391" y="1783080"/>
            <a:ext cx="2267712" cy="420624"/>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136391" y="1892807"/>
            <a:ext cx="2267712" cy="274320"/>
          </a:xfrm>
          <a:prstGeom prst="rect">
            <a:avLst/>
          </a:prstGeom>
          <a:noFill/>
        </p:spPr>
        <p:txBody>
          <a:bodyPr wrap="square" lIns="0" rIns="0" tIns="0" bIns="0" anchor="t">
            <a:spAutoFit/>
          </a:bodyPr>
          <a:lstStyle/>
          <a:p>
            <a:pPr algn="ctr"/>
            <a:r>
              <a:rPr sz="1150" b="1">
                <a:solidFill>
                  <a:srgbClr val="000000"/>
                </a:solidFill>
                <a:latin typeface="Arial"/>
              </a:rPr>
              <a:t>LAYER  k = 1</a:t>
            </a:r>
          </a:p>
        </p:txBody>
      </p:sp>
      <p:sp>
        <p:nvSpPr>
          <p:cNvPr id="29" name="Rectangle 28"/>
          <p:cNvSpPr/>
          <p:nvPr/>
        </p:nvSpPr>
        <p:spPr>
          <a:xfrm>
            <a:off x="3204972" y="2400300"/>
            <a:ext cx="2267712" cy="226771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3136391" y="2331720"/>
            <a:ext cx="2267712" cy="226771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rot="2700000">
            <a:off x="3488545" y="4110337"/>
            <a:ext cx="136940" cy="136940"/>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rot="2700000">
            <a:off x="3888716" y="4035020"/>
            <a:ext cx="287575" cy="287575"/>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rot="2700000">
            <a:off x="4439521" y="4110337"/>
            <a:ext cx="136940" cy="136940"/>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rot="2700000">
            <a:off x="4839692" y="4035020"/>
            <a:ext cx="287575" cy="287575"/>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rot="2700000">
            <a:off x="3413228" y="3559532"/>
            <a:ext cx="287575" cy="287575"/>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rot="2700000">
            <a:off x="3964033" y="3634849"/>
            <a:ext cx="136940" cy="136940"/>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rot="2700000">
            <a:off x="4364204" y="3559532"/>
            <a:ext cx="287575" cy="287575"/>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rot="2700000">
            <a:off x="4915009" y="3634849"/>
            <a:ext cx="136940" cy="136940"/>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rot="2700000">
            <a:off x="3488545" y="3159361"/>
            <a:ext cx="136940" cy="136940"/>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rot="2700000">
            <a:off x="3888716" y="3084044"/>
            <a:ext cx="287575" cy="287575"/>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rot="2700000">
            <a:off x="4439521" y="3159361"/>
            <a:ext cx="136940" cy="136940"/>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rot="2700000">
            <a:off x="4839692" y="3084044"/>
            <a:ext cx="287575" cy="287575"/>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rot="2700000">
            <a:off x="3413228" y="2608556"/>
            <a:ext cx="287575" cy="287575"/>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rot="2700000">
            <a:off x="3964033" y="2683873"/>
            <a:ext cx="136940" cy="136940"/>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rot="2700000">
            <a:off x="4364204" y="2608556"/>
            <a:ext cx="287575" cy="287575"/>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rot="2700000">
            <a:off x="4915009" y="2683873"/>
            <a:ext cx="136940" cy="136940"/>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5747003" y="1851660"/>
            <a:ext cx="2267712" cy="42062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678423" y="1783080"/>
            <a:ext cx="2267712" cy="420624"/>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5678423" y="1892807"/>
            <a:ext cx="2267712" cy="274320"/>
          </a:xfrm>
          <a:prstGeom prst="rect">
            <a:avLst/>
          </a:prstGeom>
          <a:noFill/>
        </p:spPr>
        <p:txBody>
          <a:bodyPr wrap="square" lIns="0" rIns="0" tIns="0" bIns="0" anchor="t">
            <a:spAutoFit/>
          </a:bodyPr>
          <a:lstStyle/>
          <a:p>
            <a:pPr algn="ctr"/>
            <a:r>
              <a:rPr sz="1150" b="1">
                <a:solidFill>
                  <a:srgbClr val="000000"/>
                </a:solidFill>
                <a:latin typeface="Arial"/>
              </a:rPr>
              <a:t>LAYER  k = 2</a:t>
            </a:r>
          </a:p>
        </p:txBody>
      </p:sp>
      <p:sp>
        <p:nvSpPr>
          <p:cNvPr id="50" name="Rectangle 49"/>
          <p:cNvSpPr/>
          <p:nvPr/>
        </p:nvSpPr>
        <p:spPr>
          <a:xfrm>
            <a:off x="5747003" y="2400300"/>
            <a:ext cx="2267712" cy="226771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5678423" y="2331720"/>
            <a:ext cx="2267712" cy="226771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5899343" y="3979103"/>
            <a:ext cx="399409" cy="399409"/>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6479438" y="4083710"/>
            <a:ext cx="190195" cy="190195"/>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6850319" y="3979103"/>
            <a:ext cx="399409" cy="399409"/>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7430414" y="4083710"/>
            <a:ext cx="190195" cy="190195"/>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6003950" y="3608222"/>
            <a:ext cx="190195" cy="190195"/>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6374831" y="3503615"/>
            <a:ext cx="399409" cy="399409"/>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6954926" y="3608222"/>
            <a:ext cx="190195" cy="190195"/>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7325807" y="3503615"/>
            <a:ext cx="399409" cy="399409"/>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5899343" y="3028127"/>
            <a:ext cx="399409" cy="399409"/>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6479438" y="3132734"/>
            <a:ext cx="190195" cy="190195"/>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6850319" y="3028127"/>
            <a:ext cx="399409" cy="399409"/>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7430414" y="3132734"/>
            <a:ext cx="190195" cy="190195"/>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6003950" y="2657246"/>
            <a:ext cx="190195" cy="190195"/>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ectangle 64"/>
          <p:cNvSpPr/>
          <p:nvPr/>
        </p:nvSpPr>
        <p:spPr>
          <a:xfrm>
            <a:off x="6374831" y="2552639"/>
            <a:ext cx="399409" cy="399409"/>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ectangle 65"/>
          <p:cNvSpPr/>
          <p:nvPr/>
        </p:nvSpPr>
        <p:spPr>
          <a:xfrm>
            <a:off x="6954926" y="2657246"/>
            <a:ext cx="190195" cy="190195"/>
          </a:xfrm>
          <a:prstGeom prst="rect">
            <a:avLst/>
          </a:prstGeom>
          <a:solidFill>
            <a:srgbClr val="FFFDF7"/>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ectangle 66"/>
          <p:cNvSpPr/>
          <p:nvPr/>
        </p:nvSpPr>
        <p:spPr>
          <a:xfrm>
            <a:off x="7325807" y="2552639"/>
            <a:ext cx="399409" cy="399409"/>
          </a:xfrm>
          <a:prstGeom prst="rect">
            <a:avLst/>
          </a:prstGeom>
          <a:solidFill>
            <a:srgbClr val="FF4D8D"/>
          </a:solidFill>
          <a:ln w="1587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ectangle 67"/>
          <p:cNvSpPr/>
          <p:nvPr/>
        </p:nvSpPr>
        <p:spPr>
          <a:xfrm>
            <a:off x="8252459" y="1851660"/>
            <a:ext cx="3383280" cy="281635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ectangle 68"/>
          <p:cNvSpPr/>
          <p:nvPr/>
        </p:nvSpPr>
        <p:spPr>
          <a:xfrm>
            <a:off x="8183879" y="1783080"/>
            <a:ext cx="3383280" cy="281635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Rectangle 69"/>
          <p:cNvSpPr/>
          <p:nvPr/>
        </p:nvSpPr>
        <p:spPr>
          <a:xfrm>
            <a:off x="8183879" y="1783080"/>
            <a:ext cx="3383280" cy="502920"/>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8412480" y="1783080"/>
            <a:ext cx="2926080" cy="502920"/>
          </a:xfrm>
          <a:prstGeom prst="rect">
            <a:avLst/>
          </a:prstGeom>
          <a:noFill/>
        </p:spPr>
        <p:txBody>
          <a:bodyPr wrap="square" lIns="0" rIns="0" tIns="0" bIns="0" anchor="ctr">
            <a:spAutoFit/>
          </a:bodyPr>
          <a:lstStyle/>
          <a:p>
            <a:pPr algn="l"/>
            <a:r>
              <a:rPr sz="1350" b="1">
                <a:solidFill>
                  <a:srgbClr val="000000"/>
                </a:solidFill>
                <a:latin typeface="Arial"/>
              </a:rPr>
              <a:t>READ THE STACK</a:t>
            </a:r>
          </a:p>
        </p:txBody>
      </p:sp>
      <p:sp>
        <p:nvSpPr>
          <p:cNvPr id="72" name="TextBox 71"/>
          <p:cNvSpPr txBox="1"/>
          <p:nvPr/>
        </p:nvSpPr>
        <p:spPr>
          <a:xfrm>
            <a:off x="8412480" y="2423160"/>
            <a:ext cx="2971800" cy="2194560"/>
          </a:xfrm>
          <a:prstGeom prst="rect">
            <a:avLst/>
          </a:prstGeom>
          <a:noFill/>
        </p:spPr>
        <p:txBody>
          <a:bodyPr wrap="square" lIns="0" rIns="0" tIns="0" bIns="0" anchor="t">
            <a:spAutoFit/>
          </a:bodyPr>
          <a:lstStyle/>
          <a:p>
            <a:pPr algn="l">
              <a:lnSpc>
                <a:spcPct val="125000"/>
              </a:lnSpc>
            </a:pPr>
            <a:r>
              <a:rPr sz="1250">
                <a:solidFill>
                  <a:srgbClr val="000000"/>
                </a:solidFill>
                <a:latin typeface="Calibri"/>
              </a:rPr>
              <a:t>k in the size rule: the checkerboard flips every layer.</a:t>
            </a:r>
          </a:p>
          <a:p>
            <a:pPr algn="l">
              <a:lnSpc>
                <a:spcPct val="125000"/>
              </a:lnSpc>
            </a:pPr>
            <a:r>
              <a:rPr sz="500">
                <a:solidFill>
                  <a:srgbClr val="000000"/>
                </a:solidFill>
                <a:latin typeface="Calibri"/>
              </a:rPr>
              <a:t> </a:t>
            </a:r>
          </a:p>
          <a:p>
            <a:pPr algn="l">
              <a:lnSpc>
                <a:spcPct val="125000"/>
              </a:lnSpc>
            </a:pPr>
            <a:r>
              <a:rPr sz="1250">
                <a:solidFill>
                  <a:srgbClr val="000000"/>
                </a:solidFill>
                <a:latin typeface="Calibri"/>
              </a:rPr>
              <a:t>k in the turn rule: odd layers turn 45°.</a:t>
            </a:r>
          </a:p>
          <a:p>
            <a:pPr algn="l">
              <a:lnSpc>
                <a:spcPct val="125000"/>
              </a:lnSpc>
            </a:pPr>
            <a:r>
              <a:rPr sz="500">
                <a:solidFill>
                  <a:srgbClr val="000000"/>
                </a:solidFill>
                <a:latin typeface="Calibri"/>
              </a:rPr>
              <a:t> </a:t>
            </a:r>
          </a:p>
          <a:p>
            <a:pPr algn="l">
              <a:lnSpc>
                <a:spcPct val="125000"/>
              </a:lnSpc>
            </a:pPr>
            <a:r>
              <a:rPr sz="1250">
                <a:solidFill>
                  <a:srgbClr val="000000"/>
                </a:solidFill>
                <a:latin typeface="Calibri"/>
              </a:rPr>
              <a:t>Leave k out and every layer is identical.</a:t>
            </a:r>
          </a:p>
        </p:txBody>
      </p:sp>
      <p:sp>
        <p:nvSpPr>
          <p:cNvPr id="73" name="Rectangle 72"/>
          <p:cNvSpPr/>
          <p:nvPr/>
        </p:nvSpPr>
        <p:spPr>
          <a:xfrm>
            <a:off x="594360" y="4846320"/>
            <a:ext cx="10972800" cy="71323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868680" y="4919472"/>
            <a:ext cx="10424160" cy="274320"/>
          </a:xfrm>
          <a:prstGeom prst="rect">
            <a:avLst/>
          </a:prstGeom>
          <a:noFill/>
        </p:spPr>
        <p:txBody>
          <a:bodyPr wrap="square" lIns="0" rIns="0" tIns="0" bIns="0" anchor="t">
            <a:spAutoFit/>
          </a:bodyPr>
          <a:lstStyle/>
          <a:p>
            <a:pPr algn="l"/>
            <a:r>
              <a:rPr sz="1250">
                <a:solidFill>
                  <a:srgbClr val="000000"/>
                </a:solidFill>
                <a:latin typeface="Courier New"/>
              </a:rPr>
              <a:t>size = big if (</a:t>
            </a:r>
            <a:r>
              <a:rPr sz="1250" b="1">
                <a:solidFill>
                  <a:srgbClr val="D7263D"/>
                </a:solidFill>
                <a:latin typeface="Courier New"/>
              </a:rPr>
              <a:t>i</a:t>
            </a:r>
            <a:r>
              <a:rPr sz="1250">
                <a:solidFill>
                  <a:srgbClr val="000000"/>
                </a:solidFill>
                <a:latin typeface="Courier New"/>
              </a:rPr>
              <a:t> + </a:t>
            </a:r>
            <a:r>
              <a:rPr sz="1250" b="1">
                <a:solidFill>
                  <a:srgbClr val="3E8E00"/>
                </a:solidFill>
                <a:latin typeface="Courier New"/>
              </a:rPr>
              <a:t>j</a:t>
            </a:r>
            <a:r>
              <a:rPr sz="1250">
                <a:solidFill>
                  <a:srgbClr val="000000"/>
                </a:solidFill>
                <a:latin typeface="Courier New"/>
              </a:rPr>
              <a:t> + </a:t>
            </a:r>
            <a:r>
              <a:rPr sz="1250" b="1">
                <a:solidFill>
                  <a:srgbClr val="1F6FD1"/>
                </a:solidFill>
                <a:latin typeface="Courier New"/>
              </a:rPr>
              <a:t>k</a:t>
            </a:r>
            <a:r>
              <a:rPr sz="1250">
                <a:solidFill>
                  <a:srgbClr val="000000"/>
                </a:solidFill>
                <a:latin typeface="Courier New"/>
              </a:rPr>
              <a:t>) % 2 == 0 else small</a:t>
            </a:r>
          </a:p>
        </p:txBody>
      </p:sp>
      <p:sp>
        <p:nvSpPr>
          <p:cNvPr id="75" name="TextBox 74"/>
          <p:cNvSpPr txBox="1"/>
          <p:nvPr/>
        </p:nvSpPr>
        <p:spPr>
          <a:xfrm>
            <a:off x="868680" y="5193792"/>
            <a:ext cx="10424160" cy="274320"/>
          </a:xfrm>
          <a:prstGeom prst="rect">
            <a:avLst/>
          </a:prstGeom>
          <a:noFill/>
        </p:spPr>
        <p:txBody>
          <a:bodyPr wrap="square" lIns="0" rIns="0" tIns="0" bIns="0" anchor="t">
            <a:spAutoFit/>
          </a:bodyPr>
          <a:lstStyle/>
          <a:p>
            <a:pPr algn="l"/>
            <a:r>
              <a:rPr sz="1250">
                <a:solidFill>
                  <a:srgbClr val="000000"/>
                </a:solidFill>
                <a:latin typeface="Courier New"/>
              </a:rPr>
              <a:t>turn = 45 if </a:t>
            </a:r>
            <a:r>
              <a:rPr sz="1250" b="1">
                <a:solidFill>
                  <a:srgbClr val="1F6FD1"/>
                </a:solidFill>
                <a:latin typeface="Courier New"/>
              </a:rPr>
              <a:t>k</a:t>
            </a:r>
            <a:r>
              <a:rPr sz="1250">
                <a:solidFill>
                  <a:srgbClr val="000000"/>
                </a:solidFill>
                <a:latin typeface="Courier New"/>
              </a:rPr>
              <a:t> % 2 else 0</a:t>
            </a:r>
          </a:p>
        </p:txBody>
      </p:sp>
      <p:sp>
        <p:nvSpPr>
          <p:cNvPr id="76" name="Rectangle 75"/>
          <p:cNvSpPr/>
          <p:nvPr/>
        </p:nvSpPr>
        <p:spPr>
          <a:xfrm>
            <a:off x="662940" y="5920740"/>
            <a:ext cx="1097280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ectangle 76"/>
          <p:cNvSpPr/>
          <p:nvPr/>
        </p:nvSpPr>
        <p:spPr>
          <a:xfrm>
            <a:off x="594360" y="5852160"/>
            <a:ext cx="10972800" cy="566928"/>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777240" y="5852160"/>
            <a:ext cx="10607040" cy="566928"/>
          </a:xfrm>
          <a:prstGeom prst="rect">
            <a:avLst/>
          </a:prstGeom>
          <a:noFill/>
        </p:spPr>
        <p:txBody>
          <a:bodyPr wrap="square" lIns="0" rIns="0" tIns="0" bIns="0" anchor="ctr">
            <a:spAutoFit/>
          </a:bodyPr>
          <a:lstStyle/>
          <a:p>
            <a:pPr algn="ctr"/>
            <a:r>
              <a:rPr sz="1250" b="1">
                <a:solidFill>
                  <a:srgbClr val="000000"/>
                </a:solidFill>
                <a:latin typeface="Arial"/>
              </a:rPr>
              <a:t>PUT k IN THE RULE AND THE PATTERN CHANGES LAYER BY LAYER, NOT JUST ACROSS.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FFFD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FFFDF7"/>
                </a:solidFill>
                <a:latin typeface="Arial"/>
              </a:rPr>
              <a:t>SHEET 3, WRITTEN OUT</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B4B4AC"/>
                </a:solidFill>
                <a:latin typeface="Calibri"/>
              </a:rPr>
              <a:t>The cube loop from last week, with the rules added inside it.</a:t>
            </a:r>
          </a:p>
        </p:txBody>
      </p:sp>
      <p:sp>
        <p:nvSpPr>
          <p:cNvPr id="5" name="Rectangle 4"/>
          <p:cNvSpPr/>
          <p:nvPr/>
        </p:nvSpPr>
        <p:spPr>
          <a:xfrm>
            <a:off x="662940" y="1851660"/>
            <a:ext cx="6492240" cy="356616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6492240" cy="356616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1965960"/>
            <a:ext cx="6126480" cy="347472"/>
          </a:xfrm>
          <a:prstGeom prst="rect">
            <a:avLst/>
          </a:prstGeom>
          <a:noFill/>
        </p:spPr>
        <p:txBody>
          <a:bodyPr wrap="square" lIns="0" rIns="0" tIns="0" bIns="0" anchor="t">
            <a:spAutoFit/>
          </a:bodyPr>
          <a:lstStyle/>
          <a:p>
            <a:pPr algn="l"/>
            <a:r>
              <a:rPr sz="1250">
                <a:solidFill>
                  <a:srgbClr val="000000"/>
                </a:solidFill>
                <a:latin typeface="Courier New"/>
              </a:rPr>
              <a:t>for </a:t>
            </a:r>
            <a:r>
              <a:rPr sz="1250" b="1">
                <a:solidFill>
                  <a:srgbClr val="1F6FD1"/>
                </a:solidFill>
                <a:latin typeface="Courier New"/>
              </a:rPr>
              <a:t>k</a:t>
            </a:r>
            <a:r>
              <a:rPr sz="1250">
                <a:solidFill>
                  <a:srgbClr val="000000"/>
                </a:solidFill>
                <a:latin typeface="Courier New"/>
              </a:rPr>
              <a:t> in range(layers):</a:t>
            </a:r>
          </a:p>
        </p:txBody>
      </p:sp>
      <p:sp>
        <p:nvSpPr>
          <p:cNvPr id="8" name="TextBox 7"/>
          <p:cNvSpPr txBox="1"/>
          <p:nvPr/>
        </p:nvSpPr>
        <p:spPr>
          <a:xfrm>
            <a:off x="868680" y="2313432"/>
            <a:ext cx="6126480" cy="347472"/>
          </a:xfrm>
          <a:prstGeom prst="rect">
            <a:avLst/>
          </a:prstGeom>
          <a:noFill/>
        </p:spPr>
        <p:txBody>
          <a:bodyPr wrap="square" lIns="0" rIns="0" tIns="0" bIns="0" anchor="t">
            <a:spAutoFit/>
          </a:bodyPr>
          <a:lstStyle/>
          <a:p>
            <a:pPr algn="l"/>
            <a:r>
              <a:rPr sz="1250">
                <a:solidFill>
                  <a:srgbClr val="000000"/>
                </a:solidFill>
                <a:latin typeface="Courier New"/>
              </a:rPr>
              <a:t>    for </a:t>
            </a:r>
            <a:r>
              <a:rPr sz="1250" b="1">
                <a:solidFill>
                  <a:srgbClr val="3E8E00"/>
                </a:solidFill>
                <a:latin typeface="Courier New"/>
              </a:rPr>
              <a:t>j</a:t>
            </a:r>
            <a:r>
              <a:rPr sz="1250">
                <a:solidFill>
                  <a:srgbClr val="000000"/>
                </a:solidFill>
                <a:latin typeface="Courier New"/>
              </a:rPr>
              <a:t> in range(rows):</a:t>
            </a:r>
          </a:p>
        </p:txBody>
      </p:sp>
      <p:sp>
        <p:nvSpPr>
          <p:cNvPr id="9" name="TextBox 8"/>
          <p:cNvSpPr txBox="1"/>
          <p:nvPr/>
        </p:nvSpPr>
        <p:spPr>
          <a:xfrm>
            <a:off x="868680" y="2660903"/>
            <a:ext cx="6126480" cy="347472"/>
          </a:xfrm>
          <a:prstGeom prst="rect">
            <a:avLst/>
          </a:prstGeom>
          <a:noFill/>
        </p:spPr>
        <p:txBody>
          <a:bodyPr wrap="square" lIns="0" rIns="0" tIns="0" bIns="0" anchor="t">
            <a:spAutoFit/>
          </a:bodyPr>
          <a:lstStyle/>
          <a:p>
            <a:pPr algn="l"/>
            <a:r>
              <a:rPr sz="1250">
                <a:solidFill>
                  <a:srgbClr val="000000"/>
                </a:solidFill>
                <a:latin typeface="Courier New"/>
              </a:rPr>
              <a:t>        for </a:t>
            </a:r>
            <a:r>
              <a:rPr sz="1250" b="1">
                <a:solidFill>
                  <a:srgbClr val="D7263D"/>
                </a:solidFill>
                <a:latin typeface="Courier New"/>
              </a:rPr>
              <a:t>i</a:t>
            </a:r>
            <a:r>
              <a:rPr sz="1250">
                <a:solidFill>
                  <a:srgbClr val="000000"/>
                </a:solidFill>
                <a:latin typeface="Courier New"/>
              </a:rPr>
              <a:t> in range(cols):</a:t>
            </a:r>
          </a:p>
        </p:txBody>
      </p:sp>
      <p:sp>
        <p:nvSpPr>
          <p:cNvPr id="10" name="TextBox 9"/>
          <p:cNvSpPr txBox="1"/>
          <p:nvPr/>
        </p:nvSpPr>
        <p:spPr>
          <a:xfrm>
            <a:off x="868680" y="3008375"/>
            <a:ext cx="6126480" cy="347472"/>
          </a:xfrm>
          <a:prstGeom prst="rect">
            <a:avLst/>
          </a:prstGeom>
          <a:noFill/>
        </p:spPr>
        <p:txBody>
          <a:bodyPr wrap="square" lIns="0" rIns="0" tIns="0" bIns="0" anchor="t">
            <a:spAutoFit/>
          </a:bodyPr>
          <a:lstStyle/>
          <a:p>
            <a:pPr algn="l"/>
            <a:r>
              <a:rPr sz="1250">
                <a:solidFill>
                  <a:srgbClr val="000000"/>
                </a:solidFill>
                <a:latin typeface="Courier New"/>
              </a:rPr>
              <a:t>            checker = (</a:t>
            </a:r>
            <a:r>
              <a:rPr sz="1250" b="1">
                <a:solidFill>
                  <a:srgbClr val="D7263D"/>
                </a:solidFill>
                <a:latin typeface="Courier New"/>
              </a:rPr>
              <a:t>i</a:t>
            </a:r>
            <a:r>
              <a:rPr sz="1250">
                <a:solidFill>
                  <a:srgbClr val="000000"/>
                </a:solidFill>
                <a:latin typeface="Courier New"/>
              </a:rPr>
              <a:t> + </a:t>
            </a:r>
            <a:r>
              <a:rPr sz="1250" b="1">
                <a:solidFill>
                  <a:srgbClr val="3E8E00"/>
                </a:solidFill>
                <a:latin typeface="Courier New"/>
              </a:rPr>
              <a:t>j</a:t>
            </a:r>
            <a:r>
              <a:rPr sz="1250">
                <a:solidFill>
                  <a:srgbClr val="000000"/>
                </a:solidFill>
                <a:latin typeface="Courier New"/>
              </a:rPr>
              <a:t> + </a:t>
            </a:r>
            <a:r>
              <a:rPr sz="1250" b="1">
                <a:solidFill>
                  <a:srgbClr val="1F6FD1"/>
                </a:solidFill>
                <a:latin typeface="Courier New"/>
              </a:rPr>
              <a:t>k</a:t>
            </a:r>
            <a:r>
              <a:rPr sz="1250">
                <a:solidFill>
                  <a:srgbClr val="000000"/>
                </a:solidFill>
                <a:latin typeface="Courier New"/>
              </a:rPr>
              <a:t>) % 2 == 0</a:t>
            </a:r>
          </a:p>
        </p:txBody>
      </p:sp>
      <p:sp>
        <p:nvSpPr>
          <p:cNvPr id="11" name="TextBox 10"/>
          <p:cNvSpPr txBox="1"/>
          <p:nvPr/>
        </p:nvSpPr>
        <p:spPr>
          <a:xfrm>
            <a:off x="868680" y="3355847"/>
            <a:ext cx="6126480" cy="347472"/>
          </a:xfrm>
          <a:prstGeom prst="rect">
            <a:avLst/>
          </a:prstGeom>
          <a:noFill/>
        </p:spPr>
        <p:txBody>
          <a:bodyPr wrap="square" lIns="0" rIns="0" tIns="0" bIns="0" anchor="t">
            <a:spAutoFit/>
          </a:bodyPr>
          <a:lstStyle/>
          <a:p>
            <a:pPr algn="l"/>
            <a:r>
              <a:rPr sz="1250">
                <a:solidFill>
                  <a:srgbClr val="000000"/>
                </a:solidFill>
                <a:latin typeface="Courier New"/>
              </a:rPr>
              <a:t>            size = big if checker else small</a:t>
            </a:r>
          </a:p>
        </p:txBody>
      </p:sp>
      <p:sp>
        <p:nvSpPr>
          <p:cNvPr id="12" name="TextBox 11"/>
          <p:cNvSpPr txBox="1"/>
          <p:nvPr/>
        </p:nvSpPr>
        <p:spPr>
          <a:xfrm>
            <a:off x="868680" y="3703320"/>
            <a:ext cx="6126480" cy="347472"/>
          </a:xfrm>
          <a:prstGeom prst="rect">
            <a:avLst/>
          </a:prstGeom>
          <a:noFill/>
        </p:spPr>
        <p:txBody>
          <a:bodyPr wrap="square" lIns="0" rIns="0" tIns="0" bIns="0" anchor="t">
            <a:spAutoFit/>
          </a:bodyPr>
          <a:lstStyle/>
          <a:p>
            <a:pPr algn="l"/>
            <a:r>
              <a:rPr sz="1250">
                <a:solidFill>
                  <a:srgbClr val="000000"/>
                </a:solidFill>
                <a:latin typeface="Courier New"/>
              </a:rPr>
              <a:t>            turn = 45 if </a:t>
            </a:r>
            <a:r>
              <a:rPr sz="1250" b="1">
                <a:solidFill>
                  <a:srgbClr val="1F6FD1"/>
                </a:solidFill>
                <a:latin typeface="Courier New"/>
              </a:rPr>
              <a:t>k</a:t>
            </a:r>
            <a:r>
              <a:rPr sz="1250">
                <a:solidFill>
                  <a:srgbClr val="000000"/>
                </a:solidFill>
                <a:latin typeface="Courier New"/>
              </a:rPr>
              <a:t> % 2 else 0</a:t>
            </a:r>
          </a:p>
        </p:txBody>
      </p:sp>
      <p:sp>
        <p:nvSpPr>
          <p:cNvPr id="13" name="TextBox 12"/>
          <p:cNvSpPr txBox="1"/>
          <p:nvPr/>
        </p:nvSpPr>
        <p:spPr>
          <a:xfrm>
            <a:off x="868680" y="4050791"/>
            <a:ext cx="6126480" cy="347472"/>
          </a:xfrm>
          <a:prstGeom prst="rect">
            <a:avLst/>
          </a:prstGeom>
          <a:noFill/>
        </p:spPr>
        <p:txBody>
          <a:bodyPr wrap="square" lIns="0" rIns="0" tIns="0" bIns="0" anchor="t">
            <a:spAutoFit/>
          </a:bodyPr>
          <a:lstStyle/>
          <a:p>
            <a:pPr algn="l"/>
            <a:r>
              <a:rPr sz="1250">
                <a:solidFill>
                  <a:srgbClr val="000000"/>
                </a:solidFill>
                <a:latin typeface="Courier New"/>
              </a:rPr>
              <a:t>            place(cube, </a:t>
            </a:r>
            <a:r>
              <a:rPr sz="1250" b="1">
                <a:solidFill>
                  <a:srgbClr val="D7263D"/>
                </a:solidFill>
                <a:latin typeface="Courier New"/>
              </a:rPr>
              <a:t>i</a:t>
            </a:r>
            <a:r>
              <a:rPr sz="1250">
                <a:solidFill>
                  <a:srgbClr val="000000"/>
                </a:solidFill>
                <a:latin typeface="Courier New"/>
              </a:rPr>
              <a:t>*dx, </a:t>
            </a:r>
            <a:r>
              <a:rPr sz="1250" b="1">
                <a:solidFill>
                  <a:srgbClr val="3E8E00"/>
                </a:solidFill>
                <a:latin typeface="Courier New"/>
              </a:rPr>
              <a:t>j</a:t>
            </a:r>
            <a:r>
              <a:rPr sz="1250">
                <a:solidFill>
                  <a:srgbClr val="000000"/>
                </a:solidFill>
                <a:latin typeface="Courier New"/>
              </a:rPr>
              <a:t>*dy, </a:t>
            </a:r>
            <a:r>
              <a:rPr sz="1250" b="1">
                <a:solidFill>
                  <a:srgbClr val="1F6FD1"/>
                </a:solidFill>
                <a:latin typeface="Courier New"/>
              </a:rPr>
              <a:t>k</a:t>
            </a:r>
            <a:r>
              <a:rPr sz="1250">
                <a:solidFill>
                  <a:srgbClr val="000000"/>
                </a:solidFill>
                <a:latin typeface="Courier New"/>
              </a:rPr>
              <a:t>*dz,</a:t>
            </a:r>
          </a:p>
        </p:txBody>
      </p:sp>
      <p:sp>
        <p:nvSpPr>
          <p:cNvPr id="14" name="TextBox 13"/>
          <p:cNvSpPr txBox="1"/>
          <p:nvPr/>
        </p:nvSpPr>
        <p:spPr>
          <a:xfrm>
            <a:off x="868680" y="4398264"/>
            <a:ext cx="6126480" cy="347472"/>
          </a:xfrm>
          <a:prstGeom prst="rect">
            <a:avLst/>
          </a:prstGeom>
          <a:noFill/>
        </p:spPr>
        <p:txBody>
          <a:bodyPr wrap="square" lIns="0" rIns="0" tIns="0" bIns="0" anchor="t">
            <a:spAutoFit/>
          </a:bodyPr>
          <a:lstStyle/>
          <a:p>
            <a:pPr algn="l"/>
            <a:r>
              <a:rPr sz="1250">
                <a:solidFill>
                  <a:srgbClr val="000000"/>
                </a:solidFill>
                <a:latin typeface="Courier New"/>
              </a:rPr>
              <a:t>                  size=size, turn=turn)</a:t>
            </a:r>
          </a:p>
        </p:txBody>
      </p:sp>
      <p:sp>
        <p:nvSpPr>
          <p:cNvPr id="15" name="Rectangle 14"/>
          <p:cNvSpPr/>
          <p:nvPr/>
        </p:nvSpPr>
        <p:spPr>
          <a:xfrm>
            <a:off x="7383779" y="1851660"/>
            <a:ext cx="4251960" cy="356616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7315200" y="1783080"/>
            <a:ext cx="4251960" cy="356616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0" y="1783080"/>
            <a:ext cx="4251960" cy="502920"/>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543800" y="1783080"/>
            <a:ext cx="3794760" cy="502920"/>
          </a:xfrm>
          <a:prstGeom prst="rect">
            <a:avLst/>
          </a:prstGeom>
          <a:noFill/>
        </p:spPr>
        <p:txBody>
          <a:bodyPr wrap="square" lIns="0" rIns="0" tIns="0" bIns="0" anchor="ctr">
            <a:spAutoFit/>
          </a:bodyPr>
          <a:lstStyle/>
          <a:p>
            <a:pPr algn="l"/>
            <a:r>
              <a:rPr sz="1400" b="1">
                <a:solidFill>
                  <a:srgbClr val="000000"/>
                </a:solidFill>
                <a:latin typeface="Arial"/>
              </a:rPr>
              <a:t>WHAT SHEET 3 SHOWS</a:t>
            </a:r>
          </a:p>
        </p:txBody>
      </p:sp>
      <p:sp>
        <p:nvSpPr>
          <p:cNvPr id="19" name="TextBox 18"/>
          <p:cNvSpPr txBox="1"/>
          <p:nvPr/>
        </p:nvSpPr>
        <p:spPr>
          <a:xfrm>
            <a:off x="7589520" y="2468880"/>
            <a:ext cx="3749039" cy="2743200"/>
          </a:xfrm>
          <a:prstGeom prst="rect">
            <a:avLst/>
          </a:prstGeom>
          <a:noFill/>
        </p:spPr>
        <p:txBody>
          <a:bodyPr wrap="square" lIns="0" rIns="0" tIns="0" bIns="0" anchor="t">
            <a:spAutoFit/>
          </a:bodyPr>
          <a:lstStyle/>
          <a:p>
            <a:pPr algn="l">
              <a:lnSpc>
                <a:spcPct val="125000"/>
              </a:lnSpc>
              <a:spcAft>
                <a:spcPts val="600"/>
              </a:spcAft>
            </a:pPr>
            <a:r>
              <a:rPr sz="1300">
                <a:solidFill>
                  <a:srgbClr val="000000"/>
                </a:solidFill>
                <a:latin typeface="Calibri"/>
              </a:rPr>
              <a:t>Two patterns, each in isometric, from the same view.</a:t>
            </a:r>
          </a:p>
          <a:p>
            <a:pPr algn="l">
              <a:lnSpc>
                <a:spcPct val="125000"/>
              </a:lnSpc>
              <a:spcAft>
                <a:spcPts val="600"/>
              </a:spcAft>
            </a:pPr>
            <a:r>
              <a:rPr sz="1300">
                <a:solidFill>
                  <a:srgbClr val="000000"/>
                </a:solidFill>
                <a:latin typeface="Calibri"/>
              </a:rPr>
              <a:t>At least one rule reads k.</a:t>
            </a:r>
          </a:p>
          <a:p>
            <a:pPr algn="l">
              <a:lnSpc>
                <a:spcPct val="125000"/>
              </a:lnSpc>
              <a:spcAft>
                <a:spcPts val="600"/>
              </a:spcAft>
            </a:pPr>
            <a:r>
              <a:rPr sz="1300">
                <a:solidFill>
                  <a:srgbClr val="000000"/>
                </a:solidFill>
                <a:latin typeface="Calibri"/>
              </a:rPr>
              <a:t>At least one switches a value — not only keep or remove.</a:t>
            </a:r>
          </a:p>
          <a:p>
            <a:pPr algn="l">
              <a:lnSpc>
                <a:spcPct val="125000"/>
              </a:lnSpc>
              <a:spcAft>
                <a:spcPts val="600"/>
              </a:spcAft>
            </a:pPr>
            <a:r>
              <a:rPr sz="1300">
                <a:solidFill>
                  <a:srgbClr val="000000"/>
                </a:solidFill>
                <a:latin typeface="Calibri"/>
              </a:rPr>
              <a:t>Caption: the rule, the parameter, its value when true and when false.</a:t>
            </a:r>
          </a:p>
        </p:txBody>
      </p:sp>
      <p:sp>
        <p:nvSpPr>
          <p:cNvPr id="20" name="Rectangle 19"/>
          <p:cNvSpPr/>
          <p:nvPr/>
        </p:nvSpPr>
        <p:spPr>
          <a:xfrm>
            <a:off x="662940" y="5737860"/>
            <a:ext cx="1097280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94360" y="5669280"/>
            <a:ext cx="10972800" cy="566928"/>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5669280"/>
            <a:ext cx="10607040" cy="566928"/>
          </a:xfrm>
          <a:prstGeom prst="rect">
            <a:avLst/>
          </a:prstGeom>
          <a:noFill/>
        </p:spPr>
        <p:txBody>
          <a:bodyPr wrap="square" lIns="0" rIns="0" tIns="0" bIns="0" anchor="ctr">
            <a:spAutoFit/>
          </a:bodyPr>
          <a:lstStyle/>
          <a:p>
            <a:pPr algn="ctr"/>
            <a:r>
              <a:rPr sz="1250" b="1">
                <a:solidFill>
                  <a:srgbClr val="000000"/>
                </a:solidFill>
                <a:latin typeface="Arial"/>
              </a:rPr>
              <a:t>A HEIGHT FUNCTION OF X AND Y IS OPTIONAL NOW. THE RULES ARE NOT.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REQUIREMENTS — 3.2  ·  1/2</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Computational understanding 30% · Visual communication 30% · Technical execution 25% · Exploration 15%.</a:t>
            </a:r>
          </a:p>
        </p:txBody>
      </p:sp>
      <p:sp>
        <p:nvSpPr>
          <p:cNvPr id="5" name="Rectangle 4"/>
          <p:cNvSpPr/>
          <p:nvPr/>
        </p:nvSpPr>
        <p:spPr>
          <a:xfrm>
            <a:off x="662940" y="1851660"/>
            <a:ext cx="777240" cy="72420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777240" cy="724204"/>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94360" y="2044598"/>
            <a:ext cx="777240" cy="274320"/>
          </a:xfrm>
          <a:prstGeom prst="rect">
            <a:avLst/>
          </a:prstGeom>
          <a:noFill/>
        </p:spPr>
        <p:txBody>
          <a:bodyPr wrap="square" lIns="0" rIns="0" tIns="0" bIns="0" anchor="t">
            <a:spAutoFit/>
          </a:bodyPr>
          <a:lstStyle/>
          <a:p>
            <a:pPr algn="ctr"/>
            <a:r>
              <a:rPr sz="1500" b="1">
                <a:solidFill>
                  <a:srgbClr val="000000"/>
                </a:solidFill>
                <a:latin typeface="Arial"/>
              </a:rPr>
              <a:t>01</a:t>
            </a:r>
          </a:p>
        </p:txBody>
      </p:sp>
      <p:sp>
        <p:nvSpPr>
          <p:cNvPr id="8" name="Rectangle 7"/>
          <p:cNvSpPr/>
          <p:nvPr/>
        </p:nvSpPr>
        <p:spPr>
          <a:xfrm>
            <a:off x="1714499" y="1851660"/>
            <a:ext cx="9921240" cy="72420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645919" y="1783080"/>
            <a:ext cx="9921240" cy="724204"/>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920240" y="1874519"/>
            <a:ext cx="9372600" cy="541324"/>
          </a:xfrm>
          <a:prstGeom prst="rect">
            <a:avLst/>
          </a:prstGeom>
          <a:noFill/>
        </p:spPr>
        <p:txBody>
          <a:bodyPr wrap="square" lIns="0" rIns="0" tIns="0" bIns="0" anchor="ctr">
            <a:spAutoFit/>
          </a:bodyPr>
          <a:lstStyle/>
          <a:p>
            <a:pPr algn="l">
              <a:lnSpc>
                <a:spcPct val="125000"/>
              </a:lnSpc>
            </a:pPr>
            <a:r>
              <a:rPr sz="950">
                <a:solidFill>
                  <a:srgbClr val="000000"/>
                </a:solidFill>
                <a:latin typeface="Calibri"/>
              </a:rPr>
              <a:t>Submit exactly three 17 x 11 inch landscape sheets together as one assignment.</a:t>
            </a:r>
          </a:p>
        </p:txBody>
      </p:sp>
      <p:sp>
        <p:nvSpPr>
          <p:cNvPr id="11" name="Rectangle 10"/>
          <p:cNvSpPr/>
          <p:nvPr/>
        </p:nvSpPr>
        <p:spPr>
          <a:xfrm>
            <a:off x="662940" y="2722168"/>
            <a:ext cx="777240" cy="72420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94360" y="2653588"/>
            <a:ext cx="777240" cy="724204"/>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94360" y="2915107"/>
            <a:ext cx="777240" cy="274320"/>
          </a:xfrm>
          <a:prstGeom prst="rect">
            <a:avLst/>
          </a:prstGeom>
          <a:noFill/>
        </p:spPr>
        <p:txBody>
          <a:bodyPr wrap="square" lIns="0" rIns="0" tIns="0" bIns="0" anchor="t">
            <a:spAutoFit/>
          </a:bodyPr>
          <a:lstStyle/>
          <a:p>
            <a:pPr algn="ctr"/>
            <a:r>
              <a:rPr sz="1500" b="1">
                <a:solidFill>
                  <a:srgbClr val="000000"/>
                </a:solidFill>
                <a:latin typeface="Arial"/>
              </a:rPr>
              <a:t>02</a:t>
            </a:r>
          </a:p>
        </p:txBody>
      </p:sp>
      <p:sp>
        <p:nvSpPr>
          <p:cNvPr id="14" name="Rectangle 13"/>
          <p:cNvSpPr/>
          <p:nvPr/>
        </p:nvSpPr>
        <p:spPr>
          <a:xfrm>
            <a:off x="1714499" y="2722168"/>
            <a:ext cx="9921240" cy="72420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645919" y="2653588"/>
            <a:ext cx="9921240" cy="724204"/>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920240" y="2745028"/>
            <a:ext cx="9372600" cy="541324"/>
          </a:xfrm>
          <a:prstGeom prst="rect">
            <a:avLst/>
          </a:prstGeom>
          <a:noFill/>
        </p:spPr>
        <p:txBody>
          <a:bodyPr wrap="square" lIns="0" rIns="0" tIns="0" bIns="0" anchor="ctr">
            <a:spAutoFit/>
          </a:bodyPr>
          <a:lstStyle/>
          <a:p>
            <a:pPr algn="l">
              <a:lnSpc>
                <a:spcPct val="125000"/>
              </a:lnSpc>
            </a:pPr>
            <a:r>
              <a:rPr sz="950">
                <a:solidFill>
                  <a:srgbClr val="000000"/>
                </a:solidFill>
                <a:latin typeface="Calibri"/>
              </a:rPr>
              <a:t>Sheet 1 — four diagrams: your 3.1 module alone, then in a 1D, a 2D and a 3D array. Use the same module throughout, and label the counts, spacing and axes.</a:t>
            </a:r>
          </a:p>
        </p:txBody>
      </p:sp>
      <p:sp>
        <p:nvSpPr>
          <p:cNvPr id="17" name="Rectangle 16"/>
          <p:cNvSpPr/>
          <p:nvPr/>
        </p:nvSpPr>
        <p:spPr>
          <a:xfrm>
            <a:off x="662940" y="3592677"/>
            <a:ext cx="777240" cy="72420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94360" y="3524097"/>
            <a:ext cx="777240" cy="724204"/>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94360" y="3785615"/>
            <a:ext cx="777240" cy="274320"/>
          </a:xfrm>
          <a:prstGeom prst="rect">
            <a:avLst/>
          </a:prstGeom>
          <a:noFill/>
        </p:spPr>
        <p:txBody>
          <a:bodyPr wrap="square" lIns="0" rIns="0" tIns="0" bIns="0" anchor="t">
            <a:spAutoFit/>
          </a:bodyPr>
          <a:lstStyle/>
          <a:p>
            <a:pPr algn="ctr"/>
            <a:r>
              <a:rPr sz="1500" b="1">
                <a:solidFill>
                  <a:srgbClr val="000000"/>
                </a:solidFill>
                <a:latin typeface="Arial"/>
              </a:rPr>
              <a:t>03</a:t>
            </a:r>
          </a:p>
        </p:txBody>
      </p:sp>
      <p:sp>
        <p:nvSpPr>
          <p:cNvPr id="20" name="Rectangle 19"/>
          <p:cNvSpPr/>
          <p:nvPr/>
        </p:nvSpPr>
        <p:spPr>
          <a:xfrm>
            <a:off x="1714499" y="3592677"/>
            <a:ext cx="9921240" cy="72420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645919" y="3524097"/>
            <a:ext cx="9921240" cy="724204"/>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920240" y="3615537"/>
            <a:ext cx="9372600" cy="541324"/>
          </a:xfrm>
          <a:prstGeom prst="rect">
            <a:avLst/>
          </a:prstGeom>
          <a:noFill/>
        </p:spPr>
        <p:txBody>
          <a:bodyPr wrap="square" lIns="0" rIns="0" tIns="0" bIns="0" anchor="ctr">
            <a:spAutoFit/>
          </a:bodyPr>
          <a:lstStyle/>
          <a:p>
            <a:pPr algn="l">
              <a:lnSpc>
                <a:spcPct val="125000"/>
              </a:lnSpc>
            </a:pPr>
            <a:r>
              <a:rPr sz="950">
                <a:solidFill>
                  <a:srgbClr val="000000"/>
                </a:solidFill>
                <a:latin typeface="Calibri"/>
              </a:rPr>
              <a:t>Sheet 2 — four façade-pattern diagrams: apply if/Switch rules to a 2D array of your module to make four different patterns. Each diagram names its rule and what it changes.</a:t>
            </a:r>
          </a:p>
        </p:txBody>
      </p:sp>
      <p:sp>
        <p:nvSpPr>
          <p:cNvPr id="23" name="Rectangle 22"/>
          <p:cNvSpPr/>
          <p:nvPr/>
        </p:nvSpPr>
        <p:spPr>
          <a:xfrm>
            <a:off x="662940" y="4463186"/>
            <a:ext cx="777240" cy="72420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94360" y="4394606"/>
            <a:ext cx="777240" cy="724204"/>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94360" y="4656124"/>
            <a:ext cx="777240" cy="274320"/>
          </a:xfrm>
          <a:prstGeom prst="rect">
            <a:avLst/>
          </a:prstGeom>
          <a:noFill/>
        </p:spPr>
        <p:txBody>
          <a:bodyPr wrap="square" lIns="0" rIns="0" tIns="0" bIns="0" anchor="t">
            <a:spAutoFit/>
          </a:bodyPr>
          <a:lstStyle/>
          <a:p>
            <a:pPr algn="ctr"/>
            <a:r>
              <a:rPr sz="1500" b="1">
                <a:solidFill>
                  <a:srgbClr val="000000"/>
                </a:solidFill>
                <a:latin typeface="Arial"/>
              </a:rPr>
              <a:t>04</a:t>
            </a:r>
          </a:p>
        </p:txBody>
      </p:sp>
      <p:sp>
        <p:nvSpPr>
          <p:cNvPr id="26" name="Rectangle 25"/>
          <p:cNvSpPr/>
          <p:nvPr/>
        </p:nvSpPr>
        <p:spPr>
          <a:xfrm>
            <a:off x="1714499" y="4463186"/>
            <a:ext cx="9921240" cy="72420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645919" y="4394606"/>
            <a:ext cx="9921240" cy="724204"/>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920240" y="4486046"/>
            <a:ext cx="9372600" cy="541324"/>
          </a:xfrm>
          <a:prstGeom prst="rect">
            <a:avLst/>
          </a:prstGeom>
          <a:noFill/>
        </p:spPr>
        <p:txBody>
          <a:bodyPr wrap="square" lIns="0" rIns="0" tIns="0" bIns="0" anchor="ctr">
            <a:spAutoFit/>
          </a:bodyPr>
          <a:lstStyle/>
          <a:p>
            <a:pPr algn="l">
              <a:lnSpc>
                <a:spcPct val="125000"/>
              </a:lnSpc>
            </a:pPr>
            <a:r>
              <a:rPr sz="950">
                <a:solidFill>
                  <a:srgbClr val="000000"/>
                </a:solidFill>
                <a:latin typeface="Calibri"/>
              </a:rPr>
              <a:t>Sheet 3 — 3D conditional patterns: make a 3D array of cubes and use if/Switch rules on its row, column and layer index to drive a parameter — the rule chooses one of two values, such as large or small, 0° or 45°, low or raised: one value when true, the other when false. Make two different patterns, each shown in isometric from the same view. At least one rule must use the layer index, and at least one must switch a parameter value rather than only keep or remove cubes. A height function of X and Y is optional.</a:t>
            </a:r>
          </a:p>
        </p:txBody>
      </p:sp>
      <p:sp>
        <p:nvSpPr>
          <p:cNvPr id="29" name="Rectangle 28"/>
          <p:cNvSpPr/>
          <p:nvPr/>
        </p:nvSpPr>
        <p:spPr>
          <a:xfrm>
            <a:off x="662940" y="5333695"/>
            <a:ext cx="777240" cy="72420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594360" y="5265115"/>
            <a:ext cx="777240" cy="724204"/>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94360" y="5526633"/>
            <a:ext cx="777240" cy="274320"/>
          </a:xfrm>
          <a:prstGeom prst="rect">
            <a:avLst/>
          </a:prstGeom>
          <a:noFill/>
        </p:spPr>
        <p:txBody>
          <a:bodyPr wrap="square" lIns="0" rIns="0" tIns="0" bIns="0" anchor="t">
            <a:spAutoFit/>
          </a:bodyPr>
          <a:lstStyle/>
          <a:p>
            <a:pPr algn="ctr"/>
            <a:r>
              <a:rPr sz="1500" b="1">
                <a:solidFill>
                  <a:srgbClr val="000000"/>
                </a:solidFill>
                <a:latin typeface="Arial"/>
              </a:rPr>
              <a:t>05</a:t>
            </a:r>
          </a:p>
        </p:txBody>
      </p:sp>
      <p:sp>
        <p:nvSpPr>
          <p:cNvPr id="32" name="Rectangle 31"/>
          <p:cNvSpPr/>
          <p:nvPr/>
        </p:nvSpPr>
        <p:spPr>
          <a:xfrm>
            <a:off x="1714499" y="5333695"/>
            <a:ext cx="9921240" cy="72420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645919" y="5265115"/>
            <a:ext cx="9921240" cy="724204"/>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920240" y="5356555"/>
            <a:ext cx="9372600" cy="541324"/>
          </a:xfrm>
          <a:prstGeom prst="rect">
            <a:avLst/>
          </a:prstGeom>
          <a:noFill/>
        </p:spPr>
        <p:txBody>
          <a:bodyPr wrap="square" lIns="0" rIns="0" tIns="0" bIns="0" anchor="ctr">
            <a:spAutoFit/>
          </a:bodyPr>
          <a:lstStyle/>
          <a:p>
            <a:pPr algn="l">
              <a:lnSpc>
                <a:spcPct val="125000"/>
              </a:lnSpc>
            </a:pPr>
            <a:r>
              <a:rPr sz="950">
                <a:solidFill>
                  <a:srgbClr val="000000"/>
                </a:solidFill>
                <a:latin typeface="Calibri"/>
              </a:rPr>
              <a:t>Reuse the 3.1 panel on Sheets 1–2. On Sheet 2 you may change or remove selected copies to make a pattern. Use cubes, not the panel, on Sheet 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REQUIREMENTS — 3.2  ·  2/2</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Computational understanding 30% · Visual communication 30% · Technical execution 25% · Exploration 15%.</a:t>
            </a:r>
          </a:p>
        </p:txBody>
      </p:sp>
      <p:sp>
        <p:nvSpPr>
          <p:cNvPr id="5" name="Rectangle 4"/>
          <p:cNvSpPr/>
          <p:nvPr/>
        </p:nvSpPr>
        <p:spPr>
          <a:xfrm>
            <a:off x="662940" y="1851660"/>
            <a:ext cx="777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777240" cy="941831"/>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94360" y="2153412"/>
            <a:ext cx="777240" cy="274320"/>
          </a:xfrm>
          <a:prstGeom prst="rect">
            <a:avLst/>
          </a:prstGeom>
          <a:noFill/>
        </p:spPr>
        <p:txBody>
          <a:bodyPr wrap="square" lIns="0" rIns="0" tIns="0" bIns="0" anchor="t">
            <a:spAutoFit/>
          </a:bodyPr>
          <a:lstStyle/>
          <a:p>
            <a:pPr algn="ctr"/>
            <a:r>
              <a:rPr sz="1500" b="1">
                <a:solidFill>
                  <a:srgbClr val="000000"/>
                </a:solidFill>
                <a:latin typeface="Arial"/>
              </a:rPr>
              <a:t>06</a:t>
            </a:r>
          </a:p>
        </p:txBody>
      </p:sp>
      <p:sp>
        <p:nvSpPr>
          <p:cNvPr id="8" name="Rectangle 7"/>
          <p:cNvSpPr/>
          <p:nvPr/>
        </p:nvSpPr>
        <p:spPr>
          <a:xfrm>
            <a:off x="1714499" y="1851660"/>
            <a:ext cx="9921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645919" y="1783080"/>
            <a:ext cx="9921240" cy="941831"/>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920240" y="1874519"/>
            <a:ext cx="9372600" cy="758951"/>
          </a:xfrm>
          <a:prstGeom prst="rect">
            <a:avLst/>
          </a:prstGeom>
          <a:noFill/>
        </p:spPr>
        <p:txBody>
          <a:bodyPr wrap="square" lIns="0" rIns="0" tIns="0" bIns="0" anchor="ctr">
            <a:spAutoFit/>
          </a:bodyPr>
          <a:lstStyle/>
          <a:p>
            <a:pPr algn="l">
              <a:lnSpc>
                <a:spcPct val="125000"/>
              </a:lnSpc>
            </a:pPr>
            <a:r>
              <a:rPr sz="1300">
                <a:solidFill>
                  <a:srgbClr val="000000"/>
                </a:solidFill>
                <a:latin typeface="Calibri"/>
              </a:rPr>
              <a:t>Keep the diagrams simple, with the same view and material wherever studies are compared. Keep the lighting consistent; the four façade patterns don't need separate polished renders. Choose a suitable view for each array, and use isometric for the 3D patterns.</a:t>
            </a:r>
          </a:p>
        </p:txBody>
      </p:sp>
      <p:sp>
        <p:nvSpPr>
          <p:cNvPr id="11" name="Rectangle 10"/>
          <p:cNvSpPr/>
          <p:nvPr/>
        </p:nvSpPr>
        <p:spPr>
          <a:xfrm>
            <a:off x="662940" y="2939796"/>
            <a:ext cx="777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94360" y="2871215"/>
            <a:ext cx="777240" cy="941831"/>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94360" y="3241547"/>
            <a:ext cx="777240" cy="274320"/>
          </a:xfrm>
          <a:prstGeom prst="rect">
            <a:avLst/>
          </a:prstGeom>
          <a:noFill/>
        </p:spPr>
        <p:txBody>
          <a:bodyPr wrap="square" lIns="0" rIns="0" tIns="0" bIns="0" anchor="t">
            <a:spAutoFit/>
          </a:bodyPr>
          <a:lstStyle/>
          <a:p>
            <a:pPr algn="ctr"/>
            <a:r>
              <a:rPr sz="1500" b="1">
                <a:solidFill>
                  <a:srgbClr val="000000"/>
                </a:solidFill>
                <a:latin typeface="Arial"/>
              </a:rPr>
              <a:t>07</a:t>
            </a:r>
          </a:p>
        </p:txBody>
      </p:sp>
      <p:sp>
        <p:nvSpPr>
          <p:cNvPr id="14" name="Rectangle 13"/>
          <p:cNvSpPr/>
          <p:nvPr/>
        </p:nvSpPr>
        <p:spPr>
          <a:xfrm>
            <a:off x="1714499" y="2939796"/>
            <a:ext cx="9921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645919" y="2871215"/>
            <a:ext cx="9921240" cy="941831"/>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920240" y="2962656"/>
            <a:ext cx="9372600" cy="758951"/>
          </a:xfrm>
          <a:prstGeom prst="rect">
            <a:avLst/>
          </a:prstGeom>
          <a:noFill/>
        </p:spPr>
        <p:txBody>
          <a:bodyPr wrap="square" lIns="0" rIns="0" tIns="0" bIns="0" anchor="ctr">
            <a:spAutoFit/>
          </a:bodyPr>
          <a:lstStyle/>
          <a:p>
            <a:pPr algn="l">
              <a:lnSpc>
                <a:spcPct val="125000"/>
              </a:lnSpc>
            </a:pPr>
            <a:r>
              <a:rPr sz="1300">
                <a:solidFill>
                  <a:srgbClr val="000000"/>
                </a:solidFill>
                <a:latin typeface="Calibri"/>
              </a:rPr>
              <a:t>Build the repetition from basic nodes, starting with a count small enough to check by eye; there is no minimum number of copies.</a:t>
            </a:r>
          </a:p>
        </p:txBody>
      </p:sp>
      <p:sp>
        <p:nvSpPr>
          <p:cNvPr id="17" name="Rectangle 16"/>
          <p:cNvSpPr/>
          <p:nvPr/>
        </p:nvSpPr>
        <p:spPr>
          <a:xfrm>
            <a:off x="662940" y="4027931"/>
            <a:ext cx="777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94360" y="3959351"/>
            <a:ext cx="777240" cy="941831"/>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94360" y="4329683"/>
            <a:ext cx="777240" cy="274320"/>
          </a:xfrm>
          <a:prstGeom prst="rect">
            <a:avLst/>
          </a:prstGeom>
          <a:noFill/>
        </p:spPr>
        <p:txBody>
          <a:bodyPr wrap="square" lIns="0" rIns="0" tIns="0" bIns="0" anchor="t">
            <a:spAutoFit/>
          </a:bodyPr>
          <a:lstStyle/>
          <a:p>
            <a:pPr algn="ctr"/>
            <a:r>
              <a:rPr sz="1500" b="1">
                <a:solidFill>
                  <a:srgbClr val="000000"/>
                </a:solidFill>
                <a:latin typeface="Arial"/>
              </a:rPr>
              <a:t>08</a:t>
            </a:r>
          </a:p>
        </p:txBody>
      </p:sp>
      <p:sp>
        <p:nvSpPr>
          <p:cNvPr id="20" name="Rectangle 19"/>
          <p:cNvSpPr/>
          <p:nvPr/>
        </p:nvSpPr>
        <p:spPr>
          <a:xfrm>
            <a:off x="1714499" y="4027931"/>
            <a:ext cx="9921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645919" y="3959351"/>
            <a:ext cx="9921240" cy="941831"/>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920240" y="4050791"/>
            <a:ext cx="9372600" cy="758951"/>
          </a:xfrm>
          <a:prstGeom prst="rect">
            <a:avLst/>
          </a:prstGeom>
          <a:noFill/>
        </p:spPr>
        <p:txBody>
          <a:bodyPr wrap="square" lIns="0" rIns="0" tIns="0" bIns="0" anchor="ctr">
            <a:spAutoFit/>
          </a:bodyPr>
          <a:lstStyle/>
          <a:p>
            <a:pPr algn="l">
              <a:lnSpc>
                <a:spcPct val="125000"/>
              </a:lnSpc>
            </a:pPr>
            <a:r>
              <a:rPr sz="1300">
                <a:solidFill>
                  <a:srgbClr val="000000"/>
                </a:solidFill>
                <a:latin typeface="Calibri"/>
              </a:rPr>
              <a:t>Make every array fully parametric: expose row, column and layer counts and spacing in each used direction. Changing those inputs must rebuild the array and resize the panel or cube to fit its new cell without manual remodeling or repositioning. Preserve the intended gaps or edge contact.</a:t>
            </a:r>
          </a:p>
        </p:txBody>
      </p:sp>
      <p:sp>
        <p:nvSpPr>
          <p:cNvPr id="23" name="Rectangle 22"/>
          <p:cNvSpPr/>
          <p:nvPr/>
        </p:nvSpPr>
        <p:spPr>
          <a:xfrm>
            <a:off x="662940" y="5116067"/>
            <a:ext cx="777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94360" y="5047487"/>
            <a:ext cx="777240" cy="941831"/>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94360" y="5417819"/>
            <a:ext cx="777240" cy="274320"/>
          </a:xfrm>
          <a:prstGeom prst="rect">
            <a:avLst/>
          </a:prstGeom>
          <a:noFill/>
        </p:spPr>
        <p:txBody>
          <a:bodyPr wrap="square" lIns="0" rIns="0" tIns="0" bIns="0" anchor="t">
            <a:spAutoFit/>
          </a:bodyPr>
          <a:lstStyle/>
          <a:p>
            <a:pPr algn="ctr"/>
            <a:r>
              <a:rPr sz="1500" b="1">
                <a:solidFill>
                  <a:srgbClr val="000000"/>
                </a:solidFill>
                <a:latin typeface="Arial"/>
              </a:rPr>
              <a:t>09</a:t>
            </a:r>
          </a:p>
        </p:txBody>
      </p:sp>
      <p:sp>
        <p:nvSpPr>
          <p:cNvPr id="26" name="Rectangle 25"/>
          <p:cNvSpPr/>
          <p:nvPr/>
        </p:nvSpPr>
        <p:spPr>
          <a:xfrm>
            <a:off x="1714499" y="5116067"/>
            <a:ext cx="9921240" cy="941831"/>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645919" y="5047487"/>
            <a:ext cx="9921240" cy="941831"/>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920240" y="5138927"/>
            <a:ext cx="9372600" cy="758951"/>
          </a:xfrm>
          <a:prstGeom prst="rect">
            <a:avLst/>
          </a:prstGeom>
          <a:noFill/>
        </p:spPr>
        <p:txBody>
          <a:bodyPr wrap="square" lIns="0" rIns="0" tIns="0" bIns="0" anchor="ctr">
            <a:spAutoFit/>
          </a:bodyPr>
          <a:lstStyle/>
          <a:p>
            <a:pPr algn="l">
              <a:lnSpc>
                <a:spcPct val="125000"/>
              </a:lnSpc>
            </a:pPr>
            <a:r>
              <a:rPr sz="1300">
                <a:solidFill>
                  <a:srgbClr val="000000"/>
                </a:solidFill>
                <a:latin typeface="Calibri"/>
              </a:rPr>
              <a:t>Use materials from the library the instructors provide, or make your own. Note which materials you used and any changes; pack any textures. Materials must keep the spacing, depth and repetition of the array readable. The library will be posted before this assignment is due; making your own is equally fine.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OPTIONAL PRACTICE</a:t>
            </a:r>
          </a:p>
        </p:txBody>
      </p:sp>
      <p:sp>
        <p:nvSpPr>
          <p:cNvPr id="4" name="TextBox 3"/>
          <p:cNvSpPr txBox="1"/>
          <p:nvPr/>
        </p:nvSpPr>
        <p:spPr>
          <a:xfrm>
            <a:off x="594360" y="1261872"/>
            <a:ext cx="10972800" cy="310896"/>
          </a:xfrm>
          <a:prstGeom prst="rect">
            <a:avLst/>
          </a:prstGeom>
          <a:noFill/>
        </p:spPr>
        <p:txBody>
          <a:bodyPr wrap="square" lIns="0" rIns="0" tIns="0" bIns="0" anchor="t">
            <a:spAutoFit/>
          </a:bodyPr>
          <a:lstStyle/>
          <a:p>
            <a:pPr algn="l"/>
            <a:r>
              <a:rPr sz="1350">
                <a:solidFill>
                  <a:srgbClr val="6B6B6B"/>
                </a:solidFill>
                <a:latin typeface="Calibri"/>
              </a:rPr>
              <a:t>In the class file, not on the sheets. Each one is a rule you already know.</a:t>
            </a:r>
          </a:p>
        </p:txBody>
      </p:sp>
      <p:sp>
        <p:nvSpPr>
          <p:cNvPr id="5" name="Rectangle 4"/>
          <p:cNvSpPr/>
          <p:nvPr/>
        </p:nvSpPr>
        <p:spPr>
          <a:xfrm>
            <a:off x="662940" y="1851660"/>
            <a:ext cx="3474720" cy="45720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1783080"/>
            <a:ext cx="3474720" cy="457200"/>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94360" y="1911095"/>
            <a:ext cx="3474720" cy="274320"/>
          </a:xfrm>
          <a:prstGeom prst="rect">
            <a:avLst/>
          </a:prstGeom>
          <a:noFill/>
        </p:spPr>
        <p:txBody>
          <a:bodyPr wrap="square" lIns="0" rIns="0" tIns="0" bIns="0" anchor="t">
            <a:spAutoFit/>
          </a:bodyPr>
          <a:lstStyle/>
          <a:p>
            <a:pPr algn="ctr"/>
            <a:r>
              <a:rPr sz="1250" b="1">
                <a:solidFill>
                  <a:srgbClr val="000000"/>
                </a:solidFill>
                <a:latin typeface="Arial"/>
              </a:rPr>
              <a:t>HEXAGONAL</a:t>
            </a:r>
          </a:p>
        </p:txBody>
      </p:sp>
      <p:sp>
        <p:nvSpPr>
          <p:cNvPr id="8" name="Rectangle 7"/>
          <p:cNvSpPr/>
          <p:nvPr/>
        </p:nvSpPr>
        <p:spPr>
          <a:xfrm>
            <a:off x="662940" y="2400300"/>
            <a:ext cx="3474720" cy="21031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94360" y="2331720"/>
            <a:ext cx="3474720" cy="210312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68680" y="2514600"/>
            <a:ext cx="2926080" cy="1828800"/>
          </a:xfrm>
          <a:prstGeom prst="rect">
            <a:avLst/>
          </a:prstGeom>
          <a:noFill/>
        </p:spPr>
        <p:txBody>
          <a:bodyPr wrap="square" lIns="0" rIns="0" tIns="0" bIns="0" anchor="t">
            <a:spAutoFit/>
          </a:bodyPr>
          <a:lstStyle/>
          <a:p>
            <a:pPr algn="l">
              <a:lnSpc>
                <a:spcPct val="130000"/>
              </a:lnSpc>
            </a:pPr>
            <a:r>
              <a:rPr sz="1400">
                <a:solidFill>
                  <a:srgbClr val="000000"/>
                </a:solidFill>
                <a:latin typeface="Calibri"/>
              </a:rPr>
              <a:t>Shift every other row by half a cell — the brick wall's j % 2, in plan.</a:t>
            </a:r>
          </a:p>
        </p:txBody>
      </p:sp>
      <p:sp>
        <p:nvSpPr>
          <p:cNvPr id="11" name="Rectangle 10"/>
          <p:cNvSpPr/>
          <p:nvPr/>
        </p:nvSpPr>
        <p:spPr>
          <a:xfrm>
            <a:off x="4411980" y="1851660"/>
            <a:ext cx="3474720" cy="45720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43400" y="1783080"/>
            <a:ext cx="3474720" cy="457200"/>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343400" y="1911095"/>
            <a:ext cx="3474720" cy="274320"/>
          </a:xfrm>
          <a:prstGeom prst="rect">
            <a:avLst/>
          </a:prstGeom>
          <a:noFill/>
        </p:spPr>
        <p:txBody>
          <a:bodyPr wrap="square" lIns="0" rIns="0" tIns="0" bIns="0" anchor="t">
            <a:spAutoFit/>
          </a:bodyPr>
          <a:lstStyle/>
          <a:p>
            <a:pPr algn="ctr"/>
            <a:r>
              <a:rPr sz="1250" b="1">
                <a:solidFill>
                  <a:srgbClr val="000000"/>
                </a:solidFill>
                <a:latin typeface="Arial"/>
              </a:rPr>
              <a:t>RADIAL</a:t>
            </a:r>
          </a:p>
        </p:txBody>
      </p:sp>
      <p:sp>
        <p:nvSpPr>
          <p:cNvPr id="14" name="Rectangle 13"/>
          <p:cNvSpPr/>
          <p:nvPr/>
        </p:nvSpPr>
        <p:spPr>
          <a:xfrm>
            <a:off x="4411980" y="2400300"/>
            <a:ext cx="3474720" cy="21031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343400" y="2331720"/>
            <a:ext cx="3474720" cy="210312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617720" y="2514600"/>
            <a:ext cx="2926080" cy="1828800"/>
          </a:xfrm>
          <a:prstGeom prst="rect">
            <a:avLst/>
          </a:prstGeom>
          <a:noFill/>
        </p:spPr>
        <p:txBody>
          <a:bodyPr wrap="square" lIns="0" rIns="0" tIns="0" bIns="0" anchor="t">
            <a:spAutoFit/>
          </a:bodyPr>
          <a:lstStyle/>
          <a:p>
            <a:pPr algn="l">
              <a:lnSpc>
                <a:spcPct val="130000"/>
              </a:lnSpc>
            </a:pPr>
            <a:r>
              <a:rPr sz="1400">
                <a:solidFill>
                  <a:srgbClr val="000000"/>
                </a:solidFill>
                <a:latin typeface="Calibri"/>
              </a:rPr>
              <a:t>Position from radius, count and angle step. The index picks the angle.</a:t>
            </a:r>
          </a:p>
        </p:txBody>
      </p:sp>
      <p:sp>
        <p:nvSpPr>
          <p:cNvPr id="17" name="Rectangle 16"/>
          <p:cNvSpPr/>
          <p:nvPr/>
        </p:nvSpPr>
        <p:spPr>
          <a:xfrm>
            <a:off x="8161020" y="1851660"/>
            <a:ext cx="3474720" cy="45720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92440" y="1783080"/>
            <a:ext cx="3474720" cy="457200"/>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092440" y="1911095"/>
            <a:ext cx="3474720" cy="274320"/>
          </a:xfrm>
          <a:prstGeom prst="rect">
            <a:avLst/>
          </a:prstGeom>
          <a:noFill/>
        </p:spPr>
        <p:txBody>
          <a:bodyPr wrap="square" lIns="0" rIns="0" tIns="0" bIns="0" anchor="t">
            <a:spAutoFit/>
          </a:bodyPr>
          <a:lstStyle/>
          <a:p>
            <a:pPr algn="ctr"/>
            <a:r>
              <a:rPr sz="1250" b="1">
                <a:solidFill>
                  <a:srgbClr val="000000"/>
                </a:solidFill>
                <a:latin typeface="Arial"/>
              </a:rPr>
              <a:t>SINE VOLUME</a:t>
            </a:r>
          </a:p>
        </p:txBody>
      </p:sp>
      <p:sp>
        <p:nvSpPr>
          <p:cNvPr id="20" name="Rectangle 19"/>
          <p:cNvSpPr/>
          <p:nvPr/>
        </p:nvSpPr>
        <p:spPr>
          <a:xfrm>
            <a:off x="8161020" y="2400300"/>
            <a:ext cx="3474720" cy="2103120"/>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092440" y="2331720"/>
            <a:ext cx="3474720" cy="2103120"/>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366760" y="2514600"/>
            <a:ext cx="2926080" cy="1828800"/>
          </a:xfrm>
          <a:prstGeom prst="rect">
            <a:avLst/>
          </a:prstGeom>
          <a:noFill/>
        </p:spPr>
        <p:txBody>
          <a:bodyPr wrap="square" lIns="0" rIns="0" tIns="0" bIns="0" anchor="t">
            <a:spAutoFit/>
          </a:bodyPr>
          <a:lstStyle/>
          <a:p>
            <a:pPr algn="l">
              <a:lnSpc>
                <a:spcPct val="130000"/>
              </a:lnSpc>
            </a:pPr>
            <a:r>
              <a:rPr sz="1400">
                <a:solidFill>
                  <a:srgbClr val="000000"/>
                </a:solidFill>
                <a:latin typeface="Calibri"/>
              </a:rPr>
              <a:t>Height from a function of X and Y. Amplitude, frequency and phase, written down.</a:t>
            </a:r>
          </a:p>
        </p:txBody>
      </p:sp>
      <p:sp>
        <p:nvSpPr>
          <p:cNvPr id="23" name="Rectangle 22"/>
          <p:cNvSpPr/>
          <p:nvPr/>
        </p:nvSpPr>
        <p:spPr>
          <a:xfrm>
            <a:off x="662940" y="5006340"/>
            <a:ext cx="10972800" cy="603504"/>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94360" y="4937760"/>
            <a:ext cx="10972800" cy="603504"/>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4937760"/>
            <a:ext cx="10607040" cy="603504"/>
          </a:xfrm>
          <a:prstGeom prst="rect">
            <a:avLst/>
          </a:prstGeom>
          <a:noFill/>
        </p:spPr>
        <p:txBody>
          <a:bodyPr wrap="square" lIns="0" rIns="0" tIns="0" bIns="0" anchor="ctr">
            <a:spAutoFit/>
          </a:bodyPr>
          <a:lstStyle/>
          <a:p>
            <a:pPr algn="ctr"/>
            <a:r>
              <a:rPr sz="1250" b="1">
                <a:solidFill>
                  <a:srgbClr val="000000"/>
                </a:solidFill>
                <a:latin typeface="Arial"/>
              </a:rPr>
              <a:t>DO THESE AFTER SHEETS 2 AND 3 WORK — NOT INSTEAD OF THEM.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C6F035"/>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NOW — SHEETS 2 AND 3</a:t>
            </a:r>
          </a:p>
        </p:txBody>
      </p:sp>
      <p:sp>
        <p:nvSpPr>
          <p:cNvPr id="4" name="TextBox 3"/>
          <p:cNvSpPr txBox="1"/>
          <p:nvPr/>
        </p:nvSpPr>
        <p:spPr>
          <a:xfrm>
            <a:off x="594360" y="1691640"/>
            <a:ext cx="10515600" cy="365760"/>
          </a:xfrm>
          <a:prstGeom prst="rect">
            <a:avLst/>
          </a:prstGeom>
          <a:noFill/>
        </p:spPr>
        <p:txBody>
          <a:bodyPr wrap="square" lIns="0" rIns="0" tIns="0" bIns="0" anchor="t">
            <a:spAutoFit/>
          </a:bodyPr>
          <a:lstStyle/>
          <a:p>
            <a:pPr algn="l"/>
            <a:r>
              <a:rPr sz="1600">
                <a:solidFill>
                  <a:srgbClr val="000000"/>
                </a:solidFill>
                <a:latin typeface="Calibri"/>
              </a:rPr>
              <a:t>Start at a count you can check by eye.</a:t>
            </a:r>
          </a:p>
        </p:txBody>
      </p:sp>
      <p:sp>
        <p:nvSpPr>
          <p:cNvPr id="5" name="Rectangle 4"/>
          <p:cNvSpPr/>
          <p:nvPr/>
        </p:nvSpPr>
        <p:spPr>
          <a:xfrm>
            <a:off x="662940" y="2354580"/>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94360" y="2286000"/>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94360" y="2468880"/>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8" name="Rectangle 7"/>
          <p:cNvSpPr/>
          <p:nvPr/>
        </p:nvSpPr>
        <p:spPr>
          <a:xfrm>
            <a:off x="1559051" y="2354580"/>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490472" y="2286000"/>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64792" y="2286000"/>
            <a:ext cx="9528048" cy="566928"/>
          </a:xfrm>
          <a:prstGeom prst="rect">
            <a:avLst/>
          </a:prstGeom>
          <a:noFill/>
        </p:spPr>
        <p:txBody>
          <a:bodyPr wrap="square" lIns="0" rIns="0" tIns="0" bIns="0" anchor="ctr">
            <a:spAutoFit/>
          </a:bodyPr>
          <a:lstStyle/>
          <a:p>
            <a:pPr algn="l"/>
            <a:r>
              <a:rPr sz="1450">
                <a:solidFill>
                  <a:srgbClr val="000000"/>
                </a:solidFill>
                <a:latin typeface="Calibri"/>
              </a:rPr>
              <a:t>Brick wall: k % 2 shifting every other course, on the curve, then on a circle</a:t>
            </a:r>
          </a:p>
        </p:txBody>
      </p:sp>
      <p:sp>
        <p:nvSpPr>
          <p:cNvPr id="11" name="Rectangle 10"/>
          <p:cNvSpPr/>
          <p:nvPr/>
        </p:nvSpPr>
        <p:spPr>
          <a:xfrm>
            <a:off x="662940" y="3067812"/>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94360" y="2999232"/>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94360" y="3182112"/>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14" name="Rectangle 13"/>
          <p:cNvSpPr/>
          <p:nvPr/>
        </p:nvSpPr>
        <p:spPr>
          <a:xfrm>
            <a:off x="1559051" y="3067812"/>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490472" y="2999232"/>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764792" y="2999232"/>
            <a:ext cx="9528048" cy="566928"/>
          </a:xfrm>
          <a:prstGeom prst="rect">
            <a:avLst/>
          </a:prstGeom>
          <a:noFill/>
        </p:spPr>
        <p:txBody>
          <a:bodyPr wrap="square" lIns="0" rIns="0" tIns="0" bIns="0" anchor="ctr">
            <a:spAutoFit/>
          </a:bodyPr>
          <a:lstStyle/>
          <a:p>
            <a:pPr algn="l"/>
            <a:r>
              <a:rPr sz="1450">
                <a:solidFill>
                  <a:srgbClr val="000000"/>
                </a:solidFill>
                <a:latin typeface="Calibri"/>
              </a:rPr>
              <a:t>Your module in a 2D array with one if/Switch rule working on it</a:t>
            </a:r>
          </a:p>
        </p:txBody>
      </p:sp>
      <p:sp>
        <p:nvSpPr>
          <p:cNvPr id="17" name="Rectangle 16"/>
          <p:cNvSpPr/>
          <p:nvPr/>
        </p:nvSpPr>
        <p:spPr>
          <a:xfrm>
            <a:off x="662940" y="3781044"/>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94360" y="3712464"/>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94360" y="3895344"/>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20" name="Rectangle 19"/>
          <p:cNvSpPr/>
          <p:nvPr/>
        </p:nvSpPr>
        <p:spPr>
          <a:xfrm>
            <a:off x="1559051" y="3781044"/>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490472" y="3712464"/>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764792" y="3712464"/>
            <a:ext cx="9528048" cy="566928"/>
          </a:xfrm>
          <a:prstGeom prst="rect">
            <a:avLst/>
          </a:prstGeom>
          <a:noFill/>
        </p:spPr>
        <p:txBody>
          <a:bodyPr wrap="square" lIns="0" rIns="0" tIns="0" bIns="0" anchor="ctr">
            <a:spAutoFit/>
          </a:bodyPr>
          <a:lstStyle/>
          <a:p>
            <a:pPr algn="l"/>
            <a:r>
              <a:rPr sz="1450">
                <a:solidFill>
                  <a:srgbClr val="000000"/>
                </a:solidFill>
                <a:latin typeface="Calibri"/>
              </a:rPr>
              <a:t>Four façade rules for Sheet 2, each captioned with what it changes</a:t>
            </a:r>
          </a:p>
        </p:txBody>
      </p:sp>
      <p:sp>
        <p:nvSpPr>
          <p:cNvPr id="23" name="Rectangle 22"/>
          <p:cNvSpPr/>
          <p:nvPr/>
        </p:nvSpPr>
        <p:spPr>
          <a:xfrm>
            <a:off x="662940" y="4494276"/>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94360" y="4425696"/>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94360" y="4608576"/>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26" name="Rectangle 25"/>
          <p:cNvSpPr/>
          <p:nvPr/>
        </p:nvSpPr>
        <p:spPr>
          <a:xfrm>
            <a:off x="1559051" y="4494276"/>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490472" y="4425696"/>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764792" y="4425696"/>
            <a:ext cx="9528048" cy="566928"/>
          </a:xfrm>
          <a:prstGeom prst="rect">
            <a:avLst/>
          </a:prstGeom>
          <a:noFill/>
        </p:spPr>
        <p:txBody>
          <a:bodyPr wrap="square" lIns="0" rIns="0" tIns="0" bIns="0" anchor="ctr">
            <a:spAutoFit/>
          </a:bodyPr>
          <a:lstStyle/>
          <a:p>
            <a:pPr algn="l"/>
            <a:r>
              <a:rPr sz="1450">
                <a:solidFill>
                  <a:srgbClr val="000000"/>
                </a:solidFill>
                <a:latin typeface="Calibri"/>
              </a:rPr>
              <a:t>A 3D array of cubes where a rule switches size, rotation or height</a:t>
            </a:r>
          </a:p>
        </p:txBody>
      </p:sp>
      <p:sp>
        <p:nvSpPr>
          <p:cNvPr id="29" name="Rectangle 28"/>
          <p:cNvSpPr/>
          <p:nvPr/>
        </p:nvSpPr>
        <p:spPr>
          <a:xfrm>
            <a:off x="662940" y="5207508"/>
            <a:ext cx="621792"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594360" y="5138928"/>
            <a:ext cx="621792"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94360" y="5321808"/>
            <a:ext cx="621792" cy="274320"/>
          </a:xfrm>
          <a:prstGeom prst="rect">
            <a:avLst/>
          </a:prstGeom>
          <a:noFill/>
        </p:spPr>
        <p:txBody>
          <a:bodyPr wrap="square" lIns="0" rIns="0" tIns="0" bIns="0" anchor="t">
            <a:spAutoFit/>
          </a:bodyPr>
          <a:lstStyle/>
          <a:p>
            <a:pPr algn="ctr"/>
            <a:r>
              <a:rPr sz="1700" b="1">
                <a:solidFill>
                  <a:srgbClr val="000000"/>
                </a:solidFill>
                <a:latin typeface="Arial"/>
              </a:rPr>
              <a:t>✓</a:t>
            </a:r>
          </a:p>
        </p:txBody>
      </p:sp>
      <p:sp>
        <p:nvSpPr>
          <p:cNvPr id="32" name="Rectangle 31"/>
          <p:cNvSpPr/>
          <p:nvPr/>
        </p:nvSpPr>
        <p:spPr>
          <a:xfrm>
            <a:off x="1559051" y="5207508"/>
            <a:ext cx="10076688"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490472" y="5138928"/>
            <a:ext cx="10076688" cy="566928"/>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764792" y="5138928"/>
            <a:ext cx="9528048" cy="566928"/>
          </a:xfrm>
          <a:prstGeom prst="rect">
            <a:avLst/>
          </a:prstGeom>
          <a:noFill/>
        </p:spPr>
        <p:txBody>
          <a:bodyPr wrap="square" lIns="0" rIns="0" tIns="0" bIns="0" anchor="ctr">
            <a:spAutoFit/>
          </a:bodyPr>
          <a:lstStyle/>
          <a:p>
            <a:pPr algn="l"/>
            <a:r>
              <a:rPr sz="1450">
                <a:solidFill>
                  <a:srgbClr val="000000"/>
                </a:solidFill>
                <a:latin typeface="Calibri"/>
              </a:rPr>
              <a:t>At least one rule that reads the layer index k</a:t>
            </a:r>
          </a:p>
        </p:txBody>
      </p:sp>
      <p:sp>
        <p:nvSpPr>
          <p:cNvPr id="35" name="Rectangle 34"/>
          <p:cNvSpPr/>
          <p:nvPr/>
        </p:nvSpPr>
        <p:spPr>
          <a:xfrm>
            <a:off x="662940" y="6012180"/>
            <a:ext cx="8412480" cy="566928"/>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94360" y="5943600"/>
            <a:ext cx="8412480" cy="566928"/>
          </a:xfrm>
          <a:prstGeom prst="rect">
            <a:avLst/>
          </a:prstGeom>
          <a:solidFill>
            <a:srgbClr val="0000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94360" y="5943600"/>
            <a:ext cx="8412480" cy="566928"/>
          </a:xfrm>
          <a:prstGeom prst="rect">
            <a:avLst/>
          </a:prstGeom>
          <a:noFill/>
        </p:spPr>
        <p:txBody>
          <a:bodyPr wrap="square" lIns="0" rIns="0" tIns="0" bIns="0" anchor="ctr">
            <a:spAutoFit/>
          </a:bodyPr>
          <a:lstStyle/>
          <a:p>
            <a:pPr algn="ctr"/>
            <a:r>
              <a:rPr sz="1300" b="1">
                <a:solidFill>
                  <a:srgbClr val="C6F035"/>
                </a:solidFill>
                <a:latin typeface="Arial"/>
              </a:rPr>
              <a:t>A RULE YOU CAN SAY OUT LOUD IS A RULE YOU CAN CAPTION.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DF7"/>
        </a:solidFill>
        <a:effectLst/>
      </p:bgPr>
    </p:bg>
    <p:spTree>
      <p:nvGrpSpPr>
        <p:cNvPr id="1" name=""/>
        <p:cNvGrpSpPr/>
        <p:nvPr/>
      </p:nvGrpSpPr>
      <p:grpSpPr/>
      <p:sp>
        <p:nvSpPr>
          <p:cNvPr id="2" name="Rectangle 1"/>
          <p:cNvSpPr/>
          <p:nvPr/>
        </p:nvSpPr>
        <p:spPr>
          <a:xfrm>
            <a:off x="594360" y="566928"/>
            <a:ext cx="10972800" cy="0"/>
          </a:xfrm>
          <a:prstGeom prst="rect">
            <a:avLst/>
          </a:prstGeom>
          <a:noFill/>
          <a:ln w="508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676656"/>
            <a:ext cx="10972800" cy="566928"/>
          </a:xfrm>
          <a:prstGeom prst="rect">
            <a:avLst/>
          </a:prstGeom>
          <a:noFill/>
        </p:spPr>
        <p:txBody>
          <a:bodyPr wrap="square" lIns="0" rIns="0" tIns="0" bIns="0" anchor="t">
            <a:spAutoFit/>
          </a:bodyPr>
          <a:lstStyle/>
          <a:p>
            <a:pPr algn="l"/>
            <a:r>
              <a:rPr sz="3300" b="1">
                <a:solidFill>
                  <a:srgbClr val="000000"/>
                </a:solidFill>
                <a:latin typeface="Arial"/>
              </a:rPr>
              <a:t>BEFORE NEXT CLASS</a:t>
            </a:r>
          </a:p>
        </p:txBody>
      </p:sp>
      <p:sp>
        <p:nvSpPr>
          <p:cNvPr id="4" name="Rectangle 3"/>
          <p:cNvSpPr/>
          <p:nvPr/>
        </p:nvSpPr>
        <p:spPr>
          <a:xfrm>
            <a:off x="662940" y="1851660"/>
            <a:ext cx="150876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594360" y="1783080"/>
            <a:ext cx="1508760" cy="804672"/>
          </a:xfrm>
          <a:prstGeom prst="rect">
            <a:avLst/>
          </a:prstGeom>
          <a:solidFill>
            <a:srgbClr val="00D9E1"/>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4360" y="2084831"/>
            <a:ext cx="1508760" cy="274320"/>
          </a:xfrm>
          <a:prstGeom prst="rect">
            <a:avLst/>
          </a:prstGeom>
          <a:noFill/>
        </p:spPr>
        <p:txBody>
          <a:bodyPr wrap="square" lIns="0" rIns="0" tIns="0" bIns="0" anchor="t">
            <a:spAutoFit/>
          </a:bodyPr>
          <a:lstStyle/>
          <a:p>
            <a:pPr algn="ctr"/>
            <a:r>
              <a:rPr sz="1400" b="1">
                <a:solidFill>
                  <a:srgbClr val="000000"/>
                </a:solidFill>
                <a:latin typeface="Arial"/>
              </a:rPr>
              <a:t>NEXT</a:t>
            </a:r>
          </a:p>
        </p:txBody>
      </p:sp>
      <p:sp>
        <p:nvSpPr>
          <p:cNvPr id="7" name="Rectangle 6"/>
          <p:cNvSpPr/>
          <p:nvPr/>
        </p:nvSpPr>
        <p:spPr>
          <a:xfrm>
            <a:off x="2446020" y="1851660"/>
            <a:ext cx="918972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377440" y="1783080"/>
            <a:ext cx="9189720" cy="80467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651760" y="1901952"/>
            <a:ext cx="8641080" cy="566928"/>
          </a:xfrm>
          <a:prstGeom prst="rect">
            <a:avLst/>
          </a:prstGeom>
          <a:noFill/>
        </p:spPr>
        <p:txBody>
          <a:bodyPr wrap="square" lIns="0" rIns="0" tIns="0" bIns="0" anchor="t">
            <a:spAutoFit/>
          </a:bodyPr>
          <a:lstStyle/>
          <a:p>
            <a:pPr algn="l">
              <a:lnSpc>
                <a:spcPct val="120000"/>
              </a:lnSpc>
            </a:pPr>
            <a:r>
              <a:rPr sz="1350">
                <a:solidFill>
                  <a:srgbClr val="000000"/>
                </a:solidFill>
                <a:latin typeface="Calibri"/>
              </a:rPr>
              <a:t>Oct 13: supported practice, nothing due. Bring all three 3.2 sheets and anything still open.</a:t>
            </a:r>
          </a:p>
        </p:txBody>
      </p:sp>
      <p:sp>
        <p:nvSpPr>
          <p:cNvPr id="10" name="Rectangle 9"/>
          <p:cNvSpPr/>
          <p:nvPr/>
        </p:nvSpPr>
        <p:spPr>
          <a:xfrm>
            <a:off x="662940" y="2912364"/>
            <a:ext cx="150876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94360" y="2843784"/>
            <a:ext cx="1508760" cy="804672"/>
          </a:xfrm>
          <a:prstGeom prst="rect">
            <a:avLst/>
          </a:prstGeom>
          <a:solidFill>
            <a:srgbClr val="C6F035"/>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94360" y="3145536"/>
            <a:ext cx="1508760" cy="274320"/>
          </a:xfrm>
          <a:prstGeom prst="rect">
            <a:avLst/>
          </a:prstGeom>
          <a:noFill/>
        </p:spPr>
        <p:txBody>
          <a:bodyPr wrap="square" lIns="0" rIns="0" tIns="0" bIns="0" anchor="t">
            <a:spAutoFit/>
          </a:bodyPr>
          <a:lstStyle/>
          <a:p>
            <a:pPr algn="ctr"/>
            <a:r>
              <a:rPr sz="1400" b="1">
                <a:solidFill>
                  <a:srgbClr val="000000"/>
                </a:solidFill>
                <a:latin typeface="Arial"/>
              </a:rPr>
              <a:t>DUE</a:t>
            </a:r>
          </a:p>
        </p:txBody>
      </p:sp>
      <p:sp>
        <p:nvSpPr>
          <p:cNvPr id="13" name="Rectangle 12"/>
          <p:cNvSpPr/>
          <p:nvPr/>
        </p:nvSpPr>
        <p:spPr>
          <a:xfrm>
            <a:off x="2446020" y="2912364"/>
            <a:ext cx="918972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377440" y="2843784"/>
            <a:ext cx="9189720" cy="80467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651760" y="2962656"/>
            <a:ext cx="8641080" cy="566928"/>
          </a:xfrm>
          <a:prstGeom prst="rect">
            <a:avLst/>
          </a:prstGeom>
          <a:noFill/>
        </p:spPr>
        <p:txBody>
          <a:bodyPr wrap="square" lIns="0" rIns="0" tIns="0" bIns="0" anchor="t">
            <a:spAutoFit/>
          </a:bodyPr>
          <a:lstStyle/>
          <a:p>
            <a:pPr algn="l">
              <a:lnSpc>
                <a:spcPct val="120000"/>
              </a:lnSpc>
            </a:pPr>
            <a:r>
              <a:rPr sz="1350">
                <a:solidFill>
                  <a:srgbClr val="000000"/>
                </a:solidFill>
                <a:latin typeface="Calibri"/>
              </a:rPr>
              <a:t>Everything through Arrays — 1, 2.1, 2.2 (a photo of your print), 3.1 and 3.2 — on Teams by Sun Oct 18, 11:59 PM. Your midterm grade is the accumulated grade of all five.</a:t>
            </a:r>
          </a:p>
        </p:txBody>
      </p:sp>
      <p:sp>
        <p:nvSpPr>
          <p:cNvPr id="16" name="Rectangle 15"/>
          <p:cNvSpPr/>
          <p:nvPr/>
        </p:nvSpPr>
        <p:spPr>
          <a:xfrm>
            <a:off x="662940" y="3973068"/>
            <a:ext cx="150876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94360" y="3904487"/>
            <a:ext cx="1508760" cy="804672"/>
          </a:xfrm>
          <a:prstGeom prst="rect">
            <a:avLst/>
          </a:prstGeom>
          <a:solidFill>
            <a:srgbClr val="FFE500"/>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94360" y="4206240"/>
            <a:ext cx="1508760" cy="274320"/>
          </a:xfrm>
          <a:prstGeom prst="rect">
            <a:avLst/>
          </a:prstGeom>
          <a:noFill/>
        </p:spPr>
        <p:txBody>
          <a:bodyPr wrap="square" lIns="0" rIns="0" tIns="0" bIns="0" anchor="t">
            <a:spAutoFit/>
          </a:bodyPr>
          <a:lstStyle/>
          <a:p>
            <a:pPr algn="ctr"/>
            <a:r>
              <a:rPr sz="1400" b="1">
                <a:solidFill>
                  <a:srgbClr val="000000"/>
                </a:solidFill>
                <a:latin typeface="Arial"/>
              </a:rPr>
              <a:t>WATCH</a:t>
            </a:r>
          </a:p>
        </p:txBody>
      </p:sp>
      <p:sp>
        <p:nvSpPr>
          <p:cNvPr id="19" name="Rectangle 18"/>
          <p:cNvSpPr/>
          <p:nvPr/>
        </p:nvSpPr>
        <p:spPr>
          <a:xfrm>
            <a:off x="2446020" y="3973068"/>
            <a:ext cx="918972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2377440" y="3904487"/>
            <a:ext cx="9189720" cy="80467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651760" y="4023359"/>
            <a:ext cx="8641080" cy="566928"/>
          </a:xfrm>
          <a:prstGeom prst="rect">
            <a:avLst/>
          </a:prstGeom>
          <a:noFill/>
        </p:spPr>
        <p:txBody>
          <a:bodyPr wrap="square" lIns="0" rIns="0" tIns="0" bIns="0" anchor="t">
            <a:spAutoFit/>
          </a:bodyPr>
          <a:lstStyle/>
          <a:p>
            <a:pPr algn="l">
              <a:lnSpc>
                <a:spcPct val="120000"/>
              </a:lnSpc>
            </a:pPr>
            <a:r>
              <a:rPr sz="1350">
                <a:solidFill>
                  <a:srgbClr val="000000"/>
                </a:solidFill>
                <a:latin typeface="Calibri"/>
              </a:rPr>
              <a:t>Rhino + Grasshopper: GH list, Arrays part 1 and part 2 are on the lesson page. The Blender Arrays part 2 video is coming.</a:t>
            </a:r>
          </a:p>
        </p:txBody>
      </p:sp>
      <p:sp>
        <p:nvSpPr>
          <p:cNvPr id="22" name="Rectangle 21"/>
          <p:cNvSpPr/>
          <p:nvPr/>
        </p:nvSpPr>
        <p:spPr>
          <a:xfrm>
            <a:off x="662940" y="5033772"/>
            <a:ext cx="150876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94360" y="4965192"/>
            <a:ext cx="1508760" cy="804672"/>
          </a:xfrm>
          <a:prstGeom prst="rect">
            <a:avLst/>
          </a:prstGeom>
          <a:solidFill>
            <a:srgbClr val="FF4D8D"/>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94360" y="5266944"/>
            <a:ext cx="1508760" cy="274320"/>
          </a:xfrm>
          <a:prstGeom prst="rect">
            <a:avLst/>
          </a:prstGeom>
          <a:noFill/>
        </p:spPr>
        <p:txBody>
          <a:bodyPr wrap="square" lIns="0" rIns="0" tIns="0" bIns="0" anchor="t">
            <a:spAutoFit/>
          </a:bodyPr>
          <a:lstStyle/>
          <a:p>
            <a:pPr algn="ctr"/>
            <a:r>
              <a:rPr sz="1400" b="1">
                <a:solidFill>
                  <a:srgbClr val="000000"/>
                </a:solidFill>
                <a:latin typeface="Arial"/>
              </a:rPr>
              <a:t>THEN</a:t>
            </a:r>
          </a:p>
        </p:txBody>
      </p:sp>
      <p:sp>
        <p:nvSpPr>
          <p:cNvPr id="25" name="Rectangle 24"/>
          <p:cNvSpPr/>
          <p:nvPr/>
        </p:nvSpPr>
        <p:spPr>
          <a:xfrm>
            <a:off x="2446020" y="5033772"/>
            <a:ext cx="9189720" cy="804672"/>
          </a:xfrm>
          <a:prstGeom prst="rect">
            <a:avLst/>
          </a:prstGeom>
          <a:solidFill>
            <a:srgbClr val="0000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2377440" y="4965192"/>
            <a:ext cx="9189720" cy="804672"/>
          </a:xfrm>
          <a:prstGeom prst="rect">
            <a:avLst/>
          </a:prstGeom>
          <a:solidFill>
            <a:srgbClr val="FFFDF7"/>
          </a:solidFill>
          <a:ln w="349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2651760" y="5084064"/>
            <a:ext cx="8641080" cy="566928"/>
          </a:xfrm>
          <a:prstGeom prst="rect">
            <a:avLst/>
          </a:prstGeom>
          <a:noFill/>
        </p:spPr>
        <p:txBody>
          <a:bodyPr wrap="square" lIns="0" rIns="0" tIns="0" bIns="0" anchor="t">
            <a:spAutoFit/>
          </a:bodyPr>
          <a:lstStyle/>
          <a:p>
            <a:pPr algn="l">
              <a:lnSpc>
                <a:spcPct val="120000"/>
              </a:lnSpc>
            </a:pPr>
            <a:r>
              <a:rPr sz="1350">
                <a:solidFill>
                  <a:srgbClr val="000000"/>
                </a:solidFill>
                <a:latin typeface="Calibri"/>
              </a:rPr>
              <a:t>Oct 20: façade attractors — 3.3 starts.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