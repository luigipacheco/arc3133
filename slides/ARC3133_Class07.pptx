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4D8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1051560"/>
            <a:ext cx="10972800" cy="2560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1481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Arial"/>
              </a:rPr>
              <a:t>CLASS 07  /  OCT 6</a:t>
            </a:r>
          </a:p>
        </p:txBody>
      </p:sp>
      <p:sp>
        <p:nvSpPr>
          <p:cNvPr id="4" name="Rectangle 3"/>
          <p:cNvSpPr/>
          <p:nvPr/>
        </p:nvSpPr>
        <p:spPr>
          <a:xfrm>
            <a:off x="662940" y="2125980"/>
            <a:ext cx="10149840" cy="21488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94360" y="2057400"/>
            <a:ext cx="10149840" cy="21488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932688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000000"/>
                </a:solidFill>
                <a:latin typeface="Arial"/>
              </a:rPr>
              <a:t>ARRAYS AND LISTS</a:t>
            </a:r>
          </a:p>
          <a:p>
            <a:pPr algn="l">
              <a:lnSpc>
                <a:spcPct val="115000"/>
              </a:lnSpc>
            </a:pPr>
            <a:r>
              <a:rPr sz="4000" b="1">
                <a:solidFill>
                  <a:srgbClr val="000000"/>
                </a:solidFill>
                <a:latin typeface="Arial"/>
              </a:rPr>
              <a:t>PART TWO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940" y="4549140"/>
            <a:ext cx="676656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94360" y="4480560"/>
            <a:ext cx="6766560" cy="566928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795259" y="4549140"/>
            <a:ext cx="301752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726679" y="4480560"/>
            <a:ext cx="3017520" cy="566928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4480560"/>
            <a:ext cx="6400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STAGGER IT, SPIN IT, BEND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4480560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NOTHING DUE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8704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Arial"/>
              </a:rPr>
              <a:t>U04 CONTINUES  /  P2a IN PROGRESS, DUE WEEK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FOUR ARRANGEMENTS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Same component, four rules for generating the list of positions.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2606040" cy="32004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2606040" cy="32004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260604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Arial"/>
              </a:rPr>
              <a:t>LINEAR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4389120"/>
            <a:ext cx="22037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>
                <a:solidFill>
                  <a:srgbClr val="000000"/>
                </a:solidFill>
                <a:latin typeface="Courier New"/>
              </a:rPr>
              <a:t>one counter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1860" y="1851660"/>
            <a:ext cx="2606040" cy="32004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383279" y="1783080"/>
            <a:ext cx="2606040" cy="32004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83279" y="1783080"/>
            <a:ext cx="2606040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611879" y="178308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Arial"/>
              </a:rPr>
              <a:t>GRID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4389120"/>
            <a:ext cx="22037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>
                <a:solidFill>
                  <a:srgbClr val="000000"/>
                </a:solidFill>
                <a:latin typeface="Courier New"/>
              </a:rPr>
              <a:t>two counters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0780" y="1851660"/>
            <a:ext cx="2606040" cy="32004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783080"/>
            <a:ext cx="2606040" cy="32004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172200" y="1783080"/>
            <a:ext cx="2606040" cy="50292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00800" y="178308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Arial"/>
              </a:rPr>
              <a:t>HEXAGONAL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4389120"/>
            <a:ext cx="22037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>
                <a:solidFill>
                  <a:srgbClr val="000000"/>
                </a:solidFill>
                <a:latin typeface="Courier New"/>
              </a:rPr>
              <a:t>stagger alternate rows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29700" y="1851660"/>
            <a:ext cx="2606040" cy="32004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961120" y="1783080"/>
            <a:ext cx="2606040" cy="32004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8961120" y="1783080"/>
            <a:ext cx="2606040" cy="50292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189720" y="178308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Arial"/>
              </a:rPr>
              <a:t>RADIAL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2288" y="4389120"/>
            <a:ext cx="22037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>
                <a:solidFill>
                  <a:srgbClr val="000000"/>
                </a:solidFill>
                <a:latin typeface="Courier New"/>
              </a:rPr>
              <a:t>radius, count, angular step</a:t>
            </a:r>
          </a:p>
        </p:txBody>
      </p:sp>
      <p:sp>
        <p:nvSpPr>
          <p:cNvPr id="25" name="Oval 24"/>
          <p:cNvSpPr/>
          <p:nvPr/>
        </p:nvSpPr>
        <p:spPr>
          <a:xfrm>
            <a:off x="928116" y="3305556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1239012" y="3305556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1549908" y="3305556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1860803" y="3305556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2171700" y="3305556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2482596" y="3305556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2793492" y="3305556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3835908" y="2601468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3835908" y="2912363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3835908" y="3223260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3835908" y="3534156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3835908" y="3845052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4146804" y="2601468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4146804" y="2912363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4146804" y="3223260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4146804" y="3534156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4146804" y="3845052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4457700" y="2601468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4457700" y="2912363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4457700" y="3223260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4457700" y="3534156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4457700" y="3845052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4768596" y="2601468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Oval 47"/>
          <p:cNvSpPr/>
          <p:nvPr/>
        </p:nvSpPr>
        <p:spPr>
          <a:xfrm>
            <a:off x="4768596" y="2912363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4768596" y="3223260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4768596" y="3534156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4768596" y="3845052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Oval 51"/>
          <p:cNvSpPr/>
          <p:nvPr/>
        </p:nvSpPr>
        <p:spPr>
          <a:xfrm>
            <a:off x="5079492" y="2601468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5079492" y="2912363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Oval 53"/>
          <p:cNvSpPr/>
          <p:nvPr/>
        </p:nvSpPr>
        <p:spPr>
          <a:xfrm>
            <a:off x="5079492" y="3223260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5079492" y="3534156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Oval 55"/>
          <p:cNvSpPr/>
          <p:nvPr/>
        </p:nvSpPr>
        <p:spPr>
          <a:xfrm>
            <a:off x="5079492" y="3845052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5390388" y="2601468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Oval 57"/>
          <p:cNvSpPr/>
          <p:nvPr/>
        </p:nvSpPr>
        <p:spPr>
          <a:xfrm>
            <a:off x="5390388" y="2912363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Oval 58"/>
          <p:cNvSpPr/>
          <p:nvPr/>
        </p:nvSpPr>
        <p:spPr>
          <a:xfrm>
            <a:off x="5390388" y="3223260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Oval 59"/>
          <p:cNvSpPr/>
          <p:nvPr/>
        </p:nvSpPr>
        <p:spPr>
          <a:xfrm>
            <a:off x="5390388" y="3534156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Oval 60"/>
          <p:cNvSpPr/>
          <p:nvPr/>
        </p:nvSpPr>
        <p:spPr>
          <a:xfrm>
            <a:off x="5390388" y="3845052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Oval 61"/>
          <p:cNvSpPr/>
          <p:nvPr/>
        </p:nvSpPr>
        <p:spPr>
          <a:xfrm>
            <a:off x="6533388" y="2601468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Oval 62"/>
          <p:cNvSpPr/>
          <p:nvPr/>
        </p:nvSpPr>
        <p:spPr>
          <a:xfrm>
            <a:off x="6844284" y="2601468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Oval 63"/>
          <p:cNvSpPr/>
          <p:nvPr/>
        </p:nvSpPr>
        <p:spPr>
          <a:xfrm>
            <a:off x="7155180" y="2601468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Oval 64"/>
          <p:cNvSpPr/>
          <p:nvPr/>
        </p:nvSpPr>
        <p:spPr>
          <a:xfrm>
            <a:off x="7466076" y="2601468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Oval 65"/>
          <p:cNvSpPr/>
          <p:nvPr/>
        </p:nvSpPr>
        <p:spPr>
          <a:xfrm>
            <a:off x="7776972" y="2601468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Oval 66"/>
          <p:cNvSpPr/>
          <p:nvPr/>
        </p:nvSpPr>
        <p:spPr>
          <a:xfrm>
            <a:off x="8087868" y="2601468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Oval 67"/>
          <p:cNvSpPr/>
          <p:nvPr/>
        </p:nvSpPr>
        <p:spPr>
          <a:xfrm>
            <a:off x="6688836" y="2912363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Oval 68"/>
          <p:cNvSpPr/>
          <p:nvPr/>
        </p:nvSpPr>
        <p:spPr>
          <a:xfrm>
            <a:off x="6999732" y="2912363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Oval 69"/>
          <p:cNvSpPr/>
          <p:nvPr/>
        </p:nvSpPr>
        <p:spPr>
          <a:xfrm>
            <a:off x="7310628" y="2912363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Oval 70"/>
          <p:cNvSpPr/>
          <p:nvPr/>
        </p:nvSpPr>
        <p:spPr>
          <a:xfrm>
            <a:off x="7621524" y="2912363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7932420" y="2912363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Oval 72"/>
          <p:cNvSpPr/>
          <p:nvPr/>
        </p:nvSpPr>
        <p:spPr>
          <a:xfrm>
            <a:off x="6533388" y="3223260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Oval 73"/>
          <p:cNvSpPr/>
          <p:nvPr/>
        </p:nvSpPr>
        <p:spPr>
          <a:xfrm>
            <a:off x="6844284" y="3223260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Oval 74"/>
          <p:cNvSpPr/>
          <p:nvPr/>
        </p:nvSpPr>
        <p:spPr>
          <a:xfrm>
            <a:off x="7155180" y="3223260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Oval 75"/>
          <p:cNvSpPr/>
          <p:nvPr/>
        </p:nvSpPr>
        <p:spPr>
          <a:xfrm>
            <a:off x="7466076" y="3223260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7776972" y="3223260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Oval 77"/>
          <p:cNvSpPr/>
          <p:nvPr/>
        </p:nvSpPr>
        <p:spPr>
          <a:xfrm>
            <a:off x="8087868" y="3223260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Oval 78"/>
          <p:cNvSpPr/>
          <p:nvPr/>
        </p:nvSpPr>
        <p:spPr>
          <a:xfrm>
            <a:off x="6688836" y="3534156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Oval 79"/>
          <p:cNvSpPr/>
          <p:nvPr/>
        </p:nvSpPr>
        <p:spPr>
          <a:xfrm>
            <a:off x="6999732" y="3534156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Oval 80"/>
          <p:cNvSpPr/>
          <p:nvPr/>
        </p:nvSpPr>
        <p:spPr>
          <a:xfrm>
            <a:off x="7310628" y="3534156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7621524" y="3534156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Oval 82"/>
          <p:cNvSpPr/>
          <p:nvPr/>
        </p:nvSpPr>
        <p:spPr>
          <a:xfrm>
            <a:off x="7932420" y="3534156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Oval 83"/>
          <p:cNvSpPr/>
          <p:nvPr/>
        </p:nvSpPr>
        <p:spPr>
          <a:xfrm>
            <a:off x="6533388" y="3845052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Oval 84"/>
          <p:cNvSpPr/>
          <p:nvPr/>
        </p:nvSpPr>
        <p:spPr>
          <a:xfrm>
            <a:off x="6844284" y="3845052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Oval 85"/>
          <p:cNvSpPr/>
          <p:nvPr/>
        </p:nvSpPr>
        <p:spPr>
          <a:xfrm>
            <a:off x="7155180" y="3845052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Oval 86"/>
          <p:cNvSpPr/>
          <p:nvPr/>
        </p:nvSpPr>
        <p:spPr>
          <a:xfrm>
            <a:off x="7466076" y="3845052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Oval 87"/>
          <p:cNvSpPr/>
          <p:nvPr/>
        </p:nvSpPr>
        <p:spPr>
          <a:xfrm>
            <a:off x="7776972" y="3845052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Oval 88"/>
          <p:cNvSpPr/>
          <p:nvPr/>
        </p:nvSpPr>
        <p:spPr>
          <a:xfrm>
            <a:off x="8087868" y="3845052"/>
            <a:ext cx="100584" cy="1005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Oval 89"/>
          <p:cNvSpPr/>
          <p:nvPr/>
        </p:nvSpPr>
        <p:spPr>
          <a:xfrm>
            <a:off x="10651845" y="334578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Oval 90"/>
          <p:cNvSpPr/>
          <p:nvPr/>
        </p:nvSpPr>
        <p:spPr>
          <a:xfrm>
            <a:off x="10650984" y="337210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Oval 91"/>
          <p:cNvSpPr/>
          <p:nvPr/>
        </p:nvSpPr>
        <p:spPr>
          <a:xfrm>
            <a:off x="10648403" y="339830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Oval 92"/>
          <p:cNvSpPr/>
          <p:nvPr/>
        </p:nvSpPr>
        <p:spPr>
          <a:xfrm>
            <a:off x="10644114" y="3424281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Oval 93"/>
          <p:cNvSpPr/>
          <p:nvPr/>
        </p:nvSpPr>
        <p:spPr>
          <a:xfrm>
            <a:off x="10638136" y="3449921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Oval 94"/>
          <p:cNvSpPr/>
          <p:nvPr/>
        </p:nvSpPr>
        <p:spPr>
          <a:xfrm>
            <a:off x="10630493" y="347511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Oval 95"/>
          <p:cNvSpPr/>
          <p:nvPr/>
        </p:nvSpPr>
        <p:spPr>
          <a:xfrm>
            <a:off x="10621219" y="349975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Oval 96"/>
          <p:cNvSpPr/>
          <p:nvPr/>
        </p:nvSpPr>
        <p:spPr>
          <a:xfrm>
            <a:off x="10610353" y="3523738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Oval 97"/>
          <p:cNvSpPr/>
          <p:nvPr/>
        </p:nvSpPr>
        <p:spPr>
          <a:xfrm>
            <a:off x="10597942" y="354695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Oval 98"/>
          <p:cNvSpPr/>
          <p:nvPr/>
        </p:nvSpPr>
        <p:spPr>
          <a:xfrm>
            <a:off x="10584039" y="356931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Oval 99"/>
          <p:cNvSpPr/>
          <p:nvPr/>
        </p:nvSpPr>
        <p:spPr>
          <a:xfrm>
            <a:off x="10568704" y="359071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Oval 100"/>
          <p:cNvSpPr/>
          <p:nvPr/>
        </p:nvSpPr>
        <p:spPr>
          <a:xfrm>
            <a:off x="10552001" y="3611068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Oval 101"/>
          <p:cNvSpPr/>
          <p:nvPr/>
        </p:nvSpPr>
        <p:spPr>
          <a:xfrm>
            <a:off x="10534004" y="363028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Oval 102"/>
          <p:cNvSpPr/>
          <p:nvPr/>
        </p:nvSpPr>
        <p:spPr>
          <a:xfrm>
            <a:off x="10514788" y="3648281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Oval 103"/>
          <p:cNvSpPr/>
          <p:nvPr/>
        </p:nvSpPr>
        <p:spPr>
          <a:xfrm>
            <a:off x="10494436" y="366498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Oval 104"/>
          <p:cNvSpPr/>
          <p:nvPr/>
        </p:nvSpPr>
        <p:spPr>
          <a:xfrm>
            <a:off x="10473035" y="368031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Oval 105"/>
          <p:cNvSpPr/>
          <p:nvPr/>
        </p:nvSpPr>
        <p:spPr>
          <a:xfrm>
            <a:off x="10450677" y="369422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Oval 106"/>
          <p:cNvSpPr/>
          <p:nvPr/>
        </p:nvSpPr>
        <p:spPr>
          <a:xfrm>
            <a:off x="10427458" y="370663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Oval 107"/>
          <p:cNvSpPr/>
          <p:nvPr/>
        </p:nvSpPr>
        <p:spPr>
          <a:xfrm>
            <a:off x="10403476" y="371749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Oval 108"/>
          <p:cNvSpPr/>
          <p:nvPr/>
        </p:nvSpPr>
        <p:spPr>
          <a:xfrm>
            <a:off x="10378836" y="372677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Oval 109"/>
          <p:cNvSpPr/>
          <p:nvPr/>
        </p:nvSpPr>
        <p:spPr>
          <a:xfrm>
            <a:off x="10353641" y="373441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Oval 110"/>
          <p:cNvSpPr/>
          <p:nvPr/>
        </p:nvSpPr>
        <p:spPr>
          <a:xfrm>
            <a:off x="10328001" y="374039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Oval 111"/>
          <p:cNvSpPr/>
          <p:nvPr/>
        </p:nvSpPr>
        <p:spPr>
          <a:xfrm>
            <a:off x="10302024" y="374468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Oval 112"/>
          <p:cNvSpPr/>
          <p:nvPr/>
        </p:nvSpPr>
        <p:spPr>
          <a:xfrm>
            <a:off x="10275823" y="374726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Oval 113"/>
          <p:cNvSpPr/>
          <p:nvPr/>
        </p:nvSpPr>
        <p:spPr>
          <a:xfrm>
            <a:off x="10249509" y="374812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Oval 114"/>
          <p:cNvSpPr/>
          <p:nvPr/>
        </p:nvSpPr>
        <p:spPr>
          <a:xfrm>
            <a:off x="10223195" y="374726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Oval 115"/>
          <p:cNvSpPr/>
          <p:nvPr/>
        </p:nvSpPr>
        <p:spPr>
          <a:xfrm>
            <a:off x="10196994" y="374468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Oval 116"/>
          <p:cNvSpPr/>
          <p:nvPr/>
        </p:nvSpPr>
        <p:spPr>
          <a:xfrm>
            <a:off x="10171017" y="374039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Oval 117"/>
          <p:cNvSpPr/>
          <p:nvPr/>
        </p:nvSpPr>
        <p:spPr>
          <a:xfrm>
            <a:off x="10145377" y="373441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Oval 118"/>
          <p:cNvSpPr/>
          <p:nvPr/>
        </p:nvSpPr>
        <p:spPr>
          <a:xfrm>
            <a:off x="10120182" y="372677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Oval 119"/>
          <p:cNvSpPr/>
          <p:nvPr/>
        </p:nvSpPr>
        <p:spPr>
          <a:xfrm>
            <a:off x="10095542" y="371749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Oval 120"/>
          <p:cNvSpPr/>
          <p:nvPr/>
        </p:nvSpPr>
        <p:spPr>
          <a:xfrm>
            <a:off x="10071560" y="370663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Oval 121"/>
          <p:cNvSpPr/>
          <p:nvPr/>
        </p:nvSpPr>
        <p:spPr>
          <a:xfrm>
            <a:off x="10048341" y="369422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Oval 122"/>
          <p:cNvSpPr/>
          <p:nvPr/>
        </p:nvSpPr>
        <p:spPr>
          <a:xfrm>
            <a:off x="10025983" y="368031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Oval 123"/>
          <p:cNvSpPr/>
          <p:nvPr/>
        </p:nvSpPr>
        <p:spPr>
          <a:xfrm>
            <a:off x="10004582" y="366498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Oval 124"/>
          <p:cNvSpPr/>
          <p:nvPr/>
        </p:nvSpPr>
        <p:spPr>
          <a:xfrm>
            <a:off x="9984231" y="3648281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Oval 125"/>
          <p:cNvSpPr/>
          <p:nvPr/>
        </p:nvSpPr>
        <p:spPr>
          <a:xfrm>
            <a:off x="9965015" y="363028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Oval 126"/>
          <p:cNvSpPr/>
          <p:nvPr/>
        </p:nvSpPr>
        <p:spPr>
          <a:xfrm>
            <a:off x="9947017" y="3611068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Oval 127"/>
          <p:cNvSpPr/>
          <p:nvPr/>
        </p:nvSpPr>
        <p:spPr>
          <a:xfrm>
            <a:off x="9930314" y="359071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Oval 128"/>
          <p:cNvSpPr/>
          <p:nvPr/>
        </p:nvSpPr>
        <p:spPr>
          <a:xfrm>
            <a:off x="9914979" y="356931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Oval 129"/>
          <p:cNvSpPr/>
          <p:nvPr/>
        </p:nvSpPr>
        <p:spPr>
          <a:xfrm>
            <a:off x="9901076" y="354695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Oval 130"/>
          <p:cNvSpPr/>
          <p:nvPr/>
        </p:nvSpPr>
        <p:spPr>
          <a:xfrm>
            <a:off x="9888665" y="3523738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Oval 131"/>
          <p:cNvSpPr/>
          <p:nvPr/>
        </p:nvSpPr>
        <p:spPr>
          <a:xfrm>
            <a:off x="9877799" y="349975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Oval 132"/>
          <p:cNvSpPr/>
          <p:nvPr/>
        </p:nvSpPr>
        <p:spPr>
          <a:xfrm>
            <a:off x="9868525" y="347511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Oval 133"/>
          <p:cNvSpPr/>
          <p:nvPr/>
        </p:nvSpPr>
        <p:spPr>
          <a:xfrm>
            <a:off x="9860882" y="3449921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Oval 134"/>
          <p:cNvSpPr/>
          <p:nvPr/>
        </p:nvSpPr>
        <p:spPr>
          <a:xfrm>
            <a:off x="9854904" y="3424281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Oval 135"/>
          <p:cNvSpPr/>
          <p:nvPr/>
        </p:nvSpPr>
        <p:spPr>
          <a:xfrm>
            <a:off x="9850615" y="339830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Oval 136"/>
          <p:cNvSpPr/>
          <p:nvPr/>
        </p:nvSpPr>
        <p:spPr>
          <a:xfrm>
            <a:off x="9848035" y="337210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Oval 137"/>
          <p:cNvSpPr/>
          <p:nvPr/>
        </p:nvSpPr>
        <p:spPr>
          <a:xfrm>
            <a:off x="9847173" y="334578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Oval 138"/>
          <p:cNvSpPr/>
          <p:nvPr/>
        </p:nvSpPr>
        <p:spPr>
          <a:xfrm>
            <a:off x="9848035" y="331947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Oval 139"/>
          <p:cNvSpPr/>
          <p:nvPr/>
        </p:nvSpPr>
        <p:spPr>
          <a:xfrm>
            <a:off x="9850615" y="329327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Oval 140"/>
          <p:cNvSpPr/>
          <p:nvPr/>
        </p:nvSpPr>
        <p:spPr>
          <a:xfrm>
            <a:off x="9854904" y="326729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Oval 141"/>
          <p:cNvSpPr/>
          <p:nvPr/>
        </p:nvSpPr>
        <p:spPr>
          <a:xfrm>
            <a:off x="9860882" y="324165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Oval 142"/>
          <p:cNvSpPr/>
          <p:nvPr/>
        </p:nvSpPr>
        <p:spPr>
          <a:xfrm>
            <a:off x="9868525" y="321646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Oval 143"/>
          <p:cNvSpPr/>
          <p:nvPr/>
        </p:nvSpPr>
        <p:spPr>
          <a:xfrm>
            <a:off x="9877799" y="319182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Oval 144"/>
          <p:cNvSpPr/>
          <p:nvPr/>
        </p:nvSpPr>
        <p:spPr>
          <a:xfrm>
            <a:off x="9888665" y="3167840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Oval 145"/>
          <p:cNvSpPr/>
          <p:nvPr/>
        </p:nvSpPr>
        <p:spPr>
          <a:xfrm>
            <a:off x="9901076" y="3144621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Oval 146"/>
          <p:cNvSpPr/>
          <p:nvPr/>
        </p:nvSpPr>
        <p:spPr>
          <a:xfrm>
            <a:off x="9914979" y="312226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Oval 147"/>
          <p:cNvSpPr/>
          <p:nvPr/>
        </p:nvSpPr>
        <p:spPr>
          <a:xfrm>
            <a:off x="9930314" y="310086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Oval 148"/>
          <p:cNvSpPr/>
          <p:nvPr/>
        </p:nvSpPr>
        <p:spPr>
          <a:xfrm>
            <a:off x="9947017" y="3080511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Oval 149"/>
          <p:cNvSpPr/>
          <p:nvPr/>
        </p:nvSpPr>
        <p:spPr>
          <a:xfrm>
            <a:off x="9965015" y="306129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Oval 150"/>
          <p:cNvSpPr/>
          <p:nvPr/>
        </p:nvSpPr>
        <p:spPr>
          <a:xfrm>
            <a:off x="9984231" y="304329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Oval 151"/>
          <p:cNvSpPr/>
          <p:nvPr/>
        </p:nvSpPr>
        <p:spPr>
          <a:xfrm>
            <a:off x="10004582" y="302659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Oval 152"/>
          <p:cNvSpPr/>
          <p:nvPr/>
        </p:nvSpPr>
        <p:spPr>
          <a:xfrm>
            <a:off x="10025983" y="301125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Oval 153"/>
          <p:cNvSpPr/>
          <p:nvPr/>
        </p:nvSpPr>
        <p:spPr>
          <a:xfrm>
            <a:off x="10048341" y="299735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Oval 154"/>
          <p:cNvSpPr/>
          <p:nvPr/>
        </p:nvSpPr>
        <p:spPr>
          <a:xfrm>
            <a:off x="10071560" y="298494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Oval 155"/>
          <p:cNvSpPr/>
          <p:nvPr/>
        </p:nvSpPr>
        <p:spPr>
          <a:xfrm>
            <a:off x="10095542" y="297407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Oval 156"/>
          <p:cNvSpPr/>
          <p:nvPr/>
        </p:nvSpPr>
        <p:spPr>
          <a:xfrm>
            <a:off x="10120182" y="296480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8" name="Oval 157"/>
          <p:cNvSpPr/>
          <p:nvPr/>
        </p:nvSpPr>
        <p:spPr>
          <a:xfrm>
            <a:off x="10145377" y="295716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9" name="Oval 158"/>
          <p:cNvSpPr/>
          <p:nvPr/>
        </p:nvSpPr>
        <p:spPr>
          <a:xfrm>
            <a:off x="10171017" y="295118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0" name="Oval 159"/>
          <p:cNvSpPr/>
          <p:nvPr/>
        </p:nvSpPr>
        <p:spPr>
          <a:xfrm>
            <a:off x="10196994" y="294689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Oval 160"/>
          <p:cNvSpPr/>
          <p:nvPr/>
        </p:nvSpPr>
        <p:spPr>
          <a:xfrm>
            <a:off x="10223195" y="294431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2" name="Oval 161"/>
          <p:cNvSpPr/>
          <p:nvPr/>
        </p:nvSpPr>
        <p:spPr>
          <a:xfrm>
            <a:off x="10249509" y="294345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3" name="Oval 162"/>
          <p:cNvSpPr/>
          <p:nvPr/>
        </p:nvSpPr>
        <p:spPr>
          <a:xfrm>
            <a:off x="10275823" y="294431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4" name="Oval 163"/>
          <p:cNvSpPr/>
          <p:nvPr/>
        </p:nvSpPr>
        <p:spPr>
          <a:xfrm>
            <a:off x="10302024" y="294689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5" name="Oval 164"/>
          <p:cNvSpPr/>
          <p:nvPr/>
        </p:nvSpPr>
        <p:spPr>
          <a:xfrm>
            <a:off x="10328001" y="295118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6" name="Oval 165"/>
          <p:cNvSpPr/>
          <p:nvPr/>
        </p:nvSpPr>
        <p:spPr>
          <a:xfrm>
            <a:off x="10353641" y="295716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7" name="Oval 166"/>
          <p:cNvSpPr/>
          <p:nvPr/>
        </p:nvSpPr>
        <p:spPr>
          <a:xfrm>
            <a:off x="10378836" y="296480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8" name="Oval 167"/>
          <p:cNvSpPr/>
          <p:nvPr/>
        </p:nvSpPr>
        <p:spPr>
          <a:xfrm>
            <a:off x="10403476" y="297407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9" name="Oval 168"/>
          <p:cNvSpPr/>
          <p:nvPr/>
        </p:nvSpPr>
        <p:spPr>
          <a:xfrm>
            <a:off x="10427458" y="298494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Oval 169"/>
          <p:cNvSpPr/>
          <p:nvPr/>
        </p:nvSpPr>
        <p:spPr>
          <a:xfrm>
            <a:off x="10450677" y="299735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1" name="Oval 170"/>
          <p:cNvSpPr/>
          <p:nvPr/>
        </p:nvSpPr>
        <p:spPr>
          <a:xfrm>
            <a:off x="10473035" y="301125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2" name="Oval 171"/>
          <p:cNvSpPr/>
          <p:nvPr/>
        </p:nvSpPr>
        <p:spPr>
          <a:xfrm>
            <a:off x="10494436" y="302659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3" name="Oval 172"/>
          <p:cNvSpPr/>
          <p:nvPr/>
        </p:nvSpPr>
        <p:spPr>
          <a:xfrm>
            <a:off x="10514788" y="304329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" name="Oval 173"/>
          <p:cNvSpPr/>
          <p:nvPr/>
        </p:nvSpPr>
        <p:spPr>
          <a:xfrm>
            <a:off x="10534004" y="306129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" name="Oval 174"/>
          <p:cNvSpPr/>
          <p:nvPr/>
        </p:nvSpPr>
        <p:spPr>
          <a:xfrm>
            <a:off x="10552001" y="3080511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6" name="Oval 175"/>
          <p:cNvSpPr/>
          <p:nvPr/>
        </p:nvSpPr>
        <p:spPr>
          <a:xfrm>
            <a:off x="10568704" y="310086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7" name="Oval 176"/>
          <p:cNvSpPr/>
          <p:nvPr/>
        </p:nvSpPr>
        <p:spPr>
          <a:xfrm>
            <a:off x="10584039" y="312226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8" name="Oval 177"/>
          <p:cNvSpPr/>
          <p:nvPr/>
        </p:nvSpPr>
        <p:spPr>
          <a:xfrm>
            <a:off x="10597942" y="3144621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9" name="Oval 178"/>
          <p:cNvSpPr/>
          <p:nvPr/>
        </p:nvSpPr>
        <p:spPr>
          <a:xfrm>
            <a:off x="10610353" y="3167840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0" name="Oval 179"/>
          <p:cNvSpPr/>
          <p:nvPr/>
        </p:nvSpPr>
        <p:spPr>
          <a:xfrm>
            <a:off x="10621219" y="319182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1" name="Oval 180"/>
          <p:cNvSpPr/>
          <p:nvPr/>
        </p:nvSpPr>
        <p:spPr>
          <a:xfrm>
            <a:off x="10630493" y="321646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2" name="Oval 181"/>
          <p:cNvSpPr/>
          <p:nvPr/>
        </p:nvSpPr>
        <p:spPr>
          <a:xfrm>
            <a:off x="10638136" y="324165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3" name="Oval 182"/>
          <p:cNvSpPr/>
          <p:nvPr/>
        </p:nvSpPr>
        <p:spPr>
          <a:xfrm>
            <a:off x="10644114" y="326729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4" name="Oval 183"/>
          <p:cNvSpPr/>
          <p:nvPr/>
        </p:nvSpPr>
        <p:spPr>
          <a:xfrm>
            <a:off x="10648403" y="329327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5" name="Oval 184"/>
          <p:cNvSpPr/>
          <p:nvPr/>
        </p:nvSpPr>
        <p:spPr>
          <a:xfrm>
            <a:off x="10650984" y="331947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6" name="Oval 185"/>
          <p:cNvSpPr/>
          <p:nvPr/>
        </p:nvSpPr>
        <p:spPr>
          <a:xfrm>
            <a:off x="10981029" y="334578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7" name="Oval 186"/>
          <p:cNvSpPr/>
          <p:nvPr/>
        </p:nvSpPr>
        <p:spPr>
          <a:xfrm>
            <a:off x="10979463" y="339363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8" name="Oval 187"/>
          <p:cNvSpPr/>
          <p:nvPr/>
        </p:nvSpPr>
        <p:spPr>
          <a:xfrm>
            <a:off x="10974771" y="344127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9" name="Oval 188"/>
          <p:cNvSpPr/>
          <p:nvPr/>
        </p:nvSpPr>
        <p:spPr>
          <a:xfrm>
            <a:off x="10966973" y="348850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0" name="Oval 189"/>
          <p:cNvSpPr/>
          <p:nvPr/>
        </p:nvSpPr>
        <p:spPr>
          <a:xfrm>
            <a:off x="10956103" y="3535120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1" name="Oval 190"/>
          <p:cNvSpPr/>
          <p:nvPr/>
        </p:nvSpPr>
        <p:spPr>
          <a:xfrm>
            <a:off x="10942207" y="3580928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2" name="Oval 191"/>
          <p:cNvSpPr/>
          <p:nvPr/>
        </p:nvSpPr>
        <p:spPr>
          <a:xfrm>
            <a:off x="10925345" y="3625730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3" name="Oval 192"/>
          <p:cNvSpPr/>
          <p:nvPr/>
        </p:nvSpPr>
        <p:spPr>
          <a:xfrm>
            <a:off x="10905589" y="366933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4" name="Oval 193"/>
          <p:cNvSpPr/>
          <p:nvPr/>
        </p:nvSpPr>
        <p:spPr>
          <a:xfrm>
            <a:off x="10883024" y="371154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5" name="Oval 194"/>
          <p:cNvSpPr/>
          <p:nvPr/>
        </p:nvSpPr>
        <p:spPr>
          <a:xfrm>
            <a:off x="10857746" y="3752200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6" name="Oval 195"/>
          <p:cNvSpPr/>
          <p:nvPr/>
        </p:nvSpPr>
        <p:spPr>
          <a:xfrm>
            <a:off x="10829863" y="3791110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7" name="Oval 196"/>
          <p:cNvSpPr/>
          <p:nvPr/>
        </p:nvSpPr>
        <p:spPr>
          <a:xfrm>
            <a:off x="10799495" y="382811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8" name="Oval 197"/>
          <p:cNvSpPr/>
          <p:nvPr/>
        </p:nvSpPr>
        <p:spPr>
          <a:xfrm>
            <a:off x="10766772" y="386305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9" name="Oval 198"/>
          <p:cNvSpPr/>
          <p:nvPr/>
        </p:nvSpPr>
        <p:spPr>
          <a:xfrm>
            <a:off x="10731834" y="389577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0" name="Oval 199"/>
          <p:cNvSpPr/>
          <p:nvPr/>
        </p:nvSpPr>
        <p:spPr>
          <a:xfrm>
            <a:off x="10694830" y="392614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1" name="Oval 200"/>
          <p:cNvSpPr/>
          <p:nvPr/>
        </p:nvSpPr>
        <p:spPr>
          <a:xfrm>
            <a:off x="10655920" y="395402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2" name="Oval 201"/>
          <p:cNvSpPr/>
          <p:nvPr/>
        </p:nvSpPr>
        <p:spPr>
          <a:xfrm>
            <a:off x="10615269" y="397930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3" name="Oval 202"/>
          <p:cNvSpPr/>
          <p:nvPr/>
        </p:nvSpPr>
        <p:spPr>
          <a:xfrm>
            <a:off x="10573052" y="400186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4" name="Oval 203"/>
          <p:cNvSpPr/>
          <p:nvPr/>
        </p:nvSpPr>
        <p:spPr>
          <a:xfrm>
            <a:off x="10529450" y="402162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5" name="Oval 204"/>
          <p:cNvSpPr/>
          <p:nvPr/>
        </p:nvSpPr>
        <p:spPr>
          <a:xfrm>
            <a:off x="10484648" y="403848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6" name="Oval 205"/>
          <p:cNvSpPr/>
          <p:nvPr/>
        </p:nvSpPr>
        <p:spPr>
          <a:xfrm>
            <a:off x="10438840" y="405238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7" name="Oval 206"/>
          <p:cNvSpPr/>
          <p:nvPr/>
        </p:nvSpPr>
        <p:spPr>
          <a:xfrm>
            <a:off x="10392222" y="406325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8" name="Oval 207"/>
          <p:cNvSpPr/>
          <p:nvPr/>
        </p:nvSpPr>
        <p:spPr>
          <a:xfrm>
            <a:off x="10344992" y="4071051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9" name="Oval 208"/>
          <p:cNvSpPr/>
          <p:nvPr/>
        </p:nvSpPr>
        <p:spPr>
          <a:xfrm>
            <a:off x="10297353" y="407574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0" name="Oval 209"/>
          <p:cNvSpPr/>
          <p:nvPr/>
        </p:nvSpPr>
        <p:spPr>
          <a:xfrm>
            <a:off x="10249509" y="407730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1" name="Oval 210"/>
          <p:cNvSpPr/>
          <p:nvPr/>
        </p:nvSpPr>
        <p:spPr>
          <a:xfrm>
            <a:off x="10201665" y="407574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2" name="Oval 211"/>
          <p:cNvSpPr/>
          <p:nvPr/>
        </p:nvSpPr>
        <p:spPr>
          <a:xfrm>
            <a:off x="10154027" y="4071051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3" name="Oval 212"/>
          <p:cNvSpPr/>
          <p:nvPr/>
        </p:nvSpPr>
        <p:spPr>
          <a:xfrm>
            <a:off x="10106797" y="406325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4" name="Oval 213"/>
          <p:cNvSpPr/>
          <p:nvPr/>
        </p:nvSpPr>
        <p:spPr>
          <a:xfrm>
            <a:off x="10060178" y="405238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5" name="Oval 214"/>
          <p:cNvSpPr/>
          <p:nvPr/>
        </p:nvSpPr>
        <p:spPr>
          <a:xfrm>
            <a:off x="10014370" y="403848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6" name="Oval 215"/>
          <p:cNvSpPr/>
          <p:nvPr/>
        </p:nvSpPr>
        <p:spPr>
          <a:xfrm>
            <a:off x="9969569" y="402162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7" name="Oval 216"/>
          <p:cNvSpPr/>
          <p:nvPr/>
        </p:nvSpPr>
        <p:spPr>
          <a:xfrm>
            <a:off x="9925966" y="400186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8" name="Oval 217"/>
          <p:cNvSpPr/>
          <p:nvPr/>
        </p:nvSpPr>
        <p:spPr>
          <a:xfrm>
            <a:off x="9883749" y="397930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9" name="Oval 218"/>
          <p:cNvSpPr/>
          <p:nvPr/>
        </p:nvSpPr>
        <p:spPr>
          <a:xfrm>
            <a:off x="9843098" y="395402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0" name="Oval 219"/>
          <p:cNvSpPr/>
          <p:nvPr/>
        </p:nvSpPr>
        <p:spPr>
          <a:xfrm>
            <a:off x="9804188" y="392614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1" name="Oval 220"/>
          <p:cNvSpPr/>
          <p:nvPr/>
        </p:nvSpPr>
        <p:spPr>
          <a:xfrm>
            <a:off x="9767184" y="389577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2" name="Oval 221"/>
          <p:cNvSpPr/>
          <p:nvPr/>
        </p:nvSpPr>
        <p:spPr>
          <a:xfrm>
            <a:off x="9732246" y="386305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3" name="Oval 222"/>
          <p:cNvSpPr/>
          <p:nvPr/>
        </p:nvSpPr>
        <p:spPr>
          <a:xfrm>
            <a:off x="9699523" y="382811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" name="Oval 223"/>
          <p:cNvSpPr/>
          <p:nvPr/>
        </p:nvSpPr>
        <p:spPr>
          <a:xfrm>
            <a:off x="9669155" y="3791110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5" name="Oval 224"/>
          <p:cNvSpPr/>
          <p:nvPr/>
        </p:nvSpPr>
        <p:spPr>
          <a:xfrm>
            <a:off x="9641272" y="3752200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6" name="Oval 225"/>
          <p:cNvSpPr/>
          <p:nvPr/>
        </p:nvSpPr>
        <p:spPr>
          <a:xfrm>
            <a:off x="9615994" y="371154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7" name="Oval 226"/>
          <p:cNvSpPr/>
          <p:nvPr/>
        </p:nvSpPr>
        <p:spPr>
          <a:xfrm>
            <a:off x="9593429" y="366933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8" name="Oval 227"/>
          <p:cNvSpPr/>
          <p:nvPr/>
        </p:nvSpPr>
        <p:spPr>
          <a:xfrm>
            <a:off x="9573673" y="3625730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9" name="Oval 228"/>
          <p:cNvSpPr/>
          <p:nvPr/>
        </p:nvSpPr>
        <p:spPr>
          <a:xfrm>
            <a:off x="9556811" y="3580928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0" name="Oval 229"/>
          <p:cNvSpPr/>
          <p:nvPr/>
        </p:nvSpPr>
        <p:spPr>
          <a:xfrm>
            <a:off x="9542915" y="3535120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1" name="Oval 230"/>
          <p:cNvSpPr/>
          <p:nvPr/>
        </p:nvSpPr>
        <p:spPr>
          <a:xfrm>
            <a:off x="9532045" y="348850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2" name="Oval 231"/>
          <p:cNvSpPr/>
          <p:nvPr/>
        </p:nvSpPr>
        <p:spPr>
          <a:xfrm>
            <a:off x="9524247" y="344127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3" name="Oval 232"/>
          <p:cNvSpPr/>
          <p:nvPr/>
        </p:nvSpPr>
        <p:spPr>
          <a:xfrm>
            <a:off x="9519555" y="339363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4" name="Oval 233"/>
          <p:cNvSpPr/>
          <p:nvPr/>
        </p:nvSpPr>
        <p:spPr>
          <a:xfrm>
            <a:off x="9517989" y="334578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5" name="Oval 234"/>
          <p:cNvSpPr/>
          <p:nvPr/>
        </p:nvSpPr>
        <p:spPr>
          <a:xfrm>
            <a:off x="9519555" y="329794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6" name="Oval 235"/>
          <p:cNvSpPr/>
          <p:nvPr/>
        </p:nvSpPr>
        <p:spPr>
          <a:xfrm>
            <a:off x="9524247" y="325030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7" name="Oval 236"/>
          <p:cNvSpPr/>
          <p:nvPr/>
        </p:nvSpPr>
        <p:spPr>
          <a:xfrm>
            <a:off x="9532045" y="320307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8" name="Oval 237"/>
          <p:cNvSpPr/>
          <p:nvPr/>
        </p:nvSpPr>
        <p:spPr>
          <a:xfrm>
            <a:off x="9542915" y="3156458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9" name="Oval 238"/>
          <p:cNvSpPr/>
          <p:nvPr/>
        </p:nvSpPr>
        <p:spPr>
          <a:xfrm>
            <a:off x="9556811" y="3110650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0" name="Oval 239"/>
          <p:cNvSpPr/>
          <p:nvPr/>
        </p:nvSpPr>
        <p:spPr>
          <a:xfrm>
            <a:off x="9573673" y="306584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1" name="Oval 240"/>
          <p:cNvSpPr/>
          <p:nvPr/>
        </p:nvSpPr>
        <p:spPr>
          <a:xfrm>
            <a:off x="9593429" y="302224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2" name="Oval 241"/>
          <p:cNvSpPr/>
          <p:nvPr/>
        </p:nvSpPr>
        <p:spPr>
          <a:xfrm>
            <a:off x="9615994" y="298002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3" name="Oval 242"/>
          <p:cNvSpPr/>
          <p:nvPr/>
        </p:nvSpPr>
        <p:spPr>
          <a:xfrm>
            <a:off x="9641272" y="2939378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4" name="Oval 243"/>
          <p:cNvSpPr/>
          <p:nvPr/>
        </p:nvSpPr>
        <p:spPr>
          <a:xfrm>
            <a:off x="9669155" y="2900468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5" name="Oval 244"/>
          <p:cNvSpPr/>
          <p:nvPr/>
        </p:nvSpPr>
        <p:spPr>
          <a:xfrm>
            <a:off x="9699523" y="286346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6" name="Oval 245"/>
          <p:cNvSpPr/>
          <p:nvPr/>
        </p:nvSpPr>
        <p:spPr>
          <a:xfrm>
            <a:off x="9732246" y="282852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7" name="Oval 246"/>
          <p:cNvSpPr/>
          <p:nvPr/>
        </p:nvSpPr>
        <p:spPr>
          <a:xfrm>
            <a:off x="9767184" y="279580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8" name="Oval 247"/>
          <p:cNvSpPr/>
          <p:nvPr/>
        </p:nvSpPr>
        <p:spPr>
          <a:xfrm>
            <a:off x="9804188" y="276543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9" name="Oval 248"/>
          <p:cNvSpPr/>
          <p:nvPr/>
        </p:nvSpPr>
        <p:spPr>
          <a:xfrm>
            <a:off x="9843098" y="273755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0" name="Oval 249"/>
          <p:cNvSpPr/>
          <p:nvPr/>
        </p:nvSpPr>
        <p:spPr>
          <a:xfrm>
            <a:off x="9883749" y="271227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1" name="Oval 250"/>
          <p:cNvSpPr/>
          <p:nvPr/>
        </p:nvSpPr>
        <p:spPr>
          <a:xfrm>
            <a:off x="9925966" y="268970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2" name="Oval 251"/>
          <p:cNvSpPr/>
          <p:nvPr/>
        </p:nvSpPr>
        <p:spPr>
          <a:xfrm>
            <a:off x="9969569" y="266995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3" name="Oval 252"/>
          <p:cNvSpPr/>
          <p:nvPr/>
        </p:nvSpPr>
        <p:spPr>
          <a:xfrm>
            <a:off x="10014370" y="2653091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4" name="Oval 253"/>
          <p:cNvSpPr/>
          <p:nvPr/>
        </p:nvSpPr>
        <p:spPr>
          <a:xfrm>
            <a:off x="10060178" y="263919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5" name="Oval 254"/>
          <p:cNvSpPr/>
          <p:nvPr/>
        </p:nvSpPr>
        <p:spPr>
          <a:xfrm>
            <a:off x="10106797" y="262832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6" name="Oval 255"/>
          <p:cNvSpPr/>
          <p:nvPr/>
        </p:nvSpPr>
        <p:spPr>
          <a:xfrm>
            <a:off x="10154027" y="262052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7" name="Oval 256"/>
          <p:cNvSpPr/>
          <p:nvPr/>
        </p:nvSpPr>
        <p:spPr>
          <a:xfrm>
            <a:off x="10201665" y="261583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8" name="Oval 257"/>
          <p:cNvSpPr/>
          <p:nvPr/>
        </p:nvSpPr>
        <p:spPr>
          <a:xfrm>
            <a:off x="10249509" y="261426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9" name="Oval 258"/>
          <p:cNvSpPr/>
          <p:nvPr/>
        </p:nvSpPr>
        <p:spPr>
          <a:xfrm>
            <a:off x="10297353" y="261583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0" name="Oval 259"/>
          <p:cNvSpPr/>
          <p:nvPr/>
        </p:nvSpPr>
        <p:spPr>
          <a:xfrm>
            <a:off x="10344992" y="262052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1" name="Oval 260"/>
          <p:cNvSpPr/>
          <p:nvPr/>
        </p:nvSpPr>
        <p:spPr>
          <a:xfrm>
            <a:off x="10392222" y="262832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2" name="Oval 261"/>
          <p:cNvSpPr/>
          <p:nvPr/>
        </p:nvSpPr>
        <p:spPr>
          <a:xfrm>
            <a:off x="10438840" y="263919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3" name="Oval 262"/>
          <p:cNvSpPr/>
          <p:nvPr/>
        </p:nvSpPr>
        <p:spPr>
          <a:xfrm>
            <a:off x="10484648" y="2653091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4" name="Oval 263"/>
          <p:cNvSpPr/>
          <p:nvPr/>
        </p:nvSpPr>
        <p:spPr>
          <a:xfrm>
            <a:off x="10529450" y="266995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5" name="Oval 264"/>
          <p:cNvSpPr/>
          <p:nvPr/>
        </p:nvSpPr>
        <p:spPr>
          <a:xfrm>
            <a:off x="10573052" y="268970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6" name="Oval 265"/>
          <p:cNvSpPr/>
          <p:nvPr/>
        </p:nvSpPr>
        <p:spPr>
          <a:xfrm>
            <a:off x="10615269" y="271227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7" name="Oval 266"/>
          <p:cNvSpPr/>
          <p:nvPr/>
        </p:nvSpPr>
        <p:spPr>
          <a:xfrm>
            <a:off x="10655920" y="273755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8" name="Oval 267"/>
          <p:cNvSpPr/>
          <p:nvPr/>
        </p:nvSpPr>
        <p:spPr>
          <a:xfrm>
            <a:off x="10694830" y="276543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9" name="Oval 268"/>
          <p:cNvSpPr/>
          <p:nvPr/>
        </p:nvSpPr>
        <p:spPr>
          <a:xfrm>
            <a:off x="10731834" y="279580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0" name="Oval 269"/>
          <p:cNvSpPr/>
          <p:nvPr/>
        </p:nvSpPr>
        <p:spPr>
          <a:xfrm>
            <a:off x="10766772" y="282852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1" name="Oval 270"/>
          <p:cNvSpPr/>
          <p:nvPr/>
        </p:nvSpPr>
        <p:spPr>
          <a:xfrm>
            <a:off x="10799495" y="286346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2" name="Oval 271"/>
          <p:cNvSpPr/>
          <p:nvPr/>
        </p:nvSpPr>
        <p:spPr>
          <a:xfrm>
            <a:off x="10829863" y="2900468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3" name="Oval 272"/>
          <p:cNvSpPr/>
          <p:nvPr/>
        </p:nvSpPr>
        <p:spPr>
          <a:xfrm>
            <a:off x="10857746" y="2939378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4" name="Oval 273"/>
          <p:cNvSpPr/>
          <p:nvPr/>
        </p:nvSpPr>
        <p:spPr>
          <a:xfrm>
            <a:off x="10883024" y="298002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5" name="Oval 274"/>
          <p:cNvSpPr/>
          <p:nvPr/>
        </p:nvSpPr>
        <p:spPr>
          <a:xfrm>
            <a:off x="10905589" y="302224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6" name="Oval 275"/>
          <p:cNvSpPr/>
          <p:nvPr/>
        </p:nvSpPr>
        <p:spPr>
          <a:xfrm>
            <a:off x="10925345" y="306584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7" name="Oval 276"/>
          <p:cNvSpPr/>
          <p:nvPr/>
        </p:nvSpPr>
        <p:spPr>
          <a:xfrm>
            <a:off x="10942207" y="3110650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8" name="Oval 277"/>
          <p:cNvSpPr/>
          <p:nvPr/>
        </p:nvSpPr>
        <p:spPr>
          <a:xfrm>
            <a:off x="10956103" y="3156458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9" name="Oval 278"/>
          <p:cNvSpPr/>
          <p:nvPr/>
        </p:nvSpPr>
        <p:spPr>
          <a:xfrm>
            <a:off x="10966973" y="320307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0" name="Oval 279"/>
          <p:cNvSpPr/>
          <p:nvPr/>
        </p:nvSpPr>
        <p:spPr>
          <a:xfrm>
            <a:off x="10974771" y="325030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1" name="Oval 280"/>
          <p:cNvSpPr/>
          <p:nvPr/>
        </p:nvSpPr>
        <p:spPr>
          <a:xfrm>
            <a:off x="10979463" y="329794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2" name="Oval 281"/>
          <p:cNvSpPr/>
          <p:nvPr/>
        </p:nvSpPr>
        <p:spPr>
          <a:xfrm>
            <a:off x="11310213" y="334578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3" name="Oval 282"/>
          <p:cNvSpPr/>
          <p:nvPr/>
        </p:nvSpPr>
        <p:spPr>
          <a:xfrm>
            <a:off x="11307942" y="341516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4" name="Oval 283"/>
          <p:cNvSpPr/>
          <p:nvPr/>
        </p:nvSpPr>
        <p:spPr>
          <a:xfrm>
            <a:off x="11301139" y="348423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5" name="Oval 284"/>
          <p:cNvSpPr/>
          <p:nvPr/>
        </p:nvSpPr>
        <p:spPr>
          <a:xfrm>
            <a:off x="11289832" y="355272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6" name="Oval 285"/>
          <p:cNvSpPr/>
          <p:nvPr/>
        </p:nvSpPr>
        <p:spPr>
          <a:xfrm>
            <a:off x="11274070" y="362031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7" name="Oval 286"/>
          <p:cNvSpPr/>
          <p:nvPr/>
        </p:nvSpPr>
        <p:spPr>
          <a:xfrm>
            <a:off x="11253922" y="3686741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8" name="Oval 287"/>
          <p:cNvSpPr/>
          <p:nvPr/>
        </p:nvSpPr>
        <p:spPr>
          <a:xfrm>
            <a:off x="11229472" y="375170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9" name="Oval 288"/>
          <p:cNvSpPr/>
          <p:nvPr/>
        </p:nvSpPr>
        <p:spPr>
          <a:xfrm>
            <a:off x="11200826" y="381492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0" name="Oval 289"/>
          <p:cNvSpPr/>
          <p:nvPr/>
        </p:nvSpPr>
        <p:spPr>
          <a:xfrm>
            <a:off x="11168106" y="3876141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1" name="Oval 290"/>
          <p:cNvSpPr/>
          <p:nvPr/>
        </p:nvSpPr>
        <p:spPr>
          <a:xfrm>
            <a:off x="11131452" y="393508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2" name="Oval 291"/>
          <p:cNvSpPr/>
          <p:nvPr/>
        </p:nvSpPr>
        <p:spPr>
          <a:xfrm>
            <a:off x="11091022" y="399150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3" name="Oval 292"/>
          <p:cNvSpPr/>
          <p:nvPr/>
        </p:nvSpPr>
        <p:spPr>
          <a:xfrm>
            <a:off x="11046989" y="4045160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4" name="Oval 293"/>
          <p:cNvSpPr/>
          <p:nvPr/>
        </p:nvSpPr>
        <p:spPr>
          <a:xfrm>
            <a:off x="10999540" y="4095820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5" name="Oval 294"/>
          <p:cNvSpPr/>
          <p:nvPr/>
        </p:nvSpPr>
        <p:spPr>
          <a:xfrm>
            <a:off x="10948880" y="414326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6" name="Oval 295"/>
          <p:cNvSpPr/>
          <p:nvPr/>
        </p:nvSpPr>
        <p:spPr>
          <a:xfrm>
            <a:off x="10895225" y="418730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7" name="Oval 296"/>
          <p:cNvSpPr/>
          <p:nvPr/>
        </p:nvSpPr>
        <p:spPr>
          <a:xfrm>
            <a:off x="10838805" y="422773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8" name="Oval 297"/>
          <p:cNvSpPr/>
          <p:nvPr/>
        </p:nvSpPr>
        <p:spPr>
          <a:xfrm>
            <a:off x="10779861" y="426438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9" name="Oval 298"/>
          <p:cNvSpPr/>
          <p:nvPr/>
        </p:nvSpPr>
        <p:spPr>
          <a:xfrm>
            <a:off x="10718646" y="429710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0" name="Oval 299"/>
          <p:cNvSpPr/>
          <p:nvPr/>
        </p:nvSpPr>
        <p:spPr>
          <a:xfrm>
            <a:off x="10655423" y="432575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1" name="Oval 300"/>
          <p:cNvSpPr/>
          <p:nvPr/>
        </p:nvSpPr>
        <p:spPr>
          <a:xfrm>
            <a:off x="10590461" y="435020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2" name="Oval 301"/>
          <p:cNvSpPr/>
          <p:nvPr/>
        </p:nvSpPr>
        <p:spPr>
          <a:xfrm>
            <a:off x="10524039" y="4370350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3" name="Oval 302"/>
          <p:cNvSpPr/>
          <p:nvPr/>
        </p:nvSpPr>
        <p:spPr>
          <a:xfrm>
            <a:off x="10456442" y="438611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4" name="Oval 303"/>
          <p:cNvSpPr/>
          <p:nvPr/>
        </p:nvSpPr>
        <p:spPr>
          <a:xfrm>
            <a:off x="10387959" y="439741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5" name="Oval 304"/>
          <p:cNvSpPr/>
          <p:nvPr/>
        </p:nvSpPr>
        <p:spPr>
          <a:xfrm>
            <a:off x="10318882" y="440422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6" name="Oval 305"/>
          <p:cNvSpPr/>
          <p:nvPr/>
        </p:nvSpPr>
        <p:spPr>
          <a:xfrm>
            <a:off x="10249509" y="440649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7" name="Oval 306"/>
          <p:cNvSpPr/>
          <p:nvPr/>
        </p:nvSpPr>
        <p:spPr>
          <a:xfrm>
            <a:off x="10180136" y="440422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8" name="Oval 307"/>
          <p:cNvSpPr/>
          <p:nvPr/>
        </p:nvSpPr>
        <p:spPr>
          <a:xfrm>
            <a:off x="10111059" y="439741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9" name="Oval 308"/>
          <p:cNvSpPr/>
          <p:nvPr/>
        </p:nvSpPr>
        <p:spPr>
          <a:xfrm>
            <a:off x="10042576" y="438611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0" name="Oval 309"/>
          <p:cNvSpPr/>
          <p:nvPr/>
        </p:nvSpPr>
        <p:spPr>
          <a:xfrm>
            <a:off x="9974979" y="4370350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1" name="Oval 310"/>
          <p:cNvSpPr/>
          <p:nvPr/>
        </p:nvSpPr>
        <p:spPr>
          <a:xfrm>
            <a:off x="9908557" y="435020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2" name="Oval 311"/>
          <p:cNvSpPr/>
          <p:nvPr/>
        </p:nvSpPr>
        <p:spPr>
          <a:xfrm>
            <a:off x="9843595" y="432575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3" name="Oval 312"/>
          <p:cNvSpPr/>
          <p:nvPr/>
        </p:nvSpPr>
        <p:spPr>
          <a:xfrm>
            <a:off x="9780372" y="429710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4" name="Oval 313"/>
          <p:cNvSpPr/>
          <p:nvPr/>
        </p:nvSpPr>
        <p:spPr>
          <a:xfrm>
            <a:off x="9719157" y="426438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5" name="Oval 314"/>
          <p:cNvSpPr/>
          <p:nvPr/>
        </p:nvSpPr>
        <p:spPr>
          <a:xfrm>
            <a:off x="9660214" y="422773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6" name="Oval 315"/>
          <p:cNvSpPr/>
          <p:nvPr/>
        </p:nvSpPr>
        <p:spPr>
          <a:xfrm>
            <a:off x="9603793" y="418730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7" name="Oval 316"/>
          <p:cNvSpPr/>
          <p:nvPr/>
        </p:nvSpPr>
        <p:spPr>
          <a:xfrm>
            <a:off x="9550138" y="414326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8" name="Oval 317"/>
          <p:cNvSpPr/>
          <p:nvPr/>
        </p:nvSpPr>
        <p:spPr>
          <a:xfrm>
            <a:off x="9499478" y="4095820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9" name="Oval 318"/>
          <p:cNvSpPr/>
          <p:nvPr/>
        </p:nvSpPr>
        <p:spPr>
          <a:xfrm>
            <a:off x="9452030" y="4045160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0" name="Oval 319"/>
          <p:cNvSpPr/>
          <p:nvPr/>
        </p:nvSpPr>
        <p:spPr>
          <a:xfrm>
            <a:off x="9407996" y="399150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1" name="Oval 320"/>
          <p:cNvSpPr/>
          <p:nvPr/>
        </p:nvSpPr>
        <p:spPr>
          <a:xfrm>
            <a:off x="9367566" y="393508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2" name="Oval 321"/>
          <p:cNvSpPr/>
          <p:nvPr/>
        </p:nvSpPr>
        <p:spPr>
          <a:xfrm>
            <a:off x="9330912" y="3876141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3" name="Oval 322"/>
          <p:cNvSpPr/>
          <p:nvPr/>
        </p:nvSpPr>
        <p:spPr>
          <a:xfrm>
            <a:off x="9298193" y="381492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4" name="Oval 323"/>
          <p:cNvSpPr/>
          <p:nvPr/>
        </p:nvSpPr>
        <p:spPr>
          <a:xfrm>
            <a:off x="9269546" y="375170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5" name="Oval 324"/>
          <p:cNvSpPr/>
          <p:nvPr/>
        </p:nvSpPr>
        <p:spPr>
          <a:xfrm>
            <a:off x="9245097" y="3686741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6" name="Oval 325"/>
          <p:cNvSpPr/>
          <p:nvPr/>
        </p:nvSpPr>
        <p:spPr>
          <a:xfrm>
            <a:off x="9224948" y="362031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7" name="Oval 326"/>
          <p:cNvSpPr/>
          <p:nvPr/>
        </p:nvSpPr>
        <p:spPr>
          <a:xfrm>
            <a:off x="9209186" y="355272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8" name="Oval 327"/>
          <p:cNvSpPr/>
          <p:nvPr/>
        </p:nvSpPr>
        <p:spPr>
          <a:xfrm>
            <a:off x="9197880" y="348423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9" name="Oval 328"/>
          <p:cNvSpPr/>
          <p:nvPr/>
        </p:nvSpPr>
        <p:spPr>
          <a:xfrm>
            <a:off x="9191076" y="341516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0" name="Oval 329"/>
          <p:cNvSpPr/>
          <p:nvPr/>
        </p:nvSpPr>
        <p:spPr>
          <a:xfrm>
            <a:off x="9188805" y="334578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1" name="Oval 330"/>
          <p:cNvSpPr/>
          <p:nvPr/>
        </p:nvSpPr>
        <p:spPr>
          <a:xfrm>
            <a:off x="9191076" y="327641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2" name="Oval 331"/>
          <p:cNvSpPr/>
          <p:nvPr/>
        </p:nvSpPr>
        <p:spPr>
          <a:xfrm>
            <a:off x="9197880" y="320733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3" name="Oval 332"/>
          <p:cNvSpPr/>
          <p:nvPr/>
        </p:nvSpPr>
        <p:spPr>
          <a:xfrm>
            <a:off x="9209186" y="313885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4" name="Oval 333"/>
          <p:cNvSpPr/>
          <p:nvPr/>
        </p:nvSpPr>
        <p:spPr>
          <a:xfrm>
            <a:off x="9224948" y="307125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5" name="Oval 334"/>
          <p:cNvSpPr/>
          <p:nvPr/>
        </p:nvSpPr>
        <p:spPr>
          <a:xfrm>
            <a:off x="9245097" y="300483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6" name="Oval 335"/>
          <p:cNvSpPr/>
          <p:nvPr/>
        </p:nvSpPr>
        <p:spPr>
          <a:xfrm>
            <a:off x="9269546" y="293987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7" name="Oval 336"/>
          <p:cNvSpPr/>
          <p:nvPr/>
        </p:nvSpPr>
        <p:spPr>
          <a:xfrm>
            <a:off x="9298193" y="287665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8" name="Oval 337"/>
          <p:cNvSpPr/>
          <p:nvPr/>
        </p:nvSpPr>
        <p:spPr>
          <a:xfrm>
            <a:off x="9330912" y="281543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9" name="Oval 338"/>
          <p:cNvSpPr/>
          <p:nvPr/>
        </p:nvSpPr>
        <p:spPr>
          <a:xfrm>
            <a:off x="9367566" y="275649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0" name="Oval 339"/>
          <p:cNvSpPr/>
          <p:nvPr/>
        </p:nvSpPr>
        <p:spPr>
          <a:xfrm>
            <a:off x="9407996" y="270007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1" name="Oval 340"/>
          <p:cNvSpPr/>
          <p:nvPr/>
        </p:nvSpPr>
        <p:spPr>
          <a:xfrm>
            <a:off x="9452030" y="2646418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2" name="Oval 341"/>
          <p:cNvSpPr/>
          <p:nvPr/>
        </p:nvSpPr>
        <p:spPr>
          <a:xfrm>
            <a:off x="9499478" y="2595758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3" name="Oval 342"/>
          <p:cNvSpPr/>
          <p:nvPr/>
        </p:nvSpPr>
        <p:spPr>
          <a:xfrm>
            <a:off x="9550138" y="2548310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4" name="Oval 343"/>
          <p:cNvSpPr/>
          <p:nvPr/>
        </p:nvSpPr>
        <p:spPr>
          <a:xfrm>
            <a:off x="9603793" y="250427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5" name="Oval 344"/>
          <p:cNvSpPr/>
          <p:nvPr/>
        </p:nvSpPr>
        <p:spPr>
          <a:xfrm>
            <a:off x="9660214" y="246384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6" name="Oval 345"/>
          <p:cNvSpPr/>
          <p:nvPr/>
        </p:nvSpPr>
        <p:spPr>
          <a:xfrm>
            <a:off x="9719157" y="242719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7" name="Oval 346"/>
          <p:cNvSpPr/>
          <p:nvPr/>
        </p:nvSpPr>
        <p:spPr>
          <a:xfrm>
            <a:off x="9780372" y="239447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8" name="Oval 347"/>
          <p:cNvSpPr/>
          <p:nvPr/>
        </p:nvSpPr>
        <p:spPr>
          <a:xfrm>
            <a:off x="9843595" y="236582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9" name="Oval 348"/>
          <p:cNvSpPr/>
          <p:nvPr/>
        </p:nvSpPr>
        <p:spPr>
          <a:xfrm>
            <a:off x="9908557" y="234137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0" name="Oval 349"/>
          <p:cNvSpPr/>
          <p:nvPr/>
        </p:nvSpPr>
        <p:spPr>
          <a:xfrm>
            <a:off x="9974979" y="2321228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1" name="Oval 350"/>
          <p:cNvSpPr/>
          <p:nvPr/>
        </p:nvSpPr>
        <p:spPr>
          <a:xfrm>
            <a:off x="10042576" y="230546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2" name="Oval 351"/>
          <p:cNvSpPr/>
          <p:nvPr/>
        </p:nvSpPr>
        <p:spPr>
          <a:xfrm>
            <a:off x="10111059" y="2294160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3" name="Oval 352"/>
          <p:cNvSpPr/>
          <p:nvPr/>
        </p:nvSpPr>
        <p:spPr>
          <a:xfrm>
            <a:off x="10180136" y="228735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4" name="Oval 353"/>
          <p:cNvSpPr/>
          <p:nvPr/>
        </p:nvSpPr>
        <p:spPr>
          <a:xfrm>
            <a:off x="10249509" y="228508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5" name="Oval 354"/>
          <p:cNvSpPr/>
          <p:nvPr/>
        </p:nvSpPr>
        <p:spPr>
          <a:xfrm>
            <a:off x="10318882" y="228735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6" name="Oval 355"/>
          <p:cNvSpPr/>
          <p:nvPr/>
        </p:nvSpPr>
        <p:spPr>
          <a:xfrm>
            <a:off x="10387959" y="2294160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7" name="Oval 356"/>
          <p:cNvSpPr/>
          <p:nvPr/>
        </p:nvSpPr>
        <p:spPr>
          <a:xfrm>
            <a:off x="10456442" y="230546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8" name="Oval 357"/>
          <p:cNvSpPr/>
          <p:nvPr/>
        </p:nvSpPr>
        <p:spPr>
          <a:xfrm>
            <a:off x="10524039" y="2321228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9" name="Oval 358"/>
          <p:cNvSpPr/>
          <p:nvPr/>
        </p:nvSpPr>
        <p:spPr>
          <a:xfrm>
            <a:off x="10590461" y="234137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0" name="Oval 359"/>
          <p:cNvSpPr/>
          <p:nvPr/>
        </p:nvSpPr>
        <p:spPr>
          <a:xfrm>
            <a:off x="10655423" y="236582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1" name="Oval 360"/>
          <p:cNvSpPr/>
          <p:nvPr/>
        </p:nvSpPr>
        <p:spPr>
          <a:xfrm>
            <a:off x="10718646" y="239447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2" name="Oval 361"/>
          <p:cNvSpPr/>
          <p:nvPr/>
        </p:nvSpPr>
        <p:spPr>
          <a:xfrm>
            <a:off x="10779861" y="242719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3" name="Oval 362"/>
          <p:cNvSpPr/>
          <p:nvPr/>
        </p:nvSpPr>
        <p:spPr>
          <a:xfrm>
            <a:off x="10838805" y="246384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4" name="Oval 363"/>
          <p:cNvSpPr/>
          <p:nvPr/>
        </p:nvSpPr>
        <p:spPr>
          <a:xfrm>
            <a:off x="10895225" y="250427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5" name="Oval 364"/>
          <p:cNvSpPr/>
          <p:nvPr/>
        </p:nvSpPr>
        <p:spPr>
          <a:xfrm>
            <a:off x="10948880" y="2548310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6" name="Oval 365"/>
          <p:cNvSpPr/>
          <p:nvPr/>
        </p:nvSpPr>
        <p:spPr>
          <a:xfrm>
            <a:off x="10999540" y="2595758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7" name="Oval 366"/>
          <p:cNvSpPr/>
          <p:nvPr/>
        </p:nvSpPr>
        <p:spPr>
          <a:xfrm>
            <a:off x="11046989" y="2646418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8" name="Oval 367"/>
          <p:cNvSpPr/>
          <p:nvPr/>
        </p:nvSpPr>
        <p:spPr>
          <a:xfrm>
            <a:off x="11091022" y="270007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9" name="Oval 368"/>
          <p:cNvSpPr/>
          <p:nvPr/>
        </p:nvSpPr>
        <p:spPr>
          <a:xfrm>
            <a:off x="11131452" y="275649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0" name="Oval 369"/>
          <p:cNvSpPr/>
          <p:nvPr/>
        </p:nvSpPr>
        <p:spPr>
          <a:xfrm>
            <a:off x="11168106" y="281543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1" name="Oval 370"/>
          <p:cNvSpPr/>
          <p:nvPr/>
        </p:nvSpPr>
        <p:spPr>
          <a:xfrm>
            <a:off x="11200826" y="287665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2" name="Oval 371"/>
          <p:cNvSpPr/>
          <p:nvPr/>
        </p:nvSpPr>
        <p:spPr>
          <a:xfrm>
            <a:off x="11229472" y="293987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3" name="Oval 372"/>
          <p:cNvSpPr/>
          <p:nvPr/>
        </p:nvSpPr>
        <p:spPr>
          <a:xfrm>
            <a:off x="11253922" y="300483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4" name="Oval 373"/>
          <p:cNvSpPr/>
          <p:nvPr/>
        </p:nvSpPr>
        <p:spPr>
          <a:xfrm>
            <a:off x="11274070" y="307125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5" name="Oval 374"/>
          <p:cNvSpPr/>
          <p:nvPr/>
        </p:nvSpPr>
        <p:spPr>
          <a:xfrm>
            <a:off x="11289832" y="313885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6" name="Oval 375"/>
          <p:cNvSpPr/>
          <p:nvPr/>
        </p:nvSpPr>
        <p:spPr>
          <a:xfrm>
            <a:off x="11301139" y="320733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7" name="Oval 376"/>
          <p:cNvSpPr/>
          <p:nvPr/>
        </p:nvSpPr>
        <p:spPr>
          <a:xfrm>
            <a:off x="11307942" y="327641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8" name="Oval 377"/>
          <p:cNvSpPr/>
          <p:nvPr/>
        </p:nvSpPr>
        <p:spPr>
          <a:xfrm>
            <a:off x="10211562" y="2905506"/>
            <a:ext cx="96012" cy="9601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9" name="Oval 378"/>
          <p:cNvSpPr/>
          <p:nvPr/>
        </p:nvSpPr>
        <p:spPr>
          <a:xfrm>
            <a:off x="10412730" y="2959408"/>
            <a:ext cx="96012" cy="9601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0" name="Oval 379"/>
          <p:cNvSpPr/>
          <p:nvPr/>
        </p:nvSpPr>
        <p:spPr>
          <a:xfrm>
            <a:off x="10559995" y="3106673"/>
            <a:ext cx="96012" cy="9601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1" name="Oval 380"/>
          <p:cNvSpPr/>
          <p:nvPr/>
        </p:nvSpPr>
        <p:spPr>
          <a:xfrm>
            <a:off x="10613898" y="3307841"/>
            <a:ext cx="96012" cy="9601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2" name="Oval 381"/>
          <p:cNvSpPr/>
          <p:nvPr/>
        </p:nvSpPr>
        <p:spPr>
          <a:xfrm>
            <a:off x="10559995" y="3509009"/>
            <a:ext cx="96012" cy="9601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3" name="Oval 382"/>
          <p:cNvSpPr/>
          <p:nvPr/>
        </p:nvSpPr>
        <p:spPr>
          <a:xfrm>
            <a:off x="10412730" y="3656275"/>
            <a:ext cx="96012" cy="9601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4" name="Oval 383"/>
          <p:cNvSpPr/>
          <p:nvPr/>
        </p:nvSpPr>
        <p:spPr>
          <a:xfrm>
            <a:off x="10211562" y="3710178"/>
            <a:ext cx="96012" cy="9601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5" name="Oval 384"/>
          <p:cNvSpPr/>
          <p:nvPr/>
        </p:nvSpPr>
        <p:spPr>
          <a:xfrm>
            <a:off x="10010394" y="3656275"/>
            <a:ext cx="96012" cy="9601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6" name="Oval 385"/>
          <p:cNvSpPr/>
          <p:nvPr/>
        </p:nvSpPr>
        <p:spPr>
          <a:xfrm>
            <a:off x="9863128" y="3509010"/>
            <a:ext cx="96012" cy="9601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7" name="Oval 386"/>
          <p:cNvSpPr/>
          <p:nvPr/>
        </p:nvSpPr>
        <p:spPr>
          <a:xfrm>
            <a:off x="9809226" y="3307841"/>
            <a:ext cx="96012" cy="9601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8" name="Oval 387"/>
          <p:cNvSpPr/>
          <p:nvPr/>
        </p:nvSpPr>
        <p:spPr>
          <a:xfrm>
            <a:off x="9863128" y="3106673"/>
            <a:ext cx="96012" cy="9601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9" name="Oval 388"/>
          <p:cNvSpPr/>
          <p:nvPr/>
        </p:nvSpPr>
        <p:spPr>
          <a:xfrm>
            <a:off x="10010394" y="2959408"/>
            <a:ext cx="96012" cy="9601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0" name="Oval 389"/>
          <p:cNvSpPr/>
          <p:nvPr/>
        </p:nvSpPr>
        <p:spPr>
          <a:xfrm>
            <a:off x="10211562" y="2576322"/>
            <a:ext cx="96012" cy="9601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1" name="Oval 390"/>
          <p:cNvSpPr/>
          <p:nvPr/>
        </p:nvSpPr>
        <p:spPr>
          <a:xfrm>
            <a:off x="10577322" y="2674327"/>
            <a:ext cx="96012" cy="9601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2" name="Oval 391"/>
          <p:cNvSpPr/>
          <p:nvPr/>
        </p:nvSpPr>
        <p:spPr>
          <a:xfrm>
            <a:off x="10845076" y="2942082"/>
            <a:ext cx="96012" cy="9601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3" name="Oval 392"/>
          <p:cNvSpPr/>
          <p:nvPr/>
        </p:nvSpPr>
        <p:spPr>
          <a:xfrm>
            <a:off x="10943082" y="3307841"/>
            <a:ext cx="96012" cy="9601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4" name="Oval 393"/>
          <p:cNvSpPr/>
          <p:nvPr/>
        </p:nvSpPr>
        <p:spPr>
          <a:xfrm>
            <a:off x="10845076" y="3673602"/>
            <a:ext cx="96012" cy="9601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5" name="Oval 394"/>
          <p:cNvSpPr/>
          <p:nvPr/>
        </p:nvSpPr>
        <p:spPr>
          <a:xfrm>
            <a:off x="10577322" y="3941356"/>
            <a:ext cx="96012" cy="9601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6" name="Oval 395"/>
          <p:cNvSpPr/>
          <p:nvPr/>
        </p:nvSpPr>
        <p:spPr>
          <a:xfrm>
            <a:off x="10211562" y="4039361"/>
            <a:ext cx="96012" cy="9601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7" name="Oval 396"/>
          <p:cNvSpPr/>
          <p:nvPr/>
        </p:nvSpPr>
        <p:spPr>
          <a:xfrm>
            <a:off x="9845802" y="3941356"/>
            <a:ext cx="96012" cy="9601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8" name="Oval 397"/>
          <p:cNvSpPr/>
          <p:nvPr/>
        </p:nvSpPr>
        <p:spPr>
          <a:xfrm>
            <a:off x="9578047" y="3673602"/>
            <a:ext cx="96012" cy="9601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9" name="Oval 398"/>
          <p:cNvSpPr/>
          <p:nvPr/>
        </p:nvSpPr>
        <p:spPr>
          <a:xfrm>
            <a:off x="9480042" y="3307841"/>
            <a:ext cx="96012" cy="9601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0" name="Oval 399"/>
          <p:cNvSpPr/>
          <p:nvPr/>
        </p:nvSpPr>
        <p:spPr>
          <a:xfrm>
            <a:off x="9578047" y="2942081"/>
            <a:ext cx="96012" cy="9601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1" name="Oval 400"/>
          <p:cNvSpPr/>
          <p:nvPr/>
        </p:nvSpPr>
        <p:spPr>
          <a:xfrm>
            <a:off x="9845802" y="2674327"/>
            <a:ext cx="96012" cy="9601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2" name="Oval 401"/>
          <p:cNvSpPr/>
          <p:nvPr/>
        </p:nvSpPr>
        <p:spPr>
          <a:xfrm>
            <a:off x="10211562" y="2247137"/>
            <a:ext cx="96012" cy="9601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3" name="Oval 402"/>
          <p:cNvSpPr/>
          <p:nvPr/>
        </p:nvSpPr>
        <p:spPr>
          <a:xfrm>
            <a:off x="10741914" y="2389245"/>
            <a:ext cx="96012" cy="9601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4" name="Oval 403"/>
          <p:cNvSpPr/>
          <p:nvPr/>
        </p:nvSpPr>
        <p:spPr>
          <a:xfrm>
            <a:off x="11130158" y="2777489"/>
            <a:ext cx="96012" cy="9601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5" name="Oval 404"/>
          <p:cNvSpPr/>
          <p:nvPr/>
        </p:nvSpPr>
        <p:spPr>
          <a:xfrm>
            <a:off x="11272266" y="3307841"/>
            <a:ext cx="96012" cy="9601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6" name="Oval 405"/>
          <p:cNvSpPr/>
          <p:nvPr/>
        </p:nvSpPr>
        <p:spPr>
          <a:xfrm>
            <a:off x="11130158" y="3838194"/>
            <a:ext cx="96012" cy="9601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7" name="Oval 406"/>
          <p:cNvSpPr/>
          <p:nvPr/>
        </p:nvSpPr>
        <p:spPr>
          <a:xfrm>
            <a:off x="10741914" y="4226438"/>
            <a:ext cx="96012" cy="9601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8" name="Oval 407"/>
          <p:cNvSpPr/>
          <p:nvPr/>
        </p:nvSpPr>
        <p:spPr>
          <a:xfrm>
            <a:off x="10211562" y="4368546"/>
            <a:ext cx="96012" cy="9601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9" name="Oval 408"/>
          <p:cNvSpPr/>
          <p:nvPr/>
        </p:nvSpPr>
        <p:spPr>
          <a:xfrm>
            <a:off x="9681210" y="4226438"/>
            <a:ext cx="96012" cy="9601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0" name="Oval 409"/>
          <p:cNvSpPr/>
          <p:nvPr/>
        </p:nvSpPr>
        <p:spPr>
          <a:xfrm>
            <a:off x="9292965" y="3838194"/>
            <a:ext cx="96012" cy="9601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1" name="Oval 410"/>
          <p:cNvSpPr/>
          <p:nvPr/>
        </p:nvSpPr>
        <p:spPr>
          <a:xfrm>
            <a:off x="9150858" y="3307841"/>
            <a:ext cx="96012" cy="9601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2" name="Oval 411"/>
          <p:cNvSpPr/>
          <p:nvPr/>
        </p:nvSpPr>
        <p:spPr>
          <a:xfrm>
            <a:off x="9292965" y="2777489"/>
            <a:ext cx="96012" cy="9601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3" name="Oval 412"/>
          <p:cNvSpPr/>
          <p:nvPr/>
        </p:nvSpPr>
        <p:spPr>
          <a:xfrm>
            <a:off x="9681210" y="2389245"/>
            <a:ext cx="96012" cy="9601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4" name="Oval 413"/>
          <p:cNvSpPr/>
          <p:nvPr/>
        </p:nvSpPr>
        <p:spPr>
          <a:xfrm>
            <a:off x="10186416" y="3282696"/>
            <a:ext cx="146304" cy="146304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5" name="Rectangle 414"/>
          <p:cNvSpPr/>
          <p:nvPr/>
        </p:nvSpPr>
        <p:spPr>
          <a:xfrm>
            <a:off x="662940" y="5326380"/>
            <a:ext cx="10972800" cy="65836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6" name="Rectangle 415"/>
          <p:cNvSpPr/>
          <p:nvPr/>
        </p:nvSpPr>
        <p:spPr>
          <a:xfrm>
            <a:off x="594360" y="5257800"/>
            <a:ext cx="10972800" cy="658368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7" name="TextBox 416"/>
          <p:cNvSpPr txBox="1"/>
          <p:nvPr/>
        </p:nvSpPr>
        <p:spPr>
          <a:xfrm>
            <a:off x="914400" y="5257800"/>
            <a:ext cx="103327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00000"/>
                </a:solidFill>
                <a:latin typeface="Arial"/>
              </a:rPr>
              <a:t>Every one of these is the same operation — move, repeated, with the amount driven by a counter. Only the rule for the counter changes.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DF7"/>
                </a:solidFill>
                <a:latin typeface="Arial"/>
              </a:rPr>
              <a:t>HEXAGONAL IS A GRID WITH AN ODD/EVEN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B4B4AC"/>
                </a:solidFill>
                <a:latin typeface="Calibri"/>
              </a:rPr>
              <a:t>Stagger alternate rows by half the spacing. Keep the row spacing consistent.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943100"/>
            <a:ext cx="5669280" cy="30632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874519"/>
            <a:ext cx="5669280" cy="30632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5669280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7" b="1">
                <a:solidFill>
                  <a:srgbClr val="000000"/>
                </a:solidFill>
                <a:latin typeface="Arial"/>
              </a:rPr>
              <a:t>THE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50292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000000"/>
                </a:solidFill>
                <a:latin typeface="Courier New"/>
              </a:rPr>
              <a:t>offset = (j mod 2 == 0) ? 0 : dx / 2</a:t>
            </a:r>
          </a:p>
          <a:p>
            <a:pPr algn="l">
              <a:lnSpc>
                <a:spcPct val="130000"/>
              </a:lnSpc>
            </a:pPr>
            <a:r>
              <a:rPr sz="800">
                <a:solidFill>
                  <a:srgbClr val="000000"/>
                </a:solidFill>
                <a:latin typeface="Courier New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Modulo asks: is this row odd or even? Compare turns that into True or False, and Switch picks the offset. The same two nodes as last week.</a:t>
            </a:r>
          </a:p>
          <a:p>
            <a:pPr algn="l">
              <a:lnSpc>
                <a:spcPct val="130000"/>
              </a:lnSpc>
            </a:pPr>
            <a:r>
              <a:rPr sz="600">
                <a:solidFill>
                  <a:srgbClr val="000000"/>
                </a:solidFill>
                <a:latin typeface="Calibri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Row spacing is not dx. If you use the same number for both, you get a squashed grid, not a hex field.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6540" y="1943100"/>
            <a:ext cx="5029200" cy="30632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537960" y="1874519"/>
            <a:ext cx="5029200" cy="30632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537960" y="1874519"/>
            <a:ext cx="502920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766560" y="1874519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7" b="1">
                <a:solidFill>
                  <a:srgbClr val="000000"/>
                </a:solidFill>
                <a:latin typeface="Arial"/>
              </a:rPr>
              <a:t>WHAT IT LOOKS LIKE</a:t>
            </a:r>
          </a:p>
        </p:txBody>
      </p:sp>
      <p:sp>
        <p:nvSpPr>
          <p:cNvPr id="14" name="Oval 13"/>
          <p:cNvSpPr/>
          <p:nvPr/>
        </p:nvSpPr>
        <p:spPr>
          <a:xfrm>
            <a:off x="7027164" y="2638044"/>
            <a:ext cx="118872" cy="11887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356348" y="2638044"/>
            <a:ext cx="118872" cy="11887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7685532" y="2638044"/>
            <a:ext cx="118872" cy="11887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014716" y="2638044"/>
            <a:ext cx="118872" cy="11887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8343900" y="2638044"/>
            <a:ext cx="118872" cy="11887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8673084" y="2638044"/>
            <a:ext cx="118872" cy="11887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002268" y="2638044"/>
            <a:ext cx="118872" cy="11887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7191755" y="2967228"/>
            <a:ext cx="118872" cy="11887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7520940" y="2967228"/>
            <a:ext cx="118872" cy="11887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7850124" y="2967228"/>
            <a:ext cx="118872" cy="11887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8179308" y="2967228"/>
            <a:ext cx="118872" cy="11887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508492" y="2967228"/>
            <a:ext cx="118872" cy="11887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8837676" y="2967228"/>
            <a:ext cx="118872" cy="11887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027164" y="3296412"/>
            <a:ext cx="118872" cy="11887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7356348" y="3296412"/>
            <a:ext cx="118872" cy="11887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7685532" y="3296412"/>
            <a:ext cx="118872" cy="11887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8014716" y="3296412"/>
            <a:ext cx="118872" cy="11887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8343900" y="3296412"/>
            <a:ext cx="118872" cy="11887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8673084" y="3296412"/>
            <a:ext cx="118872" cy="11887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9002268" y="3296412"/>
            <a:ext cx="118872" cy="11887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7191755" y="3625596"/>
            <a:ext cx="118872" cy="11887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7520940" y="3625596"/>
            <a:ext cx="118872" cy="11887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7850124" y="3625596"/>
            <a:ext cx="118872" cy="11887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8179308" y="3625596"/>
            <a:ext cx="118872" cy="11887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8508492" y="3625596"/>
            <a:ext cx="118872" cy="11887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8837676" y="3625596"/>
            <a:ext cx="118872" cy="11887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7027164" y="3954780"/>
            <a:ext cx="118872" cy="11887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7356348" y="3954780"/>
            <a:ext cx="118872" cy="11887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7685532" y="3954780"/>
            <a:ext cx="118872" cy="11887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8014716" y="3954780"/>
            <a:ext cx="118872" cy="11887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8343900" y="3954780"/>
            <a:ext cx="118872" cy="11887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8673084" y="3954780"/>
            <a:ext cx="118872" cy="11887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9002268" y="3954780"/>
            <a:ext cx="118872" cy="11887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7191755" y="4283964"/>
            <a:ext cx="118872" cy="11887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Oval 47"/>
          <p:cNvSpPr/>
          <p:nvPr/>
        </p:nvSpPr>
        <p:spPr>
          <a:xfrm>
            <a:off x="7520940" y="4283964"/>
            <a:ext cx="118872" cy="11887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7850124" y="4283964"/>
            <a:ext cx="118872" cy="11887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8179308" y="4283964"/>
            <a:ext cx="118872" cy="11887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8508492" y="4283964"/>
            <a:ext cx="118872" cy="11887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Oval 51"/>
          <p:cNvSpPr/>
          <p:nvPr/>
        </p:nvSpPr>
        <p:spPr>
          <a:xfrm>
            <a:off x="8837676" y="4283964"/>
            <a:ext cx="118872" cy="11887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662940" y="5326380"/>
            <a:ext cx="10972800" cy="6400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594360" y="5257800"/>
            <a:ext cx="10972800" cy="64008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777240" y="52578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A BRICK BOND IS A HEXAGONAL ARRAY. SO IS A HONEYCOMB. SO IS HALF THE PAVING YOU WALK 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RADIAL IS POLAR ARITHMETIC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Radius, count, angular step. The index drives the angle.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5486400" cy="32004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5486400" cy="32004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5486400" cy="50292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7" b="1">
                <a:solidFill>
                  <a:srgbClr val="000000"/>
                </a:solidFill>
                <a:latin typeface="Arial"/>
              </a:rPr>
              <a:t>THE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48463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000000"/>
                </a:solidFill>
                <a:latin typeface="Courier New"/>
              </a:rPr>
              <a:t>step  = 360 / count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000000"/>
                </a:solidFill>
                <a:latin typeface="Courier New"/>
              </a:rPr>
              <a:t>θ[i]  = i × step</a:t>
            </a:r>
          </a:p>
          <a:p>
            <a:pPr algn="l">
              <a:lnSpc>
                <a:spcPct val="130000"/>
              </a:lnSpc>
            </a:pPr>
            <a:r>
              <a:rPr sz="1250" b="1">
                <a:solidFill>
                  <a:srgbClr val="000000"/>
                </a:solidFill>
                <a:latin typeface="Courier New"/>
              </a:rPr>
              <a:t>p[i]  = c + r · (cos θ, sin θ)</a:t>
            </a:r>
          </a:p>
          <a:p>
            <a:pPr algn="l">
              <a:lnSpc>
                <a:spcPct val="130000"/>
              </a:lnSpc>
            </a:pPr>
            <a:r>
              <a:rPr sz="800">
                <a:solidFill>
                  <a:srgbClr val="000000"/>
                </a:solidFill>
                <a:latin typeface="Courier New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The same rotation arithmetic from Week 2 — the one place where x and y have to talk to each other — now generating positions instead of moving a solid.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69380" y="1851660"/>
            <a:ext cx="5166360" cy="32004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400800" y="1783080"/>
            <a:ext cx="5166360" cy="32004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400800" y="1783080"/>
            <a:ext cx="5166360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29400" y="1783080"/>
            <a:ext cx="4709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Arial"/>
              </a:rPr>
              <a:t>TWO KNOBS</a:t>
            </a:r>
          </a:p>
        </p:txBody>
      </p:sp>
      <p:sp>
        <p:nvSpPr>
          <p:cNvPr id="14" name="Oval 13"/>
          <p:cNvSpPr/>
          <p:nvPr/>
        </p:nvSpPr>
        <p:spPr>
          <a:xfrm>
            <a:off x="9380829" y="3053181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9380007" y="307829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377544" y="310330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373450" y="312810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9367743" y="3152580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9360448" y="317662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351595" y="3200150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9341223" y="3223041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9329376" y="324520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9316105" y="326654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301467" y="328697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9285524" y="330640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9268344" y="332474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9250002" y="334192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9230575" y="335786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9210147" y="337250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9188805" y="338577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9166641" y="339762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9143750" y="340799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9120229" y="3416848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9096180" y="342414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9071705" y="3429850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9046909" y="343394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9021899" y="343640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8996781" y="343722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8971663" y="343640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8946653" y="343394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8921857" y="3429850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8897382" y="342414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8873333" y="3416848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8849812" y="340799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8826921" y="339762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8804757" y="338577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8783415" y="337250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Oval 47"/>
          <p:cNvSpPr/>
          <p:nvPr/>
        </p:nvSpPr>
        <p:spPr>
          <a:xfrm>
            <a:off x="8762987" y="335786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8743561" y="334192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8725218" y="332474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8708039" y="330640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Oval 51"/>
          <p:cNvSpPr/>
          <p:nvPr/>
        </p:nvSpPr>
        <p:spPr>
          <a:xfrm>
            <a:off x="8692095" y="328697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8677457" y="326654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Oval 53"/>
          <p:cNvSpPr/>
          <p:nvPr/>
        </p:nvSpPr>
        <p:spPr>
          <a:xfrm>
            <a:off x="8664186" y="324520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8652339" y="3223041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Oval 55"/>
          <p:cNvSpPr/>
          <p:nvPr/>
        </p:nvSpPr>
        <p:spPr>
          <a:xfrm>
            <a:off x="8641967" y="3200150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8633114" y="317662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Oval 57"/>
          <p:cNvSpPr/>
          <p:nvPr/>
        </p:nvSpPr>
        <p:spPr>
          <a:xfrm>
            <a:off x="8625819" y="3152580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Oval 58"/>
          <p:cNvSpPr/>
          <p:nvPr/>
        </p:nvSpPr>
        <p:spPr>
          <a:xfrm>
            <a:off x="8620112" y="312810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Oval 59"/>
          <p:cNvSpPr/>
          <p:nvPr/>
        </p:nvSpPr>
        <p:spPr>
          <a:xfrm>
            <a:off x="8616019" y="310330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Oval 60"/>
          <p:cNvSpPr/>
          <p:nvPr/>
        </p:nvSpPr>
        <p:spPr>
          <a:xfrm>
            <a:off x="8613555" y="307829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Oval 61"/>
          <p:cNvSpPr/>
          <p:nvPr/>
        </p:nvSpPr>
        <p:spPr>
          <a:xfrm>
            <a:off x="8612733" y="3053181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Oval 62"/>
          <p:cNvSpPr/>
          <p:nvPr/>
        </p:nvSpPr>
        <p:spPr>
          <a:xfrm>
            <a:off x="8613555" y="302806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Oval 63"/>
          <p:cNvSpPr/>
          <p:nvPr/>
        </p:nvSpPr>
        <p:spPr>
          <a:xfrm>
            <a:off x="8616019" y="300305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Oval 64"/>
          <p:cNvSpPr/>
          <p:nvPr/>
        </p:nvSpPr>
        <p:spPr>
          <a:xfrm>
            <a:off x="8620112" y="297825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Oval 65"/>
          <p:cNvSpPr/>
          <p:nvPr/>
        </p:nvSpPr>
        <p:spPr>
          <a:xfrm>
            <a:off x="8625819" y="295378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Oval 66"/>
          <p:cNvSpPr/>
          <p:nvPr/>
        </p:nvSpPr>
        <p:spPr>
          <a:xfrm>
            <a:off x="8633114" y="292973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Oval 67"/>
          <p:cNvSpPr/>
          <p:nvPr/>
        </p:nvSpPr>
        <p:spPr>
          <a:xfrm>
            <a:off x="8641967" y="290621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Oval 68"/>
          <p:cNvSpPr/>
          <p:nvPr/>
        </p:nvSpPr>
        <p:spPr>
          <a:xfrm>
            <a:off x="8652339" y="2883321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Oval 69"/>
          <p:cNvSpPr/>
          <p:nvPr/>
        </p:nvSpPr>
        <p:spPr>
          <a:xfrm>
            <a:off x="8664186" y="286115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Oval 70"/>
          <p:cNvSpPr/>
          <p:nvPr/>
        </p:nvSpPr>
        <p:spPr>
          <a:xfrm>
            <a:off x="8677457" y="283981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8692095" y="281938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Oval 72"/>
          <p:cNvSpPr/>
          <p:nvPr/>
        </p:nvSpPr>
        <p:spPr>
          <a:xfrm>
            <a:off x="8708039" y="2799961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Oval 73"/>
          <p:cNvSpPr/>
          <p:nvPr/>
        </p:nvSpPr>
        <p:spPr>
          <a:xfrm>
            <a:off x="8725218" y="2781618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Oval 74"/>
          <p:cNvSpPr/>
          <p:nvPr/>
        </p:nvSpPr>
        <p:spPr>
          <a:xfrm>
            <a:off x="8743561" y="276443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Oval 75"/>
          <p:cNvSpPr/>
          <p:nvPr/>
        </p:nvSpPr>
        <p:spPr>
          <a:xfrm>
            <a:off x="8762987" y="274849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8783415" y="273385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Oval 77"/>
          <p:cNvSpPr/>
          <p:nvPr/>
        </p:nvSpPr>
        <p:spPr>
          <a:xfrm>
            <a:off x="8804757" y="272058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Oval 78"/>
          <p:cNvSpPr/>
          <p:nvPr/>
        </p:nvSpPr>
        <p:spPr>
          <a:xfrm>
            <a:off x="8826921" y="270873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Oval 79"/>
          <p:cNvSpPr/>
          <p:nvPr/>
        </p:nvSpPr>
        <p:spPr>
          <a:xfrm>
            <a:off x="8849812" y="269836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Oval 80"/>
          <p:cNvSpPr/>
          <p:nvPr/>
        </p:nvSpPr>
        <p:spPr>
          <a:xfrm>
            <a:off x="8873333" y="268951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8897382" y="268221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Oval 82"/>
          <p:cNvSpPr/>
          <p:nvPr/>
        </p:nvSpPr>
        <p:spPr>
          <a:xfrm>
            <a:off x="8921857" y="267651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Oval 83"/>
          <p:cNvSpPr/>
          <p:nvPr/>
        </p:nvSpPr>
        <p:spPr>
          <a:xfrm>
            <a:off x="8946653" y="267241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Oval 84"/>
          <p:cNvSpPr/>
          <p:nvPr/>
        </p:nvSpPr>
        <p:spPr>
          <a:xfrm>
            <a:off x="8971663" y="266995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Oval 85"/>
          <p:cNvSpPr/>
          <p:nvPr/>
        </p:nvSpPr>
        <p:spPr>
          <a:xfrm>
            <a:off x="8996781" y="266913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Oval 86"/>
          <p:cNvSpPr/>
          <p:nvPr/>
        </p:nvSpPr>
        <p:spPr>
          <a:xfrm>
            <a:off x="9021899" y="266995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Oval 87"/>
          <p:cNvSpPr/>
          <p:nvPr/>
        </p:nvSpPr>
        <p:spPr>
          <a:xfrm>
            <a:off x="9046909" y="267241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Oval 88"/>
          <p:cNvSpPr/>
          <p:nvPr/>
        </p:nvSpPr>
        <p:spPr>
          <a:xfrm>
            <a:off x="9071705" y="267651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Oval 89"/>
          <p:cNvSpPr/>
          <p:nvPr/>
        </p:nvSpPr>
        <p:spPr>
          <a:xfrm>
            <a:off x="9096180" y="268221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Oval 90"/>
          <p:cNvSpPr/>
          <p:nvPr/>
        </p:nvSpPr>
        <p:spPr>
          <a:xfrm>
            <a:off x="9120229" y="268951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Oval 91"/>
          <p:cNvSpPr/>
          <p:nvPr/>
        </p:nvSpPr>
        <p:spPr>
          <a:xfrm>
            <a:off x="9143750" y="269836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Oval 92"/>
          <p:cNvSpPr/>
          <p:nvPr/>
        </p:nvSpPr>
        <p:spPr>
          <a:xfrm>
            <a:off x="9166641" y="270873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Oval 93"/>
          <p:cNvSpPr/>
          <p:nvPr/>
        </p:nvSpPr>
        <p:spPr>
          <a:xfrm>
            <a:off x="9188805" y="272058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Oval 94"/>
          <p:cNvSpPr/>
          <p:nvPr/>
        </p:nvSpPr>
        <p:spPr>
          <a:xfrm>
            <a:off x="9210147" y="273385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Oval 95"/>
          <p:cNvSpPr/>
          <p:nvPr/>
        </p:nvSpPr>
        <p:spPr>
          <a:xfrm>
            <a:off x="9230575" y="274849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Oval 96"/>
          <p:cNvSpPr/>
          <p:nvPr/>
        </p:nvSpPr>
        <p:spPr>
          <a:xfrm>
            <a:off x="9250002" y="276443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Oval 97"/>
          <p:cNvSpPr/>
          <p:nvPr/>
        </p:nvSpPr>
        <p:spPr>
          <a:xfrm>
            <a:off x="9268344" y="2781618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Oval 98"/>
          <p:cNvSpPr/>
          <p:nvPr/>
        </p:nvSpPr>
        <p:spPr>
          <a:xfrm>
            <a:off x="9285524" y="2799961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Oval 99"/>
          <p:cNvSpPr/>
          <p:nvPr/>
        </p:nvSpPr>
        <p:spPr>
          <a:xfrm>
            <a:off x="9301467" y="281938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Oval 100"/>
          <p:cNvSpPr/>
          <p:nvPr/>
        </p:nvSpPr>
        <p:spPr>
          <a:xfrm>
            <a:off x="9316105" y="283981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Oval 101"/>
          <p:cNvSpPr/>
          <p:nvPr/>
        </p:nvSpPr>
        <p:spPr>
          <a:xfrm>
            <a:off x="9329376" y="286115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Oval 102"/>
          <p:cNvSpPr/>
          <p:nvPr/>
        </p:nvSpPr>
        <p:spPr>
          <a:xfrm>
            <a:off x="9341223" y="2883321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Oval 103"/>
          <p:cNvSpPr/>
          <p:nvPr/>
        </p:nvSpPr>
        <p:spPr>
          <a:xfrm>
            <a:off x="9351595" y="290621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Oval 104"/>
          <p:cNvSpPr/>
          <p:nvPr/>
        </p:nvSpPr>
        <p:spPr>
          <a:xfrm>
            <a:off x="9360448" y="292973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Oval 105"/>
          <p:cNvSpPr/>
          <p:nvPr/>
        </p:nvSpPr>
        <p:spPr>
          <a:xfrm>
            <a:off x="9367743" y="295378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Oval 106"/>
          <p:cNvSpPr/>
          <p:nvPr/>
        </p:nvSpPr>
        <p:spPr>
          <a:xfrm>
            <a:off x="9373450" y="297825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Oval 107"/>
          <p:cNvSpPr/>
          <p:nvPr/>
        </p:nvSpPr>
        <p:spPr>
          <a:xfrm>
            <a:off x="9377544" y="300305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Oval 108"/>
          <p:cNvSpPr/>
          <p:nvPr/>
        </p:nvSpPr>
        <p:spPr>
          <a:xfrm>
            <a:off x="9380007" y="302806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Oval 109"/>
          <p:cNvSpPr/>
          <p:nvPr/>
        </p:nvSpPr>
        <p:spPr>
          <a:xfrm>
            <a:off x="9710013" y="3053181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Oval 110"/>
          <p:cNvSpPr/>
          <p:nvPr/>
        </p:nvSpPr>
        <p:spPr>
          <a:xfrm>
            <a:off x="9708486" y="309982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Oval 111"/>
          <p:cNvSpPr/>
          <p:nvPr/>
        </p:nvSpPr>
        <p:spPr>
          <a:xfrm>
            <a:off x="9703911" y="314627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Oval 112"/>
          <p:cNvSpPr/>
          <p:nvPr/>
        </p:nvSpPr>
        <p:spPr>
          <a:xfrm>
            <a:off x="9696309" y="319232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Oval 113"/>
          <p:cNvSpPr/>
          <p:nvPr/>
        </p:nvSpPr>
        <p:spPr>
          <a:xfrm>
            <a:off x="9685710" y="323777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Oval 114"/>
          <p:cNvSpPr/>
          <p:nvPr/>
        </p:nvSpPr>
        <p:spPr>
          <a:xfrm>
            <a:off x="9672162" y="328244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Oval 115"/>
          <p:cNvSpPr/>
          <p:nvPr/>
        </p:nvSpPr>
        <p:spPr>
          <a:xfrm>
            <a:off x="9655722" y="332612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Oval 116"/>
          <p:cNvSpPr/>
          <p:nvPr/>
        </p:nvSpPr>
        <p:spPr>
          <a:xfrm>
            <a:off x="9636459" y="336863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Oval 117"/>
          <p:cNvSpPr/>
          <p:nvPr/>
        </p:nvSpPr>
        <p:spPr>
          <a:xfrm>
            <a:off x="9614458" y="340979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Oval 118"/>
          <p:cNvSpPr/>
          <p:nvPr/>
        </p:nvSpPr>
        <p:spPr>
          <a:xfrm>
            <a:off x="9589812" y="344943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Oval 119"/>
          <p:cNvSpPr/>
          <p:nvPr/>
        </p:nvSpPr>
        <p:spPr>
          <a:xfrm>
            <a:off x="9562626" y="348736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Oval 120"/>
          <p:cNvSpPr/>
          <p:nvPr/>
        </p:nvSpPr>
        <p:spPr>
          <a:xfrm>
            <a:off x="9533017" y="3523448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Oval 121"/>
          <p:cNvSpPr/>
          <p:nvPr/>
        </p:nvSpPr>
        <p:spPr>
          <a:xfrm>
            <a:off x="9501112" y="355751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Oval 122"/>
          <p:cNvSpPr/>
          <p:nvPr/>
        </p:nvSpPr>
        <p:spPr>
          <a:xfrm>
            <a:off x="9467048" y="358941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Oval 123"/>
          <p:cNvSpPr/>
          <p:nvPr/>
        </p:nvSpPr>
        <p:spPr>
          <a:xfrm>
            <a:off x="9430969" y="361902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Oval 124"/>
          <p:cNvSpPr/>
          <p:nvPr/>
        </p:nvSpPr>
        <p:spPr>
          <a:xfrm>
            <a:off x="9393032" y="364621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Oval 125"/>
          <p:cNvSpPr/>
          <p:nvPr/>
        </p:nvSpPr>
        <p:spPr>
          <a:xfrm>
            <a:off x="9353397" y="3670858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Oval 126"/>
          <p:cNvSpPr/>
          <p:nvPr/>
        </p:nvSpPr>
        <p:spPr>
          <a:xfrm>
            <a:off x="9312236" y="369285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Oval 127"/>
          <p:cNvSpPr/>
          <p:nvPr/>
        </p:nvSpPr>
        <p:spPr>
          <a:xfrm>
            <a:off x="9269723" y="371212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Oval 128"/>
          <p:cNvSpPr/>
          <p:nvPr/>
        </p:nvSpPr>
        <p:spPr>
          <a:xfrm>
            <a:off x="9226042" y="372856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Oval 129"/>
          <p:cNvSpPr/>
          <p:nvPr/>
        </p:nvSpPr>
        <p:spPr>
          <a:xfrm>
            <a:off x="9181379" y="3742110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Oval 130"/>
          <p:cNvSpPr/>
          <p:nvPr/>
        </p:nvSpPr>
        <p:spPr>
          <a:xfrm>
            <a:off x="9135926" y="375270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Oval 131"/>
          <p:cNvSpPr/>
          <p:nvPr/>
        </p:nvSpPr>
        <p:spPr>
          <a:xfrm>
            <a:off x="9089877" y="3760311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Oval 132"/>
          <p:cNvSpPr/>
          <p:nvPr/>
        </p:nvSpPr>
        <p:spPr>
          <a:xfrm>
            <a:off x="9043429" y="376488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Oval 133"/>
          <p:cNvSpPr/>
          <p:nvPr/>
        </p:nvSpPr>
        <p:spPr>
          <a:xfrm>
            <a:off x="8996781" y="376641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Oval 134"/>
          <p:cNvSpPr/>
          <p:nvPr/>
        </p:nvSpPr>
        <p:spPr>
          <a:xfrm>
            <a:off x="8950133" y="376488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Oval 135"/>
          <p:cNvSpPr/>
          <p:nvPr/>
        </p:nvSpPr>
        <p:spPr>
          <a:xfrm>
            <a:off x="8903686" y="3760311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Oval 136"/>
          <p:cNvSpPr/>
          <p:nvPr/>
        </p:nvSpPr>
        <p:spPr>
          <a:xfrm>
            <a:off x="8857636" y="375270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Oval 137"/>
          <p:cNvSpPr/>
          <p:nvPr/>
        </p:nvSpPr>
        <p:spPr>
          <a:xfrm>
            <a:off x="8812183" y="3742110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Oval 138"/>
          <p:cNvSpPr/>
          <p:nvPr/>
        </p:nvSpPr>
        <p:spPr>
          <a:xfrm>
            <a:off x="8767520" y="372856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Oval 139"/>
          <p:cNvSpPr/>
          <p:nvPr/>
        </p:nvSpPr>
        <p:spPr>
          <a:xfrm>
            <a:off x="8723839" y="371212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Oval 140"/>
          <p:cNvSpPr/>
          <p:nvPr/>
        </p:nvSpPr>
        <p:spPr>
          <a:xfrm>
            <a:off x="8681327" y="369285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Oval 141"/>
          <p:cNvSpPr/>
          <p:nvPr/>
        </p:nvSpPr>
        <p:spPr>
          <a:xfrm>
            <a:off x="8640165" y="3670858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Oval 142"/>
          <p:cNvSpPr/>
          <p:nvPr/>
        </p:nvSpPr>
        <p:spPr>
          <a:xfrm>
            <a:off x="8600531" y="364621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Oval 143"/>
          <p:cNvSpPr/>
          <p:nvPr/>
        </p:nvSpPr>
        <p:spPr>
          <a:xfrm>
            <a:off x="8562593" y="361902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Oval 144"/>
          <p:cNvSpPr/>
          <p:nvPr/>
        </p:nvSpPr>
        <p:spPr>
          <a:xfrm>
            <a:off x="8526515" y="358941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Oval 145"/>
          <p:cNvSpPr/>
          <p:nvPr/>
        </p:nvSpPr>
        <p:spPr>
          <a:xfrm>
            <a:off x="8492450" y="355751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Oval 146"/>
          <p:cNvSpPr/>
          <p:nvPr/>
        </p:nvSpPr>
        <p:spPr>
          <a:xfrm>
            <a:off x="8460545" y="3523448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Oval 147"/>
          <p:cNvSpPr/>
          <p:nvPr/>
        </p:nvSpPr>
        <p:spPr>
          <a:xfrm>
            <a:off x="8430936" y="348736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Oval 148"/>
          <p:cNvSpPr/>
          <p:nvPr/>
        </p:nvSpPr>
        <p:spPr>
          <a:xfrm>
            <a:off x="8403750" y="344943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Oval 149"/>
          <p:cNvSpPr/>
          <p:nvPr/>
        </p:nvSpPr>
        <p:spPr>
          <a:xfrm>
            <a:off x="8379104" y="340979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Oval 150"/>
          <p:cNvSpPr/>
          <p:nvPr/>
        </p:nvSpPr>
        <p:spPr>
          <a:xfrm>
            <a:off x="8357103" y="336863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Oval 151"/>
          <p:cNvSpPr/>
          <p:nvPr/>
        </p:nvSpPr>
        <p:spPr>
          <a:xfrm>
            <a:off x="8337841" y="332612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Oval 152"/>
          <p:cNvSpPr/>
          <p:nvPr/>
        </p:nvSpPr>
        <p:spPr>
          <a:xfrm>
            <a:off x="8321400" y="328244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Oval 153"/>
          <p:cNvSpPr/>
          <p:nvPr/>
        </p:nvSpPr>
        <p:spPr>
          <a:xfrm>
            <a:off x="8307852" y="323777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Oval 154"/>
          <p:cNvSpPr/>
          <p:nvPr/>
        </p:nvSpPr>
        <p:spPr>
          <a:xfrm>
            <a:off x="8297254" y="319232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Oval 155"/>
          <p:cNvSpPr/>
          <p:nvPr/>
        </p:nvSpPr>
        <p:spPr>
          <a:xfrm>
            <a:off x="8289651" y="314627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Oval 156"/>
          <p:cNvSpPr/>
          <p:nvPr/>
        </p:nvSpPr>
        <p:spPr>
          <a:xfrm>
            <a:off x="8285076" y="309982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8" name="Oval 157"/>
          <p:cNvSpPr/>
          <p:nvPr/>
        </p:nvSpPr>
        <p:spPr>
          <a:xfrm>
            <a:off x="8283549" y="3053181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9" name="Oval 158"/>
          <p:cNvSpPr/>
          <p:nvPr/>
        </p:nvSpPr>
        <p:spPr>
          <a:xfrm>
            <a:off x="8285076" y="300653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0" name="Oval 159"/>
          <p:cNvSpPr/>
          <p:nvPr/>
        </p:nvSpPr>
        <p:spPr>
          <a:xfrm>
            <a:off x="8289651" y="296008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Oval 160"/>
          <p:cNvSpPr/>
          <p:nvPr/>
        </p:nvSpPr>
        <p:spPr>
          <a:xfrm>
            <a:off x="8297254" y="291403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2" name="Oval 161"/>
          <p:cNvSpPr/>
          <p:nvPr/>
        </p:nvSpPr>
        <p:spPr>
          <a:xfrm>
            <a:off x="8307852" y="286858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3" name="Oval 162"/>
          <p:cNvSpPr/>
          <p:nvPr/>
        </p:nvSpPr>
        <p:spPr>
          <a:xfrm>
            <a:off x="8321400" y="2823920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4" name="Oval 163"/>
          <p:cNvSpPr/>
          <p:nvPr/>
        </p:nvSpPr>
        <p:spPr>
          <a:xfrm>
            <a:off x="8337841" y="278023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5" name="Oval 164"/>
          <p:cNvSpPr/>
          <p:nvPr/>
        </p:nvSpPr>
        <p:spPr>
          <a:xfrm>
            <a:off x="8357103" y="273772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6" name="Oval 165"/>
          <p:cNvSpPr/>
          <p:nvPr/>
        </p:nvSpPr>
        <p:spPr>
          <a:xfrm>
            <a:off x="8379104" y="269656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7" name="Oval 166"/>
          <p:cNvSpPr/>
          <p:nvPr/>
        </p:nvSpPr>
        <p:spPr>
          <a:xfrm>
            <a:off x="8403750" y="2656931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8" name="Oval 167"/>
          <p:cNvSpPr/>
          <p:nvPr/>
        </p:nvSpPr>
        <p:spPr>
          <a:xfrm>
            <a:off x="8430936" y="261899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9" name="Oval 168"/>
          <p:cNvSpPr/>
          <p:nvPr/>
        </p:nvSpPr>
        <p:spPr>
          <a:xfrm>
            <a:off x="8460545" y="258291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Oval 169"/>
          <p:cNvSpPr/>
          <p:nvPr/>
        </p:nvSpPr>
        <p:spPr>
          <a:xfrm>
            <a:off x="8492450" y="2548850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1" name="Oval 170"/>
          <p:cNvSpPr/>
          <p:nvPr/>
        </p:nvSpPr>
        <p:spPr>
          <a:xfrm>
            <a:off x="8526515" y="251694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2" name="Oval 171"/>
          <p:cNvSpPr/>
          <p:nvPr/>
        </p:nvSpPr>
        <p:spPr>
          <a:xfrm>
            <a:off x="8562593" y="248733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3" name="Oval 172"/>
          <p:cNvSpPr/>
          <p:nvPr/>
        </p:nvSpPr>
        <p:spPr>
          <a:xfrm>
            <a:off x="8600531" y="2460150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" name="Oval 173"/>
          <p:cNvSpPr/>
          <p:nvPr/>
        </p:nvSpPr>
        <p:spPr>
          <a:xfrm>
            <a:off x="8640165" y="243550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" name="Oval 174"/>
          <p:cNvSpPr/>
          <p:nvPr/>
        </p:nvSpPr>
        <p:spPr>
          <a:xfrm>
            <a:off x="8681327" y="241350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6" name="Oval 175"/>
          <p:cNvSpPr/>
          <p:nvPr/>
        </p:nvSpPr>
        <p:spPr>
          <a:xfrm>
            <a:off x="8723839" y="2394241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7" name="Oval 176"/>
          <p:cNvSpPr/>
          <p:nvPr/>
        </p:nvSpPr>
        <p:spPr>
          <a:xfrm>
            <a:off x="8767520" y="2377800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8" name="Oval 177"/>
          <p:cNvSpPr/>
          <p:nvPr/>
        </p:nvSpPr>
        <p:spPr>
          <a:xfrm>
            <a:off x="8812183" y="236425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9" name="Oval 178"/>
          <p:cNvSpPr/>
          <p:nvPr/>
        </p:nvSpPr>
        <p:spPr>
          <a:xfrm>
            <a:off x="8857636" y="235365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0" name="Oval 179"/>
          <p:cNvSpPr/>
          <p:nvPr/>
        </p:nvSpPr>
        <p:spPr>
          <a:xfrm>
            <a:off x="8903686" y="2346051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1" name="Oval 180"/>
          <p:cNvSpPr/>
          <p:nvPr/>
        </p:nvSpPr>
        <p:spPr>
          <a:xfrm>
            <a:off x="8950133" y="234147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2" name="Oval 181"/>
          <p:cNvSpPr/>
          <p:nvPr/>
        </p:nvSpPr>
        <p:spPr>
          <a:xfrm>
            <a:off x="8996781" y="233994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3" name="Oval 182"/>
          <p:cNvSpPr/>
          <p:nvPr/>
        </p:nvSpPr>
        <p:spPr>
          <a:xfrm>
            <a:off x="9043429" y="234147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4" name="Oval 183"/>
          <p:cNvSpPr/>
          <p:nvPr/>
        </p:nvSpPr>
        <p:spPr>
          <a:xfrm>
            <a:off x="9089877" y="2346051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5" name="Oval 184"/>
          <p:cNvSpPr/>
          <p:nvPr/>
        </p:nvSpPr>
        <p:spPr>
          <a:xfrm>
            <a:off x="9135926" y="235365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6" name="Oval 185"/>
          <p:cNvSpPr/>
          <p:nvPr/>
        </p:nvSpPr>
        <p:spPr>
          <a:xfrm>
            <a:off x="9181379" y="236425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7" name="Oval 186"/>
          <p:cNvSpPr/>
          <p:nvPr/>
        </p:nvSpPr>
        <p:spPr>
          <a:xfrm>
            <a:off x="9226042" y="2377800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8" name="Oval 187"/>
          <p:cNvSpPr/>
          <p:nvPr/>
        </p:nvSpPr>
        <p:spPr>
          <a:xfrm>
            <a:off x="9269723" y="2394241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9" name="Oval 188"/>
          <p:cNvSpPr/>
          <p:nvPr/>
        </p:nvSpPr>
        <p:spPr>
          <a:xfrm>
            <a:off x="9312236" y="241350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0" name="Oval 189"/>
          <p:cNvSpPr/>
          <p:nvPr/>
        </p:nvSpPr>
        <p:spPr>
          <a:xfrm>
            <a:off x="9353397" y="243550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1" name="Oval 190"/>
          <p:cNvSpPr/>
          <p:nvPr/>
        </p:nvSpPr>
        <p:spPr>
          <a:xfrm>
            <a:off x="9393032" y="2460150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2" name="Oval 191"/>
          <p:cNvSpPr/>
          <p:nvPr/>
        </p:nvSpPr>
        <p:spPr>
          <a:xfrm>
            <a:off x="9430969" y="248733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3" name="Oval 192"/>
          <p:cNvSpPr/>
          <p:nvPr/>
        </p:nvSpPr>
        <p:spPr>
          <a:xfrm>
            <a:off x="9467048" y="251694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4" name="Oval 193"/>
          <p:cNvSpPr/>
          <p:nvPr/>
        </p:nvSpPr>
        <p:spPr>
          <a:xfrm>
            <a:off x="9501112" y="2548850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5" name="Oval 194"/>
          <p:cNvSpPr/>
          <p:nvPr/>
        </p:nvSpPr>
        <p:spPr>
          <a:xfrm>
            <a:off x="9533017" y="258291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6" name="Oval 195"/>
          <p:cNvSpPr/>
          <p:nvPr/>
        </p:nvSpPr>
        <p:spPr>
          <a:xfrm>
            <a:off x="9562626" y="261899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7" name="Oval 196"/>
          <p:cNvSpPr/>
          <p:nvPr/>
        </p:nvSpPr>
        <p:spPr>
          <a:xfrm>
            <a:off x="9589812" y="2656931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8" name="Oval 197"/>
          <p:cNvSpPr/>
          <p:nvPr/>
        </p:nvSpPr>
        <p:spPr>
          <a:xfrm>
            <a:off x="9614458" y="269656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9" name="Oval 198"/>
          <p:cNvSpPr/>
          <p:nvPr/>
        </p:nvSpPr>
        <p:spPr>
          <a:xfrm>
            <a:off x="9636459" y="273772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0" name="Oval 199"/>
          <p:cNvSpPr/>
          <p:nvPr/>
        </p:nvSpPr>
        <p:spPr>
          <a:xfrm>
            <a:off x="9655722" y="278023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1" name="Oval 200"/>
          <p:cNvSpPr/>
          <p:nvPr/>
        </p:nvSpPr>
        <p:spPr>
          <a:xfrm>
            <a:off x="9672162" y="2823920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2" name="Oval 201"/>
          <p:cNvSpPr/>
          <p:nvPr/>
        </p:nvSpPr>
        <p:spPr>
          <a:xfrm>
            <a:off x="9685710" y="286858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3" name="Oval 202"/>
          <p:cNvSpPr/>
          <p:nvPr/>
        </p:nvSpPr>
        <p:spPr>
          <a:xfrm>
            <a:off x="9696309" y="291403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4" name="Oval 203"/>
          <p:cNvSpPr/>
          <p:nvPr/>
        </p:nvSpPr>
        <p:spPr>
          <a:xfrm>
            <a:off x="9703911" y="296008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5" name="Oval 204"/>
          <p:cNvSpPr/>
          <p:nvPr/>
        </p:nvSpPr>
        <p:spPr>
          <a:xfrm>
            <a:off x="9708486" y="300653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6" name="Oval 205"/>
          <p:cNvSpPr/>
          <p:nvPr/>
        </p:nvSpPr>
        <p:spPr>
          <a:xfrm>
            <a:off x="10039197" y="3053181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7" name="Oval 206"/>
          <p:cNvSpPr/>
          <p:nvPr/>
        </p:nvSpPr>
        <p:spPr>
          <a:xfrm>
            <a:off x="10036965" y="3121358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8" name="Oval 207"/>
          <p:cNvSpPr/>
          <p:nvPr/>
        </p:nvSpPr>
        <p:spPr>
          <a:xfrm>
            <a:off x="10030279" y="318924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9" name="Oval 208"/>
          <p:cNvSpPr/>
          <p:nvPr/>
        </p:nvSpPr>
        <p:spPr>
          <a:xfrm>
            <a:off x="10019167" y="325654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0" name="Oval 209"/>
          <p:cNvSpPr/>
          <p:nvPr/>
        </p:nvSpPr>
        <p:spPr>
          <a:xfrm>
            <a:off x="10003678" y="3322978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1" name="Oval 210"/>
          <p:cNvSpPr/>
          <p:nvPr/>
        </p:nvSpPr>
        <p:spPr>
          <a:xfrm>
            <a:off x="9983876" y="338825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2" name="Oval 211"/>
          <p:cNvSpPr/>
          <p:nvPr/>
        </p:nvSpPr>
        <p:spPr>
          <a:xfrm>
            <a:off x="9959848" y="345209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3" name="Oval 212"/>
          <p:cNvSpPr/>
          <p:nvPr/>
        </p:nvSpPr>
        <p:spPr>
          <a:xfrm>
            <a:off x="9931696" y="3514230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4" name="Oval 213"/>
          <p:cNvSpPr/>
          <p:nvPr/>
        </p:nvSpPr>
        <p:spPr>
          <a:xfrm>
            <a:off x="9899540" y="357438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5" name="Oval 214"/>
          <p:cNvSpPr/>
          <p:nvPr/>
        </p:nvSpPr>
        <p:spPr>
          <a:xfrm>
            <a:off x="9863518" y="363231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6" name="Oval 215"/>
          <p:cNvSpPr/>
          <p:nvPr/>
        </p:nvSpPr>
        <p:spPr>
          <a:xfrm>
            <a:off x="9823785" y="368776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7" name="Oval 216"/>
          <p:cNvSpPr/>
          <p:nvPr/>
        </p:nvSpPr>
        <p:spPr>
          <a:xfrm>
            <a:off x="9780511" y="374049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8" name="Oval 217"/>
          <p:cNvSpPr/>
          <p:nvPr/>
        </p:nvSpPr>
        <p:spPr>
          <a:xfrm>
            <a:off x="9733881" y="3790281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9" name="Oval 218"/>
          <p:cNvSpPr/>
          <p:nvPr/>
        </p:nvSpPr>
        <p:spPr>
          <a:xfrm>
            <a:off x="9684094" y="3836911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0" name="Oval 219"/>
          <p:cNvSpPr/>
          <p:nvPr/>
        </p:nvSpPr>
        <p:spPr>
          <a:xfrm>
            <a:off x="9631364" y="388018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1" name="Oval 220"/>
          <p:cNvSpPr/>
          <p:nvPr/>
        </p:nvSpPr>
        <p:spPr>
          <a:xfrm>
            <a:off x="9575916" y="3919918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2" name="Oval 221"/>
          <p:cNvSpPr/>
          <p:nvPr/>
        </p:nvSpPr>
        <p:spPr>
          <a:xfrm>
            <a:off x="9517989" y="3955940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3" name="Oval 222"/>
          <p:cNvSpPr/>
          <p:nvPr/>
        </p:nvSpPr>
        <p:spPr>
          <a:xfrm>
            <a:off x="9457830" y="398809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" name="Oval 223"/>
          <p:cNvSpPr/>
          <p:nvPr/>
        </p:nvSpPr>
        <p:spPr>
          <a:xfrm>
            <a:off x="9395696" y="4016248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5" name="Oval 224"/>
          <p:cNvSpPr/>
          <p:nvPr/>
        </p:nvSpPr>
        <p:spPr>
          <a:xfrm>
            <a:off x="9331855" y="404027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6" name="Oval 225"/>
          <p:cNvSpPr/>
          <p:nvPr/>
        </p:nvSpPr>
        <p:spPr>
          <a:xfrm>
            <a:off x="9266578" y="4060078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7" name="Oval 226"/>
          <p:cNvSpPr/>
          <p:nvPr/>
        </p:nvSpPr>
        <p:spPr>
          <a:xfrm>
            <a:off x="9200146" y="407556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8" name="Oval 227"/>
          <p:cNvSpPr/>
          <p:nvPr/>
        </p:nvSpPr>
        <p:spPr>
          <a:xfrm>
            <a:off x="9132844" y="408667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9" name="Oval 228"/>
          <p:cNvSpPr/>
          <p:nvPr/>
        </p:nvSpPr>
        <p:spPr>
          <a:xfrm>
            <a:off x="9064958" y="409336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0" name="Oval 229"/>
          <p:cNvSpPr/>
          <p:nvPr/>
        </p:nvSpPr>
        <p:spPr>
          <a:xfrm>
            <a:off x="8996781" y="409559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1" name="Oval 230"/>
          <p:cNvSpPr/>
          <p:nvPr/>
        </p:nvSpPr>
        <p:spPr>
          <a:xfrm>
            <a:off x="8928604" y="409336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2" name="Oval 231"/>
          <p:cNvSpPr/>
          <p:nvPr/>
        </p:nvSpPr>
        <p:spPr>
          <a:xfrm>
            <a:off x="8860719" y="408667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3" name="Oval 232"/>
          <p:cNvSpPr/>
          <p:nvPr/>
        </p:nvSpPr>
        <p:spPr>
          <a:xfrm>
            <a:off x="8793416" y="407556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4" name="Oval 233"/>
          <p:cNvSpPr/>
          <p:nvPr/>
        </p:nvSpPr>
        <p:spPr>
          <a:xfrm>
            <a:off x="8726984" y="4060078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5" name="Oval 234"/>
          <p:cNvSpPr/>
          <p:nvPr/>
        </p:nvSpPr>
        <p:spPr>
          <a:xfrm>
            <a:off x="8661707" y="404027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6" name="Oval 235"/>
          <p:cNvSpPr/>
          <p:nvPr/>
        </p:nvSpPr>
        <p:spPr>
          <a:xfrm>
            <a:off x="8597866" y="4016248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7" name="Oval 236"/>
          <p:cNvSpPr/>
          <p:nvPr/>
        </p:nvSpPr>
        <p:spPr>
          <a:xfrm>
            <a:off x="8535732" y="398809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8" name="Oval 237"/>
          <p:cNvSpPr/>
          <p:nvPr/>
        </p:nvSpPr>
        <p:spPr>
          <a:xfrm>
            <a:off x="8475573" y="3955940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9" name="Oval 238"/>
          <p:cNvSpPr/>
          <p:nvPr/>
        </p:nvSpPr>
        <p:spPr>
          <a:xfrm>
            <a:off x="8417646" y="3919918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0" name="Oval 239"/>
          <p:cNvSpPr/>
          <p:nvPr/>
        </p:nvSpPr>
        <p:spPr>
          <a:xfrm>
            <a:off x="8362198" y="388018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1" name="Oval 240"/>
          <p:cNvSpPr/>
          <p:nvPr/>
        </p:nvSpPr>
        <p:spPr>
          <a:xfrm>
            <a:off x="8309468" y="3836911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2" name="Oval 241"/>
          <p:cNvSpPr/>
          <p:nvPr/>
        </p:nvSpPr>
        <p:spPr>
          <a:xfrm>
            <a:off x="8259682" y="3790281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3" name="Oval 242"/>
          <p:cNvSpPr/>
          <p:nvPr/>
        </p:nvSpPr>
        <p:spPr>
          <a:xfrm>
            <a:off x="8213051" y="374049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4" name="Oval 243"/>
          <p:cNvSpPr/>
          <p:nvPr/>
        </p:nvSpPr>
        <p:spPr>
          <a:xfrm>
            <a:off x="8169777" y="368776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5" name="Oval 244"/>
          <p:cNvSpPr/>
          <p:nvPr/>
        </p:nvSpPr>
        <p:spPr>
          <a:xfrm>
            <a:off x="8130044" y="363231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6" name="Oval 245"/>
          <p:cNvSpPr/>
          <p:nvPr/>
        </p:nvSpPr>
        <p:spPr>
          <a:xfrm>
            <a:off x="8094022" y="357438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7" name="Oval 246"/>
          <p:cNvSpPr/>
          <p:nvPr/>
        </p:nvSpPr>
        <p:spPr>
          <a:xfrm>
            <a:off x="8061867" y="3514230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8" name="Oval 247"/>
          <p:cNvSpPr/>
          <p:nvPr/>
        </p:nvSpPr>
        <p:spPr>
          <a:xfrm>
            <a:off x="8033714" y="345209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9" name="Oval 248"/>
          <p:cNvSpPr/>
          <p:nvPr/>
        </p:nvSpPr>
        <p:spPr>
          <a:xfrm>
            <a:off x="8009686" y="338825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0" name="Oval 249"/>
          <p:cNvSpPr/>
          <p:nvPr/>
        </p:nvSpPr>
        <p:spPr>
          <a:xfrm>
            <a:off x="7989885" y="3322978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1" name="Oval 250"/>
          <p:cNvSpPr/>
          <p:nvPr/>
        </p:nvSpPr>
        <p:spPr>
          <a:xfrm>
            <a:off x="7974395" y="325654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2" name="Oval 251"/>
          <p:cNvSpPr/>
          <p:nvPr/>
        </p:nvSpPr>
        <p:spPr>
          <a:xfrm>
            <a:off x="7963283" y="318924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3" name="Oval 252"/>
          <p:cNvSpPr/>
          <p:nvPr/>
        </p:nvSpPr>
        <p:spPr>
          <a:xfrm>
            <a:off x="7956597" y="3121358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4" name="Oval 253"/>
          <p:cNvSpPr/>
          <p:nvPr/>
        </p:nvSpPr>
        <p:spPr>
          <a:xfrm>
            <a:off x="7954365" y="3053181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5" name="Oval 254"/>
          <p:cNvSpPr/>
          <p:nvPr/>
        </p:nvSpPr>
        <p:spPr>
          <a:xfrm>
            <a:off x="7956597" y="298500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6" name="Oval 255"/>
          <p:cNvSpPr/>
          <p:nvPr/>
        </p:nvSpPr>
        <p:spPr>
          <a:xfrm>
            <a:off x="7963283" y="291711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7" name="Oval 256"/>
          <p:cNvSpPr/>
          <p:nvPr/>
        </p:nvSpPr>
        <p:spPr>
          <a:xfrm>
            <a:off x="7974395" y="284981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8" name="Oval 257"/>
          <p:cNvSpPr/>
          <p:nvPr/>
        </p:nvSpPr>
        <p:spPr>
          <a:xfrm>
            <a:off x="7989885" y="278338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9" name="Oval 258"/>
          <p:cNvSpPr/>
          <p:nvPr/>
        </p:nvSpPr>
        <p:spPr>
          <a:xfrm>
            <a:off x="8009686" y="271810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0" name="Oval 259"/>
          <p:cNvSpPr/>
          <p:nvPr/>
        </p:nvSpPr>
        <p:spPr>
          <a:xfrm>
            <a:off x="8033714" y="265426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1" name="Oval 260"/>
          <p:cNvSpPr/>
          <p:nvPr/>
        </p:nvSpPr>
        <p:spPr>
          <a:xfrm>
            <a:off x="8061867" y="259213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2" name="Oval 261"/>
          <p:cNvSpPr/>
          <p:nvPr/>
        </p:nvSpPr>
        <p:spPr>
          <a:xfrm>
            <a:off x="8094022" y="253197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3" name="Oval 262"/>
          <p:cNvSpPr/>
          <p:nvPr/>
        </p:nvSpPr>
        <p:spPr>
          <a:xfrm>
            <a:off x="8130044" y="247404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4" name="Oval 263"/>
          <p:cNvSpPr/>
          <p:nvPr/>
        </p:nvSpPr>
        <p:spPr>
          <a:xfrm>
            <a:off x="8169777" y="2418598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5" name="Oval 264"/>
          <p:cNvSpPr/>
          <p:nvPr/>
        </p:nvSpPr>
        <p:spPr>
          <a:xfrm>
            <a:off x="8213051" y="2365868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6" name="Oval 265"/>
          <p:cNvSpPr/>
          <p:nvPr/>
        </p:nvSpPr>
        <p:spPr>
          <a:xfrm>
            <a:off x="8259682" y="231608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7" name="Oval 266"/>
          <p:cNvSpPr/>
          <p:nvPr/>
        </p:nvSpPr>
        <p:spPr>
          <a:xfrm>
            <a:off x="8309468" y="2269451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8" name="Oval 267"/>
          <p:cNvSpPr/>
          <p:nvPr/>
        </p:nvSpPr>
        <p:spPr>
          <a:xfrm>
            <a:off x="8362198" y="222617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9" name="Oval 268"/>
          <p:cNvSpPr/>
          <p:nvPr/>
        </p:nvSpPr>
        <p:spPr>
          <a:xfrm>
            <a:off x="8417646" y="218644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0" name="Oval 269"/>
          <p:cNvSpPr/>
          <p:nvPr/>
        </p:nvSpPr>
        <p:spPr>
          <a:xfrm>
            <a:off x="8475573" y="215042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1" name="Oval 270"/>
          <p:cNvSpPr/>
          <p:nvPr/>
        </p:nvSpPr>
        <p:spPr>
          <a:xfrm>
            <a:off x="8535732" y="211826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2" name="Oval 271"/>
          <p:cNvSpPr/>
          <p:nvPr/>
        </p:nvSpPr>
        <p:spPr>
          <a:xfrm>
            <a:off x="8597866" y="209011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3" name="Oval 272"/>
          <p:cNvSpPr/>
          <p:nvPr/>
        </p:nvSpPr>
        <p:spPr>
          <a:xfrm>
            <a:off x="8661707" y="206608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4" name="Oval 273"/>
          <p:cNvSpPr/>
          <p:nvPr/>
        </p:nvSpPr>
        <p:spPr>
          <a:xfrm>
            <a:off x="8726984" y="204628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5" name="Oval 274"/>
          <p:cNvSpPr/>
          <p:nvPr/>
        </p:nvSpPr>
        <p:spPr>
          <a:xfrm>
            <a:off x="8793416" y="203079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6" name="Oval 275"/>
          <p:cNvSpPr/>
          <p:nvPr/>
        </p:nvSpPr>
        <p:spPr>
          <a:xfrm>
            <a:off x="8860719" y="201968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7" name="Oval 276"/>
          <p:cNvSpPr/>
          <p:nvPr/>
        </p:nvSpPr>
        <p:spPr>
          <a:xfrm>
            <a:off x="8928604" y="201299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8" name="Oval 277"/>
          <p:cNvSpPr/>
          <p:nvPr/>
        </p:nvSpPr>
        <p:spPr>
          <a:xfrm>
            <a:off x="8996781" y="201076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9" name="Oval 278"/>
          <p:cNvSpPr/>
          <p:nvPr/>
        </p:nvSpPr>
        <p:spPr>
          <a:xfrm>
            <a:off x="9064958" y="201299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0" name="Oval 279"/>
          <p:cNvSpPr/>
          <p:nvPr/>
        </p:nvSpPr>
        <p:spPr>
          <a:xfrm>
            <a:off x="9132844" y="201968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1" name="Oval 280"/>
          <p:cNvSpPr/>
          <p:nvPr/>
        </p:nvSpPr>
        <p:spPr>
          <a:xfrm>
            <a:off x="9200146" y="203079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2" name="Oval 281"/>
          <p:cNvSpPr/>
          <p:nvPr/>
        </p:nvSpPr>
        <p:spPr>
          <a:xfrm>
            <a:off x="9266578" y="2046285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3" name="Oval 282"/>
          <p:cNvSpPr/>
          <p:nvPr/>
        </p:nvSpPr>
        <p:spPr>
          <a:xfrm>
            <a:off x="9331855" y="206608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4" name="Oval 283"/>
          <p:cNvSpPr/>
          <p:nvPr/>
        </p:nvSpPr>
        <p:spPr>
          <a:xfrm>
            <a:off x="9395696" y="209011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5" name="Oval 284"/>
          <p:cNvSpPr/>
          <p:nvPr/>
        </p:nvSpPr>
        <p:spPr>
          <a:xfrm>
            <a:off x="9457830" y="211826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6" name="Oval 285"/>
          <p:cNvSpPr/>
          <p:nvPr/>
        </p:nvSpPr>
        <p:spPr>
          <a:xfrm>
            <a:off x="9517989" y="215042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7" name="Oval 286"/>
          <p:cNvSpPr/>
          <p:nvPr/>
        </p:nvSpPr>
        <p:spPr>
          <a:xfrm>
            <a:off x="9575916" y="218644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8" name="Oval 287"/>
          <p:cNvSpPr/>
          <p:nvPr/>
        </p:nvSpPr>
        <p:spPr>
          <a:xfrm>
            <a:off x="9631364" y="222617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9" name="Oval 288"/>
          <p:cNvSpPr/>
          <p:nvPr/>
        </p:nvSpPr>
        <p:spPr>
          <a:xfrm>
            <a:off x="9684094" y="2269451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0" name="Oval 289"/>
          <p:cNvSpPr/>
          <p:nvPr/>
        </p:nvSpPr>
        <p:spPr>
          <a:xfrm>
            <a:off x="9733881" y="231608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1" name="Oval 290"/>
          <p:cNvSpPr/>
          <p:nvPr/>
        </p:nvSpPr>
        <p:spPr>
          <a:xfrm>
            <a:off x="9780511" y="2365868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2" name="Oval 291"/>
          <p:cNvSpPr/>
          <p:nvPr/>
        </p:nvSpPr>
        <p:spPr>
          <a:xfrm>
            <a:off x="9823785" y="2418598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3" name="Oval 292"/>
          <p:cNvSpPr/>
          <p:nvPr/>
        </p:nvSpPr>
        <p:spPr>
          <a:xfrm>
            <a:off x="9863518" y="247404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4" name="Oval 293"/>
          <p:cNvSpPr/>
          <p:nvPr/>
        </p:nvSpPr>
        <p:spPr>
          <a:xfrm>
            <a:off x="9899540" y="2531973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5" name="Oval 294"/>
          <p:cNvSpPr/>
          <p:nvPr/>
        </p:nvSpPr>
        <p:spPr>
          <a:xfrm>
            <a:off x="9931696" y="2592132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6" name="Oval 295"/>
          <p:cNvSpPr/>
          <p:nvPr/>
        </p:nvSpPr>
        <p:spPr>
          <a:xfrm>
            <a:off x="9959848" y="265426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7" name="Oval 296"/>
          <p:cNvSpPr/>
          <p:nvPr/>
        </p:nvSpPr>
        <p:spPr>
          <a:xfrm>
            <a:off x="9983876" y="2718107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8" name="Oval 297"/>
          <p:cNvSpPr/>
          <p:nvPr/>
        </p:nvSpPr>
        <p:spPr>
          <a:xfrm>
            <a:off x="10003678" y="278338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9" name="Oval 298"/>
          <p:cNvSpPr/>
          <p:nvPr/>
        </p:nvSpPr>
        <p:spPr>
          <a:xfrm>
            <a:off x="10019167" y="2849816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0" name="Oval 299"/>
          <p:cNvSpPr/>
          <p:nvPr/>
        </p:nvSpPr>
        <p:spPr>
          <a:xfrm>
            <a:off x="10030279" y="2917119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1" name="Oval 300"/>
          <p:cNvSpPr/>
          <p:nvPr/>
        </p:nvSpPr>
        <p:spPr>
          <a:xfrm>
            <a:off x="10036965" y="2985004"/>
            <a:ext cx="20116" cy="20116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2" name="Oval 301"/>
          <p:cNvSpPr/>
          <p:nvPr/>
        </p:nvSpPr>
        <p:spPr>
          <a:xfrm>
            <a:off x="8961119" y="2633472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3" name="Oval 302"/>
          <p:cNvSpPr/>
          <p:nvPr/>
        </p:nvSpPr>
        <p:spPr>
          <a:xfrm>
            <a:off x="9153143" y="2684924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4" name="Oval 303"/>
          <p:cNvSpPr/>
          <p:nvPr/>
        </p:nvSpPr>
        <p:spPr>
          <a:xfrm>
            <a:off x="9293715" y="2825496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5" name="Oval 304"/>
          <p:cNvSpPr/>
          <p:nvPr/>
        </p:nvSpPr>
        <p:spPr>
          <a:xfrm>
            <a:off x="9345167" y="3017520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6" name="Oval 305"/>
          <p:cNvSpPr/>
          <p:nvPr/>
        </p:nvSpPr>
        <p:spPr>
          <a:xfrm>
            <a:off x="9293715" y="3209544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7" name="Oval 306"/>
          <p:cNvSpPr/>
          <p:nvPr/>
        </p:nvSpPr>
        <p:spPr>
          <a:xfrm>
            <a:off x="9153143" y="3350115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8" name="Oval 307"/>
          <p:cNvSpPr/>
          <p:nvPr/>
        </p:nvSpPr>
        <p:spPr>
          <a:xfrm>
            <a:off x="8961119" y="3401568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9" name="Oval 308"/>
          <p:cNvSpPr/>
          <p:nvPr/>
        </p:nvSpPr>
        <p:spPr>
          <a:xfrm>
            <a:off x="8769096" y="3350115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0" name="Oval 309"/>
          <p:cNvSpPr/>
          <p:nvPr/>
        </p:nvSpPr>
        <p:spPr>
          <a:xfrm>
            <a:off x="8628524" y="3209544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1" name="Oval 310"/>
          <p:cNvSpPr/>
          <p:nvPr/>
        </p:nvSpPr>
        <p:spPr>
          <a:xfrm>
            <a:off x="8577072" y="3017520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2" name="Oval 311"/>
          <p:cNvSpPr/>
          <p:nvPr/>
        </p:nvSpPr>
        <p:spPr>
          <a:xfrm>
            <a:off x="8628524" y="2825496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3" name="Oval 312"/>
          <p:cNvSpPr/>
          <p:nvPr/>
        </p:nvSpPr>
        <p:spPr>
          <a:xfrm>
            <a:off x="8769095" y="2684924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4" name="Oval 313"/>
          <p:cNvSpPr/>
          <p:nvPr/>
        </p:nvSpPr>
        <p:spPr>
          <a:xfrm>
            <a:off x="8961119" y="2304288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5" name="Oval 314"/>
          <p:cNvSpPr/>
          <p:nvPr/>
        </p:nvSpPr>
        <p:spPr>
          <a:xfrm>
            <a:off x="9317736" y="2399842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6" name="Oval 315"/>
          <p:cNvSpPr/>
          <p:nvPr/>
        </p:nvSpPr>
        <p:spPr>
          <a:xfrm>
            <a:off x="9578797" y="2660904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7" name="Oval 316"/>
          <p:cNvSpPr/>
          <p:nvPr/>
        </p:nvSpPr>
        <p:spPr>
          <a:xfrm>
            <a:off x="9674351" y="3017520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8" name="Oval 317"/>
          <p:cNvSpPr/>
          <p:nvPr/>
        </p:nvSpPr>
        <p:spPr>
          <a:xfrm>
            <a:off x="9578797" y="3374136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9" name="Oval 318"/>
          <p:cNvSpPr/>
          <p:nvPr/>
        </p:nvSpPr>
        <p:spPr>
          <a:xfrm>
            <a:off x="9317736" y="3635197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0" name="Oval 319"/>
          <p:cNvSpPr/>
          <p:nvPr/>
        </p:nvSpPr>
        <p:spPr>
          <a:xfrm>
            <a:off x="8961119" y="3730752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1" name="Oval 320"/>
          <p:cNvSpPr/>
          <p:nvPr/>
        </p:nvSpPr>
        <p:spPr>
          <a:xfrm>
            <a:off x="8604503" y="3635197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2" name="Oval 321"/>
          <p:cNvSpPr/>
          <p:nvPr/>
        </p:nvSpPr>
        <p:spPr>
          <a:xfrm>
            <a:off x="8343442" y="3374136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3" name="Oval 322"/>
          <p:cNvSpPr/>
          <p:nvPr/>
        </p:nvSpPr>
        <p:spPr>
          <a:xfrm>
            <a:off x="8247888" y="3017520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4" name="Oval 323"/>
          <p:cNvSpPr/>
          <p:nvPr/>
        </p:nvSpPr>
        <p:spPr>
          <a:xfrm>
            <a:off x="8343442" y="2660904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5" name="Oval 324"/>
          <p:cNvSpPr/>
          <p:nvPr/>
        </p:nvSpPr>
        <p:spPr>
          <a:xfrm>
            <a:off x="8604503" y="2399842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6" name="Oval 325"/>
          <p:cNvSpPr/>
          <p:nvPr/>
        </p:nvSpPr>
        <p:spPr>
          <a:xfrm>
            <a:off x="8961119" y="1975104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7" name="Oval 326"/>
          <p:cNvSpPr/>
          <p:nvPr/>
        </p:nvSpPr>
        <p:spPr>
          <a:xfrm>
            <a:off x="9482328" y="2114761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8" name="Oval 327"/>
          <p:cNvSpPr/>
          <p:nvPr/>
        </p:nvSpPr>
        <p:spPr>
          <a:xfrm>
            <a:off x="9863878" y="2496312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9" name="Oval 328"/>
          <p:cNvSpPr/>
          <p:nvPr/>
        </p:nvSpPr>
        <p:spPr>
          <a:xfrm>
            <a:off x="10003536" y="3017520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0" name="Oval 329"/>
          <p:cNvSpPr/>
          <p:nvPr/>
        </p:nvSpPr>
        <p:spPr>
          <a:xfrm>
            <a:off x="9863878" y="3538728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1" name="Oval 330"/>
          <p:cNvSpPr/>
          <p:nvPr/>
        </p:nvSpPr>
        <p:spPr>
          <a:xfrm>
            <a:off x="9482328" y="3920278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2" name="Oval 331"/>
          <p:cNvSpPr/>
          <p:nvPr/>
        </p:nvSpPr>
        <p:spPr>
          <a:xfrm>
            <a:off x="8961119" y="4059936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3" name="Oval 332"/>
          <p:cNvSpPr/>
          <p:nvPr/>
        </p:nvSpPr>
        <p:spPr>
          <a:xfrm>
            <a:off x="8439911" y="3920278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4" name="Oval 333"/>
          <p:cNvSpPr/>
          <p:nvPr/>
        </p:nvSpPr>
        <p:spPr>
          <a:xfrm>
            <a:off x="8058361" y="3538728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5" name="Oval 334"/>
          <p:cNvSpPr/>
          <p:nvPr/>
        </p:nvSpPr>
        <p:spPr>
          <a:xfrm>
            <a:off x="7918703" y="3017520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6" name="Oval 335"/>
          <p:cNvSpPr/>
          <p:nvPr/>
        </p:nvSpPr>
        <p:spPr>
          <a:xfrm>
            <a:off x="8058361" y="2496312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7" name="Oval 336"/>
          <p:cNvSpPr/>
          <p:nvPr/>
        </p:nvSpPr>
        <p:spPr>
          <a:xfrm>
            <a:off x="8439911" y="2114761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8" name="Oval 337"/>
          <p:cNvSpPr/>
          <p:nvPr/>
        </p:nvSpPr>
        <p:spPr>
          <a:xfrm>
            <a:off x="8933688" y="2990088"/>
            <a:ext cx="146304" cy="146304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9" name="TextBox 338"/>
          <p:cNvSpPr txBox="1"/>
          <p:nvPr/>
        </p:nvSpPr>
        <p:spPr>
          <a:xfrm>
            <a:off x="6675120" y="443484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Change the count and the step changes with it. Change the radius per ring and it opens up.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662940" y="5234940"/>
            <a:ext cx="10972800" cy="65836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1" name="Rectangle 340"/>
          <p:cNvSpPr/>
          <p:nvPr/>
        </p:nvSpPr>
        <p:spPr>
          <a:xfrm>
            <a:off x="594360" y="5166360"/>
            <a:ext cx="10972800" cy="658368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2" name="TextBox 341"/>
          <p:cNvSpPr txBox="1"/>
          <p:nvPr/>
        </p:nvSpPr>
        <p:spPr>
          <a:xfrm>
            <a:off x="777240" y="5166360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IF YOUR LAST ELEMENT LANDS ON TOP OF YOUR FIRST, YOU DIVIDED BY THE WRONG NUMBER.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MOVE ONLY SOME OF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Select a range of indices with comparisons, and displace just those.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5120640" cy="32004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5120640" cy="32004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5120640" cy="502920"/>
          </a:xfrm>
          <a:prstGeom prst="rect">
            <a:avLst/>
          </a:prstGeom>
          <a:solidFill>
            <a:srgbClr val="B4B4AC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7" b="1">
                <a:solidFill>
                  <a:srgbClr val="000000"/>
                </a:solidFill>
                <a:latin typeface="Arial"/>
              </a:rPr>
              <a:t>BEFORE</a:t>
            </a:r>
          </a:p>
        </p:txBody>
      </p:sp>
      <p:sp>
        <p:nvSpPr>
          <p:cNvPr id="9" name="Oval 8"/>
          <p:cNvSpPr/>
          <p:nvPr/>
        </p:nvSpPr>
        <p:spPr>
          <a:xfrm>
            <a:off x="1257300" y="2674620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257300" y="3058668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257300" y="3442715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1257300" y="3826763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641348" y="2674620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1641348" y="3058668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1641348" y="3442715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1641348" y="3826763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2025395" y="2674620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2025395" y="3058668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2025395" y="3442715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2025395" y="3826763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2409444" y="2674620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2409444" y="3058668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2409444" y="3442715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2409444" y="3826763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2793491" y="2674620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2793491" y="3058668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2793491" y="3442715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2793491" y="3826763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3177540" y="2674620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3177540" y="3058668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3177540" y="3442715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3177540" y="3826763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3561588" y="2674620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3561588" y="3058668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3561588" y="3442715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3561588" y="3826763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3945636" y="2674620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3945636" y="3058668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3945636" y="3442715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3945636" y="3826763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4329684" y="2674620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4329684" y="3058668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4329684" y="3442715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4329684" y="3826763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14400" y="44348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alibri"/>
              </a:rPr>
              <a:t>Every element identical. The index is computed, then ignored.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3620" y="1851660"/>
            <a:ext cx="5532120" cy="32004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6035040" y="1783080"/>
            <a:ext cx="5532120" cy="32004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6035040" y="1783080"/>
            <a:ext cx="5532120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263640" y="1783080"/>
            <a:ext cx="5074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7" b="1">
                <a:solidFill>
                  <a:srgbClr val="000000"/>
                </a:solidFill>
                <a:latin typeface="Arial"/>
              </a:rPr>
              <a:t>AFTER</a:t>
            </a:r>
          </a:p>
        </p:txBody>
      </p:sp>
      <p:sp>
        <p:nvSpPr>
          <p:cNvPr id="50" name="Oval 49"/>
          <p:cNvSpPr/>
          <p:nvPr/>
        </p:nvSpPr>
        <p:spPr>
          <a:xfrm>
            <a:off x="6332220" y="2674620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6332220" y="3058668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Oval 51"/>
          <p:cNvSpPr/>
          <p:nvPr/>
        </p:nvSpPr>
        <p:spPr>
          <a:xfrm>
            <a:off x="6332220" y="3442715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6332220" y="3826763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Oval 53"/>
          <p:cNvSpPr/>
          <p:nvPr/>
        </p:nvSpPr>
        <p:spPr>
          <a:xfrm>
            <a:off x="6716268" y="2674620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6716268" y="3058668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Oval 55"/>
          <p:cNvSpPr/>
          <p:nvPr/>
        </p:nvSpPr>
        <p:spPr>
          <a:xfrm>
            <a:off x="6716268" y="3442715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6716268" y="3826763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Oval 57"/>
          <p:cNvSpPr/>
          <p:nvPr/>
        </p:nvSpPr>
        <p:spPr>
          <a:xfrm>
            <a:off x="7100316" y="2674620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Oval 58"/>
          <p:cNvSpPr/>
          <p:nvPr/>
        </p:nvSpPr>
        <p:spPr>
          <a:xfrm>
            <a:off x="7100316" y="3058668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Oval 59"/>
          <p:cNvSpPr/>
          <p:nvPr/>
        </p:nvSpPr>
        <p:spPr>
          <a:xfrm>
            <a:off x="7100316" y="3442715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Oval 60"/>
          <p:cNvSpPr/>
          <p:nvPr/>
        </p:nvSpPr>
        <p:spPr>
          <a:xfrm>
            <a:off x="7100316" y="3826763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Oval 61"/>
          <p:cNvSpPr/>
          <p:nvPr/>
        </p:nvSpPr>
        <p:spPr>
          <a:xfrm>
            <a:off x="7484364" y="2382012"/>
            <a:ext cx="137160" cy="13716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Oval 62"/>
          <p:cNvSpPr/>
          <p:nvPr/>
        </p:nvSpPr>
        <p:spPr>
          <a:xfrm>
            <a:off x="7484364" y="2766060"/>
            <a:ext cx="137160" cy="13716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Oval 63"/>
          <p:cNvSpPr/>
          <p:nvPr/>
        </p:nvSpPr>
        <p:spPr>
          <a:xfrm>
            <a:off x="7484364" y="3150108"/>
            <a:ext cx="137160" cy="13716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Oval 64"/>
          <p:cNvSpPr/>
          <p:nvPr/>
        </p:nvSpPr>
        <p:spPr>
          <a:xfrm>
            <a:off x="7484364" y="3534156"/>
            <a:ext cx="137160" cy="13716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Oval 65"/>
          <p:cNvSpPr/>
          <p:nvPr/>
        </p:nvSpPr>
        <p:spPr>
          <a:xfrm>
            <a:off x="7868412" y="2382012"/>
            <a:ext cx="137160" cy="13716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Oval 66"/>
          <p:cNvSpPr/>
          <p:nvPr/>
        </p:nvSpPr>
        <p:spPr>
          <a:xfrm>
            <a:off x="7868412" y="2766060"/>
            <a:ext cx="137160" cy="13716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Oval 67"/>
          <p:cNvSpPr/>
          <p:nvPr/>
        </p:nvSpPr>
        <p:spPr>
          <a:xfrm>
            <a:off x="7868412" y="3150108"/>
            <a:ext cx="137160" cy="13716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Oval 68"/>
          <p:cNvSpPr/>
          <p:nvPr/>
        </p:nvSpPr>
        <p:spPr>
          <a:xfrm>
            <a:off x="7868412" y="3534156"/>
            <a:ext cx="137160" cy="13716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Oval 69"/>
          <p:cNvSpPr/>
          <p:nvPr/>
        </p:nvSpPr>
        <p:spPr>
          <a:xfrm>
            <a:off x="8252460" y="2382012"/>
            <a:ext cx="137160" cy="13716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Oval 70"/>
          <p:cNvSpPr/>
          <p:nvPr/>
        </p:nvSpPr>
        <p:spPr>
          <a:xfrm>
            <a:off x="8252460" y="2766060"/>
            <a:ext cx="137160" cy="13716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8252460" y="3150108"/>
            <a:ext cx="137160" cy="13716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Oval 72"/>
          <p:cNvSpPr/>
          <p:nvPr/>
        </p:nvSpPr>
        <p:spPr>
          <a:xfrm>
            <a:off x="8252460" y="3534156"/>
            <a:ext cx="137160" cy="13716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Oval 73"/>
          <p:cNvSpPr/>
          <p:nvPr/>
        </p:nvSpPr>
        <p:spPr>
          <a:xfrm>
            <a:off x="8636508" y="2674620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Oval 74"/>
          <p:cNvSpPr/>
          <p:nvPr/>
        </p:nvSpPr>
        <p:spPr>
          <a:xfrm>
            <a:off x="8636508" y="3058668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Oval 75"/>
          <p:cNvSpPr/>
          <p:nvPr/>
        </p:nvSpPr>
        <p:spPr>
          <a:xfrm>
            <a:off x="8636508" y="3442715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8636508" y="3826763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Oval 77"/>
          <p:cNvSpPr/>
          <p:nvPr/>
        </p:nvSpPr>
        <p:spPr>
          <a:xfrm>
            <a:off x="9020556" y="2674620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Oval 78"/>
          <p:cNvSpPr/>
          <p:nvPr/>
        </p:nvSpPr>
        <p:spPr>
          <a:xfrm>
            <a:off x="9020556" y="3058668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Oval 79"/>
          <p:cNvSpPr/>
          <p:nvPr/>
        </p:nvSpPr>
        <p:spPr>
          <a:xfrm>
            <a:off x="9020556" y="3442715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Oval 80"/>
          <p:cNvSpPr/>
          <p:nvPr/>
        </p:nvSpPr>
        <p:spPr>
          <a:xfrm>
            <a:off x="9020556" y="3826763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9404604" y="2674620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Oval 82"/>
          <p:cNvSpPr/>
          <p:nvPr/>
        </p:nvSpPr>
        <p:spPr>
          <a:xfrm>
            <a:off x="9404604" y="3058668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Oval 83"/>
          <p:cNvSpPr/>
          <p:nvPr/>
        </p:nvSpPr>
        <p:spPr>
          <a:xfrm>
            <a:off x="9404604" y="3442715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Oval 84"/>
          <p:cNvSpPr/>
          <p:nvPr/>
        </p:nvSpPr>
        <p:spPr>
          <a:xfrm>
            <a:off x="9404604" y="3826763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6309360" y="443484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alibri"/>
              </a:rPr>
              <a:t>Indices 3 to 5 lifted. One Compare, one Switch, one Set Position.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62940" y="5326380"/>
            <a:ext cx="10972800" cy="65836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ectangle 87"/>
          <p:cNvSpPr/>
          <p:nvPr/>
        </p:nvSpPr>
        <p:spPr>
          <a:xfrm>
            <a:off x="594360" y="5257800"/>
            <a:ext cx="10972800" cy="658368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777240" y="5257800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THE FIELD STOPS BEING WALLPAPER THE MOMENT A TEST DECIDES SOMETHING.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DF7"/>
                </a:solidFill>
                <a:latin typeface="Arial"/>
              </a:rPr>
              <a:t>SINE GIVES YOU A SMOOTH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B4B4AC"/>
                </a:solidFill>
                <a:latin typeface="Calibri"/>
              </a:rPr>
              <a:t>Math set to Sine, driven by the index. Three words describe the whole curve.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943100"/>
            <a:ext cx="5669280" cy="30175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874519"/>
            <a:ext cx="5669280" cy="30175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566928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7" b="1">
                <a:solidFill>
                  <a:srgbClr val="000000"/>
                </a:solidFill>
                <a:latin typeface="Arial"/>
              </a:rPr>
              <a:t>THREE PARAMETERS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982980" y="2674620"/>
            <a:ext cx="1828800" cy="5029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914400" y="2606040"/>
            <a:ext cx="1828800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275691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AMPLITUDE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60604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Calibri"/>
              </a:rPr>
              <a:t>how far it swings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2980" y="3332988"/>
            <a:ext cx="1828800" cy="5029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914400" y="3264408"/>
            <a:ext cx="1828800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341528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FREQUENCY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264408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Calibri"/>
              </a:rPr>
              <a:t>how many swings across the set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2980" y="3991356"/>
            <a:ext cx="1828800" cy="5029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914400" y="3922776"/>
            <a:ext cx="1828800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4400" y="40736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PHASE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3922776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Calibri"/>
              </a:rPr>
              <a:t>where in the swing it starts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720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00000"/>
                </a:solidFill>
                <a:latin typeface="Courier New"/>
              </a:rPr>
              <a:t>h[i] = amp × sin(i × freq + phase)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6540" y="1943100"/>
            <a:ext cx="5029200" cy="30175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537960" y="1874519"/>
            <a:ext cx="5029200" cy="30175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537960" y="1874519"/>
            <a:ext cx="5029200" cy="50292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766560" y="1874519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7" b="1">
                <a:solidFill>
                  <a:srgbClr val="000000"/>
                </a:solidFill>
                <a:latin typeface="Arial"/>
              </a:rPr>
              <a:t>READ IT AS A CURVE</a:t>
            </a:r>
          </a:p>
        </p:txBody>
      </p:sp>
      <p:sp>
        <p:nvSpPr>
          <p:cNvPr id="26" name="Oval 25"/>
          <p:cNvSpPr/>
          <p:nvPr/>
        </p:nvSpPr>
        <p:spPr>
          <a:xfrm>
            <a:off x="6938009" y="3006089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6991253" y="2966132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7044497" y="2926428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7097740" y="2887227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7150984" y="2848778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7204227" y="2811323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7257471" y="2775100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7310714" y="2740337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7363958" y="2707254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7417201" y="2676060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7470445" y="2646954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7523688" y="2620117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7576932" y="2595721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7630176" y="2573919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7683419" y="2554850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7736663" y="2538634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7789906" y="2525373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7843150" y="2515151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7896393" y="2508033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7949637" y="2504064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8002880" y="2503269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8056124" y="2505653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Oval 47"/>
          <p:cNvSpPr/>
          <p:nvPr/>
        </p:nvSpPr>
        <p:spPr>
          <a:xfrm>
            <a:off x="8109367" y="2511201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8162611" y="2519877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8215855" y="2531628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8269098" y="2546378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Oval 51"/>
          <p:cNvSpPr/>
          <p:nvPr/>
        </p:nvSpPr>
        <p:spPr>
          <a:xfrm>
            <a:off x="8322342" y="2564035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8375585" y="2584487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Oval 53"/>
          <p:cNvSpPr/>
          <p:nvPr/>
        </p:nvSpPr>
        <p:spPr>
          <a:xfrm>
            <a:off x="8428829" y="2607604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8482072" y="2633241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Oval 55"/>
          <p:cNvSpPr/>
          <p:nvPr/>
        </p:nvSpPr>
        <p:spPr>
          <a:xfrm>
            <a:off x="8535316" y="2661234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8588559" y="2691408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Oval 57"/>
          <p:cNvSpPr/>
          <p:nvPr/>
        </p:nvSpPr>
        <p:spPr>
          <a:xfrm>
            <a:off x="8641803" y="2723572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Oval 58"/>
          <p:cNvSpPr/>
          <p:nvPr/>
        </p:nvSpPr>
        <p:spPr>
          <a:xfrm>
            <a:off x="8695046" y="2757522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Oval 59"/>
          <p:cNvSpPr/>
          <p:nvPr/>
        </p:nvSpPr>
        <p:spPr>
          <a:xfrm>
            <a:off x="8748290" y="2793043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Oval 60"/>
          <p:cNvSpPr/>
          <p:nvPr/>
        </p:nvSpPr>
        <p:spPr>
          <a:xfrm>
            <a:off x="8801534" y="2829911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Oval 61"/>
          <p:cNvSpPr/>
          <p:nvPr/>
        </p:nvSpPr>
        <p:spPr>
          <a:xfrm>
            <a:off x="8854777" y="2867893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Oval 62"/>
          <p:cNvSpPr/>
          <p:nvPr/>
        </p:nvSpPr>
        <p:spPr>
          <a:xfrm>
            <a:off x="8908021" y="2906749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Oval 63"/>
          <p:cNvSpPr/>
          <p:nvPr/>
        </p:nvSpPr>
        <p:spPr>
          <a:xfrm>
            <a:off x="8961264" y="2946233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Oval 64"/>
          <p:cNvSpPr/>
          <p:nvPr/>
        </p:nvSpPr>
        <p:spPr>
          <a:xfrm>
            <a:off x="9014508" y="2986095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Oval 65"/>
          <p:cNvSpPr/>
          <p:nvPr/>
        </p:nvSpPr>
        <p:spPr>
          <a:xfrm>
            <a:off x="9067751" y="3026084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Oval 66"/>
          <p:cNvSpPr/>
          <p:nvPr/>
        </p:nvSpPr>
        <p:spPr>
          <a:xfrm>
            <a:off x="9120995" y="3065946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Oval 67"/>
          <p:cNvSpPr/>
          <p:nvPr/>
        </p:nvSpPr>
        <p:spPr>
          <a:xfrm>
            <a:off x="9174238" y="3105430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Oval 68"/>
          <p:cNvSpPr/>
          <p:nvPr/>
        </p:nvSpPr>
        <p:spPr>
          <a:xfrm>
            <a:off x="9227482" y="3144286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Oval 69"/>
          <p:cNvSpPr/>
          <p:nvPr/>
        </p:nvSpPr>
        <p:spPr>
          <a:xfrm>
            <a:off x="9280725" y="3182268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Oval 70"/>
          <p:cNvSpPr/>
          <p:nvPr/>
        </p:nvSpPr>
        <p:spPr>
          <a:xfrm>
            <a:off x="9333969" y="3219136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9387213" y="3254657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Oval 72"/>
          <p:cNvSpPr/>
          <p:nvPr/>
        </p:nvSpPr>
        <p:spPr>
          <a:xfrm>
            <a:off x="9440456" y="3288607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Oval 73"/>
          <p:cNvSpPr/>
          <p:nvPr/>
        </p:nvSpPr>
        <p:spPr>
          <a:xfrm>
            <a:off x="9493700" y="3320771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Oval 74"/>
          <p:cNvSpPr/>
          <p:nvPr/>
        </p:nvSpPr>
        <p:spPr>
          <a:xfrm>
            <a:off x="9546943" y="3350945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Oval 75"/>
          <p:cNvSpPr/>
          <p:nvPr/>
        </p:nvSpPr>
        <p:spPr>
          <a:xfrm>
            <a:off x="9600187" y="3378938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9653430" y="3404575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Oval 77"/>
          <p:cNvSpPr/>
          <p:nvPr/>
        </p:nvSpPr>
        <p:spPr>
          <a:xfrm>
            <a:off x="9706674" y="3427692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Oval 78"/>
          <p:cNvSpPr/>
          <p:nvPr/>
        </p:nvSpPr>
        <p:spPr>
          <a:xfrm>
            <a:off x="9759917" y="3448144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Oval 79"/>
          <p:cNvSpPr/>
          <p:nvPr/>
        </p:nvSpPr>
        <p:spPr>
          <a:xfrm>
            <a:off x="9813161" y="3465801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Oval 80"/>
          <p:cNvSpPr/>
          <p:nvPr/>
        </p:nvSpPr>
        <p:spPr>
          <a:xfrm>
            <a:off x="9866404" y="3480551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9919648" y="3492302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Oval 82"/>
          <p:cNvSpPr/>
          <p:nvPr/>
        </p:nvSpPr>
        <p:spPr>
          <a:xfrm>
            <a:off x="9972892" y="3500978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Oval 83"/>
          <p:cNvSpPr/>
          <p:nvPr/>
        </p:nvSpPr>
        <p:spPr>
          <a:xfrm>
            <a:off x="10026135" y="3506526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Oval 84"/>
          <p:cNvSpPr/>
          <p:nvPr/>
        </p:nvSpPr>
        <p:spPr>
          <a:xfrm>
            <a:off x="10079379" y="3508910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Oval 85"/>
          <p:cNvSpPr/>
          <p:nvPr/>
        </p:nvSpPr>
        <p:spPr>
          <a:xfrm>
            <a:off x="10132622" y="3508115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Oval 86"/>
          <p:cNvSpPr/>
          <p:nvPr/>
        </p:nvSpPr>
        <p:spPr>
          <a:xfrm>
            <a:off x="10185866" y="3504146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Oval 87"/>
          <p:cNvSpPr/>
          <p:nvPr/>
        </p:nvSpPr>
        <p:spPr>
          <a:xfrm>
            <a:off x="10239109" y="3497028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Oval 88"/>
          <p:cNvSpPr/>
          <p:nvPr/>
        </p:nvSpPr>
        <p:spPr>
          <a:xfrm>
            <a:off x="10292353" y="3486806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Oval 89"/>
          <p:cNvSpPr/>
          <p:nvPr/>
        </p:nvSpPr>
        <p:spPr>
          <a:xfrm>
            <a:off x="10345596" y="3473545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Oval 90"/>
          <p:cNvSpPr/>
          <p:nvPr/>
        </p:nvSpPr>
        <p:spPr>
          <a:xfrm>
            <a:off x="10398840" y="3457329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Oval 91"/>
          <p:cNvSpPr/>
          <p:nvPr/>
        </p:nvSpPr>
        <p:spPr>
          <a:xfrm>
            <a:off x="10452083" y="3438260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Oval 92"/>
          <p:cNvSpPr/>
          <p:nvPr/>
        </p:nvSpPr>
        <p:spPr>
          <a:xfrm>
            <a:off x="10505327" y="3416458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Oval 93"/>
          <p:cNvSpPr/>
          <p:nvPr/>
        </p:nvSpPr>
        <p:spPr>
          <a:xfrm>
            <a:off x="10558571" y="3392062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Oval 94"/>
          <p:cNvSpPr/>
          <p:nvPr/>
        </p:nvSpPr>
        <p:spPr>
          <a:xfrm>
            <a:off x="10611814" y="3365225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Oval 95"/>
          <p:cNvSpPr/>
          <p:nvPr/>
        </p:nvSpPr>
        <p:spPr>
          <a:xfrm>
            <a:off x="10665058" y="3336119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Oval 96"/>
          <p:cNvSpPr/>
          <p:nvPr/>
        </p:nvSpPr>
        <p:spPr>
          <a:xfrm>
            <a:off x="10718301" y="3304925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Oval 97"/>
          <p:cNvSpPr/>
          <p:nvPr/>
        </p:nvSpPr>
        <p:spPr>
          <a:xfrm>
            <a:off x="10771545" y="3271842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Oval 98"/>
          <p:cNvSpPr/>
          <p:nvPr/>
        </p:nvSpPr>
        <p:spPr>
          <a:xfrm>
            <a:off x="10824788" y="3237079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Oval 99"/>
          <p:cNvSpPr/>
          <p:nvPr/>
        </p:nvSpPr>
        <p:spPr>
          <a:xfrm>
            <a:off x="10878032" y="3200856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Oval 100"/>
          <p:cNvSpPr/>
          <p:nvPr/>
        </p:nvSpPr>
        <p:spPr>
          <a:xfrm>
            <a:off x="10931275" y="3163401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Oval 101"/>
          <p:cNvSpPr/>
          <p:nvPr/>
        </p:nvSpPr>
        <p:spPr>
          <a:xfrm>
            <a:off x="10984519" y="3124952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Oval 102"/>
          <p:cNvSpPr/>
          <p:nvPr/>
        </p:nvSpPr>
        <p:spPr>
          <a:xfrm>
            <a:off x="11037762" y="3085751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Oval 103"/>
          <p:cNvSpPr/>
          <p:nvPr/>
        </p:nvSpPr>
        <p:spPr>
          <a:xfrm>
            <a:off x="11091006" y="3046047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Oval 104"/>
          <p:cNvSpPr/>
          <p:nvPr/>
        </p:nvSpPr>
        <p:spPr>
          <a:xfrm>
            <a:off x="11144250" y="3006089"/>
            <a:ext cx="22860" cy="2286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Oval 105"/>
          <p:cNvSpPr/>
          <p:nvPr/>
        </p:nvSpPr>
        <p:spPr>
          <a:xfrm>
            <a:off x="6894576" y="2962656"/>
            <a:ext cx="109728" cy="109728"/>
          </a:xfrm>
          <a:prstGeom prst="ellipse">
            <a:avLst/>
          </a:prstGeom>
          <a:solidFill>
            <a:srgbClr val="FFE500"/>
          </a:solidFill>
          <a:ln w="6350">
            <a:solidFill>
              <a:srgbClr val="FFE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Oval 106"/>
          <p:cNvSpPr/>
          <p:nvPr/>
        </p:nvSpPr>
        <p:spPr>
          <a:xfrm>
            <a:off x="7195021" y="2744447"/>
            <a:ext cx="109728" cy="109728"/>
          </a:xfrm>
          <a:prstGeom prst="ellipse">
            <a:avLst/>
          </a:prstGeom>
          <a:solidFill>
            <a:srgbClr val="FFE500"/>
          </a:solidFill>
          <a:ln w="6350">
            <a:solidFill>
              <a:srgbClr val="FFE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Oval 107"/>
          <p:cNvSpPr/>
          <p:nvPr/>
        </p:nvSpPr>
        <p:spPr>
          <a:xfrm>
            <a:off x="7495467" y="2569457"/>
            <a:ext cx="109728" cy="109728"/>
          </a:xfrm>
          <a:prstGeom prst="ellipse">
            <a:avLst/>
          </a:prstGeom>
          <a:solidFill>
            <a:srgbClr val="FFE500"/>
          </a:solidFill>
          <a:ln w="6350">
            <a:solidFill>
              <a:srgbClr val="FFE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Oval 108"/>
          <p:cNvSpPr/>
          <p:nvPr/>
        </p:nvSpPr>
        <p:spPr>
          <a:xfrm>
            <a:off x="7795913" y="2472345"/>
            <a:ext cx="109728" cy="109728"/>
          </a:xfrm>
          <a:prstGeom prst="ellipse">
            <a:avLst/>
          </a:prstGeom>
          <a:solidFill>
            <a:srgbClr val="FFE500"/>
          </a:solidFill>
          <a:ln w="6350">
            <a:solidFill>
              <a:srgbClr val="FFE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Oval 109"/>
          <p:cNvSpPr/>
          <p:nvPr/>
        </p:nvSpPr>
        <p:spPr>
          <a:xfrm>
            <a:off x="8096358" y="2472345"/>
            <a:ext cx="109728" cy="109728"/>
          </a:xfrm>
          <a:prstGeom prst="ellipse">
            <a:avLst/>
          </a:prstGeom>
          <a:solidFill>
            <a:srgbClr val="FFE500"/>
          </a:solidFill>
          <a:ln w="6350">
            <a:solidFill>
              <a:srgbClr val="FFE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Oval 110"/>
          <p:cNvSpPr/>
          <p:nvPr/>
        </p:nvSpPr>
        <p:spPr>
          <a:xfrm>
            <a:off x="8396804" y="2569457"/>
            <a:ext cx="109728" cy="109728"/>
          </a:xfrm>
          <a:prstGeom prst="ellipse">
            <a:avLst/>
          </a:prstGeom>
          <a:solidFill>
            <a:srgbClr val="FFE500"/>
          </a:solidFill>
          <a:ln w="6350">
            <a:solidFill>
              <a:srgbClr val="FFE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Oval 111"/>
          <p:cNvSpPr/>
          <p:nvPr/>
        </p:nvSpPr>
        <p:spPr>
          <a:xfrm>
            <a:off x="8697250" y="2744447"/>
            <a:ext cx="109728" cy="109728"/>
          </a:xfrm>
          <a:prstGeom prst="ellipse">
            <a:avLst/>
          </a:prstGeom>
          <a:solidFill>
            <a:srgbClr val="FFE500"/>
          </a:solidFill>
          <a:ln w="6350">
            <a:solidFill>
              <a:srgbClr val="FFE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Oval 112"/>
          <p:cNvSpPr/>
          <p:nvPr/>
        </p:nvSpPr>
        <p:spPr>
          <a:xfrm>
            <a:off x="8997695" y="2962656"/>
            <a:ext cx="109728" cy="109728"/>
          </a:xfrm>
          <a:prstGeom prst="ellipse">
            <a:avLst/>
          </a:prstGeom>
          <a:solidFill>
            <a:srgbClr val="FFE500"/>
          </a:solidFill>
          <a:ln w="6350">
            <a:solidFill>
              <a:srgbClr val="FFE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Oval 113"/>
          <p:cNvSpPr/>
          <p:nvPr/>
        </p:nvSpPr>
        <p:spPr>
          <a:xfrm>
            <a:off x="9298141" y="3180864"/>
            <a:ext cx="109728" cy="109728"/>
          </a:xfrm>
          <a:prstGeom prst="ellipse">
            <a:avLst/>
          </a:prstGeom>
          <a:solidFill>
            <a:srgbClr val="FFE500"/>
          </a:solidFill>
          <a:ln w="6350">
            <a:solidFill>
              <a:srgbClr val="FFE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Oval 114"/>
          <p:cNvSpPr/>
          <p:nvPr/>
        </p:nvSpPr>
        <p:spPr>
          <a:xfrm>
            <a:off x="9598587" y="3355854"/>
            <a:ext cx="109728" cy="109728"/>
          </a:xfrm>
          <a:prstGeom prst="ellipse">
            <a:avLst/>
          </a:prstGeom>
          <a:solidFill>
            <a:srgbClr val="FFE500"/>
          </a:solidFill>
          <a:ln w="6350">
            <a:solidFill>
              <a:srgbClr val="FFE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Oval 115"/>
          <p:cNvSpPr/>
          <p:nvPr/>
        </p:nvSpPr>
        <p:spPr>
          <a:xfrm>
            <a:off x="9899033" y="3452966"/>
            <a:ext cx="109728" cy="109728"/>
          </a:xfrm>
          <a:prstGeom prst="ellipse">
            <a:avLst/>
          </a:prstGeom>
          <a:solidFill>
            <a:srgbClr val="FFE500"/>
          </a:solidFill>
          <a:ln w="6350">
            <a:solidFill>
              <a:srgbClr val="FFE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Oval 116"/>
          <p:cNvSpPr/>
          <p:nvPr/>
        </p:nvSpPr>
        <p:spPr>
          <a:xfrm>
            <a:off x="10199478" y="3452966"/>
            <a:ext cx="109728" cy="109728"/>
          </a:xfrm>
          <a:prstGeom prst="ellipse">
            <a:avLst/>
          </a:prstGeom>
          <a:solidFill>
            <a:srgbClr val="FFE500"/>
          </a:solidFill>
          <a:ln w="6350">
            <a:solidFill>
              <a:srgbClr val="FFE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Oval 117"/>
          <p:cNvSpPr/>
          <p:nvPr/>
        </p:nvSpPr>
        <p:spPr>
          <a:xfrm>
            <a:off x="10499924" y="3355854"/>
            <a:ext cx="109728" cy="109728"/>
          </a:xfrm>
          <a:prstGeom prst="ellipse">
            <a:avLst/>
          </a:prstGeom>
          <a:solidFill>
            <a:srgbClr val="FFE500"/>
          </a:solidFill>
          <a:ln w="6350">
            <a:solidFill>
              <a:srgbClr val="FFE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Oval 118"/>
          <p:cNvSpPr/>
          <p:nvPr/>
        </p:nvSpPr>
        <p:spPr>
          <a:xfrm>
            <a:off x="10800370" y="3180864"/>
            <a:ext cx="109728" cy="109728"/>
          </a:xfrm>
          <a:prstGeom prst="ellipse">
            <a:avLst/>
          </a:prstGeom>
          <a:solidFill>
            <a:srgbClr val="FFE500"/>
          </a:solidFill>
          <a:ln w="6350">
            <a:solidFill>
              <a:srgbClr val="FFE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Oval 119"/>
          <p:cNvSpPr/>
          <p:nvPr/>
        </p:nvSpPr>
        <p:spPr>
          <a:xfrm>
            <a:off x="11100815" y="2962656"/>
            <a:ext cx="109728" cy="109728"/>
          </a:xfrm>
          <a:prstGeom prst="ellipse">
            <a:avLst/>
          </a:prstGeom>
          <a:solidFill>
            <a:srgbClr val="FFE500"/>
          </a:solidFill>
          <a:ln w="6350">
            <a:solidFill>
              <a:srgbClr val="FFE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TextBox 120"/>
          <p:cNvSpPr txBox="1"/>
          <p:nvPr/>
        </p:nvSpPr>
        <p:spPr>
          <a:xfrm>
            <a:off x="6812280" y="3977639"/>
            <a:ext cx="4480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Connect the ordered points and the list becomes a curve. That is the same list — read as a shape instead of as positions.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62940" y="5280660"/>
            <a:ext cx="10972800" cy="6400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Rectangle 122"/>
          <p:cNvSpPr/>
          <p:nvPr/>
        </p:nvSpPr>
        <p:spPr>
          <a:xfrm>
            <a:off x="594360" y="5212080"/>
            <a:ext cx="10972800" cy="64008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777240" y="521208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NAME THE THREE VALUES ON YOUR SHEET. P2a ASKS FOR THEM EXPLICITLY.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TWO WAYS TO REPEAT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Worth being precise about, because they look alike and are not.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5486400" cy="31089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5486400" cy="31089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5486400" cy="50292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7" b="1">
                <a:solidFill>
                  <a:srgbClr val="000000"/>
                </a:solidFill>
                <a:latin typeface="Arial"/>
              </a:rPr>
              <a:t>EXPLICIT ITERATION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48463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A Repeat Zone runs a body once per step, in order, carrying a value forward.</a:t>
            </a:r>
          </a:p>
          <a:p>
            <a:pPr algn="l">
              <a:lnSpc>
                <a:spcPct val="130000"/>
              </a:lnSpc>
            </a:pPr>
            <a:r>
              <a:rPr sz="700">
                <a:solidFill>
                  <a:srgbClr val="000000"/>
                </a:solidFill>
                <a:latin typeface="Calibri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Use it when step n depends on step n−1 — and when you want to watch the loop happen.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69380" y="1851660"/>
            <a:ext cx="5166360" cy="31089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400800" y="1783080"/>
            <a:ext cx="5166360" cy="31089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400800" y="1783080"/>
            <a:ext cx="516636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29400" y="1783080"/>
            <a:ext cx="4709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7" b="1">
                <a:solidFill>
                  <a:srgbClr val="000000"/>
                </a:solidFill>
                <a:latin typeface="Arial"/>
              </a:rPr>
              <a:t>PER-ELEMENT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468880"/>
            <a:ext cx="46177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The other kind is evaluated across every element at once. There is no order and no carry.</a:t>
            </a:r>
          </a:p>
          <a:p>
            <a:pPr algn="l">
              <a:lnSpc>
                <a:spcPct val="130000"/>
              </a:lnSpc>
            </a:pPr>
            <a:r>
              <a:rPr sz="700">
                <a:solidFill>
                  <a:srgbClr val="000000"/>
                </a:solidFill>
                <a:latin typeface="Calibri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It is faster and it is usually what you want — but nothing on screen tells you a loop happened, which is exactly why we built the explicit one first.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" y="5234940"/>
            <a:ext cx="10972800" cy="65836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94360" y="5166360"/>
            <a:ext cx="10972800" cy="658368"/>
          </a:xfrm>
          <a:prstGeom prst="rect">
            <a:avLst/>
          </a:prstGeom>
          <a:solidFill>
            <a:srgbClr val="0000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5166360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00D9E1"/>
                </a:solidFill>
                <a:latin typeface="Arial"/>
              </a:rPr>
              <a:t>NEXT WEEK THIS GETS A NAME. FOR NOW: ONE CARRIES A VALUE FORWARD, THE OTHER DOES NOT.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DF7"/>
                </a:solidFill>
                <a:latin typeface="Arial"/>
              </a:rPr>
              <a:t>THE SAME NINE LINES, A WEEK LATER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B4B4AC"/>
                </a:solidFill>
                <a:latin typeface="Calibri"/>
              </a:rPr>
              <a:t>Last week you could read the first three lines. Today you can read all of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97380"/>
            <a:ext cx="6858000" cy="37947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6858000" cy="37947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6968" y="20116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points = []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2860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560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for j in range(rows):                      # nested loop = grid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834639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    offset = spacing / 2 if j % 2 else 0   # odd/even stagger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108959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    for i in range(cols):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383279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        z = amplitude * sin(i * frequency + phase)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657599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        if 3 &lt;= i &lt;= 5:                    # Compare + Switch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931919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            z = z + lift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206239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        points.append([i * spacing + offset, j * row_gap, z])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03819" y="1897380"/>
            <a:ext cx="3931920" cy="37947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7635240" y="1828800"/>
            <a:ext cx="3931920" cy="37947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7635240" y="1828800"/>
            <a:ext cx="393192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863840" y="182880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00000"/>
                </a:solidFill>
                <a:latin typeface="Arial"/>
              </a:rPr>
              <a:t>WHAT IT MAPS ONTO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514600"/>
            <a:ext cx="169164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000000"/>
                </a:solidFill>
                <a:latin typeface="Calibri"/>
              </a:rPr>
              <a:t>list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000000"/>
                </a:solidFill>
                <a:latin typeface="Calibri"/>
              </a:rPr>
              <a:t>index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000000"/>
                </a:solidFill>
                <a:latin typeface="Calibri"/>
              </a:rPr>
              <a:t>count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000000"/>
                </a:solidFill>
                <a:latin typeface="Calibri"/>
              </a:rPr>
              <a:t>loop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000000"/>
                </a:solidFill>
                <a:latin typeface="Calibri"/>
              </a:rPr>
              <a:t>nested loop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000000"/>
                </a:solidFill>
                <a:latin typeface="Calibri"/>
              </a:rPr>
              <a:t>conditional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2514600"/>
            <a:ext cx="169164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000000"/>
                </a:solidFill>
                <a:latin typeface="Calibri"/>
              </a:rPr>
              <a:t>modulo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000000"/>
                </a:solidFill>
                <a:latin typeface="Calibri"/>
              </a:rPr>
              <a:t>sine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000000"/>
                </a:solidFill>
                <a:latin typeface="Calibri"/>
              </a:rPr>
              <a:t>amplitude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000000"/>
                </a:solidFill>
                <a:latin typeface="Calibri"/>
              </a:rPr>
              <a:t>frequency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000000"/>
                </a:solidFill>
                <a:latin typeface="Calibri"/>
              </a:rPr>
              <a:t>phase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" y="5966460"/>
            <a:ext cx="1097280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94360" y="5897880"/>
            <a:ext cx="10972800" cy="566928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77240" y="589788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j % 2 IS THE ODD/EVEN TEST · if IS COMPARE AND SWITCH · sin IS THE MATH NODE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F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NOW — FINISH THE FOUR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91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>
                <a:solidFill>
                  <a:srgbClr val="000000"/>
                </a:solidFill>
                <a:latin typeface="Calibri"/>
              </a:rPr>
              <a:t>Rest of the session: hexagonal, radial, the conditional and the sine.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2354580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2286000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9051" y="2354580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490472" y="2286000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764792" y="2286000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Hexagonal array working, with the odd/even test visible and row spacing correct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" y="3067812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94360" y="2999232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3182112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9051" y="3067812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490472" y="2999232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764792" y="2999232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Radial array working from radius, count and angular step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" y="3781044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94360" y="3712464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3895344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9051" y="3781044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490472" y="3712464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764792" y="3712464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One index range displaced — and you can say which indices and why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" y="4494276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94360" y="4425696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94360" y="460857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59051" y="4494276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490472" y="4425696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764792" y="4425696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Sine driving height, with amplitude, frequency and phase written down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" y="5207508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94360" y="5138928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94360" y="5321808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59051" y="5207508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1490472" y="5138928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764792" y="5138928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Three of the four chosen for the sheet, including the nested grid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2940" y="6012180"/>
            <a:ext cx="841248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594360" y="5943600"/>
            <a:ext cx="8412480" cy="566928"/>
          </a:xfrm>
          <a:prstGeom prst="rect">
            <a:avLst/>
          </a:prstGeom>
          <a:solidFill>
            <a:srgbClr val="0000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94360" y="5943600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C6F035"/>
                </a:solidFill>
                <a:latin typeface="Arial"/>
              </a:rPr>
              <a:t>P2a IS THREE COMPARISONS, NOT FOUR UNRELATED PICTURES.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BEFORE NEXT CLASS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62940" y="1851660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1508760" cy="804672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94360" y="2084831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WATCH</a:t>
            </a:r>
          </a:p>
        </p:txBody>
      </p:sp>
      <p:sp>
        <p:nvSpPr>
          <p:cNvPr id="7" name="Rectangle 6"/>
          <p:cNvSpPr/>
          <p:nvPr/>
        </p:nvSpPr>
        <p:spPr>
          <a:xfrm>
            <a:off x="2446020" y="1851660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2377440" y="1783080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651760" y="1901952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U05 — Attractors. Distance, remap, clamp and falloff. Next week the rule stops coming from the index and starts coming from a measurement.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" y="2912364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94360" y="2843784"/>
            <a:ext cx="1508760" cy="804672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94360" y="3145536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BRING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46020" y="2912364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2377440" y="2843784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651760" y="2962656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Your four arrangements, working. We drive them with attractors next class, so bring a file you can build 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940" y="3973068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94360" y="3904487"/>
            <a:ext cx="1508760" cy="804672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4360" y="420624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CHECK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46020" y="3973068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2377440" y="3904487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651760" y="4023359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P1c — the first print is due at the Week 10 midterm. If it is not queued yet, queue it now.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" y="5033772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94360" y="4965192"/>
            <a:ext cx="1508760" cy="804672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94360" y="5266944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FINISH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46020" y="5033772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2377440" y="4965192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2651760" y="5084064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Nothing is due today. P2a is due next class; keep the comparisons moving.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