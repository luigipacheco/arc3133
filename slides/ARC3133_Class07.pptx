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4D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07  /  OCT 6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HEX · RADIAL · CURVE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P3b SHEET 2 — STAGGER IT, SPIN IT, BEND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STUDIO-REVIEW WEEK — NOTHING DUE TODAY  /  P3b DUE WEEK 8 — OCT 13   /   7%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SHEET 2: THREE MORE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module. Three new rules for turning an index into a position.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stagger alternate 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851660"/>
            <a:ext cx="35204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783080"/>
            <a:ext cx="35204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RADIAL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3484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radius, count, angular step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851660"/>
            <a:ext cx="35204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783080"/>
            <a:ext cx="35204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CURVE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443484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resample, place, align</a:t>
            </a:r>
          </a:p>
        </p:txBody>
      </p:sp>
      <p:sp>
        <p:nvSpPr>
          <p:cNvPr id="20" name="Oval 19"/>
          <p:cNvSpPr/>
          <p:nvPr/>
        </p:nvSpPr>
        <p:spPr>
          <a:xfrm>
            <a:off x="1412748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723644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034540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345436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656332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967228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3278124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68196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879091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189988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500884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811779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122676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412748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723644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2034540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2345436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2656332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2967228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3278124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568196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1879091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2189988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2500884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2811779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3122676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412748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1723644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2034540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345436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2656332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967228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3278124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39988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6399180" y="3367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6397069" y="3388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6393560" y="34100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388668" y="34309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6382415" y="34516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6374827" y="34717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6365937" y="3491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6355783" y="35103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6344408" y="35286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6331860" y="3546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6318195" y="3562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6303469" y="35785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6287747" y="35932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6271096" y="36069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6253586" y="36194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6235293" y="36308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6216295" y="36410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6196674" y="36499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6176514" y="36575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6155900" y="3663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6134922" y="36686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6113668" y="36721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6092231" y="36742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6070701" y="36749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6049171" y="36742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027734" y="36721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006480" y="36686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5985502" y="3663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5964888" y="36575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5944728" y="36499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5925107" y="36410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5906109" y="36308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5887816" y="36194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5870307" y="36069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5853655" y="35932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5837933" y="35785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5823207" y="3562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5809542" y="3546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5796995" y="35286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5785619" y="35103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5775465" y="3491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5766575" y="34717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5758987" y="34516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5752734" y="34309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5747842" y="34100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5744333" y="3388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5742222" y="3367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741517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5742222" y="3324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5744333" y="3302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5747842" y="32815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5752734" y="326059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5758987" y="32399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5766575" y="32198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5775465" y="3200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5785619" y="31811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5796995" y="31629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5809542" y="31453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5823207" y="3128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5837933" y="31130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5853655" y="3098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5870307" y="30846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5887816" y="30720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5906109" y="30607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5925107" y="30505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5944728" y="30416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5964888" y="30340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5985502" y="3027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6006480" y="30229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6027734" y="30194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6049171" y="3017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6070701" y="30166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6092231" y="3017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6113668" y="30194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6134922" y="30229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6155900" y="3027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6176514" y="30340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6196674" y="30416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216295" y="30505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235293" y="30607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6253586" y="30720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6271096" y="30846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6287747" y="3098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303469" y="31130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6318195" y="3128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6331860" y="31453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6344408" y="31629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6355783" y="31811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6365937" y="3200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6374827" y="32198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6382415" y="32399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6388668" y="326059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6393560" y="32815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6397069" y="3302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6399180" y="3324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667420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6672913" y="33852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6669042" y="34245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6662609" y="3463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6653641" y="35019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6642177" y="35397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6628266" y="35767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6611967" y="36127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6593351" y="36475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6572496" y="3681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6549493" y="37131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6524439" y="37437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6497443" y="37725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6468619" y="3799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6438091" y="38245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6405990" y="38475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6372453" y="38684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6337624" y="38870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6301652" y="39033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6264691" y="39172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6226899" y="39287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6188439" y="39376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6149474" y="39441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6110172" y="394800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6070701" y="39492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6031230" y="394800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5991928" y="39441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5952963" y="39376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5914503" y="39287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5876711" y="39172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5839750" y="39033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5803778" y="38870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5768949" y="38684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5735412" y="38475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5703311" y="38245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5672783" y="3799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5643959" y="37725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5616963" y="37437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5591909" y="37131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5568906" y="3681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5548051" y="36475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5529435" y="36127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5513136" y="35767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5499225" y="35397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5487761" y="35019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5478793" y="3463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5472360" y="34245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5468489" y="33852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5467197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5468489" y="33063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5472360" y="32670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5478793" y="3228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5487761" y="31895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5499225" y="31517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5513136" y="31148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5529435" y="30788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5548051" y="30440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5568906" y="30105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5591909" y="29783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5616963" y="29478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5643959" y="29190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5672783" y="2892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5703311" y="28669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5735412" y="28439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5768949" y="28231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5803778" y="28045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5839750" y="27882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5876711" y="27743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5914503" y="2762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5952963" y="27538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5991928" y="27474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6031230" y="27435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6070701" y="27422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6110172" y="27435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6149474" y="27474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6188439" y="27538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6226899" y="2762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6264691" y="27743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6301652" y="27882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6337624" y="28045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6372453" y="28231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6405990" y="28439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6438091" y="28669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6468619" y="2892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6497443" y="29190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6524439" y="29478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6549493" y="29783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6572496" y="30105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6593351" y="30440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6611967" y="30788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6628266" y="31148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6642177" y="31517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6653641" y="31895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6662609" y="3228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6669042" y="32670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6672913" y="33063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694852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6946646" y="3403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6941015" y="34603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6931658" y="35170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6918614" y="35729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6901939" y="36279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6881705" y="36817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6857998" y="37340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6830919" y="378470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6800585" y="38334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6767126" y="38801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6730684" y="39245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6691416" y="39665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6649491" y="40057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6605086" y="40422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6558394" y="40756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6509613" y="41060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6458953" y="4133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6406630" y="41567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6352868" y="41770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6297899" y="41937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6241956" y="42067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6185280" y="4216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6128114" y="422173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6070701" y="42236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6013289" y="422173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5956122" y="4216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5899446" y="42067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5843504" y="41937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5788534" y="41770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5734772" y="41567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5682449" y="4133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5631789" y="41060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5583008" y="40756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5536316" y="40422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5491912" y="40057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5449986" y="39665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5410718" y="39245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5374276" y="38801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5340817" y="38334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5310483" y="378470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5283405" y="37340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5259697" y="36817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5239463" y="36279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5222788" y="35729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5209744" y="35170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5200387" y="34603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5194757" y="3403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5192877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5194757" y="3288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5200387" y="32312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5209744" y="317453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5222788" y="31185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5239463" y="30636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5259697" y="30098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5283405" y="29575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5310483" y="29068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5340817" y="2858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5374276" y="28114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5410718" y="27670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5449986" y="27250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5491912" y="26858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5536316" y="26493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5583008" y="26159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5631789" y="25855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5682449" y="25584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5734772" y="25347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5788534" y="25145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5843504" y="24978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5899446" y="24848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5956122" y="2475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6013289" y="24698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6070701" y="24679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6128114" y="24698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6185280" y="2475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6241956" y="24848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6297899" y="24978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6352868" y="25145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6406630" y="25347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6458953" y="25584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6509613" y="25855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6558394" y="26159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6605086" y="26493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6649491" y="26858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6691416" y="27250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6730684" y="27670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6767126" y="28114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6800585" y="2858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6830919" y="29068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6857998" y="29575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6881705" y="30098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6901939" y="30636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6918614" y="31185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6931658" y="317453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Oval 338"/>
          <p:cNvSpPr/>
          <p:nvPr/>
        </p:nvSpPr>
        <p:spPr>
          <a:xfrm>
            <a:off x="6941015" y="32312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Oval 339"/>
          <p:cNvSpPr/>
          <p:nvPr/>
        </p:nvSpPr>
        <p:spPr>
          <a:xfrm>
            <a:off x="6946646" y="3288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Oval 340"/>
          <p:cNvSpPr/>
          <p:nvPr/>
        </p:nvSpPr>
        <p:spPr>
          <a:xfrm>
            <a:off x="6035040" y="298094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Oval 341"/>
          <p:cNvSpPr/>
          <p:nvPr/>
        </p:nvSpPr>
        <p:spPr>
          <a:xfrm>
            <a:off x="6199632" y="302504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Oval 342"/>
          <p:cNvSpPr/>
          <p:nvPr/>
        </p:nvSpPr>
        <p:spPr>
          <a:xfrm>
            <a:off x="6320121" y="31455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Oval 343"/>
          <p:cNvSpPr/>
          <p:nvPr/>
        </p:nvSpPr>
        <p:spPr>
          <a:xfrm>
            <a:off x="6364224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Oval 344"/>
          <p:cNvSpPr/>
          <p:nvPr/>
        </p:nvSpPr>
        <p:spPr>
          <a:xfrm>
            <a:off x="6320121" y="34747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Oval 345"/>
          <p:cNvSpPr/>
          <p:nvPr/>
        </p:nvSpPr>
        <p:spPr>
          <a:xfrm>
            <a:off x="6199632" y="359520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Oval 346"/>
          <p:cNvSpPr/>
          <p:nvPr/>
        </p:nvSpPr>
        <p:spPr>
          <a:xfrm>
            <a:off x="6035040" y="36393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Oval 347"/>
          <p:cNvSpPr/>
          <p:nvPr/>
        </p:nvSpPr>
        <p:spPr>
          <a:xfrm>
            <a:off x="5870448" y="359520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Oval 348"/>
          <p:cNvSpPr/>
          <p:nvPr/>
        </p:nvSpPr>
        <p:spPr>
          <a:xfrm>
            <a:off x="5749958" y="34747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5705856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Oval 350"/>
          <p:cNvSpPr/>
          <p:nvPr/>
        </p:nvSpPr>
        <p:spPr>
          <a:xfrm>
            <a:off x="5749958" y="31455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Oval 351"/>
          <p:cNvSpPr/>
          <p:nvPr/>
        </p:nvSpPr>
        <p:spPr>
          <a:xfrm>
            <a:off x="5870448" y="302504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Oval 352"/>
          <p:cNvSpPr/>
          <p:nvPr/>
        </p:nvSpPr>
        <p:spPr>
          <a:xfrm>
            <a:off x="6035040" y="270662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6336792" y="278747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Oval 354"/>
          <p:cNvSpPr/>
          <p:nvPr/>
        </p:nvSpPr>
        <p:spPr>
          <a:xfrm>
            <a:off x="6557689" y="300837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Oval 355"/>
          <p:cNvSpPr/>
          <p:nvPr/>
        </p:nvSpPr>
        <p:spPr>
          <a:xfrm>
            <a:off x="6638544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Oval 356"/>
          <p:cNvSpPr/>
          <p:nvPr/>
        </p:nvSpPr>
        <p:spPr>
          <a:xfrm>
            <a:off x="6557689" y="361188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6336792" y="383277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Oval 358"/>
          <p:cNvSpPr/>
          <p:nvPr/>
        </p:nvSpPr>
        <p:spPr>
          <a:xfrm>
            <a:off x="6035040" y="391363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Oval 359"/>
          <p:cNvSpPr/>
          <p:nvPr/>
        </p:nvSpPr>
        <p:spPr>
          <a:xfrm>
            <a:off x="5733288" y="383277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Oval 360"/>
          <p:cNvSpPr/>
          <p:nvPr/>
        </p:nvSpPr>
        <p:spPr>
          <a:xfrm>
            <a:off x="5512390" y="361188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Oval 361"/>
          <p:cNvSpPr/>
          <p:nvPr/>
        </p:nvSpPr>
        <p:spPr>
          <a:xfrm>
            <a:off x="5431536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Oval 362"/>
          <p:cNvSpPr/>
          <p:nvPr/>
        </p:nvSpPr>
        <p:spPr>
          <a:xfrm>
            <a:off x="5512390" y="300837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Oval 363"/>
          <p:cNvSpPr/>
          <p:nvPr/>
        </p:nvSpPr>
        <p:spPr>
          <a:xfrm>
            <a:off x="5733288" y="278747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Oval 364"/>
          <p:cNvSpPr/>
          <p:nvPr/>
        </p:nvSpPr>
        <p:spPr>
          <a:xfrm>
            <a:off x="6035040" y="24323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Oval 365"/>
          <p:cNvSpPr/>
          <p:nvPr/>
        </p:nvSpPr>
        <p:spPr>
          <a:xfrm>
            <a:off x="6473952" y="254991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Oval 366"/>
          <p:cNvSpPr/>
          <p:nvPr/>
        </p:nvSpPr>
        <p:spPr>
          <a:xfrm>
            <a:off x="6795257" y="287121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Oval 367"/>
          <p:cNvSpPr/>
          <p:nvPr/>
        </p:nvSpPr>
        <p:spPr>
          <a:xfrm>
            <a:off x="6912864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Oval 368"/>
          <p:cNvSpPr/>
          <p:nvPr/>
        </p:nvSpPr>
        <p:spPr>
          <a:xfrm>
            <a:off x="6795257" y="374903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Oval 369"/>
          <p:cNvSpPr/>
          <p:nvPr/>
        </p:nvSpPr>
        <p:spPr>
          <a:xfrm>
            <a:off x="6473952" y="4070345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Oval 370"/>
          <p:cNvSpPr/>
          <p:nvPr/>
        </p:nvSpPr>
        <p:spPr>
          <a:xfrm>
            <a:off x="6035040" y="418795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Oval 371"/>
          <p:cNvSpPr/>
          <p:nvPr/>
        </p:nvSpPr>
        <p:spPr>
          <a:xfrm>
            <a:off x="5596128" y="4070345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Oval 372"/>
          <p:cNvSpPr/>
          <p:nvPr/>
        </p:nvSpPr>
        <p:spPr>
          <a:xfrm>
            <a:off x="5274822" y="374904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Oval 373"/>
          <p:cNvSpPr/>
          <p:nvPr/>
        </p:nvSpPr>
        <p:spPr>
          <a:xfrm>
            <a:off x="5157216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Oval 374"/>
          <p:cNvSpPr/>
          <p:nvPr/>
        </p:nvSpPr>
        <p:spPr>
          <a:xfrm>
            <a:off x="5274822" y="287121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Oval 375"/>
          <p:cNvSpPr/>
          <p:nvPr/>
        </p:nvSpPr>
        <p:spPr>
          <a:xfrm>
            <a:off x="5596128" y="254991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Oval 376"/>
          <p:cNvSpPr/>
          <p:nvPr/>
        </p:nvSpPr>
        <p:spPr>
          <a:xfrm>
            <a:off x="6007608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Oval 377"/>
          <p:cNvSpPr/>
          <p:nvPr/>
        </p:nvSpPr>
        <p:spPr>
          <a:xfrm>
            <a:off x="8453628" y="33421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Oval 378"/>
          <p:cNvSpPr/>
          <p:nvPr/>
        </p:nvSpPr>
        <p:spPr>
          <a:xfrm>
            <a:off x="8492721" y="329639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Oval 379"/>
          <p:cNvSpPr/>
          <p:nvPr/>
        </p:nvSpPr>
        <p:spPr>
          <a:xfrm>
            <a:off x="8531815" y="32510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Oval 380"/>
          <p:cNvSpPr/>
          <p:nvPr/>
        </p:nvSpPr>
        <p:spPr>
          <a:xfrm>
            <a:off x="8570909" y="32064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Oval 381"/>
          <p:cNvSpPr/>
          <p:nvPr/>
        </p:nvSpPr>
        <p:spPr>
          <a:xfrm>
            <a:off x="8610003" y="31629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Oval 382"/>
          <p:cNvSpPr/>
          <p:nvPr/>
        </p:nvSpPr>
        <p:spPr>
          <a:xfrm>
            <a:off x="8649097" y="312098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Oval 383"/>
          <p:cNvSpPr/>
          <p:nvPr/>
        </p:nvSpPr>
        <p:spPr>
          <a:xfrm>
            <a:off x="8688191" y="30808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Oval 384"/>
          <p:cNvSpPr/>
          <p:nvPr/>
        </p:nvSpPr>
        <p:spPr>
          <a:xfrm>
            <a:off x="8727285" y="304283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Oval 385"/>
          <p:cNvSpPr/>
          <p:nvPr/>
        </p:nvSpPr>
        <p:spPr>
          <a:xfrm>
            <a:off x="8766379" y="30073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7" name="Oval 386"/>
          <p:cNvSpPr/>
          <p:nvPr/>
        </p:nvSpPr>
        <p:spPr>
          <a:xfrm>
            <a:off x="8805473" y="29745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Oval 387"/>
          <p:cNvSpPr/>
          <p:nvPr/>
        </p:nvSpPr>
        <p:spPr>
          <a:xfrm>
            <a:off x="8844567" y="29448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9" name="Oval 388"/>
          <p:cNvSpPr/>
          <p:nvPr/>
        </p:nvSpPr>
        <p:spPr>
          <a:xfrm>
            <a:off x="8883661" y="29184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Oval 389"/>
          <p:cNvSpPr/>
          <p:nvPr/>
        </p:nvSpPr>
        <p:spPr>
          <a:xfrm>
            <a:off x="8922754" y="28955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1" name="Oval 390"/>
          <p:cNvSpPr/>
          <p:nvPr/>
        </p:nvSpPr>
        <p:spPr>
          <a:xfrm>
            <a:off x="8961848" y="28764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Oval 391"/>
          <p:cNvSpPr/>
          <p:nvPr/>
        </p:nvSpPr>
        <p:spPr>
          <a:xfrm>
            <a:off x="9000942" y="28610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3" name="Oval 392"/>
          <p:cNvSpPr/>
          <p:nvPr/>
        </p:nvSpPr>
        <p:spPr>
          <a:xfrm>
            <a:off x="9040036" y="28497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Oval 393"/>
          <p:cNvSpPr/>
          <p:nvPr/>
        </p:nvSpPr>
        <p:spPr>
          <a:xfrm>
            <a:off x="9079130" y="284246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5" name="Oval 394"/>
          <p:cNvSpPr/>
          <p:nvPr/>
        </p:nvSpPr>
        <p:spPr>
          <a:xfrm>
            <a:off x="9118224" y="28393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Oval 395"/>
          <p:cNvSpPr/>
          <p:nvPr/>
        </p:nvSpPr>
        <p:spPr>
          <a:xfrm>
            <a:off x="9157318" y="28403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7" name="Oval 396"/>
          <p:cNvSpPr/>
          <p:nvPr/>
        </p:nvSpPr>
        <p:spPr>
          <a:xfrm>
            <a:off x="9196412" y="28455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Oval 397"/>
          <p:cNvSpPr/>
          <p:nvPr/>
        </p:nvSpPr>
        <p:spPr>
          <a:xfrm>
            <a:off x="9235506" y="28548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Oval 398"/>
          <p:cNvSpPr/>
          <p:nvPr/>
        </p:nvSpPr>
        <p:spPr>
          <a:xfrm>
            <a:off x="9274600" y="286825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Oval 399"/>
          <p:cNvSpPr/>
          <p:nvPr/>
        </p:nvSpPr>
        <p:spPr>
          <a:xfrm>
            <a:off x="9313694" y="288552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1" name="Oval 400"/>
          <p:cNvSpPr/>
          <p:nvPr/>
        </p:nvSpPr>
        <p:spPr>
          <a:xfrm>
            <a:off x="9352787" y="29065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Oval 401"/>
          <p:cNvSpPr/>
          <p:nvPr/>
        </p:nvSpPr>
        <p:spPr>
          <a:xfrm>
            <a:off x="9391881" y="293126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3" name="Oval 402"/>
          <p:cNvSpPr/>
          <p:nvPr/>
        </p:nvSpPr>
        <p:spPr>
          <a:xfrm>
            <a:off x="9430975" y="29593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Oval 403"/>
          <p:cNvSpPr/>
          <p:nvPr/>
        </p:nvSpPr>
        <p:spPr>
          <a:xfrm>
            <a:off x="9470069" y="29905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5" name="Oval 404"/>
          <p:cNvSpPr/>
          <p:nvPr/>
        </p:nvSpPr>
        <p:spPr>
          <a:xfrm>
            <a:off x="9509163" y="30247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Oval 405"/>
          <p:cNvSpPr/>
          <p:nvPr/>
        </p:nvSpPr>
        <p:spPr>
          <a:xfrm>
            <a:off x="9548257" y="30615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7" name="Oval 406"/>
          <p:cNvSpPr/>
          <p:nvPr/>
        </p:nvSpPr>
        <p:spPr>
          <a:xfrm>
            <a:off x="9587351" y="31006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Oval 407"/>
          <p:cNvSpPr/>
          <p:nvPr/>
        </p:nvSpPr>
        <p:spPr>
          <a:xfrm>
            <a:off x="9626445" y="314176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9" name="Oval 408"/>
          <p:cNvSpPr/>
          <p:nvPr/>
        </p:nvSpPr>
        <p:spPr>
          <a:xfrm>
            <a:off x="9665539" y="31845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Oval 409"/>
          <p:cNvSpPr/>
          <p:nvPr/>
        </p:nvSpPr>
        <p:spPr>
          <a:xfrm>
            <a:off x="9704633" y="322862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1" name="Oval 410"/>
          <p:cNvSpPr/>
          <p:nvPr/>
        </p:nvSpPr>
        <p:spPr>
          <a:xfrm>
            <a:off x="9743727" y="32736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Oval 411"/>
          <p:cNvSpPr/>
          <p:nvPr/>
        </p:nvSpPr>
        <p:spPr>
          <a:xfrm>
            <a:off x="9782821" y="331924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3" name="Oval 412"/>
          <p:cNvSpPr/>
          <p:nvPr/>
        </p:nvSpPr>
        <p:spPr>
          <a:xfrm>
            <a:off x="9821914" y="33650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Oval 413"/>
          <p:cNvSpPr/>
          <p:nvPr/>
        </p:nvSpPr>
        <p:spPr>
          <a:xfrm>
            <a:off x="9861008" y="34106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5" name="Oval 414"/>
          <p:cNvSpPr/>
          <p:nvPr/>
        </p:nvSpPr>
        <p:spPr>
          <a:xfrm>
            <a:off x="9900102" y="34556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Oval 415"/>
          <p:cNvSpPr/>
          <p:nvPr/>
        </p:nvSpPr>
        <p:spPr>
          <a:xfrm>
            <a:off x="9939196" y="34997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7" name="Oval 416"/>
          <p:cNvSpPr/>
          <p:nvPr/>
        </p:nvSpPr>
        <p:spPr>
          <a:xfrm>
            <a:off x="9978290" y="354249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8" name="Oval 417"/>
          <p:cNvSpPr/>
          <p:nvPr/>
        </p:nvSpPr>
        <p:spPr>
          <a:xfrm>
            <a:off x="10017384" y="35836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9" name="Oval 418"/>
          <p:cNvSpPr/>
          <p:nvPr/>
        </p:nvSpPr>
        <p:spPr>
          <a:xfrm>
            <a:off x="10056478" y="362272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0" name="Oval 419"/>
          <p:cNvSpPr/>
          <p:nvPr/>
        </p:nvSpPr>
        <p:spPr>
          <a:xfrm>
            <a:off x="10095572" y="36595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1" name="Oval 420"/>
          <p:cNvSpPr/>
          <p:nvPr/>
        </p:nvSpPr>
        <p:spPr>
          <a:xfrm>
            <a:off x="10134666" y="36936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2" name="Oval 421"/>
          <p:cNvSpPr/>
          <p:nvPr/>
        </p:nvSpPr>
        <p:spPr>
          <a:xfrm>
            <a:off x="10173760" y="372492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3" name="Oval 422"/>
          <p:cNvSpPr/>
          <p:nvPr/>
        </p:nvSpPr>
        <p:spPr>
          <a:xfrm>
            <a:off x="10212854" y="375300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4" name="Oval 423"/>
          <p:cNvSpPr/>
          <p:nvPr/>
        </p:nvSpPr>
        <p:spPr>
          <a:xfrm>
            <a:off x="10251948" y="377767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5" name="Oval 424"/>
          <p:cNvSpPr/>
          <p:nvPr/>
        </p:nvSpPr>
        <p:spPr>
          <a:xfrm>
            <a:off x="10291041" y="37987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6" name="Oval 425"/>
          <p:cNvSpPr/>
          <p:nvPr/>
        </p:nvSpPr>
        <p:spPr>
          <a:xfrm>
            <a:off x="10330135" y="38160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7" name="Oval 426"/>
          <p:cNvSpPr/>
          <p:nvPr/>
        </p:nvSpPr>
        <p:spPr>
          <a:xfrm>
            <a:off x="10369229" y="382936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8" name="Oval 427"/>
          <p:cNvSpPr/>
          <p:nvPr/>
        </p:nvSpPr>
        <p:spPr>
          <a:xfrm>
            <a:off x="10408323" y="38386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9" name="Oval 428"/>
          <p:cNvSpPr/>
          <p:nvPr/>
        </p:nvSpPr>
        <p:spPr>
          <a:xfrm>
            <a:off x="10447417" y="38438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0" name="Oval 429"/>
          <p:cNvSpPr/>
          <p:nvPr/>
        </p:nvSpPr>
        <p:spPr>
          <a:xfrm>
            <a:off x="10486511" y="384492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1" name="Oval 430"/>
          <p:cNvSpPr/>
          <p:nvPr/>
        </p:nvSpPr>
        <p:spPr>
          <a:xfrm>
            <a:off x="10525605" y="384179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2" name="Oval 431"/>
          <p:cNvSpPr/>
          <p:nvPr/>
        </p:nvSpPr>
        <p:spPr>
          <a:xfrm>
            <a:off x="10564699" y="38345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3" name="Oval 432"/>
          <p:cNvSpPr/>
          <p:nvPr/>
        </p:nvSpPr>
        <p:spPr>
          <a:xfrm>
            <a:off x="10603793" y="38231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4" name="Oval 433"/>
          <p:cNvSpPr/>
          <p:nvPr/>
        </p:nvSpPr>
        <p:spPr>
          <a:xfrm>
            <a:off x="10642887" y="38078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5" name="Oval 434"/>
          <p:cNvSpPr/>
          <p:nvPr/>
        </p:nvSpPr>
        <p:spPr>
          <a:xfrm>
            <a:off x="10681981" y="378866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6" name="Oval 435"/>
          <p:cNvSpPr/>
          <p:nvPr/>
        </p:nvSpPr>
        <p:spPr>
          <a:xfrm>
            <a:off x="10721074" y="376577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7" name="Oval 436"/>
          <p:cNvSpPr/>
          <p:nvPr/>
        </p:nvSpPr>
        <p:spPr>
          <a:xfrm>
            <a:off x="10760168" y="373937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8" name="Oval 437"/>
          <p:cNvSpPr/>
          <p:nvPr/>
        </p:nvSpPr>
        <p:spPr>
          <a:xfrm>
            <a:off x="10799262" y="37096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9" name="Oval 438"/>
          <p:cNvSpPr/>
          <p:nvPr/>
        </p:nvSpPr>
        <p:spPr>
          <a:xfrm>
            <a:off x="10838356" y="367694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0" name="Oval 439"/>
          <p:cNvSpPr/>
          <p:nvPr/>
        </p:nvSpPr>
        <p:spPr>
          <a:xfrm>
            <a:off x="10877450" y="36414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1" name="Oval 440"/>
          <p:cNvSpPr/>
          <p:nvPr/>
        </p:nvSpPr>
        <p:spPr>
          <a:xfrm>
            <a:off x="10916544" y="360344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2" name="Oval 441"/>
          <p:cNvSpPr/>
          <p:nvPr/>
        </p:nvSpPr>
        <p:spPr>
          <a:xfrm>
            <a:off x="10955638" y="35632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3" name="Oval 442"/>
          <p:cNvSpPr/>
          <p:nvPr/>
        </p:nvSpPr>
        <p:spPr>
          <a:xfrm>
            <a:off x="10994732" y="35212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4" name="Oval 443"/>
          <p:cNvSpPr/>
          <p:nvPr/>
        </p:nvSpPr>
        <p:spPr>
          <a:xfrm>
            <a:off x="11033826" y="34778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5" name="Oval 444"/>
          <p:cNvSpPr/>
          <p:nvPr/>
        </p:nvSpPr>
        <p:spPr>
          <a:xfrm>
            <a:off x="11072920" y="34332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6" name="Oval 445"/>
          <p:cNvSpPr/>
          <p:nvPr/>
        </p:nvSpPr>
        <p:spPr>
          <a:xfrm>
            <a:off x="11112014" y="33878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7" name="Oval 446"/>
          <p:cNvSpPr/>
          <p:nvPr/>
        </p:nvSpPr>
        <p:spPr>
          <a:xfrm>
            <a:off x="11151108" y="33421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8" name="Rectangle 447"/>
          <p:cNvSpPr/>
          <p:nvPr/>
        </p:nvSpPr>
        <p:spPr>
          <a:xfrm rot="18629142">
            <a:off x="8375904" y="326440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9" name="Rectangle 448"/>
          <p:cNvSpPr/>
          <p:nvPr/>
        </p:nvSpPr>
        <p:spPr>
          <a:xfrm rot="19221833">
            <a:off x="8713089" y="2908789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0" name="Rectangle 449"/>
          <p:cNvSpPr/>
          <p:nvPr/>
        </p:nvSpPr>
        <p:spPr>
          <a:xfrm rot="0">
            <a:off x="9050274" y="276148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1" name="Rectangle 450"/>
          <p:cNvSpPr/>
          <p:nvPr/>
        </p:nvSpPr>
        <p:spPr>
          <a:xfrm rot="2378167">
            <a:off x="9387459" y="2908789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2" name="Rectangle 451"/>
          <p:cNvSpPr/>
          <p:nvPr/>
        </p:nvSpPr>
        <p:spPr>
          <a:xfrm rot="2970858">
            <a:off x="9724644" y="326440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3" name="Rectangle 452"/>
          <p:cNvSpPr/>
          <p:nvPr/>
        </p:nvSpPr>
        <p:spPr>
          <a:xfrm rot="2378167">
            <a:off x="10061829" y="3620026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4" name="Rectangle 453"/>
          <p:cNvSpPr/>
          <p:nvPr/>
        </p:nvSpPr>
        <p:spPr>
          <a:xfrm rot="0">
            <a:off x="10399014" y="376732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5" name="Rectangle 454"/>
          <p:cNvSpPr/>
          <p:nvPr/>
        </p:nvSpPr>
        <p:spPr>
          <a:xfrm rot="19221833">
            <a:off x="10736199" y="3620026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6" name="Rectangle 455"/>
          <p:cNvSpPr/>
          <p:nvPr/>
        </p:nvSpPr>
        <p:spPr>
          <a:xfrm rot="18629142">
            <a:off x="11073384" y="326440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7" name="Rectangle 456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8" name="Rectangle 457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9" name="TextBox 458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Sheet 1 counted along axes. Sheet 2 keeps the counter and changes the rule that turns it into a position.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HEXAGONAL IS A GRID WITH AN ODD/EVEN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Stagger alternate rows by half the spacing. Set the row spacing on its 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offset = (j mod 2 == 0) ? 0 : dx / 2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Modulo asks: is this row odd or even? Compare turns that into True or False, and Switch picks the offset. The same two nodes as last week.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Row spacing is not dx. For a true hex field it is dx × √3 / 2. Use dx for both and you get a squashed grid.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IT LOOKS LIKE</a:t>
            </a:r>
          </a:p>
        </p:txBody>
      </p:sp>
      <p:sp>
        <p:nvSpPr>
          <p:cNvPr id="14" name="Oval 13"/>
          <p:cNvSpPr/>
          <p:nvPr/>
        </p:nvSpPr>
        <p:spPr>
          <a:xfrm>
            <a:off x="721004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57580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94156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0732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67308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03884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40460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9292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5868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12444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9020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85596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2172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21004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57580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94156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30732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67308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03884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40460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39292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75868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12444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49020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85596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922172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21004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57580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94156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30732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67308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903884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940460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39292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775868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12444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49020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85596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22172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A BRICK BOND IS A STAGGERED ARRAY. SO IS A HONEYCOMB. SO IS HALF THE PAVING YOU WALK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RADIAL IS POLAR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Radius, count, angular step. The index drives the angle.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ourier New"/>
              </a:rPr>
              <a:t>step  = 360 / count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ourier New"/>
              </a:rPr>
              <a:t>θ[i]  = i × step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p[i]  = c + r · (cos θ, sin θ)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rotation arithmetic from Week 2 — where x and y have to talk to each other — now generating positions instead of moving a solid.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THREE KNOBS</a:t>
            </a:r>
          </a:p>
        </p:txBody>
      </p:sp>
      <p:sp>
        <p:nvSpPr>
          <p:cNvPr id="14" name="Oval 13"/>
          <p:cNvSpPr/>
          <p:nvPr/>
        </p:nvSpPr>
        <p:spPr>
          <a:xfrm>
            <a:off x="9325965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325260" y="33033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9323149" y="33247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319640" y="33460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14748" y="336698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308495" y="3387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300907" y="34077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292017" y="34273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281863" y="34463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270488" y="34646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257940" y="34821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244275" y="34988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29549" y="3514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213827" y="35292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197176" y="35429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179666" y="35554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161373" y="35668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142375" y="357701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122754" y="35859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102594" y="35934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9081980" y="35997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9061002" y="36046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9039748" y="36081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9018311" y="36102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996781" y="36109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975251" y="36102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953814" y="36081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8932560" y="36046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911582" y="35997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890968" y="35934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870808" y="35859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851187" y="357701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832189" y="35668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813896" y="35554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796387" y="35429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779735" y="35292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764013" y="3514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749287" y="34988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735622" y="34821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723075" y="34646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711699" y="34463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701545" y="34273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692655" y="34077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685067" y="3387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678814" y="336698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673922" y="33460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670413" y="33247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668302" y="33033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667597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8668302" y="32602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8670413" y="32388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8673922" y="32175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8678814" y="31965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685067" y="31759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8692655" y="315580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701545" y="31361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8711699" y="31171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8723075" y="30988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735622" y="30813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749287" y="30647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764013" y="30490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779735" y="30342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796387" y="30206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8813896" y="30080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8832189" y="29966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8851187" y="29865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8870808" y="29776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8890968" y="29700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8911582" y="29638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8932560" y="29589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953814" y="29554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8975251" y="2953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8996781" y="29525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9018311" y="2953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9039748" y="29554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9061002" y="29589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9081980" y="29638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9102594" y="29700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9122754" y="29776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9142375" y="29865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9161373" y="29966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9179666" y="30080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9197176" y="30206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9213827" y="30342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9229549" y="30490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9244275" y="30647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9257940" y="30813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9270488" y="30988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9281863" y="31171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9292017" y="31361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9300907" y="315580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9308495" y="31759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9314748" y="31965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9319640" y="32175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9323149" y="32388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9325260" y="32602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9600285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9598993" y="33212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9595122" y="33605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588689" y="33995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579721" y="34379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568257" y="34757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554346" y="3512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9538047" y="35487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9519431" y="35835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9498576" y="361707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9475573" y="36491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9450519" y="36796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9423523" y="37085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9394699" y="37355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9364171" y="37605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9332070" y="37835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9298533" y="38044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9263704" y="38230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9227732" y="38393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9190771" y="38532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9152979" y="38647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9114519" y="38736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9075554" y="38801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9036252" y="38839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8996781" y="38852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957310" y="38839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8918008" y="38801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8879043" y="38736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8840583" y="38647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8802791" y="38532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8765830" y="38393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8729858" y="38230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8695029" y="38044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661492" y="37835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629391" y="37605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8598863" y="37355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8570039" y="37085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543043" y="36796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8517989" y="36491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8494986" y="361707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8474131" y="35835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8455515" y="35487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8439216" y="3512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8425305" y="34757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8413841" y="34379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8404873" y="33995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8398440" y="33605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8394569" y="33212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8393277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394569" y="3242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8398440" y="320300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8404873" y="31640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8413841" y="31255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8425305" y="30877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8439216" y="30508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8455515" y="30148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8474131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8494986" y="29464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8517989" y="29143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8543043" y="28838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8570039" y="28550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598863" y="28280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8629391" y="28029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8661492" y="27799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8695029" y="27591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8729858" y="27405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8765830" y="27242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8802791" y="27103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8840583" y="26988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8879043" y="26898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8918008" y="26834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8957310" y="26795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8996781" y="26782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9036252" y="26795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9075554" y="26834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9114519" y="26898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152979" y="26988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9190771" y="27103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9227732" y="27242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9263704" y="27405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9298533" y="27591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9332070" y="27799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9364171" y="28029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9394699" y="28280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9423523" y="28550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9450519" y="28838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9475573" y="29143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9498576" y="29464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9519431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9538047" y="30148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9554346" y="30508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9568257" y="30877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9579721" y="31255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9588689" y="31640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9595122" y="320300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9598993" y="3242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9874605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9872726" y="33391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9867095" y="33963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9857738" y="34530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9844694" y="35089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9828019" y="35639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9807785" y="36177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9784078" y="36700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9756999" y="37206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9726665" y="37694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9693206" y="38161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9656764" y="38605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9617496" y="39024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9575571" y="39417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9531166" y="39782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9484474" y="40116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9435693" y="40419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9385033" y="4069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9332710" y="40927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9278948" y="41130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9223979" y="41296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9168036" y="4142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9111360" y="41520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9054194" y="41577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8996781" y="41596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8939369" y="41577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8882202" y="41520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8825526" y="4142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8769584" y="41296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8714614" y="41130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8660852" y="40927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8608529" y="4069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8557869" y="40419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8509088" y="40116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8462396" y="39782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8417992" y="39417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8376066" y="39024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8336798" y="38605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8300356" y="38161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8266897" y="37694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8236563" y="37206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8209485" y="36700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8185777" y="36177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8165543" y="35639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8148868" y="35089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8135824" y="34530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8126467" y="33963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8120837" y="33391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8118957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8120837" y="32243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8126467" y="3167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8135824" y="3110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8148868" y="30545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8165543" y="29996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8185777" y="29458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8209485" y="28935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8236563" y="2842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8266897" y="27940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8300356" y="27473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8336798" y="27029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8376066" y="26610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8417992" y="262179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8462396" y="2585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8509088" y="25518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8557869" y="25215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8608529" y="24944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8660852" y="24707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8714614" y="24505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8769584" y="24338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8825526" y="24208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8882202" y="24114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8939369" y="2405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8996781" y="24039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9054194" y="2405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9111360" y="24114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9168036" y="24208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9223979" y="24338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9278948" y="24505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9332710" y="24707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9385033" y="24944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9435693" y="25215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9484474" y="25518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9531166" y="2585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9575571" y="262179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9617496" y="26610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9656764" y="27029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9693206" y="27473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9726665" y="27940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9756999" y="2842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9784078" y="28935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9807785" y="29458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9828019" y="29996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9844694" y="30545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9857738" y="3110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9867095" y="3167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9872726" y="32243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8961119" y="29169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9125711" y="296103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9246201" y="30815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9290303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9246201" y="34107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9125711" y="3531201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8961119" y="35753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8796528" y="3531201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8676038" y="34107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8631936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8676038" y="30815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8796528" y="296103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8961119" y="264261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9262872" y="272347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9483769" y="294436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9564624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9483769" y="354787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9262872" y="376876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8961119" y="384962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8659367" y="376876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8438470" y="354787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8357615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8438470" y="294436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8659367" y="272347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8961119" y="236829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9400032" y="248590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9721337" y="280720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9838943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9721337" y="368503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9400032" y="400633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8961119" y="412394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8522207" y="400633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8200902" y="368503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8083296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8200902" y="280720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8522207" y="248590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8933688" y="321868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TextBox 338"/>
          <p:cNvSpPr txBox="1"/>
          <p:nvPr/>
        </p:nvSpPr>
        <p:spPr>
          <a:xfrm>
            <a:off x="6675120" y="434340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Change the count and the step changes with it. Change the radius and the ring opens up.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Rectangle 340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TextBox 341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YOUR LAST COPY LANDS ON TOP OF YOUR FIRST, YOU DIVIDED BY THE WRONG NUMBER.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AN ARRAY ALONG A 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curve supplies the positions. Its tangent supplies the direction.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475488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475488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475488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60320"/>
            <a:ext cx="548640" cy="54864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7340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420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RESAMPLE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Divide the curve into a count of evenly spaced points.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364991"/>
            <a:ext cx="548640" cy="54864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353872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346703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621024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Put one copy of the module on each 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169663"/>
            <a:ext cx="548640" cy="54864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343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5137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ALIGN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25696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Rotate each copy to the curve's tangent at that point.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46420" y="1943100"/>
            <a:ext cx="59893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577840" y="1874519"/>
            <a:ext cx="59893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577840" y="1874519"/>
            <a:ext cx="598932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806440" y="1874519"/>
            <a:ext cx="5532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NOT ALIGNED  ·  ALIGNED</a:t>
            </a:r>
          </a:p>
        </p:txBody>
      </p:sp>
      <p:sp>
        <p:nvSpPr>
          <p:cNvPr id="25" name="Oval 24"/>
          <p:cNvSpPr/>
          <p:nvPr/>
        </p:nvSpPr>
        <p:spPr>
          <a:xfrm>
            <a:off x="6021324" y="29580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6094210" y="29248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167097" y="28918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6239984" y="28594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312871" y="28277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385758" y="279724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458645" y="27680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531532" y="27404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604419" y="271458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6677306" y="269077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6750193" y="26691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6823080" y="264997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6895967" y="26333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968854" y="26193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041741" y="260822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114628" y="25999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187515" y="25946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260402" y="25924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7333289" y="259317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406176" y="259695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7479063" y="26037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7551950" y="26134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624837" y="262600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7697724" y="264132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7770610" y="265926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7843497" y="26796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7916384" y="27024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7989271" y="27272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062158" y="275401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135045" y="278246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207932" y="28123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280819" y="28434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353706" y="28755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426593" y="29082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499480" y="29414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572367" y="29747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645254" y="30078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718141" y="30406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8791028" y="30726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8863915" y="31038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8936802" y="31337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009689" y="31621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082576" y="31889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155463" y="321375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9228350" y="323648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9301237" y="32568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9374123" y="327484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9447010" y="329015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9519897" y="330272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9592784" y="33124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9665671" y="331920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9738558" y="33229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9811445" y="332374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9884332" y="332147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9957219" y="33161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10030106" y="330794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10102993" y="32967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10175880" y="32828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10248767" y="326618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321654" y="32469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94541" y="322539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0467428" y="32015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540315" y="31757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10613202" y="314812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10686089" y="311892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758976" y="308838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0831863" y="30567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0904750" y="302432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977637" y="29913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11050524" y="29580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5934455" y="2871216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6437375" y="2656227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6940295" y="2523357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7443216" y="2523357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7946136" y="2656227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8449056" y="2871216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8951976" y="3086204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9454896" y="3219074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9957816" y="3219074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10460736" y="3086204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10963656" y="2871216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6021324" y="42382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6094210" y="42049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6167097" y="41719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239984" y="413956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6312871" y="41079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6385758" y="40774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6458645" y="40482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531532" y="40205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604419" y="39947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6677306" y="39709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750193" y="394933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6823080" y="39301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6895967" y="39134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6968854" y="389953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7041741" y="38883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7114628" y="388013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7187515" y="387485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7260402" y="387257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7333289" y="38733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7406176" y="38771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7479063" y="38838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7551950" y="389360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7624837" y="390616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7697724" y="39214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7770610" y="393942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7843497" y="395984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7916384" y="398257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7989271" y="40074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8062158" y="40341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135045" y="406262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8207932" y="409252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8280819" y="41236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8353706" y="415569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8426593" y="418843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8499480" y="42215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8572367" y="42548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8645254" y="42880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718141" y="43207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791028" y="43528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8863915" y="438396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8936802" y="441386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9009689" y="44423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9082576" y="44690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9155463" y="449391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9228350" y="45166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9301237" y="453705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9374123" y="455500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9447010" y="457031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9519897" y="45828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9592784" y="459259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9665671" y="459936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9738558" y="46031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9811445" y="460390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9884332" y="46016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9957219" y="45963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030106" y="45881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10102993" y="45769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175880" y="45629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10248767" y="454634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0321654" y="45271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10394541" y="450555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10467428" y="44817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10540315" y="44559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0613202" y="44282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10686089" y="439908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10758976" y="43685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10831863" y="433692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10904750" y="430448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10977637" y="427150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11050524" y="42382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 rot="20126493">
            <a:off x="5934455" y="4151376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 rot="20382676">
            <a:off x="6437375" y="3936387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 rot="21117751">
            <a:off x="6940295" y="3803517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 rot="482249">
            <a:off x="7443216" y="3803517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 rot="1217324">
            <a:off x="7946136" y="3936387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ectangle 180"/>
          <p:cNvSpPr/>
          <p:nvPr/>
        </p:nvSpPr>
        <p:spPr>
          <a:xfrm rot="1473507">
            <a:off x="8449056" y="4151376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 rot="1217324">
            <a:off x="8951976" y="4366364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ectangle 182"/>
          <p:cNvSpPr/>
          <p:nvPr/>
        </p:nvSpPr>
        <p:spPr>
          <a:xfrm rot="482249">
            <a:off x="9454896" y="4499234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Rectangle 183"/>
          <p:cNvSpPr/>
          <p:nvPr/>
        </p:nvSpPr>
        <p:spPr>
          <a:xfrm rot="21117751">
            <a:off x="9957816" y="4499234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ectangle 184"/>
          <p:cNvSpPr/>
          <p:nvPr/>
        </p:nvSpPr>
        <p:spPr>
          <a:xfrm rot="20382676">
            <a:off x="10460736" y="4366364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ectangle 185"/>
          <p:cNvSpPr/>
          <p:nvPr/>
        </p:nvSpPr>
        <p:spPr>
          <a:xfrm rot="20126493">
            <a:off x="10963656" y="4151376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Rectangle 186"/>
          <p:cNvSpPr/>
          <p:nvPr/>
        </p:nvSpPr>
        <p:spPr>
          <a:xfrm>
            <a:off x="662940" y="546354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ectangle 187"/>
          <p:cNvSpPr/>
          <p:nvPr/>
        </p:nvSpPr>
        <p:spPr>
          <a:xfrm>
            <a:off x="594360" y="539496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TextBox 188"/>
          <p:cNvSpPr txBox="1"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WITHOUT THE TANGENT, EVERY COPY FACES THE SAME WAY. WITH IT, THE ROW FOLLOWS THE CURVE.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DRIVE THE CURVE WITH 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Three words describe the whole curve. Sheet 2 asks you to label all three.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484632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484632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48463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14600"/>
            <a:ext cx="1737360" cy="47548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AMPLITUDE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514600"/>
            <a:ext cx="24688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how far it swings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154680"/>
            <a:ext cx="1737360" cy="47548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32918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FREQUENCY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154680"/>
            <a:ext cx="24688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how many swings along the curve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794760"/>
            <a:ext cx="1737360" cy="47548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3931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794760"/>
            <a:ext cx="24688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where in the swing it starts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262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ourier New"/>
              </a:rPr>
              <a:t>y = amplitude × sin(x × frequency + phase)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7860" y="1851660"/>
            <a:ext cx="589788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0" y="1783080"/>
            <a:ext cx="589788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669280" y="1783080"/>
            <a:ext cx="589788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897880" y="1783080"/>
            <a:ext cx="5440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CHANGE ONE AT A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25603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AMPLITUDE ×2</a:t>
            </a:r>
          </a:p>
        </p:txBody>
      </p:sp>
      <p:sp>
        <p:nvSpPr>
          <p:cNvPr id="24" name="Oval 23"/>
          <p:cNvSpPr/>
          <p:nvPr/>
        </p:nvSpPr>
        <p:spPr>
          <a:xfrm>
            <a:off x="7575804" y="26837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628812" y="26687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681821" y="26539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734830" y="26393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787838" y="262512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840847" y="26113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893856" y="25982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7946864" y="25858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7999873" y="25741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052882" y="25634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105890" y="255375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158899" y="254511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211908" y="253762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264917" y="25313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317925" y="252632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370934" y="252261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423943" y="25202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8476951" y="251921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529960" y="251955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582969" y="25212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635977" y="252430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688986" y="25286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741995" y="253433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795004" y="25412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848012" y="254929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901021" y="25584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954030" y="25687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9007038" y="25798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060047" y="25919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113056" y="260473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9166064" y="26181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9219073" y="26321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9272082" y="26466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9325090" y="26613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78099" y="267627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9431108" y="269125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9484117" y="27061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9537125" y="27209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9590134" y="27353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9643143" y="27493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9696151" y="27627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9749160" y="277559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802169" y="27876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855177" y="279881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908186" y="28090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9961195" y="281823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10014204" y="282630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067212" y="283319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10120221" y="28388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10173230" y="28432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10226238" y="28462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10279247" y="284797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10332256" y="28483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10385264" y="28472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10438273" y="28449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10491282" y="28412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10544290" y="28361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10597299" y="282990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10650308" y="282241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10703317" y="281377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756325" y="28040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809334" y="279333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0862343" y="27817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915351" y="27692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10968360" y="27561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11021369" y="27423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1074377" y="27281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1127386" y="27135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1180395" y="26987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1233404" y="26837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7543800" y="265176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7805057" y="250893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8066314" y="239439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8327571" y="2330829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588828" y="2330829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8850085" y="239439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9111342" y="250893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9372600" y="265176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9633857" y="2794587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9895114" y="290912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0156371" y="297269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10417628" y="297269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10678885" y="290912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10940142" y="2794587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11201400" y="265176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897880" y="340156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FREQUENCY ×2</a:t>
            </a:r>
          </a:p>
        </p:txBody>
      </p:sp>
      <p:sp>
        <p:nvSpPr>
          <p:cNvPr id="110" name="Oval 109"/>
          <p:cNvSpPr/>
          <p:nvPr/>
        </p:nvSpPr>
        <p:spPr>
          <a:xfrm>
            <a:off x="7575804" y="35250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7628812" y="35100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7681821" y="349520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7734830" y="348060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7787838" y="346637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7840847" y="34526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7893856" y="34394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7946864" y="342705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7999873" y="34154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8052882" y="34047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8105890" y="339500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8158899" y="33863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8211908" y="337887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8264917" y="33725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8317925" y="33675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8370934" y="336386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8423943" y="33614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8476951" y="336046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8529960" y="33608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8582969" y="336250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8635977" y="33655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8688986" y="33699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8741995" y="337557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8795004" y="338247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8848012" y="33905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901021" y="33997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8954030" y="340996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9007038" y="342113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9060047" y="343318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9113056" y="344598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9166064" y="34594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9219073" y="34734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9272082" y="348786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9325090" y="35026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9378099" y="351752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9431108" y="35325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9484117" y="35474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9537125" y="356215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9590134" y="35765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9643143" y="35905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9696151" y="360404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9749160" y="361684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9802169" y="36288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9855177" y="364006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9908186" y="36502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9961195" y="365947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10014204" y="36675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067212" y="36744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0120221" y="36801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10173230" y="36844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10226238" y="36875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279247" y="368922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10332256" y="368956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385264" y="36885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10438273" y="368616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0491282" y="36824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10544290" y="36774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10597299" y="367115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10650308" y="366365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0703317" y="365501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10756325" y="364530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10809334" y="36345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10862343" y="362296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10915351" y="36105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10968360" y="35973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11021369" y="358364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11074377" y="35694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11127386" y="35548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11180395" y="35399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11233404" y="35250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7543800" y="34930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7805057" y="336432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8066314" y="333254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8327571" y="342159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8588828" y="356442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8850085" y="365347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111342" y="362169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9372600" y="34930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9633857" y="336432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9895114" y="333254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10156371" y="342159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10417628" y="356442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10678885" y="365347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10940142" y="362169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11201400" y="34930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5897880" y="424281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PHASE + 90°</a:t>
            </a:r>
          </a:p>
        </p:txBody>
      </p:sp>
      <p:sp>
        <p:nvSpPr>
          <p:cNvPr id="196" name="Oval 195"/>
          <p:cNvSpPr/>
          <p:nvPr/>
        </p:nvSpPr>
        <p:spPr>
          <a:xfrm>
            <a:off x="7575804" y="436626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7628812" y="43512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7681821" y="433644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7734830" y="43218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7787838" y="430762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7840847" y="42938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7893856" y="42807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7946864" y="42683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7999873" y="42566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8052882" y="42459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8105890" y="42362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8158899" y="42276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8211908" y="422012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8264917" y="42138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8317925" y="42088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8370934" y="42051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8423943" y="42027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8476951" y="42017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8529960" y="42020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8582969" y="42037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8635977" y="420680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8688986" y="421117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8741995" y="421682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8795004" y="422371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8848012" y="42317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8901021" y="424098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8954030" y="425120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9007038" y="42623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9060047" y="427442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9113056" y="428723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9166064" y="43006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9219073" y="43146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9272082" y="43291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9325090" y="43438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9378099" y="435876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9431108" y="43737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9484117" y="438867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9537125" y="44034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9590134" y="44178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9643143" y="44318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9696151" y="444528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9749160" y="44580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9802169" y="44701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9855177" y="448131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9908186" y="44915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9961195" y="450072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10014204" y="45088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10067212" y="45156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10120221" y="45213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10173230" y="45257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10226238" y="452876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10279247" y="453046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10332256" y="453080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10385264" y="45297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10438273" y="452740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10491282" y="45236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10544290" y="45186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10597299" y="45123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10650308" y="450490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10703317" y="449626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10756325" y="448654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10809334" y="44758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10862343" y="44642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10915351" y="44517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10968360" y="44386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11021369" y="442489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11074377" y="441066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11127386" y="43960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11180395" y="438122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11233404" y="436626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7543800" y="416966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7805057" y="418596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8066314" y="423163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8327571" y="429763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8588828" y="437088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8850085" y="4436877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9111342" y="44825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9372600" y="44988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9633857" y="44825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9895114" y="4436877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10156371" y="437088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10417628" y="429763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10678885" y="423163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10940142" y="418596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11201400" y="416966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TextBox 280"/>
          <p:cNvSpPr txBox="1"/>
          <p:nvPr/>
        </p:nvSpPr>
        <p:spPr>
          <a:xfrm>
            <a:off x="589788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Grey: the base curve. Pink: one value changed.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TextBox 283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E500"/>
                </a:solidFill>
                <a:latin typeface="Arial"/>
              </a:rPr>
              <a:t>SET EACH VALUE ON PURPOSE AND WRITE IT ON THE SHEET. A SINE NOBODY CAN READ IS DECORATION.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TWO WAYS TO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Worth being precise about, because they look alike and are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EXPLICIT ITERATION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Repeat Zone runs a body once per step, in order, carrying a value forward.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Use it when step n depends on step n − 1 — and when you want to watch the loop happen.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PER-ELEMENT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field is evaluated for every element at once. There is no order and no carry.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It is usually faster — but nothing on screen tells you a loop happened, which is why we built the explicit one first. A field is not a Repeat Zone.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D9E1"/>
                </a:solidFill>
                <a:latin typeface="Arial"/>
              </a:rPr>
              <a:t>NEXT WEEK'S ATTRACTORS ARE MEASURED PER ELEMENT. KNOW WHICH KIND OF REPETITION YOU ARE USING.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SHEET 2,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What we build together today: hexagonal, radial, curve.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9144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541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7 · Hexagonal: stagger alternate rows; explain the odd/even test and row spacing.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9796"/>
            <a:ext cx="777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71216"/>
            <a:ext cx="777240" cy="9144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27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9796"/>
            <a:ext cx="9921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71216"/>
            <a:ext cx="992124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62656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7 · Radial: place copies from radius, count and angular step.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982212"/>
            <a:ext cx="777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13632"/>
            <a:ext cx="777240" cy="9144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2702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982212"/>
            <a:ext cx="9921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13632"/>
            <a:ext cx="992124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05072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7 · Curve: resample a curve and place copies along it, aligned to its tangent. Drive a curve with sine; explain amplitude, frequency and phase.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WHOLE UNIT,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Last week you could read the loops. Today you can read all of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points = 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j in range(rows):                      # nested loop = grid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offset = spacing / 2 if j % 2 else 0   # odd/even stagger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for i in range(cols):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z = amplitude * sin(i * frequency + phase)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if 3 &lt;= i &lt;= 5:                    # Compare + 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   z = z + lift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points.append([i * spacing + offset, j * row_gap, z])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list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index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count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nested 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conditional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modulo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sine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amplitude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frequency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j % 2 IS THE ODD/EVEN TEST · if IS COMPARE AND SWITCH · sin IS THE MATH NODE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REMINDER — P3b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Array your P3a module across exactly two 17 × 11 inch sheets, submitted together as one assignment.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Sheet 1 — 1D, 2D and 3D arrays: a linear array, a nested grid and an XYZ cube array. Label count, spacing and index order; show the predicted total for each.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Sheet 2 — hexagonal, radial and curve arrays: a staggered hexagonal grid, a radial array (radius, count, angular step) and an array along a curve, including one sine-driven curve with amplitude, frequency and phase labelled.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Keep the module unchanged; vary only its placement. Expose count and spacing or radius in the graph.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Build repetition from basic nodes and begin with a count you can inspect; there is no minimum element count. One conditional (index-range) selection is encouraged on either sheet.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SHEET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Nothing is due today; this is a studio-review week. Use the class to build sheet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Hexagonal array working, the odd/even test visible and row spacing 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Radial array working from radius, count and angular step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module placed along a resampled curve, aligned to its tangent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sine-driven curve, with amplitude, frequency and phase written down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Sheet 1 reviewed at your desk — count, spacing, index order labelled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TWO SHEETS, ONE MODULE, SIX ARRAYS. NOTHING ELSE CHANGES.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8: attractors — distance, a 2D grayscale field, remap, clamp and falloff; point, multi-point and curve attractors.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P3b is due next class — both sheets, submitted together as one assignment. DUE WEEK 8 — Oct 13   /   7%.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Sheet 2: hexagonal, radial and curve arrays, the sine values labelled. Check sheet 1 against the requirements again.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 — the printed object and its process sheet are due at the midterm, WEEK 10 — Oct 27. If it is not queued yet, queue it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