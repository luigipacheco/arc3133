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07  /  OCT 6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HEX · RADIAL ·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P3b SHEET 2 — STAGGER IT, SPIN IT, BEND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STUDIO-REVIEW WEEK — NOTHING DUE TODAY  /  P3b DUE WEEK 8 — OCT 13   /   7%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SHEET 2: THREE MORE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module. Three new rules for turning an index into a position.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stagger alternate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RADIAL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radius, count, angular step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443484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resample, place, align</a:t>
            </a:r>
          </a:p>
        </p:txBody>
      </p:sp>
      <p:sp>
        <p:nvSpPr>
          <p:cNvPr id="20" name="Oval 19"/>
          <p:cNvSpPr/>
          <p:nvPr/>
        </p:nvSpPr>
        <p:spPr>
          <a:xfrm>
            <a:off x="1412748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23644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034540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345436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656332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967228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3278124" y="255574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68196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879091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89988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500884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811779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122676" y="2866644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412748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723644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034540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2345436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2656332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2967228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3278124" y="317754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568196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1879091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2189988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2500884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2811779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122676" y="348843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412748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723644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034540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345436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656332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967228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3278124" y="379933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39988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6399180" y="3367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397069" y="3388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6393560" y="34100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388668" y="34309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6382415" y="34516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6374827" y="34717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6365937" y="3491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6355783" y="35103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6344408" y="35286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331860" y="3546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6318195" y="3562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6303469" y="35785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6287747" y="35932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6271096" y="3606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253586" y="3619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6235293" y="3630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6216295" y="36410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6196674" y="3649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6176514" y="3657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6155900" y="3663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6134922" y="36686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113668" y="3672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6092231" y="36742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6070701" y="3674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6049171" y="36742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027734" y="3672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006480" y="36686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985502" y="3663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5964888" y="3657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944728" y="3649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5925107" y="36410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5906109" y="3630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5887816" y="3619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5870307" y="3606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5853655" y="35932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837933" y="35785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5823207" y="3562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809542" y="3546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796995" y="35286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785619" y="35103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775465" y="3491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766575" y="34717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758987" y="34516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752734" y="34309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747842" y="34100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744333" y="3388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742222" y="3367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74151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742222" y="3324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744333" y="3302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747842" y="32815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752734" y="326059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758987" y="32399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766575" y="321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775465" y="3200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785619" y="31811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796995" y="31629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809542" y="31453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5823207" y="3128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5837933" y="31130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5853655" y="3098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5870307" y="30846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5887816" y="30720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5906109" y="3060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5925107" y="30505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5944728" y="30416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5964888" y="3034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5985502" y="3027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006480" y="30229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027734" y="30194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049171" y="3017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070701" y="30166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092231" y="3017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113668" y="30194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134922" y="30229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155900" y="3027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176514" y="3034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196674" y="30416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216295" y="30505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235293" y="3060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253586" y="30720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271096" y="30846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287747" y="3098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303469" y="31130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318195" y="3128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331860" y="31453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6344408" y="31629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6355783" y="31811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365937" y="3200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6374827" y="321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6382415" y="32399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6388668" y="326059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6393560" y="32815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6397069" y="3302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399180" y="3324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67420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6672913" y="3385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6669042" y="3424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662609" y="3463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6653641" y="3501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6642177" y="3539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6628266" y="35767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6611967" y="36127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593351" y="36475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6572496" y="3681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6549493" y="37131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6524439" y="3743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6497443" y="37725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6468619" y="3799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438091" y="38245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6405990" y="3847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2453" y="3868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6337624" y="38870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6301652" y="39033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6264691" y="39172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6226899" y="39287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6188439" y="39376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6149474" y="39441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6110172" y="39480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6070701" y="39492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6031230" y="39480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5991928" y="39441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5952963" y="39376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5914503" y="39287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5876711" y="39172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5839750" y="39033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5803778" y="38870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5768949" y="3868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5735412" y="3847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5703311" y="38245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5672783" y="3799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5643959" y="37725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5616963" y="37437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5591909" y="37131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5568906" y="3681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5548051" y="36475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5529435" y="36127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5513136" y="35767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5499225" y="3539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5487761" y="3501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5478793" y="3463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5472360" y="3424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5468489" y="3385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546719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5468489" y="33063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5472360" y="32670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5478793" y="3228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5487761" y="31895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5499225" y="31517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5513136" y="31148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5529435" y="30788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5548051" y="30440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5568906" y="30105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5591909" y="29783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5616963" y="2947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5643959" y="2919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5672783" y="2892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5703311" y="2866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5735412" y="28439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5768949" y="28231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5803778" y="2804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5839750" y="27882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5876711" y="27743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5914503" y="2762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5952963" y="27538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5991928" y="2747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6031230" y="27435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6070701" y="2742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6110172" y="27435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6149474" y="2747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6188439" y="27538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6226899" y="2762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6264691" y="27743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6301652" y="27882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6337624" y="2804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6372453" y="28231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6405990" y="28439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6438091" y="2866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6468619" y="2892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6497443" y="2919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6524439" y="29478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6549493" y="29783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6572496" y="30105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6593351" y="30440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6611967" y="30788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6628266" y="31148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6642177" y="31517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6653641" y="31895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6662609" y="3228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6669042" y="32670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6672913" y="33063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694852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6946646" y="3403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6941015" y="34603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6931658" y="35170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6918614" y="3572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6901939" y="36279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6881705" y="36817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6857998" y="3734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6830919" y="37847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6800585" y="38334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6767126" y="38801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6730684" y="39245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6691416" y="3966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6649491" y="40057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6605086" y="40422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6558394" y="40756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6509613" y="41060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6458953" y="4133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6406630" y="41567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6352868" y="41770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6297899" y="41937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6241956" y="42067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6185280" y="4216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6128114" y="42217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6070701" y="42236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6013289" y="42217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5956122" y="4216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5899446" y="42067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5843504" y="41937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5788534" y="41770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5734772" y="41567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5682449" y="4133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5631789" y="41060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5583008" y="40756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5536316" y="40422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5491912" y="40057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5449986" y="3966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5410718" y="39245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5374276" y="38801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5340817" y="38334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5310483" y="378470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5283405" y="3734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5259697" y="36817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5239463" y="36279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5222788" y="35729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5209744" y="35170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5200387" y="34603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5194757" y="3403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5192877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5194757" y="3288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5200387" y="32312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5209744" y="31745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5222788" y="31185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5239463" y="3063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5259697" y="30098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5283405" y="29575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5310483" y="29068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5340817" y="285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5374276" y="28114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5410718" y="27670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5449986" y="27250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5491912" y="26858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5536316" y="26493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5583008" y="26159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5631789" y="2585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5682449" y="2558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5734772" y="2534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5788534" y="25145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5843504" y="24978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5899446" y="24848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5956122" y="2475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6013289" y="24698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6070701" y="24679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6128114" y="24698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6185280" y="2475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6241956" y="24848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6297899" y="24978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6352868" y="25145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6406630" y="2534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6458953" y="2558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6509613" y="2585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6558394" y="26159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6605086" y="26493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6649491" y="26858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6691416" y="27250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6730684" y="27670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6767126" y="28114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6800585" y="285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6830919" y="29068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6857998" y="29575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6881705" y="30098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6901939" y="3063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6918614" y="31185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6931658" y="317453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6941015" y="32312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6946646" y="3288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6035040" y="29809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6199632" y="302504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6320121" y="31455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636422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6320121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6199632" y="359520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6035040" y="3639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5870448" y="359520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5749958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570585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5749958" y="31455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5870448" y="302504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6035040" y="27066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6336792" y="27874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6557689" y="300837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663854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6557689" y="361188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6336792" y="383277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6035040" y="39136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5733288" y="383277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5512390" y="361188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543153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5512390" y="300837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5733288" y="27874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6035040" y="24323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6473952" y="254991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6795257" y="28712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6912864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6795257" y="374903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6473952" y="407034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6035040" y="418795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5596128" y="407034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5274822" y="374904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5157216" y="33101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5274822" y="28712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5596128" y="254991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6007608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8453628" y="3342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8492721" y="329639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8531815" y="32510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8570909" y="32064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8610003" y="31629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Oval 382"/>
          <p:cNvSpPr/>
          <p:nvPr/>
        </p:nvSpPr>
        <p:spPr>
          <a:xfrm>
            <a:off x="8649097" y="31209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Oval 383"/>
          <p:cNvSpPr/>
          <p:nvPr/>
        </p:nvSpPr>
        <p:spPr>
          <a:xfrm>
            <a:off x="8688191" y="30808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Oval 384"/>
          <p:cNvSpPr/>
          <p:nvPr/>
        </p:nvSpPr>
        <p:spPr>
          <a:xfrm>
            <a:off x="8727285" y="30428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Oval 385"/>
          <p:cNvSpPr/>
          <p:nvPr/>
        </p:nvSpPr>
        <p:spPr>
          <a:xfrm>
            <a:off x="8766379" y="30073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Oval 386"/>
          <p:cNvSpPr/>
          <p:nvPr/>
        </p:nvSpPr>
        <p:spPr>
          <a:xfrm>
            <a:off x="8805473" y="29745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Oval 387"/>
          <p:cNvSpPr/>
          <p:nvPr/>
        </p:nvSpPr>
        <p:spPr>
          <a:xfrm>
            <a:off x="8844567" y="29448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Oval 388"/>
          <p:cNvSpPr/>
          <p:nvPr/>
        </p:nvSpPr>
        <p:spPr>
          <a:xfrm>
            <a:off x="8883661" y="29184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Oval 389"/>
          <p:cNvSpPr/>
          <p:nvPr/>
        </p:nvSpPr>
        <p:spPr>
          <a:xfrm>
            <a:off x="8922754" y="28955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Oval 390"/>
          <p:cNvSpPr/>
          <p:nvPr/>
        </p:nvSpPr>
        <p:spPr>
          <a:xfrm>
            <a:off x="8961848" y="2876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Oval 391"/>
          <p:cNvSpPr/>
          <p:nvPr/>
        </p:nvSpPr>
        <p:spPr>
          <a:xfrm>
            <a:off x="9000942" y="28610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Oval 392"/>
          <p:cNvSpPr/>
          <p:nvPr/>
        </p:nvSpPr>
        <p:spPr>
          <a:xfrm>
            <a:off x="9040036" y="2849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Oval 393"/>
          <p:cNvSpPr/>
          <p:nvPr/>
        </p:nvSpPr>
        <p:spPr>
          <a:xfrm>
            <a:off x="9079130" y="28424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Oval 394"/>
          <p:cNvSpPr/>
          <p:nvPr/>
        </p:nvSpPr>
        <p:spPr>
          <a:xfrm>
            <a:off x="9118224" y="28393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Oval 395"/>
          <p:cNvSpPr/>
          <p:nvPr/>
        </p:nvSpPr>
        <p:spPr>
          <a:xfrm>
            <a:off x="9157318" y="28403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Oval 396"/>
          <p:cNvSpPr/>
          <p:nvPr/>
        </p:nvSpPr>
        <p:spPr>
          <a:xfrm>
            <a:off x="9196412" y="28455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Oval 397"/>
          <p:cNvSpPr/>
          <p:nvPr/>
        </p:nvSpPr>
        <p:spPr>
          <a:xfrm>
            <a:off x="9235506" y="28548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Oval 398"/>
          <p:cNvSpPr/>
          <p:nvPr/>
        </p:nvSpPr>
        <p:spPr>
          <a:xfrm>
            <a:off x="9274600" y="28682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Oval 399"/>
          <p:cNvSpPr/>
          <p:nvPr/>
        </p:nvSpPr>
        <p:spPr>
          <a:xfrm>
            <a:off x="9313694" y="28855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Oval 400"/>
          <p:cNvSpPr/>
          <p:nvPr/>
        </p:nvSpPr>
        <p:spPr>
          <a:xfrm>
            <a:off x="9352787" y="29065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Oval 401"/>
          <p:cNvSpPr/>
          <p:nvPr/>
        </p:nvSpPr>
        <p:spPr>
          <a:xfrm>
            <a:off x="9391881" y="29312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Oval 402"/>
          <p:cNvSpPr/>
          <p:nvPr/>
        </p:nvSpPr>
        <p:spPr>
          <a:xfrm>
            <a:off x="9430975" y="2959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Oval 403"/>
          <p:cNvSpPr/>
          <p:nvPr/>
        </p:nvSpPr>
        <p:spPr>
          <a:xfrm>
            <a:off x="9470069" y="29905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Oval 404"/>
          <p:cNvSpPr/>
          <p:nvPr/>
        </p:nvSpPr>
        <p:spPr>
          <a:xfrm>
            <a:off x="9509163" y="30247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Oval 405"/>
          <p:cNvSpPr/>
          <p:nvPr/>
        </p:nvSpPr>
        <p:spPr>
          <a:xfrm>
            <a:off x="9548257" y="30615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Oval 406"/>
          <p:cNvSpPr/>
          <p:nvPr/>
        </p:nvSpPr>
        <p:spPr>
          <a:xfrm>
            <a:off x="9587351" y="31006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Oval 407"/>
          <p:cNvSpPr/>
          <p:nvPr/>
        </p:nvSpPr>
        <p:spPr>
          <a:xfrm>
            <a:off x="9626445" y="31417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Oval 408"/>
          <p:cNvSpPr/>
          <p:nvPr/>
        </p:nvSpPr>
        <p:spPr>
          <a:xfrm>
            <a:off x="9665539" y="31845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Oval 409"/>
          <p:cNvSpPr/>
          <p:nvPr/>
        </p:nvSpPr>
        <p:spPr>
          <a:xfrm>
            <a:off x="9704633" y="32286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Oval 410"/>
          <p:cNvSpPr/>
          <p:nvPr/>
        </p:nvSpPr>
        <p:spPr>
          <a:xfrm>
            <a:off x="9743727" y="32736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Oval 411"/>
          <p:cNvSpPr/>
          <p:nvPr/>
        </p:nvSpPr>
        <p:spPr>
          <a:xfrm>
            <a:off x="9782821" y="33192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Oval 412"/>
          <p:cNvSpPr/>
          <p:nvPr/>
        </p:nvSpPr>
        <p:spPr>
          <a:xfrm>
            <a:off x="9821914" y="33650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Oval 413"/>
          <p:cNvSpPr/>
          <p:nvPr/>
        </p:nvSpPr>
        <p:spPr>
          <a:xfrm>
            <a:off x="9861008" y="3410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Oval 414"/>
          <p:cNvSpPr/>
          <p:nvPr/>
        </p:nvSpPr>
        <p:spPr>
          <a:xfrm>
            <a:off x="9900102" y="3455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Oval 415"/>
          <p:cNvSpPr/>
          <p:nvPr/>
        </p:nvSpPr>
        <p:spPr>
          <a:xfrm>
            <a:off x="9939196" y="34997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Oval 416"/>
          <p:cNvSpPr/>
          <p:nvPr/>
        </p:nvSpPr>
        <p:spPr>
          <a:xfrm>
            <a:off x="9978290" y="35424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Oval 417"/>
          <p:cNvSpPr/>
          <p:nvPr/>
        </p:nvSpPr>
        <p:spPr>
          <a:xfrm>
            <a:off x="10017384" y="3583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Oval 418"/>
          <p:cNvSpPr/>
          <p:nvPr/>
        </p:nvSpPr>
        <p:spPr>
          <a:xfrm>
            <a:off x="10056478" y="36227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Oval 419"/>
          <p:cNvSpPr/>
          <p:nvPr/>
        </p:nvSpPr>
        <p:spPr>
          <a:xfrm>
            <a:off x="10095572" y="36595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Oval 420"/>
          <p:cNvSpPr/>
          <p:nvPr/>
        </p:nvSpPr>
        <p:spPr>
          <a:xfrm>
            <a:off x="10134666" y="3693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Oval 421"/>
          <p:cNvSpPr/>
          <p:nvPr/>
        </p:nvSpPr>
        <p:spPr>
          <a:xfrm>
            <a:off x="10173760" y="37249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Oval 422"/>
          <p:cNvSpPr/>
          <p:nvPr/>
        </p:nvSpPr>
        <p:spPr>
          <a:xfrm>
            <a:off x="10212854" y="37530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Oval 423"/>
          <p:cNvSpPr/>
          <p:nvPr/>
        </p:nvSpPr>
        <p:spPr>
          <a:xfrm>
            <a:off x="10251948" y="37776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Oval 424"/>
          <p:cNvSpPr/>
          <p:nvPr/>
        </p:nvSpPr>
        <p:spPr>
          <a:xfrm>
            <a:off x="10291041" y="37987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Oval 425"/>
          <p:cNvSpPr/>
          <p:nvPr/>
        </p:nvSpPr>
        <p:spPr>
          <a:xfrm>
            <a:off x="10330135" y="38160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Oval 426"/>
          <p:cNvSpPr/>
          <p:nvPr/>
        </p:nvSpPr>
        <p:spPr>
          <a:xfrm>
            <a:off x="10369229" y="38293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Oval 427"/>
          <p:cNvSpPr/>
          <p:nvPr/>
        </p:nvSpPr>
        <p:spPr>
          <a:xfrm>
            <a:off x="10408323" y="3838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Oval 428"/>
          <p:cNvSpPr/>
          <p:nvPr/>
        </p:nvSpPr>
        <p:spPr>
          <a:xfrm>
            <a:off x="10447417" y="38438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Oval 429"/>
          <p:cNvSpPr/>
          <p:nvPr/>
        </p:nvSpPr>
        <p:spPr>
          <a:xfrm>
            <a:off x="10486511" y="38449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Oval 430"/>
          <p:cNvSpPr/>
          <p:nvPr/>
        </p:nvSpPr>
        <p:spPr>
          <a:xfrm>
            <a:off x="10525605" y="38417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Oval 431"/>
          <p:cNvSpPr/>
          <p:nvPr/>
        </p:nvSpPr>
        <p:spPr>
          <a:xfrm>
            <a:off x="10564699" y="38345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3" name="Oval 432"/>
          <p:cNvSpPr/>
          <p:nvPr/>
        </p:nvSpPr>
        <p:spPr>
          <a:xfrm>
            <a:off x="10603793" y="38231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Oval 433"/>
          <p:cNvSpPr/>
          <p:nvPr/>
        </p:nvSpPr>
        <p:spPr>
          <a:xfrm>
            <a:off x="10642887" y="38078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5" name="Oval 434"/>
          <p:cNvSpPr/>
          <p:nvPr/>
        </p:nvSpPr>
        <p:spPr>
          <a:xfrm>
            <a:off x="10681981" y="378866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6" name="Oval 435"/>
          <p:cNvSpPr/>
          <p:nvPr/>
        </p:nvSpPr>
        <p:spPr>
          <a:xfrm>
            <a:off x="10721074" y="37657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7" name="Oval 436"/>
          <p:cNvSpPr/>
          <p:nvPr/>
        </p:nvSpPr>
        <p:spPr>
          <a:xfrm>
            <a:off x="10760168" y="373937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8" name="Oval 437"/>
          <p:cNvSpPr/>
          <p:nvPr/>
        </p:nvSpPr>
        <p:spPr>
          <a:xfrm>
            <a:off x="10799262" y="37096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9" name="Oval 438"/>
          <p:cNvSpPr/>
          <p:nvPr/>
        </p:nvSpPr>
        <p:spPr>
          <a:xfrm>
            <a:off x="10838356" y="36769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0" name="Oval 439"/>
          <p:cNvSpPr/>
          <p:nvPr/>
        </p:nvSpPr>
        <p:spPr>
          <a:xfrm>
            <a:off x="10877450" y="36414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1" name="Oval 440"/>
          <p:cNvSpPr/>
          <p:nvPr/>
        </p:nvSpPr>
        <p:spPr>
          <a:xfrm>
            <a:off x="10916544" y="36034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2" name="Oval 441"/>
          <p:cNvSpPr/>
          <p:nvPr/>
        </p:nvSpPr>
        <p:spPr>
          <a:xfrm>
            <a:off x="10955638" y="35632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3" name="Oval 442"/>
          <p:cNvSpPr/>
          <p:nvPr/>
        </p:nvSpPr>
        <p:spPr>
          <a:xfrm>
            <a:off x="10994732" y="35212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4" name="Oval 443"/>
          <p:cNvSpPr/>
          <p:nvPr/>
        </p:nvSpPr>
        <p:spPr>
          <a:xfrm>
            <a:off x="11033826" y="34778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5" name="Oval 444"/>
          <p:cNvSpPr/>
          <p:nvPr/>
        </p:nvSpPr>
        <p:spPr>
          <a:xfrm>
            <a:off x="11072920" y="34332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6" name="Oval 445"/>
          <p:cNvSpPr/>
          <p:nvPr/>
        </p:nvSpPr>
        <p:spPr>
          <a:xfrm>
            <a:off x="11112014" y="33878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7" name="Oval 446"/>
          <p:cNvSpPr/>
          <p:nvPr/>
        </p:nvSpPr>
        <p:spPr>
          <a:xfrm>
            <a:off x="11151108" y="3342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8" name="Rectangle 447"/>
          <p:cNvSpPr/>
          <p:nvPr/>
        </p:nvSpPr>
        <p:spPr>
          <a:xfrm rot="18629142">
            <a:off x="837590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9" name="Rectangle 448"/>
          <p:cNvSpPr/>
          <p:nvPr/>
        </p:nvSpPr>
        <p:spPr>
          <a:xfrm rot="19221833">
            <a:off x="8713089" y="2908789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0" name="Rectangle 449"/>
          <p:cNvSpPr/>
          <p:nvPr/>
        </p:nvSpPr>
        <p:spPr>
          <a:xfrm rot="0">
            <a:off x="9050274" y="276148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1" name="Rectangle 450"/>
          <p:cNvSpPr/>
          <p:nvPr/>
        </p:nvSpPr>
        <p:spPr>
          <a:xfrm rot="2378167">
            <a:off x="9387459" y="2908789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2" name="Rectangle 451"/>
          <p:cNvSpPr/>
          <p:nvPr/>
        </p:nvSpPr>
        <p:spPr>
          <a:xfrm rot="2970858">
            <a:off x="972464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3" name="Rectangle 452"/>
          <p:cNvSpPr/>
          <p:nvPr/>
        </p:nvSpPr>
        <p:spPr>
          <a:xfrm rot="2378167">
            <a:off x="10061829" y="3620026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4" name="Rectangle 453"/>
          <p:cNvSpPr/>
          <p:nvPr/>
        </p:nvSpPr>
        <p:spPr>
          <a:xfrm rot="0">
            <a:off x="10399014" y="376732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5" name="Rectangle 454"/>
          <p:cNvSpPr/>
          <p:nvPr/>
        </p:nvSpPr>
        <p:spPr>
          <a:xfrm rot="19221833">
            <a:off x="10736199" y="3620026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6" name="Rectangle 455"/>
          <p:cNvSpPr/>
          <p:nvPr/>
        </p:nvSpPr>
        <p:spPr>
          <a:xfrm rot="18629142">
            <a:off x="11073384" y="3264408"/>
            <a:ext cx="1828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7" name="Rectangle 456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8" name="Rectangle 457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9" name="TextBox 458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Sheet 1 counted along axes. Sheet 2 keeps the counter and changes the rule that turns it into a position.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HEXAGONAL IS A GRID WITH AN ODD/EVEN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Stagger alternate rows by half the spacing. Set the row spacing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offset = (j mod 2 == 0) ? 0 : dx / 2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Modulo asks: is this row odd or even? Compare turns that into True or False, and Switch picks the offset. The same two nodes as last week.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Row spacing is not dx. For a true hex field it is dx × √3 / 2. Use dx for both and you get a squashed 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LOOKS LIKE</a:t>
            </a:r>
          </a:p>
        </p:txBody>
      </p:sp>
      <p:sp>
        <p:nvSpPr>
          <p:cNvPr id="14" name="Oval 13"/>
          <p:cNvSpPr/>
          <p:nvPr/>
        </p:nvSpPr>
        <p:spPr>
          <a:xfrm>
            <a:off x="721004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57580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94156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0732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308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03884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40460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9292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5868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12444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9020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85596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21724" y="30038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21004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57580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94156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30732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67308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03884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404604" y="33695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39292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75868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2444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49020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85596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221724" y="373532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21004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57580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4156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30732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67308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03884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404604" y="4101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39292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75868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12444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49020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85596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221724" y="44668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BRICK BOND IS A STAGGERED ARRAY. SO IS A HONEYCOMB. SO IS HALF THE PAVING YOU WALK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RADIAL IS POLAR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Radius, count, angular step. The index drives the angle.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step  = 360 / count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θ[i]  = i × step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p[i]  = c + r · (cos θ, sin θ)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rotation arithmetic from Week 2 — where x and y have to talk to each other — now generating positions instead of moving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THREE KNOBS</a:t>
            </a:r>
          </a:p>
        </p:txBody>
      </p:sp>
      <p:sp>
        <p:nvSpPr>
          <p:cNvPr id="14" name="Oval 13"/>
          <p:cNvSpPr/>
          <p:nvPr/>
        </p:nvSpPr>
        <p:spPr>
          <a:xfrm>
            <a:off x="932596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25260" y="3303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323149" y="3324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319640" y="33460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14748" y="33669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308495" y="3387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00907" y="34077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292017" y="34273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281863" y="34463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270488" y="34646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57940" y="34821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244275" y="34988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29549" y="3514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213827" y="35292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197176" y="3542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179666" y="35554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61373" y="3566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42375" y="35770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122754" y="35859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102594" y="3593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081980" y="3599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061002" y="36046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9039748" y="36081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9018311" y="3610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996781" y="36109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975251" y="36102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953814" y="36081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932560" y="36046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911582" y="3599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890968" y="3593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870808" y="35859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851187" y="35770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832189" y="3566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813896" y="35554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796387" y="3542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779735" y="35292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764013" y="3514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749287" y="34988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735622" y="34821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723075" y="34646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711699" y="34463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701545" y="34273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692655" y="34077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685067" y="3387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78814" y="33669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73922" y="33460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670413" y="33247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68302" y="3303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66759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668302" y="32602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670413" y="3238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673922" y="32175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8678814" y="31965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685067" y="31759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8692655" y="31558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701545" y="31361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711699" y="31171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723075" y="30988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735622" y="3081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749287" y="30647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764013" y="30490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779735" y="30342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796387" y="3020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813896" y="3008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832189" y="2996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851187" y="29865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8870808" y="29776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8890968" y="29700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8911582" y="2963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8932560" y="29589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953814" y="2955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8975251" y="2953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8996781" y="29525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9018311" y="2953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9039748" y="2955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061002" y="29589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9081980" y="2963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9102594" y="29700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9122754" y="29776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9142375" y="29865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9161373" y="2996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179666" y="30080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9197176" y="30206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9213827" y="30342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9229549" y="30490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9244275" y="30647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257940" y="3081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270488" y="30988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281863" y="31171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292017" y="31361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9300907" y="31558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9308495" y="31759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9314748" y="31965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19640" y="32175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23149" y="32388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325260" y="32602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60028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598993" y="3321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595122" y="33605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588689" y="3399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579721" y="3437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568257" y="34757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554346" y="3512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538047" y="35487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519431" y="3583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498576" y="361707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475573" y="36491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450519" y="3679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9423523" y="3708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394699" y="3735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9364171" y="37605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332070" y="37835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298533" y="38044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263704" y="3823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227732" y="38393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190771" y="3853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152979" y="38647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114519" y="38736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075554" y="3880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036252" y="3883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996781" y="3885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57310" y="3883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18008" y="3880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879043" y="38736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840583" y="38647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802791" y="3853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765830" y="38393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729858" y="38230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95029" y="38044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661492" y="37835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629391" y="37605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598863" y="3735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570039" y="37085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543043" y="36796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8517989" y="36491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494986" y="361707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474131" y="3583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455515" y="35487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439216" y="3512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425305" y="34757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413841" y="3437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404873" y="33995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398440" y="33605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394569" y="3321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39327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394569" y="3242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398440" y="32030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8404873" y="3164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8413841" y="3125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8425305" y="30877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8439216" y="30508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8455515" y="3014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8474131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494986" y="29464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8517989" y="29143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8543043" y="2883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8570039" y="28550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598863" y="2828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8629391" y="28029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8661492" y="27799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8695029" y="27591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8729858" y="27405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8765830" y="27242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8802791" y="27103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8840583" y="26988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8879043" y="26898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8918008" y="26834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8957310" y="26795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996781" y="2678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036252" y="26795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075554" y="26834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114519" y="26898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52979" y="26988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190771" y="27103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227732" y="27242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263704" y="27405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9298533" y="27591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9332070" y="27799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9364171" y="28029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9394699" y="2828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9423523" y="28550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9450519" y="28838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9475573" y="29143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9498576" y="29464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9519431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9538047" y="3014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9554346" y="30508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9568257" y="30877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9579721" y="3125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9588689" y="31640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9595122" y="320300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9598993" y="3242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9874605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9872726" y="33391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9867095" y="33963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9857738" y="3453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9844694" y="3508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9828019" y="3563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9807785" y="36177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9784078" y="36700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9756999" y="37206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9726665" y="37694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693206" y="38161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656764" y="3860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617496" y="3902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575571" y="3941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531166" y="39782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484474" y="40116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435693" y="40419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385033" y="4069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332710" y="4092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278948" y="41130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223979" y="41296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168036" y="4142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111360" y="41520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054194" y="41577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996781" y="41596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939369" y="41577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82202" y="41520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8825526" y="4142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8769584" y="41296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8714614" y="41130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8660852" y="40927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8608529" y="4069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8557869" y="40419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8509088" y="40116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8462396" y="39782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8417992" y="3941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8376066" y="39024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8336798" y="386057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8300356" y="38161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8266897" y="37694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8236563" y="37206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8209485" y="36700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8185777" y="36177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8165543" y="35639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8148868" y="35089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8135824" y="3453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8126467" y="33963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8120837" y="33391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8118957" y="32817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8120837" y="3224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8126467" y="3167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8135824" y="3110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8148868" y="3054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165543" y="29996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185777" y="29458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209485" y="28935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236563" y="2842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266897" y="27940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300356" y="27473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336798" y="27029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376066" y="26610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417992" y="26217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462396" y="2585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509088" y="25518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557869" y="25215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608529" y="24944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8660852" y="24707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8714614" y="24505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8769584" y="2433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8825526" y="24208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8882202" y="24114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8939369" y="2405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8996781" y="2403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054194" y="2405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111360" y="24114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168036" y="24208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223979" y="2433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278948" y="24505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332710" y="24707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385033" y="24944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435693" y="25215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484474" y="25518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531166" y="2585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575571" y="26217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617496" y="26610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656764" y="27029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693206" y="27473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726665" y="279408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756999" y="2842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784078" y="28935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807785" y="29458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828019" y="29996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9844694" y="30545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9857738" y="3110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9867095" y="3167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9872726" y="3224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8961119" y="29169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9125711" y="296103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9246201" y="30815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9290303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9246201" y="34107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9125711" y="353120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8961119" y="35753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8796528" y="353120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8676038" y="34107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8631936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8676038" y="30815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8796528" y="296103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8961119" y="264261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262872" y="272347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483769" y="29443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564624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483769" y="35478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262872" y="376876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8961119" y="38496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8659367" y="3768769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8438470" y="35478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8357615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8438470" y="29443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8659367" y="272347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8961119" y="23682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400032" y="248590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721337" y="280720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9838943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721337" y="36850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400032" y="400633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961119" y="41239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522207" y="400633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200902" y="368503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8083296" y="32461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200902" y="280720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522207" y="248590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33688" y="321868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6675120" y="434340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count and the step changes with it. Change the radius and the ring opens up.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YOUR LAST COPY LANDS ON TOP OF YOUR FIRST, YOU DIVIDED BY THE WRONG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ARRAY ALONG A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curve supplies the positions. Its tangent supplies the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475488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475488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47548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60320"/>
            <a:ext cx="548640" cy="54864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7340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420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RESAMPLE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Divide the curve into a count of evenly spaced points.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364991"/>
            <a:ext cx="548640" cy="5486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353872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4670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621024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Put one copy of the module on each 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169663"/>
            <a:ext cx="548640" cy="54864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343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5137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ALIGN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25696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Rotate each copy to the curve's tangent at that point.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46420" y="1943100"/>
            <a:ext cx="59893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577840" y="1874519"/>
            <a:ext cx="59893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577840" y="1874519"/>
            <a:ext cx="598932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06440" y="1874519"/>
            <a:ext cx="5532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NOT ALIGNED  ·  ALIGNED</a:t>
            </a:r>
          </a:p>
        </p:txBody>
      </p:sp>
      <p:sp>
        <p:nvSpPr>
          <p:cNvPr id="25" name="Oval 24"/>
          <p:cNvSpPr/>
          <p:nvPr/>
        </p:nvSpPr>
        <p:spPr>
          <a:xfrm>
            <a:off x="6021324" y="29580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6094210" y="29248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167097" y="28918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6239984" y="28594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12871" y="28277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385758" y="27972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458645" y="27680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531532" y="27404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604419" y="27145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6677306" y="26907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6750193" y="26691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6823080" y="26499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895967" y="26333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968854" y="26193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041741" y="26082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114628" y="25999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187515" y="25946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260402" y="25924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333289" y="259317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406176" y="25969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479063" y="26037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7551950" y="26134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624837" y="262600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697724" y="26413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7770610" y="265926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843497" y="26796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7916384" y="27024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7989271" y="27272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062158" y="27540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135045" y="27824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207932" y="28123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280819" y="28434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353706" y="28755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426593" y="29082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499480" y="29414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572367" y="2974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45254" y="30078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718141" y="30406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791028" y="30726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863915" y="31038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936802" y="31337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009689" y="31621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082576" y="31889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155463" y="321375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228350" y="32364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9301237" y="32568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74123" y="32748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9447010" y="329015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9519897" y="33027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9592784" y="33124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9665671" y="33192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738558" y="33229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811445" y="33237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884332" y="33214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957219" y="33161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030106" y="330794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102993" y="3296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175880" y="32828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248767" y="32661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321654" y="32469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94541" y="322539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467428" y="3201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540315" y="31757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613202" y="31481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0686089" y="31189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758976" y="30883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831863" y="3056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904750" y="30243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977637" y="29913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1050524" y="29580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5934455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437375" y="265622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6940295" y="252335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7443216" y="252335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7946136" y="2656227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8449056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8951976" y="308620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9454896" y="321907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9957816" y="321907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10460736" y="3086204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10963656" y="2871216"/>
            <a:ext cx="201168" cy="201168"/>
          </a:xfrm>
          <a:prstGeom prst="rect">
            <a:avLst/>
          </a:prstGeom>
          <a:solidFill>
            <a:srgbClr val="B4B4AC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6021324" y="423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6094210" y="42049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6167097" y="41719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239984" y="41395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312871" y="41079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6385758" y="4077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6458645" y="40482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31532" y="40205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604419" y="39947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6677306" y="39709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750193" y="39493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823080" y="39301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6895967" y="39134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6968854" y="38995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7041741" y="38883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7114628" y="38801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7187515" y="38748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7260402" y="38725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7333289" y="38733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7406176" y="38771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7479063" y="38838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7551950" y="38936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7624837" y="39061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7697724" y="39214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7770610" y="39394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7843497" y="395984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7916384" y="39825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7989271" y="40074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062158" y="40341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135045" y="40626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207932" y="40925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280819" y="41236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353706" y="41556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426593" y="41884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499480" y="42215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572367" y="42548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45254" y="42880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718141" y="43207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791028" y="43528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863915" y="43839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936802" y="44138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009689" y="44423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082576" y="44690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155463" y="44939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228350" y="45166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301237" y="45370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9374123" y="45550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9447010" y="45703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9519897" y="45828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9592784" y="45925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9665671" y="459936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9738558" y="46031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9811445" y="46039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9884332" y="46016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9957219" y="45963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030106" y="45881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102993" y="45769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175880" y="45629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248767" y="45463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321654" y="45271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394541" y="450555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467428" y="44817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540315" y="44559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613202" y="44282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686089" y="439908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758976" y="43685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831863" y="433692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904750" y="43044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977637" y="42715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1050524" y="423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 rot="20126493">
            <a:off x="5934455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 rot="20382676">
            <a:off x="6437375" y="393638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 rot="21117751">
            <a:off x="6940295" y="380351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 rot="482249">
            <a:off x="7443216" y="380351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 rot="1217324">
            <a:off x="7946136" y="3936387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 rot="1473507">
            <a:off x="8449056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 rot="1217324">
            <a:off x="8951976" y="436636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 rot="482249">
            <a:off x="9454896" y="449923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 rot="21117751">
            <a:off x="9957816" y="449923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 rot="20382676">
            <a:off x="10460736" y="4366364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 rot="20126493">
            <a:off x="10963656" y="4151376"/>
            <a:ext cx="201168" cy="2011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662940" y="546354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594360" y="539496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WITHOUT THE TANGENT, EVERY COPY FACES THE SAME WAY. WITH IT, THE ROW FOLLOWS THE CURVE.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DRIVE THE CURVE WITH 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Three words describe the whole curve. Sheet 2 asks you to label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484632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484632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48463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AMPLITUDE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51460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far it swings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15468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32918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FREQUENCY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5468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many swings along the curve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794760"/>
            <a:ext cx="1737360" cy="47548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931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794760"/>
            <a:ext cx="24688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where in the swing it starts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26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ourier New"/>
              </a:rPr>
              <a:t>y = amplitude × sin(x × frequency + phase)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7860" y="1851660"/>
            <a:ext cx="589788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0" y="1783080"/>
            <a:ext cx="589788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669280" y="1783080"/>
            <a:ext cx="589788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897880" y="1783080"/>
            <a:ext cx="5440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CHANGE ONE AT A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2560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AMPLITUDE ×2</a:t>
            </a:r>
          </a:p>
        </p:txBody>
      </p:sp>
      <p:sp>
        <p:nvSpPr>
          <p:cNvPr id="24" name="Oval 23"/>
          <p:cNvSpPr/>
          <p:nvPr/>
        </p:nvSpPr>
        <p:spPr>
          <a:xfrm>
            <a:off x="7575804" y="2683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628812" y="26687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681821" y="26539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734830" y="26393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787838" y="262512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840847" y="26113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893856" y="25982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946864" y="25858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999873" y="25741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052882" y="25634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105890" y="255375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158899" y="254511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211908" y="25376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64917" y="25313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317925" y="25263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370934" y="25226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423943" y="25202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476951" y="251921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529960" y="251955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582969" y="252125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635977" y="25243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688986" y="25286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741995" y="25343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795004" y="25412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848012" y="25492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901021" y="25584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954030" y="25687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9007038" y="25798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060047" y="25919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113056" y="260473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9166064" y="26181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9219073" y="26321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9272082" y="26466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325090" y="26613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78099" y="267627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431108" y="269125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484117" y="27061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537125" y="27209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9590134" y="2735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9643143" y="274933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696151" y="2762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749160" y="277559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802169" y="2787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855177" y="279881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908186" y="280904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961195" y="28182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0014204" y="28263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067212" y="283319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10120221" y="28388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10173230" y="28432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10226238" y="28462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0279247" y="284797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0332256" y="28483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10385264" y="28472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438273" y="28449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0491282" y="28412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544290" y="28361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597299" y="282990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0650308" y="282241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703317" y="28137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756325" y="28040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809334" y="27933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862343" y="278171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915351" y="27692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968360" y="27561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1021369" y="27423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1074377" y="27281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1127386" y="271357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1180395" y="26987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1233404" y="26837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5438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7805057" y="250893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8066314" y="239439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8327571" y="2330829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588828" y="2330829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850085" y="239439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111342" y="250893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3726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633857" y="279458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895114" y="290912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156371" y="297269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0417628" y="297269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678885" y="2909126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940142" y="279458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11201400" y="265176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897880" y="340156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FREQUENCY ×2</a:t>
            </a:r>
          </a:p>
        </p:txBody>
      </p:sp>
      <p:sp>
        <p:nvSpPr>
          <p:cNvPr id="110" name="Oval 109"/>
          <p:cNvSpPr/>
          <p:nvPr/>
        </p:nvSpPr>
        <p:spPr>
          <a:xfrm>
            <a:off x="7575804" y="35250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7628812" y="351004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7681821" y="34952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7734830" y="34806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7787838" y="346637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7840847" y="34526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7893856" y="34394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7946864" y="34270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7999873" y="34154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8052882" y="34047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8105890" y="339500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8158899" y="338636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8211908" y="337887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8264917" y="33725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8317925" y="336757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370934" y="336386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8423943" y="33614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8476951" y="336046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8529960" y="33608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8582969" y="336250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8635977" y="33655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8688986" y="33699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8741995" y="33755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8795004" y="33824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848012" y="33905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01021" y="33997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54030" y="34099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9007038" y="342113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9060047" y="343318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9113056" y="344598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9166064" y="34594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9219073" y="34734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9272082" y="34878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9325090" y="35026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9378099" y="351752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9431108" y="353250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9484117" y="35474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537125" y="356215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590134" y="3576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643143" y="359058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696151" y="360404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749160" y="361684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9802169" y="36288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9855177" y="364006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9908186" y="365029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9961195" y="365947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0014204" y="36675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067212" y="367444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120221" y="36801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0173230" y="36844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0226238" y="36875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79247" y="368922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332256" y="36895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385264" y="36885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438273" y="368616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491282" y="36824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544290" y="36774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597299" y="367115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650308" y="366365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703317" y="36550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756325" y="36453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809334" y="36345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862343" y="362296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915351" y="361053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968360" y="359738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1021369" y="358364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11074377" y="35694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11127386" y="355482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11180395" y="35399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11233404" y="35250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75438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7805057" y="336432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066314" y="333254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8327571" y="342159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8588828" y="356442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8850085" y="365347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11342" y="362169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3726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633857" y="336432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895114" y="3332542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156371" y="342159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417628" y="356442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678885" y="365347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940142" y="362169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1201400" y="349300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5897880" y="424281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PHASE + 90°</a:t>
            </a:r>
          </a:p>
        </p:txBody>
      </p:sp>
      <p:sp>
        <p:nvSpPr>
          <p:cNvPr id="196" name="Oval 195"/>
          <p:cNvSpPr/>
          <p:nvPr/>
        </p:nvSpPr>
        <p:spPr>
          <a:xfrm>
            <a:off x="7575804" y="43662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7628812" y="435129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7681821" y="43364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7734830" y="43218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7787838" y="430762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7840847" y="429388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7893856" y="42807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7946864" y="42683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7999873" y="425668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8052882" y="42459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8105890" y="423625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8158899" y="422761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8211908" y="422012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8264917" y="421384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8317925" y="420882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8370934" y="42051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8423943" y="42027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8476951" y="420171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8529960" y="42020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8582969" y="420375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8635977" y="420680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8688986" y="42111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8741995" y="42168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8795004" y="422371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8848012" y="42317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8901021" y="424098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8954030" y="425120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007038" y="426238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060047" y="427442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113056" y="428723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166064" y="43006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219073" y="43146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272082" y="43291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325090" y="43438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9378099" y="43587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9431108" y="437375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9484117" y="438867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537125" y="440340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590134" y="44178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643143" y="443183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696151" y="444528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749160" y="445809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802169" y="4470132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855177" y="4481311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908186" y="449153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961195" y="450072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10014204" y="450880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10067212" y="451569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10120221" y="452134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10173230" y="452571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10226238" y="45287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10279247" y="453046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10332256" y="45308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10385264" y="452978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10438273" y="452740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10491282" y="452369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10544290" y="45186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10597299" y="4512398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650308" y="450490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703317" y="449626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756325" y="448654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809334" y="4475835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862343" y="4464213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915351" y="4451779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968360" y="443863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1021369" y="4424894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1074377" y="4410666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1127386" y="439607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1180395" y="4381227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1233404" y="4366260"/>
            <a:ext cx="27432" cy="27432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7543800" y="416966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7805057" y="418596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066314" y="423163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327571" y="429763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588828" y="437088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850085" y="443687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9111342" y="44825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9372600" y="44988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9633857" y="4482548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9895114" y="4436877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156371" y="4370881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417628" y="4297630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678885" y="423163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40142" y="4185963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1201400" y="4169664"/>
            <a:ext cx="91440" cy="9144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TextBox 280"/>
          <p:cNvSpPr txBox="1"/>
          <p:nvPr/>
        </p:nvSpPr>
        <p:spPr>
          <a:xfrm>
            <a:off x="58978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Grey: the base curve. Pink: one value changed.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SET EACH VALUE ON PURPOSE AND WRITE IT ON THE SHEET. A SINE NOBODY CAN READ IS DECORATION.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TWO WAYS TO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Worth being precise about, because they look alike and are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EXPLICIT ITERATION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Repeat Zone runs a body once per step, in order, carrying a value forward.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Use it when step n depends on step n − 1 — and when you want to watch the loop happen.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PER-ELEMENT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field is evaluated for every element at once. There is no order and no carry.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is usually faster — but nothing on screen tells you a loop happened, which is why we built the explicit one first. A field is not a Repeat Zone.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D9E1"/>
                </a:solidFill>
                <a:latin typeface="Arial"/>
              </a:rPr>
              <a:t>NEXT WEEK'S ATTRACTORS ARE MEASURED PER ELEMENT. KNOW WHICH KIND OF REPETITION YOU ARE USING.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SHEET 2,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 today: hexagonal, radial, curve.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144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Hexagonal: stagger alternate rows; explain the odd/even test and row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6"/>
            <a:ext cx="777240" cy="9144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7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6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Radial: place copies from radius, count and angular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82212"/>
            <a:ext cx="777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13632"/>
            <a:ext cx="777240" cy="9144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82212"/>
            <a:ext cx="992124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13632"/>
            <a:ext cx="992124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05072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7 · Curve: resample a curve and place copies along it, aligned to its tangent. Drive a curve with sine; explain amplitude, frequency and phase.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WHOLE UNIT,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Last week you could read the loops. Today you can read all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= 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j in range(rows):                      # nested loop =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offset = spacing / 2 if j % 2 else 0   # odd/even stagger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i in range(cols):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z = amplitude * sin(i * frequency + phase)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if 3 &lt;= i &lt;= 5:                    # Compare +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   z = z + lift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points.append([i * spacing + offset, j * row_gap, z])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list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index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count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nested 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modulo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sine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amplitude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frequency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j % 2 IS THE ODD/EVEN TEST · if IS COMPARE AND SWITCH · sin IS THE MATH NODE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REMINDER — P3b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Array your P3a module across exactly two 17 × 11 inch sheets, submitted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Sheet 1 — 1D, 2D and 3D arrays: a linear array, a nested grid and an XYZ cube array. Label count, spacing and index order; show the predicted total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Sheet 2 — hexagonal, radial and curve arrays: a staggered hexagonal grid, a radial array (radius, count, angular step) and an array along a curve, including one sine-driven curve with amplitude, frequency and phase labelled.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Keep the module unchanged; vary only its placement. Expose count and spacing or radius in the graph.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Include one conditional selection on either sheet. State its rule (for example, indices 3–5 lift by 0.5) and show the array before and after it applies.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Nothing is due today; this is a studio-review week. Use the class to build sheet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Hexagonal array working, the odd/even test visible and row spacing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Radial array working from radius, count and angular 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module placed along a resampled curve, aligned to its tangent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sine-driven curve, with amplitude, frequency and phase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Sheet 1 reviewed — labels in place, and one conditional selection with its rule stated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TWO SHEETS, ONE MODULE, SIX ARRAYS. NOTHING ELSE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8: attractors — distance, a 2D grayscale field, remap, clamp and falloff; point, multi-point and curve attractors.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P3b is due next class — both sheets, submitted together as one assignment. DUE WEEK 8 — Oct 13   /   7%.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Sheet 2: hexagonal, radial and curve arrays, the sine values labelled. Check sheet 1 against the requirements again.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— the printed object and its process sheet are due at the mid-semester deadline, WEEK 10 — Oct 27. If it is not queued yet, queue it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