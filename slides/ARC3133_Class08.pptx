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08  /  OCT 13  /  U05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ATTRACTORS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2D FIELD DRAWING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 CONTINUES — A FIELD FIRST, THEN A DRAWING MADE OF 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P3b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P3c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AN ATTRACTOR IS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For every point: how far is it from something? Use that number to drive a property.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WHOLE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for each point p: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d = distance(p, a)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value = f(d)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Everything else this week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is a choice of 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MEASURE IT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60604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= √((px − ax)² + (py − ay)²)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Pythagoras, once per point. The answer is in model units.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Index told you where in the sequence. Distance tells you how far from something outside the collection.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LAST WEEK YOU BUILT THE POSITIONS. THIS WEEK YOU MEASURE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READ THE FIELD BEFORE YOU CHANGE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Distance is a value at every point. Look at it as grey before it becomes geometry.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6060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 MEASURE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Every point on a flat 2D grid gets a number: how far to the attractor.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186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828800"/>
            <a:ext cx="26060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 DISPLAY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186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83279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79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those numbers as grey. This is a drawing already.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078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1828800"/>
            <a:ext cx="26060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7220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 REMAP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78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Push that range into the range your property needs.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61120" y="1828800"/>
            <a:ext cx="26060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 DRIVE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Only now does anything change. The field was finished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069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4B4AC"/>
                </a:solidFill>
                <a:latin typeface="Arial"/>
              </a:rPr>
              <a:t>THE FIELD, READ AS A GREY VALUE ACROSS THE PLANE   ·   NEAR → FAR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370832"/>
            <a:ext cx="1219200" cy="457200"/>
          </a:xfrm>
          <a:prstGeom prst="rect">
            <a:avLst/>
          </a:prstGeom>
          <a:solidFill>
            <a:srgbClr val="FFFDF7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813560" y="4370832"/>
            <a:ext cx="1219200" cy="457200"/>
          </a:xfrm>
          <a:prstGeom prst="rect">
            <a:avLst/>
          </a:prstGeom>
          <a:solidFill>
            <a:srgbClr val="E8E8E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032760" y="4370832"/>
            <a:ext cx="1219200" cy="457200"/>
          </a:xfrm>
          <a:prstGeom prst="rect">
            <a:avLst/>
          </a:prstGeom>
          <a:solidFill>
            <a:srgbClr val="CFCFC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251960" y="4370832"/>
            <a:ext cx="1219200" cy="457200"/>
          </a:xfrm>
          <a:prstGeom prst="rect">
            <a:avLst/>
          </a:prstGeom>
          <a:solidFill>
            <a:srgbClr val="B4B4A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71160" y="4370832"/>
            <a:ext cx="1219200" cy="457200"/>
          </a:xfrm>
          <a:prstGeom prst="rect">
            <a:avLst/>
          </a:prstGeom>
          <a:solidFill>
            <a:srgbClr val="96969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690360" y="4370832"/>
            <a:ext cx="1219200" cy="457200"/>
          </a:xfrm>
          <a:prstGeom prst="rect">
            <a:avLst/>
          </a:prstGeom>
          <a:solidFill>
            <a:srgbClr val="75757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909560" y="4370832"/>
            <a:ext cx="1219200" cy="457200"/>
          </a:xfrm>
          <a:prstGeom prst="rect">
            <a:avLst/>
          </a:prstGeom>
          <a:solidFill>
            <a:srgbClr val="52525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28760" y="4370832"/>
            <a:ext cx="1219200" cy="457200"/>
          </a:xfrm>
          <a:prstGeom prst="rect">
            <a:avLst/>
          </a:prstGeom>
          <a:solidFill>
            <a:srgbClr val="32323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0347960" y="4370832"/>
            <a:ext cx="1219200" cy="457200"/>
          </a:xfrm>
          <a:prstGeom prst="rect">
            <a:avLst/>
          </a:prstGeom>
          <a:solidFill>
            <a:srgbClr val="1C1C1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62940" y="5207508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94360" y="5138928"/>
            <a:ext cx="10972800" cy="62179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138928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THE GREY IMAGE IS NOT ALREADY A GOOD DRAWING, THE LINES WILL NOT SAVE IT.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P3c requires the grayscale field, with a legend, beside the line drawing. That order is the assignment.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REMAP, AND SAY WHERE YOU CLAMPED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Distance comes out in model units. Your property needs a specific range.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OPERATION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t   = (d − dmin) / (dmax − dmin)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t   = clamp(t, 0, 1)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= outmin + t × (outmax − outmin)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   0 … 8.4 units    ← input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 2 … 12 mm length ← 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SUBTRACT. DIVIDE. MULTIPLY. ADD.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Nothing here is new. It is the arithmetic of a transformation, applied to a distance instead of a coordinate.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Clamping is a decision, not a safety net. Decide what happens past the end of your range and say 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P3c REQUIRES INPUT AND OUTPUT RANGES, CLAMPING AND FALLOFF LABELLED ON THE SHEET.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FALLOFF, AND WHAT YOU MEASURE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f shapes the drawing. The attractor type changes only what the distance is measured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05939"/>
            <a:ext cx="260604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37360"/>
            <a:ext cx="260604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37360"/>
            <a:ext cx="2606040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LINEAR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40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v = 1 − t</a:t>
            </a:r>
          </a:p>
        </p:txBody>
      </p:sp>
      <p:sp>
        <p:nvSpPr>
          <p:cNvPr id="10" name="Oval 9"/>
          <p:cNvSpPr/>
          <p:nvPr/>
        </p:nvSpPr>
        <p:spPr>
          <a:xfrm>
            <a:off x="861822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42289" y="260283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22756" y="262478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03223" y="264673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83690" y="266867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264158" y="269062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344625" y="271256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425092" y="273451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505559" y="275645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586026" y="277840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666494" y="28003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746961" y="282229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827428" y="284424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907895" y="28661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988362" y="288813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068830" y="291007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2149297" y="293202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2229764" y="295396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310231" y="29759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390698" y="299786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2471166" y="301980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551633" y="304175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2632100" y="306369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712567" y="308564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2793034" y="310758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2873502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50392" y="3264408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51860" y="1805939"/>
            <a:ext cx="260604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3383279" y="1737360"/>
            <a:ext cx="260604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3383279" y="1737360"/>
            <a:ext cx="2606040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611879" y="173736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INVERSE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84448" y="2240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v = 1 / (1 + k·t)</a:t>
            </a:r>
          </a:p>
        </p:txBody>
      </p:sp>
      <p:sp>
        <p:nvSpPr>
          <p:cNvPr id="42" name="Oval 41"/>
          <p:cNvSpPr/>
          <p:nvPr/>
        </p:nvSpPr>
        <p:spPr>
          <a:xfrm>
            <a:off x="3650741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3731209" y="268708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3811676" y="275883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3892143" y="28105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3972610" y="284961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4053078" y="288015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4133545" y="290468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4214012" y="292481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4294479" y="294164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374946" y="295591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4455414" y="296816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4535881" y="297880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4616348" y="298813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4696815" y="29963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4777282" y="300369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4857750" y="301026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4938217" y="301617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5018684" y="3021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5099151" y="302640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5179618" y="30308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5260086" y="303494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340553" y="303869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5421020" y="30421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5501487" y="30453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5581954" y="304837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5662422" y="305115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3639311" y="3264408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40780" y="1805939"/>
            <a:ext cx="260604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6172200" y="1737360"/>
            <a:ext cx="260604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6172200" y="1737360"/>
            <a:ext cx="260604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400800" y="173736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SMOOTH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73368" y="2240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eased at both ends</a:t>
            </a:r>
          </a:p>
        </p:txBody>
      </p:sp>
      <p:sp>
        <p:nvSpPr>
          <p:cNvPr id="74" name="Oval 73"/>
          <p:cNvSpPr/>
          <p:nvPr/>
        </p:nvSpPr>
        <p:spPr>
          <a:xfrm>
            <a:off x="6439662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6520129" y="25834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6600596" y="259086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6681063" y="260269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6761530" y="261853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6841998" y="263795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6922465" y="266053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002932" y="268584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7083399" y="271348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7163866" y="274301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7244334" y="277401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7324801" y="280607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7405268" y="283876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7485735" y="287166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7566202" y="290435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7646670" y="293641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7727137" y="296741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7807604" y="299694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7888071" y="302458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7968538" y="304989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8049006" y="307247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8129473" y="309189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8209940" y="310772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8290407" y="311956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370874" y="31269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8451342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6428232" y="3264408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0" y="1805939"/>
            <a:ext cx="260604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8961120" y="1737360"/>
            <a:ext cx="260604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8961120" y="1737360"/>
            <a:ext cx="2606040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9189720" y="173736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62288" y="2240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on / off at a cut</a:t>
            </a:r>
          </a:p>
        </p:txBody>
      </p:sp>
      <p:sp>
        <p:nvSpPr>
          <p:cNvPr id="106" name="Oval 105"/>
          <p:cNvSpPr/>
          <p:nvPr/>
        </p:nvSpPr>
        <p:spPr>
          <a:xfrm>
            <a:off x="9228582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9309049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9389516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9469983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9550450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9630918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9711385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791852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872319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952786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10033254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10113721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10194188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10274655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10355122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10435590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10516057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10596524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10676991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10757458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10837926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918393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10998860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11079327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11159794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11240262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9217152" y="3264408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62940" y="3771900"/>
            <a:ext cx="3520440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594360" y="3703320"/>
            <a:ext cx="3520440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594360" y="3703320"/>
            <a:ext cx="3520440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22960" y="370332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ONE POINT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77240" y="52303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d = distance(p, a)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393692" y="3771900"/>
            <a:ext cx="3520440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4325112" y="3703320"/>
            <a:ext cx="3520440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4325112" y="3703320"/>
            <a:ext cx="3520440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553712" y="370332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NEAREST OF SEVERAL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07992" y="52303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d = min(distance(p, ai))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124444" y="3771900"/>
            <a:ext cx="3520440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8055864" y="3703320"/>
            <a:ext cx="3520440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8055864" y="3703320"/>
            <a:ext cx="352044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8284464" y="370332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NEAREST ON A CURVE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38744" y="52303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d = distance(p, closest(c, p))</a:t>
            </a:r>
          </a:p>
        </p:txBody>
      </p:sp>
      <p:sp>
        <p:nvSpPr>
          <p:cNvPr id="148" name="Oval 147"/>
          <p:cNvSpPr/>
          <p:nvPr/>
        </p:nvSpPr>
        <p:spPr>
          <a:xfrm>
            <a:off x="123215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123215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1232154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23215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123215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123215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150647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150647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1506474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50647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150647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150647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178079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78079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1776818" y="4584026"/>
            <a:ext cx="49099" cy="4909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779228" y="4732740"/>
            <a:ext cx="44278" cy="442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178079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78079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2049568" y="4289848"/>
            <a:ext cx="52238" cy="5223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2033278" y="4419862"/>
            <a:ext cx="84818" cy="8481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2023853" y="4556741"/>
            <a:ext cx="103668" cy="10366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2028500" y="4707692"/>
            <a:ext cx="94374" cy="9437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2043061" y="4868557"/>
            <a:ext cx="65253" cy="6525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205511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2317126" y="4283086"/>
            <a:ext cx="65762" cy="6576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2296675" y="4408939"/>
            <a:ext cx="106664" cy="1066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2276537" y="4535105"/>
            <a:ext cx="146940" cy="1469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2289026" y="4693898"/>
            <a:ext cx="121963" cy="12196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2309453" y="4860629"/>
            <a:ext cx="81108" cy="8110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232943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2600117" y="4291757"/>
            <a:ext cx="48420" cy="484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2584654" y="4422598"/>
            <a:ext cx="79347" cy="7934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2576115" y="4560363"/>
            <a:ext cx="96424" cy="964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2580266" y="4710818"/>
            <a:ext cx="88123" cy="881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2593873" y="4870729"/>
            <a:ext cx="60908" cy="6090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260375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287807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287807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2877746" y="4587674"/>
            <a:ext cx="41802" cy="4180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287807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287807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287807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315239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315239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3152394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315239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315239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315239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342671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342671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3426714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342671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342671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342671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2272284" y="4576571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4953234" y="4285722"/>
            <a:ext cx="60491" cy="6049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4952116" y="4430908"/>
            <a:ext cx="62726" cy="627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4959454" y="4584550"/>
            <a:ext cx="48051" cy="480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4962906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496290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496290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5202399" y="4260567"/>
            <a:ext cx="110801" cy="11080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5199911" y="4404383"/>
            <a:ext cx="115776" cy="1157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5213656" y="4564432"/>
            <a:ext cx="88287" cy="8828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5232046" y="4729126"/>
            <a:ext cx="51507" cy="515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523722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523722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5470127" y="4253975"/>
            <a:ext cx="123984" cy="1239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5466337" y="4396489"/>
            <a:ext cx="131564" cy="1315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5484006" y="4560462"/>
            <a:ext cx="96226" cy="962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5503894" y="4726654"/>
            <a:ext cx="56451" cy="564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551154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551154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5767467" y="4276995"/>
            <a:ext cx="77944" cy="779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5766089" y="4421921"/>
            <a:ext cx="80700" cy="807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5774878" y="4577014"/>
            <a:ext cx="63122" cy="6312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5785866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578586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578586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606018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606018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6060186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6060186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606018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606018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633450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633450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6334506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6331054" y="4730854"/>
            <a:ext cx="48051" cy="480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6323716" y="4869820"/>
            <a:ext cx="62726" cy="627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6324834" y="5017242"/>
            <a:ext cx="60491" cy="6049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660882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660882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6603646" y="4582822"/>
            <a:ext cx="51507" cy="515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6585256" y="4710736"/>
            <a:ext cx="88287" cy="8828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6571511" y="4843295"/>
            <a:ext cx="115776" cy="1157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6573999" y="4992087"/>
            <a:ext cx="110801" cy="11080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688314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688314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6875494" y="4580350"/>
            <a:ext cx="56451" cy="564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6855606" y="4706766"/>
            <a:ext cx="96226" cy="962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6837937" y="4835401"/>
            <a:ext cx="131564" cy="1315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6841727" y="4985495"/>
            <a:ext cx="123984" cy="1239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715746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715746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7157466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7146478" y="4723318"/>
            <a:ext cx="63122" cy="6312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7137689" y="4860833"/>
            <a:ext cx="80700" cy="807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7139067" y="5008515"/>
            <a:ext cx="77944" cy="779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5381244" y="4347971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6752844" y="4896612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8700516" y="496062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8732321" y="49377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8764126" y="49148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8795931" y="48921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8827736" y="48695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8859542" y="484711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8891347" y="48249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8923152" y="48030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8954957" y="47814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8986762" y="476025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9018568" y="473946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9050373" y="47191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9082178" y="469931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9113983" y="468002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9145789" y="466131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9177594" y="46432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9209399" y="462580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9241204" y="4609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9273009" y="459306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9304815" y="457782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9336620" y="456337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9368425" y="454974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9400230" y="453697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9432036" y="452507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9463841" y="451408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9495646" y="450401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9527451" y="449489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9559256" y="448673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9591062" y="447956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9622867" y="447338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9654672" y="446821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9686477" y="4464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9718282" y="446095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9750088" y="44588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9781893" y="445783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9813698" y="445783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9845503" y="44588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9877309" y="446095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9909114" y="4464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9940919" y="446821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9972724" y="447338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10004529" y="447956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10036335" y="448673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10068140" y="449489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10099945" y="450401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10131750" y="451408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10163556" y="452507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10195361" y="453697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10227166" y="454974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10258971" y="456337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10290776" y="457782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10322582" y="459306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10354387" y="4609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10386192" y="462580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10417997" y="46432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10449802" y="466131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10481608" y="468002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10513413" y="469931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10545218" y="47191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10577023" y="473946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10608829" y="476025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10640634" y="47814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10672439" y="48030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10704244" y="48249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10736049" y="484711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10767855" y="48695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10799660" y="48921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10831465" y="49148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10863270" y="49377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10895076" y="496062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8693658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8693658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8693658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8672169" y="4712817"/>
            <a:ext cx="84124" cy="841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8648395" y="4835347"/>
            <a:ext cx="131673" cy="131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8648395" y="4981651"/>
            <a:ext cx="131673" cy="131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8967978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8962763" y="4436483"/>
            <a:ext cx="51576" cy="515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8938989" y="4559013"/>
            <a:ext cx="99125" cy="9912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8915214" y="4681542"/>
            <a:ext cx="146674" cy="14667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Oval 338"/>
          <p:cNvSpPr/>
          <p:nvPr/>
        </p:nvSpPr>
        <p:spPr>
          <a:xfrm>
            <a:off x="8930215" y="4842847"/>
            <a:ext cx="116673" cy="116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Oval 339"/>
          <p:cNvSpPr/>
          <p:nvPr/>
        </p:nvSpPr>
        <p:spPr>
          <a:xfrm>
            <a:off x="8953989" y="5012925"/>
            <a:ext cx="69124" cy="691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Oval 340"/>
          <p:cNvSpPr/>
          <p:nvPr/>
        </p:nvSpPr>
        <p:spPr>
          <a:xfrm>
            <a:off x="9234344" y="4287440"/>
            <a:ext cx="57054" cy="5705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Oval 341"/>
          <p:cNvSpPr/>
          <p:nvPr/>
        </p:nvSpPr>
        <p:spPr>
          <a:xfrm>
            <a:off x="9210570" y="4409970"/>
            <a:ext cx="104603" cy="1046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Oval 342"/>
          <p:cNvSpPr/>
          <p:nvPr/>
        </p:nvSpPr>
        <p:spPr>
          <a:xfrm>
            <a:off x="9186796" y="4532500"/>
            <a:ext cx="152151" cy="1521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Oval 343"/>
          <p:cNvSpPr/>
          <p:nvPr/>
        </p:nvSpPr>
        <p:spPr>
          <a:xfrm>
            <a:off x="9207274" y="4699282"/>
            <a:ext cx="111195" cy="11119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Oval 344"/>
          <p:cNvSpPr/>
          <p:nvPr/>
        </p:nvSpPr>
        <p:spPr>
          <a:xfrm>
            <a:off x="9231048" y="4869360"/>
            <a:ext cx="63646" cy="6364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Oval 345"/>
          <p:cNvSpPr/>
          <p:nvPr/>
        </p:nvSpPr>
        <p:spPr>
          <a:xfrm>
            <a:off x="924229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Oval 346"/>
          <p:cNvSpPr/>
          <p:nvPr/>
        </p:nvSpPr>
        <p:spPr>
          <a:xfrm>
            <a:off x="9490949" y="4269725"/>
            <a:ext cx="92485" cy="924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Oval 347"/>
          <p:cNvSpPr/>
          <p:nvPr/>
        </p:nvSpPr>
        <p:spPr>
          <a:xfrm>
            <a:off x="9467174" y="4392254"/>
            <a:ext cx="140034" cy="14003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Oval 348"/>
          <p:cNvSpPr/>
          <p:nvPr/>
        </p:nvSpPr>
        <p:spPr>
          <a:xfrm>
            <a:off x="9475535" y="4546919"/>
            <a:ext cx="123312" cy="1233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Oval 349"/>
          <p:cNvSpPr/>
          <p:nvPr/>
        </p:nvSpPr>
        <p:spPr>
          <a:xfrm>
            <a:off x="9499309" y="4716997"/>
            <a:ext cx="75764" cy="757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Oval 350"/>
          <p:cNvSpPr/>
          <p:nvPr/>
        </p:nvSpPr>
        <p:spPr>
          <a:xfrm>
            <a:off x="9516618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Oval 351"/>
          <p:cNvSpPr/>
          <p:nvPr/>
        </p:nvSpPr>
        <p:spPr>
          <a:xfrm>
            <a:off x="951661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Oval 352"/>
          <p:cNvSpPr/>
          <p:nvPr/>
        </p:nvSpPr>
        <p:spPr>
          <a:xfrm>
            <a:off x="9759048" y="4263504"/>
            <a:ext cx="104927" cy="10492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Oval 353"/>
          <p:cNvSpPr/>
          <p:nvPr/>
        </p:nvSpPr>
        <p:spPr>
          <a:xfrm>
            <a:off x="9735273" y="4386033"/>
            <a:ext cx="152476" cy="1524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Oval 354"/>
          <p:cNvSpPr/>
          <p:nvPr/>
        </p:nvSpPr>
        <p:spPr>
          <a:xfrm>
            <a:off x="9756076" y="4553140"/>
            <a:ext cx="110870" cy="11087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Oval 355"/>
          <p:cNvSpPr/>
          <p:nvPr/>
        </p:nvSpPr>
        <p:spPr>
          <a:xfrm>
            <a:off x="9779850" y="4723218"/>
            <a:ext cx="63322" cy="6332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Oval 356"/>
          <p:cNvSpPr/>
          <p:nvPr/>
        </p:nvSpPr>
        <p:spPr>
          <a:xfrm>
            <a:off x="9790938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Oval 357"/>
          <p:cNvSpPr/>
          <p:nvPr/>
        </p:nvSpPr>
        <p:spPr>
          <a:xfrm>
            <a:off x="979093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Oval 358"/>
          <p:cNvSpPr/>
          <p:nvPr/>
        </p:nvSpPr>
        <p:spPr>
          <a:xfrm>
            <a:off x="10039589" y="4269725"/>
            <a:ext cx="92485" cy="924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Oval 359"/>
          <p:cNvSpPr/>
          <p:nvPr/>
        </p:nvSpPr>
        <p:spPr>
          <a:xfrm>
            <a:off x="10015814" y="4392254"/>
            <a:ext cx="140034" cy="14003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Oval 360"/>
          <p:cNvSpPr/>
          <p:nvPr/>
        </p:nvSpPr>
        <p:spPr>
          <a:xfrm>
            <a:off x="10024175" y="4546919"/>
            <a:ext cx="123312" cy="1233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Oval 361"/>
          <p:cNvSpPr/>
          <p:nvPr/>
        </p:nvSpPr>
        <p:spPr>
          <a:xfrm>
            <a:off x="10047949" y="4716997"/>
            <a:ext cx="75764" cy="757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Oval 362"/>
          <p:cNvSpPr/>
          <p:nvPr/>
        </p:nvSpPr>
        <p:spPr>
          <a:xfrm>
            <a:off x="10065258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Oval 363"/>
          <p:cNvSpPr/>
          <p:nvPr/>
        </p:nvSpPr>
        <p:spPr>
          <a:xfrm>
            <a:off x="1006525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5" name="Oval 364"/>
          <p:cNvSpPr/>
          <p:nvPr/>
        </p:nvSpPr>
        <p:spPr>
          <a:xfrm>
            <a:off x="10331624" y="4287440"/>
            <a:ext cx="57054" cy="5705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Oval 365"/>
          <p:cNvSpPr/>
          <p:nvPr/>
        </p:nvSpPr>
        <p:spPr>
          <a:xfrm>
            <a:off x="10307850" y="4409970"/>
            <a:ext cx="104603" cy="1046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7" name="Oval 366"/>
          <p:cNvSpPr/>
          <p:nvPr/>
        </p:nvSpPr>
        <p:spPr>
          <a:xfrm>
            <a:off x="10284076" y="4532500"/>
            <a:ext cx="152151" cy="1521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Oval 367"/>
          <p:cNvSpPr/>
          <p:nvPr/>
        </p:nvSpPr>
        <p:spPr>
          <a:xfrm>
            <a:off x="10304554" y="4699282"/>
            <a:ext cx="111195" cy="11119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Oval 368"/>
          <p:cNvSpPr/>
          <p:nvPr/>
        </p:nvSpPr>
        <p:spPr>
          <a:xfrm>
            <a:off x="10328328" y="4869360"/>
            <a:ext cx="63646" cy="6364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Oval 369"/>
          <p:cNvSpPr/>
          <p:nvPr/>
        </p:nvSpPr>
        <p:spPr>
          <a:xfrm>
            <a:off x="1033957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Oval 370"/>
          <p:cNvSpPr/>
          <p:nvPr/>
        </p:nvSpPr>
        <p:spPr>
          <a:xfrm>
            <a:off x="10613898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Oval 371"/>
          <p:cNvSpPr/>
          <p:nvPr/>
        </p:nvSpPr>
        <p:spPr>
          <a:xfrm>
            <a:off x="10608683" y="4436483"/>
            <a:ext cx="51576" cy="515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Oval 372"/>
          <p:cNvSpPr/>
          <p:nvPr/>
        </p:nvSpPr>
        <p:spPr>
          <a:xfrm>
            <a:off x="10584909" y="4559013"/>
            <a:ext cx="99125" cy="9912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Oval 373"/>
          <p:cNvSpPr/>
          <p:nvPr/>
        </p:nvSpPr>
        <p:spPr>
          <a:xfrm>
            <a:off x="10561134" y="4681542"/>
            <a:ext cx="146674" cy="14667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Oval 374"/>
          <p:cNvSpPr/>
          <p:nvPr/>
        </p:nvSpPr>
        <p:spPr>
          <a:xfrm>
            <a:off x="10576135" y="4842847"/>
            <a:ext cx="116673" cy="116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Oval 375"/>
          <p:cNvSpPr/>
          <p:nvPr/>
        </p:nvSpPr>
        <p:spPr>
          <a:xfrm>
            <a:off x="10599909" y="5012925"/>
            <a:ext cx="69124" cy="691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Oval 376"/>
          <p:cNvSpPr/>
          <p:nvPr/>
        </p:nvSpPr>
        <p:spPr>
          <a:xfrm>
            <a:off x="10888218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Oval 377"/>
          <p:cNvSpPr/>
          <p:nvPr/>
        </p:nvSpPr>
        <p:spPr>
          <a:xfrm>
            <a:off x="10888218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Oval 378"/>
          <p:cNvSpPr/>
          <p:nvPr/>
        </p:nvSpPr>
        <p:spPr>
          <a:xfrm>
            <a:off x="10888218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Oval 379"/>
          <p:cNvSpPr/>
          <p:nvPr/>
        </p:nvSpPr>
        <p:spPr>
          <a:xfrm>
            <a:off x="10866729" y="4712817"/>
            <a:ext cx="84124" cy="841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Oval 380"/>
          <p:cNvSpPr/>
          <p:nvPr/>
        </p:nvSpPr>
        <p:spPr>
          <a:xfrm>
            <a:off x="10842955" y="4835347"/>
            <a:ext cx="131673" cy="131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Oval 381"/>
          <p:cNvSpPr/>
          <p:nvPr/>
        </p:nvSpPr>
        <p:spPr>
          <a:xfrm>
            <a:off x="10842955" y="4981651"/>
            <a:ext cx="131673" cy="131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Rectangle 382"/>
          <p:cNvSpPr/>
          <p:nvPr/>
        </p:nvSpPr>
        <p:spPr>
          <a:xfrm>
            <a:off x="662940" y="5966460"/>
            <a:ext cx="10972800" cy="548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Rectangle 383"/>
          <p:cNvSpPr/>
          <p:nvPr/>
        </p:nvSpPr>
        <p:spPr>
          <a:xfrm>
            <a:off x="594360" y="5897880"/>
            <a:ext cx="10972800" cy="54864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TextBox 384"/>
          <p:cNvSpPr txBox="1"/>
          <p:nvPr/>
        </p:nvSpPr>
        <p:spPr>
          <a:xfrm>
            <a:off x="777240" y="589788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E500"/>
                </a:solidFill>
                <a:latin typeface="Arial"/>
              </a:rPr>
              <a:t>SAME GRID, SAME MAPPING, THREE ATTRACTORS: P3c SHOWS WHAT THE ATTRACTOR ALONE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 LINE DRAWING IS LINES, NOT PIXELS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screen can show any grey. A line, drawn or plotted, is either there or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5349240" cy="2514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5349240" cy="2514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5349240" cy="502920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ON SCREEN — A VALUE PER PIXEL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606040"/>
            <a:ext cx="533400" cy="685800"/>
          </a:xfrm>
          <a:prstGeom prst="rect">
            <a:avLst/>
          </a:prstGeom>
          <a:solidFill>
            <a:srgbClr val="FFFDF7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402080" y="2606040"/>
            <a:ext cx="533400" cy="685800"/>
          </a:xfrm>
          <a:prstGeom prst="rect">
            <a:avLst/>
          </a:prstGeom>
          <a:solidFill>
            <a:srgbClr val="E8E8E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935480" y="2606040"/>
            <a:ext cx="533400" cy="685800"/>
          </a:xfrm>
          <a:prstGeom prst="rect">
            <a:avLst/>
          </a:prstGeom>
          <a:solidFill>
            <a:srgbClr val="CFCFC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468880" y="2606040"/>
            <a:ext cx="533400" cy="685800"/>
          </a:xfrm>
          <a:prstGeom prst="rect">
            <a:avLst/>
          </a:prstGeom>
          <a:solidFill>
            <a:srgbClr val="B4B4A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002280" y="2606040"/>
            <a:ext cx="533400" cy="685800"/>
          </a:xfrm>
          <a:prstGeom prst="rect">
            <a:avLst/>
          </a:prstGeom>
          <a:solidFill>
            <a:srgbClr val="96969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535680" y="2606040"/>
            <a:ext cx="533400" cy="685800"/>
          </a:xfrm>
          <a:prstGeom prst="rect">
            <a:avLst/>
          </a:prstGeom>
          <a:solidFill>
            <a:srgbClr val="75757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069080" y="2606040"/>
            <a:ext cx="533400" cy="685800"/>
          </a:xfrm>
          <a:prstGeom prst="rect">
            <a:avLst/>
          </a:prstGeom>
          <a:solidFill>
            <a:srgbClr val="52525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602480" y="2606040"/>
            <a:ext cx="533400" cy="685800"/>
          </a:xfrm>
          <a:prstGeom prst="rect">
            <a:avLst/>
          </a:prstGeom>
          <a:solidFill>
            <a:srgbClr val="32323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35880" y="2606040"/>
            <a:ext cx="533400" cy="685800"/>
          </a:xfrm>
          <a:prstGeom prst="rect">
            <a:avLst/>
          </a:prstGeom>
          <a:solidFill>
            <a:srgbClr val="1C1C1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3474720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 sample can be any grey. Nothing needs to be drawn.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1897380"/>
            <a:ext cx="5349240" cy="2514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17920" y="1828800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46520" y="182880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AS LINES — A STROKE OR NOTHING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025639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>
            <a:off x="72923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559039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76923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5908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0924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818133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35913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369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6258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869251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82586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95921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09256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91592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921258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1926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42593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53261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63930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96926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5" name="Connector 44"/>
          <p:cNvCxnSpPr/>
          <p:nvPr/>
        </p:nvCxnSpPr>
        <p:spPr>
          <a:xfrm>
            <a:off x="97370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8259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148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0037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0926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8158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02260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2" name="Connector 51"/>
          <p:cNvCxnSpPr/>
          <p:nvPr/>
        </p:nvCxnSpPr>
        <p:spPr>
          <a:xfrm>
            <a:off x="102641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3403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4165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4927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689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6451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7213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107594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0" name="Connector 59"/>
          <p:cNvCxnSpPr/>
          <p:nvPr/>
        </p:nvCxnSpPr>
        <p:spPr>
          <a:xfrm>
            <a:off x="1079277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85945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92612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99280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05947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12615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19282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25950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492240" y="3474720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 stroke is the same darkness. Grey comes from how many lines, how long and how close.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2940" y="47320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594360" y="46634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SO THE FIELD MUST BECOME GEOMETRY: CURVES WITH A START AND AN END. THAT IS WHAT THE SVG HOLDS.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" y="5577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B4B4AC"/>
                </a:solidFill>
                <a:latin typeface="Calibri"/>
              </a:rPr>
              <a:t>The grayscale field stays on the sheet, with its legend, beside the line drawing. The lines are what you submit as SVG — and what a pen plotter could draw.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TRANSLATE THE FIELD INTO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field, same remap. Only what the output number drives changes.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LINE 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length = out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8009" y="3000375"/>
            <a:ext cx="20044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64549" y="3331845"/>
            <a:ext cx="22736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75862" y="3663314"/>
            <a:ext cx="20473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0827" y="3994785"/>
            <a:ext cx="15480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92179" y="3000375"/>
            <a:ext cx="22742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65370" y="3331845"/>
            <a:ext cx="2810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9101" y="3663314"/>
            <a:ext cx="23357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20200" y="3994785"/>
            <a:ext cx="17137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624861" y="3000375"/>
            <a:ext cx="21737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06401" y="3331845"/>
            <a:ext cx="25429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622213" y="3663314"/>
            <a:ext cx="222673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50740" y="3994785"/>
            <a:ext cx="16561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971404" y="3000375"/>
            <a:ext cx="17961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961010" y="3331845"/>
            <a:ext cx="20039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69658" y="3663314"/>
            <a:ext cx="183103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91212" y="3994785"/>
            <a:ext cx="13999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22657" y="3000375"/>
            <a:ext cx="13242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15645" y="3331845"/>
            <a:ext cx="14644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321428" y="3663314"/>
            <a:ext cx="134883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37729" y="3994785"/>
            <a:ext cx="10228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75534" y="3000375"/>
            <a:ext cx="8199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670284" y="3331845"/>
            <a:ext cx="9249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74599" y="3663314"/>
            <a:ext cx="8386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83764" y="3994785"/>
            <a:ext cx="6553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Long near, short far.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5186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383279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ROTATION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8444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angle = out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762563" y="2921384"/>
            <a:ext cx="209173" cy="15798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749855" y="3273365"/>
            <a:ext cx="234589" cy="11695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60286" y="3587434"/>
            <a:ext cx="213727" cy="15176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791917" y="3887463"/>
            <a:ext cx="150465" cy="21464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077491" y="2941943"/>
            <a:ext cx="234637" cy="11686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064335" y="3319428"/>
            <a:ext cx="260949" cy="2483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075133" y="3609880"/>
            <a:ext cx="239353" cy="10686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107906" y="3896674"/>
            <a:ext cx="173807" cy="19622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09445" y="2934018"/>
            <a:ext cx="226049" cy="13271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396439" y="3295872"/>
            <a:ext cx="252061" cy="7194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407113" y="3601099"/>
            <a:ext cx="230713" cy="12443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439504" y="3893323"/>
            <a:ext cx="165931" cy="20292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57836" y="2907317"/>
            <a:ext cx="184587" cy="18611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745567" y="3252823"/>
            <a:ext cx="209125" cy="15804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755637" y="3572491"/>
            <a:ext cx="188985" cy="181647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786151" y="3880397"/>
            <a:ext cx="127957" cy="22877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119825" y="2882825"/>
            <a:ext cx="115929" cy="23509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108819" y="3220396"/>
            <a:ext cx="137941" cy="222897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117854" y="3546758"/>
            <a:ext cx="119871" cy="23311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45151" y="3867850"/>
            <a:ext cx="65277" cy="25386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490707" y="2870142"/>
            <a:ext cx="29485" cy="26046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481388" y="3203008"/>
            <a:ext cx="48123" cy="25767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489040" y="3533282"/>
            <a:ext cx="32819" cy="26006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505450" y="3863721"/>
            <a:ext cx="0" cy="2621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58444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Lines turn with distance.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078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617220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SPACING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7336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gap = out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492240" y="2834640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492240" y="2908706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492240" y="3008696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492240" y="3143682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492240" y="3325913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492240" y="3571925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492240" y="3904041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37336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Rows open up with distance.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02970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896112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HATCH DENSITY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6228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lines per cell = out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330309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428607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526905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625203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320479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399117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47775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9556394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9635032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346692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477756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608820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713671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792309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870948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949586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0028224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70711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772650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9838182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9903714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996924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03477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9739884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870948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002012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116693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214991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313289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411587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106863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185501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0264140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034277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042141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0133076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0264140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0395203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0559034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0755630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052626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0657332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078839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0657332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1050524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1050524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916228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More strokes, darker cell.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62940" y="5372100"/>
            <a:ext cx="1097280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594360" y="5303520"/>
            <a:ext cx="10972800" cy="91440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FFFDF7"/>
                </a:solidFill>
                <a:latin typeface="Courier New"/>
              </a:rPr>
              <a:t>t = remap(distance(p, a))         # the field, unchanged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FFE500"/>
                </a:solidFill>
                <a:latin typeface="Courier New"/>
              </a:rPr>
              <a:t>line(p, angle, length)            # the last line is the translation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EXPORT THE SVG AT SIZE. PLOTTING IS OPTIONAL.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SVG is required. If you choose to plot it, test small before the pen touches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05939"/>
            <a:ext cx="5349240" cy="2926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37360"/>
            <a:ext cx="5349240" cy="2926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37360"/>
            <a:ext cx="53492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01   EXPORT THE SVG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" y="2359152"/>
            <a:ext cx="1188720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5528" y="2423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CURVES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0552" y="2340864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Keep strokes as curves. No mesh, no filled shape.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807208"/>
            <a:ext cx="1188720" cy="32918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5528" y="287121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278892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17 × 11 in, the sheet size, at 100%.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3255264"/>
            <a:ext cx="1188720" cy="32918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5528" y="3319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0552" y="323697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Know the file unit. Measure one known 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" y="3703320"/>
            <a:ext cx="1188720" cy="32918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37673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0552" y="3685032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One pen weight, or one layer per declared pen.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" y="4151376"/>
            <a:ext cx="1188720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95528" y="421538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MARGIN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0552" y="413308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Every stroke inside the paper, with a margin.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6500" y="1805939"/>
            <a:ext cx="5349240" cy="2926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217920" y="1737360"/>
            <a:ext cx="5349240" cy="2926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17920" y="1737360"/>
            <a:ext cx="53492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46520" y="173736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02   OPTIONAL — TEST PLOT SMALL FIRST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19088" y="2359152"/>
            <a:ext cx="1188720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19088" y="2423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CROP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340864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A small, dense corner of the real drawing.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9088" y="2807208"/>
            <a:ext cx="1188720" cy="32918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19088" y="287121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PEN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278892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Check tip and ink. A dry pen skips.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9088" y="3255264"/>
            <a:ext cx="1188720" cy="32918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19088" y="3319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PAPER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4112" y="323697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Real paper, fixed flat, right way round.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19088" y="3703320"/>
            <a:ext cx="1188720" cy="32918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19088" y="37673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SPEED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54112" y="3685032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Slower for dense areas. Watch the first strokes.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19088" y="4151376"/>
            <a:ext cx="1188720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19088" y="421538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COMPARE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54112" y="413308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Test beside screen. Change the mapping, not the pen.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4846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03   COMMON PROBLEMS — EACH ONE IS VISIBLE IN THE SVG BEFORE IT IS PRINTED OR PLOTTED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" y="5262372"/>
            <a:ext cx="26060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94360" y="5193792"/>
            <a:ext cx="2606040" cy="3474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4360" y="526694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DUPLICATE LINES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2940" y="5664708"/>
            <a:ext cx="260604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94360" y="5596128"/>
            <a:ext cx="260604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58952" y="5596128"/>
            <a:ext cx="2286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Strokes on top of each other. Remove overlaps.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51860" y="5262372"/>
            <a:ext cx="26060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3383279" y="5193792"/>
            <a:ext cx="2606040" cy="3474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383279" y="526694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TOO-DENSE HATCHING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51860" y="5664708"/>
            <a:ext cx="260604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3383279" y="5596128"/>
            <a:ext cx="260604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547872" y="5596128"/>
            <a:ext cx="2286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Lines closer than the pen blot. Space them wider.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40780" y="5262372"/>
            <a:ext cx="26060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172200" y="5193792"/>
            <a:ext cx="2606040" cy="3474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172200" y="526694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FILLS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0780" y="5664708"/>
            <a:ext cx="260604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72200" y="5596128"/>
            <a:ext cx="260604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336792" y="5596128"/>
            <a:ext cx="2286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A fill has no stroke to follow. Turn it into hatching.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9700" y="5262372"/>
            <a:ext cx="26060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8961120" y="5193792"/>
            <a:ext cx="2606040" cy="3474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961120" y="526694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TINY STROKES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29700" y="5664708"/>
            <a:ext cx="260604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8961120" y="5596128"/>
            <a:ext cx="260604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125712" y="5596128"/>
            <a:ext cx="2286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Thousands of short segments. Simplify or lower the count.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P3c — ATTRACTOR: 2D FIELD DRAWING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Sample a field on a flat grid, turn every value into a line, and present the line drawing beside its grayscale field on one sheet. Same grid, same mapping, three attractors: the drawing shows what the attractor alone changes.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FIELD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GREY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grayscale field, with a legend, before any 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LINES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Length, rotation, spacing or hatch density, driven by distance.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17 × 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Line drawing, field and legend. SVG submitted. Plotting is optional.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P3c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Build a 2D attractor field on a flat grid and translate it into lines — vary line length, rotation, spacing or hatch density with the measured distance.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Compare single-point, multiple-point and curve attractors on the same grid, with the same mapping, so the difference comes from the attractor alone.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Make one 17 × 11 inch sheet presenting the line drawing, with the grayscale field and a legend beside it. Label input and output ranges, clamping and falloff.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Keep the drawing as clean vector lines and submit the SVG with the sheet PDF and the editable graph.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Optional — plot the drawing on the pen plotter and add a photograph or scan of the plot to the sheet.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9 — Oct 20 — Bring the grayscale field and a first line drawing of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FIELD TO DRAWING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build the field, translate it, export it, start the sheet.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Build the 2D field: a flat grid, distance at every sample, shown as grey with a legend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Write down input and output ranges, clamp and falloff — actual numbers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Translate the field into lines: length, rotation, spacing or hatch density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Export an SVG at sheet size and measure one known 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Optional: run a small test plot on the pen plotter and compare it with the screen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MOVE THE ATTRACTOR. IF YOU CANNOT PREDICT WHAT HAPPENS, STOP AND READ THE FIELD.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9 — Oct 20: layered site analysis — map a site's point cloud in layers with attractor logic. P3d is issued.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P3c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Checkpoint next class. Bring the grayscale field and a first line drawing of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DEADLINE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10 — Oct 27 is the mid-semester deadline. GSM, P2b and P3c are due, and everything through Arrays must be 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SITE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Think of a site you can document. P3d starts from its point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