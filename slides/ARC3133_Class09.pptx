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09  /  OCT 20  /  U05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ATTRACTORS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P3 CONTINUES: THE RULE STOPS COMING FROM THE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MIDTERM UPLOAD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P3c + P3study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AN ATTRACTOR IS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For every panel: how far is it from something? Use that number to drive a parameter.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WHOLE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for each panel p: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d = distance(p, a)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value = f(d)</a:t>
            </a:r>
          </a:p>
          <a:p>
            <a:pPr algn="l">
              <a:lnSpc>
                <a:spcPct val="135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Everything else this week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is a choice of 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6540" y="1943100"/>
            <a:ext cx="502920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502920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MEASURE IT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0604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= √((px − ax)² + (py − ay)²)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Pythagoras, once per panel. The answer is in model units.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Index told you where in the sequence. Distance tells you how far from something outside the collection.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806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IN ARRAYS YOU BUILT THE POSITIONS. NOW YOU MEASURE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READ THE FIELD BEFORE YOU CHANGE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Distance is a value at every location. Look at it as grey before it becomes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060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  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 location on the facade grid gets a number: how far to the attractor.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28800"/>
            <a:ext cx="26060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   DISPLAY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186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79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79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Show those numbers as grey. This is a diagram already.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78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060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   REMAP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78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Push that range into the range your parameter needs.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6060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04   DRIVE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970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6112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Only now does the panel change. The field was finished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69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4B4AC"/>
                </a:solidFill>
                <a:latin typeface="Arial"/>
              </a:rPr>
              <a:t>THE FIELD, READ AS A GREY VALUE ACROSS THE FACADE   ·   NEAR → FAR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370832"/>
            <a:ext cx="1219200" cy="457200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813560" y="4370832"/>
            <a:ext cx="1219200" cy="457200"/>
          </a:xfrm>
          <a:prstGeom prst="rect">
            <a:avLst/>
          </a:prstGeom>
          <a:solidFill>
            <a:srgbClr val="E8E8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032760" y="4370832"/>
            <a:ext cx="1219200" cy="457200"/>
          </a:xfrm>
          <a:prstGeom prst="rect">
            <a:avLst/>
          </a:prstGeom>
          <a:solidFill>
            <a:srgbClr val="CFCFC6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51960" y="4370832"/>
            <a:ext cx="1219200" cy="457200"/>
          </a:xfrm>
          <a:prstGeom prst="rect">
            <a:avLst/>
          </a:prstGeom>
          <a:solidFill>
            <a:srgbClr val="B4B4A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471160" y="4370832"/>
            <a:ext cx="1219200" cy="457200"/>
          </a:xfrm>
          <a:prstGeom prst="rect">
            <a:avLst/>
          </a:prstGeom>
          <a:solidFill>
            <a:srgbClr val="96969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90360" y="4370832"/>
            <a:ext cx="1219200" cy="457200"/>
          </a:xfrm>
          <a:prstGeom prst="rect">
            <a:avLst/>
          </a:prstGeom>
          <a:solidFill>
            <a:srgbClr val="75757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09560" y="4370832"/>
            <a:ext cx="1219200" cy="457200"/>
          </a:xfrm>
          <a:prstGeom prst="rect">
            <a:avLst/>
          </a:prstGeom>
          <a:solidFill>
            <a:srgbClr val="5252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28760" y="4370832"/>
            <a:ext cx="1219200" cy="457200"/>
          </a:xfrm>
          <a:prstGeom prst="rect">
            <a:avLst/>
          </a:prstGeom>
          <a:solidFill>
            <a:srgbClr val="32323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347960" y="4370832"/>
            <a:ext cx="121920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62940" y="5207508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4360" y="5138928"/>
            <a:ext cx="10972800" cy="62179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138928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THE GREY IMAGE IS NOT ALREADY A GOOD DIAGRAM, THE PANEL WILL NOT SAVE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3.4 shows the attractors and the resulting variation side by side, with the parameter labelled. That order is the assignment.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REMAP, AND SAY WHERE YOU CLAMPED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Distance comes out in model units. Your parameter needs a specific range.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t   = (d − dmin) / (dmax − dmin)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t   = clamp(t, 0, 1)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out = outmin + t × (outmax − outmin)</a:t>
            </a:r>
          </a:p>
          <a:p>
            <a:pPr algn="l">
              <a:lnSpc>
                <a:spcPct val="14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   0 … 4 units        ← input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out  0.85 … 0.15 opening ←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9380" y="1851660"/>
            <a:ext cx="51663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1663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SUBTRACT. DIVIDE. MULTIPLY. ADD.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617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Nothing here is new. It is the arithmetic of a transformation, applied to a distance instead of a coordinate.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Clamping is a decision, not a safety net. Decide what happens past the end of your range and say so. Swap the two output values and the pattern inverts.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3.4 LABELS THE PARAMETER AND SAYS, IN PLAIN WORDS, HOW DISTANCE CHANGES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FALLOFF, AND WHAT YOU MEASURE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f shapes the result. The attractor type changes only what the distance is measured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05939"/>
            <a:ext cx="260604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260604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2606040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40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v = 1 − t</a:t>
            </a:r>
          </a:p>
        </p:txBody>
      </p:sp>
      <p:sp>
        <p:nvSpPr>
          <p:cNvPr id="10" name="Oval 9"/>
          <p:cNvSpPr/>
          <p:nvPr/>
        </p:nvSpPr>
        <p:spPr>
          <a:xfrm>
            <a:off x="861822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42289" y="260283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22756" y="262478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03223" y="264673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83690" y="266867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264158" y="269062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344625" y="271256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425092" y="273451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505559" y="275645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586026" y="277840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666494" y="28003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746961" y="282229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827428" y="284424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907895" y="28661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988362" y="288813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068830" y="291007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149297" y="293202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229764" y="295396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310231" y="29759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2390698" y="299786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471166" y="301980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551633" y="304175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632100" y="306369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712567" y="308564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2793034" y="310758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873502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0392" y="3264408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1860" y="1805939"/>
            <a:ext cx="260604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383279" y="1737360"/>
            <a:ext cx="260604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383279" y="1737360"/>
            <a:ext cx="2606040" cy="4114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611879" y="17373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INVERSE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2240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v = 1 / (1 + k·t)</a:t>
            </a:r>
          </a:p>
        </p:txBody>
      </p:sp>
      <p:sp>
        <p:nvSpPr>
          <p:cNvPr id="42" name="Oval 41"/>
          <p:cNvSpPr/>
          <p:nvPr/>
        </p:nvSpPr>
        <p:spPr>
          <a:xfrm>
            <a:off x="3650741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731209" y="268708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3811676" y="275883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892143" y="28105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972610" y="284961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4053078" y="288015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4133545" y="290468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214012" y="292481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4294479" y="294164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374946" y="295591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4455414" y="296816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4535881" y="297880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4616348" y="298813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4696815" y="29963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4777282" y="300369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4857750" y="301026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4938217" y="301617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018684" y="3021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099151" y="302640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179618" y="30308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260086" y="303494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340553" y="303869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421020" y="30421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501487" y="30453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581954" y="304837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662422" y="305115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639311" y="3264408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40780" y="1805939"/>
            <a:ext cx="260604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6172200" y="1737360"/>
            <a:ext cx="260604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6172200" y="1737360"/>
            <a:ext cx="2606040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400800" y="17373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SMOOTH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73368" y="2240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eased at both ends</a:t>
            </a:r>
          </a:p>
        </p:txBody>
      </p:sp>
      <p:sp>
        <p:nvSpPr>
          <p:cNvPr id="74" name="Oval 73"/>
          <p:cNvSpPr/>
          <p:nvPr/>
        </p:nvSpPr>
        <p:spPr>
          <a:xfrm>
            <a:off x="6439662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6520129" y="25834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6600596" y="259086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6681063" y="260269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6761530" y="261853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6841998" y="263795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6922465" y="266053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002932" y="268584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083399" y="271348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7163866" y="274301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7244334" y="277401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324801" y="280607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7405268" y="283876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485735" y="287166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566202" y="290435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7646670" y="293641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7727137" y="296741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7807604" y="299694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7888071" y="302458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968538" y="304989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8049006" y="307247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8129473" y="309189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8209940" y="310772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8290407" y="311956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8370874" y="31269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8451342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6428232" y="3264408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0" y="1805939"/>
            <a:ext cx="260604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961120" y="1737360"/>
            <a:ext cx="260604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961120" y="1737360"/>
            <a:ext cx="2606040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189720" y="173736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62288" y="2240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on / off at a cut</a:t>
            </a:r>
          </a:p>
        </p:txBody>
      </p:sp>
      <p:sp>
        <p:nvSpPr>
          <p:cNvPr id="106" name="Oval 105"/>
          <p:cNvSpPr/>
          <p:nvPr/>
        </p:nvSpPr>
        <p:spPr>
          <a:xfrm>
            <a:off x="9228582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9309049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9389516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9469983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9550450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9630918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9711385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9791852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872319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952786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10033254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10113721" y="25808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10194188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274655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10355122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10435590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0516057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10596524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10676991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10757458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10837926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918393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10998860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11079327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11159794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11240262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9217152" y="3264408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62940" y="3771900"/>
            <a:ext cx="3520440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594360" y="3703320"/>
            <a:ext cx="3520440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594360" y="3703320"/>
            <a:ext cx="3520440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22960" y="37033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ONE POINT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77240" y="52303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000000"/>
                </a:solidFill>
                <a:latin typeface="Courier New"/>
              </a:rPr>
              <a:t>d = distance(p, a)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393692" y="3771900"/>
            <a:ext cx="3520440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325112" y="3703320"/>
            <a:ext cx="3520440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4325112" y="3703320"/>
            <a:ext cx="3520440" cy="4114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4553712" y="37033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NEAREST OF SEVERAL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07992" y="52303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000000"/>
                </a:solidFill>
                <a:latin typeface="Courier New"/>
              </a:rPr>
              <a:t>d = min(distance(p, ai))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124444" y="3771900"/>
            <a:ext cx="3520440" cy="2011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8055864" y="3703320"/>
            <a:ext cx="3520440" cy="2011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8055864" y="3703320"/>
            <a:ext cx="3520440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8284464" y="37033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NEAREST ON A CURVE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38744" y="52303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000000"/>
                </a:solidFill>
                <a:latin typeface="Courier New"/>
              </a:rPr>
              <a:t>d = distance(p, closest(c, p))</a:t>
            </a:r>
          </a:p>
        </p:txBody>
      </p:sp>
      <p:sp>
        <p:nvSpPr>
          <p:cNvPr id="148" name="Oval 147"/>
          <p:cNvSpPr/>
          <p:nvPr/>
        </p:nvSpPr>
        <p:spPr>
          <a:xfrm>
            <a:off x="123215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123215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1232154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1232154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123215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123215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150647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150647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1506474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506474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150647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150647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178079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178079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1776818" y="4584026"/>
            <a:ext cx="49099" cy="4909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1779228" y="4732740"/>
            <a:ext cx="44278" cy="442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178079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178079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2049568" y="4289848"/>
            <a:ext cx="52238" cy="5223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2033278" y="4419862"/>
            <a:ext cx="84818" cy="8481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2023853" y="4556741"/>
            <a:ext cx="103668" cy="1036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2028500" y="4707692"/>
            <a:ext cx="94374" cy="943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2043061" y="4868557"/>
            <a:ext cx="65253" cy="6525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205511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2317126" y="4283086"/>
            <a:ext cx="65762" cy="6576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2296675" y="4408939"/>
            <a:ext cx="106664" cy="1066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2276537" y="4535105"/>
            <a:ext cx="146940" cy="1469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2289026" y="4693898"/>
            <a:ext cx="121963" cy="1219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2309453" y="4860629"/>
            <a:ext cx="81108" cy="811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232943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2600117" y="4291757"/>
            <a:ext cx="48420" cy="484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2584654" y="4422598"/>
            <a:ext cx="79347" cy="7934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2576115" y="4560363"/>
            <a:ext cx="96424" cy="964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2580266" y="4710818"/>
            <a:ext cx="88123" cy="881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2593873" y="4870729"/>
            <a:ext cx="60908" cy="609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260375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287807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287807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2877746" y="4587674"/>
            <a:ext cx="41802" cy="418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2878074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287807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287807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315239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315239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3152394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3152394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315239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315239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3426714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3426714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3426714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3426714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3426714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3426714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2272284" y="4576571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4953234" y="4285722"/>
            <a:ext cx="60491" cy="604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4952116" y="4430908"/>
            <a:ext cx="62726" cy="627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4959454" y="4584550"/>
            <a:ext cx="48051" cy="480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4962906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4962906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4962906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5202399" y="4260567"/>
            <a:ext cx="110801" cy="1108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5199911" y="4404383"/>
            <a:ext cx="115776" cy="1157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5213656" y="4564432"/>
            <a:ext cx="88287" cy="8828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5232046" y="4729126"/>
            <a:ext cx="51507" cy="515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5237226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5237226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5470127" y="4253975"/>
            <a:ext cx="123984" cy="1239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5466337" y="4396489"/>
            <a:ext cx="131564" cy="1315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5484006" y="4560462"/>
            <a:ext cx="96226" cy="962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5503894" y="4726654"/>
            <a:ext cx="56451" cy="564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5511546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5511546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5767467" y="4276995"/>
            <a:ext cx="77944" cy="779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5766089" y="4421921"/>
            <a:ext cx="80700" cy="807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5774878" y="4577014"/>
            <a:ext cx="63122" cy="6312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5785866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5785866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5785866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6060186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6060186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6060186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6060186" y="4734305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6060186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6060186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6334506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6334506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6334506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6331054" y="4730854"/>
            <a:ext cx="48051" cy="480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6323716" y="4869820"/>
            <a:ext cx="62726" cy="627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6324834" y="5017242"/>
            <a:ext cx="60491" cy="604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6608826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6608826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6603646" y="4582822"/>
            <a:ext cx="51507" cy="515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6585256" y="4710736"/>
            <a:ext cx="88287" cy="8828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6571511" y="4843295"/>
            <a:ext cx="115776" cy="1157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6573999" y="4992087"/>
            <a:ext cx="110801" cy="1108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6883146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6883146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6875494" y="4580350"/>
            <a:ext cx="56451" cy="564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6855606" y="4706766"/>
            <a:ext cx="96226" cy="962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6837937" y="4835401"/>
            <a:ext cx="131564" cy="1315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6841727" y="4985495"/>
            <a:ext cx="123984" cy="1239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7157466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7157466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7157466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7146478" y="4723318"/>
            <a:ext cx="63122" cy="6312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7137689" y="4860833"/>
            <a:ext cx="80700" cy="807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7139067" y="5008515"/>
            <a:ext cx="77944" cy="779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5381244" y="4347971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6752844" y="4896612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8700516" y="496062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8732321" y="49377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8764126" y="49148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8795931" y="48921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8827736" y="48695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8859542" y="484711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8891347" y="48249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Oval 265"/>
          <p:cNvSpPr/>
          <p:nvPr/>
        </p:nvSpPr>
        <p:spPr>
          <a:xfrm>
            <a:off x="8923152" y="48030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Oval 266"/>
          <p:cNvSpPr/>
          <p:nvPr/>
        </p:nvSpPr>
        <p:spPr>
          <a:xfrm>
            <a:off x="8954957" y="47814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Oval 267"/>
          <p:cNvSpPr/>
          <p:nvPr/>
        </p:nvSpPr>
        <p:spPr>
          <a:xfrm>
            <a:off x="8986762" y="476025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Oval 268"/>
          <p:cNvSpPr/>
          <p:nvPr/>
        </p:nvSpPr>
        <p:spPr>
          <a:xfrm>
            <a:off x="9018568" y="473946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Oval 269"/>
          <p:cNvSpPr/>
          <p:nvPr/>
        </p:nvSpPr>
        <p:spPr>
          <a:xfrm>
            <a:off x="9050373" y="47191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Oval 270"/>
          <p:cNvSpPr/>
          <p:nvPr/>
        </p:nvSpPr>
        <p:spPr>
          <a:xfrm>
            <a:off x="9082178" y="469931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9113983" y="468002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Oval 272"/>
          <p:cNvSpPr/>
          <p:nvPr/>
        </p:nvSpPr>
        <p:spPr>
          <a:xfrm>
            <a:off x="9145789" y="466131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Oval 273"/>
          <p:cNvSpPr/>
          <p:nvPr/>
        </p:nvSpPr>
        <p:spPr>
          <a:xfrm>
            <a:off x="9177594" y="46432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Oval 274"/>
          <p:cNvSpPr/>
          <p:nvPr/>
        </p:nvSpPr>
        <p:spPr>
          <a:xfrm>
            <a:off x="9209399" y="462580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Oval 275"/>
          <p:cNvSpPr/>
          <p:nvPr/>
        </p:nvSpPr>
        <p:spPr>
          <a:xfrm>
            <a:off x="9241204" y="4609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Oval 276"/>
          <p:cNvSpPr/>
          <p:nvPr/>
        </p:nvSpPr>
        <p:spPr>
          <a:xfrm>
            <a:off x="9273009" y="459306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Oval 277"/>
          <p:cNvSpPr/>
          <p:nvPr/>
        </p:nvSpPr>
        <p:spPr>
          <a:xfrm>
            <a:off x="9304815" y="457782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Oval 278"/>
          <p:cNvSpPr/>
          <p:nvPr/>
        </p:nvSpPr>
        <p:spPr>
          <a:xfrm>
            <a:off x="9336620" y="456337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Oval 279"/>
          <p:cNvSpPr/>
          <p:nvPr/>
        </p:nvSpPr>
        <p:spPr>
          <a:xfrm>
            <a:off x="9368425" y="454974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Oval 280"/>
          <p:cNvSpPr/>
          <p:nvPr/>
        </p:nvSpPr>
        <p:spPr>
          <a:xfrm>
            <a:off x="9400230" y="453697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Oval 281"/>
          <p:cNvSpPr/>
          <p:nvPr/>
        </p:nvSpPr>
        <p:spPr>
          <a:xfrm>
            <a:off x="9432036" y="452507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Oval 282"/>
          <p:cNvSpPr/>
          <p:nvPr/>
        </p:nvSpPr>
        <p:spPr>
          <a:xfrm>
            <a:off x="9463841" y="451408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Oval 283"/>
          <p:cNvSpPr/>
          <p:nvPr/>
        </p:nvSpPr>
        <p:spPr>
          <a:xfrm>
            <a:off x="9495646" y="450401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Oval 284"/>
          <p:cNvSpPr/>
          <p:nvPr/>
        </p:nvSpPr>
        <p:spPr>
          <a:xfrm>
            <a:off x="9527451" y="449489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Oval 285"/>
          <p:cNvSpPr/>
          <p:nvPr/>
        </p:nvSpPr>
        <p:spPr>
          <a:xfrm>
            <a:off x="9559256" y="448673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Oval 286"/>
          <p:cNvSpPr/>
          <p:nvPr/>
        </p:nvSpPr>
        <p:spPr>
          <a:xfrm>
            <a:off x="9591062" y="447956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Oval 287"/>
          <p:cNvSpPr/>
          <p:nvPr/>
        </p:nvSpPr>
        <p:spPr>
          <a:xfrm>
            <a:off x="9622867" y="447338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Oval 288"/>
          <p:cNvSpPr/>
          <p:nvPr/>
        </p:nvSpPr>
        <p:spPr>
          <a:xfrm>
            <a:off x="9654672" y="446821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Oval 289"/>
          <p:cNvSpPr/>
          <p:nvPr/>
        </p:nvSpPr>
        <p:spPr>
          <a:xfrm>
            <a:off x="9686477" y="4464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Oval 290"/>
          <p:cNvSpPr/>
          <p:nvPr/>
        </p:nvSpPr>
        <p:spPr>
          <a:xfrm>
            <a:off x="9718282" y="446095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Oval 291"/>
          <p:cNvSpPr/>
          <p:nvPr/>
        </p:nvSpPr>
        <p:spPr>
          <a:xfrm>
            <a:off x="9750088" y="44588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Oval 292"/>
          <p:cNvSpPr/>
          <p:nvPr/>
        </p:nvSpPr>
        <p:spPr>
          <a:xfrm>
            <a:off x="9781893" y="445783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Oval 293"/>
          <p:cNvSpPr/>
          <p:nvPr/>
        </p:nvSpPr>
        <p:spPr>
          <a:xfrm>
            <a:off x="9813698" y="445783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Oval 294"/>
          <p:cNvSpPr/>
          <p:nvPr/>
        </p:nvSpPr>
        <p:spPr>
          <a:xfrm>
            <a:off x="9845503" y="44588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Oval 295"/>
          <p:cNvSpPr/>
          <p:nvPr/>
        </p:nvSpPr>
        <p:spPr>
          <a:xfrm>
            <a:off x="9877309" y="446095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Oval 296"/>
          <p:cNvSpPr/>
          <p:nvPr/>
        </p:nvSpPr>
        <p:spPr>
          <a:xfrm>
            <a:off x="9909114" y="4464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Oval 297"/>
          <p:cNvSpPr/>
          <p:nvPr/>
        </p:nvSpPr>
        <p:spPr>
          <a:xfrm>
            <a:off x="9940919" y="446821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Oval 298"/>
          <p:cNvSpPr/>
          <p:nvPr/>
        </p:nvSpPr>
        <p:spPr>
          <a:xfrm>
            <a:off x="9972724" y="447338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Oval 299"/>
          <p:cNvSpPr/>
          <p:nvPr/>
        </p:nvSpPr>
        <p:spPr>
          <a:xfrm>
            <a:off x="10004529" y="447956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Oval 300"/>
          <p:cNvSpPr/>
          <p:nvPr/>
        </p:nvSpPr>
        <p:spPr>
          <a:xfrm>
            <a:off x="10036335" y="448673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Oval 301"/>
          <p:cNvSpPr/>
          <p:nvPr/>
        </p:nvSpPr>
        <p:spPr>
          <a:xfrm>
            <a:off x="10068140" y="449489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Oval 302"/>
          <p:cNvSpPr/>
          <p:nvPr/>
        </p:nvSpPr>
        <p:spPr>
          <a:xfrm>
            <a:off x="10099945" y="450401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Oval 303"/>
          <p:cNvSpPr/>
          <p:nvPr/>
        </p:nvSpPr>
        <p:spPr>
          <a:xfrm>
            <a:off x="10131750" y="451408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Oval 304"/>
          <p:cNvSpPr/>
          <p:nvPr/>
        </p:nvSpPr>
        <p:spPr>
          <a:xfrm>
            <a:off x="10163556" y="452507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Oval 305"/>
          <p:cNvSpPr/>
          <p:nvPr/>
        </p:nvSpPr>
        <p:spPr>
          <a:xfrm>
            <a:off x="10195361" y="453697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Oval 306"/>
          <p:cNvSpPr/>
          <p:nvPr/>
        </p:nvSpPr>
        <p:spPr>
          <a:xfrm>
            <a:off x="10227166" y="454974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Oval 307"/>
          <p:cNvSpPr/>
          <p:nvPr/>
        </p:nvSpPr>
        <p:spPr>
          <a:xfrm>
            <a:off x="10258971" y="456337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Oval 308"/>
          <p:cNvSpPr/>
          <p:nvPr/>
        </p:nvSpPr>
        <p:spPr>
          <a:xfrm>
            <a:off x="10290776" y="457782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Oval 309"/>
          <p:cNvSpPr/>
          <p:nvPr/>
        </p:nvSpPr>
        <p:spPr>
          <a:xfrm>
            <a:off x="10322582" y="459306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Oval 310"/>
          <p:cNvSpPr/>
          <p:nvPr/>
        </p:nvSpPr>
        <p:spPr>
          <a:xfrm>
            <a:off x="10354387" y="4609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Oval 311"/>
          <p:cNvSpPr/>
          <p:nvPr/>
        </p:nvSpPr>
        <p:spPr>
          <a:xfrm>
            <a:off x="10386192" y="462580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Oval 312"/>
          <p:cNvSpPr/>
          <p:nvPr/>
        </p:nvSpPr>
        <p:spPr>
          <a:xfrm>
            <a:off x="10417997" y="46432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Oval 313"/>
          <p:cNvSpPr/>
          <p:nvPr/>
        </p:nvSpPr>
        <p:spPr>
          <a:xfrm>
            <a:off x="10449802" y="466131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Oval 314"/>
          <p:cNvSpPr/>
          <p:nvPr/>
        </p:nvSpPr>
        <p:spPr>
          <a:xfrm>
            <a:off x="10481608" y="468002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Oval 315"/>
          <p:cNvSpPr/>
          <p:nvPr/>
        </p:nvSpPr>
        <p:spPr>
          <a:xfrm>
            <a:off x="10513413" y="469931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Oval 316"/>
          <p:cNvSpPr/>
          <p:nvPr/>
        </p:nvSpPr>
        <p:spPr>
          <a:xfrm>
            <a:off x="10545218" y="47191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Oval 317"/>
          <p:cNvSpPr/>
          <p:nvPr/>
        </p:nvSpPr>
        <p:spPr>
          <a:xfrm>
            <a:off x="10577023" y="473946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Oval 318"/>
          <p:cNvSpPr/>
          <p:nvPr/>
        </p:nvSpPr>
        <p:spPr>
          <a:xfrm>
            <a:off x="10608829" y="476025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Oval 319"/>
          <p:cNvSpPr/>
          <p:nvPr/>
        </p:nvSpPr>
        <p:spPr>
          <a:xfrm>
            <a:off x="10640634" y="47814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Oval 320"/>
          <p:cNvSpPr/>
          <p:nvPr/>
        </p:nvSpPr>
        <p:spPr>
          <a:xfrm>
            <a:off x="10672439" y="48030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Oval 321"/>
          <p:cNvSpPr/>
          <p:nvPr/>
        </p:nvSpPr>
        <p:spPr>
          <a:xfrm>
            <a:off x="10704244" y="48249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Oval 322"/>
          <p:cNvSpPr/>
          <p:nvPr/>
        </p:nvSpPr>
        <p:spPr>
          <a:xfrm>
            <a:off x="10736049" y="484711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Oval 323"/>
          <p:cNvSpPr/>
          <p:nvPr/>
        </p:nvSpPr>
        <p:spPr>
          <a:xfrm>
            <a:off x="10767855" y="48695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Oval 324"/>
          <p:cNvSpPr/>
          <p:nvPr/>
        </p:nvSpPr>
        <p:spPr>
          <a:xfrm>
            <a:off x="10799660" y="48921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Oval 325"/>
          <p:cNvSpPr/>
          <p:nvPr/>
        </p:nvSpPr>
        <p:spPr>
          <a:xfrm>
            <a:off x="10831465" y="49148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Oval 326"/>
          <p:cNvSpPr/>
          <p:nvPr/>
        </p:nvSpPr>
        <p:spPr>
          <a:xfrm>
            <a:off x="10863270" y="49377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Oval 327"/>
          <p:cNvSpPr/>
          <p:nvPr/>
        </p:nvSpPr>
        <p:spPr>
          <a:xfrm>
            <a:off x="10895076" y="496062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Oval 328"/>
          <p:cNvSpPr/>
          <p:nvPr/>
        </p:nvSpPr>
        <p:spPr>
          <a:xfrm>
            <a:off x="8693658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Oval 329"/>
          <p:cNvSpPr/>
          <p:nvPr/>
        </p:nvSpPr>
        <p:spPr>
          <a:xfrm>
            <a:off x="8693658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Oval 330"/>
          <p:cNvSpPr/>
          <p:nvPr/>
        </p:nvSpPr>
        <p:spPr>
          <a:xfrm>
            <a:off x="8693658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Oval 331"/>
          <p:cNvSpPr/>
          <p:nvPr/>
        </p:nvSpPr>
        <p:spPr>
          <a:xfrm>
            <a:off x="8672169" y="4712817"/>
            <a:ext cx="84124" cy="841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Oval 332"/>
          <p:cNvSpPr/>
          <p:nvPr/>
        </p:nvSpPr>
        <p:spPr>
          <a:xfrm>
            <a:off x="8648395" y="4835347"/>
            <a:ext cx="131673" cy="131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Oval 333"/>
          <p:cNvSpPr/>
          <p:nvPr/>
        </p:nvSpPr>
        <p:spPr>
          <a:xfrm>
            <a:off x="8648395" y="4981651"/>
            <a:ext cx="131673" cy="131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Oval 334"/>
          <p:cNvSpPr/>
          <p:nvPr/>
        </p:nvSpPr>
        <p:spPr>
          <a:xfrm>
            <a:off x="8967978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Oval 335"/>
          <p:cNvSpPr/>
          <p:nvPr/>
        </p:nvSpPr>
        <p:spPr>
          <a:xfrm>
            <a:off x="8962763" y="4436483"/>
            <a:ext cx="51576" cy="515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Oval 336"/>
          <p:cNvSpPr/>
          <p:nvPr/>
        </p:nvSpPr>
        <p:spPr>
          <a:xfrm>
            <a:off x="8938989" y="4559013"/>
            <a:ext cx="99125" cy="991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Oval 337"/>
          <p:cNvSpPr/>
          <p:nvPr/>
        </p:nvSpPr>
        <p:spPr>
          <a:xfrm>
            <a:off x="8915214" y="4681542"/>
            <a:ext cx="146674" cy="1466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Oval 338"/>
          <p:cNvSpPr/>
          <p:nvPr/>
        </p:nvSpPr>
        <p:spPr>
          <a:xfrm>
            <a:off x="8930215" y="4842847"/>
            <a:ext cx="116673" cy="116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Oval 339"/>
          <p:cNvSpPr/>
          <p:nvPr/>
        </p:nvSpPr>
        <p:spPr>
          <a:xfrm>
            <a:off x="8953989" y="5012925"/>
            <a:ext cx="69124" cy="691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Oval 340"/>
          <p:cNvSpPr/>
          <p:nvPr/>
        </p:nvSpPr>
        <p:spPr>
          <a:xfrm>
            <a:off x="9234344" y="4287440"/>
            <a:ext cx="57054" cy="570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Oval 341"/>
          <p:cNvSpPr/>
          <p:nvPr/>
        </p:nvSpPr>
        <p:spPr>
          <a:xfrm>
            <a:off x="9210570" y="4409970"/>
            <a:ext cx="104603" cy="1046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Oval 342"/>
          <p:cNvSpPr/>
          <p:nvPr/>
        </p:nvSpPr>
        <p:spPr>
          <a:xfrm>
            <a:off x="9186796" y="4532500"/>
            <a:ext cx="152151" cy="1521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Oval 343"/>
          <p:cNvSpPr/>
          <p:nvPr/>
        </p:nvSpPr>
        <p:spPr>
          <a:xfrm>
            <a:off x="9207274" y="4699282"/>
            <a:ext cx="111195" cy="11119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Oval 344"/>
          <p:cNvSpPr/>
          <p:nvPr/>
        </p:nvSpPr>
        <p:spPr>
          <a:xfrm>
            <a:off x="9231048" y="4869360"/>
            <a:ext cx="63646" cy="6364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Oval 345"/>
          <p:cNvSpPr/>
          <p:nvPr/>
        </p:nvSpPr>
        <p:spPr>
          <a:xfrm>
            <a:off x="9242298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Oval 346"/>
          <p:cNvSpPr/>
          <p:nvPr/>
        </p:nvSpPr>
        <p:spPr>
          <a:xfrm>
            <a:off x="9490949" y="4269725"/>
            <a:ext cx="92485" cy="924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Oval 347"/>
          <p:cNvSpPr/>
          <p:nvPr/>
        </p:nvSpPr>
        <p:spPr>
          <a:xfrm>
            <a:off x="9467174" y="4392254"/>
            <a:ext cx="140034" cy="14003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Oval 348"/>
          <p:cNvSpPr/>
          <p:nvPr/>
        </p:nvSpPr>
        <p:spPr>
          <a:xfrm>
            <a:off x="9475535" y="4546919"/>
            <a:ext cx="123312" cy="1233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Oval 349"/>
          <p:cNvSpPr/>
          <p:nvPr/>
        </p:nvSpPr>
        <p:spPr>
          <a:xfrm>
            <a:off x="9499309" y="4716997"/>
            <a:ext cx="75764" cy="757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Oval 350"/>
          <p:cNvSpPr/>
          <p:nvPr/>
        </p:nvSpPr>
        <p:spPr>
          <a:xfrm>
            <a:off x="9516618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Oval 351"/>
          <p:cNvSpPr/>
          <p:nvPr/>
        </p:nvSpPr>
        <p:spPr>
          <a:xfrm>
            <a:off x="9516618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Oval 352"/>
          <p:cNvSpPr/>
          <p:nvPr/>
        </p:nvSpPr>
        <p:spPr>
          <a:xfrm>
            <a:off x="9759048" y="4263504"/>
            <a:ext cx="104927" cy="1049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Oval 353"/>
          <p:cNvSpPr/>
          <p:nvPr/>
        </p:nvSpPr>
        <p:spPr>
          <a:xfrm>
            <a:off x="9735273" y="4386033"/>
            <a:ext cx="152476" cy="1524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Oval 354"/>
          <p:cNvSpPr/>
          <p:nvPr/>
        </p:nvSpPr>
        <p:spPr>
          <a:xfrm>
            <a:off x="9756076" y="4553140"/>
            <a:ext cx="110870" cy="1108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Oval 355"/>
          <p:cNvSpPr/>
          <p:nvPr/>
        </p:nvSpPr>
        <p:spPr>
          <a:xfrm>
            <a:off x="9779850" y="4723218"/>
            <a:ext cx="63322" cy="6332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Oval 356"/>
          <p:cNvSpPr/>
          <p:nvPr/>
        </p:nvSpPr>
        <p:spPr>
          <a:xfrm>
            <a:off x="9790938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Oval 357"/>
          <p:cNvSpPr/>
          <p:nvPr/>
        </p:nvSpPr>
        <p:spPr>
          <a:xfrm>
            <a:off x="9790938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Oval 358"/>
          <p:cNvSpPr/>
          <p:nvPr/>
        </p:nvSpPr>
        <p:spPr>
          <a:xfrm>
            <a:off x="10039589" y="4269725"/>
            <a:ext cx="92485" cy="924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Oval 359"/>
          <p:cNvSpPr/>
          <p:nvPr/>
        </p:nvSpPr>
        <p:spPr>
          <a:xfrm>
            <a:off x="10015814" y="4392254"/>
            <a:ext cx="140034" cy="14003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Oval 360"/>
          <p:cNvSpPr/>
          <p:nvPr/>
        </p:nvSpPr>
        <p:spPr>
          <a:xfrm>
            <a:off x="10024175" y="4546919"/>
            <a:ext cx="123312" cy="1233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Oval 361"/>
          <p:cNvSpPr/>
          <p:nvPr/>
        </p:nvSpPr>
        <p:spPr>
          <a:xfrm>
            <a:off x="10047949" y="4716997"/>
            <a:ext cx="75764" cy="757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Oval 362"/>
          <p:cNvSpPr/>
          <p:nvPr/>
        </p:nvSpPr>
        <p:spPr>
          <a:xfrm>
            <a:off x="10065258" y="4880609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Oval 363"/>
          <p:cNvSpPr/>
          <p:nvPr/>
        </p:nvSpPr>
        <p:spPr>
          <a:xfrm>
            <a:off x="10065258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Oval 364"/>
          <p:cNvSpPr/>
          <p:nvPr/>
        </p:nvSpPr>
        <p:spPr>
          <a:xfrm>
            <a:off x="10331624" y="4287440"/>
            <a:ext cx="57054" cy="570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Oval 365"/>
          <p:cNvSpPr/>
          <p:nvPr/>
        </p:nvSpPr>
        <p:spPr>
          <a:xfrm>
            <a:off x="10307850" y="4409970"/>
            <a:ext cx="104603" cy="1046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Oval 366"/>
          <p:cNvSpPr/>
          <p:nvPr/>
        </p:nvSpPr>
        <p:spPr>
          <a:xfrm>
            <a:off x="10284076" y="4532500"/>
            <a:ext cx="152151" cy="1521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Oval 367"/>
          <p:cNvSpPr/>
          <p:nvPr/>
        </p:nvSpPr>
        <p:spPr>
          <a:xfrm>
            <a:off x="10304554" y="4699282"/>
            <a:ext cx="111195" cy="11119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Oval 368"/>
          <p:cNvSpPr/>
          <p:nvPr/>
        </p:nvSpPr>
        <p:spPr>
          <a:xfrm>
            <a:off x="10328328" y="4869360"/>
            <a:ext cx="63646" cy="6364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Oval 369"/>
          <p:cNvSpPr/>
          <p:nvPr/>
        </p:nvSpPr>
        <p:spPr>
          <a:xfrm>
            <a:off x="10339578" y="502691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Oval 370"/>
          <p:cNvSpPr/>
          <p:nvPr/>
        </p:nvSpPr>
        <p:spPr>
          <a:xfrm>
            <a:off x="10613898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Oval 371"/>
          <p:cNvSpPr/>
          <p:nvPr/>
        </p:nvSpPr>
        <p:spPr>
          <a:xfrm>
            <a:off x="10608683" y="4436483"/>
            <a:ext cx="51576" cy="515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Oval 372"/>
          <p:cNvSpPr/>
          <p:nvPr/>
        </p:nvSpPr>
        <p:spPr>
          <a:xfrm>
            <a:off x="10584909" y="4559013"/>
            <a:ext cx="99125" cy="991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Oval 373"/>
          <p:cNvSpPr/>
          <p:nvPr/>
        </p:nvSpPr>
        <p:spPr>
          <a:xfrm>
            <a:off x="10561134" y="4681542"/>
            <a:ext cx="146674" cy="1466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Oval 374"/>
          <p:cNvSpPr/>
          <p:nvPr/>
        </p:nvSpPr>
        <p:spPr>
          <a:xfrm>
            <a:off x="10576135" y="4842847"/>
            <a:ext cx="116673" cy="116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Oval 375"/>
          <p:cNvSpPr/>
          <p:nvPr/>
        </p:nvSpPr>
        <p:spPr>
          <a:xfrm>
            <a:off x="10599909" y="5012925"/>
            <a:ext cx="69124" cy="691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Oval 376"/>
          <p:cNvSpPr/>
          <p:nvPr/>
        </p:nvSpPr>
        <p:spPr>
          <a:xfrm>
            <a:off x="10888218" y="4295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Oval 377"/>
          <p:cNvSpPr/>
          <p:nvPr/>
        </p:nvSpPr>
        <p:spPr>
          <a:xfrm>
            <a:off x="10888218" y="444169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Oval 378"/>
          <p:cNvSpPr/>
          <p:nvPr/>
        </p:nvSpPr>
        <p:spPr>
          <a:xfrm>
            <a:off x="10888218" y="458800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Oval 379"/>
          <p:cNvSpPr/>
          <p:nvPr/>
        </p:nvSpPr>
        <p:spPr>
          <a:xfrm>
            <a:off x="10866729" y="4712817"/>
            <a:ext cx="84124" cy="841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Oval 380"/>
          <p:cNvSpPr/>
          <p:nvPr/>
        </p:nvSpPr>
        <p:spPr>
          <a:xfrm>
            <a:off x="10842955" y="4835347"/>
            <a:ext cx="131673" cy="131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Oval 381"/>
          <p:cNvSpPr/>
          <p:nvPr/>
        </p:nvSpPr>
        <p:spPr>
          <a:xfrm>
            <a:off x="10842955" y="4981651"/>
            <a:ext cx="131673" cy="1316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662940" y="5966460"/>
            <a:ext cx="10972800" cy="548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594360" y="5897880"/>
            <a:ext cx="10972800" cy="5486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TextBox 384"/>
          <p:cNvSpPr txBox="1"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E500"/>
                </a:solidFill>
                <a:latin typeface="Arial"/>
              </a:rPr>
              <a:t>SAME FACADE, SAME PANEL, SAME PARAMETER, THREE ATTRACTORS: 3.4 SHOWS WHAT THE ATTRACTOR ALONE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Measure, remap, clamp, shape the falloff, then drive one parameter. In that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# Pseudocode: choose ONE of the three distance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for p in panel_locations: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d = distance(p, point_a)                         # one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# d = min(distance(p, point_a), distance(p, point_b))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# d = distance(p, closest_point(curve, p))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opening = remap_clamped(d, from_range=(0, 4),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3191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                  to_range=(0.85, 0.15))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062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panel = build_panel(opening=opening)  # same prefab, new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805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place(panel, 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1460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distance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external condition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field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remap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clamp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falloff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nearest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LINE 2 IS THE ONLY LINE THAT CHANGES BETWEEN THE THREE ATTRACTOR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NUMBER DRIVES YOUR 3.1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Not a sphere, not a cube. The panel you already built, rebuilt at every location with a different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3517391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17391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  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46020"/>
            <a:ext cx="3517391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3517391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2514600"/>
            <a:ext cx="30053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Distance from each facade location to the attractor. Object Info, set to Relative, so the attractor and the facade share one coordinate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0644" y="1897380"/>
            <a:ext cx="3517391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2064" y="1828800"/>
            <a:ext cx="3517391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22064" y="195681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   REMAP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0644" y="2446020"/>
            <a:ext cx="3517391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22064" y="2377440"/>
            <a:ext cx="3517391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8096" y="2514600"/>
            <a:ext cx="30053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One Map Range, Float, Linear, Clamp on. Input 0 to the reach of the attractor. Output: the safe range of your parameter, in its own units.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8347" y="1897380"/>
            <a:ext cx="3517391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9767" y="1828800"/>
            <a:ext cx="3517391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9767" y="195681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   DRIVE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8347" y="2446020"/>
            <a:ext cx="3517391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49767" y="2377440"/>
            <a:ext cx="3517391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05799" y="2514600"/>
            <a:ext cx="30053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Instance on Points repeats a thing that is already built. To rebuild the panel per location with its own Opening, Depth or Height, the value goes into a For Each Element zone and reaches the panel's input inside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14350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074920"/>
            <a:ext cx="10972800" cy="62179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IF ALL PANELS LOOK THE SAME: THE VALUE ENTERED THE ZONE OUTSIDE, BUT NEVER REACHED THE INPUT INSIDE.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B4B4AC"/>
                </a:solidFill>
                <a:latin typeface="Calibri"/>
              </a:rPr>
              <a:t>Attractors.blend, scenes 05 to 08: the supplied panel, then one point, several points and a curve driving its Opening.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P3study — ATTRACTORS - THREE FIELD STUDIES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10 — Oct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One facade, one panel, one controlled parameter, three attractors. Each diagram shows the attractor and the variation it produces, with the parameter labelled. No separate upload and no separate grade: it is page 1 of the 3.5 package.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DIAGRAM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ONE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Distance to a single point drives the parameter.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DIAGRAM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SEVERAL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Say how they combine: nearest point, or an average.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DIAGRAM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ONE CURVE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Distance to the nearest location along a curve.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P3c — ARCHITECTURAL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10 — Oct 27   /  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Reuse your 3.1 panel to design a simple facade, wall, canopy, pavilion or similar. Give it a purpose and a scale, choose the attractor that serves that purpose, and show why the variation matters architecturally.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What the panel system encloses, screens, shades or defines.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ONE CONTROLLED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The attractor, the parameter it drives, and the difference it makes.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RESOLVE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ELEVATION + ISOMETRIC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Two sheets with 3.4: studies first, then the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4459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Reuse the panel you developed in 3.1 to design a simple facade, wall, canopy, pavilion or similar architectural application. You may develop your 3.2 architectural study further.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22168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653588"/>
            <a:ext cx="777240" cy="724204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1510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722168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653588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745028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Give the design a clear purpose and scale. Explain what the panel system encloses, screens, shades or defines, and how attractor-driven variation supports that purpose.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592677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524097"/>
            <a:ext cx="777240" cy="724204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3592677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524097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3615537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Choose point, multiple-point or curve attractors. You do not need to combine every attractor type in the final design.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63186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394606"/>
            <a:ext cx="777240" cy="7242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561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4463186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4394606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4486046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Show one controlled comparison and a resolved elevation and isometric. Identify the attractor, the geometric parameter it drives and why the variation matters architecturally.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333695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265115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52663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4499" y="5333695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645919" y="5265115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920240" y="5356555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A new precedent study is not required. Facadepot and other references may provide optional inspiration; credit any images or ideas you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YOUR FIRST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class: measure, look, remap, and only then attach your panel.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Distance to one point, measured across the facade grid you already 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field shown as grey on its own, before any panel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Input and output ranges written down, in your parameter's units, with the clamp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parameter of your 3.1 panel driven: Opening, Depth, Height or similar. Just 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attractor moved, and the change predicted before you look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MOVE THE ATTRACTOR. IF YOU CANNOT PREDICT WHAT HAPPENS, STOP AND READ THE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10 — Oct 27: 3.4 and 3.5 are submitted together at the start of class. Then 4.1 is introduced: the supplied field groups and a two-parameter matrix.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3.4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All three attractor types running on the same facade, same panel, same parameter. The comparison is what is being graded.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Pick the purpose first, then the attractor that serves it. One controlled comparison, one elevation, one isometric.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PANEL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3.1 panel as a node group with the driven parameter exposed. Test two values by hand before you connect an attractor.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