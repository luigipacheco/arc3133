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E500"/>
        </a:solidFill>
        <a:effectLst/>
      </p:bgPr>
    </p:bg>
    <p:spTree>
      <p:nvGrpSpPr>
        <p:cNvPr id="1" name=""/>
        <p:cNvGrpSpPr/>
        <p:nvPr/>
      </p:nvGrpSpPr>
      <p:grpSpPr/>
      <p:sp>
        <p:nvSpPr>
          <p:cNvPr id="2" name="Rectangle 1"/>
          <p:cNvSpPr/>
          <p:nvPr/>
        </p:nvSpPr>
        <p:spPr>
          <a:xfrm>
            <a:off x="594360" y="1051560"/>
            <a:ext cx="10972800"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94360" y="1481328"/>
            <a:ext cx="7315200" cy="457200"/>
          </a:xfrm>
          <a:prstGeom prst="rect">
            <a:avLst/>
          </a:prstGeom>
          <a:noFill/>
        </p:spPr>
        <p:txBody>
          <a:bodyPr wrap="square" lIns="0" rIns="0" tIns="0" bIns="0" anchor="t">
            <a:spAutoFit/>
          </a:bodyPr>
          <a:lstStyle/>
          <a:p>
            <a:pPr algn="l"/>
            <a:r>
              <a:rPr sz="1800" b="1">
                <a:solidFill>
                  <a:srgbClr val="000000"/>
                </a:solidFill>
                <a:latin typeface="Arial"/>
              </a:rPr>
              <a:t>CLASS 09  /  OCT 20  /  U05</a:t>
            </a:r>
          </a:p>
        </p:txBody>
      </p:sp>
      <p:sp>
        <p:nvSpPr>
          <p:cNvPr id="4" name="Rectangle 3"/>
          <p:cNvSpPr/>
          <p:nvPr/>
        </p:nvSpPr>
        <p:spPr>
          <a:xfrm>
            <a:off x="662940" y="2125980"/>
            <a:ext cx="10149840" cy="21488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2057400"/>
            <a:ext cx="10149840" cy="21488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286000"/>
            <a:ext cx="9326880" cy="1737360"/>
          </a:xfrm>
          <a:prstGeom prst="rect">
            <a:avLst/>
          </a:prstGeom>
          <a:noFill/>
        </p:spPr>
        <p:txBody>
          <a:bodyPr wrap="square" lIns="0" rIns="0" tIns="0" bIns="0" anchor="ctr">
            <a:spAutoFit/>
          </a:bodyPr>
          <a:lstStyle/>
          <a:p>
            <a:pPr algn="l">
              <a:lnSpc>
                <a:spcPct val="115000"/>
              </a:lnSpc>
            </a:pPr>
            <a:r>
              <a:rPr sz="4000" b="1">
                <a:solidFill>
                  <a:srgbClr val="000000"/>
                </a:solidFill>
                <a:latin typeface="Arial"/>
              </a:rPr>
              <a:t>LAYERED</a:t>
            </a:r>
          </a:p>
          <a:p>
            <a:pPr algn="l">
              <a:lnSpc>
                <a:spcPct val="115000"/>
              </a:lnSpc>
            </a:pPr>
            <a:r>
              <a:rPr sz="4000" b="1">
                <a:solidFill>
                  <a:srgbClr val="000000"/>
                </a:solidFill>
                <a:latin typeface="Arial"/>
              </a:rPr>
              <a:t>SITE ANALYSIS</a:t>
            </a:r>
          </a:p>
        </p:txBody>
      </p:sp>
      <p:sp>
        <p:nvSpPr>
          <p:cNvPr id="7" name="Rectangle 6"/>
          <p:cNvSpPr/>
          <p:nvPr/>
        </p:nvSpPr>
        <p:spPr>
          <a:xfrm>
            <a:off x="662940" y="4549140"/>
            <a:ext cx="676656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94360" y="4480560"/>
            <a:ext cx="676656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95259" y="4549140"/>
            <a:ext cx="301752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4480560"/>
            <a:ext cx="301752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4480560"/>
            <a:ext cx="6400800" cy="566928"/>
          </a:xfrm>
          <a:prstGeom prst="rect">
            <a:avLst/>
          </a:prstGeom>
          <a:noFill/>
        </p:spPr>
        <p:txBody>
          <a:bodyPr wrap="square" lIns="0" rIns="0" tIns="0" bIns="0" anchor="ctr">
            <a:spAutoFit/>
          </a:bodyPr>
          <a:lstStyle/>
          <a:p>
            <a:pPr algn="l"/>
            <a:r>
              <a:rPr sz="1300" b="1">
                <a:solidFill>
                  <a:srgbClr val="000000"/>
                </a:solidFill>
                <a:latin typeface="Arial"/>
              </a:rPr>
              <a:t>P3d BEGINS — ONE SITE, MEASURED IN LAYERS</a:t>
            </a:r>
          </a:p>
        </p:txBody>
      </p:sp>
      <p:sp>
        <p:nvSpPr>
          <p:cNvPr id="12" name="TextBox 11"/>
          <p:cNvSpPr txBox="1"/>
          <p:nvPr/>
        </p:nvSpPr>
        <p:spPr>
          <a:xfrm>
            <a:off x="7726679" y="4480560"/>
            <a:ext cx="3017520" cy="566928"/>
          </a:xfrm>
          <a:prstGeom prst="rect">
            <a:avLst/>
          </a:prstGeom>
          <a:noFill/>
        </p:spPr>
        <p:txBody>
          <a:bodyPr wrap="square" lIns="0" rIns="0" tIns="0" bIns="0" anchor="ctr">
            <a:spAutoFit/>
          </a:bodyPr>
          <a:lstStyle/>
          <a:p>
            <a:pPr algn="ctr"/>
            <a:r>
              <a:rPr sz="1300" b="1">
                <a:solidFill>
                  <a:srgbClr val="000000"/>
                </a:solidFill>
                <a:latin typeface="Arial"/>
              </a:rPr>
              <a:t>NOTHING DUE</a:t>
            </a:r>
          </a:p>
        </p:txBody>
      </p:sp>
      <p:sp>
        <p:nvSpPr>
          <p:cNvPr id="13" name="TextBox 12"/>
          <p:cNvSpPr txBox="1"/>
          <p:nvPr/>
        </p:nvSpPr>
        <p:spPr>
          <a:xfrm>
            <a:off x="594360" y="5870448"/>
            <a:ext cx="10972800" cy="292608"/>
          </a:xfrm>
          <a:prstGeom prst="rect">
            <a:avLst/>
          </a:prstGeom>
          <a:noFill/>
        </p:spPr>
        <p:txBody>
          <a:bodyPr wrap="square" lIns="0" rIns="0" tIns="0" bIns="0" anchor="t">
            <a:spAutoFit/>
          </a:bodyPr>
          <a:lstStyle/>
          <a:p>
            <a:pPr algn="l"/>
            <a:r>
              <a:rPr sz="1050" b="1">
                <a:solidFill>
                  <a:srgbClr val="000000"/>
                </a:solidFill>
                <a:latin typeface="Arial"/>
              </a:rPr>
              <a:t>P3d ISSUED TODAY  /  P3c CHECKPOINT TODAY  /  MID-SEMESTER DEADLINE NEXT CLASS — WEEK 10 — OCT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A SITE ANALYSIS IS A FIELD</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Last class you built a field from distance. A site analysis reads the same way.</a:t>
            </a:r>
          </a:p>
        </p:txBody>
      </p:sp>
      <p:sp>
        <p:nvSpPr>
          <p:cNvPr id="5" name="Rectangle 4"/>
          <p:cNvSpPr/>
          <p:nvPr/>
        </p:nvSpPr>
        <p:spPr>
          <a:xfrm>
            <a:off x="2446020" y="1851660"/>
            <a:ext cx="4480560"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377440" y="1783080"/>
            <a:ext cx="4480560" cy="4114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377440" y="1888236"/>
            <a:ext cx="4480560" cy="274320"/>
          </a:xfrm>
          <a:prstGeom prst="rect">
            <a:avLst/>
          </a:prstGeom>
          <a:noFill/>
        </p:spPr>
        <p:txBody>
          <a:bodyPr wrap="square" lIns="0" rIns="0" tIns="0" bIns="0" anchor="t">
            <a:spAutoFit/>
          </a:bodyPr>
          <a:lstStyle/>
          <a:p>
            <a:pPr algn="ctr"/>
            <a:r>
              <a:rPr sz="1200" b="1">
                <a:solidFill>
                  <a:srgbClr val="000000"/>
                </a:solidFill>
                <a:latin typeface="Arial"/>
              </a:rPr>
              <a:t>ATTRACTOR FIELD — P3c</a:t>
            </a:r>
          </a:p>
        </p:txBody>
      </p:sp>
      <p:sp>
        <p:nvSpPr>
          <p:cNvPr id="8" name="Rectangle 7"/>
          <p:cNvSpPr/>
          <p:nvPr/>
        </p:nvSpPr>
        <p:spPr>
          <a:xfrm>
            <a:off x="7155180" y="1851660"/>
            <a:ext cx="4480560"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086600" y="1783080"/>
            <a:ext cx="4480560" cy="4114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86600" y="1888236"/>
            <a:ext cx="4480560" cy="274320"/>
          </a:xfrm>
          <a:prstGeom prst="rect">
            <a:avLst/>
          </a:prstGeom>
          <a:noFill/>
        </p:spPr>
        <p:txBody>
          <a:bodyPr wrap="square" lIns="0" rIns="0" tIns="0" bIns="0" anchor="t">
            <a:spAutoFit/>
          </a:bodyPr>
          <a:lstStyle/>
          <a:p>
            <a:pPr algn="ctr"/>
            <a:r>
              <a:rPr sz="1200" b="1">
                <a:solidFill>
                  <a:srgbClr val="000000"/>
                </a:solidFill>
                <a:latin typeface="Arial"/>
              </a:rPr>
              <a:t>SITE LAYER — P3d</a:t>
            </a:r>
          </a:p>
        </p:txBody>
      </p:sp>
      <p:sp>
        <p:nvSpPr>
          <p:cNvPr id="11" name="Rectangle 10"/>
          <p:cNvSpPr/>
          <p:nvPr/>
        </p:nvSpPr>
        <p:spPr>
          <a:xfrm>
            <a:off x="662940" y="2446020"/>
            <a:ext cx="155448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377440"/>
            <a:ext cx="1554480" cy="6400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2596896"/>
            <a:ext cx="1554480" cy="274320"/>
          </a:xfrm>
          <a:prstGeom prst="rect">
            <a:avLst/>
          </a:prstGeom>
          <a:noFill/>
        </p:spPr>
        <p:txBody>
          <a:bodyPr wrap="square" lIns="0" rIns="0" tIns="0" bIns="0" anchor="t">
            <a:spAutoFit/>
          </a:bodyPr>
          <a:lstStyle/>
          <a:p>
            <a:pPr algn="ctr"/>
            <a:r>
              <a:rPr sz="1250" b="1">
                <a:solidFill>
                  <a:srgbClr val="000000"/>
                </a:solidFill>
                <a:latin typeface="Arial"/>
              </a:rPr>
              <a:t>MEASURE</a:t>
            </a:r>
          </a:p>
        </p:txBody>
      </p:sp>
      <p:sp>
        <p:nvSpPr>
          <p:cNvPr id="14" name="Rectangle 13"/>
          <p:cNvSpPr/>
          <p:nvPr/>
        </p:nvSpPr>
        <p:spPr>
          <a:xfrm>
            <a:off x="2446020" y="244602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377440" y="237744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6040" y="2377440"/>
            <a:ext cx="4023360" cy="640080"/>
          </a:xfrm>
          <a:prstGeom prst="rect">
            <a:avLst/>
          </a:prstGeom>
          <a:noFill/>
        </p:spPr>
        <p:txBody>
          <a:bodyPr wrap="square" lIns="0" rIns="0" tIns="0" bIns="0" anchor="ctr">
            <a:spAutoFit/>
          </a:bodyPr>
          <a:lstStyle/>
          <a:p>
            <a:pPr algn="l"/>
            <a:r>
              <a:rPr sz="1300">
                <a:solidFill>
                  <a:srgbClr val="000000"/>
                </a:solidFill>
                <a:latin typeface="Calibri"/>
              </a:rPr>
              <a:t>Distance to the attractor, at every point of the grid.</a:t>
            </a:r>
          </a:p>
        </p:txBody>
      </p:sp>
      <p:sp>
        <p:nvSpPr>
          <p:cNvPr id="17" name="Rectangle 16"/>
          <p:cNvSpPr/>
          <p:nvPr/>
        </p:nvSpPr>
        <p:spPr>
          <a:xfrm>
            <a:off x="7155180" y="244602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086600" y="237744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200" y="2377440"/>
            <a:ext cx="4023360" cy="640080"/>
          </a:xfrm>
          <a:prstGeom prst="rect">
            <a:avLst/>
          </a:prstGeom>
          <a:noFill/>
        </p:spPr>
        <p:txBody>
          <a:bodyPr wrap="square" lIns="0" rIns="0" tIns="0" bIns="0" anchor="ctr">
            <a:spAutoFit/>
          </a:bodyPr>
          <a:lstStyle/>
          <a:p>
            <a:pPr algn="l"/>
            <a:r>
              <a:rPr sz="1300">
                <a:solidFill>
                  <a:srgbClr val="000000"/>
                </a:solidFill>
                <a:latin typeface="Calibri"/>
              </a:rPr>
              <a:t>A value at every point of the site's point cloud.</a:t>
            </a:r>
          </a:p>
        </p:txBody>
      </p:sp>
      <p:sp>
        <p:nvSpPr>
          <p:cNvPr id="20" name="Rectangle 19"/>
          <p:cNvSpPr/>
          <p:nvPr/>
        </p:nvSpPr>
        <p:spPr>
          <a:xfrm>
            <a:off x="662940" y="3223260"/>
            <a:ext cx="155448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94360" y="3154680"/>
            <a:ext cx="1554480" cy="64008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94360" y="3374136"/>
            <a:ext cx="1554480" cy="274320"/>
          </a:xfrm>
          <a:prstGeom prst="rect">
            <a:avLst/>
          </a:prstGeom>
          <a:noFill/>
        </p:spPr>
        <p:txBody>
          <a:bodyPr wrap="square" lIns="0" rIns="0" tIns="0" bIns="0" anchor="t">
            <a:spAutoFit/>
          </a:bodyPr>
          <a:lstStyle/>
          <a:p>
            <a:pPr algn="ctr"/>
            <a:r>
              <a:rPr sz="1250" b="1">
                <a:solidFill>
                  <a:srgbClr val="000000"/>
                </a:solidFill>
                <a:latin typeface="Arial"/>
              </a:rPr>
              <a:t>REMAP</a:t>
            </a:r>
          </a:p>
        </p:txBody>
      </p:sp>
      <p:sp>
        <p:nvSpPr>
          <p:cNvPr id="23" name="Rectangle 22"/>
          <p:cNvSpPr/>
          <p:nvPr/>
        </p:nvSpPr>
        <p:spPr>
          <a:xfrm>
            <a:off x="2446020" y="322326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377440" y="315468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606040" y="3154680"/>
            <a:ext cx="4023360" cy="640080"/>
          </a:xfrm>
          <a:prstGeom prst="rect">
            <a:avLst/>
          </a:prstGeom>
          <a:noFill/>
        </p:spPr>
        <p:txBody>
          <a:bodyPr wrap="square" lIns="0" rIns="0" tIns="0" bIns="0" anchor="ctr">
            <a:spAutoFit/>
          </a:bodyPr>
          <a:lstStyle/>
          <a:p>
            <a:pPr algn="l"/>
            <a:r>
              <a:rPr sz="1300">
                <a:solidFill>
                  <a:srgbClr val="000000"/>
                </a:solidFill>
                <a:latin typeface="Calibri"/>
              </a:rPr>
              <a:t>Distance range pushed into grey or a line property.</a:t>
            </a:r>
          </a:p>
        </p:txBody>
      </p:sp>
      <p:sp>
        <p:nvSpPr>
          <p:cNvPr id="26" name="Rectangle 25"/>
          <p:cNvSpPr/>
          <p:nvPr/>
        </p:nvSpPr>
        <p:spPr>
          <a:xfrm>
            <a:off x="7155180" y="322326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086600" y="315468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0" y="3154680"/>
            <a:ext cx="4023360" cy="640080"/>
          </a:xfrm>
          <a:prstGeom prst="rect">
            <a:avLst/>
          </a:prstGeom>
          <a:noFill/>
        </p:spPr>
        <p:txBody>
          <a:bodyPr wrap="square" lIns="0" rIns="0" tIns="0" bIns="0" anchor="ctr">
            <a:spAutoFit/>
          </a:bodyPr>
          <a:lstStyle/>
          <a:p>
            <a:pPr algn="l"/>
            <a:r>
              <a:rPr sz="1300">
                <a:solidFill>
                  <a:srgbClr val="000000"/>
                </a:solidFill>
                <a:latin typeface="Calibri"/>
              </a:rPr>
              <a:t>The value range pushed into grey or colour.</a:t>
            </a:r>
          </a:p>
        </p:txBody>
      </p:sp>
      <p:sp>
        <p:nvSpPr>
          <p:cNvPr id="29" name="Rectangle 28"/>
          <p:cNvSpPr/>
          <p:nvPr/>
        </p:nvSpPr>
        <p:spPr>
          <a:xfrm>
            <a:off x="662940" y="4000500"/>
            <a:ext cx="155448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3931920"/>
            <a:ext cx="1554480" cy="6400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4151376"/>
            <a:ext cx="1554480" cy="274320"/>
          </a:xfrm>
          <a:prstGeom prst="rect">
            <a:avLst/>
          </a:prstGeom>
          <a:noFill/>
        </p:spPr>
        <p:txBody>
          <a:bodyPr wrap="square" lIns="0" rIns="0" tIns="0" bIns="0" anchor="t">
            <a:spAutoFit/>
          </a:bodyPr>
          <a:lstStyle/>
          <a:p>
            <a:pPr algn="ctr"/>
            <a:r>
              <a:rPr sz="1250" b="1">
                <a:solidFill>
                  <a:srgbClr val="000000"/>
                </a:solidFill>
                <a:latin typeface="Arial"/>
              </a:rPr>
              <a:t>LEGEND</a:t>
            </a:r>
          </a:p>
        </p:txBody>
      </p:sp>
      <p:sp>
        <p:nvSpPr>
          <p:cNvPr id="32" name="Rectangle 31"/>
          <p:cNvSpPr/>
          <p:nvPr/>
        </p:nvSpPr>
        <p:spPr>
          <a:xfrm>
            <a:off x="2446020" y="400050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377440" y="393192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606040" y="3931920"/>
            <a:ext cx="4023360" cy="640080"/>
          </a:xfrm>
          <a:prstGeom prst="rect">
            <a:avLst/>
          </a:prstGeom>
          <a:noFill/>
        </p:spPr>
        <p:txBody>
          <a:bodyPr wrap="square" lIns="0" rIns="0" tIns="0" bIns="0" anchor="ctr">
            <a:spAutoFit/>
          </a:bodyPr>
          <a:lstStyle/>
          <a:p>
            <a:pPr algn="l"/>
            <a:r>
              <a:rPr sz="1300">
                <a:solidFill>
                  <a:srgbClr val="000000"/>
                </a:solidFill>
                <a:latin typeface="Calibri"/>
              </a:rPr>
              <a:t>Near → far, with input and output ranges.</a:t>
            </a:r>
          </a:p>
        </p:txBody>
      </p:sp>
      <p:sp>
        <p:nvSpPr>
          <p:cNvPr id="35" name="Rectangle 34"/>
          <p:cNvSpPr/>
          <p:nvPr/>
        </p:nvSpPr>
        <p:spPr>
          <a:xfrm>
            <a:off x="7155180" y="400050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086600" y="3931920"/>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315200" y="3931920"/>
            <a:ext cx="4023360" cy="640080"/>
          </a:xfrm>
          <a:prstGeom prst="rect">
            <a:avLst/>
          </a:prstGeom>
          <a:noFill/>
        </p:spPr>
        <p:txBody>
          <a:bodyPr wrap="square" lIns="0" rIns="0" tIns="0" bIns="0" anchor="ctr">
            <a:spAutoFit/>
          </a:bodyPr>
          <a:lstStyle/>
          <a:p>
            <a:pPr algn="l"/>
            <a:r>
              <a:rPr sz="1300">
                <a:solidFill>
                  <a:srgbClr val="000000"/>
                </a:solidFill>
                <a:latin typeface="Calibri"/>
              </a:rPr>
              <a:t>What the value means, with its range and units.</a:t>
            </a:r>
          </a:p>
        </p:txBody>
      </p:sp>
      <p:sp>
        <p:nvSpPr>
          <p:cNvPr id="38" name="Rectangle 37"/>
          <p:cNvSpPr/>
          <p:nvPr/>
        </p:nvSpPr>
        <p:spPr>
          <a:xfrm>
            <a:off x="662940" y="4777740"/>
            <a:ext cx="155448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94360" y="4709159"/>
            <a:ext cx="1554480" cy="6400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94360" y="4928616"/>
            <a:ext cx="1554480" cy="274320"/>
          </a:xfrm>
          <a:prstGeom prst="rect">
            <a:avLst/>
          </a:prstGeom>
          <a:noFill/>
        </p:spPr>
        <p:txBody>
          <a:bodyPr wrap="square" lIns="0" rIns="0" tIns="0" bIns="0" anchor="t">
            <a:spAutoFit/>
          </a:bodyPr>
          <a:lstStyle/>
          <a:p>
            <a:pPr algn="ctr"/>
            <a:r>
              <a:rPr sz="1250" b="1">
                <a:solidFill>
                  <a:srgbClr val="000000"/>
                </a:solidFill>
                <a:latin typeface="Arial"/>
              </a:rPr>
              <a:t>USE</a:t>
            </a:r>
          </a:p>
        </p:txBody>
      </p:sp>
      <p:sp>
        <p:nvSpPr>
          <p:cNvPr id="41" name="Rectangle 40"/>
          <p:cNvSpPr/>
          <p:nvPr/>
        </p:nvSpPr>
        <p:spPr>
          <a:xfrm>
            <a:off x="2446020" y="477774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2377440" y="4709159"/>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606040" y="4709159"/>
            <a:ext cx="4023360" cy="640080"/>
          </a:xfrm>
          <a:prstGeom prst="rect">
            <a:avLst/>
          </a:prstGeom>
          <a:noFill/>
        </p:spPr>
        <p:txBody>
          <a:bodyPr wrap="square" lIns="0" rIns="0" tIns="0" bIns="0" anchor="ctr">
            <a:spAutoFit/>
          </a:bodyPr>
          <a:lstStyle/>
          <a:p>
            <a:pPr algn="l"/>
            <a:r>
              <a:rPr sz="1300">
                <a:solidFill>
                  <a:srgbClr val="000000"/>
                </a:solidFill>
                <a:latin typeface="Calibri"/>
              </a:rPr>
              <a:t>The value drives a line in the drawing.</a:t>
            </a:r>
          </a:p>
        </p:txBody>
      </p:sp>
      <p:sp>
        <p:nvSpPr>
          <p:cNvPr id="44" name="Rectangle 43"/>
          <p:cNvSpPr/>
          <p:nvPr/>
        </p:nvSpPr>
        <p:spPr>
          <a:xfrm>
            <a:off x="7155180" y="4777740"/>
            <a:ext cx="4480560" cy="6400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086600" y="4709159"/>
            <a:ext cx="4480560" cy="6400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315200" y="4709159"/>
            <a:ext cx="4023360" cy="640080"/>
          </a:xfrm>
          <a:prstGeom prst="rect">
            <a:avLst/>
          </a:prstGeom>
          <a:noFill/>
        </p:spPr>
        <p:txBody>
          <a:bodyPr wrap="square" lIns="0" rIns="0" tIns="0" bIns="0" anchor="ctr">
            <a:spAutoFit/>
          </a:bodyPr>
          <a:lstStyle/>
          <a:p>
            <a:pPr algn="l"/>
            <a:r>
              <a:rPr sz="1300">
                <a:solidFill>
                  <a:srgbClr val="000000"/>
                </a:solidFill>
                <a:latin typeface="Calibri"/>
              </a:rPr>
              <a:t>Layers combine into one reading of the site.</a:t>
            </a:r>
          </a:p>
        </p:txBody>
      </p:sp>
      <p:sp>
        <p:nvSpPr>
          <p:cNvPr id="47" name="Rectangle 46"/>
          <p:cNvSpPr/>
          <p:nvPr/>
        </p:nvSpPr>
        <p:spPr>
          <a:xfrm>
            <a:off x="662940" y="564642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94360" y="557784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577840"/>
            <a:ext cx="10607040" cy="566928"/>
          </a:xfrm>
          <a:prstGeom prst="rect">
            <a:avLst/>
          </a:prstGeom>
          <a:noFill/>
        </p:spPr>
        <p:txBody>
          <a:bodyPr wrap="square" lIns="0" rIns="0" tIns="0" bIns="0" anchor="ctr">
            <a:spAutoFit/>
          </a:bodyPr>
          <a:lstStyle/>
          <a:p>
            <a:pPr algn="ctr"/>
            <a:r>
              <a:rPr sz="1250" b="1">
                <a:solidFill>
                  <a:srgbClr val="000000"/>
                </a:solidFill>
                <a:latin typeface="Arial"/>
              </a:rPr>
              <a:t>MEASURE → REMAP → LEGEND. THE SAME THREE STEPS, REPEATED FOR EVERY LAYER.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THREE KINDS OF LAYER</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Each layer is a field: one value per point, its own range, its own legend.</a:t>
            </a:r>
          </a:p>
        </p:txBody>
      </p:sp>
      <p:sp>
        <p:nvSpPr>
          <p:cNvPr id="5" name="Rectangle 4"/>
          <p:cNvSpPr/>
          <p:nvPr/>
        </p:nvSpPr>
        <p:spPr>
          <a:xfrm>
            <a:off x="662940" y="1851660"/>
            <a:ext cx="3520440" cy="33375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3520440" cy="33375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3520440" cy="45720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3063240" cy="457200"/>
          </a:xfrm>
          <a:prstGeom prst="rect">
            <a:avLst/>
          </a:prstGeom>
          <a:noFill/>
        </p:spPr>
        <p:txBody>
          <a:bodyPr wrap="square" lIns="0" rIns="0" tIns="0" bIns="0" anchor="ctr">
            <a:spAutoFit/>
          </a:bodyPr>
          <a:lstStyle/>
          <a:p>
            <a:pPr algn="l"/>
            <a:r>
              <a:rPr sz="1250" b="1">
                <a:solidFill>
                  <a:srgbClr val="000000"/>
                </a:solidFill>
                <a:latin typeface="Arial"/>
              </a:rPr>
              <a:t>DISTANCE TO POINTS OR CURVES</a:t>
            </a:r>
          </a:p>
        </p:txBody>
      </p:sp>
      <p:sp>
        <p:nvSpPr>
          <p:cNvPr id="9" name="Oval 8"/>
          <p:cNvSpPr/>
          <p:nvPr/>
        </p:nvSpPr>
        <p:spPr>
          <a:xfrm>
            <a:off x="1076706"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76706" y="2786634"/>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076706" y="3033522"/>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76706" y="3280410"/>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76706"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387602"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79241" y="2778273"/>
            <a:ext cx="57869" cy="57869"/>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67958" y="3013878"/>
            <a:ext cx="80435" cy="80435"/>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377809" y="3270617"/>
            <a:ext cx="60733" cy="60733"/>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87602"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698498"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668735" y="2756871"/>
            <a:ext cx="100672" cy="100672"/>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647789" y="2982813"/>
            <a:ext cx="142565" cy="142565"/>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1666523" y="3248435"/>
            <a:ext cx="105097" cy="105097"/>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698399" y="3527199"/>
            <a:ext cx="41344" cy="41344"/>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2009394"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976014" y="2753254"/>
            <a:ext cx="107907" cy="107907"/>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949575" y="2973703"/>
            <a:ext cx="160785" cy="160785"/>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973574" y="3244590"/>
            <a:ext cx="112787" cy="112787"/>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2007258" y="3525162"/>
            <a:ext cx="45419" cy="45419"/>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2320290"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2304687" y="2771031"/>
            <a:ext cx="72352" cy="72352"/>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2291505" y="3004737"/>
            <a:ext cx="98716" cy="98716"/>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03062" y="3263182"/>
            <a:ext cx="75603" cy="75603"/>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320290"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2631186"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631186" y="2786634"/>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631186" y="3033522"/>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2631186" y="3280410"/>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2631186"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2942082"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2942082" y="2786634"/>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2942082" y="3033522"/>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942082" y="3280410"/>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2942082"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3252978"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3252978" y="2786634"/>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3252978" y="3033522"/>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3252978" y="3280410"/>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3252978"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3563874" y="2539746"/>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3563874" y="2786634"/>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3563874" y="3033522"/>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3563874" y="3280410"/>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3563874" y="3527298"/>
            <a:ext cx="41148" cy="41148"/>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860804" y="3003803"/>
            <a:ext cx="118872" cy="118872"/>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22960" y="3840480"/>
            <a:ext cx="3063240" cy="228600"/>
          </a:xfrm>
          <a:prstGeom prst="rect">
            <a:avLst/>
          </a:prstGeom>
          <a:noFill/>
        </p:spPr>
        <p:txBody>
          <a:bodyPr wrap="square" lIns="0" rIns="0" tIns="0" bIns="0" anchor="t">
            <a:spAutoFit/>
          </a:bodyPr>
          <a:lstStyle/>
          <a:p>
            <a:pPr algn="l"/>
            <a:r>
              <a:rPr sz="950" b="1">
                <a:solidFill>
                  <a:srgbClr val="6B6B6B"/>
                </a:solidFill>
                <a:latin typeface="Arial"/>
              </a:rPr>
              <a:t>LEGEND · NEAR → FAR · m</a:t>
            </a:r>
          </a:p>
        </p:txBody>
      </p:sp>
      <p:sp>
        <p:nvSpPr>
          <p:cNvPr id="56" name="Rectangle 55"/>
          <p:cNvSpPr/>
          <p:nvPr/>
        </p:nvSpPr>
        <p:spPr>
          <a:xfrm>
            <a:off x="822960" y="4087368"/>
            <a:ext cx="340360" cy="164592"/>
          </a:xfrm>
          <a:prstGeom prst="rect">
            <a:avLst/>
          </a:prstGeom>
          <a:solidFill>
            <a:srgbClr val="FFFDF7"/>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163320" y="4087368"/>
            <a:ext cx="340360" cy="164592"/>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503680" y="4087368"/>
            <a:ext cx="340360" cy="164592"/>
          </a:xfrm>
          <a:prstGeom prst="rect">
            <a:avLst/>
          </a:prstGeom>
          <a:solidFill>
            <a:srgbClr val="CFCFC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844040" y="4087368"/>
            <a:ext cx="340360" cy="164592"/>
          </a:xfrm>
          <a:prstGeom prst="rect">
            <a:avLst/>
          </a:prstGeom>
          <a:solidFill>
            <a:srgbClr val="B4B4A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2184400" y="4087368"/>
            <a:ext cx="340360" cy="164592"/>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2524760" y="4087368"/>
            <a:ext cx="340360" cy="164592"/>
          </a:xfrm>
          <a:prstGeom prst="rect">
            <a:avLst/>
          </a:prstGeom>
          <a:solidFill>
            <a:srgbClr val="75757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2865120" y="4087368"/>
            <a:ext cx="340360" cy="164592"/>
          </a:xfrm>
          <a:prstGeom prst="rect">
            <a:avLst/>
          </a:prstGeom>
          <a:solidFill>
            <a:srgbClr val="52525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3205480" y="4087368"/>
            <a:ext cx="340360" cy="164592"/>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3545840" y="4087368"/>
            <a:ext cx="340360" cy="164592"/>
          </a:xfrm>
          <a:prstGeom prst="rect">
            <a:avLst/>
          </a:prstGeom>
          <a:solidFill>
            <a:srgbClr val="1C1C1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2960" y="4389120"/>
            <a:ext cx="3063240" cy="685800"/>
          </a:xfrm>
          <a:prstGeom prst="rect">
            <a:avLst/>
          </a:prstGeom>
          <a:noFill/>
        </p:spPr>
        <p:txBody>
          <a:bodyPr wrap="square" lIns="0" rIns="0" tIns="0" bIns="0" anchor="t">
            <a:spAutoFit/>
          </a:bodyPr>
          <a:lstStyle/>
          <a:p>
            <a:pPr algn="l">
              <a:lnSpc>
                <a:spcPct val="120000"/>
              </a:lnSpc>
            </a:pPr>
            <a:r>
              <a:rPr sz="1250">
                <a:solidFill>
                  <a:srgbClr val="000000"/>
                </a:solidFill>
                <a:latin typeface="Calibri"/>
              </a:rPr>
              <a:t>Near → far from a feature you choose: a path, a tree line, an entrance.</a:t>
            </a:r>
          </a:p>
        </p:txBody>
      </p:sp>
      <p:sp>
        <p:nvSpPr>
          <p:cNvPr id="66" name="Rectangle 65"/>
          <p:cNvSpPr/>
          <p:nvPr/>
        </p:nvSpPr>
        <p:spPr>
          <a:xfrm>
            <a:off x="4393692" y="1851660"/>
            <a:ext cx="3520440" cy="33375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4325112" y="1783080"/>
            <a:ext cx="3520440" cy="33375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4325112" y="1783080"/>
            <a:ext cx="3520440" cy="45720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4553712" y="1783080"/>
            <a:ext cx="3063240" cy="457200"/>
          </a:xfrm>
          <a:prstGeom prst="rect">
            <a:avLst/>
          </a:prstGeom>
          <a:noFill/>
        </p:spPr>
        <p:txBody>
          <a:bodyPr wrap="square" lIns="0" rIns="0" tIns="0" bIns="0" anchor="ctr">
            <a:spAutoFit/>
          </a:bodyPr>
          <a:lstStyle/>
          <a:p>
            <a:pPr algn="l"/>
            <a:r>
              <a:rPr sz="1250" b="1">
                <a:solidFill>
                  <a:srgbClr val="000000"/>
                </a:solidFill>
                <a:latin typeface="Arial"/>
              </a:rPr>
              <a:t>HEIGHT BANDS</a:t>
            </a:r>
          </a:p>
        </p:txBody>
      </p:sp>
      <p:sp>
        <p:nvSpPr>
          <p:cNvPr id="70" name="Oval 69"/>
          <p:cNvSpPr/>
          <p:nvPr/>
        </p:nvSpPr>
        <p:spPr>
          <a:xfrm>
            <a:off x="4750308" y="2482596"/>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4805172"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4750308" y="2729484"/>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4805172"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4750308" y="2976372"/>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4805172"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4750308" y="3223260"/>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4805172"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4750308"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4805172"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5061204" y="2482596"/>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5116068"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5061204" y="2729484"/>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5116068"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5061204" y="2976372"/>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5116068"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5061204" y="3223260"/>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5116068"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5061204"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116068"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372100" y="2482596"/>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5426964"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5372100" y="2729484"/>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5426964"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5372100" y="2976372"/>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5426964"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5372100" y="3223260"/>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5426964"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5372100"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5426964"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5682996" y="2482596"/>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5737860"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5682996" y="2729484"/>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Oval 102"/>
          <p:cNvSpPr/>
          <p:nvPr/>
        </p:nvSpPr>
        <p:spPr>
          <a:xfrm>
            <a:off x="5737860"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Oval 103"/>
          <p:cNvSpPr/>
          <p:nvPr/>
        </p:nvSpPr>
        <p:spPr>
          <a:xfrm>
            <a:off x="5682996" y="2976372"/>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5737860"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Oval 105"/>
          <p:cNvSpPr/>
          <p:nvPr/>
        </p:nvSpPr>
        <p:spPr>
          <a:xfrm>
            <a:off x="5682996" y="3223260"/>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5737860"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682996"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5737860"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Oval 109"/>
          <p:cNvSpPr/>
          <p:nvPr/>
        </p:nvSpPr>
        <p:spPr>
          <a:xfrm>
            <a:off x="5993892" y="2482596"/>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Oval 110"/>
          <p:cNvSpPr/>
          <p:nvPr/>
        </p:nvSpPr>
        <p:spPr>
          <a:xfrm>
            <a:off x="6048756"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Oval 111"/>
          <p:cNvSpPr/>
          <p:nvPr/>
        </p:nvSpPr>
        <p:spPr>
          <a:xfrm>
            <a:off x="5993892" y="2729484"/>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6048756"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Oval 113"/>
          <p:cNvSpPr/>
          <p:nvPr/>
        </p:nvSpPr>
        <p:spPr>
          <a:xfrm>
            <a:off x="5993892" y="2976372"/>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Oval 114"/>
          <p:cNvSpPr/>
          <p:nvPr/>
        </p:nvSpPr>
        <p:spPr>
          <a:xfrm>
            <a:off x="6048756"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Oval 115"/>
          <p:cNvSpPr/>
          <p:nvPr/>
        </p:nvSpPr>
        <p:spPr>
          <a:xfrm>
            <a:off x="5993892" y="3223260"/>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048756"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Oval 117"/>
          <p:cNvSpPr/>
          <p:nvPr/>
        </p:nvSpPr>
        <p:spPr>
          <a:xfrm>
            <a:off x="5993892"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6048756"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6304788" y="2482596"/>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6359652"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Oval 121"/>
          <p:cNvSpPr/>
          <p:nvPr/>
        </p:nvSpPr>
        <p:spPr>
          <a:xfrm>
            <a:off x="6304788" y="2729484"/>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Oval 122"/>
          <p:cNvSpPr/>
          <p:nvPr/>
        </p:nvSpPr>
        <p:spPr>
          <a:xfrm>
            <a:off x="6359652"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Oval 123"/>
          <p:cNvSpPr/>
          <p:nvPr/>
        </p:nvSpPr>
        <p:spPr>
          <a:xfrm>
            <a:off x="6304788" y="2976372"/>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Oval 124"/>
          <p:cNvSpPr/>
          <p:nvPr/>
        </p:nvSpPr>
        <p:spPr>
          <a:xfrm>
            <a:off x="6359652"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Oval 125"/>
          <p:cNvSpPr/>
          <p:nvPr/>
        </p:nvSpPr>
        <p:spPr>
          <a:xfrm>
            <a:off x="6304788" y="3223260"/>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Oval 126"/>
          <p:cNvSpPr/>
          <p:nvPr/>
        </p:nvSpPr>
        <p:spPr>
          <a:xfrm>
            <a:off x="6359652"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Oval 127"/>
          <p:cNvSpPr/>
          <p:nvPr/>
        </p:nvSpPr>
        <p:spPr>
          <a:xfrm>
            <a:off x="6304788"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Oval 128"/>
          <p:cNvSpPr/>
          <p:nvPr/>
        </p:nvSpPr>
        <p:spPr>
          <a:xfrm>
            <a:off x="6359652"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Oval 129"/>
          <p:cNvSpPr/>
          <p:nvPr/>
        </p:nvSpPr>
        <p:spPr>
          <a:xfrm>
            <a:off x="6615684" y="2482596"/>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670548"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615684" y="2729484"/>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670548"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Oval 133"/>
          <p:cNvSpPr/>
          <p:nvPr/>
        </p:nvSpPr>
        <p:spPr>
          <a:xfrm>
            <a:off x="6615684" y="2976372"/>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Oval 134"/>
          <p:cNvSpPr/>
          <p:nvPr/>
        </p:nvSpPr>
        <p:spPr>
          <a:xfrm>
            <a:off x="6670548"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Oval 135"/>
          <p:cNvSpPr/>
          <p:nvPr/>
        </p:nvSpPr>
        <p:spPr>
          <a:xfrm>
            <a:off x="6615684" y="3223260"/>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Oval 136"/>
          <p:cNvSpPr/>
          <p:nvPr/>
        </p:nvSpPr>
        <p:spPr>
          <a:xfrm>
            <a:off x="6670548"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Oval 137"/>
          <p:cNvSpPr/>
          <p:nvPr/>
        </p:nvSpPr>
        <p:spPr>
          <a:xfrm>
            <a:off x="6615684"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Oval 138"/>
          <p:cNvSpPr/>
          <p:nvPr/>
        </p:nvSpPr>
        <p:spPr>
          <a:xfrm>
            <a:off x="6670548"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Oval 139"/>
          <p:cNvSpPr/>
          <p:nvPr/>
        </p:nvSpPr>
        <p:spPr>
          <a:xfrm>
            <a:off x="6926580" y="2482596"/>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6981444"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Oval 141"/>
          <p:cNvSpPr/>
          <p:nvPr/>
        </p:nvSpPr>
        <p:spPr>
          <a:xfrm>
            <a:off x="6926580" y="2729484"/>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Oval 142"/>
          <p:cNvSpPr/>
          <p:nvPr/>
        </p:nvSpPr>
        <p:spPr>
          <a:xfrm>
            <a:off x="6981444"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Oval 143"/>
          <p:cNvSpPr/>
          <p:nvPr/>
        </p:nvSpPr>
        <p:spPr>
          <a:xfrm>
            <a:off x="6926580" y="2976372"/>
            <a:ext cx="155448" cy="155448"/>
          </a:xfrm>
          <a:prstGeom prst="ellipse">
            <a:avLst/>
          </a:prstGeom>
          <a:solidFill>
            <a:srgbClr val="323230"/>
          </a:solidFill>
          <a:ln w="6350">
            <a:solidFill>
              <a:srgbClr val="32323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Oval 144"/>
          <p:cNvSpPr/>
          <p:nvPr/>
        </p:nvSpPr>
        <p:spPr>
          <a:xfrm>
            <a:off x="6981444"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Oval 145"/>
          <p:cNvSpPr/>
          <p:nvPr/>
        </p:nvSpPr>
        <p:spPr>
          <a:xfrm>
            <a:off x="6926580" y="3223260"/>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Oval 146"/>
          <p:cNvSpPr/>
          <p:nvPr/>
        </p:nvSpPr>
        <p:spPr>
          <a:xfrm>
            <a:off x="6981444"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Oval 147"/>
          <p:cNvSpPr/>
          <p:nvPr/>
        </p:nvSpPr>
        <p:spPr>
          <a:xfrm>
            <a:off x="6926580"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Oval 148"/>
          <p:cNvSpPr/>
          <p:nvPr/>
        </p:nvSpPr>
        <p:spPr>
          <a:xfrm>
            <a:off x="6981444"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Oval 149"/>
          <p:cNvSpPr/>
          <p:nvPr/>
        </p:nvSpPr>
        <p:spPr>
          <a:xfrm>
            <a:off x="7237476" y="2482596"/>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Oval 150"/>
          <p:cNvSpPr/>
          <p:nvPr/>
        </p:nvSpPr>
        <p:spPr>
          <a:xfrm>
            <a:off x="7292340" y="2537460"/>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Oval 151"/>
          <p:cNvSpPr/>
          <p:nvPr/>
        </p:nvSpPr>
        <p:spPr>
          <a:xfrm>
            <a:off x="7237476" y="2729484"/>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Oval 152"/>
          <p:cNvSpPr/>
          <p:nvPr/>
        </p:nvSpPr>
        <p:spPr>
          <a:xfrm>
            <a:off x="7292340" y="2784348"/>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Oval 153"/>
          <p:cNvSpPr/>
          <p:nvPr/>
        </p:nvSpPr>
        <p:spPr>
          <a:xfrm>
            <a:off x="7237476" y="2976372"/>
            <a:ext cx="155448" cy="155448"/>
          </a:xfrm>
          <a:prstGeom prst="ellipse">
            <a:avLst/>
          </a:prstGeom>
          <a:solidFill>
            <a:srgbClr val="969690"/>
          </a:solidFill>
          <a:ln w="6350">
            <a:solidFill>
              <a:srgbClr val="9696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Oval 154"/>
          <p:cNvSpPr/>
          <p:nvPr/>
        </p:nvSpPr>
        <p:spPr>
          <a:xfrm>
            <a:off x="7292340" y="3031236"/>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Oval 155"/>
          <p:cNvSpPr/>
          <p:nvPr/>
        </p:nvSpPr>
        <p:spPr>
          <a:xfrm>
            <a:off x="7237476" y="3223260"/>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Oval 156"/>
          <p:cNvSpPr/>
          <p:nvPr/>
        </p:nvSpPr>
        <p:spPr>
          <a:xfrm>
            <a:off x="7292340" y="3278124"/>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Oval 157"/>
          <p:cNvSpPr/>
          <p:nvPr/>
        </p:nvSpPr>
        <p:spPr>
          <a:xfrm>
            <a:off x="7237476" y="3470148"/>
            <a:ext cx="155448" cy="155448"/>
          </a:xfrm>
          <a:prstGeom prst="ellipse">
            <a:avLst/>
          </a:prstGeom>
          <a:solidFill>
            <a:srgbClr val="E8E8E0"/>
          </a:solidFill>
          <a:ln w="6350">
            <a:solidFill>
              <a:srgbClr val="E8E8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Oval 158"/>
          <p:cNvSpPr/>
          <p:nvPr/>
        </p:nvSpPr>
        <p:spPr>
          <a:xfrm>
            <a:off x="7292340" y="3525012"/>
            <a:ext cx="45720" cy="45720"/>
          </a:xfrm>
          <a:prstGeom prst="ellipse">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4553712" y="3840480"/>
            <a:ext cx="3063240" cy="228600"/>
          </a:xfrm>
          <a:prstGeom prst="rect">
            <a:avLst/>
          </a:prstGeom>
          <a:noFill/>
        </p:spPr>
        <p:txBody>
          <a:bodyPr wrap="square" lIns="0" rIns="0" tIns="0" bIns="0" anchor="t">
            <a:spAutoFit/>
          </a:bodyPr>
          <a:lstStyle/>
          <a:p>
            <a:pPr algn="l"/>
            <a:r>
              <a:rPr sz="950" b="1">
                <a:solidFill>
                  <a:srgbClr val="6B6B6B"/>
                </a:solidFill>
                <a:latin typeface="Arial"/>
              </a:rPr>
              <a:t>LEGEND · BAND EDGES · m</a:t>
            </a:r>
          </a:p>
        </p:txBody>
      </p:sp>
      <p:sp>
        <p:nvSpPr>
          <p:cNvPr id="161" name="Rectangle 160"/>
          <p:cNvSpPr/>
          <p:nvPr/>
        </p:nvSpPr>
        <p:spPr>
          <a:xfrm>
            <a:off x="4553712" y="4087368"/>
            <a:ext cx="1021080" cy="164592"/>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ectangle 161"/>
          <p:cNvSpPr/>
          <p:nvPr/>
        </p:nvSpPr>
        <p:spPr>
          <a:xfrm>
            <a:off x="5574792" y="4087368"/>
            <a:ext cx="1021080" cy="164592"/>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6595872" y="4087368"/>
            <a:ext cx="1021080" cy="164592"/>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4553712" y="4389120"/>
            <a:ext cx="3063240" cy="685800"/>
          </a:xfrm>
          <a:prstGeom prst="rect">
            <a:avLst/>
          </a:prstGeom>
          <a:noFill/>
        </p:spPr>
        <p:txBody>
          <a:bodyPr wrap="square" lIns="0" rIns="0" tIns="0" bIns="0" anchor="t">
            <a:spAutoFit/>
          </a:bodyPr>
          <a:lstStyle/>
          <a:p>
            <a:pPr algn="l">
              <a:lnSpc>
                <a:spcPct val="120000"/>
              </a:lnSpc>
            </a:pPr>
            <a:r>
              <a:rPr sz="1250">
                <a:solidFill>
                  <a:srgbClr val="000000"/>
                </a:solidFill>
                <a:latin typeface="Calibri"/>
              </a:rPr>
              <a:t>Every point sorted by its height into bands you set.</a:t>
            </a:r>
          </a:p>
        </p:txBody>
      </p:sp>
      <p:sp>
        <p:nvSpPr>
          <p:cNvPr id="165" name="Rectangle 164"/>
          <p:cNvSpPr/>
          <p:nvPr/>
        </p:nvSpPr>
        <p:spPr>
          <a:xfrm>
            <a:off x="8124444" y="1851660"/>
            <a:ext cx="3520440" cy="33375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ectangle 165"/>
          <p:cNvSpPr/>
          <p:nvPr/>
        </p:nvSpPr>
        <p:spPr>
          <a:xfrm>
            <a:off x="8055864" y="1783080"/>
            <a:ext cx="3520440" cy="33375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ectangle 166"/>
          <p:cNvSpPr/>
          <p:nvPr/>
        </p:nvSpPr>
        <p:spPr>
          <a:xfrm>
            <a:off x="8055864" y="1783080"/>
            <a:ext cx="3520440" cy="45720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8284464" y="1783080"/>
            <a:ext cx="3063240" cy="457200"/>
          </a:xfrm>
          <a:prstGeom prst="rect">
            <a:avLst/>
          </a:prstGeom>
          <a:noFill/>
        </p:spPr>
        <p:txBody>
          <a:bodyPr wrap="square" lIns="0" rIns="0" tIns="0" bIns="0" anchor="ctr">
            <a:spAutoFit/>
          </a:bodyPr>
          <a:lstStyle/>
          <a:p>
            <a:pPr algn="l"/>
            <a:r>
              <a:rPr sz="1250" b="1">
                <a:solidFill>
                  <a:srgbClr val="000000"/>
                </a:solidFill>
                <a:latin typeface="Arial"/>
              </a:rPr>
              <a:t>RECORDED ATTRIBUTE</a:t>
            </a:r>
          </a:p>
        </p:txBody>
      </p:sp>
      <p:sp>
        <p:nvSpPr>
          <p:cNvPr id="169" name="Oval 168"/>
          <p:cNvSpPr/>
          <p:nvPr/>
        </p:nvSpPr>
        <p:spPr>
          <a:xfrm>
            <a:off x="8481060" y="2482596"/>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Oval 169"/>
          <p:cNvSpPr/>
          <p:nvPr/>
        </p:nvSpPr>
        <p:spPr>
          <a:xfrm>
            <a:off x="8481060" y="2729484"/>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Oval 170"/>
          <p:cNvSpPr/>
          <p:nvPr/>
        </p:nvSpPr>
        <p:spPr>
          <a:xfrm>
            <a:off x="8481060"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Oval 171"/>
          <p:cNvSpPr/>
          <p:nvPr/>
        </p:nvSpPr>
        <p:spPr>
          <a:xfrm>
            <a:off x="8481060"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Oval 172"/>
          <p:cNvSpPr/>
          <p:nvPr/>
        </p:nvSpPr>
        <p:spPr>
          <a:xfrm>
            <a:off x="8481060" y="3470148"/>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Oval 173"/>
          <p:cNvSpPr/>
          <p:nvPr/>
        </p:nvSpPr>
        <p:spPr>
          <a:xfrm>
            <a:off x="8791956" y="2482596"/>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Oval 174"/>
          <p:cNvSpPr/>
          <p:nvPr/>
        </p:nvSpPr>
        <p:spPr>
          <a:xfrm>
            <a:off x="8791956" y="2729484"/>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Oval 175"/>
          <p:cNvSpPr/>
          <p:nvPr/>
        </p:nvSpPr>
        <p:spPr>
          <a:xfrm>
            <a:off x="8791956"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Oval 176"/>
          <p:cNvSpPr/>
          <p:nvPr/>
        </p:nvSpPr>
        <p:spPr>
          <a:xfrm>
            <a:off x="8791956"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Oval 177"/>
          <p:cNvSpPr/>
          <p:nvPr/>
        </p:nvSpPr>
        <p:spPr>
          <a:xfrm>
            <a:off x="8791956" y="3470148"/>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Oval 178"/>
          <p:cNvSpPr/>
          <p:nvPr/>
        </p:nvSpPr>
        <p:spPr>
          <a:xfrm>
            <a:off x="9102852" y="2482596"/>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Oval 179"/>
          <p:cNvSpPr/>
          <p:nvPr/>
        </p:nvSpPr>
        <p:spPr>
          <a:xfrm>
            <a:off x="9102852" y="2729484"/>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Oval 180"/>
          <p:cNvSpPr/>
          <p:nvPr/>
        </p:nvSpPr>
        <p:spPr>
          <a:xfrm>
            <a:off x="9102852"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Oval 181"/>
          <p:cNvSpPr/>
          <p:nvPr/>
        </p:nvSpPr>
        <p:spPr>
          <a:xfrm>
            <a:off x="9102852"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Oval 182"/>
          <p:cNvSpPr/>
          <p:nvPr/>
        </p:nvSpPr>
        <p:spPr>
          <a:xfrm>
            <a:off x="9102852" y="3470148"/>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Oval 183"/>
          <p:cNvSpPr/>
          <p:nvPr/>
        </p:nvSpPr>
        <p:spPr>
          <a:xfrm>
            <a:off x="9413748" y="2482596"/>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Oval 184"/>
          <p:cNvSpPr/>
          <p:nvPr/>
        </p:nvSpPr>
        <p:spPr>
          <a:xfrm>
            <a:off x="9413748" y="2729484"/>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Oval 185"/>
          <p:cNvSpPr/>
          <p:nvPr/>
        </p:nvSpPr>
        <p:spPr>
          <a:xfrm>
            <a:off x="9413748"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Oval 186"/>
          <p:cNvSpPr/>
          <p:nvPr/>
        </p:nvSpPr>
        <p:spPr>
          <a:xfrm>
            <a:off x="9413748"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Oval 187"/>
          <p:cNvSpPr/>
          <p:nvPr/>
        </p:nvSpPr>
        <p:spPr>
          <a:xfrm>
            <a:off x="9413748" y="3470148"/>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Oval 188"/>
          <p:cNvSpPr/>
          <p:nvPr/>
        </p:nvSpPr>
        <p:spPr>
          <a:xfrm>
            <a:off x="9724644" y="2482596"/>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Oval 189"/>
          <p:cNvSpPr/>
          <p:nvPr/>
        </p:nvSpPr>
        <p:spPr>
          <a:xfrm>
            <a:off x="9724644" y="2729484"/>
            <a:ext cx="155448" cy="155448"/>
          </a:xfrm>
          <a:prstGeom prst="ellipse">
            <a:avLst/>
          </a:prstGeom>
          <a:solidFill>
            <a:srgbClr val="00D9E1"/>
          </a:solidFill>
          <a:ln w="6350">
            <a:solidFill>
              <a:srgbClr val="00D9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Oval 190"/>
          <p:cNvSpPr/>
          <p:nvPr/>
        </p:nvSpPr>
        <p:spPr>
          <a:xfrm>
            <a:off x="9724644"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Oval 191"/>
          <p:cNvSpPr/>
          <p:nvPr/>
        </p:nvSpPr>
        <p:spPr>
          <a:xfrm>
            <a:off x="9724644"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Oval 192"/>
          <p:cNvSpPr/>
          <p:nvPr/>
        </p:nvSpPr>
        <p:spPr>
          <a:xfrm>
            <a:off x="9724644" y="3470148"/>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Oval 193"/>
          <p:cNvSpPr/>
          <p:nvPr/>
        </p:nvSpPr>
        <p:spPr>
          <a:xfrm>
            <a:off x="10035540" y="2482596"/>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Oval 194"/>
          <p:cNvSpPr/>
          <p:nvPr/>
        </p:nvSpPr>
        <p:spPr>
          <a:xfrm>
            <a:off x="10035540" y="2729484"/>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Oval 195"/>
          <p:cNvSpPr/>
          <p:nvPr/>
        </p:nvSpPr>
        <p:spPr>
          <a:xfrm>
            <a:off x="10035540"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Oval 196"/>
          <p:cNvSpPr/>
          <p:nvPr/>
        </p:nvSpPr>
        <p:spPr>
          <a:xfrm>
            <a:off x="10035540" y="3223260"/>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Oval 197"/>
          <p:cNvSpPr/>
          <p:nvPr/>
        </p:nvSpPr>
        <p:spPr>
          <a:xfrm>
            <a:off x="10035540" y="3470148"/>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Oval 198"/>
          <p:cNvSpPr/>
          <p:nvPr/>
        </p:nvSpPr>
        <p:spPr>
          <a:xfrm>
            <a:off x="10346436" y="2482596"/>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Oval 199"/>
          <p:cNvSpPr/>
          <p:nvPr/>
        </p:nvSpPr>
        <p:spPr>
          <a:xfrm>
            <a:off x="10346436" y="2729484"/>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Oval 200"/>
          <p:cNvSpPr/>
          <p:nvPr/>
        </p:nvSpPr>
        <p:spPr>
          <a:xfrm>
            <a:off x="10346436" y="2976372"/>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Oval 201"/>
          <p:cNvSpPr/>
          <p:nvPr/>
        </p:nvSpPr>
        <p:spPr>
          <a:xfrm>
            <a:off x="10346436" y="3223260"/>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Oval 202"/>
          <p:cNvSpPr/>
          <p:nvPr/>
        </p:nvSpPr>
        <p:spPr>
          <a:xfrm>
            <a:off x="10346436" y="3470148"/>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Oval 203"/>
          <p:cNvSpPr/>
          <p:nvPr/>
        </p:nvSpPr>
        <p:spPr>
          <a:xfrm>
            <a:off x="10657332" y="2482596"/>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Oval 204"/>
          <p:cNvSpPr/>
          <p:nvPr/>
        </p:nvSpPr>
        <p:spPr>
          <a:xfrm>
            <a:off x="10657332" y="2729484"/>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Oval 205"/>
          <p:cNvSpPr/>
          <p:nvPr/>
        </p:nvSpPr>
        <p:spPr>
          <a:xfrm>
            <a:off x="10657332" y="2976372"/>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Oval 206"/>
          <p:cNvSpPr/>
          <p:nvPr/>
        </p:nvSpPr>
        <p:spPr>
          <a:xfrm>
            <a:off x="10657332" y="3223260"/>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Oval 207"/>
          <p:cNvSpPr/>
          <p:nvPr/>
        </p:nvSpPr>
        <p:spPr>
          <a:xfrm>
            <a:off x="10657332" y="3470148"/>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Oval 208"/>
          <p:cNvSpPr/>
          <p:nvPr/>
        </p:nvSpPr>
        <p:spPr>
          <a:xfrm>
            <a:off x="10968228" y="2482596"/>
            <a:ext cx="155448" cy="155448"/>
          </a:xfrm>
          <a:prstGeom prst="ellipse">
            <a:avLst/>
          </a:prstGeom>
          <a:solidFill>
            <a:srgbClr val="C6F035"/>
          </a:solidFill>
          <a:ln w="6350">
            <a:solidFill>
              <a:srgbClr val="C6F0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Oval 209"/>
          <p:cNvSpPr/>
          <p:nvPr/>
        </p:nvSpPr>
        <p:spPr>
          <a:xfrm>
            <a:off x="10968228" y="2729484"/>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Oval 210"/>
          <p:cNvSpPr/>
          <p:nvPr/>
        </p:nvSpPr>
        <p:spPr>
          <a:xfrm>
            <a:off x="10968228" y="2976372"/>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Oval 211"/>
          <p:cNvSpPr/>
          <p:nvPr/>
        </p:nvSpPr>
        <p:spPr>
          <a:xfrm>
            <a:off x="10968228" y="3223260"/>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Oval 212"/>
          <p:cNvSpPr/>
          <p:nvPr/>
        </p:nvSpPr>
        <p:spPr>
          <a:xfrm>
            <a:off x="10968228" y="3470148"/>
            <a:ext cx="155448" cy="155448"/>
          </a:xfrm>
          <a:prstGeom prst="ellipse">
            <a:avLst/>
          </a:prstGeom>
          <a:solidFill>
            <a:srgbClr val="FF4D8D"/>
          </a:solidFill>
          <a:ln w="6350">
            <a:solidFill>
              <a:srgbClr val="FF4D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284464" y="3840480"/>
            <a:ext cx="3063240" cy="228600"/>
          </a:xfrm>
          <a:prstGeom prst="rect">
            <a:avLst/>
          </a:prstGeom>
          <a:noFill/>
        </p:spPr>
        <p:txBody>
          <a:bodyPr wrap="square" lIns="0" rIns="0" tIns="0" bIns="0" anchor="t">
            <a:spAutoFit/>
          </a:bodyPr>
          <a:lstStyle/>
          <a:p>
            <a:pPr algn="l"/>
            <a:r>
              <a:rPr sz="950" b="1">
                <a:solidFill>
                  <a:srgbClr val="6B6B6B"/>
                </a:solidFill>
                <a:latin typeface="Arial"/>
              </a:rPr>
              <a:t>LEGEND · CLASS OR VALUE</a:t>
            </a:r>
          </a:p>
        </p:txBody>
      </p:sp>
      <p:sp>
        <p:nvSpPr>
          <p:cNvPr id="215" name="Rectangle 214"/>
          <p:cNvSpPr/>
          <p:nvPr/>
        </p:nvSpPr>
        <p:spPr>
          <a:xfrm>
            <a:off x="8284464" y="4087368"/>
            <a:ext cx="1021080" cy="164592"/>
          </a:xfrm>
          <a:prstGeom prst="rect">
            <a:avLst/>
          </a:prstGeom>
          <a:solidFill>
            <a:srgbClr val="00D9E1"/>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Rectangle 215"/>
          <p:cNvSpPr/>
          <p:nvPr/>
        </p:nvSpPr>
        <p:spPr>
          <a:xfrm>
            <a:off x="9305544" y="4087368"/>
            <a:ext cx="1021080" cy="164592"/>
          </a:xfrm>
          <a:prstGeom prst="rect">
            <a:avLst/>
          </a:prstGeom>
          <a:solidFill>
            <a:srgbClr val="C6F035"/>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Rectangle 216"/>
          <p:cNvSpPr/>
          <p:nvPr/>
        </p:nvSpPr>
        <p:spPr>
          <a:xfrm>
            <a:off x="10326624" y="4087368"/>
            <a:ext cx="1021080" cy="164592"/>
          </a:xfrm>
          <a:prstGeom prst="rect">
            <a:avLst/>
          </a:prstGeom>
          <a:solidFill>
            <a:srgbClr val="FF4D8D"/>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284464" y="4389120"/>
            <a:ext cx="3063240" cy="685800"/>
          </a:xfrm>
          <a:prstGeom prst="rect">
            <a:avLst/>
          </a:prstGeom>
          <a:noFill/>
        </p:spPr>
        <p:txBody>
          <a:bodyPr wrap="square" lIns="0" rIns="0" tIns="0" bIns="0" anchor="t">
            <a:spAutoFit/>
          </a:bodyPr>
          <a:lstStyle/>
          <a:p>
            <a:pPr algn="l">
              <a:lnSpc>
                <a:spcPct val="120000"/>
              </a:lnSpc>
            </a:pPr>
            <a:r>
              <a:rPr sz="1250">
                <a:solidFill>
                  <a:srgbClr val="000000"/>
                </a:solidFill>
                <a:latin typeface="Calibri"/>
              </a:rPr>
              <a:t>A value the scan already holds, such as colour or classification.</a:t>
            </a:r>
          </a:p>
        </p:txBody>
      </p:sp>
      <p:sp>
        <p:nvSpPr>
          <p:cNvPr id="219" name="Rectangle 218"/>
          <p:cNvSpPr/>
          <p:nvPr/>
        </p:nvSpPr>
        <p:spPr>
          <a:xfrm>
            <a:off x="662940" y="5372100"/>
            <a:ext cx="1097280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Rectangle 219"/>
          <p:cNvSpPr/>
          <p:nvPr/>
        </p:nvSpPr>
        <p:spPr>
          <a:xfrm>
            <a:off x="594360" y="5303520"/>
            <a:ext cx="10972800" cy="548640"/>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777240" y="5303520"/>
            <a:ext cx="10607040" cy="548640"/>
          </a:xfrm>
          <a:prstGeom prst="rect">
            <a:avLst/>
          </a:prstGeom>
          <a:noFill/>
        </p:spPr>
        <p:txBody>
          <a:bodyPr wrap="square" lIns="0" rIns="0" tIns="0" bIns="0" anchor="ctr">
            <a:spAutoFit/>
          </a:bodyPr>
          <a:lstStyle/>
          <a:p>
            <a:pPr algn="ctr"/>
            <a:r>
              <a:rPr sz="1200" b="1">
                <a:solidFill>
                  <a:srgbClr val="FFE500"/>
                </a:solidFill>
                <a:latin typeface="Arial"/>
              </a:rPr>
              <a:t>THREE LAYERS AT LEAST. EACH ONE ANSWERS A DIFFERENT QUESTION ABOUT THE SAME SITE.</a:t>
            </a:r>
          </a:p>
        </p:txBody>
      </p:sp>
      <p:sp>
        <p:nvSpPr>
          <p:cNvPr id="222" name="TextBox 221"/>
          <p:cNvSpPr txBox="1"/>
          <p:nvPr/>
        </p:nvSpPr>
        <p:spPr>
          <a:xfrm>
            <a:off x="594360" y="6108192"/>
            <a:ext cx="10972800" cy="365760"/>
          </a:xfrm>
          <a:prstGeom prst="rect">
            <a:avLst/>
          </a:prstGeom>
          <a:noFill/>
        </p:spPr>
        <p:txBody>
          <a:bodyPr wrap="square" lIns="0" rIns="0" tIns="0" bIns="0" anchor="t">
            <a:spAutoFit/>
          </a:bodyPr>
          <a:lstStyle/>
          <a:p>
            <a:pPr algn="l"/>
            <a:r>
              <a:rPr sz="1300">
                <a:solidFill>
                  <a:srgbClr val="6B6B6B"/>
                </a:solidFill>
                <a:latin typeface="Calibri"/>
              </a:rPr>
              <a:t>Mixtli, the Blender add-on the instructor provides, does these operations. An equivalent tool is fine.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RECORD THE SITE FIRST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Before any layer, record the point cloud: where it came from and how it sits.</a:t>
            </a:r>
          </a:p>
        </p:txBody>
      </p:sp>
      <p:sp>
        <p:nvSpPr>
          <p:cNvPr id="5" name="Rectangle 4"/>
          <p:cNvSpPr/>
          <p:nvPr/>
        </p:nvSpPr>
        <p:spPr>
          <a:xfrm>
            <a:off x="662940" y="1897380"/>
            <a:ext cx="260604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828800"/>
            <a:ext cx="2606040" cy="45720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956816"/>
            <a:ext cx="2606040" cy="274320"/>
          </a:xfrm>
          <a:prstGeom prst="rect">
            <a:avLst/>
          </a:prstGeom>
          <a:noFill/>
        </p:spPr>
        <p:txBody>
          <a:bodyPr wrap="square" lIns="0" rIns="0" tIns="0" bIns="0" anchor="t">
            <a:spAutoFit/>
          </a:bodyPr>
          <a:lstStyle/>
          <a:p>
            <a:pPr algn="ctr"/>
            <a:r>
              <a:rPr sz="1200" b="1">
                <a:solidFill>
                  <a:srgbClr val="000000"/>
                </a:solidFill>
                <a:latin typeface="Arial"/>
              </a:rPr>
              <a:t>SOURCE</a:t>
            </a:r>
          </a:p>
        </p:txBody>
      </p:sp>
      <p:sp>
        <p:nvSpPr>
          <p:cNvPr id="8" name="Rectangle 7"/>
          <p:cNvSpPr/>
          <p:nvPr/>
        </p:nvSpPr>
        <p:spPr>
          <a:xfrm>
            <a:off x="662940" y="2446020"/>
            <a:ext cx="2606040" cy="14173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94360" y="2377440"/>
            <a:ext cx="2606040" cy="14173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2377440"/>
            <a:ext cx="2148840" cy="1417320"/>
          </a:xfrm>
          <a:prstGeom prst="rect">
            <a:avLst/>
          </a:prstGeom>
          <a:noFill/>
        </p:spPr>
        <p:txBody>
          <a:bodyPr wrap="square" lIns="0" rIns="0" tIns="0" bIns="0" anchor="ctr">
            <a:spAutoFit/>
          </a:bodyPr>
          <a:lstStyle/>
          <a:p>
            <a:pPr algn="l">
              <a:lnSpc>
                <a:spcPct val="130000"/>
              </a:lnSpc>
            </a:pPr>
            <a:r>
              <a:rPr sz="1300">
                <a:solidFill>
                  <a:srgbClr val="000000"/>
                </a:solidFill>
                <a:latin typeface="Calibri"/>
              </a:rPr>
              <a:t>Where the point cloud came from. Name it on the sheet.</a:t>
            </a:r>
          </a:p>
        </p:txBody>
      </p:sp>
      <p:sp>
        <p:nvSpPr>
          <p:cNvPr id="11" name="Rectangle 10"/>
          <p:cNvSpPr/>
          <p:nvPr/>
        </p:nvSpPr>
        <p:spPr>
          <a:xfrm>
            <a:off x="3451860" y="1897380"/>
            <a:ext cx="260604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83279" y="1828800"/>
            <a:ext cx="2606040" cy="45720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83279" y="1956816"/>
            <a:ext cx="2606040" cy="274320"/>
          </a:xfrm>
          <a:prstGeom prst="rect">
            <a:avLst/>
          </a:prstGeom>
          <a:noFill/>
        </p:spPr>
        <p:txBody>
          <a:bodyPr wrap="square" lIns="0" rIns="0" tIns="0" bIns="0" anchor="t">
            <a:spAutoFit/>
          </a:bodyPr>
          <a:lstStyle/>
          <a:p>
            <a:pPr algn="ctr"/>
            <a:r>
              <a:rPr sz="1200" b="1">
                <a:solidFill>
                  <a:srgbClr val="000000"/>
                </a:solidFill>
                <a:latin typeface="Arial"/>
              </a:rPr>
              <a:t>UNITS</a:t>
            </a:r>
          </a:p>
        </p:txBody>
      </p:sp>
      <p:sp>
        <p:nvSpPr>
          <p:cNvPr id="14" name="Rectangle 13"/>
          <p:cNvSpPr/>
          <p:nvPr/>
        </p:nvSpPr>
        <p:spPr>
          <a:xfrm>
            <a:off x="3451860" y="2446020"/>
            <a:ext cx="2606040" cy="14173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383279" y="2377440"/>
            <a:ext cx="2606040" cy="14173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11879" y="2377440"/>
            <a:ext cx="2148840" cy="1417320"/>
          </a:xfrm>
          <a:prstGeom prst="rect">
            <a:avLst/>
          </a:prstGeom>
          <a:noFill/>
        </p:spPr>
        <p:txBody>
          <a:bodyPr wrap="square" lIns="0" rIns="0" tIns="0" bIns="0" anchor="ctr">
            <a:spAutoFit/>
          </a:bodyPr>
          <a:lstStyle/>
          <a:p>
            <a:pPr algn="l">
              <a:lnSpc>
                <a:spcPct val="130000"/>
              </a:lnSpc>
            </a:pPr>
            <a:r>
              <a:rPr sz="1300">
                <a:solidFill>
                  <a:srgbClr val="000000"/>
                </a:solidFill>
                <a:latin typeface="Calibri"/>
              </a:rPr>
              <a:t>What one unit is. Check it against one known dimension.</a:t>
            </a:r>
          </a:p>
        </p:txBody>
      </p:sp>
      <p:sp>
        <p:nvSpPr>
          <p:cNvPr id="17" name="Rectangle 16"/>
          <p:cNvSpPr/>
          <p:nvPr/>
        </p:nvSpPr>
        <p:spPr>
          <a:xfrm>
            <a:off x="6240780" y="1897380"/>
            <a:ext cx="260604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72200" y="1828800"/>
            <a:ext cx="2606040" cy="45720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72200" y="1956816"/>
            <a:ext cx="2606040" cy="274320"/>
          </a:xfrm>
          <a:prstGeom prst="rect">
            <a:avLst/>
          </a:prstGeom>
          <a:noFill/>
        </p:spPr>
        <p:txBody>
          <a:bodyPr wrap="square" lIns="0" rIns="0" tIns="0" bIns="0" anchor="t">
            <a:spAutoFit/>
          </a:bodyPr>
          <a:lstStyle/>
          <a:p>
            <a:pPr algn="ctr"/>
            <a:r>
              <a:rPr sz="1200" b="1">
                <a:solidFill>
                  <a:srgbClr val="000000"/>
                </a:solidFill>
                <a:latin typeface="Arial"/>
              </a:rPr>
              <a:t>SCALE</a:t>
            </a:r>
          </a:p>
        </p:txBody>
      </p:sp>
      <p:sp>
        <p:nvSpPr>
          <p:cNvPr id="20" name="Rectangle 19"/>
          <p:cNvSpPr/>
          <p:nvPr/>
        </p:nvSpPr>
        <p:spPr>
          <a:xfrm>
            <a:off x="6240780" y="2446020"/>
            <a:ext cx="2606040" cy="14173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172200" y="2377440"/>
            <a:ext cx="2606040" cy="14173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0" y="2377440"/>
            <a:ext cx="2148840" cy="1417320"/>
          </a:xfrm>
          <a:prstGeom prst="rect">
            <a:avLst/>
          </a:prstGeom>
          <a:noFill/>
        </p:spPr>
        <p:txBody>
          <a:bodyPr wrap="square" lIns="0" rIns="0" tIns="0" bIns="0" anchor="ctr">
            <a:spAutoFit/>
          </a:bodyPr>
          <a:lstStyle/>
          <a:p>
            <a:pPr algn="l">
              <a:lnSpc>
                <a:spcPct val="130000"/>
              </a:lnSpc>
            </a:pPr>
            <a:r>
              <a:rPr sz="1300">
                <a:solidFill>
                  <a:srgbClr val="000000"/>
                </a:solidFill>
                <a:latin typeface="Calibri"/>
              </a:rPr>
              <a:t>The scale of each view, with a bar.</a:t>
            </a:r>
          </a:p>
        </p:txBody>
      </p:sp>
      <p:sp>
        <p:nvSpPr>
          <p:cNvPr id="23" name="Rectangle 22"/>
          <p:cNvSpPr/>
          <p:nvPr/>
        </p:nvSpPr>
        <p:spPr>
          <a:xfrm>
            <a:off x="9029700" y="1897380"/>
            <a:ext cx="260604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961120" y="1828800"/>
            <a:ext cx="2606040" cy="45720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61120" y="1956816"/>
            <a:ext cx="2606040" cy="274320"/>
          </a:xfrm>
          <a:prstGeom prst="rect">
            <a:avLst/>
          </a:prstGeom>
          <a:noFill/>
        </p:spPr>
        <p:txBody>
          <a:bodyPr wrap="square" lIns="0" rIns="0" tIns="0" bIns="0" anchor="t">
            <a:spAutoFit/>
          </a:bodyPr>
          <a:lstStyle/>
          <a:p>
            <a:pPr algn="ctr"/>
            <a:r>
              <a:rPr sz="1200" b="1">
                <a:solidFill>
                  <a:srgbClr val="000000"/>
                </a:solidFill>
                <a:latin typeface="Arial"/>
              </a:rPr>
              <a:t>ORIENTATION</a:t>
            </a:r>
          </a:p>
        </p:txBody>
      </p:sp>
      <p:sp>
        <p:nvSpPr>
          <p:cNvPr id="26" name="Rectangle 25"/>
          <p:cNvSpPr/>
          <p:nvPr/>
        </p:nvSpPr>
        <p:spPr>
          <a:xfrm>
            <a:off x="9029700" y="2446020"/>
            <a:ext cx="2606040" cy="14173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961120" y="2377440"/>
            <a:ext cx="2606040" cy="14173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189720" y="2377440"/>
            <a:ext cx="2148840" cy="1417320"/>
          </a:xfrm>
          <a:prstGeom prst="rect">
            <a:avLst/>
          </a:prstGeom>
          <a:noFill/>
        </p:spPr>
        <p:txBody>
          <a:bodyPr wrap="square" lIns="0" rIns="0" tIns="0" bIns="0" anchor="ctr">
            <a:spAutoFit/>
          </a:bodyPr>
          <a:lstStyle/>
          <a:p>
            <a:pPr algn="l">
              <a:lnSpc>
                <a:spcPct val="130000"/>
              </a:lnSpc>
            </a:pPr>
            <a:r>
              <a:rPr sz="1300">
                <a:solidFill>
                  <a:srgbClr val="000000"/>
                </a:solidFill>
                <a:latin typeface="Calibri"/>
              </a:rPr>
              <a:t>North, and how the cloud is placed relative to it.</a:t>
            </a:r>
          </a:p>
        </p:txBody>
      </p:sp>
      <p:sp>
        <p:nvSpPr>
          <p:cNvPr id="29" name="Rectangle 28"/>
          <p:cNvSpPr/>
          <p:nvPr/>
        </p:nvSpPr>
        <p:spPr>
          <a:xfrm>
            <a:off x="662940" y="4183380"/>
            <a:ext cx="10972800" cy="12344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4114800"/>
            <a:ext cx="10972800" cy="12344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94360" y="4114800"/>
            <a:ext cx="1097280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2960" y="4114800"/>
            <a:ext cx="10515600" cy="502920"/>
          </a:xfrm>
          <a:prstGeom prst="rect">
            <a:avLst/>
          </a:prstGeom>
          <a:noFill/>
        </p:spPr>
        <p:txBody>
          <a:bodyPr wrap="square" lIns="0" rIns="0" tIns="0" bIns="0" anchor="ctr">
            <a:spAutoFit/>
          </a:bodyPr>
          <a:lstStyle/>
          <a:p>
            <a:pPr algn="l"/>
            <a:r>
              <a:rPr sz="1350" b="1">
                <a:solidFill>
                  <a:srgbClr val="000000"/>
                </a:solidFill>
                <a:latin typeface="Arial"/>
              </a:rPr>
              <a:t>AND ONE SENTENCE: WHY THIS SITE</a:t>
            </a:r>
          </a:p>
        </p:txBody>
      </p:sp>
      <p:sp>
        <p:nvSpPr>
          <p:cNvPr id="33" name="TextBox 32"/>
          <p:cNvSpPr txBox="1"/>
          <p:nvPr/>
        </p:nvSpPr>
        <p:spPr>
          <a:xfrm>
            <a:off x="868680" y="4663440"/>
            <a:ext cx="10424160" cy="640080"/>
          </a:xfrm>
          <a:prstGeom prst="rect">
            <a:avLst/>
          </a:prstGeom>
          <a:noFill/>
        </p:spPr>
        <p:txBody>
          <a:bodyPr wrap="square" lIns="0" rIns="0" tIns="0" bIns="0" anchor="ctr">
            <a:spAutoFit/>
          </a:bodyPr>
          <a:lstStyle/>
          <a:p>
            <a:pPr algn="l">
              <a:lnSpc>
                <a:spcPct val="125000"/>
              </a:lnSpc>
            </a:pPr>
            <a:r>
              <a:rPr sz="1350">
                <a:solidFill>
                  <a:srgbClr val="000000"/>
                </a:solidFill>
                <a:latin typeface="Calibri"/>
              </a:rPr>
              <a:t>A site you can document, and a reason you chose it. The reason tells you which layers to map.</a:t>
            </a:r>
          </a:p>
        </p:txBody>
      </p:sp>
      <p:sp>
        <p:nvSpPr>
          <p:cNvPr id="34" name="Rectangle 33"/>
          <p:cNvSpPr/>
          <p:nvPr/>
        </p:nvSpPr>
        <p:spPr>
          <a:xfrm>
            <a:off x="662940" y="573786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94360" y="566928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7240" y="5669280"/>
            <a:ext cx="10607040" cy="566928"/>
          </a:xfrm>
          <a:prstGeom prst="rect">
            <a:avLst/>
          </a:prstGeom>
          <a:noFill/>
        </p:spPr>
        <p:txBody>
          <a:bodyPr wrap="square" lIns="0" rIns="0" tIns="0" bIns="0" anchor="ctr">
            <a:spAutoFit/>
          </a:bodyPr>
          <a:lstStyle/>
          <a:p>
            <a:pPr algn="ctr"/>
            <a:r>
              <a:rPr sz="1200" b="1">
                <a:solidFill>
                  <a:srgbClr val="000000"/>
                </a:solidFill>
                <a:latin typeface="Arial"/>
              </a:rPr>
              <a:t>P3d CHECKPOINT NEXT CLASS: BRING YOUR SITE'S POINT CLOUD AND AT LEAST TWO MAPPED LAYERS WITH LEGENDS.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COMBINE THE LAYERS INTO ONE READING</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The tool computes each layer. How they combine, and what that shows, is your decision.</a:t>
            </a:r>
          </a:p>
        </p:txBody>
      </p:sp>
      <p:sp>
        <p:nvSpPr>
          <p:cNvPr id="5" name="Rectangle 4"/>
          <p:cNvSpPr/>
          <p:nvPr/>
        </p:nvSpPr>
        <p:spPr>
          <a:xfrm>
            <a:off x="662940" y="1851660"/>
            <a:ext cx="260604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260604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26060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01   NORMALIZE</a:t>
            </a:r>
          </a:p>
        </p:txBody>
      </p:sp>
      <p:sp>
        <p:nvSpPr>
          <p:cNvPr id="9" name="TextBox 8"/>
          <p:cNvSpPr txBox="1"/>
          <p:nvPr/>
        </p:nvSpPr>
        <p:spPr>
          <a:xfrm>
            <a:off x="795528" y="2468880"/>
            <a:ext cx="2194560" cy="173736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Remap each layer to 0–1 so the layers can be compared. Keep the original range and units on its legend.</a:t>
            </a:r>
          </a:p>
        </p:txBody>
      </p:sp>
      <p:sp>
        <p:nvSpPr>
          <p:cNvPr id="10" name="Rectangle 9"/>
          <p:cNvSpPr/>
          <p:nvPr/>
        </p:nvSpPr>
        <p:spPr>
          <a:xfrm>
            <a:off x="3451860" y="1851660"/>
            <a:ext cx="260604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79" y="1783080"/>
            <a:ext cx="260604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83279" y="1783080"/>
            <a:ext cx="260604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11879"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02   WEIGHT</a:t>
            </a:r>
          </a:p>
        </p:txBody>
      </p:sp>
      <p:sp>
        <p:nvSpPr>
          <p:cNvPr id="14" name="TextBox 13"/>
          <p:cNvSpPr txBox="1"/>
          <p:nvPr/>
        </p:nvSpPr>
        <p:spPr>
          <a:xfrm>
            <a:off x="3584448" y="2468880"/>
            <a:ext cx="2194560" cy="173736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Decide how much each layer counts. Write the weights down.</a:t>
            </a:r>
          </a:p>
        </p:txBody>
      </p:sp>
      <p:sp>
        <p:nvSpPr>
          <p:cNvPr id="15" name="Rectangle 14"/>
          <p:cNvSpPr/>
          <p:nvPr/>
        </p:nvSpPr>
        <p:spPr>
          <a:xfrm>
            <a:off x="6240780" y="1851660"/>
            <a:ext cx="260604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783080"/>
            <a:ext cx="260604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172200" y="1783080"/>
            <a:ext cx="2606040" cy="50292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03   COMBINE</a:t>
            </a:r>
          </a:p>
        </p:txBody>
      </p:sp>
      <p:sp>
        <p:nvSpPr>
          <p:cNvPr id="19" name="TextBox 18"/>
          <p:cNvSpPr txBox="1"/>
          <p:nvPr/>
        </p:nvSpPr>
        <p:spPr>
          <a:xfrm>
            <a:off x="6373368" y="2468880"/>
            <a:ext cx="2194560" cy="173736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Add, multiply, or keep the lowest or highest value. Say which, and why.</a:t>
            </a:r>
          </a:p>
        </p:txBody>
      </p:sp>
      <p:sp>
        <p:nvSpPr>
          <p:cNvPr id="20" name="Rectangle 19"/>
          <p:cNvSpPr/>
          <p:nvPr/>
        </p:nvSpPr>
        <p:spPr>
          <a:xfrm>
            <a:off x="9029700" y="1851660"/>
            <a:ext cx="260604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961120" y="1783080"/>
            <a:ext cx="260604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61120" y="1783080"/>
            <a:ext cx="260604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8972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04   READ</a:t>
            </a:r>
          </a:p>
        </p:txBody>
      </p:sp>
      <p:sp>
        <p:nvSpPr>
          <p:cNvPr id="24" name="TextBox 23"/>
          <p:cNvSpPr txBox="1"/>
          <p:nvPr/>
        </p:nvSpPr>
        <p:spPr>
          <a:xfrm>
            <a:off x="9162288" y="2468880"/>
            <a:ext cx="2194560" cy="173736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Say what the combined view shows about the site that no single layer shows.</a:t>
            </a:r>
          </a:p>
        </p:txBody>
      </p:sp>
      <p:sp>
        <p:nvSpPr>
          <p:cNvPr id="25" name="Rectangle 24"/>
          <p:cNvSpPr/>
          <p:nvPr/>
        </p:nvSpPr>
        <p:spPr>
          <a:xfrm>
            <a:off x="662940" y="4366260"/>
            <a:ext cx="10972800" cy="6858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94360" y="4297680"/>
            <a:ext cx="10972800" cy="685800"/>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4400" y="4297680"/>
            <a:ext cx="10332720" cy="685800"/>
          </a:xfrm>
          <a:prstGeom prst="rect">
            <a:avLst/>
          </a:prstGeom>
          <a:noFill/>
        </p:spPr>
        <p:txBody>
          <a:bodyPr wrap="square" lIns="0" rIns="0" tIns="0" bIns="0" anchor="ctr">
            <a:spAutoFit/>
          </a:bodyPr>
          <a:lstStyle/>
          <a:p>
            <a:pPr algn="l"/>
            <a:r>
              <a:rPr sz="1250">
                <a:solidFill>
                  <a:srgbClr val="FFE500"/>
                </a:solidFill>
                <a:latin typeface="Courier New"/>
              </a:rPr>
              <a:t>combined = w1 × distance + w2 × height + w3 × attribute      # w1 + w2 + w3 = 1</a:t>
            </a:r>
          </a:p>
        </p:txBody>
      </p:sp>
      <p:sp>
        <p:nvSpPr>
          <p:cNvPr id="28" name="Rectangle 27"/>
          <p:cNvSpPr/>
          <p:nvPr/>
        </p:nvSpPr>
        <p:spPr>
          <a:xfrm>
            <a:off x="662940" y="532638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94360" y="5257800"/>
            <a:ext cx="1097280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7240" y="5257800"/>
            <a:ext cx="10607040" cy="566928"/>
          </a:xfrm>
          <a:prstGeom prst="rect">
            <a:avLst/>
          </a:prstGeom>
          <a:noFill/>
        </p:spPr>
        <p:txBody>
          <a:bodyPr wrap="square" lIns="0" rIns="0" tIns="0" bIns="0" anchor="ctr">
            <a:spAutoFit/>
          </a:bodyPr>
          <a:lstStyle/>
          <a:p>
            <a:pPr algn="ctr"/>
            <a:r>
              <a:rPr sz="1250" b="1">
                <a:solidFill>
                  <a:srgbClr val="000000"/>
                </a:solidFill>
                <a:latin typeface="Arial"/>
              </a:rPr>
              <a:t>SAME LOGIC AS P3c: A MEASURED VALUE, A STATED RANGE, A LEGEND. NOW THREE OF THEM.</a:t>
            </a:r>
          </a:p>
        </p:txBody>
      </p:sp>
      <p:sp>
        <p:nvSpPr>
          <p:cNvPr id="31" name="TextBox 30"/>
          <p:cNvSpPr txBox="1"/>
          <p:nvPr/>
        </p:nvSpPr>
        <p:spPr>
          <a:xfrm>
            <a:off x="594360" y="5989320"/>
            <a:ext cx="10972800" cy="320040"/>
          </a:xfrm>
          <a:prstGeom prst="rect">
            <a:avLst/>
          </a:prstGeom>
          <a:noFill/>
        </p:spPr>
        <p:txBody>
          <a:bodyPr wrap="square" lIns="0" rIns="0" tIns="0" bIns="0" anchor="t">
            <a:spAutoFit/>
          </a:bodyPr>
          <a:lstStyle/>
          <a:p>
            <a:pPr algn="l"/>
            <a:r>
              <a:rPr sz="1250">
                <a:solidFill>
                  <a:srgbClr val="6B6B6B"/>
                </a:solidFill>
                <a:latin typeface="Calibri"/>
              </a:rPr>
              <a:t>A combined view with no layers beside it cannot be checked. A colourful image with no legend is not an analysis.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THE P3d SHEET — ONE 17 × 11</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Small views of each layer beside one larger combined view. Every view has a legend.</a:t>
            </a:r>
          </a:p>
        </p:txBody>
      </p:sp>
      <p:sp>
        <p:nvSpPr>
          <p:cNvPr id="5" name="Rectangle 4"/>
          <p:cNvSpPr/>
          <p:nvPr/>
        </p:nvSpPr>
        <p:spPr>
          <a:xfrm>
            <a:off x="662940" y="1851660"/>
            <a:ext cx="6400800" cy="414169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6400800" cy="4141694"/>
          </a:xfrm>
          <a:prstGeom prst="rect">
            <a:avLst/>
          </a:prstGeom>
          <a:solidFill>
            <a:srgbClr val="FFFFFF"/>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31520" y="1920240"/>
            <a:ext cx="2011680" cy="896112"/>
          </a:xfrm>
          <a:prstGeom prst="rect">
            <a:avLst/>
          </a:prstGeom>
          <a:solidFill>
            <a:srgbClr val="F4F4EE"/>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822960" y="2011680"/>
            <a:ext cx="411480" cy="2743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48256"/>
            <a:ext cx="411480" cy="274320"/>
          </a:xfrm>
          <a:prstGeom prst="rect">
            <a:avLst/>
          </a:prstGeom>
          <a:noFill/>
        </p:spPr>
        <p:txBody>
          <a:bodyPr wrap="square" lIns="0" rIns="0" tIns="0" bIns="0" anchor="t">
            <a:spAutoFit/>
          </a:bodyPr>
          <a:lstStyle/>
          <a:p>
            <a:pPr algn="ctr"/>
            <a:r>
              <a:rPr sz="950" b="1">
                <a:solidFill>
                  <a:srgbClr val="000000"/>
                </a:solidFill>
                <a:latin typeface="Arial"/>
              </a:rPr>
              <a:t>01</a:t>
            </a:r>
          </a:p>
        </p:txBody>
      </p:sp>
      <p:sp>
        <p:nvSpPr>
          <p:cNvPr id="10" name="TextBox 9"/>
          <p:cNvSpPr txBox="1"/>
          <p:nvPr/>
        </p:nvSpPr>
        <p:spPr>
          <a:xfrm>
            <a:off x="1307592" y="1984248"/>
            <a:ext cx="1371600" cy="274320"/>
          </a:xfrm>
          <a:prstGeom prst="rect">
            <a:avLst/>
          </a:prstGeom>
          <a:noFill/>
        </p:spPr>
        <p:txBody>
          <a:bodyPr wrap="square" lIns="0" rIns="0" tIns="0" bIns="0" anchor="t">
            <a:spAutoFit/>
          </a:bodyPr>
          <a:lstStyle/>
          <a:p>
            <a:pPr algn="l"/>
            <a:r>
              <a:rPr sz="1000" b="1">
                <a:solidFill>
                  <a:srgbClr val="000000"/>
                </a:solidFill>
                <a:latin typeface="Arial"/>
              </a:rPr>
              <a:t>LAYER A</a:t>
            </a:r>
          </a:p>
        </p:txBody>
      </p:sp>
      <p:sp>
        <p:nvSpPr>
          <p:cNvPr id="11" name="Rectangle 10"/>
          <p:cNvSpPr/>
          <p:nvPr/>
        </p:nvSpPr>
        <p:spPr>
          <a:xfrm>
            <a:off x="868680" y="2542032"/>
            <a:ext cx="193040" cy="109728"/>
          </a:xfrm>
          <a:prstGeom prst="rect">
            <a:avLst/>
          </a:prstGeom>
          <a:solidFill>
            <a:srgbClr val="FFFDF7"/>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061719" y="2542032"/>
            <a:ext cx="193040" cy="109728"/>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254760" y="2542032"/>
            <a:ext cx="193040" cy="109728"/>
          </a:xfrm>
          <a:prstGeom prst="rect">
            <a:avLst/>
          </a:prstGeom>
          <a:solidFill>
            <a:srgbClr val="CFCFC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447800" y="2542032"/>
            <a:ext cx="193040" cy="109728"/>
          </a:xfrm>
          <a:prstGeom prst="rect">
            <a:avLst/>
          </a:prstGeom>
          <a:solidFill>
            <a:srgbClr val="B4B4A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0840" y="2542032"/>
            <a:ext cx="193040" cy="109728"/>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33880" y="2542032"/>
            <a:ext cx="193040" cy="109728"/>
          </a:xfrm>
          <a:prstGeom prst="rect">
            <a:avLst/>
          </a:prstGeom>
          <a:solidFill>
            <a:srgbClr val="75757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026920" y="2542032"/>
            <a:ext cx="193040" cy="109728"/>
          </a:xfrm>
          <a:prstGeom prst="rect">
            <a:avLst/>
          </a:prstGeom>
          <a:solidFill>
            <a:srgbClr val="52525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2219960" y="2542032"/>
            <a:ext cx="193040" cy="109728"/>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2413000" y="2542032"/>
            <a:ext cx="193040" cy="109728"/>
          </a:xfrm>
          <a:prstGeom prst="rect">
            <a:avLst/>
          </a:prstGeom>
          <a:solidFill>
            <a:srgbClr val="1C1C1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31520" y="2907792"/>
            <a:ext cx="2011680" cy="896112"/>
          </a:xfrm>
          <a:prstGeom prst="rect">
            <a:avLst/>
          </a:prstGeom>
          <a:solidFill>
            <a:srgbClr val="F4F4EE"/>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22960" y="2999232"/>
            <a:ext cx="411480" cy="2743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60" y="3035808"/>
            <a:ext cx="411480" cy="274320"/>
          </a:xfrm>
          <a:prstGeom prst="rect">
            <a:avLst/>
          </a:prstGeom>
          <a:noFill/>
        </p:spPr>
        <p:txBody>
          <a:bodyPr wrap="square" lIns="0" rIns="0" tIns="0" bIns="0" anchor="t">
            <a:spAutoFit/>
          </a:bodyPr>
          <a:lstStyle/>
          <a:p>
            <a:pPr algn="ctr"/>
            <a:r>
              <a:rPr sz="950" b="1">
                <a:solidFill>
                  <a:srgbClr val="000000"/>
                </a:solidFill>
                <a:latin typeface="Arial"/>
              </a:rPr>
              <a:t>01</a:t>
            </a:r>
          </a:p>
        </p:txBody>
      </p:sp>
      <p:sp>
        <p:nvSpPr>
          <p:cNvPr id="23" name="TextBox 22"/>
          <p:cNvSpPr txBox="1"/>
          <p:nvPr/>
        </p:nvSpPr>
        <p:spPr>
          <a:xfrm>
            <a:off x="1307592" y="2971800"/>
            <a:ext cx="1371600" cy="274320"/>
          </a:xfrm>
          <a:prstGeom prst="rect">
            <a:avLst/>
          </a:prstGeom>
          <a:noFill/>
        </p:spPr>
        <p:txBody>
          <a:bodyPr wrap="square" lIns="0" rIns="0" tIns="0" bIns="0" anchor="t">
            <a:spAutoFit/>
          </a:bodyPr>
          <a:lstStyle/>
          <a:p>
            <a:pPr algn="l"/>
            <a:r>
              <a:rPr sz="1000" b="1">
                <a:solidFill>
                  <a:srgbClr val="000000"/>
                </a:solidFill>
                <a:latin typeface="Arial"/>
              </a:rPr>
              <a:t>LAYER B</a:t>
            </a:r>
          </a:p>
        </p:txBody>
      </p:sp>
      <p:sp>
        <p:nvSpPr>
          <p:cNvPr id="24" name="Rectangle 23"/>
          <p:cNvSpPr/>
          <p:nvPr/>
        </p:nvSpPr>
        <p:spPr>
          <a:xfrm>
            <a:off x="868680" y="3529584"/>
            <a:ext cx="193040" cy="109728"/>
          </a:xfrm>
          <a:prstGeom prst="rect">
            <a:avLst/>
          </a:prstGeom>
          <a:solidFill>
            <a:srgbClr val="FFFDF7"/>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061719" y="3529584"/>
            <a:ext cx="193040" cy="109728"/>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54760" y="3529584"/>
            <a:ext cx="193040" cy="109728"/>
          </a:xfrm>
          <a:prstGeom prst="rect">
            <a:avLst/>
          </a:prstGeom>
          <a:solidFill>
            <a:srgbClr val="CFCFC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47800" y="3529584"/>
            <a:ext cx="193040" cy="109728"/>
          </a:xfrm>
          <a:prstGeom prst="rect">
            <a:avLst/>
          </a:prstGeom>
          <a:solidFill>
            <a:srgbClr val="B4B4A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640840" y="3529584"/>
            <a:ext cx="193040" cy="109728"/>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833880" y="3529584"/>
            <a:ext cx="193040" cy="109728"/>
          </a:xfrm>
          <a:prstGeom prst="rect">
            <a:avLst/>
          </a:prstGeom>
          <a:solidFill>
            <a:srgbClr val="75757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026920" y="3529584"/>
            <a:ext cx="193040" cy="109728"/>
          </a:xfrm>
          <a:prstGeom prst="rect">
            <a:avLst/>
          </a:prstGeom>
          <a:solidFill>
            <a:srgbClr val="52525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219960" y="3529584"/>
            <a:ext cx="193040" cy="109728"/>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413000" y="3529584"/>
            <a:ext cx="193040" cy="109728"/>
          </a:xfrm>
          <a:prstGeom prst="rect">
            <a:avLst/>
          </a:prstGeom>
          <a:solidFill>
            <a:srgbClr val="1C1C1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3895344"/>
            <a:ext cx="2011680" cy="896112"/>
          </a:xfrm>
          <a:prstGeom prst="rect">
            <a:avLst/>
          </a:prstGeom>
          <a:solidFill>
            <a:srgbClr val="F4F4EE"/>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22960" y="3986783"/>
            <a:ext cx="411480" cy="2743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2960" y="4023359"/>
            <a:ext cx="411480" cy="274320"/>
          </a:xfrm>
          <a:prstGeom prst="rect">
            <a:avLst/>
          </a:prstGeom>
          <a:noFill/>
        </p:spPr>
        <p:txBody>
          <a:bodyPr wrap="square" lIns="0" rIns="0" tIns="0" bIns="0" anchor="t">
            <a:spAutoFit/>
          </a:bodyPr>
          <a:lstStyle/>
          <a:p>
            <a:pPr algn="ctr"/>
            <a:r>
              <a:rPr sz="950" b="1">
                <a:solidFill>
                  <a:srgbClr val="000000"/>
                </a:solidFill>
                <a:latin typeface="Arial"/>
              </a:rPr>
              <a:t>01</a:t>
            </a:r>
          </a:p>
        </p:txBody>
      </p:sp>
      <p:sp>
        <p:nvSpPr>
          <p:cNvPr id="36" name="TextBox 35"/>
          <p:cNvSpPr txBox="1"/>
          <p:nvPr/>
        </p:nvSpPr>
        <p:spPr>
          <a:xfrm>
            <a:off x="1307592" y="3959352"/>
            <a:ext cx="1371600" cy="274320"/>
          </a:xfrm>
          <a:prstGeom prst="rect">
            <a:avLst/>
          </a:prstGeom>
          <a:noFill/>
        </p:spPr>
        <p:txBody>
          <a:bodyPr wrap="square" lIns="0" rIns="0" tIns="0" bIns="0" anchor="t">
            <a:spAutoFit/>
          </a:bodyPr>
          <a:lstStyle/>
          <a:p>
            <a:pPr algn="l"/>
            <a:r>
              <a:rPr sz="1000" b="1">
                <a:solidFill>
                  <a:srgbClr val="000000"/>
                </a:solidFill>
                <a:latin typeface="Arial"/>
              </a:rPr>
              <a:t>LAYER C</a:t>
            </a:r>
          </a:p>
        </p:txBody>
      </p:sp>
      <p:sp>
        <p:nvSpPr>
          <p:cNvPr id="37" name="Rectangle 36"/>
          <p:cNvSpPr/>
          <p:nvPr/>
        </p:nvSpPr>
        <p:spPr>
          <a:xfrm>
            <a:off x="868680" y="4517136"/>
            <a:ext cx="193040" cy="109728"/>
          </a:xfrm>
          <a:prstGeom prst="rect">
            <a:avLst/>
          </a:prstGeom>
          <a:solidFill>
            <a:srgbClr val="FFFDF7"/>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61719" y="4517136"/>
            <a:ext cx="193040" cy="109728"/>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54760" y="4517136"/>
            <a:ext cx="193040" cy="109728"/>
          </a:xfrm>
          <a:prstGeom prst="rect">
            <a:avLst/>
          </a:prstGeom>
          <a:solidFill>
            <a:srgbClr val="CFCFC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447800" y="4517136"/>
            <a:ext cx="193040" cy="109728"/>
          </a:xfrm>
          <a:prstGeom prst="rect">
            <a:avLst/>
          </a:prstGeom>
          <a:solidFill>
            <a:srgbClr val="B4B4A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640840" y="4517136"/>
            <a:ext cx="193040" cy="109728"/>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833880" y="4517136"/>
            <a:ext cx="193040" cy="109728"/>
          </a:xfrm>
          <a:prstGeom prst="rect">
            <a:avLst/>
          </a:prstGeom>
          <a:solidFill>
            <a:srgbClr val="75757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026920" y="4517136"/>
            <a:ext cx="193040" cy="109728"/>
          </a:xfrm>
          <a:prstGeom prst="rect">
            <a:avLst/>
          </a:prstGeom>
          <a:solidFill>
            <a:srgbClr val="52525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2219960" y="4517136"/>
            <a:ext cx="193040" cy="109728"/>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2413000" y="4517136"/>
            <a:ext cx="193040" cy="109728"/>
          </a:xfrm>
          <a:prstGeom prst="rect">
            <a:avLst/>
          </a:prstGeom>
          <a:solidFill>
            <a:srgbClr val="1C1C1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2880360" y="1920240"/>
            <a:ext cx="3977639" cy="2871216"/>
          </a:xfrm>
          <a:prstGeom prst="rect">
            <a:avLst/>
          </a:prstGeom>
          <a:solidFill>
            <a:srgbClr val="F4F4EE"/>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2990088" y="2029968"/>
            <a:ext cx="411480" cy="2743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2990088" y="2066544"/>
            <a:ext cx="411480" cy="274320"/>
          </a:xfrm>
          <a:prstGeom prst="rect">
            <a:avLst/>
          </a:prstGeom>
          <a:noFill/>
        </p:spPr>
        <p:txBody>
          <a:bodyPr wrap="square" lIns="0" rIns="0" tIns="0" bIns="0" anchor="t">
            <a:spAutoFit/>
          </a:bodyPr>
          <a:lstStyle/>
          <a:p>
            <a:pPr algn="ctr"/>
            <a:r>
              <a:rPr sz="950" b="1">
                <a:solidFill>
                  <a:srgbClr val="000000"/>
                </a:solidFill>
                <a:latin typeface="Arial"/>
              </a:rPr>
              <a:t>02</a:t>
            </a:r>
          </a:p>
        </p:txBody>
      </p:sp>
      <p:sp>
        <p:nvSpPr>
          <p:cNvPr id="49" name="TextBox 48"/>
          <p:cNvSpPr txBox="1"/>
          <p:nvPr/>
        </p:nvSpPr>
        <p:spPr>
          <a:xfrm>
            <a:off x="3520439" y="1993392"/>
            <a:ext cx="3200400" cy="274320"/>
          </a:xfrm>
          <a:prstGeom prst="rect">
            <a:avLst/>
          </a:prstGeom>
          <a:noFill/>
        </p:spPr>
        <p:txBody>
          <a:bodyPr wrap="square" lIns="0" rIns="0" tIns="0" bIns="0" anchor="t">
            <a:spAutoFit/>
          </a:bodyPr>
          <a:lstStyle/>
          <a:p>
            <a:pPr algn="l"/>
            <a:r>
              <a:rPr sz="1100" b="1">
                <a:solidFill>
                  <a:srgbClr val="000000"/>
                </a:solidFill>
                <a:latin typeface="Arial"/>
              </a:rPr>
              <a:t>COMBINED VIEW — LARGE</a:t>
            </a:r>
          </a:p>
        </p:txBody>
      </p:sp>
      <p:sp>
        <p:nvSpPr>
          <p:cNvPr id="50" name="TextBox 49"/>
          <p:cNvSpPr txBox="1"/>
          <p:nvPr/>
        </p:nvSpPr>
        <p:spPr>
          <a:xfrm>
            <a:off x="3017520" y="4133088"/>
            <a:ext cx="3657600" cy="228600"/>
          </a:xfrm>
          <a:prstGeom prst="rect">
            <a:avLst/>
          </a:prstGeom>
          <a:noFill/>
        </p:spPr>
        <p:txBody>
          <a:bodyPr wrap="square" lIns="0" rIns="0" tIns="0" bIns="0" anchor="t">
            <a:spAutoFit/>
          </a:bodyPr>
          <a:lstStyle/>
          <a:p>
            <a:pPr algn="l"/>
            <a:r>
              <a:rPr sz="900" b="1">
                <a:solidFill>
                  <a:srgbClr val="6B6B6B"/>
                </a:solidFill>
                <a:latin typeface="Arial"/>
              </a:rPr>
              <a:t>N ↑     SCALE BAR     LEGEND + UNITS</a:t>
            </a:r>
          </a:p>
        </p:txBody>
      </p:sp>
      <p:sp>
        <p:nvSpPr>
          <p:cNvPr id="51" name="Rectangle 50"/>
          <p:cNvSpPr/>
          <p:nvPr/>
        </p:nvSpPr>
        <p:spPr>
          <a:xfrm>
            <a:off x="3017520" y="4425696"/>
            <a:ext cx="264160" cy="164592"/>
          </a:xfrm>
          <a:prstGeom prst="rect">
            <a:avLst/>
          </a:prstGeom>
          <a:solidFill>
            <a:srgbClr val="FFFDF7"/>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3281679" y="4425696"/>
            <a:ext cx="264160" cy="164592"/>
          </a:xfrm>
          <a:prstGeom prst="rect">
            <a:avLst/>
          </a:prstGeom>
          <a:solidFill>
            <a:srgbClr val="E8E8E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3545840" y="4425696"/>
            <a:ext cx="264160" cy="164592"/>
          </a:xfrm>
          <a:prstGeom prst="rect">
            <a:avLst/>
          </a:prstGeom>
          <a:solidFill>
            <a:srgbClr val="CFCFC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3809999" y="4425696"/>
            <a:ext cx="264160" cy="164592"/>
          </a:xfrm>
          <a:prstGeom prst="rect">
            <a:avLst/>
          </a:prstGeom>
          <a:solidFill>
            <a:srgbClr val="B4B4A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4074160" y="4425696"/>
            <a:ext cx="264160" cy="164592"/>
          </a:xfrm>
          <a:prstGeom prst="rect">
            <a:avLst/>
          </a:prstGeom>
          <a:solidFill>
            <a:srgbClr val="96969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4338320" y="4425696"/>
            <a:ext cx="264160" cy="164592"/>
          </a:xfrm>
          <a:prstGeom prst="rect">
            <a:avLst/>
          </a:prstGeom>
          <a:solidFill>
            <a:srgbClr val="75757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4602480" y="4425696"/>
            <a:ext cx="264160" cy="164592"/>
          </a:xfrm>
          <a:prstGeom prst="rect">
            <a:avLst/>
          </a:prstGeom>
          <a:solidFill>
            <a:srgbClr val="52525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4866640" y="4425696"/>
            <a:ext cx="264160" cy="164592"/>
          </a:xfrm>
          <a:prstGeom prst="rect">
            <a:avLst/>
          </a:prstGeom>
          <a:solidFill>
            <a:srgbClr val="32323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130800" y="4425696"/>
            <a:ext cx="264160" cy="164592"/>
          </a:xfrm>
          <a:prstGeom prst="rect">
            <a:avLst/>
          </a:prstGeom>
          <a:solidFill>
            <a:srgbClr val="1C1C1C"/>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577840" y="4462272"/>
            <a:ext cx="1097280" cy="822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126479" y="4462272"/>
            <a:ext cx="548640" cy="82296"/>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731520" y="4892040"/>
            <a:ext cx="6126480" cy="895574"/>
          </a:xfrm>
          <a:prstGeom prst="rect">
            <a:avLst/>
          </a:prstGeom>
          <a:solidFill>
            <a:srgbClr val="F4F4EE"/>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841248" y="5001768"/>
            <a:ext cx="411480" cy="2743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41248" y="5038344"/>
            <a:ext cx="411480" cy="274320"/>
          </a:xfrm>
          <a:prstGeom prst="rect">
            <a:avLst/>
          </a:prstGeom>
          <a:noFill/>
        </p:spPr>
        <p:txBody>
          <a:bodyPr wrap="square" lIns="0" rIns="0" tIns="0" bIns="0" anchor="t">
            <a:spAutoFit/>
          </a:bodyPr>
          <a:lstStyle/>
          <a:p>
            <a:pPr algn="ctr"/>
            <a:r>
              <a:rPr sz="950" b="1">
                <a:solidFill>
                  <a:srgbClr val="000000"/>
                </a:solidFill>
                <a:latin typeface="Arial"/>
              </a:rPr>
              <a:t>03</a:t>
            </a:r>
          </a:p>
        </p:txBody>
      </p:sp>
      <p:sp>
        <p:nvSpPr>
          <p:cNvPr id="65" name="TextBox 64"/>
          <p:cNvSpPr txBox="1"/>
          <p:nvPr/>
        </p:nvSpPr>
        <p:spPr>
          <a:xfrm>
            <a:off x="1371600" y="4965192"/>
            <a:ext cx="5303520" cy="548640"/>
          </a:xfrm>
          <a:prstGeom prst="rect">
            <a:avLst/>
          </a:prstGeom>
          <a:noFill/>
        </p:spPr>
        <p:txBody>
          <a:bodyPr wrap="square" lIns="0" rIns="0" tIns="0" bIns="0" anchor="t">
            <a:spAutoFit/>
          </a:bodyPr>
          <a:lstStyle/>
          <a:p>
            <a:pPr algn="l"/>
            <a:r>
              <a:rPr sz="1050" b="1">
                <a:solidFill>
                  <a:srgbClr val="000000"/>
                </a:solidFill>
                <a:latin typeface="Arial"/>
              </a:rPr>
              <a:t>INTERPRETATION  ·  SITE RECORD  ·  TOOL, INPUTS, RANGES</a:t>
            </a:r>
          </a:p>
        </p:txBody>
      </p:sp>
      <p:sp>
        <p:nvSpPr>
          <p:cNvPr id="66" name="Rectangle 65"/>
          <p:cNvSpPr/>
          <p:nvPr/>
        </p:nvSpPr>
        <p:spPr>
          <a:xfrm>
            <a:off x="7338060" y="1851660"/>
            <a:ext cx="4297680" cy="3383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7269480" y="1783080"/>
            <a:ext cx="4297680" cy="3383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7269480" y="1783080"/>
            <a:ext cx="4297680" cy="502920"/>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498079" y="1783080"/>
            <a:ext cx="3840480" cy="502920"/>
          </a:xfrm>
          <a:prstGeom prst="rect">
            <a:avLst/>
          </a:prstGeom>
          <a:noFill/>
        </p:spPr>
        <p:txBody>
          <a:bodyPr wrap="square" lIns="0" rIns="0" tIns="0" bIns="0" anchor="ctr">
            <a:spAutoFit/>
          </a:bodyPr>
          <a:lstStyle/>
          <a:p>
            <a:pPr algn="l"/>
            <a:r>
              <a:rPr sz="1350" b="1">
                <a:solidFill>
                  <a:srgbClr val="000000"/>
                </a:solidFill>
                <a:latin typeface="Arial"/>
              </a:rPr>
              <a:t> </a:t>
            </a:r>
          </a:p>
        </p:txBody>
      </p:sp>
      <p:sp>
        <p:nvSpPr>
          <p:cNvPr id="70" name="TextBox 69"/>
          <p:cNvSpPr txBox="1"/>
          <p:nvPr/>
        </p:nvSpPr>
        <p:spPr>
          <a:xfrm>
            <a:off x="7498079" y="1783080"/>
            <a:ext cx="3840480" cy="502920"/>
          </a:xfrm>
          <a:prstGeom prst="rect">
            <a:avLst/>
          </a:prstGeom>
          <a:noFill/>
        </p:spPr>
        <p:txBody>
          <a:bodyPr wrap="square" lIns="0" rIns="0" tIns="0" bIns="0" anchor="ctr">
            <a:spAutoFit/>
          </a:bodyPr>
          <a:lstStyle/>
          <a:p>
            <a:pPr algn="l"/>
            <a:r>
              <a:rPr sz="1350" b="1">
                <a:solidFill>
                  <a:srgbClr val="FFFDF7"/>
                </a:solidFill>
                <a:latin typeface="Arial"/>
              </a:rPr>
              <a:t>EACH ZONE MUST SAY</a:t>
            </a:r>
          </a:p>
        </p:txBody>
      </p:sp>
      <p:sp>
        <p:nvSpPr>
          <p:cNvPr id="71" name="TextBox 70"/>
          <p:cNvSpPr txBox="1"/>
          <p:nvPr/>
        </p:nvSpPr>
        <p:spPr>
          <a:xfrm>
            <a:off x="7498079" y="2468880"/>
            <a:ext cx="3840480" cy="2606040"/>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01  Each layer: what it measures, its legend and units.</a:t>
            </a:r>
          </a:p>
          <a:p>
            <a:pPr algn="l">
              <a:lnSpc>
                <a:spcPct val="120000"/>
              </a:lnSpc>
            </a:pPr>
            <a:r>
              <a:rPr sz="800">
                <a:solidFill>
                  <a:srgbClr val="000000"/>
                </a:solidFill>
                <a:latin typeface="Calibri"/>
              </a:rPr>
              <a:t> </a:t>
            </a:r>
          </a:p>
          <a:p>
            <a:pPr algn="l">
              <a:lnSpc>
                <a:spcPct val="120000"/>
              </a:lnSpc>
            </a:pPr>
            <a:r>
              <a:rPr sz="1350">
                <a:solidFill>
                  <a:srgbClr val="000000"/>
                </a:solidFill>
                <a:latin typeface="Calibri"/>
              </a:rPr>
              <a:t>02  The combination: which layers, which weights, which operation.</a:t>
            </a:r>
          </a:p>
          <a:p>
            <a:pPr algn="l">
              <a:lnSpc>
                <a:spcPct val="120000"/>
              </a:lnSpc>
            </a:pPr>
            <a:r>
              <a:rPr sz="800">
                <a:solidFill>
                  <a:srgbClr val="000000"/>
                </a:solidFill>
                <a:latin typeface="Calibri"/>
              </a:rPr>
              <a:t> </a:t>
            </a:r>
          </a:p>
          <a:p>
            <a:pPr algn="l">
              <a:lnSpc>
                <a:spcPct val="120000"/>
              </a:lnSpc>
            </a:pPr>
            <a:r>
              <a:rPr sz="1350">
                <a:solidFill>
                  <a:srgbClr val="000000"/>
                </a:solidFill>
                <a:latin typeface="Calibri"/>
              </a:rPr>
              <a:t>03  What the combined view shows about the site — plus source, units, scale, north, and the tool you used.</a:t>
            </a:r>
          </a:p>
        </p:txBody>
      </p:sp>
      <p:sp>
        <p:nvSpPr>
          <p:cNvPr id="72" name="Rectangle 71"/>
          <p:cNvSpPr/>
          <p:nvPr/>
        </p:nvSpPr>
        <p:spPr>
          <a:xfrm>
            <a:off x="7338060" y="5417820"/>
            <a:ext cx="4297680" cy="5760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7269480" y="5349240"/>
            <a:ext cx="4297680" cy="5760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7452360" y="5349240"/>
            <a:ext cx="3931920" cy="576072"/>
          </a:xfrm>
          <a:prstGeom prst="rect">
            <a:avLst/>
          </a:prstGeom>
          <a:noFill/>
        </p:spPr>
        <p:txBody>
          <a:bodyPr wrap="square" lIns="0" rIns="0" tIns="0" bIns="0" anchor="ctr">
            <a:spAutoFit/>
          </a:bodyPr>
          <a:lstStyle/>
          <a:p>
            <a:pPr algn="ctr"/>
            <a:r>
              <a:rPr sz="1250" b="1">
                <a:solidFill>
                  <a:srgbClr val="000000"/>
                </a:solidFill>
                <a:latin typeface="Arial"/>
              </a:rPr>
              <a:t>SAME SCALE AND NORTH IN EVERY 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662940" y="635508"/>
            <a:ext cx="2194560" cy="38404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94360" y="566928"/>
            <a:ext cx="2194560" cy="38404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658368"/>
            <a:ext cx="2194560" cy="274320"/>
          </a:xfrm>
          <a:prstGeom prst="rect">
            <a:avLst/>
          </a:prstGeom>
          <a:noFill/>
        </p:spPr>
        <p:txBody>
          <a:bodyPr wrap="square" lIns="0" rIns="0" tIns="0" bIns="0" anchor="t">
            <a:spAutoFit/>
          </a:bodyPr>
          <a:lstStyle/>
          <a:p>
            <a:pPr algn="ctr"/>
            <a:r>
              <a:rPr sz="1100" b="1">
                <a:solidFill>
                  <a:srgbClr val="000000"/>
                </a:solidFill>
                <a:latin typeface="Arial"/>
              </a:rPr>
              <a:t>ISSUED TODAY</a:t>
            </a:r>
          </a:p>
        </p:txBody>
      </p:sp>
      <p:sp>
        <p:nvSpPr>
          <p:cNvPr id="5" name="TextBox 4"/>
          <p:cNvSpPr txBox="1"/>
          <p:nvPr/>
        </p:nvSpPr>
        <p:spPr>
          <a:xfrm>
            <a:off x="594360" y="1152144"/>
            <a:ext cx="10972800" cy="566928"/>
          </a:xfrm>
          <a:prstGeom prst="rect">
            <a:avLst/>
          </a:prstGeom>
          <a:noFill/>
        </p:spPr>
        <p:txBody>
          <a:bodyPr wrap="square" lIns="0" rIns="0" tIns="0" bIns="0" anchor="t">
            <a:spAutoFit/>
          </a:bodyPr>
          <a:lstStyle/>
          <a:p>
            <a:pPr algn="l"/>
            <a:r>
              <a:rPr sz="3200" b="1">
                <a:solidFill>
                  <a:srgbClr val="FFFDF7"/>
                </a:solidFill>
                <a:latin typeface="Arial"/>
              </a:rPr>
              <a:t>P3d — ATTRACTOR: LAYERED SITE ANALYSIS</a:t>
            </a:r>
          </a:p>
        </p:txBody>
      </p:sp>
      <p:sp>
        <p:nvSpPr>
          <p:cNvPr id="6" name="Rectangle 5"/>
          <p:cNvSpPr/>
          <p:nvPr/>
        </p:nvSpPr>
        <p:spPr>
          <a:xfrm>
            <a:off x="594360" y="1810512"/>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9384"/>
            <a:ext cx="10972800" cy="329184"/>
          </a:xfrm>
          <a:prstGeom prst="rect">
            <a:avLst/>
          </a:prstGeom>
          <a:noFill/>
        </p:spPr>
        <p:txBody>
          <a:bodyPr wrap="square" lIns="0" rIns="0" tIns="0" bIns="0" anchor="t">
            <a:spAutoFit/>
          </a:bodyPr>
          <a:lstStyle/>
          <a:p>
            <a:pPr algn="l"/>
            <a:r>
              <a:rPr sz="1300" b="1">
                <a:solidFill>
                  <a:srgbClr val="FFE500"/>
                </a:solidFill>
                <a:latin typeface="Arial"/>
              </a:rPr>
              <a:t>DUE WEEK 11 — Nov 3   /   7%</a:t>
            </a:r>
          </a:p>
        </p:txBody>
      </p:sp>
      <p:sp>
        <p:nvSpPr>
          <p:cNvPr id="8" name="TextBox 7"/>
          <p:cNvSpPr txBox="1"/>
          <p:nvPr/>
        </p:nvSpPr>
        <p:spPr>
          <a:xfrm>
            <a:off x="594360" y="2377440"/>
            <a:ext cx="10607040" cy="914400"/>
          </a:xfrm>
          <a:prstGeom prst="rect">
            <a:avLst/>
          </a:prstGeom>
          <a:noFill/>
        </p:spPr>
        <p:txBody>
          <a:bodyPr wrap="square" lIns="0" rIns="0" tIns="0" bIns="0" anchor="t">
            <a:spAutoFit/>
          </a:bodyPr>
          <a:lstStyle/>
          <a:p>
            <a:pPr algn="l">
              <a:lnSpc>
                <a:spcPct val="130000"/>
              </a:lnSpc>
            </a:pPr>
            <a:r>
              <a:rPr sz="1500">
                <a:solidFill>
                  <a:srgbClr val="FFFDF7"/>
                </a:solidFill>
                <a:latin typeface="Calibri"/>
              </a:rPr>
              <a:t>Pick a site you can document and map its point cloud in at least three layers with attractor logic. Show each layer small, with its legend, beside one larger combined view, and say what the combination shows.</a:t>
            </a:r>
          </a:p>
        </p:txBody>
      </p:sp>
      <p:sp>
        <p:nvSpPr>
          <p:cNvPr id="9" name="Rectangle 8"/>
          <p:cNvSpPr/>
          <p:nvPr/>
        </p:nvSpPr>
        <p:spPr>
          <a:xfrm>
            <a:off x="662940"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94360" y="3611880"/>
            <a:ext cx="3517391" cy="41148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94360"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LAYERS</a:t>
            </a:r>
          </a:p>
        </p:txBody>
      </p:sp>
      <p:sp>
        <p:nvSpPr>
          <p:cNvPr id="12" name="Rectangle 11"/>
          <p:cNvSpPr/>
          <p:nvPr/>
        </p:nvSpPr>
        <p:spPr>
          <a:xfrm>
            <a:off x="662940"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94360"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0392" y="4279392"/>
            <a:ext cx="3005327" cy="320040"/>
          </a:xfrm>
          <a:prstGeom prst="rect">
            <a:avLst/>
          </a:prstGeom>
          <a:noFill/>
        </p:spPr>
        <p:txBody>
          <a:bodyPr wrap="square" lIns="0" rIns="0" tIns="0" bIns="0" anchor="t">
            <a:spAutoFit/>
          </a:bodyPr>
          <a:lstStyle/>
          <a:p>
            <a:pPr algn="l"/>
            <a:r>
              <a:rPr sz="1400" b="1">
                <a:solidFill>
                  <a:srgbClr val="000000"/>
                </a:solidFill>
                <a:latin typeface="Arial"/>
              </a:rPr>
              <a:t>THREE AT LEAST</a:t>
            </a:r>
          </a:p>
        </p:txBody>
      </p:sp>
      <p:sp>
        <p:nvSpPr>
          <p:cNvPr id="15" name="TextBox 14"/>
          <p:cNvSpPr txBox="1"/>
          <p:nvPr/>
        </p:nvSpPr>
        <p:spPr>
          <a:xfrm>
            <a:off x="850392"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Distance to points or curves, height bands, a recorded attribute.</a:t>
            </a:r>
          </a:p>
        </p:txBody>
      </p:sp>
      <p:sp>
        <p:nvSpPr>
          <p:cNvPr id="16" name="Rectangle 15"/>
          <p:cNvSpPr/>
          <p:nvPr/>
        </p:nvSpPr>
        <p:spPr>
          <a:xfrm>
            <a:off x="4390644"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22064" y="3611880"/>
            <a:ext cx="3517391" cy="41148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322064"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SHEET</a:t>
            </a:r>
          </a:p>
        </p:txBody>
      </p:sp>
      <p:sp>
        <p:nvSpPr>
          <p:cNvPr id="19" name="Rectangle 18"/>
          <p:cNvSpPr/>
          <p:nvPr/>
        </p:nvSpPr>
        <p:spPr>
          <a:xfrm>
            <a:off x="4390644"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22064"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8096" y="4279392"/>
            <a:ext cx="3005327" cy="320040"/>
          </a:xfrm>
          <a:prstGeom prst="rect">
            <a:avLst/>
          </a:prstGeom>
          <a:noFill/>
        </p:spPr>
        <p:txBody>
          <a:bodyPr wrap="square" lIns="0" rIns="0" tIns="0" bIns="0" anchor="t">
            <a:spAutoFit/>
          </a:bodyPr>
          <a:lstStyle/>
          <a:p>
            <a:pPr algn="l"/>
            <a:r>
              <a:rPr sz="1400" b="1">
                <a:solidFill>
                  <a:srgbClr val="000000"/>
                </a:solidFill>
                <a:latin typeface="Arial"/>
              </a:rPr>
              <a:t>ONE 17 × 11</a:t>
            </a:r>
          </a:p>
        </p:txBody>
      </p:sp>
      <p:sp>
        <p:nvSpPr>
          <p:cNvPr id="22" name="TextBox 21"/>
          <p:cNvSpPr txBox="1"/>
          <p:nvPr/>
        </p:nvSpPr>
        <p:spPr>
          <a:xfrm>
            <a:off x="4578096"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Small views of each layer beside one larger combined view.</a:t>
            </a:r>
          </a:p>
        </p:txBody>
      </p:sp>
      <p:sp>
        <p:nvSpPr>
          <p:cNvPr id="23" name="Rectangle 22"/>
          <p:cNvSpPr/>
          <p:nvPr/>
        </p:nvSpPr>
        <p:spPr>
          <a:xfrm>
            <a:off x="8118347" y="3680460"/>
            <a:ext cx="3517391" cy="4114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49767" y="3611880"/>
            <a:ext cx="3517391" cy="41148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9767" y="3717036"/>
            <a:ext cx="3517391" cy="274320"/>
          </a:xfrm>
          <a:prstGeom prst="rect">
            <a:avLst/>
          </a:prstGeom>
          <a:noFill/>
        </p:spPr>
        <p:txBody>
          <a:bodyPr wrap="square" lIns="0" rIns="0" tIns="0" bIns="0" anchor="t">
            <a:spAutoFit/>
          </a:bodyPr>
          <a:lstStyle/>
          <a:p>
            <a:pPr algn="ctr"/>
            <a:r>
              <a:rPr sz="1100" b="1">
                <a:solidFill>
                  <a:srgbClr val="000000"/>
                </a:solidFill>
                <a:latin typeface="Arial"/>
              </a:rPr>
              <a:t>TOOL</a:t>
            </a:r>
          </a:p>
        </p:txBody>
      </p:sp>
      <p:sp>
        <p:nvSpPr>
          <p:cNvPr id="26" name="Rectangle 25"/>
          <p:cNvSpPr/>
          <p:nvPr/>
        </p:nvSpPr>
        <p:spPr>
          <a:xfrm>
            <a:off x="8118347" y="4183380"/>
            <a:ext cx="3517391" cy="14630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49767" y="4114800"/>
            <a:ext cx="3517391" cy="14630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05799" y="4279392"/>
            <a:ext cx="3005327" cy="320040"/>
          </a:xfrm>
          <a:prstGeom prst="rect">
            <a:avLst/>
          </a:prstGeom>
          <a:noFill/>
        </p:spPr>
        <p:txBody>
          <a:bodyPr wrap="square" lIns="0" rIns="0" tIns="0" bIns="0" anchor="t">
            <a:spAutoFit/>
          </a:bodyPr>
          <a:lstStyle/>
          <a:p>
            <a:pPr algn="l"/>
            <a:r>
              <a:rPr sz="1400" b="1">
                <a:solidFill>
                  <a:srgbClr val="000000"/>
                </a:solidFill>
                <a:latin typeface="Arial"/>
              </a:rPr>
              <a:t>MIXTLI OR EQUIVALENT</a:t>
            </a:r>
          </a:p>
        </p:txBody>
      </p:sp>
      <p:sp>
        <p:nvSpPr>
          <p:cNvPr id="29" name="TextBox 28"/>
          <p:cNvSpPr txBox="1"/>
          <p:nvPr/>
        </p:nvSpPr>
        <p:spPr>
          <a:xfrm>
            <a:off x="8305799" y="4663440"/>
            <a:ext cx="3005327" cy="8229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The Blender add-on the instructor provides. Record inputs and ranges.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P3d</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Visual quality 35% · computational understanding 25% · technical execution 20% · experimentation 10% · requirements and identity 10%.</a:t>
            </a:r>
          </a:p>
        </p:txBody>
      </p:sp>
      <p:sp>
        <p:nvSpPr>
          <p:cNvPr id="5" name="Rectangle 4"/>
          <p:cNvSpPr/>
          <p:nvPr/>
        </p:nvSpPr>
        <p:spPr>
          <a:xfrm>
            <a:off x="662940" y="1851660"/>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72420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044598"/>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51660"/>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541324"/>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Pick a site you can document and state why you chose it. Record the source of the point cloud, its units, scale and orientation.</a:t>
            </a:r>
          </a:p>
        </p:txBody>
      </p:sp>
      <p:sp>
        <p:nvSpPr>
          <p:cNvPr id="11" name="Rectangle 10"/>
          <p:cNvSpPr/>
          <p:nvPr/>
        </p:nvSpPr>
        <p:spPr>
          <a:xfrm>
            <a:off x="662940" y="2722168"/>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653588"/>
            <a:ext cx="777240" cy="724204"/>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2915107"/>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722168"/>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653588"/>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745028"/>
            <a:ext cx="9372600" cy="541324"/>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Map at least three layers of the point-cloud data with attractor logic — for example distance to points or curves, height bands, and a recorded attribute such as colour or classification.</a:t>
            </a:r>
          </a:p>
        </p:txBody>
      </p:sp>
      <p:sp>
        <p:nvSpPr>
          <p:cNvPr id="17" name="Rectangle 16"/>
          <p:cNvSpPr/>
          <p:nvPr/>
        </p:nvSpPr>
        <p:spPr>
          <a:xfrm>
            <a:off x="662940" y="3592677"/>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524097"/>
            <a:ext cx="777240" cy="724204"/>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785615"/>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3592677"/>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524097"/>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3615537"/>
            <a:ext cx="9372600" cy="541324"/>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Make one 17 × 11 inch sheet with small views of each layer, each with its own legend and units, beside one larger combined visualization.</a:t>
            </a:r>
          </a:p>
        </p:txBody>
      </p:sp>
      <p:sp>
        <p:nvSpPr>
          <p:cNvPr id="23" name="Rectangle 22"/>
          <p:cNvSpPr/>
          <p:nvPr/>
        </p:nvSpPr>
        <p:spPr>
          <a:xfrm>
            <a:off x="662940" y="4463186"/>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394606"/>
            <a:ext cx="777240" cy="724204"/>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56124"/>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4463186"/>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4394606"/>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4486046"/>
            <a:ext cx="9372600" cy="541324"/>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Explain what each layer measures, how you combined them, and what the combined view shows about the site.</a:t>
            </a:r>
          </a:p>
        </p:txBody>
      </p:sp>
      <p:sp>
        <p:nvSpPr>
          <p:cNvPr id="29" name="Rectangle 28"/>
          <p:cNvSpPr/>
          <p:nvPr/>
        </p:nvSpPr>
        <p:spPr>
          <a:xfrm>
            <a:off x="662940" y="5333695"/>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265115"/>
            <a:ext cx="777240" cy="72420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526633"/>
            <a:ext cx="777240" cy="274320"/>
          </a:xfrm>
          <a:prstGeom prst="rect">
            <a:avLst/>
          </a:prstGeom>
          <a:noFill/>
        </p:spPr>
        <p:txBody>
          <a:bodyPr wrap="square" lIns="0" rIns="0" tIns="0" bIns="0" anchor="t">
            <a:spAutoFit/>
          </a:bodyPr>
          <a:lstStyle/>
          <a:p>
            <a:pPr algn="ctr"/>
            <a:r>
              <a:rPr sz="1500" b="1">
                <a:solidFill>
                  <a:srgbClr val="000000"/>
                </a:solidFill>
                <a:latin typeface="Arial"/>
              </a:rPr>
              <a:t>05</a:t>
            </a:r>
          </a:p>
        </p:txBody>
      </p:sp>
      <p:sp>
        <p:nvSpPr>
          <p:cNvPr id="32" name="Rectangle 31"/>
          <p:cNvSpPr/>
          <p:nvPr/>
        </p:nvSpPr>
        <p:spPr>
          <a:xfrm>
            <a:off x="1714499" y="5333695"/>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645919" y="5265115"/>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920240" y="5356555"/>
            <a:ext cx="9372600" cy="541324"/>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Record the tool, inputs and ranges for every layer and submit the working file. The Mixtli add-on for Blender, introduced in class, does these operations; an equivalent tool is fine.</a:t>
            </a:r>
          </a:p>
        </p:txBody>
      </p:sp>
      <p:sp>
        <p:nvSpPr>
          <p:cNvPr id="35" name="Rectangle 34"/>
          <p:cNvSpPr/>
          <p:nvPr/>
        </p:nvSpPr>
        <p:spPr>
          <a:xfrm>
            <a:off x="662940" y="6259068"/>
            <a:ext cx="10972800" cy="51206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6190488"/>
            <a:ext cx="10972800" cy="512064"/>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4400" y="6190488"/>
            <a:ext cx="10332720" cy="512064"/>
          </a:xfrm>
          <a:prstGeom prst="rect">
            <a:avLst/>
          </a:prstGeom>
          <a:noFill/>
        </p:spPr>
        <p:txBody>
          <a:bodyPr wrap="square" lIns="0" rIns="0" tIns="0" bIns="0" anchor="ctr">
            <a:spAutoFit/>
          </a:bodyPr>
          <a:lstStyle/>
          <a:p>
            <a:pPr algn="l"/>
            <a:r>
              <a:rPr sz="1150" b="1">
                <a:solidFill>
                  <a:srgbClr val="000000"/>
                </a:solidFill>
                <a:latin typeface="Arial"/>
              </a:rPr>
              <a:t>CHECKPOINT · WEEK 10 — Oct 27 — Bring your site's point cloud and at least two mapped layers with legends.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P3c CHECKPOINT — FIELD + FIRST LINES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Bring the grayscale field and a first line drawing of it. Read them side by side.</a:t>
            </a:r>
          </a:p>
        </p:txBody>
      </p:sp>
      <p:sp>
        <p:nvSpPr>
          <p:cNvPr id="5" name="Rectangle 4"/>
          <p:cNvSpPr/>
          <p:nvPr/>
        </p:nvSpPr>
        <p:spPr>
          <a:xfrm>
            <a:off x="662940" y="1851660"/>
            <a:ext cx="2606040" cy="3246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2606040" cy="3246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26060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FIELD</a:t>
            </a:r>
          </a:p>
        </p:txBody>
      </p:sp>
      <p:sp>
        <p:nvSpPr>
          <p:cNvPr id="9" name="TextBox 8"/>
          <p:cNvSpPr txBox="1"/>
          <p:nvPr/>
        </p:nvSpPr>
        <p:spPr>
          <a:xfrm>
            <a:off x="795528" y="2468880"/>
            <a:ext cx="2194560" cy="155448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Grayscale field with its legend: near → far, input range written.</a:t>
            </a:r>
          </a:p>
        </p:txBody>
      </p:sp>
      <p:sp>
        <p:nvSpPr>
          <p:cNvPr id="10" name="Rectangle 9"/>
          <p:cNvSpPr/>
          <p:nvPr/>
        </p:nvSpPr>
        <p:spPr>
          <a:xfrm>
            <a:off x="795528" y="4114800"/>
            <a:ext cx="219456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4224528"/>
            <a:ext cx="2194560" cy="685800"/>
          </a:xfrm>
          <a:prstGeom prst="rect">
            <a:avLst/>
          </a:prstGeom>
          <a:noFill/>
        </p:spPr>
        <p:txBody>
          <a:bodyPr wrap="square" lIns="0" rIns="0" tIns="0" bIns="0" anchor="t">
            <a:spAutoFit/>
          </a:bodyPr>
          <a:lstStyle/>
          <a:p>
            <a:pPr algn="l">
              <a:lnSpc>
                <a:spcPct val="120000"/>
              </a:lnSpc>
            </a:pPr>
            <a:r>
              <a:rPr sz="1250" b="1">
                <a:solidFill>
                  <a:srgbClr val="000000"/>
                </a:solidFill>
                <a:latin typeface="Calibri"/>
              </a:rPr>
              <a:t>Wrong? Fix the remap before the lines.</a:t>
            </a:r>
          </a:p>
        </p:txBody>
      </p:sp>
      <p:sp>
        <p:nvSpPr>
          <p:cNvPr id="12" name="Rectangle 11"/>
          <p:cNvSpPr/>
          <p:nvPr/>
        </p:nvSpPr>
        <p:spPr>
          <a:xfrm>
            <a:off x="3451860" y="1851660"/>
            <a:ext cx="2606040" cy="3246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83279" y="1783080"/>
            <a:ext cx="2606040" cy="3246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83279" y="1783080"/>
            <a:ext cx="260604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11879"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LINES</a:t>
            </a:r>
          </a:p>
        </p:txBody>
      </p:sp>
      <p:sp>
        <p:nvSpPr>
          <p:cNvPr id="16" name="TextBox 15"/>
          <p:cNvSpPr txBox="1"/>
          <p:nvPr/>
        </p:nvSpPr>
        <p:spPr>
          <a:xfrm>
            <a:off x="3584448" y="2468880"/>
            <a:ext cx="2194560" cy="155448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First line drawing from the same field, with one mapping.</a:t>
            </a:r>
          </a:p>
        </p:txBody>
      </p:sp>
      <p:sp>
        <p:nvSpPr>
          <p:cNvPr id="17" name="Rectangle 16"/>
          <p:cNvSpPr/>
          <p:nvPr/>
        </p:nvSpPr>
        <p:spPr>
          <a:xfrm>
            <a:off x="3584448" y="4114800"/>
            <a:ext cx="219456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4224528"/>
            <a:ext cx="2194560" cy="685800"/>
          </a:xfrm>
          <a:prstGeom prst="rect">
            <a:avLst/>
          </a:prstGeom>
          <a:noFill/>
        </p:spPr>
        <p:txBody>
          <a:bodyPr wrap="square" lIns="0" rIns="0" tIns="0" bIns="0" anchor="t">
            <a:spAutoFit/>
          </a:bodyPr>
          <a:lstStyle/>
          <a:p>
            <a:pPr algn="l">
              <a:lnSpc>
                <a:spcPct val="120000"/>
              </a:lnSpc>
            </a:pPr>
            <a:r>
              <a:rPr sz="1250" b="1">
                <a:solidFill>
                  <a:srgbClr val="000000"/>
                </a:solidFill>
                <a:latin typeface="Calibri"/>
              </a:rPr>
              <a:t>Wrong? Change one mapping value.</a:t>
            </a:r>
          </a:p>
        </p:txBody>
      </p:sp>
      <p:sp>
        <p:nvSpPr>
          <p:cNvPr id="19" name="Rectangle 18"/>
          <p:cNvSpPr/>
          <p:nvPr/>
        </p:nvSpPr>
        <p:spPr>
          <a:xfrm>
            <a:off x="6240780" y="1851660"/>
            <a:ext cx="2606040" cy="3246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172200" y="1783080"/>
            <a:ext cx="2606040" cy="3246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172200" y="1783080"/>
            <a:ext cx="2606040" cy="50292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DENSITY</a:t>
            </a:r>
          </a:p>
        </p:txBody>
      </p:sp>
      <p:sp>
        <p:nvSpPr>
          <p:cNvPr id="23" name="TextBox 22"/>
          <p:cNvSpPr txBox="1"/>
          <p:nvPr/>
        </p:nvSpPr>
        <p:spPr>
          <a:xfrm>
            <a:off x="6373368" y="2468880"/>
            <a:ext cx="2194560" cy="155448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Darkest area still separate lines? Lightest area still visible?</a:t>
            </a:r>
          </a:p>
        </p:txBody>
      </p:sp>
      <p:sp>
        <p:nvSpPr>
          <p:cNvPr id="24" name="Rectangle 23"/>
          <p:cNvSpPr/>
          <p:nvPr/>
        </p:nvSpPr>
        <p:spPr>
          <a:xfrm>
            <a:off x="6373368" y="4114800"/>
            <a:ext cx="219456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3368" y="4224528"/>
            <a:ext cx="2194560" cy="685800"/>
          </a:xfrm>
          <a:prstGeom prst="rect">
            <a:avLst/>
          </a:prstGeom>
          <a:noFill/>
        </p:spPr>
        <p:txBody>
          <a:bodyPr wrap="square" lIns="0" rIns="0" tIns="0" bIns="0" anchor="t">
            <a:spAutoFit/>
          </a:bodyPr>
          <a:lstStyle/>
          <a:p>
            <a:pPr algn="l">
              <a:lnSpc>
                <a:spcPct val="120000"/>
              </a:lnSpc>
            </a:pPr>
            <a:r>
              <a:rPr sz="1250" b="1">
                <a:solidFill>
                  <a:srgbClr val="000000"/>
                </a:solidFill>
                <a:latin typeface="Calibri"/>
              </a:rPr>
              <a:t>Wrong? Change the output range.</a:t>
            </a:r>
          </a:p>
        </p:txBody>
      </p:sp>
      <p:sp>
        <p:nvSpPr>
          <p:cNvPr id="26" name="Rectangle 25"/>
          <p:cNvSpPr/>
          <p:nvPr/>
        </p:nvSpPr>
        <p:spPr>
          <a:xfrm>
            <a:off x="9029700" y="1851660"/>
            <a:ext cx="2606040" cy="3246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961120" y="1783080"/>
            <a:ext cx="2606040" cy="3246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961120" y="1783080"/>
            <a:ext cx="260604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89720" y="1783080"/>
            <a:ext cx="2148840" cy="502920"/>
          </a:xfrm>
          <a:prstGeom prst="rect">
            <a:avLst/>
          </a:prstGeom>
          <a:noFill/>
        </p:spPr>
        <p:txBody>
          <a:bodyPr wrap="square" lIns="0" rIns="0" tIns="0" bIns="0" anchor="ctr">
            <a:spAutoFit/>
          </a:bodyPr>
          <a:lstStyle/>
          <a:p>
            <a:pPr algn="l"/>
            <a:r>
              <a:rPr sz="1350" b="1">
                <a:solidFill>
                  <a:srgbClr val="000000"/>
                </a:solidFill>
                <a:latin typeface="Arial"/>
              </a:rPr>
              <a:t>SVG</a:t>
            </a:r>
          </a:p>
        </p:txBody>
      </p:sp>
      <p:sp>
        <p:nvSpPr>
          <p:cNvPr id="30" name="TextBox 29"/>
          <p:cNvSpPr txBox="1"/>
          <p:nvPr/>
        </p:nvSpPr>
        <p:spPr>
          <a:xfrm>
            <a:off x="9162288" y="2468880"/>
            <a:ext cx="2194560" cy="1554480"/>
          </a:xfrm>
          <a:prstGeom prst="rect">
            <a:avLst/>
          </a:prstGeom>
          <a:noFill/>
        </p:spPr>
        <p:txBody>
          <a:bodyPr wrap="square" lIns="0" rIns="0" tIns="0" bIns="0" anchor="t">
            <a:spAutoFit/>
          </a:bodyPr>
          <a:lstStyle/>
          <a:p>
            <a:pPr algn="l">
              <a:lnSpc>
                <a:spcPct val="130000"/>
              </a:lnSpc>
            </a:pPr>
            <a:r>
              <a:rPr sz="1300">
                <a:solidFill>
                  <a:srgbClr val="000000"/>
                </a:solidFill>
                <a:latin typeface="Calibri"/>
              </a:rPr>
              <a:t>17 × 11 at 100%. Clean curves: no fills, no duplicate lines.</a:t>
            </a:r>
          </a:p>
        </p:txBody>
      </p:sp>
      <p:sp>
        <p:nvSpPr>
          <p:cNvPr id="31" name="Rectangle 30"/>
          <p:cNvSpPr/>
          <p:nvPr/>
        </p:nvSpPr>
        <p:spPr>
          <a:xfrm>
            <a:off x="9162288" y="4114800"/>
            <a:ext cx="2194560" cy="0"/>
          </a:xfrm>
          <a:prstGeom prst="rect">
            <a:avLst/>
          </a:prstGeom>
          <a:noFill/>
          <a:ln w="19050">
            <a:solidFill>
              <a:srgbClr val="B4B4A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62288" y="4224528"/>
            <a:ext cx="2194560" cy="685800"/>
          </a:xfrm>
          <a:prstGeom prst="rect">
            <a:avLst/>
          </a:prstGeom>
          <a:noFill/>
        </p:spPr>
        <p:txBody>
          <a:bodyPr wrap="square" lIns="0" rIns="0" tIns="0" bIns="0" anchor="t">
            <a:spAutoFit/>
          </a:bodyPr>
          <a:lstStyle/>
          <a:p>
            <a:pPr algn="l">
              <a:lnSpc>
                <a:spcPct val="120000"/>
              </a:lnSpc>
            </a:pPr>
            <a:r>
              <a:rPr sz="1250" b="1">
                <a:solidFill>
                  <a:srgbClr val="000000"/>
                </a:solidFill>
                <a:latin typeface="Calibri"/>
              </a:rPr>
              <a:t>Wrong? Fix the export.</a:t>
            </a:r>
          </a:p>
        </p:txBody>
      </p:sp>
      <p:sp>
        <p:nvSpPr>
          <p:cNvPr id="33" name="Rectangle 32"/>
          <p:cNvSpPr/>
          <p:nvPr/>
        </p:nvSpPr>
        <p:spPr>
          <a:xfrm>
            <a:off x="662940" y="5417820"/>
            <a:ext cx="10972800" cy="62179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94360" y="5349240"/>
            <a:ext cx="10972800" cy="62179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5349240"/>
            <a:ext cx="10607040" cy="621792"/>
          </a:xfrm>
          <a:prstGeom prst="rect">
            <a:avLst/>
          </a:prstGeom>
          <a:noFill/>
        </p:spPr>
        <p:txBody>
          <a:bodyPr wrap="square" lIns="0" rIns="0" tIns="0" bIns="0" anchor="ctr">
            <a:spAutoFit/>
          </a:bodyPr>
          <a:lstStyle/>
          <a:p>
            <a:pPr algn="ctr"/>
            <a:r>
              <a:rPr sz="1200" b="1">
                <a:solidFill>
                  <a:srgbClr val="000000"/>
                </a:solidFill>
                <a:latin typeface="Arial"/>
              </a:rPr>
              <a:t>PLOTTING IS OPTIONAL. IF YOU PLOT, TEST A SMALL CROP FIRST AND KEEP THE TEST FOR THE SHEET.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WEEK 10 DEADLINE CHECKLIST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Next class. Everything through Arrays must be in. Tick every line.</a:t>
            </a:r>
          </a:p>
        </p:txBody>
      </p:sp>
      <p:sp>
        <p:nvSpPr>
          <p:cNvPr id="5" name="Rectangle 4"/>
          <p:cNvSpPr/>
          <p:nvPr/>
        </p:nvSpPr>
        <p:spPr>
          <a:xfrm>
            <a:off x="662940" y="1805939"/>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37360"/>
            <a:ext cx="868680" cy="54864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911095"/>
            <a:ext cx="868680" cy="274320"/>
          </a:xfrm>
          <a:prstGeom prst="rect">
            <a:avLst/>
          </a:prstGeom>
          <a:noFill/>
        </p:spPr>
        <p:txBody>
          <a:bodyPr wrap="square" lIns="0" rIns="0" tIns="0" bIns="0" anchor="t">
            <a:spAutoFit/>
          </a:bodyPr>
          <a:lstStyle/>
          <a:p>
            <a:pPr algn="ctr"/>
            <a:r>
              <a:rPr sz="1300" b="1">
                <a:solidFill>
                  <a:srgbClr val="000000"/>
                </a:solidFill>
                <a:latin typeface="Arial"/>
              </a:rPr>
              <a:t>GSM</a:t>
            </a:r>
          </a:p>
        </p:txBody>
      </p:sp>
      <p:sp>
        <p:nvSpPr>
          <p:cNvPr id="8" name="Rectangle 7"/>
          <p:cNvSpPr/>
          <p:nvPr/>
        </p:nvSpPr>
        <p:spPr>
          <a:xfrm>
            <a:off x="1760220" y="1805939"/>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91640" y="1737360"/>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737360"/>
            <a:ext cx="3291840" cy="548640"/>
          </a:xfrm>
          <a:prstGeom prst="rect">
            <a:avLst/>
          </a:prstGeom>
          <a:noFill/>
        </p:spPr>
        <p:txBody>
          <a:bodyPr wrap="square" lIns="0" rIns="0" tIns="0" bIns="0" anchor="ctr">
            <a:spAutoFit/>
          </a:bodyPr>
          <a:lstStyle/>
          <a:p>
            <a:pPr algn="l"/>
            <a:r>
              <a:rPr sz="1050" b="1">
                <a:solidFill>
                  <a:srgbClr val="000000"/>
                </a:solidFill>
                <a:latin typeface="Arial"/>
              </a:rPr>
              <a:t>GRAPHIC STANDARDS MANUAL</a:t>
            </a:r>
          </a:p>
        </p:txBody>
      </p:sp>
      <p:sp>
        <p:nvSpPr>
          <p:cNvPr id="11" name="TextBox 10"/>
          <p:cNvSpPr txBox="1"/>
          <p:nvPr/>
        </p:nvSpPr>
        <p:spPr>
          <a:xfrm>
            <a:off x="5257800" y="1737360"/>
            <a:ext cx="4663440" cy="548640"/>
          </a:xfrm>
          <a:prstGeom prst="rect">
            <a:avLst/>
          </a:prstGeom>
          <a:noFill/>
        </p:spPr>
        <p:txBody>
          <a:bodyPr wrap="square" lIns="0" rIns="0" tIns="0" bIns="0" anchor="ctr">
            <a:spAutoFit/>
          </a:bodyPr>
          <a:lstStyle/>
          <a:p>
            <a:pPr algn="l"/>
            <a:r>
              <a:rPr sz="1200">
                <a:solidFill>
                  <a:srgbClr val="000000"/>
                </a:solidFill>
                <a:latin typeface="Calibri"/>
              </a:rPr>
              <a:t>Four pages. Each rule beside a tested application.</a:t>
            </a:r>
          </a:p>
        </p:txBody>
      </p:sp>
      <p:sp>
        <p:nvSpPr>
          <p:cNvPr id="12" name="TextBox 11"/>
          <p:cNvSpPr txBox="1"/>
          <p:nvPr/>
        </p:nvSpPr>
        <p:spPr>
          <a:xfrm>
            <a:off x="9921240" y="1737360"/>
            <a:ext cx="1554480" cy="548640"/>
          </a:xfrm>
          <a:prstGeom prst="rect">
            <a:avLst/>
          </a:prstGeom>
          <a:noFill/>
        </p:spPr>
        <p:txBody>
          <a:bodyPr wrap="square" lIns="0" rIns="0" tIns="0" bIns="0" anchor="ctr">
            <a:spAutoFit/>
          </a:bodyPr>
          <a:lstStyle/>
          <a:p>
            <a:pPr algn="ctr"/>
            <a:r>
              <a:rPr sz="1000" b="1">
                <a:solidFill>
                  <a:srgbClr val="FF4D8D"/>
                </a:solidFill>
                <a:latin typeface="Arial"/>
              </a:rPr>
              <a:t>DUE NEXT CLASS</a:t>
            </a:r>
          </a:p>
        </p:txBody>
      </p:sp>
      <p:sp>
        <p:nvSpPr>
          <p:cNvPr id="13" name="Rectangle 12"/>
          <p:cNvSpPr/>
          <p:nvPr/>
        </p:nvSpPr>
        <p:spPr>
          <a:xfrm>
            <a:off x="662940" y="2464308"/>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94360" y="2395728"/>
            <a:ext cx="868680" cy="54864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94360" y="2569464"/>
            <a:ext cx="868680" cy="274320"/>
          </a:xfrm>
          <a:prstGeom prst="rect">
            <a:avLst/>
          </a:prstGeom>
          <a:noFill/>
        </p:spPr>
        <p:txBody>
          <a:bodyPr wrap="square" lIns="0" rIns="0" tIns="0" bIns="0" anchor="t">
            <a:spAutoFit/>
          </a:bodyPr>
          <a:lstStyle/>
          <a:p>
            <a:pPr algn="ctr"/>
            <a:r>
              <a:rPr sz="1300" b="1">
                <a:solidFill>
                  <a:srgbClr val="000000"/>
                </a:solidFill>
                <a:latin typeface="Arial"/>
              </a:rPr>
              <a:t>P2a</a:t>
            </a:r>
          </a:p>
        </p:txBody>
      </p:sp>
      <p:sp>
        <p:nvSpPr>
          <p:cNvPr id="16" name="Rectangle 15"/>
          <p:cNvSpPr/>
          <p:nvPr/>
        </p:nvSpPr>
        <p:spPr>
          <a:xfrm>
            <a:off x="1760220" y="2464308"/>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691640" y="2395728"/>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920240" y="2395728"/>
            <a:ext cx="3291840" cy="548640"/>
          </a:xfrm>
          <a:prstGeom prst="rect">
            <a:avLst/>
          </a:prstGeom>
          <a:noFill/>
        </p:spPr>
        <p:txBody>
          <a:bodyPr wrap="square" lIns="0" rIns="0" tIns="0" bIns="0" anchor="ctr">
            <a:spAutoFit/>
          </a:bodyPr>
          <a:lstStyle/>
          <a:p>
            <a:pPr algn="l"/>
            <a:r>
              <a:rPr sz="1050" b="1">
                <a:solidFill>
                  <a:srgbClr val="000000"/>
                </a:solidFill>
                <a:latin typeface="Arial"/>
              </a:rPr>
              <a:t>CSG PROCESS AND INSTRUCTIONS</a:t>
            </a:r>
          </a:p>
        </p:txBody>
      </p:sp>
      <p:sp>
        <p:nvSpPr>
          <p:cNvPr id="19" name="TextBox 18"/>
          <p:cNvSpPr txBox="1"/>
          <p:nvPr/>
        </p:nvSpPr>
        <p:spPr>
          <a:xfrm>
            <a:off x="5257800" y="2395728"/>
            <a:ext cx="4663440" cy="548640"/>
          </a:xfrm>
          <a:prstGeom prst="rect">
            <a:avLst/>
          </a:prstGeom>
          <a:noFill/>
        </p:spPr>
        <p:txBody>
          <a:bodyPr wrap="square" lIns="0" rIns="0" tIns="0" bIns="0" anchor="ctr">
            <a:spAutoFit/>
          </a:bodyPr>
          <a:lstStyle/>
          <a:p>
            <a:pPr algn="l"/>
            <a:r>
              <a:rPr sz="1200">
                <a:solidFill>
                  <a:srgbClr val="000000"/>
                </a:solidFill>
                <a:latin typeface="Calibri"/>
              </a:rPr>
              <a:t>The BIG-style process sheet, with instructions and pseudocode.</a:t>
            </a:r>
          </a:p>
        </p:txBody>
      </p:sp>
      <p:sp>
        <p:nvSpPr>
          <p:cNvPr id="20" name="TextBox 19"/>
          <p:cNvSpPr txBox="1"/>
          <p:nvPr/>
        </p:nvSpPr>
        <p:spPr>
          <a:xfrm>
            <a:off x="9921240" y="2395728"/>
            <a:ext cx="1554480" cy="548640"/>
          </a:xfrm>
          <a:prstGeom prst="rect">
            <a:avLst/>
          </a:prstGeom>
          <a:noFill/>
        </p:spPr>
        <p:txBody>
          <a:bodyPr wrap="square" lIns="0" rIns="0" tIns="0" bIns="0" anchor="ctr">
            <a:spAutoFit/>
          </a:bodyPr>
          <a:lstStyle/>
          <a:p>
            <a:pPr algn="ctr"/>
            <a:r>
              <a:rPr sz="1000" b="1">
                <a:solidFill>
                  <a:srgbClr val="6B6B6B"/>
                </a:solidFill>
                <a:latin typeface="Arial"/>
              </a:rPr>
              <a:t>DUE W4 · IN?</a:t>
            </a:r>
          </a:p>
        </p:txBody>
      </p:sp>
      <p:sp>
        <p:nvSpPr>
          <p:cNvPr id="21" name="Rectangle 20"/>
          <p:cNvSpPr/>
          <p:nvPr/>
        </p:nvSpPr>
        <p:spPr>
          <a:xfrm>
            <a:off x="662940" y="3122676"/>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94360" y="3054096"/>
            <a:ext cx="868680" cy="54864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94360" y="3227832"/>
            <a:ext cx="868680" cy="274320"/>
          </a:xfrm>
          <a:prstGeom prst="rect">
            <a:avLst/>
          </a:prstGeom>
          <a:noFill/>
        </p:spPr>
        <p:txBody>
          <a:bodyPr wrap="square" lIns="0" rIns="0" tIns="0" bIns="0" anchor="t">
            <a:spAutoFit/>
          </a:bodyPr>
          <a:lstStyle/>
          <a:p>
            <a:pPr algn="ctr"/>
            <a:r>
              <a:rPr sz="1300" b="1">
                <a:solidFill>
                  <a:srgbClr val="000000"/>
                </a:solidFill>
                <a:latin typeface="Arial"/>
              </a:rPr>
              <a:t>P2b</a:t>
            </a:r>
          </a:p>
        </p:txBody>
      </p:sp>
      <p:sp>
        <p:nvSpPr>
          <p:cNvPr id="24" name="Rectangle 23"/>
          <p:cNvSpPr/>
          <p:nvPr/>
        </p:nvSpPr>
        <p:spPr>
          <a:xfrm>
            <a:off x="1760220" y="3122676"/>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91640" y="3054096"/>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920240" y="3054096"/>
            <a:ext cx="3291840" cy="548640"/>
          </a:xfrm>
          <a:prstGeom prst="rect">
            <a:avLst/>
          </a:prstGeom>
          <a:noFill/>
        </p:spPr>
        <p:txBody>
          <a:bodyPr wrap="square" lIns="0" rIns="0" tIns="0" bIns="0" anchor="ctr">
            <a:spAutoFit/>
          </a:bodyPr>
          <a:lstStyle/>
          <a:p>
            <a:pPr algn="l"/>
            <a:r>
              <a:rPr sz="1050" b="1">
                <a:solidFill>
                  <a:srgbClr val="000000"/>
                </a:solidFill>
                <a:latin typeface="Arial"/>
              </a:rPr>
              <a:t>CSG 3D PRINTED OBJECT</a:t>
            </a:r>
          </a:p>
        </p:txBody>
      </p:sp>
      <p:sp>
        <p:nvSpPr>
          <p:cNvPr id="27" name="TextBox 26"/>
          <p:cNvSpPr txBox="1"/>
          <p:nvPr/>
        </p:nvSpPr>
        <p:spPr>
          <a:xfrm>
            <a:off x="5257800" y="3054096"/>
            <a:ext cx="4663440" cy="548640"/>
          </a:xfrm>
          <a:prstGeom prst="rect">
            <a:avLst/>
          </a:prstGeom>
          <a:noFill/>
        </p:spPr>
        <p:txBody>
          <a:bodyPr wrap="square" lIns="0" rIns="0" tIns="0" bIns="0" anchor="ctr">
            <a:spAutoFit/>
          </a:bodyPr>
          <a:lstStyle/>
          <a:p>
            <a:pPr algn="l"/>
            <a:r>
              <a:rPr sz="1200">
                <a:solidFill>
                  <a:srgbClr val="000000"/>
                </a:solidFill>
                <a:latin typeface="Calibri"/>
              </a:rPr>
              <a:t>The print, its process sheet, and the source, mesh and slicer files.</a:t>
            </a:r>
          </a:p>
        </p:txBody>
      </p:sp>
      <p:sp>
        <p:nvSpPr>
          <p:cNvPr id="28" name="TextBox 27"/>
          <p:cNvSpPr txBox="1"/>
          <p:nvPr/>
        </p:nvSpPr>
        <p:spPr>
          <a:xfrm>
            <a:off x="9921240" y="3054096"/>
            <a:ext cx="1554480" cy="548640"/>
          </a:xfrm>
          <a:prstGeom prst="rect">
            <a:avLst/>
          </a:prstGeom>
          <a:noFill/>
        </p:spPr>
        <p:txBody>
          <a:bodyPr wrap="square" lIns="0" rIns="0" tIns="0" bIns="0" anchor="ctr">
            <a:spAutoFit/>
          </a:bodyPr>
          <a:lstStyle/>
          <a:p>
            <a:pPr algn="ctr"/>
            <a:r>
              <a:rPr sz="1000" b="1">
                <a:solidFill>
                  <a:srgbClr val="FF4D8D"/>
                </a:solidFill>
                <a:latin typeface="Arial"/>
              </a:rPr>
              <a:t>DUE NEXT CLASS</a:t>
            </a:r>
          </a:p>
        </p:txBody>
      </p:sp>
      <p:sp>
        <p:nvSpPr>
          <p:cNvPr id="29" name="Rectangle 28"/>
          <p:cNvSpPr/>
          <p:nvPr/>
        </p:nvSpPr>
        <p:spPr>
          <a:xfrm>
            <a:off x="662940" y="3781044"/>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3712463"/>
            <a:ext cx="868680" cy="54864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3886200"/>
            <a:ext cx="868680" cy="274320"/>
          </a:xfrm>
          <a:prstGeom prst="rect">
            <a:avLst/>
          </a:prstGeom>
          <a:noFill/>
        </p:spPr>
        <p:txBody>
          <a:bodyPr wrap="square" lIns="0" rIns="0" tIns="0" bIns="0" anchor="t">
            <a:spAutoFit/>
          </a:bodyPr>
          <a:lstStyle/>
          <a:p>
            <a:pPr algn="ctr"/>
            <a:r>
              <a:rPr sz="1300" b="1">
                <a:solidFill>
                  <a:srgbClr val="000000"/>
                </a:solidFill>
                <a:latin typeface="Arial"/>
              </a:rPr>
              <a:t>P3a</a:t>
            </a:r>
          </a:p>
        </p:txBody>
      </p:sp>
      <p:sp>
        <p:nvSpPr>
          <p:cNvPr id="32" name="Rectangle 31"/>
          <p:cNvSpPr/>
          <p:nvPr/>
        </p:nvSpPr>
        <p:spPr>
          <a:xfrm>
            <a:off x="1760220" y="3781044"/>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691640" y="3712463"/>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920240" y="3712463"/>
            <a:ext cx="3291840" cy="548640"/>
          </a:xfrm>
          <a:prstGeom prst="rect">
            <a:avLst/>
          </a:prstGeom>
          <a:noFill/>
        </p:spPr>
        <p:txBody>
          <a:bodyPr wrap="square" lIns="0" rIns="0" tIns="0" bIns="0" anchor="ctr">
            <a:spAutoFit/>
          </a:bodyPr>
          <a:lstStyle/>
          <a:p>
            <a:pPr algn="l"/>
            <a:r>
              <a:rPr sz="1050" b="1">
                <a:solidFill>
                  <a:srgbClr val="000000"/>
                </a:solidFill>
                <a:latin typeface="Arial"/>
              </a:rPr>
              <a:t>DESCRIPTIVE GEOMETRY MODULE</a:t>
            </a:r>
          </a:p>
        </p:txBody>
      </p:sp>
      <p:sp>
        <p:nvSpPr>
          <p:cNvPr id="35" name="TextBox 34"/>
          <p:cNvSpPr txBox="1"/>
          <p:nvPr/>
        </p:nvSpPr>
        <p:spPr>
          <a:xfrm>
            <a:off x="5257800" y="3712463"/>
            <a:ext cx="4663440" cy="548640"/>
          </a:xfrm>
          <a:prstGeom prst="rect">
            <a:avLst/>
          </a:prstGeom>
          <a:noFill/>
        </p:spPr>
        <p:txBody>
          <a:bodyPr wrap="square" lIns="0" rIns="0" tIns="0" bIns="0" anchor="ctr">
            <a:spAutoFit/>
          </a:bodyPr>
          <a:lstStyle/>
          <a:p>
            <a:pPr algn="l"/>
            <a:r>
              <a:rPr sz="1200">
                <a:solidFill>
                  <a:srgbClr val="000000"/>
                </a:solidFill>
                <a:latin typeface="Calibri"/>
              </a:rPr>
              <a:t>One module sheet: studio render, one material, deliberate lighting.</a:t>
            </a:r>
          </a:p>
        </p:txBody>
      </p:sp>
      <p:sp>
        <p:nvSpPr>
          <p:cNvPr id="36" name="TextBox 35"/>
          <p:cNvSpPr txBox="1"/>
          <p:nvPr/>
        </p:nvSpPr>
        <p:spPr>
          <a:xfrm>
            <a:off x="9921240" y="3712463"/>
            <a:ext cx="1554480" cy="548640"/>
          </a:xfrm>
          <a:prstGeom prst="rect">
            <a:avLst/>
          </a:prstGeom>
          <a:noFill/>
        </p:spPr>
        <p:txBody>
          <a:bodyPr wrap="square" lIns="0" rIns="0" tIns="0" bIns="0" anchor="ctr">
            <a:spAutoFit/>
          </a:bodyPr>
          <a:lstStyle/>
          <a:p>
            <a:pPr algn="ctr"/>
            <a:r>
              <a:rPr sz="1000" b="1">
                <a:solidFill>
                  <a:srgbClr val="6B6B6B"/>
                </a:solidFill>
                <a:latin typeface="Arial"/>
              </a:rPr>
              <a:t>DUE W6 · IN?</a:t>
            </a:r>
          </a:p>
        </p:txBody>
      </p:sp>
      <p:sp>
        <p:nvSpPr>
          <p:cNvPr id="37" name="Rectangle 36"/>
          <p:cNvSpPr/>
          <p:nvPr/>
        </p:nvSpPr>
        <p:spPr>
          <a:xfrm>
            <a:off x="662940" y="4439412"/>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94360" y="4370831"/>
            <a:ext cx="868680" cy="54864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94360" y="4544568"/>
            <a:ext cx="868680" cy="274320"/>
          </a:xfrm>
          <a:prstGeom prst="rect">
            <a:avLst/>
          </a:prstGeom>
          <a:noFill/>
        </p:spPr>
        <p:txBody>
          <a:bodyPr wrap="square" lIns="0" rIns="0" tIns="0" bIns="0" anchor="t">
            <a:spAutoFit/>
          </a:bodyPr>
          <a:lstStyle/>
          <a:p>
            <a:pPr algn="ctr"/>
            <a:r>
              <a:rPr sz="1300" b="1">
                <a:solidFill>
                  <a:srgbClr val="000000"/>
                </a:solidFill>
                <a:latin typeface="Arial"/>
              </a:rPr>
              <a:t>P3b</a:t>
            </a:r>
          </a:p>
        </p:txBody>
      </p:sp>
      <p:sp>
        <p:nvSpPr>
          <p:cNvPr id="40" name="Rectangle 39"/>
          <p:cNvSpPr/>
          <p:nvPr/>
        </p:nvSpPr>
        <p:spPr>
          <a:xfrm>
            <a:off x="1760220" y="4439412"/>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691640" y="4370831"/>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920240" y="4370831"/>
            <a:ext cx="3291840" cy="548640"/>
          </a:xfrm>
          <a:prstGeom prst="rect">
            <a:avLst/>
          </a:prstGeom>
          <a:noFill/>
        </p:spPr>
        <p:txBody>
          <a:bodyPr wrap="square" lIns="0" rIns="0" tIns="0" bIns="0" anchor="ctr">
            <a:spAutoFit/>
          </a:bodyPr>
          <a:lstStyle/>
          <a:p>
            <a:pPr algn="l"/>
            <a:r>
              <a:rPr sz="1050" b="1">
                <a:solidFill>
                  <a:srgbClr val="000000"/>
                </a:solidFill>
                <a:latin typeface="Arial"/>
              </a:rPr>
              <a:t>ARRAYS</a:t>
            </a:r>
          </a:p>
        </p:txBody>
      </p:sp>
      <p:sp>
        <p:nvSpPr>
          <p:cNvPr id="43" name="TextBox 42"/>
          <p:cNvSpPr txBox="1"/>
          <p:nvPr/>
        </p:nvSpPr>
        <p:spPr>
          <a:xfrm>
            <a:off x="5257800" y="4370831"/>
            <a:ext cx="4663440" cy="548640"/>
          </a:xfrm>
          <a:prstGeom prst="rect">
            <a:avLst/>
          </a:prstGeom>
          <a:noFill/>
        </p:spPr>
        <p:txBody>
          <a:bodyPr wrap="square" lIns="0" rIns="0" tIns="0" bIns="0" anchor="ctr">
            <a:spAutoFit/>
          </a:bodyPr>
          <a:lstStyle/>
          <a:p>
            <a:pPr algn="l"/>
            <a:r>
              <a:rPr sz="1200">
                <a:solidFill>
                  <a:srgbClr val="000000"/>
                </a:solidFill>
                <a:latin typeface="Calibri"/>
              </a:rPr>
              <a:t>Two sheets of arrays, with one conditional selection and its rule.</a:t>
            </a:r>
          </a:p>
        </p:txBody>
      </p:sp>
      <p:sp>
        <p:nvSpPr>
          <p:cNvPr id="44" name="TextBox 43"/>
          <p:cNvSpPr txBox="1"/>
          <p:nvPr/>
        </p:nvSpPr>
        <p:spPr>
          <a:xfrm>
            <a:off x="9921240" y="4370831"/>
            <a:ext cx="1554480" cy="548640"/>
          </a:xfrm>
          <a:prstGeom prst="rect">
            <a:avLst/>
          </a:prstGeom>
          <a:noFill/>
        </p:spPr>
        <p:txBody>
          <a:bodyPr wrap="square" lIns="0" rIns="0" tIns="0" bIns="0" anchor="ctr">
            <a:spAutoFit/>
          </a:bodyPr>
          <a:lstStyle/>
          <a:p>
            <a:pPr algn="ctr"/>
            <a:r>
              <a:rPr sz="1000" b="1">
                <a:solidFill>
                  <a:srgbClr val="6B6B6B"/>
                </a:solidFill>
                <a:latin typeface="Arial"/>
              </a:rPr>
              <a:t>DUE W8 · IN?</a:t>
            </a:r>
          </a:p>
        </p:txBody>
      </p:sp>
      <p:sp>
        <p:nvSpPr>
          <p:cNvPr id="45" name="Rectangle 44"/>
          <p:cNvSpPr/>
          <p:nvPr/>
        </p:nvSpPr>
        <p:spPr>
          <a:xfrm>
            <a:off x="662940" y="5097779"/>
            <a:ext cx="86868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594360" y="5029199"/>
            <a:ext cx="868680" cy="54864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94360" y="5202936"/>
            <a:ext cx="868680" cy="274320"/>
          </a:xfrm>
          <a:prstGeom prst="rect">
            <a:avLst/>
          </a:prstGeom>
          <a:noFill/>
        </p:spPr>
        <p:txBody>
          <a:bodyPr wrap="square" lIns="0" rIns="0" tIns="0" bIns="0" anchor="t">
            <a:spAutoFit/>
          </a:bodyPr>
          <a:lstStyle/>
          <a:p>
            <a:pPr algn="ctr"/>
            <a:r>
              <a:rPr sz="1300" b="1">
                <a:solidFill>
                  <a:srgbClr val="000000"/>
                </a:solidFill>
                <a:latin typeface="Arial"/>
              </a:rPr>
              <a:t>P3c</a:t>
            </a:r>
          </a:p>
        </p:txBody>
      </p:sp>
      <p:sp>
        <p:nvSpPr>
          <p:cNvPr id="48" name="Rectangle 47"/>
          <p:cNvSpPr/>
          <p:nvPr/>
        </p:nvSpPr>
        <p:spPr>
          <a:xfrm>
            <a:off x="1760220" y="5097779"/>
            <a:ext cx="9875520" cy="5486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691640" y="5029199"/>
            <a:ext cx="9875520" cy="5486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920240" y="5029199"/>
            <a:ext cx="3291840" cy="548640"/>
          </a:xfrm>
          <a:prstGeom prst="rect">
            <a:avLst/>
          </a:prstGeom>
          <a:noFill/>
        </p:spPr>
        <p:txBody>
          <a:bodyPr wrap="square" lIns="0" rIns="0" tIns="0" bIns="0" anchor="ctr">
            <a:spAutoFit/>
          </a:bodyPr>
          <a:lstStyle/>
          <a:p>
            <a:pPr algn="l"/>
            <a:r>
              <a:rPr sz="1050" b="1">
                <a:solidFill>
                  <a:srgbClr val="000000"/>
                </a:solidFill>
                <a:latin typeface="Arial"/>
              </a:rPr>
              <a:t>ATTRACTOR: 2D FIELD DRAWING</a:t>
            </a:r>
          </a:p>
        </p:txBody>
      </p:sp>
      <p:sp>
        <p:nvSpPr>
          <p:cNvPr id="51" name="TextBox 50"/>
          <p:cNvSpPr txBox="1"/>
          <p:nvPr/>
        </p:nvSpPr>
        <p:spPr>
          <a:xfrm>
            <a:off x="5257800" y="5029199"/>
            <a:ext cx="4663440" cy="548640"/>
          </a:xfrm>
          <a:prstGeom prst="rect">
            <a:avLst/>
          </a:prstGeom>
          <a:noFill/>
        </p:spPr>
        <p:txBody>
          <a:bodyPr wrap="square" lIns="0" rIns="0" tIns="0" bIns="0" anchor="ctr">
            <a:spAutoFit/>
          </a:bodyPr>
          <a:lstStyle/>
          <a:p>
            <a:pPr algn="l"/>
            <a:r>
              <a:rPr sz="1200">
                <a:solidFill>
                  <a:srgbClr val="000000"/>
                </a:solidFill>
                <a:latin typeface="Calibri"/>
              </a:rPr>
              <a:t>One sheet: line drawing, grayscale field and legend. SVG and graph.</a:t>
            </a:r>
          </a:p>
        </p:txBody>
      </p:sp>
      <p:sp>
        <p:nvSpPr>
          <p:cNvPr id="52" name="TextBox 51"/>
          <p:cNvSpPr txBox="1"/>
          <p:nvPr/>
        </p:nvSpPr>
        <p:spPr>
          <a:xfrm>
            <a:off x="9921240" y="5029199"/>
            <a:ext cx="1554480" cy="548640"/>
          </a:xfrm>
          <a:prstGeom prst="rect">
            <a:avLst/>
          </a:prstGeom>
          <a:noFill/>
        </p:spPr>
        <p:txBody>
          <a:bodyPr wrap="square" lIns="0" rIns="0" tIns="0" bIns="0" anchor="ctr">
            <a:spAutoFit/>
          </a:bodyPr>
          <a:lstStyle/>
          <a:p>
            <a:pPr algn="ctr"/>
            <a:r>
              <a:rPr sz="1000" b="1">
                <a:solidFill>
                  <a:srgbClr val="FF4D8D"/>
                </a:solidFill>
                <a:latin typeface="Arial"/>
              </a:rPr>
              <a:t>DUE NEXT CLASS</a:t>
            </a:r>
          </a:p>
        </p:txBody>
      </p:sp>
      <p:sp>
        <p:nvSpPr>
          <p:cNvPr id="53" name="Rectangle 52"/>
          <p:cNvSpPr/>
          <p:nvPr/>
        </p:nvSpPr>
        <p:spPr>
          <a:xfrm>
            <a:off x="662940" y="5801867"/>
            <a:ext cx="10972800" cy="53035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94360" y="5733287"/>
            <a:ext cx="10972800" cy="530352"/>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77240" y="5733287"/>
            <a:ext cx="10607040" cy="530352"/>
          </a:xfrm>
          <a:prstGeom prst="rect">
            <a:avLst/>
          </a:prstGeom>
          <a:noFill/>
        </p:spPr>
        <p:txBody>
          <a:bodyPr wrap="square" lIns="0" rIns="0" tIns="0" bIns="0" anchor="ctr">
            <a:spAutoFit/>
          </a:bodyPr>
          <a:lstStyle/>
          <a:p>
            <a:pPr algn="ctr"/>
            <a:r>
              <a:rPr sz="1200" b="1">
                <a:solidFill>
                  <a:srgbClr val="FFE500"/>
                </a:solidFill>
                <a:latin typeface="Arial"/>
              </a:rPr>
              <a:t>WEEK 10 — OCT 27 — MID-SEMESTER DEADLINE. GSM, P2b AND P3c ARE DUE. NOTHING THROUGH ARRAYS IS LEFT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D9E1"/>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NOW — CHECKPOINT, THEN LAYERS</a:t>
            </a:r>
          </a:p>
        </p:txBody>
      </p:sp>
      <p:sp>
        <p:nvSpPr>
          <p:cNvPr id="4" name="TextBox 3"/>
          <p:cNvSpPr txBox="1"/>
          <p:nvPr/>
        </p:nvSpPr>
        <p:spPr>
          <a:xfrm>
            <a:off x="594360" y="1691640"/>
            <a:ext cx="10515600" cy="365760"/>
          </a:xfrm>
          <a:prstGeom prst="rect">
            <a:avLst/>
          </a:prstGeom>
          <a:noFill/>
        </p:spPr>
        <p:txBody>
          <a:bodyPr wrap="square" lIns="0" rIns="0" tIns="0" bIns="0" anchor="t">
            <a:spAutoFit/>
          </a:bodyPr>
          <a:lstStyle/>
          <a:p>
            <a:pPr algn="l"/>
            <a:r>
              <a:rPr sz="1600">
                <a:solidFill>
                  <a:srgbClr val="000000"/>
                </a:solidFill>
                <a:latin typeface="Calibri"/>
              </a:rPr>
              <a:t>Rest of the class: P3c review one table at a time, then start the site.</a:t>
            </a:r>
          </a:p>
        </p:txBody>
      </p:sp>
      <p:sp>
        <p:nvSpPr>
          <p:cNvPr id="5" name="Rectangle 4"/>
          <p:cNvSpPr/>
          <p:nvPr/>
        </p:nvSpPr>
        <p:spPr>
          <a:xfrm>
            <a:off x="662940" y="2354580"/>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2286000"/>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468880"/>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8" name="Rectangle 7"/>
          <p:cNvSpPr/>
          <p:nvPr/>
        </p:nvSpPr>
        <p:spPr>
          <a:xfrm>
            <a:off x="1559051" y="2354580"/>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490472" y="2286000"/>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64792" y="2286000"/>
            <a:ext cx="9528048" cy="566928"/>
          </a:xfrm>
          <a:prstGeom prst="rect">
            <a:avLst/>
          </a:prstGeom>
          <a:noFill/>
        </p:spPr>
        <p:txBody>
          <a:bodyPr wrap="square" lIns="0" rIns="0" tIns="0" bIns="0" anchor="ctr">
            <a:spAutoFit/>
          </a:bodyPr>
          <a:lstStyle/>
          <a:p>
            <a:pPr algn="l"/>
            <a:r>
              <a:rPr sz="1450">
                <a:solidFill>
                  <a:srgbClr val="000000"/>
                </a:solidFill>
                <a:latin typeface="Calibri"/>
              </a:rPr>
              <a:t>P3c: field and first line drawing reviewed; one change written down</a:t>
            </a:r>
          </a:p>
        </p:txBody>
      </p:sp>
      <p:sp>
        <p:nvSpPr>
          <p:cNvPr id="11" name="Rectangle 10"/>
          <p:cNvSpPr/>
          <p:nvPr/>
        </p:nvSpPr>
        <p:spPr>
          <a:xfrm>
            <a:off x="662940" y="3067812"/>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999232"/>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182112"/>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14" name="Rectangle 13"/>
          <p:cNvSpPr/>
          <p:nvPr/>
        </p:nvSpPr>
        <p:spPr>
          <a:xfrm>
            <a:off x="1559051" y="3067812"/>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90472" y="2999232"/>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64792" y="2999232"/>
            <a:ext cx="9528048" cy="566928"/>
          </a:xfrm>
          <a:prstGeom prst="rect">
            <a:avLst/>
          </a:prstGeom>
          <a:noFill/>
        </p:spPr>
        <p:txBody>
          <a:bodyPr wrap="square" lIns="0" rIns="0" tIns="0" bIns="0" anchor="ctr">
            <a:spAutoFit/>
          </a:bodyPr>
          <a:lstStyle/>
          <a:p>
            <a:pPr algn="l"/>
            <a:r>
              <a:rPr sz="1450">
                <a:solidFill>
                  <a:srgbClr val="000000"/>
                </a:solidFill>
                <a:latin typeface="Calibri"/>
              </a:rPr>
              <a:t>P3d: site picked — source, units, scale and orientation recorded</a:t>
            </a:r>
          </a:p>
        </p:txBody>
      </p:sp>
      <p:sp>
        <p:nvSpPr>
          <p:cNvPr id="17" name="Rectangle 16"/>
          <p:cNvSpPr/>
          <p:nvPr/>
        </p:nvSpPr>
        <p:spPr>
          <a:xfrm>
            <a:off x="662940" y="3781044"/>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712464"/>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895344"/>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0" name="Rectangle 19"/>
          <p:cNvSpPr/>
          <p:nvPr/>
        </p:nvSpPr>
        <p:spPr>
          <a:xfrm>
            <a:off x="1559051" y="3781044"/>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90472" y="3712464"/>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64792" y="3712464"/>
            <a:ext cx="9528048" cy="566928"/>
          </a:xfrm>
          <a:prstGeom prst="rect">
            <a:avLst/>
          </a:prstGeom>
          <a:noFill/>
        </p:spPr>
        <p:txBody>
          <a:bodyPr wrap="square" lIns="0" rIns="0" tIns="0" bIns="0" anchor="ctr">
            <a:spAutoFit/>
          </a:bodyPr>
          <a:lstStyle/>
          <a:p>
            <a:pPr algn="l"/>
            <a:r>
              <a:rPr sz="1450">
                <a:solidFill>
                  <a:srgbClr val="000000"/>
                </a:solidFill>
                <a:latin typeface="Calibri"/>
              </a:rPr>
              <a:t>P3d: first layer mapped, with its legend and units</a:t>
            </a:r>
          </a:p>
        </p:txBody>
      </p:sp>
      <p:sp>
        <p:nvSpPr>
          <p:cNvPr id="23" name="Rectangle 22"/>
          <p:cNvSpPr/>
          <p:nvPr/>
        </p:nvSpPr>
        <p:spPr>
          <a:xfrm>
            <a:off x="662940" y="4494276"/>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425696"/>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08576"/>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6" name="Rectangle 25"/>
          <p:cNvSpPr/>
          <p:nvPr/>
        </p:nvSpPr>
        <p:spPr>
          <a:xfrm>
            <a:off x="1559051" y="4494276"/>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90472" y="4425696"/>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64792" y="4425696"/>
            <a:ext cx="9528048" cy="566928"/>
          </a:xfrm>
          <a:prstGeom prst="rect">
            <a:avLst/>
          </a:prstGeom>
          <a:noFill/>
        </p:spPr>
        <p:txBody>
          <a:bodyPr wrap="square" lIns="0" rIns="0" tIns="0" bIns="0" anchor="ctr">
            <a:spAutoFit/>
          </a:bodyPr>
          <a:lstStyle/>
          <a:p>
            <a:pPr algn="l"/>
            <a:r>
              <a:rPr sz="1450">
                <a:solidFill>
                  <a:srgbClr val="000000"/>
                </a:solidFill>
                <a:latin typeface="Calibri"/>
              </a:rPr>
              <a:t>P3d: the next two layers chosen, and what each will measure written down</a:t>
            </a:r>
          </a:p>
        </p:txBody>
      </p:sp>
      <p:sp>
        <p:nvSpPr>
          <p:cNvPr id="29" name="Rectangle 28"/>
          <p:cNvSpPr/>
          <p:nvPr/>
        </p:nvSpPr>
        <p:spPr>
          <a:xfrm>
            <a:off x="662940" y="5207508"/>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38928"/>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321808"/>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32" name="Rectangle 31"/>
          <p:cNvSpPr/>
          <p:nvPr/>
        </p:nvSpPr>
        <p:spPr>
          <a:xfrm>
            <a:off x="1559051" y="5207508"/>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90472" y="5138928"/>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764792" y="5138928"/>
            <a:ext cx="9528048" cy="566928"/>
          </a:xfrm>
          <a:prstGeom prst="rect">
            <a:avLst/>
          </a:prstGeom>
          <a:noFill/>
        </p:spPr>
        <p:txBody>
          <a:bodyPr wrap="square" lIns="0" rIns="0" tIns="0" bIns="0" anchor="ctr">
            <a:spAutoFit/>
          </a:bodyPr>
          <a:lstStyle/>
          <a:p>
            <a:pPr algn="l"/>
            <a:r>
              <a:rPr sz="1450">
                <a:solidFill>
                  <a:srgbClr val="000000"/>
                </a:solidFill>
                <a:latin typeface="Calibri"/>
              </a:rPr>
              <a:t>Deadline: every item on the checklist located and ready to submit</a:t>
            </a:r>
          </a:p>
        </p:txBody>
      </p:sp>
      <p:sp>
        <p:nvSpPr>
          <p:cNvPr id="35" name="Rectangle 34"/>
          <p:cNvSpPr/>
          <p:nvPr/>
        </p:nvSpPr>
        <p:spPr>
          <a:xfrm>
            <a:off x="662940" y="6012180"/>
            <a:ext cx="841248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943600"/>
            <a:ext cx="8412480" cy="566928"/>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943600"/>
            <a:ext cx="8412480" cy="566928"/>
          </a:xfrm>
          <a:prstGeom prst="rect">
            <a:avLst/>
          </a:prstGeom>
          <a:noFill/>
        </p:spPr>
        <p:txBody>
          <a:bodyPr wrap="square" lIns="0" rIns="0" tIns="0" bIns="0" anchor="ctr">
            <a:spAutoFit/>
          </a:bodyPr>
          <a:lstStyle/>
          <a:p>
            <a:pPr algn="ctr"/>
            <a:r>
              <a:rPr sz="1300" b="1">
                <a:solidFill>
                  <a:srgbClr val="FFE500"/>
                </a:solidFill>
                <a:latin typeface="Arial"/>
              </a:rPr>
              <a:t>TWO LAYERS WITH LEGENDS BY NEXT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BEFORE NEXT CLASS</a:t>
            </a:r>
          </a:p>
        </p:txBody>
      </p:sp>
      <p:sp>
        <p:nvSpPr>
          <p:cNvPr id="4" name="Rectangle 3"/>
          <p:cNvSpPr/>
          <p:nvPr/>
        </p:nvSpPr>
        <p:spPr>
          <a:xfrm>
            <a:off x="662940" y="1851660"/>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1783080"/>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084831"/>
            <a:ext cx="1508760" cy="274320"/>
          </a:xfrm>
          <a:prstGeom prst="rect">
            <a:avLst/>
          </a:prstGeom>
          <a:noFill/>
        </p:spPr>
        <p:txBody>
          <a:bodyPr wrap="square" lIns="0" rIns="0" tIns="0" bIns="0" anchor="t">
            <a:spAutoFit/>
          </a:bodyPr>
          <a:lstStyle/>
          <a:p>
            <a:pPr algn="ctr"/>
            <a:r>
              <a:rPr sz="1400" b="1">
                <a:solidFill>
                  <a:srgbClr val="000000"/>
                </a:solidFill>
                <a:latin typeface="Arial"/>
              </a:rPr>
              <a:t>DEADLINE</a:t>
            </a:r>
          </a:p>
        </p:txBody>
      </p:sp>
      <p:sp>
        <p:nvSpPr>
          <p:cNvPr id="7" name="Rectangle 6"/>
          <p:cNvSpPr/>
          <p:nvPr/>
        </p:nvSpPr>
        <p:spPr>
          <a:xfrm>
            <a:off x="2446020" y="1851660"/>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377440" y="1783080"/>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51760" y="1901952"/>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Next class, Week 10 — Oct 27, is the mid-semester deadline. GSM, P2b and P3c are due; everything through Arrays must be in.</a:t>
            </a:r>
          </a:p>
        </p:txBody>
      </p:sp>
      <p:sp>
        <p:nvSpPr>
          <p:cNvPr id="10" name="Rectangle 9"/>
          <p:cNvSpPr/>
          <p:nvPr/>
        </p:nvSpPr>
        <p:spPr>
          <a:xfrm>
            <a:off x="662940" y="2912364"/>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94360" y="2843784"/>
            <a:ext cx="1508760" cy="804672"/>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3145536"/>
            <a:ext cx="1508760" cy="274320"/>
          </a:xfrm>
          <a:prstGeom prst="rect">
            <a:avLst/>
          </a:prstGeom>
          <a:noFill/>
        </p:spPr>
        <p:txBody>
          <a:bodyPr wrap="square" lIns="0" rIns="0" tIns="0" bIns="0" anchor="t">
            <a:spAutoFit/>
          </a:bodyPr>
          <a:lstStyle/>
          <a:p>
            <a:pPr algn="ctr"/>
            <a:r>
              <a:rPr sz="1400" b="1">
                <a:solidFill>
                  <a:srgbClr val="000000"/>
                </a:solidFill>
                <a:latin typeface="Arial"/>
              </a:rPr>
              <a:t>NEXT</a:t>
            </a:r>
          </a:p>
        </p:txBody>
      </p:sp>
      <p:sp>
        <p:nvSpPr>
          <p:cNvPr id="13" name="Rectangle 12"/>
          <p:cNvSpPr/>
          <p:nvPr/>
        </p:nvSpPr>
        <p:spPr>
          <a:xfrm>
            <a:off x="2446020" y="2912364"/>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77440" y="2843784"/>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2962656"/>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Week 10 — Oct 27 is a regular class: Volumetric Data — signed distance fields (SDF). P4a is issued.</a:t>
            </a:r>
          </a:p>
        </p:txBody>
      </p:sp>
      <p:sp>
        <p:nvSpPr>
          <p:cNvPr id="16" name="Rectangle 15"/>
          <p:cNvSpPr/>
          <p:nvPr/>
        </p:nvSpPr>
        <p:spPr>
          <a:xfrm>
            <a:off x="662940" y="3973068"/>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94360" y="3904487"/>
            <a:ext cx="1508760" cy="80467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94360" y="4206240"/>
            <a:ext cx="1508760" cy="274320"/>
          </a:xfrm>
          <a:prstGeom prst="rect">
            <a:avLst/>
          </a:prstGeom>
          <a:noFill/>
        </p:spPr>
        <p:txBody>
          <a:bodyPr wrap="square" lIns="0" rIns="0" tIns="0" bIns="0" anchor="t">
            <a:spAutoFit/>
          </a:bodyPr>
          <a:lstStyle/>
          <a:p>
            <a:pPr algn="ctr"/>
            <a:r>
              <a:rPr sz="1400" b="1">
                <a:solidFill>
                  <a:srgbClr val="000000"/>
                </a:solidFill>
                <a:latin typeface="Arial"/>
              </a:rPr>
              <a:t>P3d</a:t>
            </a:r>
          </a:p>
        </p:txBody>
      </p:sp>
      <p:sp>
        <p:nvSpPr>
          <p:cNvPr id="19" name="Rectangle 18"/>
          <p:cNvSpPr/>
          <p:nvPr/>
        </p:nvSpPr>
        <p:spPr>
          <a:xfrm>
            <a:off x="2446020" y="3973068"/>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377440" y="3904487"/>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651760" y="4023359"/>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Checkpoint next class. Bring your site's point cloud and at least two mapped layers with legends. P3d is due Week 11 — Nov 3.</a:t>
            </a:r>
          </a:p>
        </p:txBody>
      </p:sp>
      <p:sp>
        <p:nvSpPr>
          <p:cNvPr id="22" name="Rectangle 21"/>
          <p:cNvSpPr/>
          <p:nvPr/>
        </p:nvSpPr>
        <p:spPr>
          <a:xfrm>
            <a:off x="662940" y="5033772"/>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4965192"/>
            <a:ext cx="1508760" cy="8046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5266944"/>
            <a:ext cx="1508760" cy="274320"/>
          </a:xfrm>
          <a:prstGeom prst="rect">
            <a:avLst/>
          </a:prstGeom>
          <a:noFill/>
        </p:spPr>
        <p:txBody>
          <a:bodyPr wrap="square" lIns="0" rIns="0" tIns="0" bIns="0" anchor="t">
            <a:spAutoFit/>
          </a:bodyPr>
          <a:lstStyle/>
          <a:p>
            <a:pPr algn="ctr"/>
            <a:r>
              <a:rPr sz="1400" b="1">
                <a:solidFill>
                  <a:srgbClr val="000000"/>
                </a:solidFill>
                <a:latin typeface="Arial"/>
              </a:rPr>
              <a:t>P3c</a:t>
            </a:r>
          </a:p>
        </p:txBody>
      </p:sp>
      <p:sp>
        <p:nvSpPr>
          <p:cNvPr id="25" name="Rectangle 24"/>
          <p:cNvSpPr/>
          <p:nvPr/>
        </p:nvSpPr>
        <p:spPr>
          <a:xfrm>
            <a:off x="2446020" y="5033772"/>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377440" y="4965192"/>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51760" y="5084064"/>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Finish the sheet: line drawing, grayscale field and legend. Submit the SVG, the sheet PDF and the editable graph. Plotting is optional.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