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D8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10  /  OCT 27  /  U07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MIDTERM REVIEW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+ VOLUMETRIC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PART 1 — PROJECTS 1–3 ON THE WALL · PART 2 — P4 BEGINS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MIDTERM — 5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P4a ISSUED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PART 1 — RUNNING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Due today: GSM · MID · P2b · P3c · P3d. Everything is on the wall before the first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40080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40080" cy="53035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933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DF7"/>
                </a:solidFill>
                <a:latin typeface="Arial"/>
              </a:rPr>
              <a:t>PIN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3566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DF7"/>
                </a:solidFill>
                <a:latin typeface="Calibri"/>
              </a:rPr>
              <a:t>Prints, the plotted drawing and the 3D print, in project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628900"/>
            <a:ext cx="640080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560320"/>
            <a:ext cx="640080" cy="53035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60320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DF7"/>
                </a:solidFill>
                <a:latin typeface="Arial"/>
              </a:rPr>
              <a:t>PROJECT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60320"/>
            <a:ext cx="3566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DF7"/>
                </a:solidFill>
                <a:latin typeface="Calibri"/>
              </a:rPr>
              <a:t>The manual, and one rule you can point to on every other sheet.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3360420"/>
            <a:ext cx="640080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3291839"/>
            <a:ext cx="640080" cy="53035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45643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291839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DF7"/>
                </a:solidFill>
                <a:latin typeface="Arial"/>
              </a:rPr>
              <a:t>PROJECT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291839"/>
            <a:ext cx="3566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DF7"/>
                </a:solidFill>
                <a:latin typeface="Calibri"/>
              </a:rPr>
              <a:t>The process sheet, the print, and what changed for printability.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" y="4091939"/>
            <a:ext cx="640080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94360" y="4023359"/>
            <a:ext cx="640080" cy="53035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4360" y="418795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023359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DF7"/>
                </a:solidFill>
                <a:latin typeface="Arial"/>
              </a:rPr>
              <a:t>PROJECT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23359"/>
            <a:ext cx="3566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DF7"/>
                </a:solidFill>
                <a:latin typeface="Calibri"/>
              </a:rPr>
              <a:t>Module, arrays, plotted field, site analysis — as one sequence.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" y="4823459"/>
            <a:ext cx="640080" cy="53035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94360" y="4754879"/>
            <a:ext cx="640080" cy="53035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491947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754879"/>
            <a:ext cx="17373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DF7"/>
                </a:solidFill>
                <a:latin typeface="Arial"/>
              </a:rPr>
              <a:t>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54879"/>
            <a:ext cx="356616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>
                <a:solidFill>
                  <a:srgbClr val="FFFDF7"/>
                </a:solidFill>
                <a:latin typeface="Calibri"/>
              </a:rPr>
              <a:t>Open the file. Change one thing in front of the room.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8060" y="1897380"/>
            <a:ext cx="429768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269480" y="1828800"/>
            <a:ext cx="429768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269480" y="1828800"/>
            <a:ext cx="429768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98079" y="182880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THE LIVE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514600"/>
            <a:ext cx="3749039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000000"/>
                </a:solidFill>
                <a:latin typeface="Calibri"/>
              </a:rPr>
              <a:t>CHOOSE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One parameter: an attractor position, a count, a radius, a setting.</a:t>
            </a:r>
          </a:p>
          <a:p>
            <a:pPr algn="l">
              <a:lnSpc>
                <a:spcPct val="120000"/>
              </a:lnSpc>
            </a:pPr>
            <a:r>
              <a:rPr sz="1350" b="1">
                <a:solidFill>
                  <a:srgbClr val="000000"/>
                </a:solidFill>
                <a:latin typeface="Calibri"/>
              </a:rPr>
              <a:t>PREDICT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Say what will happen before you touch it.</a:t>
            </a:r>
          </a:p>
          <a:p>
            <a:pPr algn="l">
              <a:lnSpc>
                <a:spcPct val="120000"/>
              </a:lnSpc>
            </a:pPr>
            <a:r>
              <a:rPr sz="1350" b="1">
                <a:solidFill>
                  <a:srgbClr val="000000"/>
                </a:solidFill>
                <a:latin typeface="Calibri"/>
              </a:rPr>
              <a:t>CHANGE AND EXPLAIN</a:t>
            </a:r>
          </a:p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Name the nodes, or the analysis settings, that made it happen.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57378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669280"/>
            <a:ext cx="10972800" cy="56692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IF THE PREDICTION WAS WRONG, SAY WHY. THAT IS ALSO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PART 1 — WHAT IS ASSESSED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Revision and coherence across Projects 1–3, presented and changed live.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4459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Print and present Project 1: the four-page Graphic Standards Manual.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722168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653588"/>
            <a:ext cx="777240" cy="724204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91510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722168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653588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745028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Project 2: the CSG process sheet, the 3D printed CSG object and its process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592677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524097"/>
            <a:ext cx="777240" cy="724204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785615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3592677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524097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3615537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Project 3: one module sheet, two array sheets, the plotted attractor field drawing and one Mixtli site-analysis sheet.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63186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394606"/>
            <a:ext cx="777240" cy="72420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5612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4463186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4394606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4486046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Bring editable files and dependencies. Change a parameter live, predict the result and explain the nodes or the Mixtli analysis settings.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333695"/>
            <a:ext cx="777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265115"/>
            <a:ext cx="777240" cy="724204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52663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4499" y="5333695"/>
            <a:ext cx="9921240" cy="72420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645919" y="5265115"/>
            <a:ext cx="9921240" cy="724204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920240" y="5356555"/>
            <a:ext cx="9372600" cy="5413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review assesses revision and coherence across Projects 1-3. Earlier assignment grades remain separate. Project 4 follows the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PART 2 — A MESH OR A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Two ways to describe the same solid. Until now you have only used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3492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3492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49240" cy="502920"/>
          </a:xfrm>
          <a:prstGeom prst="rect">
            <a:avLst/>
          </a:prstGeom>
          <a:solidFill>
            <a:srgbClr val="B4B4AC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MESH — THE SKIN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800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vertices + edges + faces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Stores only the surface. Inside and outside are implied by the faces.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A Boolean has to cut and rebuild faces, and can fail.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851660"/>
            <a:ext cx="53492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53492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53492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FIELD — A VALUE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800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value = f(x, y, z)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Every point in space has a number. The surface is where the number crosses a threshold.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A Boolean is arithmetic on two numbers. It cannot fail.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YOU HAVE ALREADY DRAWN A FIELD: THE P3c GRAYSCALE. THIS IS THE SAME IDEA, IN 3D.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DENSITY OR SIGNED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Two kinds of field. P4a is built on the second.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356616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6616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56616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DENSITY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0000"/>
                </a:solidFill>
                <a:latin typeface="Calibri"/>
              </a:rPr>
              <a:t>How much is here.</a:t>
            </a:r>
          </a:p>
          <a:p>
            <a:pPr algn="l">
              <a:lnSpc>
                <a:spcPct val="130000"/>
              </a:lnSpc>
            </a:pPr>
            <a:r>
              <a:rPr sz="5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Counted from samples, such as points within a radius. High inside a cluster, zero far away.</a:t>
            </a:r>
          </a:p>
          <a:p>
            <a:pPr algn="l">
              <a:lnSpc>
                <a:spcPct val="130000"/>
              </a:lnSpc>
            </a:pPr>
            <a:r>
              <a:rPr sz="5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surface is a threshold you choose.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7700" y="1897380"/>
            <a:ext cx="356616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56616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356616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SIGNED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60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0000"/>
                </a:solidFill>
                <a:latin typeface="Calibri"/>
              </a:rPr>
              <a:t>How far to the surface, with a sign.</a:t>
            </a:r>
          </a:p>
          <a:p>
            <a:pPr algn="l">
              <a:lnSpc>
                <a:spcPct val="130000"/>
              </a:lnSpc>
            </a:pPr>
            <a:r>
              <a:rPr sz="5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 &lt; 0   inside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 = 0   the boundary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 &gt; 0   outside</a:t>
            </a:r>
          </a:p>
          <a:p>
            <a:pPr algn="l">
              <a:lnSpc>
                <a:spcPct val="130000"/>
              </a:lnSpc>
            </a:pPr>
            <a:r>
              <a:rPr sz="5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surface is always at zero.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2459" y="1897380"/>
            <a:ext cx="3383280" cy="35661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3383280" cy="35661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17052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417052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417052" y="2601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417052" y="286207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417052" y="3122675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17052" y="338327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8417052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8417052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677656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677656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677656" y="2601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677656" y="286207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8677656" y="3122675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677656" y="338327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677656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677656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938260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938260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906256" y="2569463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906256" y="283006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906256" y="3090671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906256" y="3351275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938260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938260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9198864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166860" y="230886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9176004" y="2578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176004" y="283921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9176004" y="3099815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9176004" y="33604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166860" y="3611879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9198864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9459468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9436608" y="231800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9436608" y="2578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9436608" y="283921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9436608" y="3099815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9436608" y="33604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9427464" y="3611879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9459468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9720072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9697212" y="231800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9697212" y="2578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9697212" y="283921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9697212" y="3099815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9697212" y="33604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9688068" y="3611879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9720072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9980676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9948672" y="230886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9957816" y="2578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9957816" y="283921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9957816" y="3099815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9957816" y="33604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9948672" y="3611879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9980676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10241280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10241280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10209276" y="2569463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10218419" y="283921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10209276" y="3090671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10209276" y="3351275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10241280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10241280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10501884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10501884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10501884" y="2601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10501884" y="286207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0501884" y="3122675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10501884" y="338327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10501884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10501884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10762488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10762488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10762488" y="2601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10762488" y="286207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10762488" y="3122675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10762488" y="338327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10762488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10762488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11023092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11023092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11023092" y="2601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11023092" y="286207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11023092" y="3122675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11023092" y="338327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11023092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11023092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11283696" y="208026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11283696" y="23408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11283696" y="2601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11283696" y="286207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11283696" y="3122675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11283696" y="338327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11283696" y="364388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11283696" y="390448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8412480" y="43434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4D8D"/>
                </a:solidFill>
                <a:latin typeface="Arial"/>
              </a:rPr>
              <a:t>● </a:t>
            </a:r>
            <a:r>
              <a:rPr sz="1200">
                <a:solidFill>
                  <a:srgbClr val="000000"/>
                </a:solidFill>
                <a:latin typeface="Calibri"/>
              </a:rPr>
              <a:t>inside   </a:t>
            </a:r>
            <a:r>
              <a:rPr sz="1200" b="1">
                <a:solidFill>
                  <a:srgbClr val="000000"/>
                </a:solidFill>
                <a:latin typeface="Arial"/>
              </a:rPr>
              <a:t>● </a:t>
            </a:r>
            <a:r>
              <a:rPr sz="1200">
                <a:solidFill>
                  <a:srgbClr val="000000"/>
                </a:solidFill>
                <a:latin typeface="Calibri"/>
              </a:rPr>
              <a:t>zero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B4B4AC"/>
                </a:solidFill>
                <a:latin typeface="Arial"/>
              </a:rPr>
              <a:t>● </a:t>
            </a:r>
            <a:r>
              <a:rPr sz="1200">
                <a:solidFill>
                  <a:srgbClr val="000000"/>
                </a:solidFill>
                <a:latin typeface="Calibri"/>
              </a:rPr>
              <a:t>outside — a circle, sampled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62940" y="57378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94360" y="56692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INSIDE, OUTSIDE AND THE ZERO BOUNDARY: SAY WHICH ONE YOU ARE LOOKING 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A SHAPE IS A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Give it a point, get back a signed distance. No vertices anywhere.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3492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3492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3492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SPHERE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800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sphere(p, c, r):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    return length(p − c) −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800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Distance to the centre, minus the radius. On the surface that is exactly zero.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634740" y="408279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634740" y="430225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634740" y="452170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634740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854196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822192" y="405079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831336" y="427939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831336" y="449884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3822192" y="470916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073652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050792" y="405993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050792" y="427939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050792" y="449884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041648" y="470916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293107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270248" y="405993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270248" y="427939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270248" y="449884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261104" y="470916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12564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480560" y="405079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480560" y="427024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4480560" y="448970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512564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86500" y="1851660"/>
            <a:ext cx="5349240" cy="33832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17920" y="1783080"/>
            <a:ext cx="5349240" cy="33832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217920" y="1783080"/>
            <a:ext cx="53492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46520" y="1783080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468880"/>
            <a:ext cx="4800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box(p, c, b):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    q = abs(p − c) − b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    return length(max(q, 0))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         + min(max(q.x, q.y, q.z), 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84048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b is the half-size on each axis. Same idea, one more line.</a:t>
            </a:r>
          </a:p>
        </p:txBody>
      </p:sp>
      <p:sp>
        <p:nvSpPr>
          <p:cNvPr id="42" name="Oval 41"/>
          <p:cNvSpPr/>
          <p:nvPr/>
        </p:nvSpPr>
        <p:spPr>
          <a:xfrm>
            <a:off x="9212580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9212580" y="408279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212580" y="430225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9212580" y="452170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9212580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9432036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9400032" y="405079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9400032" y="427024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9400032" y="448970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9432036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9651492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9619488" y="405079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9628632" y="427939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9628632" y="449884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9651492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9870948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9838944" y="405079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9848088" y="4279392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9848088" y="449884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9870948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10090403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10058399" y="405079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10058399" y="427024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10058399" y="448970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10090403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10309859" y="3863339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10309859" y="408279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10309859" y="430225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10309859" y="4521707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10309859" y="474116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62940" y="550926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594360" y="5440680"/>
            <a:ext cx="10972800" cy="62179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77240" y="544068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CHANGE r OR b AND THE WHOLE FIELD CHANGES. THE PARAMETER IS STILL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THE BOOLEANS AGAIN — AS MIN AND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same three operations from P2. On fields, each is one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ourier New"/>
              </a:rPr>
              <a:t>min(a, b)</a:t>
            </a:r>
          </a:p>
        </p:txBody>
      </p:sp>
      <p:sp>
        <p:nvSpPr>
          <p:cNvPr id="10" name="Oval 9"/>
          <p:cNvSpPr/>
          <p:nvPr/>
        </p:nvSpPr>
        <p:spPr>
          <a:xfrm>
            <a:off x="1284732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284732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284732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284732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284732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284732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284732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495044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495044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463040" y="329184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463040" y="350215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463040" y="371246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463040" y="3922776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495044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705356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673352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682496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682496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682496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682496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705356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915668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883664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892808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892808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892808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892808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883664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2125980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2093976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2103120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2103120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2103120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103120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093976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2336292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2304288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313432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313432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313432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2313432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304288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546604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514600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2523744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523744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523744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523744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514600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756916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724912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734056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734056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734056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734056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2724912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2967228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967228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935224" y="329184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944368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944368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2935224" y="3922776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2967228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3177540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3177540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3177540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145536" y="350215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145536" y="371246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177540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3177540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4393692" y="1851660"/>
            <a:ext cx="35204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4325112" y="1783080"/>
            <a:ext cx="35204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INTERSECTION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53712" y="23957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ourier New"/>
              </a:rPr>
              <a:t>max(a, b)</a:t>
            </a:r>
          </a:p>
        </p:txBody>
      </p:sp>
      <p:sp>
        <p:nvSpPr>
          <p:cNvPr id="85" name="Oval 84"/>
          <p:cNvSpPr/>
          <p:nvPr/>
        </p:nvSpPr>
        <p:spPr>
          <a:xfrm>
            <a:off x="5015484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5015484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5015484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5015484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5015484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5015484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5015484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5225796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5225796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5225796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5225796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5225796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5225796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5225796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5436108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5436108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5436108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5436108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5436108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5436108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5436108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5646420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5646420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5646420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5646420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5646420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5646420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5646420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5856732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5856732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5824728" y="329184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5833872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5833872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5824728" y="3922776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5856732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6067044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6035040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6044184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6044184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6044184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6035040" y="3922776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6067044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6277356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6277356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6277356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6245352" y="350215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6245352" y="371246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6277356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6277356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6487668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6487668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6487668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6487668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6487668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6487668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6487668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6697980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6697980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6697980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6697980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6697980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6697980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6697980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6908292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6908292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6908292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6908292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6908292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6908292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6908292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8124444" y="1851660"/>
            <a:ext cx="3520440" cy="3246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8055864" y="1783080"/>
            <a:ext cx="3520440" cy="3246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DIFFERENCE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84464" y="239572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ourier New"/>
              </a:rPr>
              <a:t>max(a, −b)</a:t>
            </a:r>
          </a:p>
        </p:txBody>
      </p:sp>
      <p:sp>
        <p:nvSpPr>
          <p:cNvPr id="160" name="Oval 159"/>
          <p:cNvSpPr/>
          <p:nvPr/>
        </p:nvSpPr>
        <p:spPr>
          <a:xfrm>
            <a:off x="8746236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8746236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8746236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8746236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8746236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8746236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8746236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8956548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8956548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8924544" y="329184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8924544" y="3502152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8924544" y="3712464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8924544" y="3922776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8956548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9166860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9134856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9144000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9144000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9144000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9144000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9166860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9377172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9345167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9354311" y="3300984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9354311" y="3511296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9354311" y="3721608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9354311" y="3931920"/>
            <a:ext cx="91440" cy="91440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9345167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9587484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9555480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9555480" y="3291840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9587484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9587484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9555480" y="3922776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9555480" y="413308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9797796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9765792" y="3081528"/>
            <a:ext cx="109728" cy="1097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9797796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9797796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9797796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9797796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9797796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10008108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10008108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10008108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10008108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10008108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10008108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10008108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10218419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10218419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10218419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10218419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10218419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10218419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10218419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10428732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10428732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10428732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10428732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10428732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10428732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10428732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10639044" y="290322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10639044" y="3113532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10639044" y="3323844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10639044" y="3534156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10639044" y="3744468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10639044" y="3954780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10639044" y="4165091"/>
            <a:ext cx="45720" cy="45720"/>
          </a:xfrm>
          <a:prstGeom prst="ellipse">
            <a:avLst/>
          </a:prstGeom>
          <a:solidFill>
            <a:srgbClr val="B4B4AC"/>
          </a:solidFill>
          <a:ln w="63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662940" y="537210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594360" y="5303520"/>
            <a:ext cx="10972800" cy="65836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TextBox 231"/>
          <p:cNvSpPr txBox="1"/>
          <p:nvPr/>
        </p:nvSpPr>
        <p:spPr>
          <a:xfrm>
            <a:off x="777240" y="530352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E500"/>
                </a:solidFill>
                <a:latin typeface="Arial"/>
              </a:rPr>
              <a:t>UNION KEEPS THE NEARER SURFACE. INTERSECTION KEEPS THE FARTHER. DIFFERENCE FLIPS b INSIDE OUT, THEN INTERSECTS.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943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operands as P2, so the same rule: a − b is not b −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BLEND, SAMPLE,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Three steps turn a function into something you can see, slice and cut.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3520440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2044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SMOOTH BLEND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smooth_min(a, b, 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71800"/>
            <a:ext cx="306324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k = 0 is a hard union. Larger k fills the joint with a soft fillet. A mesh Boolean cannot do this.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3692" y="1897380"/>
            <a:ext cx="3520440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25112" y="1828800"/>
            <a:ext cx="352044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53712" y="18288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871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sample(field, bounds, 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53712" y="2971800"/>
            <a:ext cx="306324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15468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field is read on a grid. Coarse is fast and faceted. Fine is smooth and slow. State the number.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4444" y="1897380"/>
            <a:ext cx="3520440" cy="3291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55864" y="1828800"/>
            <a:ext cx="3520440" cy="3291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55864" y="1828800"/>
            <a:ext cx="35204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4464" y="182880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SURFACE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2487168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extract(grid, iso=0.0)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2971800"/>
            <a:ext cx="3063240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3154680"/>
            <a:ext cx="3063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A mesh is built where the samples cross zero. Only now does the volume have faces.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" y="5554980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94360" y="5486400"/>
            <a:ext cx="10972800" cy="62179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P4a ASKS YOU TO STATE THE SAMPLING RESOLUTION AND THE EXTRACTION SETTINGS.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THING, WRITTEN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The top half reads a point cloud. Today is the bottom half: a shape as a function.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cloud = load("site.ply")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92153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print(len(cloud))                          # state this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72627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53101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cloud = decimate(cloud, keep=0.05)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33574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print(len(cloud))                          # and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14048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94522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for p in cloud: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74995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   p.density = len(within(cloud, p, radius))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5469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35943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volume = voxelize(cloud, size=0.5)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3816416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996890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# A designed field can also define a volume.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177364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def field(p):                              # a shape as a 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57837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   a = sphere_sdf(p, center_a, r_a)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38311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   b = box_sdf(p, center_b, size_b)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718785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   return smooth_min(a, b, k)             # the blend comes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899258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79732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grid    = sample(field, bounds, resolution)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260206"/>
            <a:ext cx="6400800" cy="18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>
                <a:solidFill>
                  <a:srgbClr val="000000"/>
                </a:solidFill>
                <a:latin typeface="Courier New"/>
              </a:rPr>
              <a:t>surface = extract(grid, iso=0.0)           # where the field is zero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51460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sample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point cloud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origin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units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decimation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density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voxel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radius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514600"/>
            <a:ext cx="169164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scalar field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implicit surface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signed distance field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isosurface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threshold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noise</a:t>
            </a:r>
          </a:p>
          <a:p>
            <a:pPr algn="l">
              <a:lnSpc>
                <a:spcPct val="140000"/>
              </a:lnSpc>
            </a:pPr>
            <a:r>
              <a:rPr sz="1200">
                <a:solidFill>
                  <a:srgbClr val="000000"/>
                </a:solidFill>
                <a:latin typeface="Calibri"/>
              </a:rPr>
              <a:t>resolution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FROM “def field” DOWN IS P4a: TWO FIELDS, ONE BLEND, ONE GRID, ONE SURFACE AT ZERO.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P4a — SDF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12 — Nov 10   /   14%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Project 4 begins. Build a volume from signed distance fields — the CSG logic from P2, applied to fields instead of meshes — and choose the one you will slice and laser-cut in P4b.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SAME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Union, intersection and difference of the same sources.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VARY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THREE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Three controlled parameter changes on the chosen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STATE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HOW IT WAS 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Resolution, extraction settings, and the spatial intention.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P4a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Visual quality 35% · computational understanding 25% · technical execution 20% · experimentation 10% · requirements and identity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41831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534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Use two 17 x 11 inch sheets to explain a volume built from signed distance fields (SDF) — the CSG logic from P2, applied to fields instead of meshes.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39796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71215"/>
            <a:ext cx="777240" cy="941831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4154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39796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71215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62656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Compare union, intersection and difference using the same source fields. Show the chosen result and three controlled parameter variants.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27931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59351"/>
            <a:ext cx="777240" cy="941831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2968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27931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59351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50791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Diagram the field logic and identify density, signed distance or another implicit function. State sampling resolution and surface extraction settings.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116067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047487"/>
            <a:ext cx="777240" cy="941831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541781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5116067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5047487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5138927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Select one volume for P4b and explain the spatial intention. Submit the editable graph and retain the source fields.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6259067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6190487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6190487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11 — Nov 3 — Bring an SDF diagram, a union/intersection/difference comparison and a candidate volume for slicing.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YOUR FIRST FIELD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After the review: two primitives, three Booleans, one surface.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sphere field sampled on a grid and extracted at 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box field beside it, each with its size exposed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Union as min, then swapped for max, then for max(a, −b)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smooth blend, with k changed until you can see the joint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same volume extracted at two resolutions, and the numbers written 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IF YOU CAN SAY WHERE ZERO IS, YOU CAN SAY WHERE THE SURFACE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11 — Nov 3: SDF volume studio work — primitives, the three Booleans, smooth blend, noise and surface extraction.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P4a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Checkpoint Week 11 — Nov 3. Bring an SDF diagram, a union/intersection/difference comparison and a candidate volume for slicing.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DUE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P4a is due Week 12 — Nov 10 (14%): two sheets, the editable graph and the source fields.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NOTE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Dates after the midterm are provisional. Check the course site each week.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