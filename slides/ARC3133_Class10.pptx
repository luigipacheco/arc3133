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4D8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1051560"/>
            <a:ext cx="10972800" cy="2560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148132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Arial"/>
              </a:rPr>
              <a:t>CLASS 10  /  OCT 27  /  U07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2125980"/>
            <a:ext cx="10149840" cy="2148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2057400"/>
            <a:ext cx="10149840" cy="2148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93268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DEADLINE WEEK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+ VOLUMETRIC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" y="4549140"/>
            <a:ext cx="676656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480560"/>
            <a:ext cx="6766560" cy="56692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795259" y="4549140"/>
            <a:ext cx="301752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4480560"/>
            <a:ext cx="6400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EVERYTHING THROUGH ARRAYS IS IN · PROJECT 4 BEGINS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GSM + P2b + P3c DUE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MID-SEMESTER DEADLINE  /  P4a ISSUED TODAY  /  P3d CHECKPOINT TODAY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DUE TODAY — THE MID-SEMESTER DEADLINE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Everything through Arrays must be in today. This is a regular class after that.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1005840" cy="868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1005840" cy="8686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116836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00000"/>
                </a:solidFill>
                <a:latin typeface="Arial"/>
              </a:rPr>
              <a:t>GSM</a:t>
            </a:r>
          </a:p>
        </p:txBody>
      </p:sp>
      <p:sp>
        <p:nvSpPr>
          <p:cNvPr id="8" name="Rectangle 7"/>
          <p:cNvSpPr/>
          <p:nvPr/>
        </p:nvSpPr>
        <p:spPr>
          <a:xfrm>
            <a:off x="1897380" y="1851660"/>
            <a:ext cx="9738360" cy="868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828800" y="1783080"/>
            <a:ext cx="9738360" cy="868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057400" y="1874519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GRAPHIC STANDARDS MANUAL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1874519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6B6B6B"/>
                </a:solidFill>
                <a:latin typeface="Arial"/>
              </a:rPr>
              <a:t>DUE WEEK 10 — Oct 27   /   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221991"/>
            <a:ext cx="9235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Four pages, each rule beside a tested application. Revised again for the booklet.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2940" y="2857500"/>
            <a:ext cx="1005840" cy="868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94360" y="2788920"/>
            <a:ext cx="1005840" cy="8686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4360" y="3122676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00000"/>
                </a:solidFill>
                <a:latin typeface="Arial"/>
              </a:rPr>
              <a:t>P2b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97380" y="2857500"/>
            <a:ext cx="9738360" cy="868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828800" y="2788920"/>
            <a:ext cx="9738360" cy="868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057400" y="2880360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CSG 3D PRINTED OBJECT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288036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6B6B6B"/>
                </a:solidFill>
                <a:latin typeface="Arial"/>
              </a:rPr>
              <a:t>DUE WEEK 10 — Oct 27   /   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227832"/>
            <a:ext cx="9235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The print and its process sheet, handed in, with the source, mesh and slicer files.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940" y="3863340"/>
            <a:ext cx="1005840" cy="868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94360" y="3794760"/>
            <a:ext cx="1005840" cy="8686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94360" y="4128516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00000"/>
                </a:solidFill>
                <a:latin typeface="Arial"/>
              </a:rPr>
              <a:t>P3c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97380" y="3863340"/>
            <a:ext cx="9738360" cy="868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1828800" y="3794760"/>
            <a:ext cx="9738360" cy="868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057400" y="3886200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ATTRACTOR: 2D FIELD DRAWING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38862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6B6B6B"/>
                </a:solidFill>
                <a:latin typeface="Arial"/>
              </a:rPr>
              <a:t>DUE WEEK 10 — Oct 27   /   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4233672"/>
            <a:ext cx="9235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One 17 × 11 sheet: line drawing, grayscale field and legend. SVG, PDF and graph.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4818888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B4B4AC"/>
                </a:solidFill>
                <a:latin typeface="Calibri"/>
              </a:rPr>
              <a:t>Already due and expected in: P2a, P3a, P3b.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2940" y="5143500"/>
            <a:ext cx="10972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594360" y="5074920"/>
            <a:ext cx="10972800" cy="56692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77240" y="507492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P3d CHECKPOINT TODAY · BRING YOUR SITE'S POINT CLOUD AND AT LEAST TWO MAPPED LAYERS WITH LEGENDS.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B4B4AC"/>
                </a:solidFill>
                <a:latin typeface="Calibri"/>
              </a:rPr>
              <a:t>P3d is due next class, Week 11 — Nov 3. P4a is issued today.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A MESH OR A 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Two ways to describe the same solid. Until now you have only used 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3492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3492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349240" cy="502920"/>
          </a:xfrm>
          <a:prstGeom prst="rect">
            <a:avLst/>
          </a:prstGeom>
          <a:solidFill>
            <a:srgbClr val="B4B4AC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4892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MESH — THE SKIN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68880"/>
            <a:ext cx="48006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vertices + edges + faces</a:t>
            </a:r>
          </a:p>
          <a:p>
            <a:pPr algn="l">
              <a:lnSpc>
                <a:spcPct val="130000"/>
              </a:lnSpc>
            </a:pPr>
            <a:r>
              <a:rPr sz="6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Stores only the surface. Inside and outside are implied by the faces.</a:t>
            </a:r>
          </a:p>
          <a:p>
            <a:pPr algn="l">
              <a:lnSpc>
                <a:spcPct val="130000"/>
              </a:lnSpc>
            </a:pPr>
            <a:r>
              <a:rPr sz="6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A Boolean has to cut and rebuild faces, and can fail.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86500" y="1851660"/>
            <a:ext cx="53492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3492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217920" y="1783080"/>
            <a:ext cx="53492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46520" y="1783080"/>
            <a:ext cx="4892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FIELD — A VALUE EVERYWHERE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68880"/>
            <a:ext cx="48006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value = f(x, y, z)</a:t>
            </a:r>
          </a:p>
          <a:p>
            <a:pPr algn="l">
              <a:lnSpc>
                <a:spcPct val="130000"/>
              </a:lnSpc>
            </a:pPr>
            <a:r>
              <a:rPr sz="6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Every point in space has a number. The surface is where the number crosses a threshold.</a:t>
            </a:r>
          </a:p>
          <a:p>
            <a:pPr algn="l">
              <a:lnSpc>
                <a:spcPct val="130000"/>
              </a:lnSpc>
            </a:pPr>
            <a:r>
              <a:rPr sz="6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A Boolean is arithmetic on two numbers. It cannot fail.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32638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257800"/>
            <a:ext cx="10972800" cy="65836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25780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YOU HAVE ALREADY DRAWN A FIELD: THE P3c GRAYSCALE. THIS IS THE SAME IDEA, IN 3D.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DENSITY OR SIGNED DISTANCE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Two kinds of field. P4a is built on the second.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3566160" cy="35661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3566160" cy="35661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28800"/>
            <a:ext cx="356616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DENSITY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31089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000000"/>
                </a:solidFill>
                <a:latin typeface="Calibri"/>
              </a:rPr>
              <a:t>How much is here.</a:t>
            </a:r>
          </a:p>
          <a:p>
            <a:pPr algn="l">
              <a:lnSpc>
                <a:spcPct val="130000"/>
              </a:lnSpc>
            </a:pPr>
            <a:r>
              <a:rPr sz="5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Counted from samples, such as points within a radius. High inside a cluster, zero far away.</a:t>
            </a:r>
          </a:p>
          <a:p>
            <a:pPr algn="l">
              <a:lnSpc>
                <a:spcPct val="130000"/>
              </a:lnSpc>
            </a:pPr>
            <a:r>
              <a:rPr sz="5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The surface is a threshold you choose.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57700" y="1897380"/>
            <a:ext cx="3566160" cy="35661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89120" y="1828800"/>
            <a:ext cx="3566160" cy="35661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89120" y="1828800"/>
            <a:ext cx="356616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617720" y="182880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SIGNED DISTANCE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514600"/>
            <a:ext cx="31089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000000"/>
                </a:solidFill>
                <a:latin typeface="Calibri"/>
              </a:rPr>
              <a:t>How far to the surface, with a sign.</a:t>
            </a:r>
          </a:p>
          <a:p>
            <a:pPr algn="l">
              <a:lnSpc>
                <a:spcPct val="130000"/>
              </a:lnSpc>
            </a:pPr>
            <a:r>
              <a:rPr sz="5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d &lt; 0   inside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d = 0   the boundary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d &gt; 0   outside</a:t>
            </a:r>
          </a:p>
          <a:p>
            <a:pPr algn="l">
              <a:lnSpc>
                <a:spcPct val="130000"/>
              </a:lnSpc>
            </a:pPr>
            <a:r>
              <a:rPr sz="5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The surface is always at zero.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52459" y="1897380"/>
            <a:ext cx="3383280" cy="35661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183879" y="1828800"/>
            <a:ext cx="3383280" cy="35661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417052" y="208026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417052" y="234086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8417052" y="2601468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8417052" y="2862072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417052" y="3122675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8417052" y="3383279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8417052" y="364388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8417052" y="3904487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677656" y="208026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8677656" y="234086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677656" y="2601468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8677656" y="2862072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8677656" y="3122675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8677656" y="3383279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8677656" y="364388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8677656" y="3904487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8938260" y="208026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8938260" y="234086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8906256" y="2569463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8906256" y="2830068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8906256" y="3090671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8906256" y="3351275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8938260" y="364388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8938260" y="3904487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9198864" y="208026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9166860" y="2308860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9176004" y="2578608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9176004" y="2839212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9176004" y="3099815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9176004" y="3360420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9166860" y="3611879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9198864" y="3904487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9459468" y="208026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9436608" y="2318004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9436608" y="2578608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9436608" y="2839212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9436608" y="3099815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9436608" y="3360420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9427464" y="3611879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9459468" y="3904487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9720072" y="208026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9697212" y="2318004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9697212" y="2578608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9697212" y="2839212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9697212" y="3099815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9697212" y="3360420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9688068" y="3611879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9720072" y="3904487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9980676" y="208026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9948672" y="2308860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9957816" y="2578608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9957816" y="2839212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9957816" y="3099815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Oval 69"/>
          <p:cNvSpPr/>
          <p:nvPr/>
        </p:nvSpPr>
        <p:spPr>
          <a:xfrm>
            <a:off x="9957816" y="3360420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9948672" y="3611879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Oval 71"/>
          <p:cNvSpPr/>
          <p:nvPr/>
        </p:nvSpPr>
        <p:spPr>
          <a:xfrm>
            <a:off x="9980676" y="3904487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Oval 72"/>
          <p:cNvSpPr/>
          <p:nvPr/>
        </p:nvSpPr>
        <p:spPr>
          <a:xfrm>
            <a:off x="10241280" y="208026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10241280" y="234086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Oval 74"/>
          <p:cNvSpPr/>
          <p:nvPr/>
        </p:nvSpPr>
        <p:spPr>
          <a:xfrm>
            <a:off x="10209276" y="2569463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10218419" y="2839212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10209276" y="3090671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Oval 77"/>
          <p:cNvSpPr/>
          <p:nvPr/>
        </p:nvSpPr>
        <p:spPr>
          <a:xfrm>
            <a:off x="10209276" y="3351275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10241280" y="364388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10241280" y="3904487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10501884" y="208026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10501884" y="234086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10501884" y="2601468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10501884" y="2862072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10501884" y="3122675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Oval 85"/>
          <p:cNvSpPr/>
          <p:nvPr/>
        </p:nvSpPr>
        <p:spPr>
          <a:xfrm>
            <a:off x="10501884" y="3383279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Oval 86"/>
          <p:cNvSpPr/>
          <p:nvPr/>
        </p:nvSpPr>
        <p:spPr>
          <a:xfrm>
            <a:off x="10501884" y="364388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Oval 87"/>
          <p:cNvSpPr/>
          <p:nvPr/>
        </p:nvSpPr>
        <p:spPr>
          <a:xfrm>
            <a:off x="10501884" y="3904487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10762488" y="208026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Oval 89"/>
          <p:cNvSpPr/>
          <p:nvPr/>
        </p:nvSpPr>
        <p:spPr>
          <a:xfrm>
            <a:off x="10762488" y="234086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Oval 90"/>
          <p:cNvSpPr/>
          <p:nvPr/>
        </p:nvSpPr>
        <p:spPr>
          <a:xfrm>
            <a:off x="10762488" y="2601468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Oval 91"/>
          <p:cNvSpPr/>
          <p:nvPr/>
        </p:nvSpPr>
        <p:spPr>
          <a:xfrm>
            <a:off x="10762488" y="2862072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10762488" y="3122675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Oval 93"/>
          <p:cNvSpPr/>
          <p:nvPr/>
        </p:nvSpPr>
        <p:spPr>
          <a:xfrm>
            <a:off x="10762488" y="3383279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Oval 94"/>
          <p:cNvSpPr/>
          <p:nvPr/>
        </p:nvSpPr>
        <p:spPr>
          <a:xfrm>
            <a:off x="10762488" y="364388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Oval 95"/>
          <p:cNvSpPr/>
          <p:nvPr/>
        </p:nvSpPr>
        <p:spPr>
          <a:xfrm>
            <a:off x="10762488" y="3904487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11023092" y="208026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Oval 97"/>
          <p:cNvSpPr/>
          <p:nvPr/>
        </p:nvSpPr>
        <p:spPr>
          <a:xfrm>
            <a:off x="11023092" y="234086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Oval 98"/>
          <p:cNvSpPr/>
          <p:nvPr/>
        </p:nvSpPr>
        <p:spPr>
          <a:xfrm>
            <a:off x="11023092" y="2601468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Oval 99"/>
          <p:cNvSpPr/>
          <p:nvPr/>
        </p:nvSpPr>
        <p:spPr>
          <a:xfrm>
            <a:off x="11023092" y="2862072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11023092" y="3122675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Oval 101"/>
          <p:cNvSpPr/>
          <p:nvPr/>
        </p:nvSpPr>
        <p:spPr>
          <a:xfrm>
            <a:off x="11023092" y="3383279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Oval 102"/>
          <p:cNvSpPr/>
          <p:nvPr/>
        </p:nvSpPr>
        <p:spPr>
          <a:xfrm>
            <a:off x="11023092" y="364388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Oval 103"/>
          <p:cNvSpPr/>
          <p:nvPr/>
        </p:nvSpPr>
        <p:spPr>
          <a:xfrm>
            <a:off x="11023092" y="3904487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11283696" y="208026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Oval 105"/>
          <p:cNvSpPr/>
          <p:nvPr/>
        </p:nvSpPr>
        <p:spPr>
          <a:xfrm>
            <a:off x="11283696" y="234086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Oval 106"/>
          <p:cNvSpPr/>
          <p:nvPr/>
        </p:nvSpPr>
        <p:spPr>
          <a:xfrm>
            <a:off x="11283696" y="2601468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Oval 107"/>
          <p:cNvSpPr/>
          <p:nvPr/>
        </p:nvSpPr>
        <p:spPr>
          <a:xfrm>
            <a:off x="11283696" y="2862072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11283696" y="3122675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Oval 109"/>
          <p:cNvSpPr/>
          <p:nvPr/>
        </p:nvSpPr>
        <p:spPr>
          <a:xfrm>
            <a:off x="11283696" y="3383279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Oval 110"/>
          <p:cNvSpPr/>
          <p:nvPr/>
        </p:nvSpPr>
        <p:spPr>
          <a:xfrm>
            <a:off x="11283696" y="364388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Oval 111"/>
          <p:cNvSpPr/>
          <p:nvPr/>
        </p:nvSpPr>
        <p:spPr>
          <a:xfrm>
            <a:off x="11283696" y="3904487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8412480" y="4343400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4D8D"/>
                </a:solidFill>
                <a:latin typeface="Arial"/>
              </a:rPr>
              <a:t>● </a:t>
            </a:r>
            <a:r>
              <a:rPr sz="1200">
                <a:solidFill>
                  <a:srgbClr val="000000"/>
                </a:solidFill>
                <a:latin typeface="Calibri"/>
              </a:rPr>
              <a:t>inside   </a:t>
            </a:r>
            <a:r>
              <a:rPr sz="1200" b="1">
                <a:solidFill>
                  <a:srgbClr val="000000"/>
                </a:solidFill>
                <a:latin typeface="Arial"/>
              </a:rPr>
              <a:t>● </a:t>
            </a:r>
            <a:r>
              <a:rPr sz="1200">
                <a:solidFill>
                  <a:srgbClr val="000000"/>
                </a:solidFill>
                <a:latin typeface="Calibri"/>
              </a:rPr>
              <a:t>zero</a:t>
            </a:r>
          </a:p>
          <a:p>
            <a:pPr algn="l">
              <a:lnSpc>
                <a:spcPct val="130000"/>
              </a:lnSpc>
            </a:pPr>
            <a:r>
              <a:rPr sz="1200" b="1">
                <a:solidFill>
                  <a:srgbClr val="B4B4AC"/>
                </a:solidFill>
                <a:latin typeface="Arial"/>
              </a:rPr>
              <a:t>● </a:t>
            </a:r>
            <a:r>
              <a:rPr sz="1200">
                <a:solidFill>
                  <a:srgbClr val="000000"/>
                </a:solidFill>
                <a:latin typeface="Calibri"/>
              </a:rPr>
              <a:t>outside — a circle, sampled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62940" y="5737860"/>
            <a:ext cx="10972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Rectangle 114"/>
          <p:cNvSpPr/>
          <p:nvPr/>
        </p:nvSpPr>
        <p:spPr>
          <a:xfrm>
            <a:off x="594360" y="5669280"/>
            <a:ext cx="10972800" cy="56692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777240" y="566928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INSIDE, OUTSIDE AND THE ZERO BOUNDARY: SAY WHICH ONE YOU ARE LOOKING AT.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A SHAPE IS A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Give it a point, get back a signed distance. No vertices anywhere.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349240" cy="33832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349240" cy="33832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3492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4892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SPHERE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68880"/>
            <a:ext cx="4800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sphere(p, c, r):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    return length(p − c) −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54680"/>
            <a:ext cx="4800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Distance to the centre, minus the radius. On the surface that is exactly zero.</a:t>
            </a:r>
          </a:p>
        </p:txBody>
      </p:sp>
      <p:sp>
        <p:nvSpPr>
          <p:cNvPr id="11" name="Oval 10"/>
          <p:cNvSpPr/>
          <p:nvPr/>
        </p:nvSpPr>
        <p:spPr>
          <a:xfrm>
            <a:off x="3634740" y="3863339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3634740" y="4082796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3634740" y="4302252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3634740" y="4521707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3634740" y="474116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3854196" y="3863339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3822192" y="4050792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831336" y="4279392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3831336" y="4498848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3822192" y="4709160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4073652" y="3863339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4050792" y="4059936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050792" y="4279392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4050792" y="4498848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4041648" y="4709160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4293107" y="3863339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4270248" y="4059936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4270248" y="4279392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4270248" y="4498848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4261104" y="4709160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4512564" y="3863339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4480560" y="4050792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4480560" y="4270248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4480560" y="4489704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4512564" y="474116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286500" y="1851660"/>
            <a:ext cx="5349240" cy="33832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6217920" y="1783080"/>
            <a:ext cx="5349240" cy="33832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217920" y="1783080"/>
            <a:ext cx="53492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446520" y="1783080"/>
            <a:ext cx="4892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BOX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0" y="2468880"/>
            <a:ext cx="4800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box(p, c, b):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    q = abs(p − c) − b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    return length(max(q, 0))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         + min(max(q.x, q.y, q.z), 0)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3840480"/>
            <a:ext cx="2377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b is the half-size on each axis. Same idea, one more line.</a:t>
            </a:r>
          </a:p>
        </p:txBody>
      </p:sp>
      <p:sp>
        <p:nvSpPr>
          <p:cNvPr id="42" name="Oval 41"/>
          <p:cNvSpPr/>
          <p:nvPr/>
        </p:nvSpPr>
        <p:spPr>
          <a:xfrm>
            <a:off x="9212580" y="3863339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9212580" y="4082796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9212580" y="4302252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9212580" y="4521707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9212580" y="474116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9432036" y="3863339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9400032" y="4050792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9400032" y="4270248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9400032" y="4489704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9432036" y="474116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9651492" y="3863339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9619488" y="4050792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9628632" y="4279392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9628632" y="4498848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9651492" y="474116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9870948" y="3863339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9838944" y="4050792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9848088" y="4279392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9848088" y="4498848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9870948" y="474116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10090403" y="3863339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10058399" y="4050792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10058399" y="4270248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10058399" y="4489704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10090403" y="474116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10309859" y="3863339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10309859" y="4082796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10309859" y="4302252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Oval 69"/>
          <p:cNvSpPr/>
          <p:nvPr/>
        </p:nvSpPr>
        <p:spPr>
          <a:xfrm>
            <a:off x="10309859" y="4521707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10309859" y="474116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Rectangle 71"/>
          <p:cNvSpPr/>
          <p:nvPr/>
        </p:nvSpPr>
        <p:spPr>
          <a:xfrm>
            <a:off x="662940" y="5509260"/>
            <a:ext cx="10972800" cy="62179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Rectangle 72"/>
          <p:cNvSpPr/>
          <p:nvPr/>
        </p:nvSpPr>
        <p:spPr>
          <a:xfrm>
            <a:off x="594360" y="5440680"/>
            <a:ext cx="10972800" cy="62179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777240" y="5440680"/>
            <a:ext cx="106070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CHANGE r OR b AND THE WHOLE FIELD CHANGES. THE PARAMETER IS STILL LIVE.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THE BOOLEANS AGAIN — AS MIN AND MAX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The same three operations from P2. On fields, each is one line.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3520440" cy="3246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3520440" cy="3246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35204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UNION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9572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00000"/>
                </a:solidFill>
                <a:latin typeface="Courier New"/>
              </a:rPr>
              <a:t>min(a, b)</a:t>
            </a:r>
          </a:p>
        </p:txBody>
      </p:sp>
      <p:sp>
        <p:nvSpPr>
          <p:cNvPr id="10" name="Oval 9"/>
          <p:cNvSpPr/>
          <p:nvPr/>
        </p:nvSpPr>
        <p:spPr>
          <a:xfrm>
            <a:off x="1284732" y="290322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284732" y="3113532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284732" y="332384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284732" y="3534156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1284732" y="3744468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1284732" y="395478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1284732" y="4165091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1495044" y="290322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1495044" y="3113532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1463040" y="3291840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1463040" y="3502152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463040" y="3712464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1463040" y="3922776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1495044" y="4165091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1705356" y="290322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1673352" y="3081528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1682496" y="3300984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1682496" y="3511296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1682496" y="3721608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1682496" y="3931920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1705356" y="4165091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1915668" y="290322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1883664" y="3081528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1892808" y="3300984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1892808" y="3511296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1892808" y="3721608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1892808" y="3931920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1883664" y="4133088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2125980" y="290322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2093976" y="3081528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2103120" y="3300984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2103120" y="3511296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2103120" y="3721608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2103120" y="3931920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2093976" y="4133088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2336292" y="290322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2304288" y="3081528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2313432" y="3300984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2313432" y="3511296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2313432" y="3721608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2313432" y="3931920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2304288" y="4133088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2546604" y="290322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2514600" y="3081528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2523744" y="3300984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2523744" y="3511296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2523744" y="3721608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2523744" y="3931920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2514600" y="4133088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2756916" y="290322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2724912" y="3081528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2734056" y="3300984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2734056" y="3511296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2734056" y="3721608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2734056" y="3931920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2724912" y="4133088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2967228" y="290322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2967228" y="3113532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2935224" y="3291840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2944368" y="3511296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Oval 69"/>
          <p:cNvSpPr/>
          <p:nvPr/>
        </p:nvSpPr>
        <p:spPr>
          <a:xfrm>
            <a:off x="2944368" y="3721608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2935224" y="3922776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Oval 71"/>
          <p:cNvSpPr/>
          <p:nvPr/>
        </p:nvSpPr>
        <p:spPr>
          <a:xfrm>
            <a:off x="2967228" y="4165091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Oval 72"/>
          <p:cNvSpPr/>
          <p:nvPr/>
        </p:nvSpPr>
        <p:spPr>
          <a:xfrm>
            <a:off x="3177540" y="290322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3177540" y="3113532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Oval 74"/>
          <p:cNvSpPr/>
          <p:nvPr/>
        </p:nvSpPr>
        <p:spPr>
          <a:xfrm>
            <a:off x="3177540" y="332384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3145536" y="3502152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3145536" y="3712464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Oval 77"/>
          <p:cNvSpPr/>
          <p:nvPr/>
        </p:nvSpPr>
        <p:spPr>
          <a:xfrm>
            <a:off x="3177540" y="395478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3177540" y="4165091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Rectangle 79"/>
          <p:cNvSpPr/>
          <p:nvPr/>
        </p:nvSpPr>
        <p:spPr>
          <a:xfrm>
            <a:off x="4393692" y="1851660"/>
            <a:ext cx="3520440" cy="3246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Rectangle 80"/>
          <p:cNvSpPr/>
          <p:nvPr/>
        </p:nvSpPr>
        <p:spPr>
          <a:xfrm>
            <a:off x="4325112" y="1783080"/>
            <a:ext cx="3520440" cy="3246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ectangle 81"/>
          <p:cNvSpPr/>
          <p:nvPr/>
        </p:nvSpPr>
        <p:spPr>
          <a:xfrm>
            <a:off x="4325112" y="1783080"/>
            <a:ext cx="35204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4553712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INTERSECTION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53712" y="239572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00000"/>
                </a:solidFill>
                <a:latin typeface="Courier New"/>
              </a:rPr>
              <a:t>max(a, b)</a:t>
            </a:r>
          </a:p>
        </p:txBody>
      </p:sp>
      <p:sp>
        <p:nvSpPr>
          <p:cNvPr id="85" name="Oval 84"/>
          <p:cNvSpPr/>
          <p:nvPr/>
        </p:nvSpPr>
        <p:spPr>
          <a:xfrm>
            <a:off x="5015484" y="290322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Oval 85"/>
          <p:cNvSpPr/>
          <p:nvPr/>
        </p:nvSpPr>
        <p:spPr>
          <a:xfrm>
            <a:off x="5015484" y="3113532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Oval 86"/>
          <p:cNvSpPr/>
          <p:nvPr/>
        </p:nvSpPr>
        <p:spPr>
          <a:xfrm>
            <a:off x="5015484" y="332384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Oval 87"/>
          <p:cNvSpPr/>
          <p:nvPr/>
        </p:nvSpPr>
        <p:spPr>
          <a:xfrm>
            <a:off x="5015484" y="3534156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5015484" y="3744468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Oval 89"/>
          <p:cNvSpPr/>
          <p:nvPr/>
        </p:nvSpPr>
        <p:spPr>
          <a:xfrm>
            <a:off x="5015484" y="395478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Oval 90"/>
          <p:cNvSpPr/>
          <p:nvPr/>
        </p:nvSpPr>
        <p:spPr>
          <a:xfrm>
            <a:off x="5015484" y="4165091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Oval 91"/>
          <p:cNvSpPr/>
          <p:nvPr/>
        </p:nvSpPr>
        <p:spPr>
          <a:xfrm>
            <a:off x="5225796" y="290322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5225796" y="3113532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Oval 93"/>
          <p:cNvSpPr/>
          <p:nvPr/>
        </p:nvSpPr>
        <p:spPr>
          <a:xfrm>
            <a:off x="5225796" y="332384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Oval 94"/>
          <p:cNvSpPr/>
          <p:nvPr/>
        </p:nvSpPr>
        <p:spPr>
          <a:xfrm>
            <a:off x="5225796" y="3534156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Oval 95"/>
          <p:cNvSpPr/>
          <p:nvPr/>
        </p:nvSpPr>
        <p:spPr>
          <a:xfrm>
            <a:off x="5225796" y="3744468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5225796" y="395478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Oval 97"/>
          <p:cNvSpPr/>
          <p:nvPr/>
        </p:nvSpPr>
        <p:spPr>
          <a:xfrm>
            <a:off x="5225796" y="4165091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Oval 98"/>
          <p:cNvSpPr/>
          <p:nvPr/>
        </p:nvSpPr>
        <p:spPr>
          <a:xfrm>
            <a:off x="5436108" y="290322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Oval 99"/>
          <p:cNvSpPr/>
          <p:nvPr/>
        </p:nvSpPr>
        <p:spPr>
          <a:xfrm>
            <a:off x="5436108" y="3113532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5436108" y="332384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Oval 101"/>
          <p:cNvSpPr/>
          <p:nvPr/>
        </p:nvSpPr>
        <p:spPr>
          <a:xfrm>
            <a:off x="5436108" y="3534156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Oval 102"/>
          <p:cNvSpPr/>
          <p:nvPr/>
        </p:nvSpPr>
        <p:spPr>
          <a:xfrm>
            <a:off x="5436108" y="3744468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Oval 103"/>
          <p:cNvSpPr/>
          <p:nvPr/>
        </p:nvSpPr>
        <p:spPr>
          <a:xfrm>
            <a:off x="5436108" y="395478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5436108" y="4165091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Oval 105"/>
          <p:cNvSpPr/>
          <p:nvPr/>
        </p:nvSpPr>
        <p:spPr>
          <a:xfrm>
            <a:off x="5646420" y="290322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Oval 106"/>
          <p:cNvSpPr/>
          <p:nvPr/>
        </p:nvSpPr>
        <p:spPr>
          <a:xfrm>
            <a:off x="5646420" y="3113532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Oval 107"/>
          <p:cNvSpPr/>
          <p:nvPr/>
        </p:nvSpPr>
        <p:spPr>
          <a:xfrm>
            <a:off x="5646420" y="332384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5646420" y="3534156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Oval 109"/>
          <p:cNvSpPr/>
          <p:nvPr/>
        </p:nvSpPr>
        <p:spPr>
          <a:xfrm>
            <a:off x="5646420" y="3744468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Oval 110"/>
          <p:cNvSpPr/>
          <p:nvPr/>
        </p:nvSpPr>
        <p:spPr>
          <a:xfrm>
            <a:off x="5646420" y="395478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Oval 111"/>
          <p:cNvSpPr/>
          <p:nvPr/>
        </p:nvSpPr>
        <p:spPr>
          <a:xfrm>
            <a:off x="5646420" y="4165091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5856732" y="290322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5856732" y="3113532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Oval 114"/>
          <p:cNvSpPr/>
          <p:nvPr/>
        </p:nvSpPr>
        <p:spPr>
          <a:xfrm>
            <a:off x="5824728" y="3291840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Oval 115"/>
          <p:cNvSpPr/>
          <p:nvPr/>
        </p:nvSpPr>
        <p:spPr>
          <a:xfrm>
            <a:off x="5833872" y="3511296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5833872" y="3721608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Oval 117"/>
          <p:cNvSpPr/>
          <p:nvPr/>
        </p:nvSpPr>
        <p:spPr>
          <a:xfrm>
            <a:off x="5824728" y="3922776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Oval 118"/>
          <p:cNvSpPr/>
          <p:nvPr/>
        </p:nvSpPr>
        <p:spPr>
          <a:xfrm>
            <a:off x="5856732" y="4165091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Oval 119"/>
          <p:cNvSpPr/>
          <p:nvPr/>
        </p:nvSpPr>
        <p:spPr>
          <a:xfrm>
            <a:off x="6067044" y="290322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Oval 120"/>
          <p:cNvSpPr/>
          <p:nvPr/>
        </p:nvSpPr>
        <p:spPr>
          <a:xfrm>
            <a:off x="6035040" y="3081528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Oval 121"/>
          <p:cNvSpPr/>
          <p:nvPr/>
        </p:nvSpPr>
        <p:spPr>
          <a:xfrm>
            <a:off x="6044184" y="3300984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Oval 122"/>
          <p:cNvSpPr/>
          <p:nvPr/>
        </p:nvSpPr>
        <p:spPr>
          <a:xfrm>
            <a:off x="6044184" y="3511296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Oval 123"/>
          <p:cNvSpPr/>
          <p:nvPr/>
        </p:nvSpPr>
        <p:spPr>
          <a:xfrm>
            <a:off x="6044184" y="3721608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Oval 124"/>
          <p:cNvSpPr/>
          <p:nvPr/>
        </p:nvSpPr>
        <p:spPr>
          <a:xfrm>
            <a:off x="6035040" y="3922776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Oval 125"/>
          <p:cNvSpPr/>
          <p:nvPr/>
        </p:nvSpPr>
        <p:spPr>
          <a:xfrm>
            <a:off x="6067044" y="4165091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Oval 126"/>
          <p:cNvSpPr/>
          <p:nvPr/>
        </p:nvSpPr>
        <p:spPr>
          <a:xfrm>
            <a:off x="6277356" y="290322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Oval 127"/>
          <p:cNvSpPr/>
          <p:nvPr/>
        </p:nvSpPr>
        <p:spPr>
          <a:xfrm>
            <a:off x="6277356" y="3113532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Oval 128"/>
          <p:cNvSpPr/>
          <p:nvPr/>
        </p:nvSpPr>
        <p:spPr>
          <a:xfrm>
            <a:off x="6277356" y="332384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Oval 129"/>
          <p:cNvSpPr/>
          <p:nvPr/>
        </p:nvSpPr>
        <p:spPr>
          <a:xfrm>
            <a:off x="6245352" y="3502152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Oval 130"/>
          <p:cNvSpPr/>
          <p:nvPr/>
        </p:nvSpPr>
        <p:spPr>
          <a:xfrm>
            <a:off x="6245352" y="3712464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Oval 131"/>
          <p:cNvSpPr/>
          <p:nvPr/>
        </p:nvSpPr>
        <p:spPr>
          <a:xfrm>
            <a:off x="6277356" y="395478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Oval 132"/>
          <p:cNvSpPr/>
          <p:nvPr/>
        </p:nvSpPr>
        <p:spPr>
          <a:xfrm>
            <a:off x="6277356" y="4165091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Oval 133"/>
          <p:cNvSpPr/>
          <p:nvPr/>
        </p:nvSpPr>
        <p:spPr>
          <a:xfrm>
            <a:off x="6487668" y="290322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Oval 134"/>
          <p:cNvSpPr/>
          <p:nvPr/>
        </p:nvSpPr>
        <p:spPr>
          <a:xfrm>
            <a:off x="6487668" y="3113532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Oval 135"/>
          <p:cNvSpPr/>
          <p:nvPr/>
        </p:nvSpPr>
        <p:spPr>
          <a:xfrm>
            <a:off x="6487668" y="332384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Oval 136"/>
          <p:cNvSpPr/>
          <p:nvPr/>
        </p:nvSpPr>
        <p:spPr>
          <a:xfrm>
            <a:off x="6487668" y="3534156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Oval 137"/>
          <p:cNvSpPr/>
          <p:nvPr/>
        </p:nvSpPr>
        <p:spPr>
          <a:xfrm>
            <a:off x="6487668" y="3744468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Oval 138"/>
          <p:cNvSpPr/>
          <p:nvPr/>
        </p:nvSpPr>
        <p:spPr>
          <a:xfrm>
            <a:off x="6487668" y="395478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Oval 139"/>
          <p:cNvSpPr/>
          <p:nvPr/>
        </p:nvSpPr>
        <p:spPr>
          <a:xfrm>
            <a:off x="6487668" y="4165091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Oval 140"/>
          <p:cNvSpPr/>
          <p:nvPr/>
        </p:nvSpPr>
        <p:spPr>
          <a:xfrm>
            <a:off x="6697980" y="290322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Oval 141"/>
          <p:cNvSpPr/>
          <p:nvPr/>
        </p:nvSpPr>
        <p:spPr>
          <a:xfrm>
            <a:off x="6697980" y="3113532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Oval 142"/>
          <p:cNvSpPr/>
          <p:nvPr/>
        </p:nvSpPr>
        <p:spPr>
          <a:xfrm>
            <a:off x="6697980" y="332384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Oval 143"/>
          <p:cNvSpPr/>
          <p:nvPr/>
        </p:nvSpPr>
        <p:spPr>
          <a:xfrm>
            <a:off x="6697980" y="3534156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Oval 144"/>
          <p:cNvSpPr/>
          <p:nvPr/>
        </p:nvSpPr>
        <p:spPr>
          <a:xfrm>
            <a:off x="6697980" y="3744468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Oval 145"/>
          <p:cNvSpPr/>
          <p:nvPr/>
        </p:nvSpPr>
        <p:spPr>
          <a:xfrm>
            <a:off x="6697980" y="395478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Oval 146"/>
          <p:cNvSpPr/>
          <p:nvPr/>
        </p:nvSpPr>
        <p:spPr>
          <a:xfrm>
            <a:off x="6697980" y="4165091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Oval 147"/>
          <p:cNvSpPr/>
          <p:nvPr/>
        </p:nvSpPr>
        <p:spPr>
          <a:xfrm>
            <a:off x="6908292" y="290322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Oval 148"/>
          <p:cNvSpPr/>
          <p:nvPr/>
        </p:nvSpPr>
        <p:spPr>
          <a:xfrm>
            <a:off x="6908292" y="3113532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Oval 149"/>
          <p:cNvSpPr/>
          <p:nvPr/>
        </p:nvSpPr>
        <p:spPr>
          <a:xfrm>
            <a:off x="6908292" y="332384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Oval 150"/>
          <p:cNvSpPr/>
          <p:nvPr/>
        </p:nvSpPr>
        <p:spPr>
          <a:xfrm>
            <a:off x="6908292" y="3534156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Oval 151"/>
          <p:cNvSpPr/>
          <p:nvPr/>
        </p:nvSpPr>
        <p:spPr>
          <a:xfrm>
            <a:off x="6908292" y="3744468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Oval 152"/>
          <p:cNvSpPr/>
          <p:nvPr/>
        </p:nvSpPr>
        <p:spPr>
          <a:xfrm>
            <a:off x="6908292" y="395478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Oval 153"/>
          <p:cNvSpPr/>
          <p:nvPr/>
        </p:nvSpPr>
        <p:spPr>
          <a:xfrm>
            <a:off x="6908292" y="4165091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Rectangle 154"/>
          <p:cNvSpPr/>
          <p:nvPr/>
        </p:nvSpPr>
        <p:spPr>
          <a:xfrm>
            <a:off x="8124444" y="1851660"/>
            <a:ext cx="3520440" cy="3246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Rectangle 155"/>
          <p:cNvSpPr/>
          <p:nvPr/>
        </p:nvSpPr>
        <p:spPr>
          <a:xfrm>
            <a:off x="8055864" y="1783080"/>
            <a:ext cx="3520440" cy="3246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Rectangle 156"/>
          <p:cNvSpPr/>
          <p:nvPr/>
        </p:nvSpPr>
        <p:spPr>
          <a:xfrm>
            <a:off x="8055864" y="1783080"/>
            <a:ext cx="35204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8284464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DIFFERENCE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284464" y="239572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00000"/>
                </a:solidFill>
                <a:latin typeface="Courier New"/>
              </a:rPr>
              <a:t>max(a, −b)</a:t>
            </a:r>
          </a:p>
        </p:txBody>
      </p:sp>
      <p:sp>
        <p:nvSpPr>
          <p:cNvPr id="160" name="Oval 159"/>
          <p:cNvSpPr/>
          <p:nvPr/>
        </p:nvSpPr>
        <p:spPr>
          <a:xfrm>
            <a:off x="8746236" y="290322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Oval 160"/>
          <p:cNvSpPr/>
          <p:nvPr/>
        </p:nvSpPr>
        <p:spPr>
          <a:xfrm>
            <a:off x="8746236" y="3113532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Oval 161"/>
          <p:cNvSpPr/>
          <p:nvPr/>
        </p:nvSpPr>
        <p:spPr>
          <a:xfrm>
            <a:off x="8746236" y="332384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Oval 162"/>
          <p:cNvSpPr/>
          <p:nvPr/>
        </p:nvSpPr>
        <p:spPr>
          <a:xfrm>
            <a:off x="8746236" y="3534156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Oval 163"/>
          <p:cNvSpPr/>
          <p:nvPr/>
        </p:nvSpPr>
        <p:spPr>
          <a:xfrm>
            <a:off x="8746236" y="3744468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Oval 164"/>
          <p:cNvSpPr/>
          <p:nvPr/>
        </p:nvSpPr>
        <p:spPr>
          <a:xfrm>
            <a:off x="8746236" y="395478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Oval 165"/>
          <p:cNvSpPr/>
          <p:nvPr/>
        </p:nvSpPr>
        <p:spPr>
          <a:xfrm>
            <a:off x="8746236" y="4165091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Oval 166"/>
          <p:cNvSpPr/>
          <p:nvPr/>
        </p:nvSpPr>
        <p:spPr>
          <a:xfrm>
            <a:off x="8956548" y="290322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Oval 167"/>
          <p:cNvSpPr/>
          <p:nvPr/>
        </p:nvSpPr>
        <p:spPr>
          <a:xfrm>
            <a:off x="8956548" y="3113532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Oval 168"/>
          <p:cNvSpPr/>
          <p:nvPr/>
        </p:nvSpPr>
        <p:spPr>
          <a:xfrm>
            <a:off x="8924544" y="3291840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Oval 169"/>
          <p:cNvSpPr/>
          <p:nvPr/>
        </p:nvSpPr>
        <p:spPr>
          <a:xfrm>
            <a:off x="8924544" y="3502152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Oval 170"/>
          <p:cNvSpPr/>
          <p:nvPr/>
        </p:nvSpPr>
        <p:spPr>
          <a:xfrm>
            <a:off x="8924544" y="3712464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Oval 171"/>
          <p:cNvSpPr/>
          <p:nvPr/>
        </p:nvSpPr>
        <p:spPr>
          <a:xfrm>
            <a:off x="8924544" y="3922776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Oval 172"/>
          <p:cNvSpPr/>
          <p:nvPr/>
        </p:nvSpPr>
        <p:spPr>
          <a:xfrm>
            <a:off x="8956548" y="4165091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Oval 173"/>
          <p:cNvSpPr/>
          <p:nvPr/>
        </p:nvSpPr>
        <p:spPr>
          <a:xfrm>
            <a:off x="9166860" y="290322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Oval 174"/>
          <p:cNvSpPr/>
          <p:nvPr/>
        </p:nvSpPr>
        <p:spPr>
          <a:xfrm>
            <a:off x="9134856" y="3081528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Oval 175"/>
          <p:cNvSpPr/>
          <p:nvPr/>
        </p:nvSpPr>
        <p:spPr>
          <a:xfrm>
            <a:off x="9144000" y="3300984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7" name="Oval 176"/>
          <p:cNvSpPr/>
          <p:nvPr/>
        </p:nvSpPr>
        <p:spPr>
          <a:xfrm>
            <a:off x="9144000" y="3511296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Oval 177"/>
          <p:cNvSpPr/>
          <p:nvPr/>
        </p:nvSpPr>
        <p:spPr>
          <a:xfrm>
            <a:off x="9144000" y="3721608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9" name="Oval 178"/>
          <p:cNvSpPr/>
          <p:nvPr/>
        </p:nvSpPr>
        <p:spPr>
          <a:xfrm>
            <a:off x="9144000" y="3931920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Oval 179"/>
          <p:cNvSpPr/>
          <p:nvPr/>
        </p:nvSpPr>
        <p:spPr>
          <a:xfrm>
            <a:off x="9166860" y="4165091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1" name="Oval 180"/>
          <p:cNvSpPr/>
          <p:nvPr/>
        </p:nvSpPr>
        <p:spPr>
          <a:xfrm>
            <a:off x="9377172" y="290322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Oval 181"/>
          <p:cNvSpPr/>
          <p:nvPr/>
        </p:nvSpPr>
        <p:spPr>
          <a:xfrm>
            <a:off x="9345167" y="3081528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3" name="Oval 182"/>
          <p:cNvSpPr/>
          <p:nvPr/>
        </p:nvSpPr>
        <p:spPr>
          <a:xfrm>
            <a:off x="9354311" y="3300984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Oval 183"/>
          <p:cNvSpPr/>
          <p:nvPr/>
        </p:nvSpPr>
        <p:spPr>
          <a:xfrm>
            <a:off x="9354311" y="3511296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5" name="Oval 184"/>
          <p:cNvSpPr/>
          <p:nvPr/>
        </p:nvSpPr>
        <p:spPr>
          <a:xfrm>
            <a:off x="9354311" y="3721608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6" name="Oval 185"/>
          <p:cNvSpPr/>
          <p:nvPr/>
        </p:nvSpPr>
        <p:spPr>
          <a:xfrm>
            <a:off x="9354311" y="3931920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7" name="Oval 186"/>
          <p:cNvSpPr/>
          <p:nvPr/>
        </p:nvSpPr>
        <p:spPr>
          <a:xfrm>
            <a:off x="9345167" y="4133088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8" name="Oval 187"/>
          <p:cNvSpPr/>
          <p:nvPr/>
        </p:nvSpPr>
        <p:spPr>
          <a:xfrm>
            <a:off x="9587484" y="290322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9" name="Oval 188"/>
          <p:cNvSpPr/>
          <p:nvPr/>
        </p:nvSpPr>
        <p:spPr>
          <a:xfrm>
            <a:off x="9555480" y="3081528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0" name="Oval 189"/>
          <p:cNvSpPr/>
          <p:nvPr/>
        </p:nvSpPr>
        <p:spPr>
          <a:xfrm>
            <a:off x="9555480" y="3291840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1" name="Oval 190"/>
          <p:cNvSpPr/>
          <p:nvPr/>
        </p:nvSpPr>
        <p:spPr>
          <a:xfrm>
            <a:off x="9587484" y="3534156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2" name="Oval 191"/>
          <p:cNvSpPr/>
          <p:nvPr/>
        </p:nvSpPr>
        <p:spPr>
          <a:xfrm>
            <a:off x="9587484" y="3744468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3" name="Oval 192"/>
          <p:cNvSpPr/>
          <p:nvPr/>
        </p:nvSpPr>
        <p:spPr>
          <a:xfrm>
            <a:off x="9555480" y="3922776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4" name="Oval 193"/>
          <p:cNvSpPr/>
          <p:nvPr/>
        </p:nvSpPr>
        <p:spPr>
          <a:xfrm>
            <a:off x="9555480" y="4133088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5" name="Oval 194"/>
          <p:cNvSpPr/>
          <p:nvPr/>
        </p:nvSpPr>
        <p:spPr>
          <a:xfrm>
            <a:off x="9797796" y="290322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6" name="Oval 195"/>
          <p:cNvSpPr/>
          <p:nvPr/>
        </p:nvSpPr>
        <p:spPr>
          <a:xfrm>
            <a:off x="9765792" y="3081528"/>
            <a:ext cx="109728" cy="1097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7" name="Oval 196"/>
          <p:cNvSpPr/>
          <p:nvPr/>
        </p:nvSpPr>
        <p:spPr>
          <a:xfrm>
            <a:off x="9797796" y="332384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8" name="Oval 197"/>
          <p:cNvSpPr/>
          <p:nvPr/>
        </p:nvSpPr>
        <p:spPr>
          <a:xfrm>
            <a:off x="9797796" y="3534156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9" name="Oval 198"/>
          <p:cNvSpPr/>
          <p:nvPr/>
        </p:nvSpPr>
        <p:spPr>
          <a:xfrm>
            <a:off x="9797796" y="3744468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0" name="Oval 199"/>
          <p:cNvSpPr/>
          <p:nvPr/>
        </p:nvSpPr>
        <p:spPr>
          <a:xfrm>
            <a:off x="9797796" y="395478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1" name="Oval 200"/>
          <p:cNvSpPr/>
          <p:nvPr/>
        </p:nvSpPr>
        <p:spPr>
          <a:xfrm>
            <a:off x="9797796" y="4165091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Oval 201"/>
          <p:cNvSpPr/>
          <p:nvPr/>
        </p:nvSpPr>
        <p:spPr>
          <a:xfrm>
            <a:off x="10008108" y="290322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3" name="Oval 202"/>
          <p:cNvSpPr/>
          <p:nvPr/>
        </p:nvSpPr>
        <p:spPr>
          <a:xfrm>
            <a:off x="10008108" y="3113532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4" name="Oval 203"/>
          <p:cNvSpPr/>
          <p:nvPr/>
        </p:nvSpPr>
        <p:spPr>
          <a:xfrm>
            <a:off x="10008108" y="332384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5" name="Oval 204"/>
          <p:cNvSpPr/>
          <p:nvPr/>
        </p:nvSpPr>
        <p:spPr>
          <a:xfrm>
            <a:off x="10008108" y="3534156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6" name="Oval 205"/>
          <p:cNvSpPr/>
          <p:nvPr/>
        </p:nvSpPr>
        <p:spPr>
          <a:xfrm>
            <a:off x="10008108" y="3744468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7" name="Oval 206"/>
          <p:cNvSpPr/>
          <p:nvPr/>
        </p:nvSpPr>
        <p:spPr>
          <a:xfrm>
            <a:off x="10008108" y="395478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8" name="Oval 207"/>
          <p:cNvSpPr/>
          <p:nvPr/>
        </p:nvSpPr>
        <p:spPr>
          <a:xfrm>
            <a:off x="10008108" y="4165091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9" name="Oval 208"/>
          <p:cNvSpPr/>
          <p:nvPr/>
        </p:nvSpPr>
        <p:spPr>
          <a:xfrm>
            <a:off x="10218419" y="290322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" name="Oval 209"/>
          <p:cNvSpPr/>
          <p:nvPr/>
        </p:nvSpPr>
        <p:spPr>
          <a:xfrm>
            <a:off x="10218419" y="3113532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1" name="Oval 210"/>
          <p:cNvSpPr/>
          <p:nvPr/>
        </p:nvSpPr>
        <p:spPr>
          <a:xfrm>
            <a:off x="10218419" y="332384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2" name="Oval 211"/>
          <p:cNvSpPr/>
          <p:nvPr/>
        </p:nvSpPr>
        <p:spPr>
          <a:xfrm>
            <a:off x="10218419" y="3534156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3" name="Oval 212"/>
          <p:cNvSpPr/>
          <p:nvPr/>
        </p:nvSpPr>
        <p:spPr>
          <a:xfrm>
            <a:off x="10218419" y="3744468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4" name="Oval 213"/>
          <p:cNvSpPr/>
          <p:nvPr/>
        </p:nvSpPr>
        <p:spPr>
          <a:xfrm>
            <a:off x="10218419" y="395478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5" name="Oval 214"/>
          <p:cNvSpPr/>
          <p:nvPr/>
        </p:nvSpPr>
        <p:spPr>
          <a:xfrm>
            <a:off x="10218419" y="4165091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6" name="Oval 215"/>
          <p:cNvSpPr/>
          <p:nvPr/>
        </p:nvSpPr>
        <p:spPr>
          <a:xfrm>
            <a:off x="10428732" y="290322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7" name="Oval 216"/>
          <p:cNvSpPr/>
          <p:nvPr/>
        </p:nvSpPr>
        <p:spPr>
          <a:xfrm>
            <a:off x="10428732" y="3113532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8" name="Oval 217"/>
          <p:cNvSpPr/>
          <p:nvPr/>
        </p:nvSpPr>
        <p:spPr>
          <a:xfrm>
            <a:off x="10428732" y="332384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9" name="Oval 218"/>
          <p:cNvSpPr/>
          <p:nvPr/>
        </p:nvSpPr>
        <p:spPr>
          <a:xfrm>
            <a:off x="10428732" y="3534156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0" name="Oval 219"/>
          <p:cNvSpPr/>
          <p:nvPr/>
        </p:nvSpPr>
        <p:spPr>
          <a:xfrm>
            <a:off x="10428732" y="3744468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1" name="Oval 220"/>
          <p:cNvSpPr/>
          <p:nvPr/>
        </p:nvSpPr>
        <p:spPr>
          <a:xfrm>
            <a:off x="10428732" y="395478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2" name="Oval 221"/>
          <p:cNvSpPr/>
          <p:nvPr/>
        </p:nvSpPr>
        <p:spPr>
          <a:xfrm>
            <a:off x="10428732" y="4165091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3" name="Oval 222"/>
          <p:cNvSpPr/>
          <p:nvPr/>
        </p:nvSpPr>
        <p:spPr>
          <a:xfrm>
            <a:off x="10639044" y="290322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4" name="Oval 223"/>
          <p:cNvSpPr/>
          <p:nvPr/>
        </p:nvSpPr>
        <p:spPr>
          <a:xfrm>
            <a:off x="10639044" y="3113532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5" name="Oval 224"/>
          <p:cNvSpPr/>
          <p:nvPr/>
        </p:nvSpPr>
        <p:spPr>
          <a:xfrm>
            <a:off x="10639044" y="3323844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6" name="Oval 225"/>
          <p:cNvSpPr/>
          <p:nvPr/>
        </p:nvSpPr>
        <p:spPr>
          <a:xfrm>
            <a:off x="10639044" y="3534156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7" name="Oval 226"/>
          <p:cNvSpPr/>
          <p:nvPr/>
        </p:nvSpPr>
        <p:spPr>
          <a:xfrm>
            <a:off x="10639044" y="3744468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8" name="Oval 227"/>
          <p:cNvSpPr/>
          <p:nvPr/>
        </p:nvSpPr>
        <p:spPr>
          <a:xfrm>
            <a:off x="10639044" y="3954780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9" name="Oval 228"/>
          <p:cNvSpPr/>
          <p:nvPr/>
        </p:nvSpPr>
        <p:spPr>
          <a:xfrm>
            <a:off x="10639044" y="4165091"/>
            <a:ext cx="45720" cy="4572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0" name="Rectangle 229"/>
          <p:cNvSpPr/>
          <p:nvPr/>
        </p:nvSpPr>
        <p:spPr>
          <a:xfrm>
            <a:off x="662940" y="537210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1" name="Rectangle 230"/>
          <p:cNvSpPr/>
          <p:nvPr/>
        </p:nvSpPr>
        <p:spPr>
          <a:xfrm>
            <a:off x="594360" y="5303520"/>
            <a:ext cx="10972800" cy="65836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2" name="TextBox 231"/>
          <p:cNvSpPr txBox="1"/>
          <p:nvPr/>
        </p:nvSpPr>
        <p:spPr>
          <a:xfrm>
            <a:off x="777240" y="530352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FFE500"/>
                </a:solidFill>
                <a:latin typeface="Arial"/>
              </a:rPr>
              <a:t>UNION KEEPS THE NEARER SURFACE. INTERSECTION KEEPS THE FARTHER. DIFFERENCE FLIPS b INSIDE OUT, THEN INTERSECTS.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59436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Same operands as P2, so the same rule: a − b is not b − 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BLEND, SAMPLE, EXTRACT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Three steps turn a function into something you can see, slice and cut.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3520440" cy="3291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3520440" cy="3291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28800"/>
            <a:ext cx="35204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SMOOTH 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871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smooth_min(a, b, 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971800"/>
            <a:ext cx="306324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54680"/>
            <a:ext cx="30632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k = 0 is a hard union. Larger k fills the joint with a soft fillet. A mesh Boolean cannot do this.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93692" y="1897380"/>
            <a:ext cx="3520440" cy="3291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325112" y="1828800"/>
            <a:ext cx="3520440" cy="3291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325112" y="1828800"/>
            <a:ext cx="35204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53712" y="182880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4871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sample(field, bounds, 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53712" y="2971800"/>
            <a:ext cx="306324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3154680"/>
            <a:ext cx="30632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The field is read on a grid. Coarse is fast and faceted. Fine is smooth and slow. State the number.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4444" y="1897380"/>
            <a:ext cx="3520440" cy="3291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8055864" y="1828800"/>
            <a:ext cx="3520440" cy="3291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8055864" y="1828800"/>
            <a:ext cx="352044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84464" y="182880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SURFACE EXTRACTION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24871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extract(grid, iso=0.0)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84464" y="2971800"/>
            <a:ext cx="306324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84464" y="3154680"/>
            <a:ext cx="30632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A mesh is built where the samples cross zero. Only now does the volume have faces.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2940" y="5554980"/>
            <a:ext cx="10972800" cy="62179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94360" y="5486400"/>
            <a:ext cx="10972800" cy="62179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77240" y="5486400"/>
            <a:ext cx="106070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P4a ASKS YOU TO STATE THE SAMPLING RESOLUTION AND THE EXTRACTION SETTINGS.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THE SAME THING, WRITTEN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The top half reads a point cloud. Today is the bottom half: a shape as a function.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6858000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6858000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86968" y="2011680"/>
            <a:ext cx="6400800" cy="1804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>
                <a:solidFill>
                  <a:srgbClr val="000000"/>
                </a:solidFill>
                <a:latin typeface="Courier New"/>
              </a:rPr>
              <a:t>cloud = load("site.ply")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192153"/>
            <a:ext cx="6400800" cy="1804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>
                <a:solidFill>
                  <a:srgbClr val="000000"/>
                </a:solidFill>
                <a:latin typeface="Courier New"/>
              </a:rPr>
              <a:t>print(len(cloud))                          # state this 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372627"/>
            <a:ext cx="6400800" cy="1804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553101"/>
            <a:ext cx="6400800" cy="1804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>
                <a:solidFill>
                  <a:srgbClr val="000000"/>
                </a:solidFill>
                <a:latin typeface="Courier New"/>
              </a:rPr>
              <a:t>cloud = decimate(cloud, keep=0.05)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733574"/>
            <a:ext cx="6400800" cy="1804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>
                <a:solidFill>
                  <a:srgbClr val="000000"/>
                </a:solidFill>
                <a:latin typeface="Courier New"/>
              </a:rPr>
              <a:t>print(len(cloud))                          # and 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2914048"/>
            <a:ext cx="6400800" cy="1804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3094522"/>
            <a:ext cx="6400800" cy="1804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>
                <a:solidFill>
                  <a:srgbClr val="000000"/>
                </a:solidFill>
                <a:latin typeface="Courier New"/>
              </a:rPr>
              <a:t>for p in cloud: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274995"/>
            <a:ext cx="6400800" cy="1804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>
                <a:solidFill>
                  <a:srgbClr val="000000"/>
                </a:solidFill>
                <a:latin typeface="Courier New"/>
              </a:rPr>
              <a:t>    p.density = len(within(cloud, p, radius))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455469"/>
            <a:ext cx="6400800" cy="1804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3635943"/>
            <a:ext cx="6400800" cy="1804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>
                <a:solidFill>
                  <a:srgbClr val="000000"/>
                </a:solidFill>
                <a:latin typeface="Courier New"/>
              </a:rPr>
              <a:t>volume = voxelize(cloud, size=0.5)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3816416"/>
            <a:ext cx="6400800" cy="1804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3996890"/>
            <a:ext cx="6400800" cy="1804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>
                <a:solidFill>
                  <a:srgbClr val="000000"/>
                </a:solidFill>
                <a:latin typeface="Courier New"/>
              </a:rPr>
              <a:t># A designed field can also define a volume.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4177364"/>
            <a:ext cx="6400800" cy="1804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>
                <a:solidFill>
                  <a:srgbClr val="000000"/>
                </a:solidFill>
                <a:latin typeface="Courier New"/>
              </a:rPr>
              <a:t>def field(p):                              # a shape as a function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4357837"/>
            <a:ext cx="6400800" cy="1804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>
                <a:solidFill>
                  <a:srgbClr val="000000"/>
                </a:solidFill>
                <a:latin typeface="Courier New"/>
              </a:rPr>
              <a:t>    a = sphere_sdf(p, center_a, r_a)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4538311"/>
            <a:ext cx="6400800" cy="1804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>
                <a:solidFill>
                  <a:srgbClr val="000000"/>
                </a:solidFill>
                <a:latin typeface="Courier New"/>
              </a:rPr>
              <a:t>    b = box_sdf(p, center_b, size_b)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" y="4718785"/>
            <a:ext cx="6400800" cy="1804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>
                <a:solidFill>
                  <a:srgbClr val="000000"/>
                </a:solidFill>
                <a:latin typeface="Courier New"/>
              </a:rPr>
              <a:t>    return smooth_min(a, b, k)             # the blend comes free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899258"/>
            <a:ext cx="6400800" cy="1804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5079732"/>
            <a:ext cx="6400800" cy="1804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>
                <a:solidFill>
                  <a:srgbClr val="000000"/>
                </a:solidFill>
                <a:latin typeface="Courier New"/>
              </a:rPr>
              <a:t>grid    = sample(field, bounds, resolution)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5260206"/>
            <a:ext cx="6400800" cy="1804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>
                <a:solidFill>
                  <a:srgbClr val="000000"/>
                </a:solidFill>
                <a:latin typeface="Courier New"/>
              </a:rPr>
              <a:t>surface = extract(grid, iso=0.0)           # where the field is zero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03819" y="1897380"/>
            <a:ext cx="3931920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7635240" y="1828800"/>
            <a:ext cx="3931920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7635240" y="1828800"/>
            <a:ext cx="393192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863840" y="182880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WHAT IT MAPS ONTO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2514600"/>
            <a:ext cx="16916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sample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point cloud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origin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units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decimation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density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voxel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radius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46920" y="2514600"/>
            <a:ext cx="16916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scalar field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implicit surface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signed distance field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isosurface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threshold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noise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resolution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" y="5966460"/>
            <a:ext cx="10972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94360" y="5897880"/>
            <a:ext cx="10972800" cy="56692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77240" y="589788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FROM “def field” DOWN IS P4a: TWO FIELDS, ONE BLEND, ONE GRID, ONE SURFACE AT ZERO.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2940" y="635508"/>
            <a:ext cx="2194560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94360" y="566928"/>
            <a:ext cx="2194560" cy="38404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ISSUED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52144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DF7"/>
                </a:solidFill>
                <a:latin typeface="Arial"/>
              </a:rPr>
              <a:t>P4a — SDF VOLUME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810512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29384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E500"/>
                </a:solidFill>
                <a:latin typeface="Arial"/>
              </a:rPr>
              <a:t>DUE WEEK 12 — Nov 10   /   14%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FFFDF7"/>
                </a:solidFill>
                <a:latin typeface="Calibri"/>
              </a:rPr>
              <a:t>Project 4 begins. Build a volume from signed distance fields — the CSG logic from P2, applied to fields instead of meshes — and choose the one you will slice and laser-cut in P4b.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94360" y="3611880"/>
            <a:ext cx="3517391" cy="4114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COMPARE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94360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0392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SAME FIELDS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Union, intersection and difference of the same sources.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0644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322064" y="3611880"/>
            <a:ext cx="3517391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322064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VARY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90644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322064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78096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THREE VARIANTS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8096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Three controlled parameter changes on the chosen result.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18347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49767" y="3611880"/>
            <a:ext cx="3517391" cy="4114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49767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STATE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18347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049767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05799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HOW IT WAS READ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5799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Resolution, extraction settings, and the spatial intention.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REQUIREMENTS — P4a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Visual quality 35% · computational understanding 25% · technical execution 20% · experimentation 10% · requirements and identity 10%.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777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777240" cy="941831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1534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51660"/>
            <a:ext cx="9921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783080"/>
            <a:ext cx="9921240" cy="941831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874519"/>
            <a:ext cx="9372600" cy="7589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Use two 17 x 11 inch sheets to explain a volume built from signed distance fields (SDF) — the CSG logic from P2, applied to fields instead of meshes.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939796"/>
            <a:ext cx="777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871215"/>
            <a:ext cx="777240" cy="941831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241547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939796"/>
            <a:ext cx="9921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871215"/>
            <a:ext cx="9921240" cy="941831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962656"/>
            <a:ext cx="9372600" cy="7589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Compare union, intersection and difference using the same source fields. Show the chosen result and three controlled parameter variants.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4027931"/>
            <a:ext cx="777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959351"/>
            <a:ext cx="777240" cy="941831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4329683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4027931"/>
            <a:ext cx="9921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959351"/>
            <a:ext cx="9921240" cy="941831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4050791"/>
            <a:ext cx="9372600" cy="7589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Diagram the field logic and identify density, signed distance or another implicit function. State sampling resolution and surface extraction settings.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5116067"/>
            <a:ext cx="777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5047487"/>
            <a:ext cx="777240" cy="941831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5417819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5116067"/>
            <a:ext cx="9921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5047487"/>
            <a:ext cx="9921240" cy="941831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5138927"/>
            <a:ext cx="9372600" cy="7589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Select one volume for P4b and explain the spatial intention. Submit the editable graph and retain the source fields.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6259067"/>
            <a:ext cx="10972800" cy="51206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6190487"/>
            <a:ext cx="10972800" cy="51206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4400" y="6190487"/>
            <a:ext cx="10332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Arial"/>
              </a:rPr>
              <a:t>CHECKPOINT · WEEK 11 — Nov 3 — Bring an SDF diagram, a union/intersection/difference comparison and a candidate volume for slicing.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6F0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NOW — YOUR FIRST FIELD VOLUME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alibri"/>
              </a:rPr>
              <a:t>Rest of the class: two primitives, three Booleans, one surface.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235458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228600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9051" y="235458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490472" y="228600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764792" y="228600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A sphere field sampled on a grid and extracted at zero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3067812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999232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18211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9051" y="3067812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490472" y="2999232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764792" y="2999232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A box field beside it, each with its size exposed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781044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712464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895344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9051" y="3781044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490472" y="3712464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764792" y="3712464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Union as min, then swapped for max, then for max(a, −b)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94276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425696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08576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59051" y="4494276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490472" y="4425696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764792" y="4425696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A smooth blend, with k changed until you can see the joint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207508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138928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321808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9051" y="5207508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490472" y="5138928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764792" y="5138928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The same volume extracted at two resolutions, and the numbers written down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012180"/>
            <a:ext cx="8412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C6F035"/>
                </a:solidFill>
                <a:latin typeface="Arial"/>
              </a:rPr>
              <a:t>IF YOU CAN SAY WHERE ZERO IS, YOU CAN SAY WHERE THE SURFACE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BEFORE NEXT CLASS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1851660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1508760" cy="80467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NEXT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6020" y="1851660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377440" y="1783080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51760" y="1901952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Week 11 — Nov 3: SDF volume studio work — primitives, the three Booleans, smooth blend, noise and surface extraction.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" y="2912364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4360" y="2843784"/>
            <a:ext cx="1508760" cy="80467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14553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P3d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6020" y="2912364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377440" y="2843784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51760" y="2962656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Due next class, Week 11 — Nov 3: one sheet with each layer small, with its legend, beside the combined view, and the working file.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3973068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3904487"/>
            <a:ext cx="1508760" cy="80467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20624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P4a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6020" y="3973068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377440" y="3904487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51760" y="4023359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Checkpoint Week 11 — Nov 3. Bring an SDF diagram, a union/intersection/difference comparison and a candidate volume for slicing.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033772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4965192"/>
            <a:ext cx="1508760" cy="8046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526694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DUE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6020" y="5033772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377440" y="4965192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51760" y="5084064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P4a is due Week 12 — Nov 10 (14%): two sheets, the editable graph and the source fields. Later dates are provisional.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