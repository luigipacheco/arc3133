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5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051560"/>
            <a:ext cx="10972800" cy="2560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1481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CLASS 13  /  NOV 17  /  U09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2125980"/>
            <a:ext cx="10149840" cy="2148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10149840" cy="2148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PARTS FOR THE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LASER CUTTER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" y="4549140"/>
            <a:ext cx="676656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4360" y="4480560"/>
            <a:ext cx="6766560" cy="56692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95259" y="4549140"/>
            <a:ext cx="30175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P4b CONTINUES — A CONTOUR BECOMES A PART YOU CAN 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P4b CHECKPOINT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8704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DISCRETIZING GEOMETRY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THICKNESS IS A DIMENSION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Last week a slice was a curve. Today it has a thickness, and the thickness is real.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3520440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352044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5204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INTERVAL = THICKNESS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2560320"/>
            <a:ext cx="1691640" cy="128016"/>
          </a:xfrm>
          <a:prstGeom prst="rect">
            <a:avLst/>
          </a:prstGeom>
          <a:solidFill>
            <a:srgbClr val="B4B4A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371600" y="2688336"/>
            <a:ext cx="1965960" cy="128016"/>
          </a:xfrm>
          <a:prstGeom prst="rect">
            <a:avLst/>
          </a:prstGeom>
          <a:solidFill>
            <a:srgbClr val="B4B4A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34440" y="2816352"/>
            <a:ext cx="2240280" cy="128016"/>
          </a:xfrm>
          <a:prstGeom prst="rect">
            <a:avLst/>
          </a:prstGeom>
          <a:solidFill>
            <a:srgbClr val="B4B4A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234440" y="2944368"/>
            <a:ext cx="2240280" cy="128016"/>
          </a:xfrm>
          <a:prstGeom prst="rect">
            <a:avLst/>
          </a:prstGeom>
          <a:solidFill>
            <a:srgbClr val="B4B4A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371600" y="3072384"/>
            <a:ext cx="1965960" cy="128016"/>
          </a:xfrm>
          <a:prstGeom prst="rect">
            <a:avLst/>
          </a:prstGeom>
          <a:solidFill>
            <a:srgbClr val="B4B4A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508760" y="3200400"/>
            <a:ext cx="1691640" cy="128016"/>
          </a:xfrm>
          <a:prstGeom prst="rect">
            <a:avLst/>
          </a:prstGeom>
          <a:solidFill>
            <a:srgbClr val="B4B4A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50392" y="39319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Parts touch. A solid stack with stepped edges.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3692" y="1851660"/>
            <a:ext cx="3520440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25112" y="1783080"/>
            <a:ext cx="352044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25112" y="1783080"/>
            <a:ext cx="35204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53712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INTERVAL &gt; THICKNESS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9512" y="2560320"/>
            <a:ext cx="1691640" cy="128016"/>
          </a:xfrm>
          <a:prstGeom prst="rect">
            <a:avLst/>
          </a:prstGeom>
          <a:solidFill>
            <a:srgbClr val="B4B4A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102352" y="2816352"/>
            <a:ext cx="1965960" cy="128016"/>
          </a:xfrm>
          <a:prstGeom prst="rect">
            <a:avLst/>
          </a:prstGeom>
          <a:solidFill>
            <a:srgbClr val="B4B4A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965192" y="3072384"/>
            <a:ext cx="2240280" cy="128016"/>
          </a:xfrm>
          <a:prstGeom prst="rect">
            <a:avLst/>
          </a:prstGeom>
          <a:solidFill>
            <a:srgbClr val="B4B4A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965192" y="3328416"/>
            <a:ext cx="2240280" cy="128016"/>
          </a:xfrm>
          <a:prstGeom prst="rect">
            <a:avLst/>
          </a:prstGeom>
          <a:solidFill>
            <a:srgbClr val="B4B4A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102352" y="3584448"/>
            <a:ext cx="1965960" cy="128016"/>
          </a:xfrm>
          <a:prstGeom prst="rect">
            <a:avLst/>
          </a:prstGeom>
          <a:solidFill>
            <a:srgbClr val="B4B4A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239512" y="3840480"/>
            <a:ext cx="1691640" cy="128016"/>
          </a:xfrm>
          <a:prstGeom prst="rect">
            <a:avLst/>
          </a:prstGeom>
          <a:solidFill>
            <a:srgbClr val="B4B4A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81144" y="39319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Gaps between parts. Light passes; something must hold them.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4444" y="1851660"/>
            <a:ext cx="3520440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055864" y="1783080"/>
            <a:ext cx="352044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055864" y="1783080"/>
            <a:ext cx="35204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84464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INTERVAL &lt; THICKNESS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70264" y="2560320"/>
            <a:ext cx="1691640" cy="128016"/>
          </a:xfrm>
          <a:prstGeom prst="rect">
            <a:avLst/>
          </a:prstGeom>
          <a:solidFill>
            <a:srgbClr val="F4F4EE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8833104" y="2637129"/>
            <a:ext cx="1965960" cy="128016"/>
          </a:xfrm>
          <a:prstGeom prst="rect">
            <a:avLst/>
          </a:prstGeom>
          <a:solidFill>
            <a:srgbClr val="B4B4A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695944" y="2713939"/>
            <a:ext cx="2240280" cy="128016"/>
          </a:xfrm>
          <a:prstGeom prst="rect">
            <a:avLst/>
          </a:prstGeom>
          <a:solidFill>
            <a:srgbClr val="F4F4EE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695944" y="2790748"/>
            <a:ext cx="2240280" cy="128016"/>
          </a:xfrm>
          <a:prstGeom prst="rect">
            <a:avLst/>
          </a:prstGeom>
          <a:solidFill>
            <a:srgbClr val="B4B4A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833104" y="2867558"/>
            <a:ext cx="1965960" cy="128016"/>
          </a:xfrm>
          <a:prstGeom prst="rect">
            <a:avLst/>
          </a:prstGeom>
          <a:solidFill>
            <a:srgbClr val="F4F4EE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970264" y="2944368"/>
            <a:ext cx="1691640" cy="128016"/>
          </a:xfrm>
          <a:prstGeom prst="rect">
            <a:avLst/>
          </a:prstGeom>
          <a:solidFill>
            <a:srgbClr val="B4B4A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11896" y="39319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Parts collide. Change the interval or the material.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" y="514350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94360" y="5074920"/>
            <a:ext cx="10972800" cy="65836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5074920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MEASURE THE SHEET YOU WILL CUT. A NOMINAL THICKNESS IS NOT A MEASURED ONE — DESIGN TO THE NUMBER YOU MEASURED.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6B6B6B"/>
                </a:solidFill>
                <a:latin typeface="Calibri"/>
              </a:rPr>
              <a:t>Slice count × thickness + gaps = assembled height. Check it against the 300 mm limit before you cut anything.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REGISTRATION: HOW PARTS FIND EACH 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Twelve loose parts are not an assembly. Choose one system and draw it into every part.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3520440" cy="3063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3520440" cy="30632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35204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SPINE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6032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A cross member with notches. Each slice has a matching slot and drops onto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" y="3931920"/>
            <a:ext cx="3017520" cy="0"/>
          </a:xfrm>
          <a:prstGeom prst="rect">
            <a:avLst/>
          </a:prstGeom>
          <a:noFill/>
          <a:ln w="190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0690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6B6B6B"/>
                </a:solidFill>
                <a:latin typeface="Calibri"/>
              </a:rPr>
              <a:t>Order is fixed by the notches.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3692" y="1943100"/>
            <a:ext cx="3520440" cy="3063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1874519"/>
            <a:ext cx="3520440" cy="30632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25112" y="1874519"/>
            <a:ext cx="35204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53712" y="1874519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DOWEL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56032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Two or more holes through every slice. Rods pass through and align the stack.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81144" y="3931920"/>
            <a:ext cx="3017520" cy="0"/>
          </a:xfrm>
          <a:prstGeom prst="rect">
            <a:avLst/>
          </a:prstGeom>
          <a:noFill/>
          <a:ln w="190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40690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6B6B6B"/>
                </a:solidFill>
                <a:latin typeface="Calibri"/>
              </a:rPr>
              <a:t>Holes must line up on every part.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4444" y="1943100"/>
            <a:ext cx="3520440" cy="3063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55864" y="1874519"/>
            <a:ext cx="3520440" cy="30632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55864" y="1874519"/>
            <a:ext cx="35204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84464" y="1874519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SPACER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56032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Separate small pieces set the gap between slices. Used with a dowel or glue.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11896" y="3931920"/>
            <a:ext cx="3017520" cy="0"/>
          </a:xfrm>
          <a:prstGeom prst="rect">
            <a:avLst/>
          </a:prstGeom>
          <a:noFill/>
          <a:ln w="190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1896" y="40690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6B6B6B"/>
                </a:solidFill>
                <a:latin typeface="Calibri"/>
              </a:rPr>
              <a:t>Spacers count as parts on the sheet.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" y="537210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94360" y="5303520"/>
            <a:ext cx="10972800" cy="6400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53035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THE REGISTRATION IS PART OF THE DESIGN. IT IS VISIBLE, SO DRAW IT ON THE PROCESS SHEET.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KERF, AND THE FIT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The beam removes a thin strip of material. Every edge moves by half of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5669280" cy="3246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669280" cy="3246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66928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THE TEST COUPON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606040"/>
            <a:ext cx="4937760" cy="1005840"/>
          </a:xfrm>
          <a:prstGeom prst="rect">
            <a:avLst/>
          </a:prstGeom>
          <a:solidFill>
            <a:srgbClr val="F4F4EE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280160" y="2606040"/>
            <a:ext cx="91440" cy="548640"/>
          </a:xfrm>
          <a:prstGeom prst="rect">
            <a:avLst/>
          </a:prstGeom>
          <a:solidFill>
            <a:srgbClr val="FFFDF7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Courier New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2606040"/>
            <a:ext cx="109728" cy="548640"/>
          </a:xfrm>
          <a:prstGeom prst="rect">
            <a:avLst/>
          </a:prstGeom>
          <a:solidFill>
            <a:srgbClr val="FFFDF7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691639" y="324612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Courier New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7168" y="2606040"/>
            <a:ext cx="128016" cy="548640"/>
          </a:xfrm>
          <a:prstGeom prst="rect">
            <a:avLst/>
          </a:prstGeom>
          <a:solidFill>
            <a:srgbClr val="FFFDF7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304287" y="3246120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Courier New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18103" y="2606040"/>
            <a:ext cx="146304" cy="548640"/>
          </a:xfrm>
          <a:prstGeom prst="rect">
            <a:avLst/>
          </a:prstGeom>
          <a:solidFill>
            <a:srgbClr val="FFFDF7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935223" y="3246120"/>
            <a:ext cx="512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Courier New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67328" y="2606040"/>
            <a:ext cx="164592" cy="548640"/>
          </a:xfrm>
          <a:prstGeom prst="rect">
            <a:avLst/>
          </a:prstGeom>
          <a:solidFill>
            <a:srgbClr val="FFFDF7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84448" y="3246120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Courier New"/>
              </a:rPr>
              <a:t>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606040"/>
            <a:ext cx="182880" cy="548640"/>
          </a:xfrm>
          <a:prstGeom prst="rect">
            <a:avLst/>
          </a:prstGeom>
          <a:solidFill>
            <a:srgbClr val="FFFDF7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51959" y="3246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Courier New"/>
              </a:rPr>
              <a:t>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2606040"/>
            <a:ext cx="201168" cy="548640"/>
          </a:xfrm>
          <a:prstGeom prst="rect">
            <a:avLst/>
          </a:prstGeom>
          <a:solidFill>
            <a:srgbClr val="FFFDF7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937759" y="324612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Courier New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49039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A strip of slots in steps of width, cut from your actual sheet. Push a scrap of the same sheet into each. The one that holds without forcing is your fit.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06540" y="1851660"/>
            <a:ext cx="5029200" cy="3246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537960" y="1783080"/>
            <a:ext cx="5029200" cy="3246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537960" y="1783080"/>
            <a:ext cx="502920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766560" y="17830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WHAT TO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468880"/>
            <a:ext cx="44805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the measured sheet thickness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the slot width that fit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the kerf you measured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the offset you applied: kerf / 2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the machine settings the FabLab used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" y="537210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94360" y="5303520"/>
            <a:ext cx="10972800" cy="64008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7240" y="53035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TEST BEFORE THE BATCH. THE COUPON AND ANY FAILED PARTS COUNT AGAINST YOUR ONE SHEET.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6B6B6B"/>
                </a:solidFill>
                <a:latin typeface="Calibri"/>
              </a:rPr>
              <a:t>Coupon slot widths above are a diagram, not values to copy.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CLOSE AND CLEAN THE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A contour from a mesh is rarely a clean part. Fix it before it becomes a cutting file.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173736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1737360" cy="71323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0848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CLOSED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4620" y="1897380"/>
            <a:ext cx="896112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606040" y="1828800"/>
            <a:ext cx="8961120" cy="71323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880360" y="1828800"/>
            <a:ext cx="8412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Every part outline is one closed curve. An open curve is not a part.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793492"/>
            <a:ext cx="173736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724912"/>
            <a:ext cx="1737360" cy="71323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9809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SINGLE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4620" y="2793492"/>
            <a:ext cx="896112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606040" y="2724912"/>
            <a:ext cx="8961120" cy="71323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880360" y="2724912"/>
            <a:ext cx="8412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No duplicate or overlapping lines. The beam cuts twice where lines overlap.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689604"/>
            <a:ext cx="173736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621024"/>
            <a:ext cx="1737360" cy="71323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7705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SIMPLE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4620" y="3689604"/>
            <a:ext cx="896112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2606040" y="3621024"/>
            <a:ext cx="8961120" cy="71323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880360" y="3621024"/>
            <a:ext cx="8412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Remove tiny fragments and islands you could not hold or glue.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585716"/>
            <a:ext cx="173736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517136"/>
            <a:ext cx="1737360" cy="71323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7731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SOUND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4620" y="4585716"/>
            <a:ext cx="896112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606040" y="4517136"/>
            <a:ext cx="8961120" cy="71323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880360" y="4517136"/>
            <a:ext cx="8412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Check the thinnest neck of each part. If it would snap, change the profile.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55498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486400"/>
            <a:ext cx="10972800" cy="6400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CLEAN THE PROFILES IN THE GRAPH, NOT BY HAND IN THE CUTTING FILE — OR THE NEXT CHANGE UNDOES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LABEL, ORDER, 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The slice order from last week becomes the part numbers. Then the parts go onto one sheet.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5120640" cy="3291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120640" cy="3291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120640" cy="5029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LABEL AND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45720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Number every part in slice order: 01, 02, 03 …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Engrave the number on a face the assembly will hide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Add a mark for which way is up and which side faces front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Keep a list: part, slice position, registration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57900" y="1851660"/>
            <a:ext cx="5577840" cy="3291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89320" y="1783080"/>
            <a:ext cx="5577840" cy="3291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89320" y="1783080"/>
            <a:ext cx="55778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NEST ON ONE SHEET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514600"/>
            <a:ext cx="2834640" cy="2331720"/>
          </a:xfrm>
          <a:prstGeom prst="rect">
            <a:avLst/>
          </a:prstGeom>
          <a:solidFill>
            <a:srgbClr val="F4F4EE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355080" y="2606040"/>
            <a:ext cx="1188720" cy="548640"/>
          </a:xfrm>
          <a:prstGeom prst="rect">
            <a:avLst/>
          </a:prstGeom>
          <a:solidFill>
            <a:srgbClr val="FFFDF7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55080" y="260604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>
                <a:solidFill>
                  <a:srgbClr val="000000"/>
                </a:solidFill>
                <a:latin typeface="Courier New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2606040"/>
            <a:ext cx="914400" cy="548640"/>
          </a:xfrm>
          <a:prstGeom prst="rect">
            <a:avLst/>
          </a:prstGeom>
          <a:solidFill>
            <a:srgbClr val="FFFDF7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35240" y="26060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>
                <a:solidFill>
                  <a:srgbClr val="000000"/>
                </a:solidFill>
                <a:latin typeface="Courier New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246120"/>
            <a:ext cx="822960" cy="822960"/>
          </a:xfrm>
          <a:prstGeom prst="rect">
            <a:avLst/>
          </a:prstGeom>
          <a:solidFill>
            <a:srgbClr val="FFFDF7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55080" y="32461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>
                <a:solidFill>
                  <a:srgbClr val="000000"/>
                </a:solidFill>
                <a:latin typeface="Courier New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3246120"/>
            <a:ext cx="1051560" cy="457200"/>
          </a:xfrm>
          <a:prstGeom prst="rect">
            <a:avLst/>
          </a:prstGeom>
          <a:solidFill>
            <a:srgbClr val="FFFDF7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69480" y="3246120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>
                <a:solidFill>
                  <a:srgbClr val="000000"/>
                </a:solidFill>
                <a:latin typeface="Courier New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3794760"/>
            <a:ext cx="685800" cy="457200"/>
          </a:xfrm>
          <a:prstGeom prst="rect">
            <a:avLst/>
          </a:prstGeom>
          <a:solidFill>
            <a:srgbClr val="FFFDF7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269480" y="37947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>
                <a:solidFill>
                  <a:srgbClr val="000000"/>
                </a:solidFill>
                <a:latin typeface="Courier New"/>
              </a:rPr>
              <a:t>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794760"/>
            <a:ext cx="411480" cy="457200"/>
          </a:xfrm>
          <a:prstGeom prst="rect">
            <a:avLst/>
          </a:prstGeom>
          <a:solidFill>
            <a:srgbClr val="FFFDF7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46720" y="3794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>
                <a:solidFill>
                  <a:srgbClr val="000000"/>
                </a:solidFill>
                <a:latin typeface="Courier New"/>
              </a:rPr>
              <a:t>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160520"/>
            <a:ext cx="822960" cy="320040"/>
          </a:xfrm>
          <a:prstGeom prst="rect">
            <a:avLst/>
          </a:prstGeom>
          <a:solidFill>
            <a:srgbClr val="FFFDF7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55080" y="4160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>
                <a:solidFill>
                  <a:srgbClr val="000000"/>
                </a:solidFill>
                <a:latin typeface="Courier New"/>
              </a:rPr>
              <a:t>07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2606040"/>
            <a:ext cx="365760" cy="1097280"/>
          </a:xfrm>
          <a:prstGeom prst="rect">
            <a:avLst/>
          </a:prstGeom>
          <a:solidFill>
            <a:srgbClr val="FFFDF7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641080" y="2606040"/>
            <a:ext cx="365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>
                <a:solidFill>
                  <a:srgbClr val="000000"/>
                </a:solidFill>
                <a:latin typeface="Courier New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514600"/>
            <a:ext cx="21488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Keep a margin from the sheet edge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Leave a gap between parts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Reserve room for the coupon and one spare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" y="541782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94360" y="5349240"/>
            <a:ext cx="10972800" cy="640080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" y="53492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FE500"/>
                </a:solidFill>
                <a:latin typeface="Arial"/>
              </a:rPr>
              <a:t>P4b: FIT THE ASSEMBLY IN ONE CONFIRMED SHEET. IF IT DOES NOT NEST, CHANGE THE SLICES, NOT THE RULE.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THE CUTTING FILE, AND THE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The machine reads lines, not intentions. Use the conventions the FabLab gives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5349240" cy="3246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5349240" cy="3246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3492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FILE HYGIENE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4800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Vector lines only. Nothing is cut from an image.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Cut and engrave lines kept apart, by the color or layer the lab specifies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Real units, drawn at 1:1. Check one known dimension.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Stroke weight set as the lab specifies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Text converted to outlines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0" y="1943100"/>
            <a:ext cx="5349240" cy="3246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5349240" cy="3246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53492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FABLAB PROCEDURES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800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Safety orientation completed before you use a machine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Book machine time; check what the lab has confirmed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Confirm your material is approved for cutting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Stay with the machine while it runs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>
                <a:solidFill>
                  <a:srgbClr val="000000"/>
                </a:solidFill>
                <a:latin typeface="Calibri"/>
              </a:rPr>
              <a:t>—  Follow staff instructions over anything on this slide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546354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5394960"/>
            <a:ext cx="10972800" cy="6400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39496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REGENERATE THE CUTTING FILE AFTER ANY GEOMETRY OR MATERIAL CHANGE. NEVER PATCH AN OLD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REMINDER — P4b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1851660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77240" cy="724204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204459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14499" y="1851660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645919" y="1783080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920240" y="1874519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Use the selected P4a volume. Compare two section directions or intervals, then develop at least 12 ordered slices with material thickness and a registration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722168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4360" y="2653588"/>
            <a:ext cx="777240" cy="724204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2915107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14499" y="2722168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645919" y="2653588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920240" y="2745028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Fit the assembly within 300 mm on each axis and one confirmed material sheet. Test kerf and fit before the batch; label and nest every part.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" y="3592677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" y="3524097"/>
            <a:ext cx="777240" cy="724204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3785615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14499" y="3592677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645919" y="3524097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920240" y="3615537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Laser-cut and assemble the slices under FabLab procedures. Include test cuts and failed parts in the material allocation.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4463186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4394606"/>
            <a:ext cx="777240" cy="724204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465612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14499" y="4463186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645919" y="4394606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920240" y="4486046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Present the assembly with one 17 x 11 inch process sheet showing the continuous volume, section sequence, cutting layout, assembly diagram and photographs.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" y="5333695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94360" y="5265115"/>
            <a:ext cx="777240" cy="724204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4360" y="5526633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14499" y="5333695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645919" y="5265115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920240" y="5356555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Submit the editable source, cutting file and documentation. Regenerate fabrication files after any geometry or material change.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940" y="6259068"/>
            <a:ext cx="10972800" cy="51206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94360" y="6190488"/>
            <a:ext cx="10972800" cy="512064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4400" y="6190488"/>
            <a:ext cx="10332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00000"/>
                </a:solidFill>
                <a:latin typeface="Arial"/>
              </a:rPr>
              <a:t>CHECKPOINT · WEEK 13 — Nov 17 — Review section directions, thickness, registration, fit/kerf test and cutting layout before production.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128016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6B6B6B"/>
                </a:solidFill>
                <a:latin typeface="Calibri"/>
              </a:rPr>
              <a:t>Visual documentation 20% · computational understanding 20% · technical execution 15% · fabrication quality 30% · experimentation 5% · requirements and identity 10%.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9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NOW — CHECKPOINT, THEN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alibri"/>
              </a:rPr>
              <a:t>Rest of the class: review with me first, then turn contours into parts.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2354580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2286000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9051" y="2354580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490472" y="2286000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64792" y="2286000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Section direction and interval chosen, with the comparison to show why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3067812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9051" y="3067812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490472" y="2999232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764792" y="2999232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Sheet thickness measured, and a registration system drawn into the parts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781044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9051" y="3781044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490472" y="3712464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64792" y="3712464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A kerf and fit coupon drawn, ready for the lab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494276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425696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60857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9051" y="4494276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490472" y="4425696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764792" y="4425696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Profiles closed and cleaned; every part numbered in slice order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207508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138928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9051" y="5207508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490472" y="5138928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764792" y="5138928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A first nesting layout on one sheet, with room for the coupon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" y="6012180"/>
            <a:ext cx="84124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D9E1"/>
                </a:solidFill>
                <a:latin typeface="Arial"/>
              </a:rPr>
              <a:t>NOTHING GOES TO THE CUTTER UNTIL THE COUPON FITS.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BEFORE NEXT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1851660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508760" cy="80467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46020" y="1851660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377440" y="1783080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51760" y="1901952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Week 14 (target Nov 24) — Final production and assembly, photographing the work, and the booklet.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912364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4360" y="2843784"/>
            <a:ext cx="1508760" cy="80467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314553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6020" y="2912364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377440" y="2843784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51760" y="2962656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Cut the kerf and fit coupon under FabLab procedures. Record the fit and update the parts and the cutting file.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" y="3973068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" y="3904487"/>
            <a:ext cx="1508760" cy="80467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42062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PREPARE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6020" y="3973068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377440" y="3904487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51760" y="4023359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A production-ready cutting file: labeled, nested on one sheet, regenerated after the test.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5033772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4965192"/>
            <a:ext cx="1508760" cy="80467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526694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TRACK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6020" y="5033772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377440" y="4965192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51760" y="5084064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P4b is due at the final review (14% of the grade). Keep the test cuts and failed parts: they belong in the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